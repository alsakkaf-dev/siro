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2"/>
  </p:notesMasterIdLst>
  <p:sldIdLst>
    <p:sldId id="315" r:id="rId2"/>
    <p:sldId id="275" r:id="rId3"/>
    <p:sldId id="268" r:id="rId4"/>
    <p:sldId id="378" r:id="rId5"/>
    <p:sldId id="380" r:id="rId6"/>
    <p:sldId id="381" r:id="rId7"/>
    <p:sldId id="373" r:id="rId8"/>
    <p:sldId id="260" r:id="rId9"/>
    <p:sldId id="259" r:id="rId10"/>
    <p:sldId id="382" r:id="rId11"/>
    <p:sldId id="374" r:id="rId12"/>
    <p:sldId id="375" r:id="rId13"/>
    <p:sldId id="261" r:id="rId14"/>
    <p:sldId id="372" r:id="rId15"/>
    <p:sldId id="376" r:id="rId16"/>
    <p:sldId id="377" r:id="rId17"/>
    <p:sldId id="364" r:id="rId18"/>
    <p:sldId id="365" r:id="rId19"/>
    <p:sldId id="274" r:id="rId20"/>
    <p:sldId id="356" r:id="rId21"/>
    <p:sldId id="383" r:id="rId22"/>
    <p:sldId id="384" r:id="rId23"/>
    <p:sldId id="370" r:id="rId24"/>
    <p:sldId id="276" r:id="rId25"/>
    <p:sldId id="369" r:id="rId26"/>
    <p:sldId id="371" r:id="rId27"/>
    <p:sldId id="367" r:id="rId28"/>
    <p:sldId id="277" r:id="rId29"/>
    <p:sldId id="368" r:id="rId30"/>
    <p:sldId id="278" r:id="rId31"/>
    <p:sldId id="279" r:id="rId32"/>
    <p:sldId id="345" r:id="rId33"/>
    <p:sldId id="346" r:id="rId34"/>
    <p:sldId id="347" r:id="rId35"/>
    <p:sldId id="385" r:id="rId36"/>
    <p:sldId id="359" r:id="rId37"/>
    <p:sldId id="360" r:id="rId38"/>
    <p:sldId id="361" r:id="rId39"/>
    <p:sldId id="348" r:id="rId40"/>
    <p:sldId id="313"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C1D35"/>
    <a:srgbClr val="FFFFFF"/>
    <a:srgbClr val="956251"/>
    <a:srgbClr val="9B2D1F"/>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704" autoAdjust="0"/>
    <p:restoredTop sz="79770" autoAdjust="0"/>
  </p:normalViewPr>
  <p:slideViewPr>
    <p:cSldViewPr snapToGrid="0">
      <p:cViewPr varScale="1">
        <p:scale>
          <a:sx n="38" d="100"/>
          <a:sy n="38" d="100"/>
        </p:scale>
        <p:origin x="56" y="376"/>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oor Hidayah Zakaria" userId="2012cd112c08583f" providerId="LiveId" clId="{DDE70955-B356-44EF-8F8E-167CA96D81A0}"/>
    <pc:docChg chg="delSld">
      <pc:chgData name="Noor Hidayah Zakaria" userId="2012cd112c08583f" providerId="LiveId" clId="{DDE70955-B356-44EF-8F8E-167CA96D81A0}" dt="2024-12-27T15:06:02.529" v="0" actId="47"/>
      <pc:docMkLst>
        <pc:docMk/>
      </pc:docMkLst>
      <pc:sldChg chg="del">
        <pc:chgData name="Noor Hidayah Zakaria" userId="2012cd112c08583f" providerId="LiveId" clId="{DDE70955-B356-44EF-8F8E-167CA96D81A0}" dt="2024-12-27T15:06:02.529" v="0" actId="47"/>
        <pc:sldMkLst>
          <pc:docMk/>
          <pc:sldMk cId="2699332576" sldId="26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2A509BF-53EE-4D84-844F-BEC1430829BC}" type="datetimeFigureOut">
              <a:rPr lang="en-US" smtClean="0"/>
              <a:t>12/27/2024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2B6879-5321-45FF-A6AE-E6B1BB62CBAD}" type="slidenum">
              <a:rPr lang="en-US" smtClean="0"/>
              <a:t>‹#›</a:t>
            </a:fld>
            <a:endParaRPr lang="en-US"/>
          </a:p>
        </p:txBody>
      </p:sp>
    </p:spTree>
    <p:extLst>
      <p:ext uri="{BB962C8B-B14F-4D97-AF65-F5344CB8AC3E}">
        <p14:creationId xmlns:p14="http://schemas.microsoft.com/office/powerpoint/2010/main" val="33817419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dirty="0"/>
          </a:p>
        </p:txBody>
      </p:sp>
      <p:sp>
        <p:nvSpPr>
          <p:cNvPr id="4" name="Slide Number Placeholder 3"/>
          <p:cNvSpPr>
            <a:spLocks noGrp="1"/>
          </p:cNvSpPr>
          <p:nvPr>
            <p:ph type="sldNum" sz="quarter" idx="5"/>
          </p:nvPr>
        </p:nvSpPr>
        <p:spPr/>
        <p:txBody>
          <a:bodyPr/>
          <a:lstStyle/>
          <a:p>
            <a:fld id="{092B6879-5321-45FF-A6AE-E6B1BB62CBAD}" type="slidenum">
              <a:rPr lang="en-US" smtClean="0"/>
              <a:t>3</a:t>
            </a:fld>
            <a:endParaRPr lang="en-US"/>
          </a:p>
        </p:txBody>
      </p:sp>
    </p:spTree>
    <p:extLst>
      <p:ext uri="{BB962C8B-B14F-4D97-AF65-F5344CB8AC3E}">
        <p14:creationId xmlns:p14="http://schemas.microsoft.com/office/powerpoint/2010/main" val="25198333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MY" dirty="0"/>
          </a:p>
        </p:txBody>
      </p:sp>
      <p:sp>
        <p:nvSpPr>
          <p:cNvPr id="4" name="Slide Number Placeholder 3"/>
          <p:cNvSpPr>
            <a:spLocks noGrp="1"/>
          </p:cNvSpPr>
          <p:nvPr>
            <p:ph type="sldNum" sz="quarter" idx="5"/>
          </p:nvPr>
        </p:nvSpPr>
        <p:spPr/>
        <p:txBody>
          <a:bodyPr/>
          <a:lstStyle/>
          <a:p>
            <a:pPr>
              <a:defRPr/>
            </a:pPr>
            <a:fld id="{77D76A01-9653-4E88-A0A9-E9EA91B8AD2B}" type="slidenum">
              <a:rPr lang="en-MY" smtClean="0"/>
              <a:t>4</a:t>
            </a:fld>
            <a:endParaRPr lang="en-MY"/>
          </a:p>
        </p:txBody>
      </p:sp>
    </p:spTree>
    <p:extLst>
      <p:ext uri="{BB962C8B-B14F-4D97-AF65-F5344CB8AC3E}">
        <p14:creationId xmlns:p14="http://schemas.microsoft.com/office/powerpoint/2010/main" val="27469127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MY" dirty="0"/>
          </a:p>
        </p:txBody>
      </p:sp>
      <p:sp>
        <p:nvSpPr>
          <p:cNvPr id="4" name="Slide Number Placeholder 3"/>
          <p:cNvSpPr>
            <a:spLocks noGrp="1"/>
          </p:cNvSpPr>
          <p:nvPr>
            <p:ph type="sldNum" sz="quarter" idx="5"/>
          </p:nvPr>
        </p:nvSpPr>
        <p:spPr/>
        <p:txBody>
          <a:bodyPr/>
          <a:lstStyle/>
          <a:p>
            <a:pPr>
              <a:defRPr/>
            </a:pPr>
            <a:fld id="{77D76A01-9653-4E88-A0A9-E9EA91B8AD2B}" type="slidenum">
              <a:rPr lang="en-MY" smtClean="0"/>
              <a:t>5</a:t>
            </a:fld>
            <a:endParaRPr lang="en-MY"/>
          </a:p>
        </p:txBody>
      </p:sp>
    </p:spTree>
    <p:extLst>
      <p:ext uri="{BB962C8B-B14F-4D97-AF65-F5344CB8AC3E}">
        <p14:creationId xmlns:p14="http://schemas.microsoft.com/office/powerpoint/2010/main" val="36738689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MY" dirty="0"/>
          </a:p>
        </p:txBody>
      </p:sp>
      <p:sp>
        <p:nvSpPr>
          <p:cNvPr id="4" name="Slide Number Placeholder 3"/>
          <p:cNvSpPr>
            <a:spLocks noGrp="1"/>
          </p:cNvSpPr>
          <p:nvPr>
            <p:ph type="sldNum" sz="quarter" idx="5"/>
          </p:nvPr>
        </p:nvSpPr>
        <p:spPr/>
        <p:txBody>
          <a:bodyPr/>
          <a:lstStyle/>
          <a:p>
            <a:pPr>
              <a:defRPr/>
            </a:pPr>
            <a:fld id="{77D76A01-9653-4E88-A0A9-E9EA91B8AD2B}" type="slidenum">
              <a:rPr lang="en-MY" smtClean="0"/>
              <a:t>6</a:t>
            </a:fld>
            <a:endParaRPr lang="en-MY"/>
          </a:p>
        </p:txBody>
      </p:sp>
    </p:spTree>
    <p:extLst>
      <p:ext uri="{BB962C8B-B14F-4D97-AF65-F5344CB8AC3E}">
        <p14:creationId xmlns:p14="http://schemas.microsoft.com/office/powerpoint/2010/main" val="13782658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u="sng" dirty="0"/>
              <a:t>Subject – oriented:</a:t>
            </a:r>
          </a:p>
          <a:p>
            <a:pPr marL="171450" indent="-171450">
              <a:buFontTx/>
              <a:buChar char="-"/>
            </a:pPr>
            <a:r>
              <a:rPr lang="en-US" dirty="0"/>
              <a:t>Focusing on the modeling and analysis of data for decision makers, not on daily operations or transaction processing.</a:t>
            </a:r>
          </a:p>
          <a:p>
            <a:pPr marL="171450" indent="-171450">
              <a:buFontTx/>
              <a:buChar char="-"/>
            </a:pPr>
            <a:r>
              <a:rPr lang="en-US" dirty="0"/>
              <a:t>Provide a simple and concise view around particular subject issues by excluding data that are not useful in the decision support process.</a:t>
            </a:r>
          </a:p>
          <a:p>
            <a:pPr marL="171450" indent="-171450">
              <a:buFontTx/>
              <a:buChar char="-"/>
            </a:pPr>
            <a:endParaRPr lang="en-US" dirty="0"/>
          </a:p>
          <a:p>
            <a:pPr marL="0" indent="0">
              <a:buFontTx/>
              <a:buNone/>
            </a:pPr>
            <a:r>
              <a:rPr lang="en-US" b="1" u="sng" dirty="0"/>
              <a:t>Integrated:</a:t>
            </a:r>
          </a:p>
          <a:p>
            <a:pPr marL="171450" indent="-171450">
              <a:buFontTx/>
              <a:buChar char="-"/>
            </a:pPr>
            <a:r>
              <a:rPr lang="en-MY" dirty="0"/>
              <a:t>Constructed by integrating multiple, heterogeneous data sources.</a:t>
            </a:r>
          </a:p>
          <a:p>
            <a:pPr marL="628650" lvl="1" indent="-171450">
              <a:buFont typeface="Arial" panose="020B0604020202020204" pitchFamily="34" charset="0"/>
              <a:buChar char="•"/>
            </a:pPr>
            <a:r>
              <a:rPr lang="en-MY" dirty="0"/>
              <a:t>Relational databases, flat files, on-line transaction records.</a:t>
            </a:r>
          </a:p>
          <a:p>
            <a:pPr marL="171450" indent="-171450">
              <a:buFontTx/>
              <a:buChar char="-"/>
            </a:pPr>
            <a:r>
              <a:rPr lang="en-MY" dirty="0"/>
              <a:t>Data cleaning and data integration techniques are applied.</a:t>
            </a:r>
          </a:p>
          <a:p>
            <a:pPr marL="628650" lvl="1" indent="-171450">
              <a:buFont typeface="Arial" panose="020B0604020202020204" pitchFamily="34" charset="0"/>
              <a:buChar char="•"/>
            </a:pPr>
            <a:r>
              <a:rPr lang="en-MY" dirty="0"/>
              <a:t>Ensure consistency in naming conventions, encoding structures, attribute measures, etc among different data sources (e.g. Hotel price: currency, tax, breakfast covered, etc.)</a:t>
            </a:r>
          </a:p>
          <a:p>
            <a:pPr marL="628650" lvl="1" indent="-171450">
              <a:buFont typeface="Arial" panose="020B0604020202020204" pitchFamily="34" charset="0"/>
              <a:buChar char="•"/>
            </a:pPr>
            <a:r>
              <a:rPr lang="en-MY" dirty="0"/>
              <a:t>When data is moved to the warehouse, it is converted.</a:t>
            </a:r>
          </a:p>
          <a:p>
            <a:pPr marL="457200" lvl="1" indent="0">
              <a:buFont typeface="Arial" panose="020B0604020202020204" pitchFamily="34" charset="0"/>
              <a:buNone/>
            </a:pPr>
            <a:endParaRPr lang="en-MY" dirty="0"/>
          </a:p>
          <a:p>
            <a:pPr marL="628650" lvl="1" indent="-171450">
              <a:buFont typeface="Arial" panose="020B0604020202020204" pitchFamily="34" charset="0"/>
              <a:buChar char="•"/>
            </a:pPr>
            <a:endParaRPr lang="en-MY" dirty="0"/>
          </a:p>
          <a:p>
            <a:pPr marL="0" indent="0">
              <a:buFontTx/>
              <a:buNone/>
            </a:pPr>
            <a:r>
              <a:rPr lang="en-MY" b="1" u="sng" dirty="0"/>
              <a:t>Time Variant:</a:t>
            </a:r>
          </a:p>
          <a:p>
            <a:pPr marL="171450" indent="-171450">
              <a:buFontTx/>
              <a:buChar char="-"/>
            </a:pPr>
            <a:r>
              <a:rPr lang="en-MY" dirty="0"/>
              <a:t>The time horizon for the data warehouse is significantly longer than that of operational systems.</a:t>
            </a:r>
          </a:p>
          <a:p>
            <a:pPr marL="628650" lvl="1" indent="-171450">
              <a:buFont typeface="Arial" panose="020B0604020202020204" pitchFamily="34" charset="0"/>
              <a:buChar char="•"/>
            </a:pPr>
            <a:r>
              <a:rPr lang="en-MY" dirty="0"/>
              <a:t>Operational database: current value data.</a:t>
            </a:r>
          </a:p>
          <a:p>
            <a:pPr marL="628650" lvl="1" indent="-171450">
              <a:buFont typeface="Arial" panose="020B0604020202020204" pitchFamily="34" charset="0"/>
              <a:buChar char="•"/>
            </a:pPr>
            <a:r>
              <a:rPr lang="en-MY" dirty="0"/>
              <a:t>Data warehouse data: provide information from a historical perspective (e.g., past 5 – 10 years).</a:t>
            </a:r>
          </a:p>
          <a:p>
            <a:pPr marL="171450" indent="-171450">
              <a:buFontTx/>
              <a:buChar char="-"/>
            </a:pPr>
            <a:r>
              <a:rPr lang="en-MY" dirty="0"/>
              <a:t>Every key structure in the data warehouse.</a:t>
            </a:r>
          </a:p>
          <a:p>
            <a:pPr marL="628650" lvl="1" indent="-171450">
              <a:buFont typeface="Arial" panose="020B0604020202020204" pitchFamily="34" charset="0"/>
              <a:buChar char="•"/>
            </a:pPr>
            <a:r>
              <a:rPr lang="en-MY" dirty="0"/>
              <a:t>Contains an element of time, explicitly or </a:t>
            </a:r>
            <a:r>
              <a:rPr lang="en-MY" dirty="0" err="1"/>
              <a:t>implicity</a:t>
            </a:r>
            <a:r>
              <a:rPr lang="en-MY" dirty="0"/>
              <a:t>.</a:t>
            </a:r>
          </a:p>
          <a:p>
            <a:pPr marL="628650" lvl="1" indent="-171450">
              <a:buFont typeface="Arial" panose="020B0604020202020204" pitchFamily="34" charset="0"/>
              <a:buChar char="•"/>
            </a:pPr>
            <a:r>
              <a:rPr lang="en-MY" dirty="0"/>
              <a:t>But the key of operational data may or may not contain “time element”.</a:t>
            </a:r>
          </a:p>
          <a:p>
            <a:pPr marL="457200" lvl="1" indent="0">
              <a:buFont typeface="Arial" panose="020B0604020202020204" pitchFamily="34" charset="0"/>
              <a:buNone/>
            </a:pPr>
            <a:endParaRPr lang="en-MY" dirty="0"/>
          </a:p>
          <a:p>
            <a:pPr marL="0" indent="0">
              <a:buFontTx/>
              <a:buNone/>
            </a:pPr>
            <a:r>
              <a:rPr lang="en-MY" b="1" u="sng" dirty="0"/>
              <a:t>Non-Volatile:</a:t>
            </a:r>
          </a:p>
          <a:p>
            <a:pPr marL="171450" indent="-171450">
              <a:buFontTx/>
              <a:buChar char="-"/>
            </a:pPr>
            <a:r>
              <a:rPr lang="en-MY" dirty="0"/>
              <a:t>A physically separate store of data transformed from the operational environment.</a:t>
            </a:r>
          </a:p>
          <a:p>
            <a:pPr marL="171450" indent="-171450">
              <a:buFontTx/>
              <a:buChar char="-"/>
            </a:pPr>
            <a:r>
              <a:rPr lang="en-MY" dirty="0"/>
              <a:t>Operational update of data does not occur in the data warehouse environment.</a:t>
            </a:r>
          </a:p>
          <a:p>
            <a:pPr marL="628650" lvl="1" indent="-171450">
              <a:buFont typeface="Arial" panose="020B0604020202020204" pitchFamily="34" charset="0"/>
              <a:buChar char="•"/>
            </a:pPr>
            <a:r>
              <a:rPr lang="en-MY" dirty="0"/>
              <a:t>Does not require transaction processing, recovery, and concurrency control mechanisms.</a:t>
            </a:r>
          </a:p>
          <a:p>
            <a:pPr marL="628650" lvl="1" indent="-171450">
              <a:buFont typeface="Arial" panose="020B0604020202020204" pitchFamily="34" charset="0"/>
              <a:buChar char="•"/>
            </a:pPr>
            <a:r>
              <a:rPr lang="en-MY" dirty="0"/>
              <a:t>Requires only two operations in data accessing:</a:t>
            </a:r>
          </a:p>
          <a:p>
            <a:pPr marL="1085850" lvl="2" indent="-171450">
              <a:buFont typeface="Arial" panose="020B0604020202020204" pitchFamily="34" charset="0"/>
              <a:buChar char="•"/>
            </a:pPr>
            <a:r>
              <a:rPr lang="en-MY" dirty="0"/>
              <a:t>Initial loading of data and access of data.</a:t>
            </a:r>
          </a:p>
          <a:p>
            <a:pPr marL="457200" lvl="1" indent="0">
              <a:buFont typeface="Arial" panose="020B0604020202020204" pitchFamily="34" charset="0"/>
              <a:buNone/>
            </a:pPr>
            <a:endParaRPr lang="en-MY" dirty="0"/>
          </a:p>
        </p:txBody>
      </p:sp>
      <p:sp>
        <p:nvSpPr>
          <p:cNvPr id="4" name="Slide Number Placeholder 3"/>
          <p:cNvSpPr>
            <a:spLocks noGrp="1"/>
          </p:cNvSpPr>
          <p:nvPr>
            <p:ph type="sldNum" sz="quarter" idx="5"/>
          </p:nvPr>
        </p:nvSpPr>
        <p:spPr/>
        <p:txBody>
          <a:bodyPr/>
          <a:lstStyle/>
          <a:p>
            <a:pPr>
              <a:defRPr/>
            </a:pPr>
            <a:fld id="{77D76A01-9653-4E88-A0A9-E9EA91B8AD2B}" type="slidenum">
              <a:rPr lang="en-MY" smtClean="0"/>
              <a:t>9</a:t>
            </a:fld>
            <a:endParaRPr lang="en-MY"/>
          </a:p>
        </p:txBody>
      </p:sp>
    </p:spTree>
    <p:extLst>
      <p:ext uri="{BB962C8B-B14F-4D97-AF65-F5344CB8AC3E}">
        <p14:creationId xmlns:p14="http://schemas.microsoft.com/office/powerpoint/2010/main" val="8865055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Central fact table connected to multiple dimension tables.</a:t>
            </a:r>
          </a:p>
          <a:p>
            <a:r>
              <a:rPr lang="en-US" dirty="0"/>
              <a:t>- Simpler design, faster query performance due to denormalization.</a:t>
            </a:r>
            <a:endParaRPr lang="en-MY" dirty="0"/>
          </a:p>
        </p:txBody>
      </p:sp>
      <p:sp>
        <p:nvSpPr>
          <p:cNvPr id="4" name="Slide Number Placeholder 3"/>
          <p:cNvSpPr>
            <a:spLocks noGrp="1"/>
          </p:cNvSpPr>
          <p:nvPr>
            <p:ph type="sldNum" sz="quarter" idx="5"/>
          </p:nvPr>
        </p:nvSpPr>
        <p:spPr/>
        <p:txBody>
          <a:bodyPr/>
          <a:lstStyle/>
          <a:p>
            <a:pPr>
              <a:defRPr/>
            </a:pPr>
            <a:fld id="{77D76A01-9653-4E88-A0A9-E9EA91B8AD2B}" type="slidenum">
              <a:rPr lang="en-MY" smtClean="0"/>
              <a:t>22</a:t>
            </a:fld>
            <a:endParaRPr lang="en-MY"/>
          </a:p>
        </p:txBody>
      </p:sp>
    </p:spTree>
    <p:extLst>
      <p:ext uri="{BB962C8B-B14F-4D97-AF65-F5344CB8AC3E}">
        <p14:creationId xmlns:p14="http://schemas.microsoft.com/office/powerpoint/2010/main" val="10985631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Central fact table connected to normalized dimension tables with sub-dimensions.</a:t>
            </a:r>
          </a:p>
          <a:p>
            <a:r>
              <a:rPr lang="en-US" dirty="0"/>
              <a:t>- Reduced data - redundancy, improved data integrity, but more complex design and potentially slower queries due to more joins.</a:t>
            </a:r>
            <a:endParaRPr lang="en-MY" dirty="0"/>
          </a:p>
        </p:txBody>
      </p:sp>
      <p:sp>
        <p:nvSpPr>
          <p:cNvPr id="4" name="Slide Number Placeholder 3"/>
          <p:cNvSpPr>
            <a:spLocks noGrp="1"/>
          </p:cNvSpPr>
          <p:nvPr>
            <p:ph type="sldNum" sz="quarter" idx="5"/>
          </p:nvPr>
        </p:nvSpPr>
        <p:spPr/>
        <p:txBody>
          <a:bodyPr/>
          <a:lstStyle/>
          <a:p>
            <a:pPr>
              <a:defRPr/>
            </a:pPr>
            <a:fld id="{77D76A01-9653-4E88-A0A9-E9EA91B8AD2B}" type="slidenum">
              <a:rPr lang="en-MY" smtClean="0"/>
              <a:t>24</a:t>
            </a:fld>
            <a:endParaRPr lang="en-MY"/>
          </a:p>
        </p:txBody>
      </p:sp>
    </p:spTree>
    <p:extLst>
      <p:ext uri="{BB962C8B-B14F-4D97-AF65-F5344CB8AC3E}">
        <p14:creationId xmlns:p14="http://schemas.microsoft.com/office/powerpoint/2010/main" val="41959778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An OLTP or operational system is used to deal with the everyday running of one aspect of an enterprise.</a:t>
            </a:r>
            <a:endParaRPr lang="en-MY" dirty="0"/>
          </a:p>
        </p:txBody>
      </p:sp>
      <p:sp>
        <p:nvSpPr>
          <p:cNvPr id="4" name="Slide Number Placeholder 3"/>
          <p:cNvSpPr>
            <a:spLocks noGrp="1"/>
          </p:cNvSpPr>
          <p:nvPr>
            <p:ph type="sldNum" sz="quarter" idx="5"/>
          </p:nvPr>
        </p:nvSpPr>
        <p:spPr/>
        <p:txBody>
          <a:bodyPr/>
          <a:lstStyle/>
          <a:p>
            <a:pPr>
              <a:defRPr/>
            </a:pPr>
            <a:fld id="{77D76A01-9653-4E88-A0A9-E9EA91B8AD2B}" type="slidenum">
              <a:rPr lang="en-MY" smtClean="0"/>
              <a:t>27</a:t>
            </a:fld>
            <a:endParaRPr lang="en-MY"/>
          </a:p>
        </p:txBody>
      </p:sp>
    </p:spTree>
    <p:extLst>
      <p:ext uri="{BB962C8B-B14F-4D97-AF65-F5344CB8AC3E}">
        <p14:creationId xmlns:p14="http://schemas.microsoft.com/office/powerpoint/2010/main" val="197813019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tiff"/><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4.svg"/><Relationship Id="rId7"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2.tiff"/><Relationship Id="rId5" Type="http://schemas.openxmlformats.org/officeDocument/2006/relationships/image" Target="../media/image6.svg"/><Relationship Id="rId10" Type="http://schemas.openxmlformats.org/officeDocument/2006/relationships/image" Target="../media/image10.svg"/><Relationship Id="rId4" Type="http://schemas.openxmlformats.org/officeDocument/2006/relationships/image" Target="../media/image5.png"/><Relationship Id="rId9" Type="http://schemas.openxmlformats.org/officeDocument/2006/relationships/image" Target="../media/image9.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Master" Target="../slideMasters/slideMaster1.xml"/><Relationship Id="rId4" Type="http://schemas.openxmlformats.org/officeDocument/2006/relationships/image" Target="../media/image13.svg"/></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tif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tif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tif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tif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tif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tif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tif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tif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tif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tif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age">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9A77FC49-908E-7282-71D1-FF9B45CC794D}"/>
              </a:ext>
            </a:extLst>
          </p:cNvPr>
          <p:cNvPicPr>
            <a:picLocks noChangeAspect="1"/>
          </p:cNvPicPr>
          <p:nvPr userDrawn="1"/>
        </p:nvPicPr>
        <p:blipFill>
          <a:blip r:embed="rId2">
            <a:alphaModFix amt="34000"/>
            <a:extLst>
              <a:ext uri="{28A0092B-C50C-407E-A947-70E740481C1C}">
                <a14:useLocalDpi xmlns:a14="http://schemas.microsoft.com/office/drawing/2010/main" val="0"/>
              </a:ext>
            </a:extLst>
          </a:blip>
          <a:stretch>
            <a:fillRect/>
          </a:stretch>
        </p:blipFill>
        <p:spPr>
          <a:xfrm rot="16200000">
            <a:off x="1428041" y="-1428041"/>
            <a:ext cx="6880030" cy="9736110"/>
          </a:xfrm>
          <a:prstGeom prst="rect">
            <a:avLst/>
          </a:prstGeom>
        </p:spPr>
      </p:pic>
      <p:pic>
        <p:nvPicPr>
          <p:cNvPr id="11" name="Picture 10">
            <a:extLst>
              <a:ext uri="{FF2B5EF4-FFF2-40B4-BE49-F238E27FC236}">
                <a16:creationId xmlns:a16="http://schemas.microsoft.com/office/drawing/2014/main" id="{B9FB5ACA-D821-A539-94D6-EEC7337F3AF1}"/>
              </a:ext>
            </a:extLst>
          </p:cNvPr>
          <p:cNvPicPr>
            <a:picLocks noChangeAspect="1"/>
          </p:cNvPicPr>
          <p:nvPr userDrawn="1"/>
        </p:nvPicPr>
        <p:blipFill>
          <a:blip r:embed="rId3">
            <a:alphaModFix amt="99000"/>
          </a:blip>
          <a:stretch>
            <a:fillRect/>
          </a:stretch>
        </p:blipFill>
        <p:spPr>
          <a:xfrm rot="10800000" flipV="1">
            <a:off x="59093" y="0"/>
            <a:ext cx="12073813" cy="3109189"/>
          </a:xfrm>
          <a:prstGeom prst="rect">
            <a:avLst/>
          </a:prstGeom>
        </p:spPr>
      </p:pic>
      <p:sp>
        <p:nvSpPr>
          <p:cNvPr id="3" name="Rectangle 2">
            <a:extLst>
              <a:ext uri="{FF2B5EF4-FFF2-40B4-BE49-F238E27FC236}">
                <a16:creationId xmlns:a16="http://schemas.microsoft.com/office/drawing/2014/main" id="{6500D8EF-2DF1-88B7-4784-92F60D932A2D}"/>
              </a:ext>
            </a:extLst>
          </p:cNvPr>
          <p:cNvSpPr/>
          <p:nvPr userDrawn="1"/>
        </p:nvSpPr>
        <p:spPr>
          <a:xfrm rot="5400000">
            <a:off x="5953544" y="641578"/>
            <a:ext cx="284909" cy="12192000"/>
          </a:xfrm>
          <a:prstGeom prst="rect">
            <a:avLst/>
          </a:prstGeom>
          <a:solidFill>
            <a:srgbClr val="6C1D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E7418E44-B184-3318-E83E-1ED0427C4C32}"/>
              </a:ext>
            </a:extLst>
          </p:cNvPr>
          <p:cNvSpPr txBox="1"/>
          <p:nvPr userDrawn="1"/>
        </p:nvSpPr>
        <p:spPr>
          <a:xfrm>
            <a:off x="5479363" y="6595121"/>
            <a:ext cx="1377301" cy="261610"/>
          </a:xfrm>
          <a:prstGeom prst="rect">
            <a:avLst/>
          </a:prstGeom>
          <a:noFill/>
        </p:spPr>
        <p:txBody>
          <a:bodyPr wrap="square" rtlCol="0">
            <a:spAutoFit/>
          </a:bodyPr>
          <a:lstStyle/>
          <a:p>
            <a:pPr algn="ctr"/>
            <a:r>
              <a:rPr lang="en-US" sz="1100" b="1" i="0" dirty="0">
                <a:solidFill>
                  <a:schemeClr val="bg1">
                    <a:lumMod val="95000"/>
                  </a:schemeClr>
                </a:solidFill>
                <a:ea typeface="Montserrat Semi" charset="0"/>
                <a:cs typeface="Montserrat Semi" charset="0"/>
              </a:rPr>
              <a:t>www.utm.my</a:t>
            </a:r>
            <a:endParaRPr lang="en-US" sz="1100" b="1" i="0" dirty="0">
              <a:solidFill>
                <a:schemeClr val="accent4"/>
              </a:solidFill>
              <a:ea typeface="Montserrat Semi" charset="0"/>
              <a:cs typeface="Montserrat Semi" charset="0"/>
            </a:endParaRPr>
          </a:p>
        </p:txBody>
      </p:sp>
    </p:spTree>
    <p:extLst>
      <p:ext uri="{BB962C8B-B14F-4D97-AF65-F5344CB8AC3E}">
        <p14:creationId xmlns:p14="http://schemas.microsoft.com/office/powerpoint/2010/main" val="29596444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220C8336-6E97-19E8-88CA-FE902FF18424}"/>
              </a:ext>
            </a:extLst>
          </p:cNvPr>
          <p:cNvSpPr>
            <a:spLocks noGrp="1"/>
          </p:cNvSpPr>
          <p:nvPr>
            <p:ph type="dt" sz="half" idx="10"/>
          </p:nvPr>
        </p:nvSpPr>
        <p:spPr/>
        <p:txBody>
          <a:bodyPr/>
          <a:lstStyle/>
          <a:p>
            <a:fld id="{EF9959E7-45DE-4A2D-ACFD-0D8C8BBAB79F}" type="datetimeFigureOut">
              <a:rPr lang="en-US" smtClean="0"/>
              <a:t>12/27/2024</a:t>
            </a:fld>
            <a:endParaRPr lang="en-US"/>
          </a:p>
        </p:txBody>
      </p:sp>
      <p:sp>
        <p:nvSpPr>
          <p:cNvPr id="4" name="Footer Placeholder 3">
            <a:extLst>
              <a:ext uri="{FF2B5EF4-FFF2-40B4-BE49-F238E27FC236}">
                <a16:creationId xmlns:a16="http://schemas.microsoft.com/office/drawing/2014/main" id="{940694A3-909C-4BC7-8684-CF6A8DF611AC}"/>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0EA586F0-1709-92BF-CEC8-7DFA93F80910}"/>
              </a:ext>
            </a:extLst>
          </p:cNvPr>
          <p:cNvSpPr>
            <a:spLocks noGrp="1"/>
          </p:cNvSpPr>
          <p:nvPr>
            <p:ph type="sldNum" sz="quarter" idx="12"/>
          </p:nvPr>
        </p:nvSpPr>
        <p:spPr/>
        <p:txBody>
          <a:bodyPr/>
          <a:lstStyle/>
          <a:p>
            <a:fld id="{B5912E74-8957-4046-8937-1199D0665174}" type="slidenum">
              <a:rPr lang="en-US" smtClean="0"/>
              <a:t>‹#›</a:t>
            </a:fld>
            <a:endParaRPr lang="en-US"/>
          </a:p>
        </p:txBody>
      </p:sp>
      <p:grpSp>
        <p:nvGrpSpPr>
          <p:cNvPr id="10" name="Group 9">
            <a:extLst>
              <a:ext uri="{FF2B5EF4-FFF2-40B4-BE49-F238E27FC236}">
                <a16:creationId xmlns:a16="http://schemas.microsoft.com/office/drawing/2014/main" id="{C7993728-E209-C557-FA87-A687A2439D90}"/>
              </a:ext>
            </a:extLst>
          </p:cNvPr>
          <p:cNvGrpSpPr/>
          <p:nvPr userDrawn="1"/>
        </p:nvGrpSpPr>
        <p:grpSpPr>
          <a:xfrm>
            <a:off x="0" y="0"/>
            <a:ext cx="4323456" cy="7438348"/>
            <a:chOff x="0" y="0"/>
            <a:chExt cx="4323456" cy="7438348"/>
          </a:xfrm>
        </p:grpSpPr>
        <p:pic>
          <p:nvPicPr>
            <p:cNvPr id="12" name="Graphic 11">
              <a:extLst>
                <a:ext uri="{FF2B5EF4-FFF2-40B4-BE49-F238E27FC236}">
                  <a16:creationId xmlns:a16="http://schemas.microsoft.com/office/drawing/2014/main" id="{C291997A-C196-DCDE-0EA0-51D4FDEDADA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3118649" cy="4463581"/>
            </a:xfrm>
            <a:prstGeom prst="rect">
              <a:avLst/>
            </a:prstGeom>
          </p:spPr>
        </p:pic>
        <p:sp>
          <p:nvSpPr>
            <p:cNvPr id="2" name="Parallelogram 1">
              <a:extLst>
                <a:ext uri="{FF2B5EF4-FFF2-40B4-BE49-F238E27FC236}">
                  <a16:creationId xmlns:a16="http://schemas.microsoft.com/office/drawing/2014/main" id="{14354985-0AB8-E860-28D0-17AD10E6B863}"/>
                </a:ext>
              </a:extLst>
            </p:cNvPr>
            <p:cNvSpPr/>
            <p:nvPr userDrawn="1"/>
          </p:nvSpPr>
          <p:spPr>
            <a:xfrm rot="8446488">
              <a:off x="1155879" y="3069975"/>
              <a:ext cx="2214654" cy="3120244"/>
            </a:xfrm>
            <a:prstGeom prst="parallelogram">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Parallelogram 5">
              <a:extLst>
                <a:ext uri="{FF2B5EF4-FFF2-40B4-BE49-F238E27FC236}">
                  <a16:creationId xmlns:a16="http://schemas.microsoft.com/office/drawing/2014/main" id="{9C95F9B9-2A5B-F93A-EA33-600D61519C46}"/>
                </a:ext>
              </a:extLst>
            </p:cNvPr>
            <p:cNvSpPr/>
            <p:nvPr userDrawn="1"/>
          </p:nvSpPr>
          <p:spPr>
            <a:xfrm rot="8446488">
              <a:off x="2539020" y="5497285"/>
              <a:ext cx="1784436" cy="1941063"/>
            </a:xfrm>
            <a:custGeom>
              <a:avLst/>
              <a:gdLst>
                <a:gd name="connsiteX0" fmla="*/ 0 w 2214654"/>
                <a:gd name="connsiteY0" fmla="*/ 3120244 h 3120244"/>
                <a:gd name="connsiteX1" fmla="*/ 553664 w 2214654"/>
                <a:gd name="connsiteY1" fmla="*/ 0 h 3120244"/>
                <a:gd name="connsiteX2" fmla="*/ 2214654 w 2214654"/>
                <a:gd name="connsiteY2" fmla="*/ 0 h 3120244"/>
                <a:gd name="connsiteX3" fmla="*/ 1660991 w 2214654"/>
                <a:gd name="connsiteY3" fmla="*/ 3120244 h 3120244"/>
                <a:gd name="connsiteX4" fmla="*/ 0 w 2214654"/>
                <a:gd name="connsiteY4" fmla="*/ 3120244 h 3120244"/>
                <a:gd name="connsiteX0" fmla="*/ 0 w 2214654"/>
                <a:gd name="connsiteY0" fmla="*/ 3120244 h 3120244"/>
                <a:gd name="connsiteX1" fmla="*/ 341522 w 2214654"/>
                <a:gd name="connsiteY1" fmla="*/ 1179181 h 3120244"/>
                <a:gd name="connsiteX2" fmla="*/ 2214654 w 2214654"/>
                <a:gd name="connsiteY2" fmla="*/ 0 h 3120244"/>
                <a:gd name="connsiteX3" fmla="*/ 1660991 w 2214654"/>
                <a:gd name="connsiteY3" fmla="*/ 3120244 h 3120244"/>
                <a:gd name="connsiteX4" fmla="*/ 0 w 2214654"/>
                <a:gd name="connsiteY4" fmla="*/ 3120244 h 3120244"/>
                <a:gd name="connsiteX0" fmla="*/ 0 w 1784436"/>
                <a:gd name="connsiteY0" fmla="*/ 1941063 h 1941063"/>
                <a:gd name="connsiteX1" fmla="*/ 341522 w 1784436"/>
                <a:gd name="connsiteY1" fmla="*/ 0 h 1941063"/>
                <a:gd name="connsiteX2" fmla="*/ 1784436 w 1784436"/>
                <a:gd name="connsiteY2" fmla="*/ 1205605 h 1941063"/>
                <a:gd name="connsiteX3" fmla="*/ 1660991 w 1784436"/>
                <a:gd name="connsiteY3" fmla="*/ 1941063 h 1941063"/>
                <a:gd name="connsiteX4" fmla="*/ 0 w 1784436"/>
                <a:gd name="connsiteY4" fmla="*/ 1941063 h 19410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84436" h="1941063">
                  <a:moveTo>
                    <a:pt x="0" y="1941063"/>
                  </a:moveTo>
                  <a:lnTo>
                    <a:pt x="341522" y="0"/>
                  </a:lnTo>
                  <a:lnTo>
                    <a:pt x="1784436" y="1205605"/>
                  </a:lnTo>
                  <a:lnTo>
                    <a:pt x="1660991" y="1941063"/>
                  </a:lnTo>
                  <a:lnTo>
                    <a:pt x="0" y="1941063"/>
                  </a:lnTo>
                  <a:close/>
                </a:path>
              </a:pathLst>
            </a:cu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5" name="Graphic 14">
            <a:extLst>
              <a:ext uri="{FF2B5EF4-FFF2-40B4-BE49-F238E27FC236}">
                <a16:creationId xmlns:a16="http://schemas.microsoft.com/office/drawing/2014/main" id="{0B5606AF-41C6-0137-32A8-807A0A5D0D48}"/>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2126331" y="-1062392"/>
            <a:ext cx="2405080" cy="3385097"/>
          </a:xfrm>
          <a:prstGeom prst="rect">
            <a:avLst/>
          </a:prstGeom>
        </p:spPr>
      </p:pic>
      <p:pic>
        <p:nvPicPr>
          <p:cNvPr id="13" name="Picture 12">
            <a:extLst>
              <a:ext uri="{FF2B5EF4-FFF2-40B4-BE49-F238E27FC236}">
                <a16:creationId xmlns:a16="http://schemas.microsoft.com/office/drawing/2014/main" id="{9AF4D5AD-886B-F49D-187E-EF188BA5C869}"/>
              </a:ext>
            </a:extLst>
          </p:cNvPr>
          <p:cNvPicPr>
            <a:picLocks noChangeAspect="1"/>
          </p:cNvPicPr>
          <p:nvPr userDrawn="1"/>
        </p:nvPicPr>
        <p:blipFill>
          <a:blip r:embed="rId6">
            <a:alphaModFix amt="99000"/>
          </a:blip>
          <a:stretch>
            <a:fillRect/>
          </a:stretch>
        </p:blipFill>
        <p:spPr>
          <a:xfrm rot="5400000" flipV="1">
            <a:off x="-2602281" y="2616106"/>
            <a:ext cx="7046892" cy="1814681"/>
          </a:xfrm>
          <a:prstGeom prst="rect">
            <a:avLst/>
          </a:prstGeom>
        </p:spPr>
      </p:pic>
      <p:pic>
        <p:nvPicPr>
          <p:cNvPr id="16" name="Graphic 15">
            <a:extLst>
              <a:ext uri="{FF2B5EF4-FFF2-40B4-BE49-F238E27FC236}">
                <a16:creationId xmlns:a16="http://schemas.microsoft.com/office/drawing/2014/main" id="{ADB128DF-CD31-0CEB-4D7C-71A658062365}"/>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rot="10800000">
            <a:off x="283211" y="3743462"/>
            <a:ext cx="2080701" cy="2978013"/>
          </a:xfrm>
          <a:prstGeom prst="rect">
            <a:avLst/>
          </a:prstGeom>
        </p:spPr>
      </p:pic>
      <p:pic>
        <p:nvPicPr>
          <p:cNvPr id="25" name="Graphic 24">
            <a:extLst>
              <a:ext uri="{FF2B5EF4-FFF2-40B4-BE49-F238E27FC236}">
                <a16:creationId xmlns:a16="http://schemas.microsoft.com/office/drawing/2014/main" id="{3FF214BE-EBD1-4C75-B559-2A68D3A7182D}"/>
              </a:ext>
            </a:extLst>
          </p:cNvPr>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rot="5400000">
            <a:off x="1830037" y="6046777"/>
            <a:ext cx="419100" cy="790575"/>
          </a:xfrm>
          <a:prstGeom prst="rect">
            <a:avLst/>
          </a:prstGeom>
        </p:spPr>
      </p:pic>
    </p:spTree>
    <p:extLst>
      <p:ext uri="{BB962C8B-B14F-4D97-AF65-F5344CB8AC3E}">
        <p14:creationId xmlns:p14="http://schemas.microsoft.com/office/powerpoint/2010/main" val="8642491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pic>
        <p:nvPicPr>
          <p:cNvPr id="36" name="Picture 35">
            <a:extLst>
              <a:ext uri="{FF2B5EF4-FFF2-40B4-BE49-F238E27FC236}">
                <a16:creationId xmlns:a16="http://schemas.microsoft.com/office/drawing/2014/main" id="{E22F56BC-829B-3BC8-96F9-8B26B69F0FD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26333" b="7973"/>
          <a:stretch/>
        </p:blipFill>
        <p:spPr>
          <a:xfrm>
            <a:off x="0" y="0"/>
            <a:ext cx="12192000" cy="6858000"/>
          </a:xfrm>
          <a:prstGeom prst="rect">
            <a:avLst/>
          </a:prstGeom>
        </p:spPr>
      </p:pic>
      <p:sp>
        <p:nvSpPr>
          <p:cNvPr id="34" name="Rectangle 33">
            <a:extLst>
              <a:ext uri="{FF2B5EF4-FFF2-40B4-BE49-F238E27FC236}">
                <a16:creationId xmlns:a16="http://schemas.microsoft.com/office/drawing/2014/main" id="{6D44EBC3-45F4-19C6-0AEB-16C907B4BCB5}"/>
              </a:ext>
            </a:extLst>
          </p:cNvPr>
          <p:cNvSpPr/>
          <p:nvPr userDrawn="1"/>
        </p:nvSpPr>
        <p:spPr>
          <a:xfrm>
            <a:off x="0" y="1"/>
            <a:ext cx="12192000" cy="6858000"/>
          </a:xfrm>
          <a:prstGeom prst="rect">
            <a:avLst/>
          </a:prstGeom>
          <a:gradFill flip="none" rotWithShape="1">
            <a:gsLst>
              <a:gs pos="12000">
                <a:srgbClr val="6C1D35">
                  <a:alpha val="68000"/>
                </a:srgbClr>
              </a:gs>
              <a:gs pos="77000">
                <a:schemeClr val="accent1">
                  <a:lumMod val="75000"/>
                </a:schemeClr>
              </a:gs>
            </a:gsLst>
            <a:lin ang="135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Date Placeholder 2">
            <a:extLst>
              <a:ext uri="{FF2B5EF4-FFF2-40B4-BE49-F238E27FC236}">
                <a16:creationId xmlns:a16="http://schemas.microsoft.com/office/drawing/2014/main" id="{6528AE63-F58B-C295-2F24-0E7B07553C61}"/>
              </a:ext>
            </a:extLst>
          </p:cNvPr>
          <p:cNvSpPr>
            <a:spLocks noGrp="1"/>
          </p:cNvSpPr>
          <p:nvPr>
            <p:ph type="dt" sz="half" idx="10"/>
          </p:nvPr>
        </p:nvSpPr>
        <p:spPr/>
        <p:txBody>
          <a:bodyPr/>
          <a:lstStyle/>
          <a:p>
            <a:fld id="{EF9959E7-45DE-4A2D-ACFD-0D8C8BBAB79F}" type="datetimeFigureOut">
              <a:rPr lang="en-US" smtClean="0"/>
              <a:t>12/27/2024</a:t>
            </a:fld>
            <a:endParaRPr lang="en-US"/>
          </a:p>
        </p:txBody>
      </p:sp>
      <p:sp>
        <p:nvSpPr>
          <p:cNvPr id="4" name="Footer Placeholder 3">
            <a:extLst>
              <a:ext uri="{FF2B5EF4-FFF2-40B4-BE49-F238E27FC236}">
                <a16:creationId xmlns:a16="http://schemas.microsoft.com/office/drawing/2014/main" id="{62D40798-1691-00D6-C3D9-64CC3EB8261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11A835F-2749-4B9F-A9CB-5E0BF4302B20}"/>
              </a:ext>
            </a:extLst>
          </p:cNvPr>
          <p:cNvSpPr>
            <a:spLocks noGrp="1"/>
          </p:cNvSpPr>
          <p:nvPr>
            <p:ph type="sldNum" sz="quarter" idx="12"/>
          </p:nvPr>
        </p:nvSpPr>
        <p:spPr/>
        <p:txBody>
          <a:bodyPr/>
          <a:lstStyle/>
          <a:p>
            <a:fld id="{B5912E74-8957-4046-8937-1199D0665174}" type="slidenum">
              <a:rPr lang="en-US" smtClean="0"/>
              <a:t>‹#›</a:t>
            </a:fld>
            <a:endParaRPr lang="en-US"/>
          </a:p>
        </p:txBody>
      </p:sp>
      <p:pic>
        <p:nvPicPr>
          <p:cNvPr id="41" name="Graphic 40">
            <a:extLst>
              <a:ext uri="{FF2B5EF4-FFF2-40B4-BE49-F238E27FC236}">
                <a16:creationId xmlns:a16="http://schemas.microsoft.com/office/drawing/2014/main" id="{BBA782F0-1339-9AD7-88E8-E482862A0C73}"/>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rot="10800000" flipH="1">
            <a:off x="7112000" y="-35081"/>
            <a:ext cx="4917440" cy="6921189"/>
          </a:xfrm>
          <a:prstGeom prst="rect">
            <a:avLst/>
          </a:prstGeom>
        </p:spPr>
      </p:pic>
      <p:pic>
        <p:nvPicPr>
          <p:cNvPr id="42" name="Graphic 41">
            <a:extLst>
              <a:ext uri="{FF2B5EF4-FFF2-40B4-BE49-F238E27FC236}">
                <a16:creationId xmlns:a16="http://schemas.microsoft.com/office/drawing/2014/main" id="{955F31CF-FB2A-3612-E2CA-58665EF22E34}"/>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rot="10800000" flipH="1">
            <a:off x="11268262" y="349094"/>
            <a:ext cx="2010036" cy="2829081"/>
          </a:xfrm>
          <a:prstGeom prst="rect">
            <a:avLst/>
          </a:prstGeom>
        </p:spPr>
      </p:pic>
    </p:spTree>
    <p:extLst>
      <p:ext uri="{BB962C8B-B14F-4D97-AF65-F5344CB8AC3E}">
        <p14:creationId xmlns:p14="http://schemas.microsoft.com/office/powerpoint/2010/main" val="11868840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end page">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A9A0EB9F-5240-3366-0373-E8B7C3C2A4FE}"/>
              </a:ext>
            </a:extLst>
          </p:cNvPr>
          <p:cNvSpPr/>
          <p:nvPr userDrawn="1"/>
        </p:nvSpPr>
        <p:spPr>
          <a:xfrm>
            <a:off x="0" y="-2"/>
            <a:ext cx="12230100" cy="6858001"/>
          </a:xfrm>
          <a:prstGeom prst="rect">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a:extLst>
              <a:ext uri="{FF2B5EF4-FFF2-40B4-BE49-F238E27FC236}">
                <a16:creationId xmlns:a16="http://schemas.microsoft.com/office/drawing/2014/main" id="{BAF7B2D7-FB34-55B3-113A-7F96DDA7A845}"/>
              </a:ext>
            </a:extLst>
          </p:cNvPr>
          <p:cNvPicPr>
            <a:picLocks noChangeAspect="1"/>
          </p:cNvPicPr>
          <p:nvPr userDrawn="1"/>
        </p:nvPicPr>
        <p:blipFill rotWithShape="1">
          <a:blip r:embed="rId2">
            <a:alphaModFix amt="32000"/>
            <a:extLst>
              <a:ext uri="{28A0092B-C50C-407E-A947-70E740481C1C}">
                <a14:useLocalDpi xmlns:a14="http://schemas.microsoft.com/office/drawing/2010/main" val="0"/>
              </a:ext>
            </a:extLst>
          </a:blip>
          <a:srcRect l="20647"/>
          <a:stretch/>
        </p:blipFill>
        <p:spPr>
          <a:xfrm rot="16200000">
            <a:off x="2686050" y="-2686050"/>
            <a:ext cx="6858000" cy="12230100"/>
          </a:xfrm>
          <a:prstGeom prst="rect">
            <a:avLst/>
          </a:prstGeom>
        </p:spPr>
      </p:pic>
      <p:sp>
        <p:nvSpPr>
          <p:cNvPr id="3" name="Date Placeholder 2">
            <a:extLst>
              <a:ext uri="{FF2B5EF4-FFF2-40B4-BE49-F238E27FC236}">
                <a16:creationId xmlns:a16="http://schemas.microsoft.com/office/drawing/2014/main" id="{837B2BBA-3015-27B9-D210-D15544F2C44D}"/>
              </a:ext>
            </a:extLst>
          </p:cNvPr>
          <p:cNvSpPr>
            <a:spLocks noGrp="1"/>
          </p:cNvSpPr>
          <p:nvPr>
            <p:ph type="dt" sz="half" idx="10"/>
          </p:nvPr>
        </p:nvSpPr>
        <p:spPr/>
        <p:txBody>
          <a:bodyPr/>
          <a:lstStyle/>
          <a:p>
            <a:fld id="{EF9959E7-45DE-4A2D-ACFD-0D8C8BBAB79F}" type="datetimeFigureOut">
              <a:rPr lang="en-US" smtClean="0"/>
              <a:t>12/27/2024</a:t>
            </a:fld>
            <a:endParaRPr lang="en-US"/>
          </a:p>
        </p:txBody>
      </p:sp>
      <p:sp>
        <p:nvSpPr>
          <p:cNvPr id="4" name="Footer Placeholder 3">
            <a:extLst>
              <a:ext uri="{FF2B5EF4-FFF2-40B4-BE49-F238E27FC236}">
                <a16:creationId xmlns:a16="http://schemas.microsoft.com/office/drawing/2014/main" id="{02FAB71C-4835-3D07-2B7F-A7456A46C59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EDE7A9C-9AFC-99CF-42E5-627A58693AE1}"/>
              </a:ext>
            </a:extLst>
          </p:cNvPr>
          <p:cNvSpPr>
            <a:spLocks noGrp="1"/>
          </p:cNvSpPr>
          <p:nvPr>
            <p:ph type="sldNum" sz="quarter" idx="12"/>
          </p:nvPr>
        </p:nvSpPr>
        <p:spPr/>
        <p:txBody>
          <a:bodyPr/>
          <a:lstStyle/>
          <a:p>
            <a:fld id="{B5912E74-8957-4046-8937-1199D0665174}" type="slidenum">
              <a:rPr lang="en-US" smtClean="0"/>
              <a:t>‹#›</a:t>
            </a:fld>
            <a:endParaRPr lang="en-US"/>
          </a:p>
        </p:txBody>
      </p:sp>
    </p:spTree>
    <p:extLst>
      <p:ext uri="{BB962C8B-B14F-4D97-AF65-F5344CB8AC3E}">
        <p14:creationId xmlns:p14="http://schemas.microsoft.com/office/powerpoint/2010/main" val="23956431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ECAB3E7-A192-D902-B47D-B2CC33AF3A17}"/>
              </a:ext>
            </a:extLst>
          </p:cNvPr>
          <p:cNvPicPr>
            <a:picLocks noChangeAspect="1"/>
          </p:cNvPicPr>
          <p:nvPr userDrawn="1"/>
        </p:nvPicPr>
        <p:blipFill>
          <a:blip r:embed="rId2">
            <a:alphaModFix amt="99000"/>
          </a:blip>
          <a:stretch>
            <a:fillRect/>
          </a:stretch>
        </p:blipFill>
        <p:spPr>
          <a:xfrm rot="10800000" flipV="1">
            <a:off x="6764" y="1270"/>
            <a:ext cx="12073813" cy="3109189"/>
          </a:xfrm>
          <a:prstGeom prst="rect">
            <a:avLst/>
          </a:prstGeom>
        </p:spPr>
      </p:pic>
      <p:grpSp>
        <p:nvGrpSpPr>
          <p:cNvPr id="29" name="Group 28">
            <a:extLst>
              <a:ext uri="{FF2B5EF4-FFF2-40B4-BE49-F238E27FC236}">
                <a16:creationId xmlns:a16="http://schemas.microsoft.com/office/drawing/2014/main" id="{9956ED8E-CF4D-D756-5FA9-5F3263853A9C}"/>
              </a:ext>
            </a:extLst>
          </p:cNvPr>
          <p:cNvGrpSpPr/>
          <p:nvPr userDrawn="1"/>
        </p:nvGrpSpPr>
        <p:grpSpPr>
          <a:xfrm>
            <a:off x="0" y="6438899"/>
            <a:ext cx="4425450" cy="419100"/>
            <a:chOff x="0" y="6438899"/>
            <a:chExt cx="4425450" cy="419100"/>
          </a:xfrm>
        </p:grpSpPr>
        <p:sp>
          <p:nvSpPr>
            <p:cNvPr id="27" name="Rectangle 26">
              <a:extLst>
                <a:ext uri="{FF2B5EF4-FFF2-40B4-BE49-F238E27FC236}">
                  <a16:creationId xmlns:a16="http://schemas.microsoft.com/office/drawing/2014/main" id="{4185CCF7-2507-F40E-2E71-04B5C07C7F09}"/>
                </a:ext>
              </a:extLst>
            </p:cNvPr>
            <p:cNvSpPr/>
            <p:nvPr userDrawn="1"/>
          </p:nvSpPr>
          <p:spPr>
            <a:xfrm>
              <a:off x="0" y="6438900"/>
              <a:ext cx="4115884" cy="419099"/>
            </a:xfrm>
            <a:prstGeom prst="rect">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ight Triangle 27">
              <a:extLst>
                <a:ext uri="{FF2B5EF4-FFF2-40B4-BE49-F238E27FC236}">
                  <a16:creationId xmlns:a16="http://schemas.microsoft.com/office/drawing/2014/main" id="{891B4BFE-7090-CB15-ACE2-E76D3D5E6402}"/>
                </a:ext>
              </a:extLst>
            </p:cNvPr>
            <p:cNvSpPr/>
            <p:nvPr userDrawn="1"/>
          </p:nvSpPr>
          <p:spPr>
            <a:xfrm>
              <a:off x="4115884" y="6438899"/>
              <a:ext cx="309566" cy="419100"/>
            </a:xfrm>
            <a:prstGeom prst="rtTriangle">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1796ACF-1284-B0D3-20AC-1A411B0BC639}"/>
              </a:ext>
            </a:extLst>
          </p:cNvPr>
          <p:cNvSpPr>
            <a:spLocks noGrp="1"/>
          </p:cNvSpPr>
          <p:nvPr>
            <p:ph type="title"/>
          </p:nvPr>
        </p:nvSpPr>
        <p:spPr>
          <a:xfrm>
            <a:off x="831850" y="1047751"/>
            <a:ext cx="10515600" cy="1500187"/>
          </a:xfrm>
        </p:spPr>
        <p:txBody>
          <a:bodyPr anchor="t">
            <a:normAutofit/>
          </a:bodyPr>
          <a:lstStyle>
            <a:lvl1pPr>
              <a:defRPr sz="4000">
                <a:latin typeface="+mn-lt"/>
              </a:defRPr>
            </a:lvl1pPr>
          </a:lstStyle>
          <a:p>
            <a:r>
              <a:rPr lang="en-US" dirty="0"/>
              <a:t>Click to edit Master title style</a:t>
            </a:r>
          </a:p>
        </p:txBody>
      </p:sp>
      <p:sp>
        <p:nvSpPr>
          <p:cNvPr id="3" name="Text Placeholder 2">
            <a:extLst>
              <a:ext uri="{FF2B5EF4-FFF2-40B4-BE49-F238E27FC236}">
                <a16:creationId xmlns:a16="http://schemas.microsoft.com/office/drawing/2014/main" id="{CAE66E6B-CFF2-F241-A3D1-4FD4DAC4FAC5}"/>
              </a:ext>
            </a:extLst>
          </p:cNvPr>
          <p:cNvSpPr>
            <a:spLocks noGrp="1"/>
          </p:cNvSpPr>
          <p:nvPr>
            <p:ph type="body" idx="1"/>
          </p:nvPr>
        </p:nvSpPr>
        <p:spPr>
          <a:xfrm>
            <a:off x="831850" y="2814638"/>
            <a:ext cx="10515600" cy="3357562"/>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D916DBAF-8EC8-76B5-BD68-4EE498D12AED}"/>
              </a:ext>
            </a:extLst>
          </p:cNvPr>
          <p:cNvSpPr>
            <a:spLocks noGrp="1"/>
          </p:cNvSpPr>
          <p:nvPr>
            <p:ph type="dt" sz="half" idx="10"/>
          </p:nvPr>
        </p:nvSpPr>
        <p:spPr/>
        <p:txBody>
          <a:bodyPr/>
          <a:lstStyle/>
          <a:p>
            <a:fld id="{EF9959E7-45DE-4A2D-ACFD-0D8C8BBAB79F}" type="datetimeFigureOut">
              <a:rPr lang="en-US" smtClean="0"/>
              <a:t>12/27/2024</a:t>
            </a:fld>
            <a:endParaRPr lang="en-US"/>
          </a:p>
        </p:txBody>
      </p:sp>
      <p:sp>
        <p:nvSpPr>
          <p:cNvPr id="5" name="Footer Placeholder 4">
            <a:extLst>
              <a:ext uri="{FF2B5EF4-FFF2-40B4-BE49-F238E27FC236}">
                <a16:creationId xmlns:a16="http://schemas.microsoft.com/office/drawing/2014/main" id="{14FC1A71-0977-DB43-6672-9DD2B43F03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41AA75-9A52-677C-BAAB-361020BE450C}"/>
              </a:ext>
            </a:extLst>
          </p:cNvPr>
          <p:cNvSpPr>
            <a:spLocks noGrp="1"/>
          </p:cNvSpPr>
          <p:nvPr>
            <p:ph type="sldNum" sz="quarter" idx="12"/>
          </p:nvPr>
        </p:nvSpPr>
        <p:spPr/>
        <p:txBody>
          <a:bodyPr/>
          <a:lstStyle/>
          <a:p>
            <a:fld id="{B5912E74-8957-4046-8937-1199D0665174}" type="slidenum">
              <a:rPr lang="en-US" smtClean="0"/>
              <a:t>‹#›</a:t>
            </a:fld>
            <a:endParaRPr lang="en-US"/>
          </a:p>
        </p:txBody>
      </p:sp>
      <p:pic>
        <p:nvPicPr>
          <p:cNvPr id="11" name="Picture 10">
            <a:extLst>
              <a:ext uri="{FF2B5EF4-FFF2-40B4-BE49-F238E27FC236}">
                <a16:creationId xmlns:a16="http://schemas.microsoft.com/office/drawing/2014/main" id="{14CA6469-707B-4B2D-CE38-C2E80563F89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478878" y="283590"/>
            <a:ext cx="1468167" cy="497461"/>
          </a:xfrm>
          <a:prstGeom prst="rect">
            <a:avLst/>
          </a:prstGeom>
        </p:spPr>
      </p:pic>
      <p:grpSp>
        <p:nvGrpSpPr>
          <p:cNvPr id="24" name="Group 23">
            <a:extLst>
              <a:ext uri="{FF2B5EF4-FFF2-40B4-BE49-F238E27FC236}">
                <a16:creationId xmlns:a16="http://schemas.microsoft.com/office/drawing/2014/main" id="{DB94ABDC-D409-D0CF-BFD9-E874B46B7EEF}"/>
              </a:ext>
            </a:extLst>
          </p:cNvPr>
          <p:cNvGrpSpPr/>
          <p:nvPr userDrawn="1"/>
        </p:nvGrpSpPr>
        <p:grpSpPr>
          <a:xfrm>
            <a:off x="0" y="0"/>
            <a:ext cx="2135014" cy="390908"/>
            <a:chOff x="0" y="0"/>
            <a:chExt cx="2135014" cy="390908"/>
          </a:xfrm>
        </p:grpSpPr>
        <p:sp>
          <p:nvSpPr>
            <p:cNvPr id="21" name="Rectangle 20">
              <a:extLst>
                <a:ext uri="{FF2B5EF4-FFF2-40B4-BE49-F238E27FC236}">
                  <a16:creationId xmlns:a16="http://schemas.microsoft.com/office/drawing/2014/main" id="{15CC8F0A-14AF-F65B-6D14-A51CBEFF1729}"/>
                </a:ext>
              </a:extLst>
            </p:cNvPr>
            <p:cNvSpPr/>
            <p:nvPr userDrawn="1"/>
          </p:nvSpPr>
          <p:spPr>
            <a:xfrm>
              <a:off x="0" y="1"/>
              <a:ext cx="1921715" cy="390907"/>
            </a:xfrm>
            <a:prstGeom prst="rect">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ight Triangle 22">
              <a:extLst>
                <a:ext uri="{FF2B5EF4-FFF2-40B4-BE49-F238E27FC236}">
                  <a16:creationId xmlns:a16="http://schemas.microsoft.com/office/drawing/2014/main" id="{7D170A48-ED14-4722-ED48-412F8B7C44AA}"/>
                </a:ext>
              </a:extLst>
            </p:cNvPr>
            <p:cNvSpPr/>
            <p:nvPr userDrawn="1"/>
          </p:nvSpPr>
          <p:spPr>
            <a:xfrm flipV="1">
              <a:off x="1921715" y="0"/>
              <a:ext cx="213299" cy="390907"/>
            </a:xfrm>
            <a:prstGeom prst="rtTriangle">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 name="Group 30">
            <a:extLst>
              <a:ext uri="{FF2B5EF4-FFF2-40B4-BE49-F238E27FC236}">
                <a16:creationId xmlns:a16="http://schemas.microsoft.com/office/drawing/2014/main" id="{A4B6D801-7EDC-E981-F405-040472A43AB5}"/>
              </a:ext>
            </a:extLst>
          </p:cNvPr>
          <p:cNvGrpSpPr/>
          <p:nvPr userDrawn="1"/>
        </p:nvGrpSpPr>
        <p:grpSpPr>
          <a:xfrm>
            <a:off x="11930388" y="4900065"/>
            <a:ext cx="261612" cy="1456285"/>
            <a:chOff x="-7479" y="4982614"/>
            <a:chExt cx="261612" cy="1456285"/>
          </a:xfrm>
        </p:grpSpPr>
        <p:sp>
          <p:nvSpPr>
            <p:cNvPr id="32" name="Rectangle 31">
              <a:extLst>
                <a:ext uri="{FF2B5EF4-FFF2-40B4-BE49-F238E27FC236}">
                  <a16:creationId xmlns:a16="http://schemas.microsoft.com/office/drawing/2014/main" id="{790F7BDA-9A67-4500-FC96-D0DCA5669FC2}"/>
                </a:ext>
              </a:extLst>
            </p:cNvPr>
            <p:cNvSpPr/>
            <p:nvPr userDrawn="1"/>
          </p:nvSpPr>
          <p:spPr>
            <a:xfrm>
              <a:off x="-7479" y="4982614"/>
              <a:ext cx="261612" cy="1456285"/>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E6D3808A-7510-8E14-D035-56A7CA6C58A0}"/>
                </a:ext>
              </a:extLst>
            </p:cNvPr>
            <p:cNvSpPr txBox="1"/>
            <p:nvPr userDrawn="1"/>
          </p:nvSpPr>
          <p:spPr>
            <a:xfrm rot="16200000">
              <a:off x="-565323" y="5578170"/>
              <a:ext cx="1377301" cy="261610"/>
            </a:xfrm>
            <a:prstGeom prst="rect">
              <a:avLst/>
            </a:prstGeom>
            <a:noFill/>
          </p:spPr>
          <p:txBody>
            <a:bodyPr wrap="square" rtlCol="0">
              <a:spAutoFit/>
            </a:bodyPr>
            <a:lstStyle/>
            <a:p>
              <a:pPr algn="ctr"/>
              <a:r>
                <a:rPr lang="en-US" sz="1100" b="1" i="0" dirty="0">
                  <a:solidFill>
                    <a:schemeClr val="bg1">
                      <a:lumMod val="95000"/>
                    </a:schemeClr>
                  </a:solidFill>
                  <a:ea typeface="Montserrat Semi" charset="0"/>
                  <a:cs typeface="Montserrat Semi" charset="0"/>
                </a:rPr>
                <a:t>www.utm.my</a:t>
              </a:r>
              <a:endParaRPr lang="en-US" sz="1100" b="1" i="0" dirty="0">
                <a:solidFill>
                  <a:schemeClr val="accent4"/>
                </a:solidFill>
                <a:ea typeface="Montserrat Semi" charset="0"/>
                <a:cs typeface="Montserrat Semi" charset="0"/>
              </a:endParaRPr>
            </a:p>
          </p:txBody>
        </p:sp>
      </p:grpSp>
    </p:spTree>
    <p:extLst>
      <p:ext uri="{BB962C8B-B14F-4D97-AF65-F5344CB8AC3E}">
        <p14:creationId xmlns:p14="http://schemas.microsoft.com/office/powerpoint/2010/main" val="1842262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F45FB79D-2789-2E82-ACD5-FA141CFFB85B}"/>
              </a:ext>
            </a:extLst>
          </p:cNvPr>
          <p:cNvPicPr>
            <a:picLocks noChangeAspect="1"/>
          </p:cNvPicPr>
          <p:nvPr userDrawn="1"/>
        </p:nvPicPr>
        <p:blipFill>
          <a:blip r:embed="rId2">
            <a:alphaModFix amt="99000"/>
          </a:blip>
          <a:stretch>
            <a:fillRect/>
          </a:stretch>
        </p:blipFill>
        <p:spPr>
          <a:xfrm rot="10800000" flipV="1">
            <a:off x="6764" y="1270"/>
            <a:ext cx="12073813" cy="3109189"/>
          </a:xfrm>
          <a:prstGeom prst="rect">
            <a:avLst/>
          </a:prstGeom>
        </p:spPr>
      </p:pic>
      <p:sp>
        <p:nvSpPr>
          <p:cNvPr id="2" name="Title 1">
            <a:extLst>
              <a:ext uri="{FF2B5EF4-FFF2-40B4-BE49-F238E27FC236}">
                <a16:creationId xmlns:a16="http://schemas.microsoft.com/office/drawing/2014/main" id="{D306C3F4-36B0-1561-8EFF-3B31A7774228}"/>
              </a:ext>
            </a:extLst>
          </p:cNvPr>
          <p:cNvSpPr>
            <a:spLocks noGrp="1"/>
          </p:cNvSpPr>
          <p:nvPr>
            <p:ph type="ctrTitle"/>
          </p:nvPr>
        </p:nvSpPr>
        <p:spPr>
          <a:xfrm>
            <a:off x="1524000" y="1122363"/>
            <a:ext cx="9144000" cy="1381125"/>
          </a:xfrm>
        </p:spPr>
        <p:txBody>
          <a:bodyPr anchor="t">
            <a:normAutofit/>
          </a:bodyPr>
          <a:lstStyle>
            <a:lvl1pPr algn="l">
              <a:defRPr sz="4000">
                <a:latin typeface="+mn-lt"/>
              </a:defRPr>
            </a:lvl1pPr>
          </a:lstStyle>
          <a:p>
            <a:r>
              <a:rPr lang="en-US" dirty="0"/>
              <a:t>Click to edit Master title style</a:t>
            </a:r>
          </a:p>
        </p:txBody>
      </p:sp>
      <p:sp>
        <p:nvSpPr>
          <p:cNvPr id="3" name="Subtitle 2">
            <a:extLst>
              <a:ext uri="{FF2B5EF4-FFF2-40B4-BE49-F238E27FC236}">
                <a16:creationId xmlns:a16="http://schemas.microsoft.com/office/drawing/2014/main" id="{FDC4E23C-BC64-3E31-C7C9-1CCB71C593F3}"/>
              </a:ext>
            </a:extLst>
          </p:cNvPr>
          <p:cNvSpPr>
            <a:spLocks noGrp="1"/>
          </p:cNvSpPr>
          <p:nvPr>
            <p:ph type="subTitle" idx="1"/>
          </p:nvPr>
        </p:nvSpPr>
        <p:spPr>
          <a:xfrm>
            <a:off x="1524000" y="2601118"/>
            <a:ext cx="9144000" cy="3461751"/>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68BAAB4A-F681-D1CE-536F-A8600B878509}"/>
              </a:ext>
            </a:extLst>
          </p:cNvPr>
          <p:cNvSpPr>
            <a:spLocks noGrp="1"/>
          </p:cNvSpPr>
          <p:nvPr>
            <p:ph type="dt" sz="half" idx="10"/>
          </p:nvPr>
        </p:nvSpPr>
        <p:spPr/>
        <p:txBody>
          <a:bodyPr/>
          <a:lstStyle/>
          <a:p>
            <a:fld id="{EF9959E7-45DE-4A2D-ACFD-0D8C8BBAB79F}" type="datetimeFigureOut">
              <a:rPr lang="en-US" smtClean="0"/>
              <a:t>12/27/2024</a:t>
            </a:fld>
            <a:endParaRPr lang="en-US"/>
          </a:p>
        </p:txBody>
      </p:sp>
      <p:sp>
        <p:nvSpPr>
          <p:cNvPr id="5" name="Footer Placeholder 4">
            <a:extLst>
              <a:ext uri="{FF2B5EF4-FFF2-40B4-BE49-F238E27FC236}">
                <a16:creationId xmlns:a16="http://schemas.microsoft.com/office/drawing/2014/main" id="{5872C815-2D69-C272-C63C-A195EBFE39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BD7A072-5E8E-BDBB-35CA-3A355E5D5FFB}"/>
              </a:ext>
            </a:extLst>
          </p:cNvPr>
          <p:cNvSpPr>
            <a:spLocks noGrp="1"/>
          </p:cNvSpPr>
          <p:nvPr>
            <p:ph type="sldNum" sz="quarter" idx="12"/>
          </p:nvPr>
        </p:nvSpPr>
        <p:spPr/>
        <p:txBody>
          <a:bodyPr/>
          <a:lstStyle>
            <a:lvl1pPr>
              <a:defRPr>
                <a:solidFill>
                  <a:srgbClr val="6C1D35"/>
                </a:solidFill>
              </a:defRPr>
            </a:lvl1pPr>
          </a:lstStyle>
          <a:p>
            <a:fld id="{B5912E74-8957-4046-8937-1199D0665174}" type="slidenum">
              <a:rPr lang="en-US" smtClean="0"/>
              <a:pPr/>
              <a:t>‹#›</a:t>
            </a:fld>
            <a:endParaRPr lang="en-US" dirty="0"/>
          </a:p>
        </p:txBody>
      </p:sp>
      <p:pic>
        <p:nvPicPr>
          <p:cNvPr id="7" name="Picture 6">
            <a:extLst>
              <a:ext uri="{FF2B5EF4-FFF2-40B4-BE49-F238E27FC236}">
                <a16:creationId xmlns:a16="http://schemas.microsoft.com/office/drawing/2014/main" id="{1AFB2FEB-1CDE-753F-3231-2131ED23FF1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478878" y="283590"/>
            <a:ext cx="1468167" cy="497461"/>
          </a:xfrm>
          <a:prstGeom prst="rect">
            <a:avLst/>
          </a:prstGeom>
        </p:spPr>
      </p:pic>
      <p:grpSp>
        <p:nvGrpSpPr>
          <p:cNvPr id="24" name="Group 23">
            <a:extLst>
              <a:ext uri="{FF2B5EF4-FFF2-40B4-BE49-F238E27FC236}">
                <a16:creationId xmlns:a16="http://schemas.microsoft.com/office/drawing/2014/main" id="{60EA2A08-0768-E840-71C5-CB5BA198C844}"/>
              </a:ext>
            </a:extLst>
          </p:cNvPr>
          <p:cNvGrpSpPr/>
          <p:nvPr userDrawn="1"/>
        </p:nvGrpSpPr>
        <p:grpSpPr>
          <a:xfrm>
            <a:off x="0" y="336866"/>
            <a:ext cx="838200" cy="390908"/>
            <a:chOff x="0" y="585597"/>
            <a:chExt cx="838200" cy="390908"/>
          </a:xfrm>
        </p:grpSpPr>
        <p:sp>
          <p:nvSpPr>
            <p:cNvPr id="22" name="Rectangle 21">
              <a:extLst>
                <a:ext uri="{FF2B5EF4-FFF2-40B4-BE49-F238E27FC236}">
                  <a16:creationId xmlns:a16="http://schemas.microsoft.com/office/drawing/2014/main" id="{87FE56D3-CDFF-99C8-081E-21872711345C}"/>
                </a:ext>
              </a:extLst>
            </p:cNvPr>
            <p:cNvSpPr/>
            <p:nvPr userDrawn="1"/>
          </p:nvSpPr>
          <p:spPr>
            <a:xfrm>
              <a:off x="0" y="585598"/>
              <a:ext cx="624901" cy="390907"/>
            </a:xfrm>
            <a:prstGeom prst="rect">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ight Triangle 22">
              <a:extLst>
                <a:ext uri="{FF2B5EF4-FFF2-40B4-BE49-F238E27FC236}">
                  <a16:creationId xmlns:a16="http://schemas.microsoft.com/office/drawing/2014/main" id="{55D81439-E4CF-3498-4773-82E6A34DB949}"/>
                </a:ext>
              </a:extLst>
            </p:cNvPr>
            <p:cNvSpPr/>
            <p:nvPr userDrawn="1"/>
          </p:nvSpPr>
          <p:spPr>
            <a:xfrm flipV="1">
              <a:off x="624901" y="585597"/>
              <a:ext cx="213299" cy="390907"/>
            </a:xfrm>
            <a:prstGeom prst="rtTriangle">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 name="Group 8">
            <a:extLst>
              <a:ext uri="{FF2B5EF4-FFF2-40B4-BE49-F238E27FC236}">
                <a16:creationId xmlns:a16="http://schemas.microsoft.com/office/drawing/2014/main" id="{4F56CB3B-27D6-0844-017F-CFA08F52311B}"/>
              </a:ext>
            </a:extLst>
          </p:cNvPr>
          <p:cNvGrpSpPr/>
          <p:nvPr userDrawn="1"/>
        </p:nvGrpSpPr>
        <p:grpSpPr>
          <a:xfrm>
            <a:off x="11930388" y="4900065"/>
            <a:ext cx="261612" cy="1456285"/>
            <a:chOff x="-7479" y="4982614"/>
            <a:chExt cx="261612" cy="1456285"/>
          </a:xfrm>
        </p:grpSpPr>
        <p:sp>
          <p:nvSpPr>
            <p:cNvPr id="10" name="Rectangle 9">
              <a:extLst>
                <a:ext uri="{FF2B5EF4-FFF2-40B4-BE49-F238E27FC236}">
                  <a16:creationId xmlns:a16="http://schemas.microsoft.com/office/drawing/2014/main" id="{845E31CA-977D-9659-5E4D-1E4EC75ABA70}"/>
                </a:ext>
              </a:extLst>
            </p:cNvPr>
            <p:cNvSpPr/>
            <p:nvPr userDrawn="1"/>
          </p:nvSpPr>
          <p:spPr>
            <a:xfrm>
              <a:off x="-7479" y="4982614"/>
              <a:ext cx="261612" cy="1456285"/>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1B4385F2-2245-0F8C-C446-564E2DE5084A}"/>
                </a:ext>
              </a:extLst>
            </p:cNvPr>
            <p:cNvSpPr txBox="1"/>
            <p:nvPr userDrawn="1"/>
          </p:nvSpPr>
          <p:spPr>
            <a:xfrm rot="16200000">
              <a:off x="-565323" y="5578170"/>
              <a:ext cx="1377301" cy="261610"/>
            </a:xfrm>
            <a:prstGeom prst="rect">
              <a:avLst/>
            </a:prstGeom>
            <a:noFill/>
          </p:spPr>
          <p:txBody>
            <a:bodyPr wrap="square" rtlCol="0">
              <a:spAutoFit/>
            </a:bodyPr>
            <a:lstStyle/>
            <a:p>
              <a:pPr algn="ctr"/>
              <a:r>
                <a:rPr lang="en-US" sz="1100" b="1" i="0" dirty="0">
                  <a:solidFill>
                    <a:schemeClr val="bg1">
                      <a:lumMod val="95000"/>
                    </a:schemeClr>
                  </a:solidFill>
                  <a:ea typeface="Montserrat Semi" charset="0"/>
                  <a:cs typeface="Montserrat Semi" charset="0"/>
                </a:rPr>
                <a:t>www.utm.my</a:t>
              </a:r>
              <a:endParaRPr lang="en-US" sz="1100" b="1" i="0" dirty="0">
                <a:solidFill>
                  <a:schemeClr val="accent4"/>
                </a:solidFill>
                <a:ea typeface="Montserrat Semi" charset="0"/>
                <a:cs typeface="Montserrat Semi" charset="0"/>
              </a:endParaRPr>
            </a:p>
          </p:txBody>
        </p:sp>
      </p:grpSp>
    </p:spTree>
    <p:extLst>
      <p:ext uri="{BB962C8B-B14F-4D97-AF65-F5344CB8AC3E}">
        <p14:creationId xmlns:p14="http://schemas.microsoft.com/office/powerpoint/2010/main" val="20659877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95386308-8E2B-C701-D9C5-CFF5B6D9F8D4}"/>
              </a:ext>
            </a:extLst>
          </p:cNvPr>
          <p:cNvPicPr>
            <a:picLocks noChangeAspect="1"/>
          </p:cNvPicPr>
          <p:nvPr userDrawn="1"/>
        </p:nvPicPr>
        <p:blipFill>
          <a:blip r:embed="rId2"/>
          <a:stretch>
            <a:fillRect/>
          </a:stretch>
        </p:blipFill>
        <p:spPr>
          <a:xfrm rot="10800000" flipV="1">
            <a:off x="6765" y="1270"/>
            <a:ext cx="7112053" cy="1831461"/>
          </a:xfrm>
          <a:prstGeom prst="rect">
            <a:avLst/>
          </a:prstGeom>
        </p:spPr>
      </p:pic>
      <p:sp>
        <p:nvSpPr>
          <p:cNvPr id="2" name="Title 1">
            <a:extLst>
              <a:ext uri="{FF2B5EF4-FFF2-40B4-BE49-F238E27FC236}">
                <a16:creationId xmlns:a16="http://schemas.microsoft.com/office/drawing/2014/main" id="{048221F6-B30E-6574-4F98-77B2C4903734}"/>
              </a:ext>
            </a:extLst>
          </p:cNvPr>
          <p:cNvSpPr>
            <a:spLocks noGrp="1"/>
          </p:cNvSpPr>
          <p:nvPr>
            <p:ph type="title"/>
          </p:nvPr>
        </p:nvSpPr>
        <p:spPr/>
        <p:txBody>
          <a:bodyPr>
            <a:normAutofit/>
          </a:bodyPr>
          <a:lstStyle>
            <a:lvl1pPr algn="ctr">
              <a:defRPr sz="4000">
                <a:latin typeface="+mn-lt"/>
              </a:defRPr>
            </a:lvl1pPr>
          </a:lstStyle>
          <a:p>
            <a:r>
              <a:rPr lang="en-US" dirty="0"/>
              <a:t>Click to edit Master title style</a:t>
            </a:r>
          </a:p>
        </p:txBody>
      </p:sp>
      <p:sp>
        <p:nvSpPr>
          <p:cNvPr id="3" name="Content Placeholder 2">
            <a:extLst>
              <a:ext uri="{FF2B5EF4-FFF2-40B4-BE49-F238E27FC236}">
                <a16:creationId xmlns:a16="http://schemas.microsoft.com/office/drawing/2014/main" id="{ADB6BEFF-E786-80CC-C462-EC9F1C9C357F}"/>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7B6CF37-673E-EFC4-46AD-C8B8CC64E1D0}"/>
              </a:ext>
            </a:extLst>
          </p:cNvPr>
          <p:cNvSpPr>
            <a:spLocks noGrp="1"/>
          </p:cNvSpPr>
          <p:nvPr>
            <p:ph type="dt" sz="half" idx="10"/>
          </p:nvPr>
        </p:nvSpPr>
        <p:spPr/>
        <p:txBody>
          <a:bodyPr/>
          <a:lstStyle/>
          <a:p>
            <a:fld id="{EF9959E7-45DE-4A2D-ACFD-0D8C8BBAB79F}" type="datetimeFigureOut">
              <a:rPr lang="en-US" smtClean="0"/>
              <a:t>12/27/2024</a:t>
            </a:fld>
            <a:endParaRPr lang="en-US"/>
          </a:p>
        </p:txBody>
      </p:sp>
      <p:sp>
        <p:nvSpPr>
          <p:cNvPr id="5" name="Footer Placeholder 4">
            <a:extLst>
              <a:ext uri="{FF2B5EF4-FFF2-40B4-BE49-F238E27FC236}">
                <a16:creationId xmlns:a16="http://schemas.microsoft.com/office/drawing/2014/main" id="{9C3B8A85-2B88-6B89-6CF8-4D396AB7B41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84774E-879A-AA6A-5AEF-0FD775B9793F}"/>
              </a:ext>
            </a:extLst>
          </p:cNvPr>
          <p:cNvSpPr>
            <a:spLocks noGrp="1"/>
          </p:cNvSpPr>
          <p:nvPr>
            <p:ph type="sldNum" sz="quarter" idx="12"/>
          </p:nvPr>
        </p:nvSpPr>
        <p:spPr/>
        <p:txBody>
          <a:bodyPr/>
          <a:lstStyle/>
          <a:p>
            <a:fld id="{B5912E74-8957-4046-8937-1199D0665174}" type="slidenum">
              <a:rPr lang="en-US" smtClean="0"/>
              <a:t>‹#›</a:t>
            </a:fld>
            <a:endParaRPr lang="en-US"/>
          </a:p>
        </p:txBody>
      </p:sp>
      <p:sp>
        <p:nvSpPr>
          <p:cNvPr id="8" name="Rectangle 7">
            <a:extLst>
              <a:ext uri="{FF2B5EF4-FFF2-40B4-BE49-F238E27FC236}">
                <a16:creationId xmlns:a16="http://schemas.microsoft.com/office/drawing/2014/main" id="{68F9B18A-4C13-213C-5ECD-7D00902A82F8}"/>
              </a:ext>
            </a:extLst>
          </p:cNvPr>
          <p:cNvSpPr/>
          <p:nvPr userDrawn="1"/>
        </p:nvSpPr>
        <p:spPr>
          <a:xfrm>
            <a:off x="3894421" y="21431"/>
            <a:ext cx="4460168" cy="256507"/>
          </a:xfrm>
          <a:prstGeom prst="rect">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B8A0DAC0-1D7C-425C-A3EA-189775AB007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478878" y="283590"/>
            <a:ext cx="1468167" cy="497461"/>
          </a:xfrm>
          <a:prstGeom prst="rect">
            <a:avLst/>
          </a:prstGeom>
        </p:spPr>
      </p:pic>
      <p:sp>
        <p:nvSpPr>
          <p:cNvPr id="11" name="Rectangle 10">
            <a:extLst>
              <a:ext uri="{FF2B5EF4-FFF2-40B4-BE49-F238E27FC236}">
                <a16:creationId xmlns:a16="http://schemas.microsoft.com/office/drawing/2014/main" id="{73A6FB34-FC21-998E-F2ED-B41CC15A4311}"/>
              </a:ext>
            </a:extLst>
          </p:cNvPr>
          <p:cNvSpPr/>
          <p:nvPr userDrawn="1"/>
        </p:nvSpPr>
        <p:spPr>
          <a:xfrm>
            <a:off x="-1" y="6808662"/>
            <a:ext cx="12249013" cy="108973"/>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6">
            <a:extLst>
              <a:ext uri="{FF2B5EF4-FFF2-40B4-BE49-F238E27FC236}">
                <a16:creationId xmlns:a16="http://schemas.microsoft.com/office/drawing/2014/main" id="{191E5DFC-83E6-86F2-21A3-C9353A831D94}"/>
              </a:ext>
            </a:extLst>
          </p:cNvPr>
          <p:cNvGrpSpPr/>
          <p:nvPr userDrawn="1"/>
        </p:nvGrpSpPr>
        <p:grpSpPr>
          <a:xfrm>
            <a:off x="11930388" y="4900065"/>
            <a:ext cx="261612" cy="1456285"/>
            <a:chOff x="-7479" y="4982614"/>
            <a:chExt cx="261612" cy="1456285"/>
          </a:xfrm>
        </p:grpSpPr>
        <p:sp>
          <p:nvSpPr>
            <p:cNvPr id="9" name="Rectangle 8">
              <a:extLst>
                <a:ext uri="{FF2B5EF4-FFF2-40B4-BE49-F238E27FC236}">
                  <a16:creationId xmlns:a16="http://schemas.microsoft.com/office/drawing/2014/main" id="{00E6CDA0-D409-8B80-7C3D-EE78328F12C7}"/>
                </a:ext>
              </a:extLst>
            </p:cNvPr>
            <p:cNvSpPr/>
            <p:nvPr userDrawn="1"/>
          </p:nvSpPr>
          <p:spPr>
            <a:xfrm>
              <a:off x="-7479" y="4982614"/>
              <a:ext cx="261612" cy="1456285"/>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11DCC3F2-36B2-C662-DECB-01503AFCAA9E}"/>
                </a:ext>
              </a:extLst>
            </p:cNvPr>
            <p:cNvSpPr txBox="1"/>
            <p:nvPr userDrawn="1"/>
          </p:nvSpPr>
          <p:spPr>
            <a:xfrm rot="16200000">
              <a:off x="-565323" y="5578170"/>
              <a:ext cx="1377301" cy="261610"/>
            </a:xfrm>
            <a:prstGeom prst="rect">
              <a:avLst/>
            </a:prstGeom>
            <a:noFill/>
          </p:spPr>
          <p:txBody>
            <a:bodyPr wrap="square" rtlCol="0">
              <a:spAutoFit/>
            </a:bodyPr>
            <a:lstStyle/>
            <a:p>
              <a:pPr algn="ctr"/>
              <a:r>
                <a:rPr lang="en-US" sz="1100" b="1" i="0" dirty="0">
                  <a:solidFill>
                    <a:schemeClr val="bg1">
                      <a:lumMod val="95000"/>
                    </a:schemeClr>
                  </a:solidFill>
                  <a:ea typeface="Montserrat Semi" charset="0"/>
                  <a:cs typeface="Montserrat Semi" charset="0"/>
                </a:rPr>
                <a:t>www.utm.my</a:t>
              </a:r>
              <a:endParaRPr lang="en-US" sz="1100" b="1" i="0" dirty="0">
                <a:solidFill>
                  <a:schemeClr val="accent4"/>
                </a:solidFill>
                <a:ea typeface="Montserrat Semi" charset="0"/>
                <a:cs typeface="Montserrat Semi" charset="0"/>
              </a:endParaRPr>
            </a:p>
          </p:txBody>
        </p:sp>
      </p:grpSp>
    </p:spTree>
    <p:extLst>
      <p:ext uri="{BB962C8B-B14F-4D97-AF65-F5344CB8AC3E}">
        <p14:creationId xmlns:p14="http://schemas.microsoft.com/office/powerpoint/2010/main" val="28480663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660D2230-4C54-C188-62C4-95CC76262BA7}"/>
              </a:ext>
            </a:extLst>
          </p:cNvPr>
          <p:cNvPicPr>
            <a:picLocks noChangeAspect="1"/>
          </p:cNvPicPr>
          <p:nvPr userDrawn="1"/>
        </p:nvPicPr>
        <p:blipFill>
          <a:blip r:embed="rId2"/>
          <a:stretch>
            <a:fillRect/>
          </a:stretch>
        </p:blipFill>
        <p:spPr>
          <a:xfrm rot="10800000" flipV="1">
            <a:off x="6765" y="1270"/>
            <a:ext cx="7112053" cy="1831461"/>
          </a:xfrm>
          <a:prstGeom prst="rect">
            <a:avLst/>
          </a:prstGeom>
        </p:spPr>
      </p:pic>
      <p:sp>
        <p:nvSpPr>
          <p:cNvPr id="11" name="Rectangle 10">
            <a:extLst>
              <a:ext uri="{FF2B5EF4-FFF2-40B4-BE49-F238E27FC236}">
                <a16:creationId xmlns:a16="http://schemas.microsoft.com/office/drawing/2014/main" id="{1466CAA0-852B-2260-4E79-4DCDC5D3C474}"/>
              </a:ext>
            </a:extLst>
          </p:cNvPr>
          <p:cNvSpPr/>
          <p:nvPr userDrawn="1"/>
        </p:nvSpPr>
        <p:spPr>
          <a:xfrm>
            <a:off x="-38100" y="1690688"/>
            <a:ext cx="12230100" cy="5167312"/>
          </a:xfrm>
          <a:prstGeom prst="rect">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9D09984-B07C-717A-A1FC-A0212B127BE0}"/>
              </a:ext>
            </a:extLst>
          </p:cNvPr>
          <p:cNvSpPr>
            <a:spLocks noGrp="1"/>
          </p:cNvSpPr>
          <p:nvPr>
            <p:ph type="title"/>
          </p:nvPr>
        </p:nvSpPr>
        <p:spPr/>
        <p:txBody>
          <a:bodyPr>
            <a:normAutofit/>
          </a:bodyPr>
          <a:lstStyle>
            <a:lvl1pPr>
              <a:defRPr sz="4000">
                <a:latin typeface="+mn-lt"/>
              </a:defRPr>
            </a:lvl1pPr>
          </a:lstStyle>
          <a:p>
            <a:r>
              <a:rPr lang="en-US" dirty="0"/>
              <a:t>Click to edit Master title style</a:t>
            </a:r>
          </a:p>
        </p:txBody>
      </p:sp>
      <p:sp>
        <p:nvSpPr>
          <p:cNvPr id="3" name="Content Placeholder 2">
            <a:extLst>
              <a:ext uri="{FF2B5EF4-FFF2-40B4-BE49-F238E27FC236}">
                <a16:creationId xmlns:a16="http://schemas.microsoft.com/office/drawing/2014/main" id="{D7D56CC2-F4AE-C871-25CA-0693B8E51D0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F04C4D5-028B-CF4F-DB83-2E7DAE14517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584ECB3-6230-1C4A-4271-8B1B329A9B88}"/>
              </a:ext>
            </a:extLst>
          </p:cNvPr>
          <p:cNvSpPr>
            <a:spLocks noGrp="1"/>
          </p:cNvSpPr>
          <p:nvPr>
            <p:ph type="dt" sz="half" idx="10"/>
          </p:nvPr>
        </p:nvSpPr>
        <p:spPr/>
        <p:txBody>
          <a:bodyPr/>
          <a:lstStyle/>
          <a:p>
            <a:fld id="{EF9959E7-45DE-4A2D-ACFD-0D8C8BBAB79F}" type="datetimeFigureOut">
              <a:rPr lang="en-US" smtClean="0"/>
              <a:t>12/27/2024</a:t>
            </a:fld>
            <a:endParaRPr lang="en-US"/>
          </a:p>
        </p:txBody>
      </p:sp>
      <p:sp>
        <p:nvSpPr>
          <p:cNvPr id="6" name="Footer Placeholder 5">
            <a:extLst>
              <a:ext uri="{FF2B5EF4-FFF2-40B4-BE49-F238E27FC236}">
                <a16:creationId xmlns:a16="http://schemas.microsoft.com/office/drawing/2014/main" id="{A9D0EBE9-6EE3-30E5-37E9-966CEBBA44C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6D42C9F-71DE-08A3-B2D8-60F040A88956}"/>
              </a:ext>
            </a:extLst>
          </p:cNvPr>
          <p:cNvSpPr>
            <a:spLocks noGrp="1"/>
          </p:cNvSpPr>
          <p:nvPr>
            <p:ph type="sldNum" sz="quarter" idx="12"/>
          </p:nvPr>
        </p:nvSpPr>
        <p:spPr/>
        <p:txBody>
          <a:bodyPr/>
          <a:lstStyle/>
          <a:p>
            <a:fld id="{B5912E74-8957-4046-8937-1199D0665174}" type="slidenum">
              <a:rPr lang="en-US" smtClean="0"/>
              <a:t>‹#›</a:t>
            </a:fld>
            <a:endParaRPr lang="en-US"/>
          </a:p>
        </p:txBody>
      </p:sp>
      <p:pic>
        <p:nvPicPr>
          <p:cNvPr id="10" name="Picture 9">
            <a:extLst>
              <a:ext uri="{FF2B5EF4-FFF2-40B4-BE49-F238E27FC236}">
                <a16:creationId xmlns:a16="http://schemas.microsoft.com/office/drawing/2014/main" id="{431BACEB-C3CA-5C73-C1CD-7E28828923BE}"/>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478878" y="283590"/>
            <a:ext cx="1468167" cy="497461"/>
          </a:xfrm>
          <a:prstGeom prst="rect">
            <a:avLst/>
          </a:prstGeom>
        </p:spPr>
      </p:pic>
      <p:grpSp>
        <p:nvGrpSpPr>
          <p:cNvPr id="8" name="Group 7">
            <a:extLst>
              <a:ext uri="{FF2B5EF4-FFF2-40B4-BE49-F238E27FC236}">
                <a16:creationId xmlns:a16="http://schemas.microsoft.com/office/drawing/2014/main" id="{F32450C2-7E85-EAB2-8C8F-8B13B9657507}"/>
              </a:ext>
            </a:extLst>
          </p:cNvPr>
          <p:cNvGrpSpPr/>
          <p:nvPr userDrawn="1"/>
        </p:nvGrpSpPr>
        <p:grpSpPr>
          <a:xfrm>
            <a:off x="11930388" y="4900065"/>
            <a:ext cx="261612" cy="1456285"/>
            <a:chOff x="-7479" y="4982614"/>
            <a:chExt cx="261612" cy="1456285"/>
          </a:xfrm>
        </p:grpSpPr>
        <p:sp>
          <p:nvSpPr>
            <p:cNvPr id="9" name="Rectangle 8">
              <a:extLst>
                <a:ext uri="{FF2B5EF4-FFF2-40B4-BE49-F238E27FC236}">
                  <a16:creationId xmlns:a16="http://schemas.microsoft.com/office/drawing/2014/main" id="{E593644A-0A35-6B8C-F216-AC1945DFC79E}"/>
                </a:ext>
              </a:extLst>
            </p:cNvPr>
            <p:cNvSpPr/>
            <p:nvPr userDrawn="1"/>
          </p:nvSpPr>
          <p:spPr>
            <a:xfrm>
              <a:off x="-7479" y="4982614"/>
              <a:ext cx="261612" cy="1456285"/>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9A806244-EF9A-642C-8573-A2BFA17DB33E}"/>
                </a:ext>
              </a:extLst>
            </p:cNvPr>
            <p:cNvSpPr txBox="1"/>
            <p:nvPr userDrawn="1"/>
          </p:nvSpPr>
          <p:spPr>
            <a:xfrm rot="16200000">
              <a:off x="-565323" y="5578170"/>
              <a:ext cx="1377301" cy="261610"/>
            </a:xfrm>
            <a:prstGeom prst="rect">
              <a:avLst/>
            </a:prstGeom>
            <a:noFill/>
          </p:spPr>
          <p:txBody>
            <a:bodyPr wrap="square" rtlCol="0">
              <a:spAutoFit/>
            </a:bodyPr>
            <a:lstStyle/>
            <a:p>
              <a:pPr algn="ctr"/>
              <a:r>
                <a:rPr lang="en-US" sz="1100" b="1" i="0" dirty="0">
                  <a:solidFill>
                    <a:schemeClr val="bg1">
                      <a:lumMod val="95000"/>
                    </a:schemeClr>
                  </a:solidFill>
                  <a:ea typeface="Montserrat Semi" charset="0"/>
                  <a:cs typeface="Montserrat Semi" charset="0"/>
                </a:rPr>
                <a:t>www.utm.my</a:t>
              </a:r>
              <a:endParaRPr lang="en-US" sz="1100" b="1" i="0" dirty="0">
                <a:solidFill>
                  <a:schemeClr val="accent4"/>
                </a:solidFill>
                <a:ea typeface="Montserrat Semi" charset="0"/>
                <a:cs typeface="Montserrat Semi" charset="0"/>
              </a:endParaRPr>
            </a:p>
          </p:txBody>
        </p:sp>
      </p:grpSp>
    </p:spTree>
    <p:extLst>
      <p:ext uri="{BB962C8B-B14F-4D97-AF65-F5344CB8AC3E}">
        <p14:creationId xmlns:p14="http://schemas.microsoft.com/office/powerpoint/2010/main" val="3165366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AF169F28-4F60-04EA-2355-80F723258DB7}"/>
              </a:ext>
            </a:extLst>
          </p:cNvPr>
          <p:cNvPicPr>
            <a:picLocks noChangeAspect="1"/>
          </p:cNvPicPr>
          <p:nvPr userDrawn="1"/>
        </p:nvPicPr>
        <p:blipFill>
          <a:blip r:embed="rId2">
            <a:alphaModFix amt="99000"/>
          </a:blip>
          <a:stretch>
            <a:fillRect/>
          </a:stretch>
        </p:blipFill>
        <p:spPr>
          <a:xfrm rot="10800000" flipV="1">
            <a:off x="6764" y="1270"/>
            <a:ext cx="12073813" cy="3109189"/>
          </a:xfrm>
          <a:prstGeom prst="rect">
            <a:avLst/>
          </a:prstGeom>
        </p:spPr>
      </p:pic>
      <p:sp>
        <p:nvSpPr>
          <p:cNvPr id="2" name="Title 1">
            <a:extLst>
              <a:ext uri="{FF2B5EF4-FFF2-40B4-BE49-F238E27FC236}">
                <a16:creationId xmlns:a16="http://schemas.microsoft.com/office/drawing/2014/main" id="{D7D3BD4A-F379-8CFF-EBD6-707DD0E70908}"/>
              </a:ext>
            </a:extLst>
          </p:cNvPr>
          <p:cNvSpPr>
            <a:spLocks noGrp="1"/>
          </p:cNvSpPr>
          <p:nvPr>
            <p:ph type="title"/>
          </p:nvPr>
        </p:nvSpPr>
        <p:spPr>
          <a:xfrm>
            <a:off x="839788" y="365125"/>
            <a:ext cx="10515600" cy="1325563"/>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FD159623-7488-E134-22F1-5329048ED4B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99D7D39-C4CD-9439-3408-FF0BFA1B113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3750B8F-83C3-D985-5919-F1A3FDF4D02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6CCF953-DD56-9B85-AB4B-B9C9F0FF06C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BD25C81-2863-04F8-8182-D218BA273C24}"/>
              </a:ext>
            </a:extLst>
          </p:cNvPr>
          <p:cNvSpPr>
            <a:spLocks noGrp="1"/>
          </p:cNvSpPr>
          <p:nvPr>
            <p:ph type="dt" sz="half" idx="10"/>
          </p:nvPr>
        </p:nvSpPr>
        <p:spPr/>
        <p:txBody>
          <a:bodyPr/>
          <a:lstStyle/>
          <a:p>
            <a:fld id="{EF9959E7-45DE-4A2D-ACFD-0D8C8BBAB79F}" type="datetimeFigureOut">
              <a:rPr lang="en-US" smtClean="0"/>
              <a:t>12/27/2024</a:t>
            </a:fld>
            <a:endParaRPr lang="en-US"/>
          </a:p>
        </p:txBody>
      </p:sp>
      <p:sp>
        <p:nvSpPr>
          <p:cNvPr id="8" name="Footer Placeholder 7">
            <a:extLst>
              <a:ext uri="{FF2B5EF4-FFF2-40B4-BE49-F238E27FC236}">
                <a16:creationId xmlns:a16="http://schemas.microsoft.com/office/drawing/2014/main" id="{A3A521E1-8180-A360-8696-A84620A87D3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C3D6C59-8054-7190-9FD8-FAA596348D42}"/>
              </a:ext>
            </a:extLst>
          </p:cNvPr>
          <p:cNvSpPr>
            <a:spLocks noGrp="1"/>
          </p:cNvSpPr>
          <p:nvPr>
            <p:ph type="sldNum" sz="quarter" idx="12"/>
          </p:nvPr>
        </p:nvSpPr>
        <p:spPr/>
        <p:txBody>
          <a:bodyPr/>
          <a:lstStyle/>
          <a:p>
            <a:fld id="{B5912E74-8957-4046-8937-1199D0665174}" type="slidenum">
              <a:rPr lang="en-US" smtClean="0"/>
              <a:t>‹#›</a:t>
            </a:fld>
            <a:endParaRPr lang="en-US"/>
          </a:p>
        </p:txBody>
      </p:sp>
      <p:pic>
        <p:nvPicPr>
          <p:cNvPr id="12" name="Picture 11">
            <a:extLst>
              <a:ext uri="{FF2B5EF4-FFF2-40B4-BE49-F238E27FC236}">
                <a16:creationId xmlns:a16="http://schemas.microsoft.com/office/drawing/2014/main" id="{C023B567-24C2-C088-6F75-913992BE2D8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478878" y="283590"/>
            <a:ext cx="1468167" cy="497461"/>
          </a:xfrm>
          <a:prstGeom prst="rect">
            <a:avLst/>
          </a:prstGeom>
        </p:spPr>
      </p:pic>
      <p:sp>
        <p:nvSpPr>
          <p:cNvPr id="15" name="Rectangle 14">
            <a:extLst>
              <a:ext uri="{FF2B5EF4-FFF2-40B4-BE49-F238E27FC236}">
                <a16:creationId xmlns:a16="http://schemas.microsoft.com/office/drawing/2014/main" id="{A32B20C0-22D4-422D-2940-7F540F191BF7}"/>
              </a:ext>
            </a:extLst>
          </p:cNvPr>
          <p:cNvSpPr/>
          <p:nvPr userDrawn="1"/>
        </p:nvSpPr>
        <p:spPr>
          <a:xfrm>
            <a:off x="6764" y="342265"/>
            <a:ext cx="10269639" cy="45719"/>
          </a:xfrm>
          <a:prstGeom prst="rect">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1870257A-EF80-EF1A-EE95-68EB9FBC2F71}"/>
              </a:ext>
            </a:extLst>
          </p:cNvPr>
          <p:cNvGrpSpPr/>
          <p:nvPr userDrawn="1"/>
        </p:nvGrpSpPr>
        <p:grpSpPr>
          <a:xfrm>
            <a:off x="11930388" y="4900065"/>
            <a:ext cx="261612" cy="1456285"/>
            <a:chOff x="-7479" y="4982614"/>
            <a:chExt cx="261612" cy="1456285"/>
          </a:xfrm>
        </p:grpSpPr>
        <p:sp>
          <p:nvSpPr>
            <p:cNvPr id="13" name="Rectangle 12">
              <a:extLst>
                <a:ext uri="{FF2B5EF4-FFF2-40B4-BE49-F238E27FC236}">
                  <a16:creationId xmlns:a16="http://schemas.microsoft.com/office/drawing/2014/main" id="{BAEA7E83-8757-44B8-B8ED-EFD855548FA2}"/>
                </a:ext>
              </a:extLst>
            </p:cNvPr>
            <p:cNvSpPr/>
            <p:nvPr userDrawn="1"/>
          </p:nvSpPr>
          <p:spPr>
            <a:xfrm>
              <a:off x="-7479" y="4982614"/>
              <a:ext cx="261612" cy="1456285"/>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C603E4A3-2F29-E99E-59AA-19FD2D71718A}"/>
                </a:ext>
              </a:extLst>
            </p:cNvPr>
            <p:cNvSpPr txBox="1"/>
            <p:nvPr userDrawn="1"/>
          </p:nvSpPr>
          <p:spPr>
            <a:xfrm rot="16200000">
              <a:off x="-565323" y="5578170"/>
              <a:ext cx="1377301" cy="261610"/>
            </a:xfrm>
            <a:prstGeom prst="rect">
              <a:avLst/>
            </a:prstGeom>
            <a:noFill/>
          </p:spPr>
          <p:txBody>
            <a:bodyPr wrap="square" rtlCol="0">
              <a:spAutoFit/>
            </a:bodyPr>
            <a:lstStyle/>
            <a:p>
              <a:pPr algn="ctr"/>
              <a:r>
                <a:rPr lang="en-US" sz="1100" b="1" i="0" dirty="0">
                  <a:solidFill>
                    <a:schemeClr val="bg1">
                      <a:lumMod val="95000"/>
                    </a:schemeClr>
                  </a:solidFill>
                  <a:ea typeface="Montserrat Semi" charset="0"/>
                  <a:cs typeface="Montserrat Semi" charset="0"/>
                </a:rPr>
                <a:t>www.utm.my</a:t>
              </a:r>
              <a:endParaRPr lang="en-US" sz="1100" b="1" i="0" dirty="0">
                <a:solidFill>
                  <a:schemeClr val="accent4"/>
                </a:solidFill>
                <a:ea typeface="Montserrat Semi" charset="0"/>
                <a:cs typeface="Montserrat Semi" charset="0"/>
              </a:endParaRPr>
            </a:p>
          </p:txBody>
        </p:sp>
      </p:grpSp>
    </p:spTree>
    <p:extLst>
      <p:ext uri="{BB962C8B-B14F-4D97-AF65-F5344CB8AC3E}">
        <p14:creationId xmlns:p14="http://schemas.microsoft.com/office/powerpoint/2010/main" val="31401991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C5A05E41-FECA-555C-4DA5-FBDABE88EAD3}"/>
              </a:ext>
            </a:extLst>
          </p:cNvPr>
          <p:cNvPicPr>
            <a:picLocks noChangeAspect="1"/>
          </p:cNvPicPr>
          <p:nvPr userDrawn="1"/>
        </p:nvPicPr>
        <p:blipFill>
          <a:blip r:embed="rId2">
            <a:alphaModFix amt="99000"/>
          </a:blip>
          <a:stretch>
            <a:fillRect/>
          </a:stretch>
        </p:blipFill>
        <p:spPr>
          <a:xfrm rot="10800000" flipV="1">
            <a:off x="6764" y="1270"/>
            <a:ext cx="12073813" cy="3109189"/>
          </a:xfrm>
          <a:prstGeom prst="rect">
            <a:avLst/>
          </a:prstGeom>
        </p:spPr>
      </p:pic>
      <p:grpSp>
        <p:nvGrpSpPr>
          <p:cNvPr id="13" name="Group 12">
            <a:extLst>
              <a:ext uri="{FF2B5EF4-FFF2-40B4-BE49-F238E27FC236}">
                <a16:creationId xmlns:a16="http://schemas.microsoft.com/office/drawing/2014/main" id="{6EFDB3D2-BABB-4614-ACBD-74206D54EFA7}"/>
              </a:ext>
            </a:extLst>
          </p:cNvPr>
          <p:cNvGrpSpPr/>
          <p:nvPr userDrawn="1"/>
        </p:nvGrpSpPr>
        <p:grpSpPr>
          <a:xfrm flipH="1">
            <a:off x="8896479" y="6438899"/>
            <a:ext cx="3295521" cy="419101"/>
            <a:chOff x="0" y="6438899"/>
            <a:chExt cx="4425450" cy="419100"/>
          </a:xfrm>
        </p:grpSpPr>
        <p:sp>
          <p:nvSpPr>
            <p:cNvPr id="14" name="Rectangle 13">
              <a:extLst>
                <a:ext uri="{FF2B5EF4-FFF2-40B4-BE49-F238E27FC236}">
                  <a16:creationId xmlns:a16="http://schemas.microsoft.com/office/drawing/2014/main" id="{B3C9DBE5-42FF-593C-82CE-C4B2774E3AD0}"/>
                </a:ext>
              </a:extLst>
            </p:cNvPr>
            <p:cNvSpPr/>
            <p:nvPr userDrawn="1"/>
          </p:nvSpPr>
          <p:spPr>
            <a:xfrm>
              <a:off x="0" y="6438900"/>
              <a:ext cx="4115884" cy="419099"/>
            </a:xfrm>
            <a:prstGeom prst="rect">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ight Triangle 14">
              <a:extLst>
                <a:ext uri="{FF2B5EF4-FFF2-40B4-BE49-F238E27FC236}">
                  <a16:creationId xmlns:a16="http://schemas.microsoft.com/office/drawing/2014/main" id="{D8516993-C2D5-28D4-6E6E-D3A5B19FD20F}"/>
                </a:ext>
              </a:extLst>
            </p:cNvPr>
            <p:cNvSpPr/>
            <p:nvPr userDrawn="1"/>
          </p:nvSpPr>
          <p:spPr>
            <a:xfrm>
              <a:off x="4115884" y="6438899"/>
              <a:ext cx="309566" cy="419100"/>
            </a:xfrm>
            <a:prstGeom prst="rtTriangle">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6EB218D0-0E4A-6601-1430-D75D1D89819B}"/>
              </a:ext>
            </a:extLst>
          </p:cNvPr>
          <p:cNvSpPr>
            <a:spLocks noGrp="1"/>
          </p:cNvSpPr>
          <p:nvPr>
            <p:ph type="title"/>
          </p:nvPr>
        </p:nvSpPr>
        <p:spPr>
          <a:xfrm>
            <a:off x="1364974" y="2766218"/>
            <a:ext cx="10515600" cy="1325563"/>
          </a:xfrm>
        </p:spPr>
        <p:txBody>
          <a:bodyPr/>
          <a:lstStyle>
            <a:lvl1pPr>
              <a:defRPr>
                <a:latin typeface="+mn-lt"/>
              </a:defRPr>
            </a:lvl1pPr>
          </a:lstStyle>
          <a:p>
            <a:r>
              <a:rPr lang="en-US" dirty="0"/>
              <a:t>Click to edit Master title style</a:t>
            </a:r>
          </a:p>
        </p:txBody>
      </p:sp>
      <p:sp>
        <p:nvSpPr>
          <p:cNvPr id="3" name="Date Placeholder 2">
            <a:extLst>
              <a:ext uri="{FF2B5EF4-FFF2-40B4-BE49-F238E27FC236}">
                <a16:creationId xmlns:a16="http://schemas.microsoft.com/office/drawing/2014/main" id="{65407DD1-72E8-53B4-A8B5-16105BC66947}"/>
              </a:ext>
            </a:extLst>
          </p:cNvPr>
          <p:cNvSpPr>
            <a:spLocks noGrp="1"/>
          </p:cNvSpPr>
          <p:nvPr>
            <p:ph type="dt" sz="half" idx="10"/>
          </p:nvPr>
        </p:nvSpPr>
        <p:spPr/>
        <p:txBody>
          <a:bodyPr/>
          <a:lstStyle/>
          <a:p>
            <a:fld id="{EF9959E7-45DE-4A2D-ACFD-0D8C8BBAB79F}" type="datetimeFigureOut">
              <a:rPr lang="en-US" smtClean="0"/>
              <a:t>12/27/2024</a:t>
            </a:fld>
            <a:endParaRPr lang="en-US"/>
          </a:p>
        </p:txBody>
      </p:sp>
      <p:sp>
        <p:nvSpPr>
          <p:cNvPr id="4" name="Footer Placeholder 3">
            <a:extLst>
              <a:ext uri="{FF2B5EF4-FFF2-40B4-BE49-F238E27FC236}">
                <a16:creationId xmlns:a16="http://schemas.microsoft.com/office/drawing/2014/main" id="{F3621DE3-618B-CDA6-C30A-1DB7F4E9C6D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F568125-E5E8-EEE2-D064-3848DBBA63B9}"/>
              </a:ext>
            </a:extLst>
          </p:cNvPr>
          <p:cNvSpPr>
            <a:spLocks noGrp="1"/>
          </p:cNvSpPr>
          <p:nvPr>
            <p:ph type="sldNum" sz="quarter" idx="12"/>
          </p:nvPr>
        </p:nvSpPr>
        <p:spPr/>
        <p:txBody>
          <a:bodyPr/>
          <a:lstStyle/>
          <a:p>
            <a:fld id="{B5912E74-8957-4046-8937-1199D0665174}" type="slidenum">
              <a:rPr lang="en-US" smtClean="0"/>
              <a:t>‹#›</a:t>
            </a:fld>
            <a:endParaRPr lang="en-US"/>
          </a:p>
        </p:txBody>
      </p:sp>
      <p:pic>
        <p:nvPicPr>
          <p:cNvPr id="10" name="Picture 9">
            <a:extLst>
              <a:ext uri="{FF2B5EF4-FFF2-40B4-BE49-F238E27FC236}">
                <a16:creationId xmlns:a16="http://schemas.microsoft.com/office/drawing/2014/main" id="{19F13517-FB38-BE9B-5A77-235BBF8CE80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478878" y="283590"/>
            <a:ext cx="1468167" cy="497461"/>
          </a:xfrm>
          <a:prstGeom prst="rect">
            <a:avLst/>
          </a:prstGeom>
        </p:spPr>
      </p:pic>
      <p:grpSp>
        <p:nvGrpSpPr>
          <p:cNvPr id="6" name="Group 5">
            <a:extLst>
              <a:ext uri="{FF2B5EF4-FFF2-40B4-BE49-F238E27FC236}">
                <a16:creationId xmlns:a16="http://schemas.microsoft.com/office/drawing/2014/main" id="{715FA5D2-1257-770C-1E2F-2CCA5238FD2A}"/>
              </a:ext>
            </a:extLst>
          </p:cNvPr>
          <p:cNvGrpSpPr/>
          <p:nvPr userDrawn="1"/>
        </p:nvGrpSpPr>
        <p:grpSpPr>
          <a:xfrm>
            <a:off x="11930388" y="4900065"/>
            <a:ext cx="261612" cy="1456285"/>
            <a:chOff x="-7479" y="4982614"/>
            <a:chExt cx="261612" cy="1456285"/>
          </a:xfrm>
        </p:grpSpPr>
        <p:sp>
          <p:nvSpPr>
            <p:cNvPr id="7" name="Rectangle 6">
              <a:extLst>
                <a:ext uri="{FF2B5EF4-FFF2-40B4-BE49-F238E27FC236}">
                  <a16:creationId xmlns:a16="http://schemas.microsoft.com/office/drawing/2014/main" id="{F29FA834-B150-3245-D347-588904243A5E}"/>
                </a:ext>
              </a:extLst>
            </p:cNvPr>
            <p:cNvSpPr/>
            <p:nvPr userDrawn="1"/>
          </p:nvSpPr>
          <p:spPr>
            <a:xfrm>
              <a:off x="-7479" y="4982614"/>
              <a:ext cx="261612" cy="1456285"/>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38EF11FA-4280-83FF-5E5F-70581310F2C4}"/>
                </a:ext>
              </a:extLst>
            </p:cNvPr>
            <p:cNvSpPr txBox="1"/>
            <p:nvPr userDrawn="1"/>
          </p:nvSpPr>
          <p:spPr>
            <a:xfrm rot="16200000">
              <a:off x="-565323" y="5578170"/>
              <a:ext cx="1377301" cy="261610"/>
            </a:xfrm>
            <a:prstGeom prst="rect">
              <a:avLst/>
            </a:prstGeom>
            <a:noFill/>
          </p:spPr>
          <p:txBody>
            <a:bodyPr wrap="square" rtlCol="0">
              <a:spAutoFit/>
            </a:bodyPr>
            <a:lstStyle/>
            <a:p>
              <a:pPr algn="ctr"/>
              <a:r>
                <a:rPr lang="en-US" sz="1100" b="1" i="0" dirty="0">
                  <a:solidFill>
                    <a:schemeClr val="bg1">
                      <a:lumMod val="95000"/>
                    </a:schemeClr>
                  </a:solidFill>
                  <a:ea typeface="Montserrat Semi" charset="0"/>
                  <a:cs typeface="Montserrat Semi" charset="0"/>
                </a:rPr>
                <a:t>www.utm.my</a:t>
              </a:r>
              <a:endParaRPr lang="en-US" sz="1100" b="1" i="0" dirty="0">
                <a:solidFill>
                  <a:schemeClr val="accent4"/>
                </a:solidFill>
                <a:ea typeface="Montserrat Semi" charset="0"/>
                <a:cs typeface="Montserrat Semi" charset="0"/>
              </a:endParaRPr>
            </a:p>
          </p:txBody>
        </p:sp>
      </p:grpSp>
    </p:spTree>
    <p:extLst>
      <p:ext uri="{BB962C8B-B14F-4D97-AF65-F5344CB8AC3E}">
        <p14:creationId xmlns:p14="http://schemas.microsoft.com/office/powerpoint/2010/main" val="16116697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C80EC996-29B5-35CD-CAA8-09FAAB535A3F}"/>
              </a:ext>
            </a:extLst>
          </p:cNvPr>
          <p:cNvPicPr>
            <a:picLocks noChangeAspect="1"/>
          </p:cNvPicPr>
          <p:nvPr userDrawn="1"/>
        </p:nvPicPr>
        <p:blipFill>
          <a:blip r:embed="rId2"/>
          <a:stretch>
            <a:fillRect/>
          </a:stretch>
        </p:blipFill>
        <p:spPr>
          <a:xfrm rot="10800000" flipV="1">
            <a:off x="4713261" y="1270"/>
            <a:ext cx="7112053" cy="1831461"/>
          </a:xfrm>
          <a:prstGeom prst="rect">
            <a:avLst/>
          </a:prstGeom>
        </p:spPr>
      </p:pic>
      <p:sp>
        <p:nvSpPr>
          <p:cNvPr id="10" name="Rectangle 9">
            <a:extLst>
              <a:ext uri="{FF2B5EF4-FFF2-40B4-BE49-F238E27FC236}">
                <a16:creationId xmlns:a16="http://schemas.microsoft.com/office/drawing/2014/main" id="{C4E085B5-6456-E991-6904-BB25D1005185}"/>
              </a:ext>
            </a:extLst>
          </p:cNvPr>
          <p:cNvSpPr/>
          <p:nvPr userDrawn="1"/>
        </p:nvSpPr>
        <p:spPr>
          <a:xfrm>
            <a:off x="-38099" y="0"/>
            <a:ext cx="4764088" cy="6858000"/>
          </a:xfrm>
          <a:prstGeom prst="rect">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0B5AF6C-3A58-DD89-B778-7C9B4E4937D6}"/>
              </a:ext>
            </a:extLst>
          </p:cNvPr>
          <p:cNvSpPr>
            <a:spLocks noGrp="1"/>
          </p:cNvSpPr>
          <p:nvPr>
            <p:ph type="title"/>
          </p:nvPr>
        </p:nvSpPr>
        <p:spPr>
          <a:xfrm>
            <a:off x="839788" y="457200"/>
            <a:ext cx="3771969" cy="1600200"/>
          </a:xfrm>
        </p:spPr>
        <p:txBody>
          <a:bodyPr anchor="b">
            <a:normAutofit/>
          </a:bodyPr>
          <a:lstStyle>
            <a:lvl1pPr>
              <a:defRPr sz="2800">
                <a:latin typeface="+mn-lt"/>
              </a:defRPr>
            </a:lvl1pPr>
          </a:lstStyle>
          <a:p>
            <a:r>
              <a:rPr lang="en-US" dirty="0"/>
              <a:t>Click to edit Master title style</a:t>
            </a:r>
          </a:p>
        </p:txBody>
      </p:sp>
      <p:sp>
        <p:nvSpPr>
          <p:cNvPr id="3" name="Content Placeholder 2">
            <a:extLst>
              <a:ext uri="{FF2B5EF4-FFF2-40B4-BE49-F238E27FC236}">
                <a16:creationId xmlns:a16="http://schemas.microsoft.com/office/drawing/2014/main" id="{4C730643-5DEF-0301-05FB-43BFE781048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CC84E7D-D23B-8AA6-561F-6482F0A1224C}"/>
              </a:ext>
            </a:extLst>
          </p:cNvPr>
          <p:cNvSpPr>
            <a:spLocks noGrp="1"/>
          </p:cNvSpPr>
          <p:nvPr>
            <p:ph type="body" sz="half" idx="2"/>
          </p:nvPr>
        </p:nvSpPr>
        <p:spPr>
          <a:xfrm>
            <a:off x="839788" y="2057400"/>
            <a:ext cx="3771969"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9060D1C3-135E-09A0-2E54-EFBC9A5D9940}"/>
              </a:ext>
            </a:extLst>
          </p:cNvPr>
          <p:cNvSpPr>
            <a:spLocks noGrp="1"/>
          </p:cNvSpPr>
          <p:nvPr>
            <p:ph type="dt" sz="half" idx="10"/>
          </p:nvPr>
        </p:nvSpPr>
        <p:spPr/>
        <p:txBody>
          <a:bodyPr/>
          <a:lstStyle/>
          <a:p>
            <a:fld id="{EF9959E7-45DE-4A2D-ACFD-0D8C8BBAB79F}" type="datetimeFigureOut">
              <a:rPr lang="en-US" smtClean="0"/>
              <a:t>12/27/2024</a:t>
            </a:fld>
            <a:endParaRPr lang="en-US"/>
          </a:p>
        </p:txBody>
      </p:sp>
      <p:sp>
        <p:nvSpPr>
          <p:cNvPr id="6" name="Footer Placeholder 5">
            <a:extLst>
              <a:ext uri="{FF2B5EF4-FFF2-40B4-BE49-F238E27FC236}">
                <a16:creationId xmlns:a16="http://schemas.microsoft.com/office/drawing/2014/main" id="{B1E11F67-329D-954C-CD5C-1AA093EC26C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65EB87E-06D7-61E3-D9E0-49BF14B3E008}"/>
              </a:ext>
            </a:extLst>
          </p:cNvPr>
          <p:cNvSpPr>
            <a:spLocks noGrp="1"/>
          </p:cNvSpPr>
          <p:nvPr>
            <p:ph type="sldNum" sz="quarter" idx="12"/>
          </p:nvPr>
        </p:nvSpPr>
        <p:spPr/>
        <p:txBody>
          <a:bodyPr/>
          <a:lstStyle/>
          <a:p>
            <a:fld id="{B5912E74-8957-4046-8937-1199D0665174}" type="slidenum">
              <a:rPr lang="en-US" smtClean="0"/>
              <a:t>‹#›</a:t>
            </a:fld>
            <a:endParaRPr lang="en-US"/>
          </a:p>
        </p:txBody>
      </p:sp>
      <p:pic>
        <p:nvPicPr>
          <p:cNvPr id="9" name="Picture 8">
            <a:extLst>
              <a:ext uri="{FF2B5EF4-FFF2-40B4-BE49-F238E27FC236}">
                <a16:creationId xmlns:a16="http://schemas.microsoft.com/office/drawing/2014/main" id="{0C8EA7C3-CAA4-9F46-F633-CAA69D61B61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478878" y="283590"/>
            <a:ext cx="1468167" cy="497461"/>
          </a:xfrm>
          <a:prstGeom prst="rect">
            <a:avLst/>
          </a:prstGeom>
        </p:spPr>
      </p:pic>
      <p:sp>
        <p:nvSpPr>
          <p:cNvPr id="11" name="Rectangle 10">
            <a:extLst>
              <a:ext uri="{FF2B5EF4-FFF2-40B4-BE49-F238E27FC236}">
                <a16:creationId xmlns:a16="http://schemas.microsoft.com/office/drawing/2014/main" id="{7DD1F696-3383-CCD0-5F6F-4B9E89375262}"/>
              </a:ext>
            </a:extLst>
          </p:cNvPr>
          <p:cNvSpPr/>
          <p:nvPr userDrawn="1"/>
        </p:nvSpPr>
        <p:spPr>
          <a:xfrm rot="5400000">
            <a:off x="1324286" y="3399184"/>
            <a:ext cx="6858000" cy="59635"/>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97DF8517-697A-D659-D645-CCC025297F18}"/>
              </a:ext>
            </a:extLst>
          </p:cNvPr>
          <p:cNvGrpSpPr/>
          <p:nvPr userDrawn="1"/>
        </p:nvGrpSpPr>
        <p:grpSpPr>
          <a:xfrm>
            <a:off x="11930388" y="4900065"/>
            <a:ext cx="261612" cy="1456285"/>
            <a:chOff x="-7479" y="4982614"/>
            <a:chExt cx="261612" cy="1456285"/>
          </a:xfrm>
        </p:grpSpPr>
        <p:sp>
          <p:nvSpPr>
            <p:cNvPr id="12" name="Rectangle 11">
              <a:extLst>
                <a:ext uri="{FF2B5EF4-FFF2-40B4-BE49-F238E27FC236}">
                  <a16:creationId xmlns:a16="http://schemas.microsoft.com/office/drawing/2014/main" id="{028F6DD2-968A-9801-9B22-22DBD1C894E0}"/>
                </a:ext>
              </a:extLst>
            </p:cNvPr>
            <p:cNvSpPr/>
            <p:nvPr userDrawn="1"/>
          </p:nvSpPr>
          <p:spPr>
            <a:xfrm>
              <a:off x="-7479" y="4982614"/>
              <a:ext cx="261612" cy="1456285"/>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8F835E16-0810-A050-7387-E04FC0CFD8C9}"/>
                </a:ext>
              </a:extLst>
            </p:cNvPr>
            <p:cNvSpPr txBox="1"/>
            <p:nvPr userDrawn="1"/>
          </p:nvSpPr>
          <p:spPr>
            <a:xfrm rot="16200000">
              <a:off x="-565323" y="5578170"/>
              <a:ext cx="1377301" cy="261610"/>
            </a:xfrm>
            <a:prstGeom prst="rect">
              <a:avLst/>
            </a:prstGeom>
            <a:noFill/>
          </p:spPr>
          <p:txBody>
            <a:bodyPr wrap="square" rtlCol="0">
              <a:spAutoFit/>
            </a:bodyPr>
            <a:lstStyle/>
            <a:p>
              <a:pPr algn="ctr"/>
              <a:r>
                <a:rPr lang="en-US" sz="1100" b="1" i="0" dirty="0">
                  <a:solidFill>
                    <a:schemeClr val="bg1">
                      <a:lumMod val="95000"/>
                    </a:schemeClr>
                  </a:solidFill>
                  <a:ea typeface="Montserrat Semi" charset="0"/>
                  <a:cs typeface="Montserrat Semi" charset="0"/>
                </a:rPr>
                <a:t>www.utm.my</a:t>
              </a:r>
              <a:endParaRPr lang="en-US" sz="1100" b="1" i="0" dirty="0">
                <a:solidFill>
                  <a:schemeClr val="accent4"/>
                </a:solidFill>
                <a:ea typeface="Montserrat Semi" charset="0"/>
                <a:cs typeface="Montserrat Semi" charset="0"/>
              </a:endParaRPr>
            </a:p>
          </p:txBody>
        </p:sp>
      </p:grpSp>
    </p:spTree>
    <p:extLst>
      <p:ext uri="{BB962C8B-B14F-4D97-AF65-F5344CB8AC3E}">
        <p14:creationId xmlns:p14="http://schemas.microsoft.com/office/powerpoint/2010/main" val="41201097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ABDE0F43-CB86-1C9B-53B1-54930B9BBDB8}"/>
              </a:ext>
            </a:extLst>
          </p:cNvPr>
          <p:cNvPicPr>
            <a:picLocks noChangeAspect="1"/>
          </p:cNvPicPr>
          <p:nvPr userDrawn="1"/>
        </p:nvPicPr>
        <p:blipFill>
          <a:blip r:embed="rId2"/>
          <a:stretch>
            <a:fillRect/>
          </a:stretch>
        </p:blipFill>
        <p:spPr>
          <a:xfrm rot="10800000" flipV="1">
            <a:off x="6765" y="1270"/>
            <a:ext cx="7112053" cy="1831461"/>
          </a:xfrm>
          <a:prstGeom prst="rect">
            <a:avLst/>
          </a:prstGeom>
        </p:spPr>
      </p:pic>
      <p:sp>
        <p:nvSpPr>
          <p:cNvPr id="2" name="Date Placeholder 1">
            <a:extLst>
              <a:ext uri="{FF2B5EF4-FFF2-40B4-BE49-F238E27FC236}">
                <a16:creationId xmlns:a16="http://schemas.microsoft.com/office/drawing/2014/main" id="{C938C0B1-8B0B-33DB-42B1-6BBD5950DE08}"/>
              </a:ext>
            </a:extLst>
          </p:cNvPr>
          <p:cNvSpPr>
            <a:spLocks noGrp="1"/>
          </p:cNvSpPr>
          <p:nvPr>
            <p:ph type="dt" sz="half" idx="10"/>
          </p:nvPr>
        </p:nvSpPr>
        <p:spPr/>
        <p:txBody>
          <a:bodyPr/>
          <a:lstStyle/>
          <a:p>
            <a:fld id="{EF9959E7-45DE-4A2D-ACFD-0D8C8BBAB79F}" type="datetimeFigureOut">
              <a:rPr lang="en-US" smtClean="0"/>
              <a:t>12/27/2024</a:t>
            </a:fld>
            <a:endParaRPr lang="en-US"/>
          </a:p>
        </p:txBody>
      </p:sp>
      <p:sp>
        <p:nvSpPr>
          <p:cNvPr id="3" name="Footer Placeholder 2">
            <a:extLst>
              <a:ext uri="{FF2B5EF4-FFF2-40B4-BE49-F238E27FC236}">
                <a16:creationId xmlns:a16="http://schemas.microsoft.com/office/drawing/2014/main" id="{E07F86FD-0946-30C8-BC74-577779A4D69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A2CEAC2-352E-92E4-C579-C2A59B6940E0}"/>
              </a:ext>
            </a:extLst>
          </p:cNvPr>
          <p:cNvSpPr>
            <a:spLocks noGrp="1"/>
          </p:cNvSpPr>
          <p:nvPr>
            <p:ph type="sldNum" sz="quarter" idx="12"/>
          </p:nvPr>
        </p:nvSpPr>
        <p:spPr/>
        <p:txBody>
          <a:bodyPr/>
          <a:lstStyle/>
          <a:p>
            <a:fld id="{B5912E74-8957-4046-8937-1199D0665174}" type="slidenum">
              <a:rPr lang="en-US" smtClean="0"/>
              <a:t>‹#›</a:t>
            </a:fld>
            <a:endParaRPr lang="en-US"/>
          </a:p>
        </p:txBody>
      </p:sp>
      <p:pic>
        <p:nvPicPr>
          <p:cNvPr id="6" name="Picture 5">
            <a:extLst>
              <a:ext uri="{FF2B5EF4-FFF2-40B4-BE49-F238E27FC236}">
                <a16:creationId xmlns:a16="http://schemas.microsoft.com/office/drawing/2014/main" id="{ABA7D5CF-8052-62A2-8652-9E5660A058F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478878" y="283590"/>
            <a:ext cx="1468167" cy="497461"/>
          </a:xfrm>
          <a:prstGeom prst="rect">
            <a:avLst/>
          </a:prstGeom>
        </p:spPr>
      </p:pic>
      <p:grpSp>
        <p:nvGrpSpPr>
          <p:cNvPr id="5" name="Group 4">
            <a:extLst>
              <a:ext uri="{FF2B5EF4-FFF2-40B4-BE49-F238E27FC236}">
                <a16:creationId xmlns:a16="http://schemas.microsoft.com/office/drawing/2014/main" id="{7CEA865B-9359-931D-9136-36413785F784}"/>
              </a:ext>
            </a:extLst>
          </p:cNvPr>
          <p:cNvGrpSpPr/>
          <p:nvPr userDrawn="1"/>
        </p:nvGrpSpPr>
        <p:grpSpPr>
          <a:xfrm>
            <a:off x="11930388" y="4900065"/>
            <a:ext cx="261612" cy="1456285"/>
            <a:chOff x="-7479" y="4982614"/>
            <a:chExt cx="261612" cy="1456285"/>
          </a:xfrm>
        </p:grpSpPr>
        <p:sp>
          <p:nvSpPr>
            <p:cNvPr id="7" name="Rectangle 6">
              <a:extLst>
                <a:ext uri="{FF2B5EF4-FFF2-40B4-BE49-F238E27FC236}">
                  <a16:creationId xmlns:a16="http://schemas.microsoft.com/office/drawing/2014/main" id="{990C6828-16EB-91B9-7078-52ADFDC0F2F1}"/>
                </a:ext>
              </a:extLst>
            </p:cNvPr>
            <p:cNvSpPr/>
            <p:nvPr userDrawn="1"/>
          </p:nvSpPr>
          <p:spPr>
            <a:xfrm>
              <a:off x="-7479" y="4982614"/>
              <a:ext cx="261612" cy="1456285"/>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ABEA9D62-1A2E-5482-2A68-9FCEFEB913F9}"/>
                </a:ext>
              </a:extLst>
            </p:cNvPr>
            <p:cNvSpPr txBox="1"/>
            <p:nvPr userDrawn="1"/>
          </p:nvSpPr>
          <p:spPr>
            <a:xfrm rot="16200000">
              <a:off x="-565323" y="5578170"/>
              <a:ext cx="1377301" cy="261610"/>
            </a:xfrm>
            <a:prstGeom prst="rect">
              <a:avLst/>
            </a:prstGeom>
            <a:noFill/>
          </p:spPr>
          <p:txBody>
            <a:bodyPr wrap="square" rtlCol="0">
              <a:spAutoFit/>
            </a:bodyPr>
            <a:lstStyle/>
            <a:p>
              <a:pPr algn="ctr"/>
              <a:r>
                <a:rPr lang="en-US" sz="1100" b="1" i="0" dirty="0">
                  <a:solidFill>
                    <a:schemeClr val="bg1">
                      <a:lumMod val="95000"/>
                    </a:schemeClr>
                  </a:solidFill>
                  <a:ea typeface="Montserrat Semi" charset="0"/>
                  <a:cs typeface="Montserrat Semi" charset="0"/>
                </a:rPr>
                <a:t>www.utm.my</a:t>
              </a:r>
              <a:endParaRPr lang="en-US" sz="1100" b="1" i="0" dirty="0">
                <a:solidFill>
                  <a:schemeClr val="accent4"/>
                </a:solidFill>
                <a:ea typeface="Montserrat Semi" charset="0"/>
                <a:cs typeface="Montserrat Semi" charset="0"/>
              </a:endParaRPr>
            </a:p>
          </p:txBody>
        </p:sp>
      </p:grpSp>
    </p:spTree>
    <p:extLst>
      <p:ext uri="{BB962C8B-B14F-4D97-AF65-F5344CB8AC3E}">
        <p14:creationId xmlns:p14="http://schemas.microsoft.com/office/powerpoint/2010/main" val="33996132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color">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86208AF-0FB5-0709-9E4A-86BB9C81B267}"/>
              </a:ext>
            </a:extLst>
          </p:cNvPr>
          <p:cNvSpPr/>
          <p:nvPr userDrawn="1"/>
        </p:nvSpPr>
        <p:spPr>
          <a:xfrm>
            <a:off x="-38100" y="0"/>
            <a:ext cx="12230100" cy="6858000"/>
          </a:xfrm>
          <a:prstGeom prst="rect">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17">
            <a:extLst>
              <a:ext uri="{FF2B5EF4-FFF2-40B4-BE49-F238E27FC236}">
                <a16:creationId xmlns:a16="http://schemas.microsoft.com/office/drawing/2014/main" id="{57D46B25-0C92-A630-DD9E-0DC228627926}"/>
              </a:ext>
            </a:extLst>
          </p:cNvPr>
          <p:cNvGrpSpPr/>
          <p:nvPr userDrawn="1"/>
        </p:nvGrpSpPr>
        <p:grpSpPr>
          <a:xfrm>
            <a:off x="7180119" y="6473574"/>
            <a:ext cx="5011881" cy="390911"/>
            <a:chOff x="7180118" y="6489891"/>
            <a:chExt cx="5011881" cy="390911"/>
          </a:xfrm>
        </p:grpSpPr>
        <p:sp>
          <p:nvSpPr>
            <p:cNvPr id="16" name="Rectangle 15">
              <a:extLst>
                <a:ext uri="{FF2B5EF4-FFF2-40B4-BE49-F238E27FC236}">
                  <a16:creationId xmlns:a16="http://schemas.microsoft.com/office/drawing/2014/main" id="{BA51D9DD-D54B-BD6E-1FC0-1E96064A7DD4}"/>
                </a:ext>
              </a:extLst>
            </p:cNvPr>
            <p:cNvSpPr/>
            <p:nvPr userDrawn="1"/>
          </p:nvSpPr>
          <p:spPr>
            <a:xfrm rot="10800000">
              <a:off x="7393415" y="6489891"/>
              <a:ext cx="4798584" cy="39090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ight Triangle 16">
              <a:extLst>
                <a:ext uri="{FF2B5EF4-FFF2-40B4-BE49-F238E27FC236}">
                  <a16:creationId xmlns:a16="http://schemas.microsoft.com/office/drawing/2014/main" id="{B12D63A4-B45F-D7EE-07AE-ED4F2AA9FBF6}"/>
                </a:ext>
              </a:extLst>
            </p:cNvPr>
            <p:cNvSpPr/>
            <p:nvPr userDrawn="1"/>
          </p:nvSpPr>
          <p:spPr>
            <a:xfrm rot="10800000" flipV="1">
              <a:off x="7180118" y="6489895"/>
              <a:ext cx="213299" cy="390907"/>
            </a:xfrm>
            <a:prstGeom prst="r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8" name="Picture 7">
            <a:extLst>
              <a:ext uri="{FF2B5EF4-FFF2-40B4-BE49-F238E27FC236}">
                <a16:creationId xmlns:a16="http://schemas.microsoft.com/office/drawing/2014/main" id="{CE4DBBFF-D866-CE38-8CC8-48E42BA7EFB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476220" y="283589"/>
            <a:ext cx="1470825" cy="497461"/>
          </a:xfrm>
          <a:prstGeom prst="rect">
            <a:avLst/>
          </a:prstGeom>
        </p:spPr>
      </p:pic>
      <p:sp>
        <p:nvSpPr>
          <p:cNvPr id="2" name="Date Placeholder 1">
            <a:extLst>
              <a:ext uri="{FF2B5EF4-FFF2-40B4-BE49-F238E27FC236}">
                <a16:creationId xmlns:a16="http://schemas.microsoft.com/office/drawing/2014/main" id="{C938C0B1-8B0B-33DB-42B1-6BBD5950DE08}"/>
              </a:ext>
            </a:extLst>
          </p:cNvPr>
          <p:cNvSpPr>
            <a:spLocks noGrp="1"/>
          </p:cNvSpPr>
          <p:nvPr>
            <p:ph type="dt" sz="half" idx="10"/>
          </p:nvPr>
        </p:nvSpPr>
        <p:spPr/>
        <p:txBody>
          <a:bodyPr/>
          <a:lstStyle/>
          <a:p>
            <a:fld id="{EF9959E7-45DE-4A2D-ACFD-0D8C8BBAB79F}" type="datetimeFigureOut">
              <a:rPr lang="en-US" smtClean="0"/>
              <a:t>12/27/2024</a:t>
            </a:fld>
            <a:endParaRPr lang="en-US"/>
          </a:p>
        </p:txBody>
      </p:sp>
      <p:sp>
        <p:nvSpPr>
          <p:cNvPr id="3" name="Footer Placeholder 2">
            <a:extLst>
              <a:ext uri="{FF2B5EF4-FFF2-40B4-BE49-F238E27FC236}">
                <a16:creationId xmlns:a16="http://schemas.microsoft.com/office/drawing/2014/main" id="{E07F86FD-0946-30C8-BC74-577779A4D69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A2CEAC2-352E-92E4-C579-C2A59B6940E0}"/>
              </a:ext>
            </a:extLst>
          </p:cNvPr>
          <p:cNvSpPr>
            <a:spLocks noGrp="1"/>
          </p:cNvSpPr>
          <p:nvPr>
            <p:ph type="sldNum" sz="quarter" idx="12"/>
          </p:nvPr>
        </p:nvSpPr>
        <p:spPr/>
        <p:txBody>
          <a:bodyPr/>
          <a:lstStyle/>
          <a:p>
            <a:fld id="{B5912E74-8957-4046-8937-1199D0665174}" type="slidenum">
              <a:rPr lang="en-US" smtClean="0"/>
              <a:t>‹#›</a:t>
            </a:fld>
            <a:endParaRPr lang="en-US"/>
          </a:p>
        </p:txBody>
      </p:sp>
      <p:grpSp>
        <p:nvGrpSpPr>
          <p:cNvPr id="10" name="Group 9">
            <a:extLst>
              <a:ext uri="{FF2B5EF4-FFF2-40B4-BE49-F238E27FC236}">
                <a16:creationId xmlns:a16="http://schemas.microsoft.com/office/drawing/2014/main" id="{DEECA337-96B6-AF15-88CE-5A1B9B8EBDB6}"/>
              </a:ext>
            </a:extLst>
          </p:cNvPr>
          <p:cNvGrpSpPr/>
          <p:nvPr userDrawn="1"/>
        </p:nvGrpSpPr>
        <p:grpSpPr>
          <a:xfrm>
            <a:off x="-58882" y="0"/>
            <a:ext cx="2130820" cy="390908"/>
            <a:chOff x="-58882" y="0"/>
            <a:chExt cx="2130820" cy="390908"/>
          </a:xfrm>
        </p:grpSpPr>
        <p:sp>
          <p:nvSpPr>
            <p:cNvPr id="13" name="Rectangle 12">
              <a:extLst>
                <a:ext uri="{FF2B5EF4-FFF2-40B4-BE49-F238E27FC236}">
                  <a16:creationId xmlns:a16="http://schemas.microsoft.com/office/drawing/2014/main" id="{755327DB-3941-6535-2638-26DDF5148B23}"/>
                </a:ext>
              </a:extLst>
            </p:cNvPr>
            <p:cNvSpPr/>
            <p:nvPr userDrawn="1"/>
          </p:nvSpPr>
          <p:spPr>
            <a:xfrm>
              <a:off x="-58882" y="1"/>
              <a:ext cx="1921715" cy="39090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ight Triangle 13">
              <a:extLst>
                <a:ext uri="{FF2B5EF4-FFF2-40B4-BE49-F238E27FC236}">
                  <a16:creationId xmlns:a16="http://schemas.microsoft.com/office/drawing/2014/main" id="{751988F2-DBDB-53FA-2E8B-DE674D6D2B6A}"/>
                </a:ext>
              </a:extLst>
            </p:cNvPr>
            <p:cNvSpPr/>
            <p:nvPr userDrawn="1"/>
          </p:nvSpPr>
          <p:spPr>
            <a:xfrm flipV="1">
              <a:off x="1858639" y="0"/>
              <a:ext cx="213299" cy="390907"/>
            </a:xfrm>
            <a:prstGeom prst="r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6" name="Group 5">
            <a:extLst>
              <a:ext uri="{FF2B5EF4-FFF2-40B4-BE49-F238E27FC236}">
                <a16:creationId xmlns:a16="http://schemas.microsoft.com/office/drawing/2014/main" id="{A5B451E3-7C30-F7E8-27F1-20A1711850CE}"/>
              </a:ext>
            </a:extLst>
          </p:cNvPr>
          <p:cNvGrpSpPr/>
          <p:nvPr userDrawn="1"/>
        </p:nvGrpSpPr>
        <p:grpSpPr>
          <a:xfrm>
            <a:off x="11930388" y="4900065"/>
            <a:ext cx="261612" cy="1456285"/>
            <a:chOff x="-7479" y="4982614"/>
            <a:chExt cx="261612" cy="1456285"/>
          </a:xfrm>
        </p:grpSpPr>
        <p:sp>
          <p:nvSpPr>
            <p:cNvPr id="7" name="Rectangle 6">
              <a:extLst>
                <a:ext uri="{FF2B5EF4-FFF2-40B4-BE49-F238E27FC236}">
                  <a16:creationId xmlns:a16="http://schemas.microsoft.com/office/drawing/2014/main" id="{2AF9E3A6-8792-EBEF-E21F-6506CA347F72}"/>
                </a:ext>
              </a:extLst>
            </p:cNvPr>
            <p:cNvSpPr/>
            <p:nvPr userDrawn="1"/>
          </p:nvSpPr>
          <p:spPr>
            <a:xfrm>
              <a:off x="-7479" y="4982614"/>
              <a:ext cx="261612" cy="1456285"/>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D2D7814D-56F3-7C85-157F-E73DAB5F0429}"/>
                </a:ext>
              </a:extLst>
            </p:cNvPr>
            <p:cNvSpPr txBox="1"/>
            <p:nvPr userDrawn="1"/>
          </p:nvSpPr>
          <p:spPr>
            <a:xfrm rot="16200000">
              <a:off x="-565323" y="5578170"/>
              <a:ext cx="1377301" cy="261610"/>
            </a:xfrm>
            <a:prstGeom prst="rect">
              <a:avLst/>
            </a:prstGeom>
            <a:noFill/>
          </p:spPr>
          <p:txBody>
            <a:bodyPr wrap="square" rtlCol="0">
              <a:spAutoFit/>
            </a:bodyPr>
            <a:lstStyle/>
            <a:p>
              <a:pPr algn="ctr"/>
              <a:r>
                <a:rPr lang="en-US" sz="1100" b="1" i="0" dirty="0">
                  <a:solidFill>
                    <a:schemeClr val="bg1">
                      <a:lumMod val="95000"/>
                    </a:schemeClr>
                  </a:solidFill>
                  <a:ea typeface="Montserrat Semi" charset="0"/>
                  <a:cs typeface="Montserrat Semi" charset="0"/>
                </a:rPr>
                <a:t>www.utm.my</a:t>
              </a:r>
              <a:endParaRPr lang="en-US" sz="1100" b="1" i="0" dirty="0">
                <a:solidFill>
                  <a:schemeClr val="accent4"/>
                </a:solidFill>
                <a:ea typeface="Montserrat Semi" charset="0"/>
                <a:cs typeface="Montserrat Semi" charset="0"/>
              </a:endParaRPr>
            </a:p>
          </p:txBody>
        </p:sp>
      </p:grpSp>
    </p:spTree>
    <p:extLst>
      <p:ext uri="{BB962C8B-B14F-4D97-AF65-F5344CB8AC3E}">
        <p14:creationId xmlns:p14="http://schemas.microsoft.com/office/powerpoint/2010/main" val="33928284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D450D105-3168-9AA2-1E36-18264E43F5DD}"/>
              </a:ext>
            </a:extLst>
          </p:cNvPr>
          <p:cNvPicPr>
            <a:picLocks noChangeAspect="1"/>
          </p:cNvPicPr>
          <p:nvPr userDrawn="1"/>
        </p:nvPicPr>
        <p:blipFill>
          <a:blip r:embed="rId2"/>
          <a:stretch>
            <a:fillRect/>
          </a:stretch>
        </p:blipFill>
        <p:spPr>
          <a:xfrm rot="10800000" flipV="1">
            <a:off x="6765" y="1270"/>
            <a:ext cx="7112053" cy="1831461"/>
          </a:xfrm>
          <a:prstGeom prst="rect">
            <a:avLst/>
          </a:prstGeom>
        </p:spPr>
      </p:pic>
      <p:sp>
        <p:nvSpPr>
          <p:cNvPr id="5" name="Date Placeholder 4">
            <a:extLst>
              <a:ext uri="{FF2B5EF4-FFF2-40B4-BE49-F238E27FC236}">
                <a16:creationId xmlns:a16="http://schemas.microsoft.com/office/drawing/2014/main" id="{EBC3EA9C-34EA-199C-CEF0-8463AAE7DDB7}"/>
              </a:ext>
            </a:extLst>
          </p:cNvPr>
          <p:cNvSpPr>
            <a:spLocks noGrp="1"/>
          </p:cNvSpPr>
          <p:nvPr>
            <p:ph type="dt" sz="half" idx="10"/>
          </p:nvPr>
        </p:nvSpPr>
        <p:spPr/>
        <p:txBody>
          <a:bodyPr/>
          <a:lstStyle/>
          <a:p>
            <a:fld id="{EF9959E7-45DE-4A2D-ACFD-0D8C8BBAB79F}" type="datetimeFigureOut">
              <a:rPr lang="en-US" smtClean="0"/>
              <a:t>12/27/2024</a:t>
            </a:fld>
            <a:endParaRPr lang="en-US"/>
          </a:p>
        </p:txBody>
      </p:sp>
      <p:sp>
        <p:nvSpPr>
          <p:cNvPr id="6" name="Footer Placeholder 5">
            <a:extLst>
              <a:ext uri="{FF2B5EF4-FFF2-40B4-BE49-F238E27FC236}">
                <a16:creationId xmlns:a16="http://schemas.microsoft.com/office/drawing/2014/main" id="{A16D9ED6-2507-9043-2434-14990C2905A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F15142B-2BCF-3584-CF46-5568AF2394B0}"/>
              </a:ext>
            </a:extLst>
          </p:cNvPr>
          <p:cNvSpPr>
            <a:spLocks noGrp="1"/>
          </p:cNvSpPr>
          <p:nvPr>
            <p:ph type="sldNum" sz="quarter" idx="12"/>
          </p:nvPr>
        </p:nvSpPr>
        <p:spPr/>
        <p:txBody>
          <a:bodyPr/>
          <a:lstStyle/>
          <a:p>
            <a:fld id="{B5912E74-8957-4046-8937-1199D0665174}" type="slidenum">
              <a:rPr lang="en-US" smtClean="0"/>
              <a:t>‹#›</a:t>
            </a:fld>
            <a:endParaRPr lang="en-US"/>
          </a:p>
        </p:txBody>
      </p:sp>
      <p:pic>
        <p:nvPicPr>
          <p:cNvPr id="8" name="Picture 7">
            <a:extLst>
              <a:ext uri="{FF2B5EF4-FFF2-40B4-BE49-F238E27FC236}">
                <a16:creationId xmlns:a16="http://schemas.microsoft.com/office/drawing/2014/main" id="{1E117FA9-E26A-4F12-3480-6499E26C73F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478878" y="283590"/>
            <a:ext cx="1468167" cy="497461"/>
          </a:xfrm>
          <a:prstGeom prst="rect">
            <a:avLst/>
          </a:prstGeom>
        </p:spPr>
      </p:pic>
      <p:grpSp>
        <p:nvGrpSpPr>
          <p:cNvPr id="9" name="Group 8">
            <a:extLst>
              <a:ext uri="{FF2B5EF4-FFF2-40B4-BE49-F238E27FC236}">
                <a16:creationId xmlns:a16="http://schemas.microsoft.com/office/drawing/2014/main" id="{C2F26ABC-4A2D-3F29-949F-D733E61C91B2}"/>
              </a:ext>
            </a:extLst>
          </p:cNvPr>
          <p:cNvGrpSpPr/>
          <p:nvPr userDrawn="1"/>
        </p:nvGrpSpPr>
        <p:grpSpPr>
          <a:xfrm>
            <a:off x="11930388" y="4900065"/>
            <a:ext cx="261612" cy="1456285"/>
            <a:chOff x="-7479" y="4982614"/>
            <a:chExt cx="261612" cy="1456285"/>
          </a:xfrm>
        </p:grpSpPr>
        <p:sp>
          <p:nvSpPr>
            <p:cNvPr id="10" name="Rectangle 9">
              <a:extLst>
                <a:ext uri="{FF2B5EF4-FFF2-40B4-BE49-F238E27FC236}">
                  <a16:creationId xmlns:a16="http://schemas.microsoft.com/office/drawing/2014/main" id="{70ED001F-8063-F3C7-2FEF-E453A15D6F8A}"/>
                </a:ext>
              </a:extLst>
            </p:cNvPr>
            <p:cNvSpPr/>
            <p:nvPr userDrawn="1"/>
          </p:nvSpPr>
          <p:spPr>
            <a:xfrm>
              <a:off x="-7479" y="4982614"/>
              <a:ext cx="261612" cy="1456285"/>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F8584E66-4123-80C8-F229-404A09AEC330}"/>
                </a:ext>
              </a:extLst>
            </p:cNvPr>
            <p:cNvSpPr txBox="1"/>
            <p:nvPr userDrawn="1"/>
          </p:nvSpPr>
          <p:spPr>
            <a:xfrm rot="16200000">
              <a:off x="-565323" y="5578170"/>
              <a:ext cx="1377301" cy="261610"/>
            </a:xfrm>
            <a:prstGeom prst="rect">
              <a:avLst/>
            </a:prstGeom>
            <a:noFill/>
          </p:spPr>
          <p:txBody>
            <a:bodyPr wrap="square" rtlCol="0">
              <a:spAutoFit/>
            </a:bodyPr>
            <a:lstStyle/>
            <a:p>
              <a:pPr algn="ctr"/>
              <a:r>
                <a:rPr lang="en-US" sz="1100" b="1" i="0" dirty="0">
                  <a:solidFill>
                    <a:schemeClr val="bg1">
                      <a:lumMod val="95000"/>
                    </a:schemeClr>
                  </a:solidFill>
                  <a:ea typeface="Montserrat Semi" charset="0"/>
                  <a:cs typeface="Montserrat Semi" charset="0"/>
                </a:rPr>
                <a:t>www.utm.my</a:t>
              </a:r>
              <a:endParaRPr lang="en-US" sz="1100" b="1" i="0" dirty="0">
                <a:solidFill>
                  <a:schemeClr val="accent4"/>
                </a:solidFill>
                <a:ea typeface="Montserrat Semi" charset="0"/>
                <a:cs typeface="Montserrat Semi" charset="0"/>
              </a:endParaRPr>
            </a:p>
          </p:txBody>
        </p:sp>
      </p:grpSp>
      <p:sp>
        <p:nvSpPr>
          <p:cNvPr id="12" name="Rectangle 11">
            <a:extLst>
              <a:ext uri="{FF2B5EF4-FFF2-40B4-BE49-F238E27FC236}">
                <a16:creationId xmlns:a16="http://schemas.microsoft.com/office/drawing/2014/main" id="{812957FA-0954-130C-016A-4BAA3351102F}"/>
              </a:ext>
            </a:extLst>
          </p:cNvPr>
          <p:cNvSpPr/>
          <p:nvPr userDrawn="1"/>
        </p:nvSpPr>
        <p:spPr>
          <a:xfrm rot="5400000">
            <a:off x="6073139" y="761174"/>
            <a:ext cx="45719" cy="12192000"/>
          </a:xfrm>
          <a:prstGeom prst="rect">
            <a:avLst/>
          </a:prstGeom>
          <a:solidFill>
            <a:srgbClr val="6C1D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itle 1">
            <a:extLst>
              <a:ext uri="{FF2B5EF4-FFF2-40B4-BE49-F238E27FC236}">
                <a16:creationId xmlns:a16="http://schemas.microsoft.com/office/drawing/2014/main" id="{6B5F1816-5F6B-7928-15B1-1910931B275B}"/>
              </a:ext>
            </a:extLst>
          </p:cNvPr>
          <p:cNvSpPr>
            <a:spLocks noGrp="1"/>
          </p:cNvSpPr>
          <p:nvPr>
            <p:ph type="title"/>
          </p:nvPr>
        </p:nvSpPr>
        <p:spPr>
          <a:xfrm>
            <a:off x="838198" y="781051"/>
            <a:ext cx="10515600" cy="1325563"/>
          </a:xfrm>
        </p:spPr>
        <p:txBody>
          <a:bodyPr/>
          <a:lstStyle>
            <a:lvl1pPr>
              <a:defRPr>
                <a:latin typeface="+mn-lt"/>
              </a:defRPr>
            </a:lvl1pPr>
          </a:lstStyle>
          <a:p>
            <a:r>
              <a:rPr lang="en-US" dirty="0"/>
              <a:t>Click to edit Master title style</a:t>
            </a:r>
          </a:p>
        </p:txBody>
      </p:sp>
    </p:spTree>
    <p:extLst>
      <p:ext uri="{BB962C8B-B14F-4D97-AF65-F5344CB8AC3E}">
        <p14:creationId xmlns:p14="http://schemas.microsoft.com/office/powerpoint/2010/main" val="274335041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Picture with Caption">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D450D105-3168-9AA2-1E36-18264E43F5DD}"/>
              </a:ext>
            </a:extLst>
          </p:cNvPr>
          <p:cNvPicPr>
            <a:picLocks noChangeAspect="1"/>
          </p:cNvPicPr>
          <p:nvPr userDrawn="1"/>
        </p:nvPicPr>
        <p:blipFill>
          <a:blip r:embed="rId2"/>
          <a:stretch>
            <a:fillRect/>
          </a:stretch>
        </p:blipFill>
        <p:spPr>
          <a:xfrm rot="10800000" flipV="1">
            <a:off x="6765" y="1270"/>
            <a:ext cx="7112053" cy="1831461"/>
          </a:xfrm>
          <a:prstGeom prst="rect">
            <a:avLst/>
          </a:prstGeom>
        </p:spPr>
      </p:pic>
      <p:sp>
        <p:nvSpPr>
          <p:cNvPr id="5" name="Date Placeholder 4">
            <a:extLst>
              <a:ext uri="{FF2B5EF4-FFF2-40B4-BE49-F238E27FC236}">
                <a16:creationId xmlns:a16="http://schemas.microsoft.com/office/drawing/2014/main" id="{EBC3EA9C-34EA-199C-CEF0-8463AAE7DDB7}"/>
              </a:ext>
            </a:extLst>
          </p:cNvPr>
          <p:cNvSpPr>
            <a:spLocks noGrp="1"/>
          </p:cNvSpPr>
          <p:nvPr>
            <p:ph type="dt" sz="half" idx="10"/>
          </p:nvPr>
        </p:nvSpPr>
        <p:spPr/>
        <p:txBody>
          <a:bodyPr/>
          <a:lstStyle/>
          <a:p>
            <a:fld id="{EF9959E7-45DE-4A2D-ACFD-0D8C8BBAB79F}" type="datetimeFigureOut">
              <a:rPr lang="en-US" smtClean="0"/>
              <a:t>12/27/2024</a:t>
            </a:fld>
            <a:endParaRPr lang="en-US"/>
          </a:p>
        </p:txBody>
      </p:sp>
      <p:sp>
        <p:nvSpPr>
          <p:cNvPr id="6" name="Footer Placeholder 5">
            <a:extLst>
              <a:ext uri="{FF2B5EF4-FFF2-40B4-BE49-F238E27FC236}">
                <a16:creationId xmlns:a16="http://schemas.microsoft.com/office/drawing/2014/main" id="{A16D9ED6-2507-9043-2434-14990C2905A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F15142B-2BCF-3584-CF46-5568AF2394B0}"/>
              </a:ext>
            </a:extLst>
          </p:cNvPr>
          <p:cNvSpPr>
            <a:spLocks noGrp="1"/>
          </p:cNvSpPr>
          <p:nvPr>
            <p:ph type="sldNum" sz="quarter" idx="12"/>
          </p:nvPr>
        </p:nvSpPr>
        <p:spPr/>
        <p:txBody>
          <a:bodyPr/>
          <a:lstStyle/>
          <a:p>
            <a:fld id="{B5912E74-8957-4046-8937-1199D0665174}" type="slidenum">
              <a:rPr lang="en-US" smtClean="0"/>
              <a:t>‹#›</a:t>
            </a:fld>
            <a:endParaRPr lang="en-US"/>
          </a:p>
        </p:txBody>
      </p:sp>
      <p:pic>
        <p:nvPicPr>
          <p:cNvPr id="8" name="Picture 7">
            <a:extLst>
              <a:ext uri="{FF2B5EF4-FFF2-40B4-BE49-F238E27FC236}">
                <a16:creationId xmlns:a16="http://schemas.microsoft.com/office/drawing/2014/main" id="{1E117FA9-E26A-4F12-3480-6499E26C73F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478878" y="283590"/>
            <a:ext cx="1468167" cy="497461"/>
          </a:xfrm>
          <a:prstGeom prst="rect">
            <a:avLst/>
          </a:prstGeom>
        </p:spPr>
      </p:pic>
      <p:grpSp>
        <p:nvGrpSpPr>
          <p:cNvPr id="9" name="Group 8">
            <a:extLst>
              <a:ext uri="{FF2B5EF4-FFF2-40B4-BE49-F238E27FC236}">
                <a16:creationId xmlns:a16="http://schemas.microsoft.com/office/drawing/2014/main" id="{C2F26ABC-4A2D-3F29-949F-D733E61C91B2}"/>
              </a:ext>
            </a:extLst>
          </p:cNvPr>
          <p:cNvGrpSpPr/>
          <p:nvPr userDrawn="1"/>
        </p:nvGrpSpPr>
        <p:grpSpPr>
          <a:xfrm>
            <a:off x="11930388" y="4900065"/>
            <a:ext cx="261612" cy="1456285"/>
            <a:chOff x="-7479" y="4982614"/>
            <a:chExt cx="261612" cy="1456285"/>
          </a:xfrm>
        </p:grpSpPr>
        <p:sp>
          <p:nvSpPr>
            <p:cNvPr id="10" name="Rectangle 9">
              <a:extLst>
                <a:ext uri="{FF2B5EF4-FFF2-40B4-BE49-F238E27FC236}">
                  <a16:creationId xmlns:a16="http://schemas.microsoft.com/office/drawing/2014/main" id="{70ED001F-8063-F3C7-2FEF-E453A15D6F8A}"/>
                </a:ext>
              </a:extLst>
            </p:cNvPr>
            <p:cNvSpPr/>
            <p:nvPr userDrawn="1"/>
          </p:nvSpPr>
          <p:spPr>
            <a:xfrm>
              <a:off x="-7479" y="4982614"/>
              <a:ext cx="261612" cy="1456285"/>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F8584E66-4123-80C8-F229-404A09AEC330}"/>
                </a:ext>
              </a:extLst>
            </p:cNvPr>
            <p:cNvSpPr txBox="1"/>
            <p:nvPr userDrawn="1"/>
          </p:nvSpPr>
          <p:spPr>
            <a:xfrm rot="16200000">
              <a:off x="-565323" y="5578170"/>
              <a:ext cx="1377301" cy="261610"/>
            </a:xfrm>
            <a:prstGeom prst="rect">
              <a:avLst/>
            </a:prstGeom>
            <a:noFill/>
          </p:spPr>
          <p:txBody>
            <a:bodyPr wrap="square" rtlCol="0">
              <a:spAutoFit/>
            </a:bodyPr>
            <a:lstStyle/>
            <a:p>
              <a:pPr algn="ctr"/>
              <a:r>
                <a:rPr lang="en-US" sz="1100" b="1" i="0" dirty="0">
                  <a:solidFill>
                    <a:schemeClr val="bg1">
                      <a:lumMod val="95000"/>
                    </a:schemeClr>
                  </a:solidFill>
                  <a:ea typeface="Montserrat Semi" charset="0"/>
                  <a:cs typeface="Montserrat Semi" charset="0"/>
                </a:rPr>
                <a:t>www.utm.my</a:t>
              </a:r>
              <a:endParaRPr lang="en-US" sz="1100" b="1" i="0" dirty="0">
                <a:solidFill>
                  <a:schemeClr val="accent4"/>
                </a:solidFill>
                <a:ea typeface="Montserrat Semi" charset="0"/>
                <a:cs typeface="Montserrat Semi" charset="0"/>
              </a:endParaRPr>
            </a:p>
          </p:txBody>
        </p:sp>
      </p:grpSp>
      <p:sp>
        <p:nvSpPr>
          <p:cNvPr id="13" name="Rectangle 12">
            <a:extLst>
              <a:ext uri="{FF2B5EF4-FFF2-40B4-BE49-F238E27FC236}">
                <a16:creationId xmlns:a16="http://schemas.microsoft.com/office/drawing/2014/main" id="{CAE4AFB9-D289-5BB8-FC6E-3A98AE611BFD}"/>
              </a:ext>
            </a:extLst>
          </p:cNvPr>
          <p:cNvSpPr/>
          <p:nvPr userDrawn="1"/>
        </p:nvSpPr>
        <p:spPr>
          <a:xfrm rot="5400000">
            <a:off x="6079906" y="-6086095"/>
            <a:ext cx="45719" cy="12192000"/>
          </a:xfrm>
          <a:prstGeom prst="rect">
            <a:avLst/>
          </a:prstGeom>
          <a:solidFill>
            <a:srgbClr val="6C1D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itle 1">
            <a:extLst>
              <a:ext uri="{FF2B5EF4-FFF2-40B4-BE49-F238E27FC236}">
                <a16:creationId xmlns:a16="http://schemas.microsoft.com/office/drawing/2014/main" id="{559C5E7F-48AB-BACC-5157-81B702629420}"/>
              </a:ext>
            </a:extLst>
          </p:cNvPr>
          <p:cNvSpPr>
            <a:spLocks noGrp="1"/>
          </p:cNvSpPr>
          <p:nvPr>
            <p:ph type="title"/>
          </p:nvPr>
        </p:nvSpPr>
        <p:spPr>
          <a:xfrm>
            <a:off x="838198" y="781051"/>
            <a:ext cx="10515600" cy="1325563"/>
          </a:xfrm>
        </p:spPr>
        <p:txBody>
          <a:bodyPr/>
          <a:lstStyle>
            <a:lvl1pPr>
              <a:defRPr>
                <a:latin typeface="+mn-lt"/>
              </a:defRPr>
            </a:lvl1pPr>
          </a:lstStyle>
          <a:p>
            <a:r>
              <a:rPr lang="en-US" dirty="0"/>
              <a:t>Click to edit Master title style</a:t>
            </a:r>
          </a:p>
        </p:txBody>
      </p:sp>
    </p:spTree>
    <p:extLst>
      <p:ext uri="{BB962C8B-B14F-4D97-AF65-F5344CB8AC3E}">
        <p14:creationId xmlns:p14="http://schemas.microsoft.com/office/powerpoint/2010/main" val="1788661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Layout20">
    <p:bg>
      <p:bgPr>
        <a:solidFill>
          <a:srgbClr val="4B473E"/>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1AA9A-AEC4-6046-A3F2-5369021A386F}"/>
              </a:ext>
            </a:extLst>
          </p:cNvPr>
          <p:cNvSpPr>
            <a:spLocks noGrp="1"/>
          </p:cNvSpPr>
          <p:nvPr>
            <p:ph type="title"/>
          </p:nvPr>
        </p:nvSpPr>
        <p:spPr/>
        <p:txBody>
          <a:bodyPr/>
          <a:lstStyle>
            <a:lvl1pPr>
              <a:defRPr>
                <a:solidFill>
                  <a:schemeClr val="bg1"/>
                </a:solidFill>
              </a:defRPr>
            </a:lvl1pPr>
          </a:lstStyle>
          <a:p>
            <a:r>
              <a:rPr lang="en-GB"/>
              <a:t>Click to edit Master title style</a:t>
            </a:r>
            <a:endParaRPr lang="en-US"/>
          </a:p>
        </p:txBody>
      </p:sp>
      <p:sp>
        <p:nvSpPr>
          <p:cNvPr id="3" name="Slide Number Placeholder 2">
            <a:extLst>
              <a:ext uri="{FF2B5EF4-FFF2-40B4-BE49-F238E27FC236}">
                <a16:creationId xmlns:a16="http://schemas.microsoft.com/office/drawing/2014/main" id="{EC475A35-BAA4-3243-952D-99C48B8346A8}"/>
              </a:ext>
            </a:extLst>
          </p:cNvPr>
          <p:cNvSpPr>
            <a:spLocks noGrp="1"/>
          </p:cNvSpPr>
          <p:nvPr>
            <p:ph type="sldNum" sz="quarter" idx="10"/>
          </p:nvPr>
        </p:nvSpPr>
        <p:spPr/>
        <p:txBody>
          <a:bodyPr/>
          <a:lstStyle/>
          <a:p>
            <a:pPr>
              <a:defRPr/>
            </a:pPr>
            <a:fld id="{3F781150-1FB5-914F-8F90-3BA38EB3A9B3}" type="slidenum">
              <a:rPr lang="en-US" smtClean="0"/>
              <a:pPr>
                <a:defRPr/>
              </a:pPr>
              <a:t>‹#›</a:t>
            </a:fld>
            <a:endParaRPr lang="en-US"/>
          </a:p>
        </p:txBody>
      </p:sp>
      <p:cxnSp>
        <p:nvCxnSpPr>
          <p:cNvPr id="8" name="Straight Connector 7">
            <a:extLst>
              <a:ext uri="{FF2B5EF4-FFF2-40B4-BE49-F238E27FC236}">
                <a16:creationId xmlns:a16="http://schemas.microsoft.com/office/drawing/2014/main" id="{74C836B4-5E2D-D94D-B92C-56626921C682}"/>
              </a:ext>
            </a:extLst>
          </p:cNvPr>
          <p:cNvCxnSpPr/>
          <p:nvPr userDrawn="1"/>
        </p:nvCxnSpPr>
        <p:spPr>
          <a:xfrm>
            <a:off x="-12700" y="101600"/>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710462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419975F-708A-F234-4722-AEB23434262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CB87F26E-314A-B65E-03F9-0EADD49DAA8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4FC2CC6-2915-3AF9-A194-79610557723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F9959E7-45DE-4A2D-ACFD-0D8C8BBAB79F}" type="datetimeFigureOut">
              <a:rPr lang="en-US" smtClean="0"/>
              <a:t>12/27/2024</a:t>
            </a:fld>
            <a:endParaRPr lang="en-US"/>
          </a:p>
        </p:txBody>
      </p:sp>
      <p:sp>
        <p:nvSpPr>
          <p:cNvPr id="5" name="Footer Placeholder 4">
            <a:extLst>
              <a:ext uri="{FF2B5EF4-FFF2-40B4-BE49-F238E27FC236}">
                <a16:creationId xmlns:a16="http://schemas.microsoft.com/office/drawing/2014/main" id="{4994C745-1356-0A9F-002D-66D467AF4D8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DC9A2B0-BC9C-678A-D6F9-6A0D62CAA93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5912E74-8957-4046-8937-1199D0665174}" type="slidenum">
              <a:rPr lang="en-US" smtClean="0"/>
              <a:t>‹#›</a:t>
            </a:fld>
            <a:endParaRPr lang="en-US"/>
          </a:p>
        </p:txBody>
      </p:sp>
    </p:spTree>
    <p:extLst>
      <p:ext uri="{BB962C8B-B14F-4D97-AF65-F5344CB8AC3E}">
        <p14:creationId xmlns:p14="http://schemas.microsoft.com/office/powerpoint/2010/main" val="1015553595"/>
      </p:ext>
    </p:extLst>
  </p:cSld>
  <p:clrMap bg1="lt1" tx1="dk1" bg2="lt2" tx2="dk2" accent1="accent1" accent2="accent2" accent3="accent3" accent4="accent4" accent5="accent5" accent6="accent6" hlink="hlink" folHlink="folHlink"/>
  <p:sldLayoutIdLst>
    <p:sldLayoutId id="2147483661" r:id="rId1"/>
    <p:sldLayoutId id="2147483664" r:id="rId2"/>
    <p:sldLayoutId id="2147483666" r:id="rId3"/>
    <p:sldLayoutId id="2147483662" r:id="rId4"/>
    <p:sldLayoutId id="2147483651" r:id="rId5"/>
    <p:sldLayoutId id="2147483649" r:id="rId6"/>
    <p:sldLayoutId id="2147483650" r:id="rId7"/>
    <p:sldLayoutId id="2147483652" r:id="rId8"/>
    <p:sldLayoutId id="2147483653" r:id="rId9"/>
    <p:sldLayoutId id="2147483654" r:id="rId10"/>
    <p:sldLayoutId id="2147483656" r:id="rId11"/>
    <p:sldLayoutId id="2147483655" r:id="rId12"/>
    <p:sldLayoutId id="2147483660" r:id="rId13"/>
    <p:sldLayoutId id="2147483657" r:id="rId14"/>
    <p:sldLayoutId id="2147483663" r:id="rId15"/>
    <p:sldLayoutId id="2147483668" r:id="rId16"/>
  </p:sldLayoutIdLst>
  <p:txStyles>
    <p:titleStyle>
      <a:lvl1pPr algn="l" defTabSz="914400" rtl="0" eaLnBrk="1" latinLnBrk="0" hangingPunct="1">
        <a:lnSpc>
          <a:spcPct val="90000"/>
        </a:lnSpc>
        <a:spcBef>
          <a:spcPct val="0"/>
        </a:spcBef>
        <a:buNone/>
        <a:defRPr sz="4000" kern="1200">
          <a:solidFill>
            <a:schemeClr val="tx1"/>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16.xml"/><Relationship Id="rId4"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DAD0E23-96B9-5B33-C4F6-4DBCE5F54F96}"/>
              </a:ext>
            </a:extLst>
          </p:cNvPr>
          <p:cNvSpPr txBox="1"/>
          <p:nvPr/>
        </p:nvSpPr>
        <p:spPr>
          <a:xfrm>
            <a:off x="987636" y="3127333"/>
            <a:ext cx="9878146" cy="584775"/>
          </a:xfrm>
          <a:prstGeom prst="rect">
            <a:avLst/>
          </a:prstGeom>
          <a:noFill/>
        </p:spPr>
        <p:txBody>
          <a:bodyPr wrap="square" rtlCol="0">
            <a:spAutoFit/>
          </a:bodyPr>
          <a:lstStyle/>
          <a:p>
            <a:r>
              <a:rPr lang="en-MY" sz="3200" spc="300" dirty="0">
                <a:solidFill>
                  <a:schemeClr val="tx1">
                    <a:lumMod val="75000"/>
                    <a:lumOff val="25000"/>
                  </a:schemeClr>
                </a:solidFill>
              </a:rPr>
              <a:t>TOPIC 8 | INTRODUCTION TO DATA WAREHOUSE</a:t>
            </a:r>
          </a:p>
        </p:txBody>
      </p:sp>
      <p:sp>
        <p:nvSpPr>
          <p:cNvPr id="6" name="TextBox 5">
            <a:extLst>
              <a:ext uri="{FF2B5EF4-FFF2-40B4-BE49-F238E27FC236}">
                <a16:creationId xmlns:a16="http://schemas.microsoft.com/office/drawing/2014/main" id="{8E102EFA-FD94-7D1F-B76C-45B63CEC7823}"/>
              </a:ext>
            </a:extLst>
          </p:cNvPr>
          <p:cNvSpPr txBox="1"/>
          <p:nvPr/>
        </p:nvSpPr>
        <p:spPr>
          <a:xfrm>
            <a:off x="987636" y="2222563"/>
            <a:ext cx="10963635" cy="923330"/>
          </a:xfrm>
          <a:prstGeom prst="rect">
            <a:avLst/>
          </a:prstGeom>
          <a:noFill/>
        </p:spPr>
        <p:txBody>
          <a:bodyPr wrap="square" rtlCol="0">
            <a:spAutoFit/>
          </a:bodyPr>
          <a:lstStyle/>
          <a:p>
            <a:r>
              <a:rPr lang="en-US" sz="5400" b="1" kern="0" dirty="0">
                <a:solidFill>
                  <a:srgbClr val="6C1D35"/>
                </a:solidFill>
              </a:rPr>
              <a:t>SECD2523 DATABASE</a:t>
            </a:r>
          </a:p>
        </p:txBody>
      </p:sp>
      <p:pic>
        <p:nvPicPr>
          <p:cNvPr id="7" name="Picture 6">
            <a:extLst>
              <a:ext uri="{FF2B5EF4-FFF2-40B4-BE49-F238E27FC236}">
                <a16:creationId xmlns:a16="http://schemas.microsoft.com/office/drawing/2014/main" id="{770A5E36-46DF-4261-B2A9-84180659C6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27149" y="599516"/>
            <a:ext cx="2249407" cy="751894"/>
          </a:xfrm>
          <a:prstGeom prst="rect">
            <a:avLst/>
          </a:prstGeom>
        </p:spPr>
      </p:pic>
      <p:pic>
        <p:nvPicPr>
          <p:cNvPr id="2" name="Picture 1">
            <a:extLst>
              <a:ext uri="{FF2B5EF4-FFF2-40B4-BE49-F238E27FC236}">
                <a16:creationId xmlns:a16="http://schemas.microsoft.com/office/drawing/2014/main" id="{0DAB95FE-9FB6-3175-C6AD-6B6A256E7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78429" y="6352942"/>
            <a:ext cx="2136771" cy="160806"/>
          </a:xfrm>
          <a:prstGeom prst="rect">
            <a:avLst/>
          </a:prstGeom>
        </p:spPr>
      </p:pic>
      <p:sp>
        <p:nvSpPr>
          <p:cNvPr id="3" name="TextBox 2">
            <a:extLst>
              <a:ext uri="{FF2B5EF4-FFF2-40B4-BE49-F238E27FC236}">
                <a16:creationId xmlns:a16="http://schemas.microsoft.com/office/drawing/2014/main" id="{FC72DD83-1D7D-D9BF-F0F3-053EE3201597}"/>
              </a:ext>
            </a:extLst>
          </p:cNvPr>
          <p:cNvSpPr txBox="1"/>
          <p:nvPr/>
        </p:nvSpPr>
        <p:spPr>
          <a:xfrm>
            <a:off x="805543" y="5858374"/>
            <a:ext cx="10678886" cy="800219"/>
          </a:xfrm>
          <a:prstGeom prst="rect">
            <a:avLst/>
          </a:prstGeom>
          <a:noFill/>
        </p:spPr>
        <p:txBody>
          <a:bodyPr wrap="square" rtlCol="0">
            <a:spAutoFit/>
          </a:bodyPr>
          <a:lstStyle/>
          <a:p>
            <a:r>
              <a:rPr lang="en-GB" altLang="en-US" sz="1400" dirty="0">
                <a:solidFill>
                  <a:schemeClr val="tx1"/>
                </a:solidFill>
                <a:latin typeface="Verdana"/>
                <a:ea typeface="Verdana" panose="020B0604030504040204" pitchFamily="34" charset="0"/>
                <a:cs typeface="Verdana" panose="020B0604030504040204" pitchFamily="34" charset="0"/>
              </a:rPr>
              <a:t>Content adapted from </a:t>
            </a:r>
            <a:r>
              <a:rPr lang="en-MY" sz="1400" dirty="0">
                <a:effectLst/>
                <a:latin typeface="Helvetica" pitchFamily="2" charset="0"/>
              </a:rPr>
              <a:t>Connolly, T., </a:t>
            </a:r>
            <a:r>
              <a:rPr lang="en-MY" sz="1400" dirty="0" err="1">
                <a:effectLst/>
                <a:latin typeface="Helvetica" pitchFamily="2" charset="0"/>
              </a:rPr>
              <a:t>Begg</a:t>
            </a:r>
            <a:r>
              <a:rPr lang="en-MY" sz="1400" dirty="0">
                <a:effectLst/>
                <a:latin typeface="Helvetica" pitchFamily="2" charset="0"/>
              </a:rPr>
              <a:t>, C., 2015. Database Systems: A Practical Approach to Design, Implementation, and Management, Global Edition. Pearson Education.</a:t>
            </a:r>
          </a:p>
          <a:p>
            <a:endParaRPr lang="en-GB" dirty="0"/>
          </a:p>
        </p:txBody>
      </p:sp>
    </p:spTree>
    <p:extLst>
      <p:ext uri="{BB962C8B-B14F-4D97-AF65-F5344CB8AC3E}">
        <p14:creationId xmlns:p14="http://schemas.microsoft.com/office/powerpoint/2010/main" val="17937469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E86133-417D-9582-AD5C-C9B40323D15B}"/>
              </a:ext>
            </a:extLst>
          </p:cNvPr>
          <p:cNvSpPr>
            <a:spLocks noGrp="1"/>
          </p:cNvSpPr>
          <p:nvPr>
            <p:ph type="title"/>
          </p:nvPr>
        </p:nvSpPr>
        <p:spPr/>
        <p:txBody>
          <a:bodyPr/>
          <a:lstStyle/>
          <a:p>
            <a:r>
              <a:rPr lang="en-US" dirty="0"/>
              <a:t>LECTURE LEARNING OUTCOME</a:t>
            </a:r>
          </a:p>
        </p:txBody>
      </p:sp>
      <p:grpSp>
        <p:nvGrpSpPr>
          <p:cNvPr id="7" name="Group 6">
            <a:extLst>
              <a:ext uri="{FF2B5EF4-FFF2-40B4-BE49-F238E27FC236}">
                <a16:creationId xmlns:a16="http://schemas.microsoft.com/office/drawing/2014/main" id="{32E07F62-62EA-F0CE-56B7-24048F3E2214}"/>
              </a:ext>
            </a:extLst>
          </p:cNvPr>
          <p:cNvGrpSpPr/>
          <p:nvPr/>
        </p:nvGrpSpPr>
        <p:grpSpPr>
          <a:xfrm>
            <a:off x="756164" y="1989249"/>
            <a:ext cx="10823730" cy="831763"/>
            <a:chOff x="531658" y="2405747"/>
            <a:chExt cx="10823730" cy="831763"/>
          </a:xfrm>
        </p:grpSpPr>
        <p:sp>
          <p:nvSpPr>
            <p:cNvPr id="9" name="Rectangle: Rounded Corners 8">
              <a:extLst>
                <a:ext uri="{FF2B5EF4-FFF2-40B4-BE49-F238E27FC236}">
                  <a16:creationId xmlns:a16="http://schemas.microsoft.com/office/drawing/2014/main" id="{C1F245CD-7264-D27E-FACB-A8B4DD06F1D6}"/>
                </a:ext>
              </a:extLst>
            </p:cNvPr>
            <p:cNvSpPr/>
            <p:nvPr/>
          </p:nvSpPr>
          <p:spPr>
            <a:xfrm>
              <a:off x="531658" y="2405747"/>
              <a:ext cx="10823730" cy="831763"/>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13" name="Text Placeholder 22">
              <a:extLst>
                <a:ext uri="{FF2B5EF4-FFF2-40B4-BE49-F238E27FC236}">
                  <a16:creationId xmlns:a16="http://schemas.microsoft.com/office/drawing/2014/main" id="{2F0FB714-3007-23C8-9764-E8C7159E2C4E}"/>
                </a:ext>
              </a:extLst>
            </p:cNvPr>
            <p:cNvSpPr txBox="1">
              <a:spLocks/>
            </p:cNvSpPr>
            <p:nvPr/>
          </p:nvSpPr>
          <p:spPr>
            <a:xfrm>
              <a:off x="612106" y="2569292"/>
              <a:ext cx="905786" cy="485535"/>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altLang="ko-KR" b="1" dirty="0">
                  <a:solidFill>
                    <a:schemeClr val="bg1"/>
                  </a:solidFill>
                  <a:cs typeface="Arial" pitchFamily="34" charset="0"/>
                </a:rPr>
                <a:t>01</a:t>
              </a:r>
            </a:p>
          </p:txBody>
        </p:sp>
        <p:sp>
          <p:nvSpPr>
            <p:cNvPr id="16" name="TextBox 15">
              <a:extLst>
                <a:ext uri="{FF2B5EF4-FFF2-40B4-BE49-F238E27FC236}">
                  <a16:creationId xmlns:a16="http://schemas.microsoft.com/office/drawing/2014/main" id="{929E73F1-1DD6-8DC9-0B8E-AD1B04B34741}"/>
                </a:ext>
              </a:extLst>
            </p:cNvPr>
            <p:cNvSpPr txBox="1"/>
            <p:nvPr/>
          </p:nvSpPr>
          <p:spPr>
            <a:xfrm>
              <a:off x="1517891" y="2622536"/>
              <a:ext cx="9469053" cy="430887"/>
            </a:xfrm>
            <a:prstGeom prst="rect">
              <a:avLst/>
            </a:prstGeom>
            <a:noFill/>
          </p:spPr>
          <p:txBody>
            <a:bodyPr wrap="square" rtlCol="0">
              <a:spAutoFit/>
            </a:bodyPr>
            <a:lstStyle/>
            <a:p>
              <a:r>
                <a:rPr lang="en-US" sz="2200" b="1" dirty="0">
                  <a:solidFill>
                    <a:schemeClr val="bg1"/>
                  </a:solidFill>
                </a:rPr>
                <a:t>The main concepts and benefits associated with data warehousing.</a:t>
              </a:r>
            </a:p>
          </p:txBody>
        </p:sp>
      </p:grpSp>
      <p:pic>
        <p:nvPicPr>
          <p:cNvPr id="3" name="Picture 2">
            <a:extLst>
              <a:ext uri="{FF2B5EF4-FFF2-40B4-BE49-F238E27FC236}">
                <a16:creationId xmlns:a16="http://schemas.microsoft.com/office/drawing/2014/main" id="{4458F1EA-447C-486C-DE06-EF8199F796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14018" y="6594272"/>
            <a:ext cx="1951264" cy="146845"/>
          </a:xfrm>
          <a:prstGeom prst="rect">
            <a:avLst/>
          </a:prstGeom>
        </p:spPr>
      </p:pic>
      <p:sp>
        <p:nvSpPr>
          <p:cNvPr id="6" name="TextBox 5">
            <a:extLst>
              <a:ext uri="{FF2B5EF4-FFF2-40B4-BE49-F238E27FC236}">
                <a16:creationId xmlns:a16="http://schemas.microsoft.com/office/drawing/2014/main" id="{F7CF5489-1A93-67FA-16A5-04A76546BEFF}"/>
              </a:ext>
            </a:extLst>
          </p:cNvPr>
          <p:cNvSpPr txBox="1"/>
          <p:nvPr/>
        </p:nvSpPr>
        <p:spPr>
          <a:xfrm>
            <a:off x="735527" y="1538145"/>
            <a:ext cx="6117020" cy="369332"/>
          </a:xfrm>
          <a:prstGeom prst="rect">
            <a:avLst/>
          </a:prstGeom>
          <a:noFill/>
        </p:spPr>
        <p:txBody>
          <a:bodyPr wrap="square">
            <a:spAutoFit/>
          </a:bodyPr>
          <a:lstStyle/>
          <a:p>
            <a:pPr marL="0" indent="0">
              <a:buNone/>
            </a:pPr>
            <a:r>
              <a:rPr lang="en-MY" b="1" dirty="0"/>
              <a:t>By the end of this lecture, students should be able to:</a:t>
            </a:r>
            <a:endParaRPr lang="en-MY" dirty="0"/>
          </a:p>
        </p:txBody>
      </p:sp>
      <p:sp>
        <p:nvSpPr>
          <p:cNvPr id="12" name="Rectangle: Rounded Corners 11">
            <a:extLst>
              <a:ext uri="{FF2B5EF4-FFF2-40B4-BE49-F238E27FC236}">
                <a16:creationId xmlns:a16="http://schemas.microsoft.com/office/drawing/2014/main" id="{344AC4C7-0CB4-FF63-FCB9-63FEE6F22477}"/>
              </a:ext>
            </a:extLst>
          </p:cNvPr>
          <p:cNvSpPr/>
          <p:nvPr/>
        </p:nvSpPr>
        <p:spPr>
          <a:xfrm>
            <a:off x="756164" y="2867095"/>
            <a:ext cx="10823730" cy="831763"/>
          </a:xfrm>
          <a:prstGeom prst="roundRect">
            <a:avLst/>
          </a:prstGeom>
          <a:solidFill>
            <a:srgbClr val="6C1D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ext Placeholder 22">
            <a:extLst>
              <a:ext uri="{FF2B5EF4-FFF2-40B4-BE49-F238E27FC236}">
                <a16:creationId xmlns:a16="http://schemas.microsoft.com/office/drawing/2014/main" id="{1C8EDED6-5A04-187B-A687-9F2524E0180E}"/>
              </a:ext>
            </a:extLst>
          </p:cNvPr>
          <p:cNvSpPr txBox="1">
            <a:spLocks/>
          </p:cNvSpPr>
          <p:nvPr/>
        </p:nvSpPr>
        <p:spPr>
          <a:xfrm>
            <a:off x="836612" y="3030640"/>
            <a:ext cx="905786" cy="485535"/>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altLang="ko-KR" b="1" dirty="0">
                <a:solidFill>
                  <a:schemeClr val="bg1"/>
                </a:solidFill>
                <a:cs typeface="Arial" pitchFamily="34" charset="0"/>
              </a:rPr>
              <a:t>02</a:t>
            </a:r>
          </a:p>
        </p:txBody>
      </p:sp>
      <p:sp>
        <p:nvSpPr>
          <p:cNvPr id="15" name="TextBox 14">
            <a:extLst>
              <a:ext uri="{FF2B5EF4-FFF2-40B4-BE49-F238E27FC236}">
                <a16:creationId xmlns:a16="http://schemas.microsoft.com/office/drawing/2014/main" id="{06D76F8F-9451-9946-9AC6-6A4DC9337D85}"/>
              </a:ext>
            </a:extLst>
          </p:cNvPr>
          <p:cNvSpPr txBox="1"/>
          <p:nvPr/>
        </p:nvSpPr>
        <p:spPr>
          <a:xfrm>
            <a:off x="1742398" y="2921061"/>
            <a:ext cx="9469053" cy="769441"/>
          </a:xfrm>
          <a:prstGeom prst="rect">
            <a:avLst/>
          </a:prstGeom>
          <a:noFill/>
        </p:spPr>
        <p:txBody>
          <a:bodyPr wrap="square" rtlCol="0">
            <a:spAutoFit/>
          </a:bodyPr>
          <a:lstStyle/>
          <a:p>
            <a:r>
              <a:rPr lang="en-US" sz="2200" b="1" dirty="0">
                <a:solidFill>
                  <a:schemeClr val="bg1"/>
                </a:solidFill>
              </a:rPr>
              <a:t>How online transaction processing (OLTP) systems differ from a data warehouse.</a:t>
            </a:r>
          </a:p>
        </p:txBody>
      </p:sp>
      <p:grpSp>
        <p:nvGrpSpPr>
          <p:cNvPr id="18" name="Group 17">
            <a:extLst>
              <a:ext uri="{FF2B5EF4-FFF2-40B4-BE49-F238E27FC236}">
                <a16:creationId xmlns:a16="http://schemas.microsoft.com/office/drawing/2014/main" id="{82FB3996-836C-433B-849F-07DE0EB4D6C8}"/>
              </a:ext>
            </a:extLst>
          </p:cNvPr>
          <p:cNvGrpSpPr/>
          <p:nvPr/>
        </p:nvGrpSpPr>
        <p:grpSpPr>
          <a:xfrm>
            <a:off x="735527" y="3749322"/>
            <a:ext cx="10823730" cy="831763"/>
            <a:chOff x="531658" y="2405747"/>
            <a:chExt cx="10823730" cy="831763"/>
          </a:xfrm>
        </p:grpSpPr>
        <p:sp>
          <p:nvSpPr>
            <p:cNvPr id="19" name="Rectangle: Rounded Corners 18">
              <a:extLst>
                <a:ext uri="{FF2B5EF4-FFF2-40B4-BE49-F238E27FC236}">
                  <a16:creationId xmlns:a16="http://schemas.microsoft.com/office/drawing/2014/main" id="{21CCCF47-DA2B-EE2D-1175-8353E84752A4}"/>
                </a:ext>
              </a:extLst>
            </p:cNvPr>
            <p:cNvSpPr/>
            <p:nvPr/>
          </p:nvSpPr>
          <p:spPr>
            <a:xfrm>
              <a:off x="531658" y="2405747"/>
              <a:ext cx="10823730" cy="831763"/>
            </a:xfrm>
            <a:prstGeom prst="roundRect">
              <a:avLst/>
            </a:prstGeom>
            <a:solidFill>
              <a:srgbClr val="9562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22">
              <a:extLst>
                <a:ext uri="{FF2B5EF4-FFF2-40B4-BE49-F238E27FC236}">
                  <a16:creationId xmlns:a16="http://schemas.microsoft.com/office/drawing/2014/main" id="{8568B624-1F62-97ED-C328-D9F20C650282}"/>
                </a:ext>
              </a:extLst>
            </p:cNvPr>
            <p:cNvSpPr txBox="1">
              <a:spLocks/>
            </p:cNvSpPr>
            <p:nvPr/>
          </p:nvSpPr>
          <p:spPr>
            <a:xfrm>
              <a:off x="612106" y="2569292"/>
              <a:ext cx="905786" cy="485535"/>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altLang="ko-KR" b="1" dirty="0">
                  <a:solidFill>
                    <a:schemeClr val="bg1"/>
                  </a:solidFill>
                  <a:cs typeface="Arial" pitchFamily="34" charset="0"/>
                </a:rPr>
                <a:t>03</a:t>
              </a:r>
            </a:p>
          </p:txBody>
        </p:sp>
        <p:sp>
          <p:nvSpPr>
            <p:cNvPr id="23" name="TextBox 22">
              <a:extLst>
                <a:ext uri="{FF2B5EF4-FFF2-40B4-BE49-F238E27FC236}">
                  <a16:creationId xmlns:a16="http://schemas.microsoft.com/office/drawing/2014/main" id="{32C9E1B7-E84D-CFFF-E5B9-40004CBFE476}"/>
                </a:ext>
              </a:extLst>
            </p:cNvPr>
            <p:cNvSpPr txBox="1"/>
            <p:nvPr/>
          </p:nvSpPr>
          <p:spPr>
            <a:xfrm>
              <a:off x="1496629" y="2618163"/>
              <a:ext cx="6648516" cy="430887"/>
            </a:xfrm>
            <a:prstGeom prst="rect">
              <a:avLst/>
            </a:prstGeom>
            <a:noFill/>
          </p:spPr>
          <p:txBody>
            <a:bodyPr wrap="square" rtlCol="0">
              <a:spAutoFit/>
            </a:bodyPr>
            <a:lstStyle/>
            <a:p>
              <a:pPr algn="just"/>
              <a:r>
                <a:rPr lang="en-US" sz="2200" b="1" dirty="0">
                  <a:solidFill>
                    <a:schemeClr val="bg1"/>
                  </a:solidFill>
                </a:rPr>
                <a:t>The problems associated with data warehousing.</a:t>
              </a:r>
              <a:endParaRPr lang="en-US" altLang="ko-KR" sz="2200" b="1" dirty="0">
                <a:solidFill>
                  <a:schemeClr val="bg1"/>
                </a:solidFill>
                <a:cs typeface="Arial" pitchFamily="34" charset="0"/>
              </a:endParaRPr>
            </a:p>
          </p:txBody>
        </p:sp>
      </p:grpSp>
      <p:grpSp>
        <p:nvGrpSpPr>
          <p:cNvPr id="25" name="Group 24">
            <a:extLst>
              <a:ext uri="{FF2B5EF4-FFF2-40B4-BE49-F238E27FC236}">
                <a16:creationId xmlns:a16="http://schemas.microsoft.com/office/drawing/2014/main" id="{0F7C946A-1124-5C9A-FCDA-337B0D88CB6E}"/>
              </a:ext>
            </a:extLst>
          </p:cNvPr>
          <p:cNvGrpSpPr/>
          <p:nvPr/>
        </p:nvGrpSpPr>
        <p:grpSpPr>
          <a:xfrm>
            <a:off x="735527" y="4631314"/>
            <a:ext cx="10823730" cy="831763"/>
            <a:chOff x="531658" y="2405747"/>
            <a:chExt cx="10823730" cy="831763"/>
          </a:xfrm>
        </p:grpSpPr>
        <p:sp>
          <p:nvSpPr>
            <p:cNvPr id="26" name="Rectangle: Rounded Corners 25">
              <a:extLst>
                <a:ext uri="{FF2B5EF4-FFF2-40B4-BE49-F238E27FC236}">
                  <a16:creationId xmlns:a16="http://schemas.microsoft.com/office/drawing/2014/main" id="{770EA452-E984-6F24-0C71-96FD331BF962}"/>
                </a:ext>
              </a:extLst>
            </p:cNvPr>
            <p:cNvSpPr/>
            <p:nvPr/>
          </p:nvSpPr>
          <p:spPr>
            <a:xfrm>
              <a:off x="531658" y="2405747"/>
              <a:ext cx="10823730" cy="831763"/>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 Placeholder 22">
              <a:extLst>
                <a:ext uri="{FF2B5EF4-FFF2-40B4-BE49-F238E27FC236}">
                  <a16:creationId xmlns:a16="http://schemas.microsoft.com/office/drawing/2014/main" id="{4DB3C0A5-4666-F0C1-FC3F-BAD05E7E35A8}"/>
                </a:ext>
              </a:extLst>
            </p:cNvPr>
            <p:cNvSpPr txBox="1">
              <a:spLocks/>
            </p:cNvSpPr>
            <p:nvPr/>
          </p:nvSpPr>
          <p:spPr>
            <a:xfrm>
              <a:off x="612106" y="2569292"/>
              <a:ext cx="905786" cy="485535"/>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altLang="ko-KR" b="1" dirty="0">
                  <a:solidFill>
                    <a:schemeClr val="bg1"/>
                  </a:solidFill>
                  <a:cs typeface="Arial" pitchFamily="34" charset="0"/>
                </a:rPr>
                <a:t>04</a:t>
              </a:r>
            </a:p>
          </p:txBody>
        </p:sp>
        <p:sp>
          <p:nvSpPr>
            <p:cNvPr id="28" name="TextBox 27">
              <a:extLst>
                <a:ext uri="{FF2B5EF4-FFF2-40B4-BE49-F238E27FC236}">
                  <a16:creationId xmlns:a16="http://schemas.microsoft.com/office/drawing/2014/main" id="{B251F453-C9ED-7148-FA7B-213C2A2B0E76}"/>
                </a:ext>
              </a:extLst>
            </p:cNvPr>
            <p:cNvSpPr txBox="1"/>
            <p:nvPr/>
          </p:nvSpPr>
          <p:spPr>
            <a:xfrm>
              <a:off x="1517892" y="2600984"/>
              <a:ext cx="9469053" cy="430887"/>
            </a:xfrm>
            <a:prstGeom prst="rect">
              <a:avLst/>
            </a:prstGeom>
            <a:noFill/>
          </p:spPr>
          <p:txBody>
            <a:bodyPr wrap="square" rtlCol="0">
              <a:spAutoFit/>
            </a:bodyPr>
            <a:lstStyle/>
            <a:p>
              <a:pPr algn="just"/>
              <a:r>
                <a:rPr lang="en-US" sz="2200" b="1" dirty="0">
                  <a:solidFill>
                    <a:schemeClr val="bg1"/>
                  </a:solidFill>
                </a:rPr>
                <a:t>The architecture and main components of a data warehouse.</a:t>
              </a:r>
            </a:p>
          </p:txBody>
        </p:sp>
      </p:grpSp>
      <p:grpSp>
        <p:nvGrpSpPr>
          <p:cNvPr id="29" name="Group 28">
            <a:extLst>
              <a:ext uri="{FF2B5EF4-FFF2-40B4-BE49-F238E27FC236}">
                <a16:creationId xmlns:a16="http://schemas.microsoft.com/office/drawing/2014/main" id="{83E64A61-AF64-8C1C-AE68-38AC78A34D82}"/>
              </a:ext>
            </a:extLst>
          </p:cNvPr>
          <p:cNvGrpSpPr/>
          <p:nvPr/>
        </p:nvGrpSpPr>
        <p:grpSpPr>
          <a:xfrm>
            <a:off x="714264" y="5517043"/>
            <a:ext cx="10823730" cy="831763"/>
            <a:chOff x="531658" y="2405747"/>
            <a:chExt cx="10823730" cy="831763"/>
          </a:xfrm>
          <a:solidFill>
            <a:srgbClr val="6C1D35"/>
          </a:solidFill>
        </p:grpSpPr>
        <p:sp>
          <p:nvSpPr>
            <p:cNvPr id="30" name="Rectangle: Rounded Corners 29">
              <a:extLst>
                <a:ext uri="{FF2B5EF4-FFF2-40B4-BE49-F238E27FC236}">
                  <a16:creationId xmlns:a16="http://schemas.microsoft.com/office/drawing/2014/main" id="{52E08248-E79B-2E05-D3E8-12472C915B91}"/>
                </a:ext>
              </a:extLst>
            </p:cNvPr>
            <p:cNvSpPr/>
            <p:nvPr/>
          </p:nvSpPr>
          <p:spPr>
            <a:xfrm>
              <a:off x="531658" y="2405747"/>
              <a:ext cx="10823730" cy="831763"/>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 Placeholder 22">
              <a:extLst>
                <a:ext uri="{FF2B5EF4-FFF2-40B4-BE49-F238E27FC236}">
                  <a16:creationId xmlns:a16="http://schemas.microsoft.com/office/drawing/2014/main" id="{9479A75C-6D43-360E-7ADC-66AC01E35117}"/>
                </a:ext>
              </a:extLst>
            </p:cNvPr>
            <p:cNvSpPr txBox="1">
              <a:spLocks/>
            </p:cNvSpPr>
            <p:nvPr/>
          </p:nvSpPr>
          <p:spPr>
            <a:xfrm>
              <a:off x="612106" y="2569292"/>
              <a:ext cx="905786" cy="485535"/>
            </a:xfrm>
            <a:prstGeom prst="rect">
              <a:avLst/>
            </a:prstGeom>
            <a:grpFill/>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altLang="ko-KR" b="1" dirty="0">
                  <a:solidFill>
                    <a:schemeClr val="bg1"/>
                  </a:solidFill>
                  <a:cs typeface="Arial" pitchFamily="34" charset="0"/>
                </a:rPr>
                <a:t>05</a:t>
              </a:r>
            </a:p>
          </p:txBody>
        </p:sp>
        <p:sp>
          <p:nvSpPr>
            <p:cNvPr id="32" name="TextBox 31">
              <a:extLst>
                <a:ext uri="{FF2B5EF4-FFF2-40B4-BE49-F238E27FC236}">
                  <a16:creationId xmlns:a16="http://schemas.microsoft.com/office/drawing/2014/main" id="{CA5ACF9B-94E0-C8EA-A24E-D98A00EB4FFB}"/>
                </a:ext>
              </a:extLst>
            </p:cNvPr>
            <p:cNvSpPr txBox="1"/>
            <p:nvPr/>
          </p:nvSpPr>
          <p:spPr>
            <a:xfrm>
              <a:off x="1517892" y="2547148"/>
              <a:ext cx="9469053" cy="430887"/>
            </a:xfrm>
            <a:prstGeom prst="rect">
              <a:avLst/>
            </a:prstGeom>
            <a:grpFill/>
          </p:spPr>
          <p:txBody>
            <a:bodyPr wrap="square" rtlCol="0">
              <a:spAutoFit/>
            </a:bodyPr>
            <a:lstStyle/>
            <a:p>
              <a:pPr algn="just"/>
              <a:r>
                <a:rPr lang="en-US" sz="2200" b="1" dirty="0">
                  <a:solidFill>
                    <a:schemeClr val="bg1"/>
                  </a:solidFill>
                </a:rPr>
                <a:t>The concept of a data mart and the main reasons for implementing a data mart.</a:t>
              </a:r>
            </a:p>
          </p:txBody>
        </p:sp>
      </p:grpSp>
    </p:spTree>
    <p:extLst>
      <p:ext uri="{BB962C8B-B14F-4D97-AF65-F5344CB8AC3E}">
        <p14:creationId xmlns:p14="http://schemas.microsoft.com/office/powerpoint/2010/main" val="7932062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6F0991-BD72-5567-C1A9-171C243F52DB}"/>
              </a:ext>
            </a:extLst>
          </p:cNvPr>
          <p:cNvSpPr>
            <a:spLocks noGrp="1"/>
          </p:cNvSpPr>
          <p:nvPr>
            <p:ph type="title"/>
          </p:nvPr>
        </p:nvSpPr>
        <p:spPr/>
        <p:txBody>
          <a:bodyPr/>
          <a:lstStyle/>
          <a:p>
            <a:pPr algn="l"/>
            <a:r>
              <a:rPr lang="en-MY" b="1" dirty="0">
                <a:solidFill>
                  <a:schemeClr val="accent1"/>
                </a:solidFill>
              </a:rPr>
              <a:t>What is Data Warehouse?</a:t>
            </a:r>
            <a:endParaRPr lang="en-GB" b="1" dirty="0">
              <a:solidFill>
                <a:schemeClr val="accent1"/>
              </a:solidFill>
            </a:endParaRPr>
          </a:p>
        </p:txBody>
      </p:sp>
      <p:sp>
        <p:nvSpPr>
          <p:cNvPr id="3" name="Content Placeholder 2">
            <a:extLst>
              <a:ext uri="{FF2B5EF4-FFF2-40B4-BE49-F238E27FC236}">
                <a16:creationId xmlns:a16="http://schemas.microsoft.com/office/drawing/2014/main" id="{42337C4D-15EF-7004-5D2D-86CD15812424}"/>
              </a:ext>
            </a:extLst>
          </p:cNvPr>
          <p:cNvSpPr>
            <a:spLocks noGrp="1"/>
          </p:cNvSpPr>
          <p:nvPr>
            <p:ph idx="1"/>
          </p:nvPr>
        </p:nvSpPr>
        <p:spPr/>
        <p:txBody>
          <a:bodyPr>
            <a:normAutofit/>
          </a:bodyPr>
          <a:lstStyle/>
          <a:p>
            <a:pPr algn="just"/>
            <a:r>
              <a:rPr lang="en-MY" sz="3600" dirty="0"/>
              <a:t>Data warehouse (DW) is an environment, not a product.</a:t>
            </a:r>
          </a:p>
          <a:p>
            <a:pPr algn="just"/>
            <a:r>
              <a:rPr lang="en-MY" sz="3600" dirty="0"/>
              <a:t>Data is often scattered across different database, it need DW to get complete information.</a:t>
            </a:r>
          </a:p>
          <a:p>
            <a:pPr algn="just"/>
            <a:r>
              <a:rPr lang="en-MY" sz="3600" dirty="0"/>
              <a:t>It is aimed at effective integration of operational databases that enables strategic use of data.</a:t>
            </a:r>
          </a:p>
        </p:txBody>
      </p:sp>
    </p:spTree>
    <p:extLst>
      <p:ext uri="{BB962C8B-B14F-4D97-AF65-F5344CB8AC3E}">
        <p14:creationId xmlns:p14="http://schemas.microsoft.com/office/powerpoint/2010/main" val="31857069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079" y="818086"/>
            <a:ext cx="6616473" cy="660882"/>
          </a:xfrm>
        </p:spPr>
        <p:txBody>
          <a:bodyPr>
            <a:normAutofit/>
          </a:bodyPr>
          <a:lstStyle/>
          <a:p>
            <a:r>
              <a:rPr lang="en-MY" b="1" dirty="0">
                <a:solidFill>
                  <a:schemeClr val="accent2">
                    <a:lumMod val="75000"/>
                  </a:schemeClr>
                </a:solidFill>
              </a:rPr>
              <a:t>Definition: Data Warehouse</a:t>
            </a:r>
          </a:p>
        </p:txBody>
      </p:sp>
      <p:sp>
        <p:nvSpPr>
          <p:cNvPr id="3" name="Content Placeholder 2"/>
          <p:cNvSpPr>
            <a:spLocks noGrp="1"/>
          </p:cNvSpPr>
          <p:nvPr>
            <p:ph idx="1"/>
          </p:nvPr>
        </p:nvSpPr>
        <p:spPr>
          <a:xfrm>
            <a:off x="582304" y="2044491"/>
            <a:ext cx="11027391" cy="4311859"/>
          </a:xfrm>
        </p:spPr>
        <p:txBody>
          <a:bodyPr>
            <a:normAutofit/>
          </a:bodyPr>
          <a:lstStyle/>
          <a:p>
            <a:pPr algn="just"/>
            <a:r>
              <a:rPr lang="en-US" dirty="0"/>
              <a:t>“A </a:t>
            </a:r>
            <a:r>
              <a:rPr lang="en-US" b="1" dirty="0">
                <a:solidFill>
                  <a:srgbClr val="C00000"/>
                </a:solidFill>
              </a:rPr>
              <a:t>subject-oriented</a:t>
            </a:r>
            <a:r>
              <a:rPr lang="en-US" dirty="0">
                <a:solidFill>
                  <a:srgbClr val="C00000"/>
                </a:solidFill>
              </a:rPr>
              <a:t>, </a:t>
            </a:r>
            <a:r>
              <a:rPr lang="en-US" b="1" dirty="0">
                <a:solidFill>
                  <a:srgbClr val="C00000"/>
                </a:solidFill>
              </a:rPr>
              <a:t>integrated</a:t>
            </a:r>
            <a:r>
              <a:rPr lang="en-US" dirty="0">
                <a:solidFill>
                  <a:srgbClr val="C00000"/>
                </a:solidFill>
              </a:rPr>
              <a:t>, </a:t>
            </a:r>
            <a:r>
              <a:rPr lang="en-US" b="1" dirty="0">
                <a:solidFill>
                  <a:srgbClr val="C00000"/>
                </a:solidFill>
              </a:rPr>
              <a:t>time-variant</a:t>
            </a:r>
            <a:r>
              <a:rPr lang="en-US" dirty="0">
                <a:solidFill>
                  <a:srgbClr val="C00000"/>
                </a:solidFill>
              </a:rPr>
              <a:t>, </a:t>
            </a:r>
            <a:r>
              <a:rPr lang="en-US" dirty="0"/>
              <a:t>and </a:t>
            </a:r>
            <a:r>
              <a:rPr lang="en-US" b="1" dirty="0">
                <a:solidFill>
                  <a:srgbClr val="C00000"/>
                </a:solidFill>
              </a:rPr>
              <a:t>non-volatile</a:t>
            </a:r>
            <a:r>
              <a:rPr lang="en-US" dirty="0"/>
              <a:t> collection of data in support of management’s decision-making process.” (W. H. </a:t>
            </a:r>
            <a:r>
              <a:rPr lang="en-US" dirty="0" err="1"/>
              <a:t>Inmon</a:t>
            </a:r>
            <a:r>
              <a:rPr lang="en-US" dirty="0"/>
              <a:t>, 1993)</a:t>
            </a:r>
          </a:p>
          <a:p>
            <a:pPr algn="just"/>
            <a:r>
              <a:rPr lang="en-US" dirty="0"/>
              <a:t>“A data warehouse is a </a:t>
            </a:r>
            <a:r>
              <a:rPr lang="en-US" b="1" dirty="0">
                <a:solidFill>
                  <a:srgbClr val="C00000"/>
                </a:solidFill>
              </a:rPr>
              <a:t>single, complete and consistent store</a:t>
            </a:r>
            <a:r>
              <a:rPr lang="en-US" dirty="0"/>
              <a:t> of data obtained from a variety of sources and made available to end users in a way they can understand and use in a business context.”</a:t>
            </a:r>
          </a:p>
          <a:p>
            <a:pPr algn="just"/>
            <a:r>
              <a:rPr lang="en-US" dirty="0"/>
              <a:t>“A data warehouse is a </a:t>
            </a:r>
            <a:r>
              <a:rPr lang="en-US" b="1" dirty="0">
                <a:solidFill>
                  <a:srgbClr val="C00000"/>
                </a:solidFill>
              </a:rPr>
              <a:t>collection of corporate information</a:t>
            </a:r>
            <a:r>
              <a:rPr lang="en-US" dirty="0"/>
              <a:t> derived directly from operational systems and some external data sources.”</a:t>
            </a:r>
          </a:p>
          <a:p>
            <a:endParaRPr lang="en-MY" dirty="0"/>
          </a:p>
        </p:txBody>
      </p:sp>
      <p:sp>
        <p:nvSpPr>
          <p:cNvPr id="4" name="Date Placeholder 3"/>
          <p:cNvSpPr>
            <a:spLocks noGrp="1"/>
          </p:cNvSpPr>
          <p:nvPr>
            <p:ph type="dt" sz="half" idx="10"/>
          </p:nvPr>
        </p:nvSpPr>
        <p:spPr/>
        <p:txBody>
          <a:bodyPr/>
          <a:lstStyle/>
          <a:p>
            <a:pPr>
              <a:defRPr/>
            </a:pPr>
            <a:fld id="{9D1381C6-7919-4319-8172-225823D12BD1}" type="datetime1">
              <a:rPr lang="en-US" smtClean="0"/>
              <a:t>12/27/2024</a:t>
            </a:fld>
            <a:endParaRPr lang="en-US"/>
          </a:p>
        </p:txBody>
      </p:sp>
      <p:sp>
        <p:nvSpPr>
          <p:cNvPr id="5" name="Slide Number Placeholder 4"/>
          <p:cNvSpPr>
            <a:spLocks noGrp="1"/>
          </p:cNvSpPr>
          <p:nvPr>
            <p:ph type="sldNum" sz="quarter" idx="12"/>
          </p:nvPr>
        </p:nvSpPr>
        <p:spPr/>
        <p:txBody>
          <a:bodyPr/>
          <a:lstStyle/>
          <a:p>
            <a:pPr>
              <a:defRPr/>
            </a:pPr>
            <a:fld id="{4AEEF2DB-3D68-4EFF-B92B-90C34555BE45}" type="slidenum">
              <a:rPr lang="en-US" smtClean="0"/>
              <a:t>4</a:t>
            </a:fld>
            <a:endParaRPr lang="en-US" dirty="0"/>
          </a:p>
        </p:txBody>
      </p:sp>
    </p:spTree>
    <p:extLst>
      <p:ext uri="{BB962C8B-B14F-4D97-AF65-F5344CB8AC3E}">
        <p14:creationId xmlns:p14="http://schemas.microsoft.com/office/powerpoint/2010/main" val="30033550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8931" y="682907"/>
            <a:ext cx="7286321" cy="696912"/>
          </a:xfrm>
        </p:spPr>
        <p:txBody>
          <a:bodyPr>
            <a:normAutofit/>
          </a:bodyPr>
          <a:lstStyle/>
          <a:p>
            <a:r>
              <a:rPr lang="en-MY" b="1" dirty="0">
                <a:solidFill>
                  <a:schemeClr val="accent2">
                    <a:lumMod val="75000"/>
                  </a:schemeClr>
                </a:solidFill>
              </a:rPr>
              <a:t>Data Warehousing - Introduction</a:t>
            </a:r>
          </a:p>
        </p:txBody>
      </p:sp>
      <p:sp>
        <p:nvSpPr>
          <p:cNvPr id="3" name="Content Placeholder 2"/>
          <p:cNvSpPr>
            <a:spLocks noGrp="1"/>
          </p:cNvSpPr>
          <p:nvPr>
            <p:ph idx="1"/>
          </p:nvPr>
        </p:nvSpPr>
        <p:spPr>
          <a:xfrm>
            <a:off x="572022" y="1912656"/>
            <a:ext cx="11047956" cy="4262437"/>
          </a:xfrm>
        </p:spPr>
        <p:txBody>
          <a:bodyPr>
            <a:normAutofit fontScale="92500" lnSpcReduction="10000"/>
          </a:bodyPr>
          <a:lstStyle/>
          <a:p>
            <a:pPr algn="just"/>
            <a:r>
              <a:rPr lang="en-MY" dirty="0"/>
              <a:t>Data warehousing </a:t>
            </a:r>
            <a:r>
              <a:rPr lang="en-MY" b="1" dirty="0">
                <a:solidFill>
                  <a:srgbClr val="C00000"/>
                </a:solidFill>
              </a:rPr>
              <a:t>integrates data and information </a:t>
            </a:r>
            <a:r>
              <a:rPr lang="en-MY" dirty="0"/>
              <a:t>collected from various sources into one comprehensive database. </a:t>
            </a:r>
          </a:p>
          <a:p>
            <a:pPr marL="457200" lvl="1" indent="0" algn="just">
              <a:buNone/>
            </a:pPr>
            <a:r>
              <a:rPr lang="en-MY" dirty="0"/>
              <a:t>(e.g. </a:t>
            </a:r>
            <a:r>
              <a:rPr lang="en-MY" b="1" dirty="0">
                <a:solidFill>
                  <a:srgbClr val="C00000"/>
                </a:solidFill>
              </a:rPr>
              <a:t>Customer information </a:t>
            </a:r>
            <a:r>
              <a:rPr lang="en-MY" dirty="0"/>
              <a:t>from organization’s point-of-sale systems, its mailing lists, website and comment cards, etc.)</a:t>
            </a:r>
          </a:p>
          <a:p>
            <a:pPr algn="just"/>
            <a:r>
              <a:rPr lang="en-MY" dirty="0"/>
              <a:t>Data warehouse is a </a:t>
            </a:r>
            <a:r>
              <a:rPr lang="en-MY" b="1" dirty="0">
                <a:solidFill>
                  <a:srgbClr val="C00000"/>
                </a:solidFill>
              </a:rPr>
              <a:t>centralized storage system </a:t>
            </a:r>
            <a:r>
              <a:rPr lang="en-MY" dirty="0"/>
              <a:t>or central repository for storing, </a:t>
            </a:r>
            <a:r>
              <a:rPr lang="en-MY" dirty="0" err="1"/>
              <a:t>analyzing</a:t>
            </a:r>
            <a:r>
              <a:rPr lang="en-MY" dirty="0"/>
              <a:t> information and interpreting of data in order to facilitate better decision making.</a:t>
            </a:r>
          </a:p>
          <a:p>
            <a:pPr algn="just"/>
            <a:r>
              <a:rPr lang="en-MY" dirty="0"/>
              <a:t>A data warehouse is a type of data management system that facilitates and supports </a:t>
            </a:r>
            <a:r>
              <a:rPr lang="en-MY" b="1" dirty="0">
                <a:solidFill>
                  <a:srgbClr val="C00000"/>
                </a:solidFill>
              </a:rPr>
              <a:t>business intelligence (BI) </a:t>
            </a:r>
            <a:r>
              <a:rPr lang="en-MY" dirty="0"/>
              <a:t>activities, specifically analysis.</a:t>
            </a:r>
          </a:p>
          <a:p>
            <a:pPr algn="just"/>
            <a:r>
              <a:rPr lang="en-MY" dirty="0"/>
              <a:t>It is primarily designed to facilitate </a:t>
            </a:r>
            <a:r>
              <a:rPr lang="en-MY" b="1" dirty="0">
                <a:solidFill>
                  <a:srgbClr val="C00000"/>
                </a:solidFill>
              </a:rPr>
              <a:t>searches and analyses </a:t>
            </a:r>
            <a:r>
              <a:rPr lang="en-MY" dirty="0"/>
              <a:t>usually contain large amounts of historical data.</a:t>
            </a:r>
          </a:p>
        </p:txBody>
      </p:sp>
      <p:sp>
        <p:nvSpPr>
          <p:cNvPr id="4" name="Date Placeholder 3"/>
          <p:cNvSpPr>
            <a:spLocks noGrp="1"/>
          </p:cNvSpPr>
          <p:nvPr>
            <p:ph type="dt" sz="half" idx="10"/>
          </p:nvPr>
        </p:nvSpPr>
        <p:spPr/>
        <p:txBody>
          <a:bodyPr/>
          <a:lstStyle/>
          <a:p>
            <a:pPr>
              <a:defRPr/>
            </a:pPr>
            <a:fld id="{9D1381C6-7919-4319-8172-225823D12BD1}" type="datetime1">
              <a:rPr lang="en-US" smtClean="0"/>
              <a:t>12/27/2024</a:t>
            </a:fld>
            <a:endParaRPr lang="en-US"/>
          </a:p>
        </p:txBody>
      </p:sp>
      <p:sp>
        <p:nvSpPr>
          <p:cNvPr id="5" name="Slide Number Placeholder 4"/>
          <p:cNvSpPr>
            <a:spLocks noGrp="1"/>
          </p:cNvSpPr>
          <p:nvPr>
            <p:ph type="sldNum" sz="quarter" idx="12"/>
          </p:nvPr>
        </p:nvSpPr>
        <p:spPr/>
        <p:txBody>
          <a:bodyPr/>
          <a:lstStyle/>
          <a:p>
            <a:pPr>
              <a:defRPr/>
            </a:pPr>
            <a:fld id="{4AEEF2DB-3D68-4EFF-B92B-90C34555BE45}" type="slidenum">
              <a:rPr lang="en-US" smtClean="0"/>
              <a:t>5</a:t>
            </a:fld>
            <a:endParaRPr lang="en-US" dirty="0"/>
          </a:p>
        </p:txBody>
      </p:sp>
    </p:spTree>
    <p:extLst>
      <p:ext uri="{BB962C8B-B14F-4D97-AF65-F5344CB8AC3E}">
        <p14:creationId xmlns:p14="http://schemas.microsoft.com/office/powerpoint/2010/main" val="20882625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03226"/>
            <a:ext cx="6908800" cy="777874"/>
          </a:xfrm>
        </p:spPr>
        <p:txBody>
          <a:bodyPr>
            <a:normAutofit fontScale="90000"/>
          </a:bodyPr>
          <a:lstStyle/>
          <a:p>
            <a:r>
              <a:rPr lang="en-MY" b="1" dirty="0">
                <a:solidFill>
                  <a:schemeClr val="accent2">
                    <a:lumMod val="75000"/>
                  </a:schemeClr>
                </a:solidFill>
              </a:rPr>
              <a:t>Data Warehouse Usage - Examples</a:t>
            </a:r>
          </a:p>
        </p:txBody>
      </p:sp>
      <p:sp>
        <p:nvSpPr>
          <p:cNvPr id="3" name="Content Placeholder 2"/>
          <p:cNvSpPr>
            <a:spLocks noGrp="1"/>
          </p:cNvSpPr>
          <p:nvPr>
            <p:ph idx="1"/>
          </p:nvPr>
        </p:nvSpPr>
        <p:spPr>
          <a:xfrm>
            <a:off x="691019" y="1346200"/>
            <a:ext cx="10809962" cy="5108574"/>
          </a:xfrm>
        </p:spPr>
        <p:txBody>
          <a:bodyPr/>
          <a:lstStyle/>
          <a:p>
            <a:pPr algn="just"/>
            <a:r>
              <a:rPr lang="en-MY" sz="2300" b="1" dirty="0">
                <a:solidFill>
                  <a:srgbClr val="C00000"/>
                </a:solidFill>
              </a:rPr>
              <a:t>Investment &amp; Insurance Companies </a:t>
            </a:r>
            <a:r>
              <a:rPr lang="en-MY" sz="2300" dirty="0"/>
              <a:t>– to </a:t>
            </a:r>
            <a:r>
              <a:rPr lang="en-MY" sz="2300" dirty="0" err="1"/>
              <a:t>analyze</a:t>
            </a:r>
            <a:r>
              <a:rPr lang="en-MY" sz="2300" dirty="0"/>
              <a:t> customer &amp; market trends and allied data patterns.</a:t>
            </a:r>
          </a:p>
          <a:p>
            <a:pPr algn="just"/>
            <a:r>
              <a:rPr lang="en-MY" sz="2300" b="1" dirty="0">
                <a:solidFill>
                  <a:srgbClr val="C00000"/>
                </a:solidFill>
              </a:rPr>
              <a:t>Retail Chains </a:t>
            </a:r>
            <a:r>
              <a:rPr lang="en-MY" sz="2300" dirty="0"/>
              <a:t>– used for marketing and distribution to tract items, examine pricing policies and </a:t>
            </a:r>
            <a:r>
              <a:rPr lang="en-MY" sz="2300" dirty="0" err="1"/>
              <a:t>analyze</a:t>
            </a:r>
            <a:r>
              <a:rPr lang="en-MY" sz="2300" dirty="0"/>
              <a:t> buying trends of customers.</a:t>
            </a:r>
          </a:p>
          <a:p>
            <a:pPr algn="just"/>
            <a:r>
              <a:rPr lang="en-MY" sz="2300" b="1" dirty="0">
                <a:solidFill>
                  <a:srgbClr val="C00000"/>
                </a:solidFill>
              </a:rPr>
              <a:t>Healthcare</a:t>
            </a:r>
            <a:r>
              <a:rPr lang="en-MY" sz="2300" dirty="0"/>
              <a:t> – to generate treatment reports, share data with insurance companies &amp; medical units.</a:t>
            </a:r>
          </a:p>
          <a:p>
            <a:pPr algn="just"/>
            <a:r>
              <a:rPr lang="en-MY" sz="2300" b="1" dirty="0">
                <a:solidFill>
                  <a:srgbClr val="C00000"/>
                </a:solidFill>
              </a:rPr>
              <a:t>Airline</a:t>
            </a:r>
            <a:r>
              <a:rPr lang="en-MY" sz="2300" dirty="0"/>
              <a:t> – operation purpose like crew assignment, route profitability, frequent flyer program promotions, etc.</a:t>
            </a:r>
          </a:p>
          <a:p>
            <a:pPr algn="just"/>
            <a:r>
              <a:rPr lang="en-MY" sz="2300" b="1" dirty="0">
                <a:solidFill>
                  <a:srgbClr val="C00000"/>
                </a:solidFill>
              </a:rPr>
              <a:t>Banking</a:t>
            </a:r>
            <a:r>
              <a:rPr lang="en-MY" sz="2300" dirty="0"/>
              <a:t> – to manage resources available on desk effectively.</a:t>
            </a:r>
          </a:p>
          <a:p>
            <a:pPr algn="just"/>
            <a:r>
              <a:rPr lang="en-MY" sz="2300" b="1" dirty="0">
                <a:solidFill>
                  <a:srgbClr val="C00000"/>
                </a:solidFill>
              </a:rPr>
              <a:t>Public Sector </a:t>
            </a:r>
            <a:r>
              <a:rPr lang="en-MY" sz="2300" dirty="0"/>
              <a:t>– used for intelligence gathering, to maintain &amp; </a:t>
            </a:r>
            <a:r>
              <a:rPr lang="en-MY" sz="2300" dirty="0" err="1"/>
              <a:t>analyze</a:t>
            </a:r>
            <a:r>
              <a:rPr lang="en-MY" sz="2300" dirty="0"/>
              <a:t> tax records, health policy records, etc.</a:t>
            </a:r>
          </a:p>
          <a:p>
            <a:pPr algn="just"/>
            <a:r>
              <a:rPr lang="en-MY" sz="2300" b="1" dirty="0">
                <a:solidFill>
                  <a:srgbClr val="C00000"/>
                </a:solidFill>
              </a:rPr>
              <a:t>Telecommunication</a:t>
            </a:r>
            <a:r>
              <a:rPr lang="en-MY" sz="2300" dirty="0"/>
              <a:t> – used for product promotions, sales decisions and to make distribution decisions.</a:t>
            </a:r>
          </a:p>
        </p:txBody>
      </p:sp>
      <p:sp>
        <p:nvSpPr>
          <p:cNvPr id="4" name="Date Placeholder 3"/>
          <p:cNvSpPr>
            <a:spLocks noGrp="1"/>
          </p:cNvSpPr>
          <p:nvPr>
            <p:ph type="dt" sz="half" idx="10"/>
          </p:nvPr>
        </p:nvSpPr>
        <p:spPr/>
        <p:txBody>
          <a:bodyPr/>
          <a:lstStyle/>
          <a:p>
            <a:pPr>
              <a:defRPr/>
            </a:pPr>
            <a:fld id="{9D1381C6-7919-4319-8172-225823D12BD1}" type="datetime1">
              <a:rPr lang="en-US" smtClean="0"/>
              <a:t>12/27/2024</a:t>
            </a:fld>
            <a:endParaRPr lang="en-US"/>
          </a:p>
        </p:txBody>
      </p:sp>
      <p:sp>
        <p:nvSpPr>
          <p:cNvPr id="5" name="Slide Number Placeholder 4"/>
          <p:cNvSpPr>
            <a:spLocks noGrp="1"/>
          </p:cNvSpPr>
          <p:nvPr>
            <p:ph type="sldNum" sz="quarter" idx="12"/>
          </p:nvPr>
        </p:nvSpPr>
        <p:spPr/>
        <p:txBody>
          <a:bodyPr/>
          <a:lstStyle/>
          <a:p>
            <a:pPr>
              <a:defRPr/>
            </a:pPr>
            <a:fld id="{4AEEF2DB-3D68-4EFF-B92B-90C34555BE45}" type="slidenum">
              <a:rPr lang="en-US" smtClean="0"/>
              <a:t>6</a:t>
            </a:fld>
            <a:endParaRPr lang="en-US" dirty="0"/>
          </a:p>
        </p:txBody>
      </p:sp>
    </p:spTree>
    <p:extLst>
      <p:ext uri="{BB962C8B-B14F-4D97-AF65-F5344CB8AC3E}">
        <p14:creationId xmlns:p14="http://schemas.microsoft.com/office/powerpoint/2010/main" val="1165432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14607" y="582612"/>
            <a:ext cx="6976997" cy="927100"/>
          </a:xfrm>
        </p:spPr>
        <p:txBody>
          <a:bodyPr>
            <a:noAutofit/>
          </a:bodyPr>
          <a:lstStyle/>
          <a:p>
            <a:r>
              <a:rPr lang="en-MY" sz="3800" b="1" dirty="0">
                <a:solidFill>
                  <a:schemeClr val="accent2">
                    <a:lumMod val="75000"/>
                  </a:schemeClr>
                </a:solidFill>
              </a:rPr>
              <a:t>Concepts of Data Warehousing</a:t>
            </a:r>
          </a:p>
        </p:txBody>
      </p:sp>
      <p:sp>
        <p:nvSpPr>
          <p:cNvPr id="3" name="Content Placeholder 2"/>
          <p:cNvSpPr>
            <a:spLocks noGrp="1"/>
          </p:cNvSpPr>
          <p:nvPr>
            <p:ph idx="1"/>
          </p:nvPr>
        </p:nvSpPr>
        <p:spPr>
          <a:xfrm>
            <a:off x="838200" y="2244246"/>
            <a:ext cx="10610589" cy="2789499"/>
          </a:xfrm>
        </p:spPr>
        <p:txBody>
          <a:bodyPr>
            <a:noAutofit/>
          </a:bodyPr>
          <a:lstStyle/>
          <a:p>
            <a:r>
              <a:rPr lang="en-US" sz="3000" b="1" dirty="0">
                <a:solidFill>
                  <a:srgbClr val="C00000"/>
                </a:solidFill>
              </a:rPr>
              <a:t>Data Integration:</a:t>
            </a:r>
            <a:r>
              <a:rPr lang="en-US" sz="3000" dirty="0">
                <a:solidFill>
                  <a:srgbClr val="C00000"/>
                </a:solidFill>
              </a:rPr>
              <a:t> </a:t>
            </a:r>
            <a:r>
              <a:rPr lang="en-US" sz="3000" dirty="0"/>
              <a:t>Combines data from various sources into a unified repository.</a:t>
            </a:r>
          </a:p>
          <a:p>
            <a:r>
              <a:rPr lang="en-MY" sz="3000" b="1" dirty="0">
                <a:solidFill>
                  <a:srgbClr val="C00000"/>
                </a:solidFill>
              </a:rPr>
              <a:t>Historical Data Storage:</a:t>
            </a:r>
            <a:r>
              <a:rPr lang="en-MY" sz="3000" dirty="0">
                <a:solidFill>
                  <a:srgbClr val="C00000"/>
                </a:solidFill>
              </a:rPr>
              <a:t> </a:t>
            </a:r>
            <a:r>
              <a:rPr lang="en-MY" sz="3000" dirty="0"/>
              <a:t>Stores data over time, allowing for trend analysis.</a:t>
            </a:r>
          </a:p>
          <a:p>
            <a:r>
              <a:rPr lang="en-US" sz="3000" b="1" dirty="0">
                <a:solidFill>
                  <a:srgbClr val="C00000"/>
                </a:solidFill>
              </a:rPr>
              <a:t>Analytical Processing:</a:t>
            </a:r>
            <a:r>
              <a:rPr lang="en-US" sz="3000" dirty="0">
                <a:solidFill>
                  <a:srgbClr val="C00000"/>
                </a:solidFill>
              </a:rPr>
              <a:t> </a:t>
            </a:r>
            <a:r>
              <a:rPr lang="en-US" sz="3000" dirty="0"/>
              <a:t>Designed for complex queries, data mining, and reporting.</a:t>
            </a:r>
            <a:endParaRPr lang="en-MY" sz="3000" dirty="0"/>
          </a:p>
        </p:txBody>
      </p:sp>
      <p:sp>
        <p:nvSpPr>
          <p:cNvPr id="4" name="Date Placeholder 3"/>
          <p:cNvSpPr>
            <a:spLocks noGrp="1"/>
          </p:cNvSpPr>
          <p:nvPr>
            <p:ph type="dt" sz="half" idx="10"/>
          </p:nvPr>
        </p:nvSpPr>
        <p:spPr/>
        <p:txBody>
          <a:bodyPr/>
          <a:lstStyle/>
          <a:p>
            <a:pPr>
              <a:defRPr/>
            </a:pPr>
            <a:fld id="{756C7E13-66B0-46AE-8FEE-1D3200247EA1}" type="datetime1">
              <a:rPr lang="en-US" smtClean="0"/>
              <a:t>12/27/2024</a:t>
            </a:fld>
            <a:endParaRPr lang="en-US"/>
          </a:p>
        </p:txBody>
      </p:sp>
      <p:sp>
        <p:nvSpPr>
          <p:cNvPr id="5" name="Slide Number Placeholder 4"/>
          <p:cNvSpPr>
            <a:spLocks noGrp="1"/>
          </p:cNvSpPr>
          <p:nvPr>
            <p:ph type="sldNum" sz="quarter" idx="12"/>
          </p:nvPr>
        </p:nvSpPr>
        <p:spPr/>
        <p:txBody>
          <a:bodyPr/>
          <a:lstStyle/>
          <a:p>
            <a:pPr>
              <a:defRPr/>
            </a:pPr>
            <a:fld id="{4AEEF2DB-3D68-4EFF-B92B-90C34555BE45}" type="slidenum">
              <a:rPr lang="en-US" smtClean="0"/>
              <a:t>7</a:t>
            </a:fld>
            <a:endParaRPr lang="en-US" dirty="0"/>
          </a:p>
        </p:txBody>
      </p:sp>
    </p:spTree>
    <p:extLst>
      <p:ext uri="{BB962C8B-B14F-4D97-AF65-F5344CB8AC3E}">
        <p14:creationId xmlns:p14="http://schemas.microsoft.com/office/powerpoint/2010/main" val="28118593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1249" y="301234"/>
            <a:ext cx="7340251" cy="927100"/>
          </a:xfrm>
        </p:spPr>
        <p:txBody>
          <a:bodyPr>
            <a:normAutofit/>
          </a:bodyPr>
          <a:lstStyle/>
          <a:p>
            <a:r>
              <a:rPr lang="en-MY" b="1" dirty="0">
                <a:solidFill>
                  <a:schemeClr val="accent2">
                    <a:lumMod val="75000"/>
                  </a:schemeClr>
                </a:solidFill>
              </a:rPr>
              <a:t>Benefits of Data Warehousing</a:t>
            </a:r>
          </a:p>
        </p:txBody>
      </p:sp>
      <p:sp>
        <p:nvSpPr>
          <p:cNvPr id="3" name="Content Placeholder 2"/>
          <p:cNvSpPr>
            <a:spLocks noGrp="1"/>
          </p:cNvSpPr>
          <p:nvPr>
            <p:ph idx="1"/>
          </p:nvPr>
        </p:nvSpPr>
        <p:spPr>
          <a:xfrm>
            <a:off x="726511" y="1244242"/>
            <a:ext cx="10627289" cy="5348288"/>
          </a:xfrm>
        </p:spPr>
        <p:txBody>
          <a:bodyPr>
            <a:normAutofit/>
          </a:bodyPr>
          <a:lstStyle/>
          <a:p>
            <a:pPr marL="0" indent="0">
              <a:buNone/>
            </a:pPr>
            <a:r>
              <a:rPr lang="en-US" dirty="0"/>
              <a:t>Successful implementation of data warehouse can bring major benefits to an organization: </a:t>
            </a:r>
          </a:p>
          <a:p>
            <a:r>
              <a:rPr lang="en-US" sz="2600" b="1" dirty="0">
                <a:solidFill>
                  <a:srgbClr val="C00000"/>
                </a:solidFill>
              </a:rPr>
              <a:t>Improved Decision Making:</a:t>
            </a:r>
            <a:r>
              <a:rPr lang="en-US" sz="2600" dirty="0">
                <a:solidFill>
                  <a:srgbClr val="C00000"/>
                </a:solidFill>
              </a:rPr>
              <a:t> </a:t>
            </a:r>
            <a:r>
              <a:rPr lang="en-US" sz="2600" dirty="0"/>
              <a:t>Provides a single, reliable source of data for analytics and reporting.</a:t>
            </a:r>
          </a:p>
          <a:p>
            <a:r>
              <a:rPr lang="en-US" sz="2600" b="1" dirty="0">
                <a:solidFill>
                  <a:srgbClr val="C00000"/>
                </a:solidFill>
              </a:rPr>
              <a:t>Enhanced Data Quality and Consistency:</a:t>
            </a:r>
            <a:r>
              <a:rPr lang="en-US" sz="2600" dirty="0">
                <a:solidFill>
                  <a:srgbClr val="C00000"/>
                </a:solidFill>
              </a:rPr>
              <a:t> </a:t>
            </a:r>
            <a:r>
              <a:rPr lang="en-US" sz="2600" dirty="0"/>
              <a:t>Centralized data management ensures data is cleansed, validated, and standardized.</a:t>
            </a:r>
          </a:p>
          <a:p>
            <a:r>
              <a:rPr lang="en-US" sz="2600" b="1" dirty="0">
                <a:solidFill>
                  <a:srgbClr val="C00000"/>
                </a:solidFill>
              </a:rPr>
              <a:t>High Performance for Queries:</a:t>
            </a:r>
            <a:r>
              <a:rPr lang="en-US" sz="2600" dirty="0">
                <a:solidFill>
                  <a:srgbClr val="C00000"/>
                </a:solidFill>
              </a:rPr>
              <a:t> </a:t>
            </a:r>
            <a:r>
              <a:rPr lang="en-US" sz="2600" dirty="0"/>
              <a:t>Optimized for complex queries and large-scale data analysis, improving response times.</a:t>
            </a:r>
          </a:p>
          <a:p>
            <a:r>
              <a:rPr lang="en-US" sz="2600" b="1" dirty="0">
                <a:solidFill>
                  <a:srgbClr val="C00000"/>
                </a:solidFill>
              </a:rPr>
              <a:t>Historical Data Analysis:</a:t>
            </a:r>
            <a:r>
              <a:rPr lang="en-US" sz="2600" dirty="0">
                <a:solidFill>
                  <a:srgbClr val="C00000"/>
                </a:solidFill>
              </a:rPr>
              <a:t> </a:t>
            </a:r>
            <a:r>
              <a:rPr lang="en-US" sz="2600" dirty="0"/>
              <a:t>Enables long-term trend analysis and supports strategic decision-making.</a:t>
            </a:r>
          </a:p>
          <a:p>
            <a:r>
              <a:rPr lang="en-US" sz="2600" b="1" dirty="0">
                <a:solidFill>
                  <a:srgbClr val="C00000"/>
                </a:solidFill>
              </a:rPr>
              <a:t>Better Data Management:</a:t>
            </a:r>
            <a:r>
              <a:rPr lang="en-US" sz="2600" dirty="0">
                <a:solidFill>
                  <a:srgbClr val="C00000"/>
                </a:solidFill>
              </a:rPr>
              <a:t> </a:t>
            </a:r>
            <a:r>
              <a:rPr lang="en-US" sz="2600" dirty="0"/>
              <a:t>Simplifies data management by consolidating multiple data sources into one location.</a:t>
            </a:r>
            <a:endParaRPr lang="en-MY" sz="2600" dirty="0"/>
          </a:p>
        </p:txBody>
      </p:sp>
      <p:sp>
        <p:nvSpPr>
          <p:cNvPr id="4" name="Date Placeholder 3"/>
          <p:cNvSpPr>
            <a:spLocks noGrp="1"/>
          </p:cNvSpPr>
          <p:nvPr>
            <p:ph type="dt" sz="half" idx="10"/>
          </p:nvPr>
        </p:nvSpPr>
        <p:spPr/>
        <p:txBody>
          <a:bodyPr/>
          <a:lstStyle/>
          <a:p>
            <a:pPr>
              <a:defRPr/>
            </a:pPr>
            <a:fld id="{756C7E13-66B0-46AE-8FEE-1D3200247EA1}" type="datetime1">
              <a:rPr lang="en-US" smtClean="0"/>
              <a:t>12/27/2024</a:t>
            </a:fld>
            <a:endParaRPr lang="en-US"/>
          </a:p>
        </p:txBody>
      </p:sp>
      <p:sp>
        <p:nvSpPr>
          <p:cNvPr id="5" name="Slide Number Placeholder 4"/>
          <p:cNvSpPr>
            <a:spLocks noGrp="1"/>
          </p:cNvSpPr>
          <p:nvPr>
            <p:ph type="sldNum" sz="quarter" idx="12"/>
          </p:nvPr>
        </p:nvSpPr>
        <p:spPr/>
        <p:txBody>
          <a:bodyPr/>
          <a:lstStyle/>
          <a:p>
            <a:pPr>
              <a:defRPr/>
            </a:pPr>
            <a:fld id="{4AEEF2DB-3D68-4EFF-B92B-90C34555BE45}" type="slidenum">
              <a:rPr lang="en-US" smtClean="0"/>
              <a:t>8</a:t>
            </a:fld>
            <a:endParaRPr lang="en-US" dirty="0"/>
          </a:p>
        </p:txBody>
      </p:sp>
    </p:spTree>
    <p:extLst>
      <p:ext uri="{BB962C8B-B14F-4D97-AF65-F5344CB8AC3E}">
        <p14:creationId xmlns:p14="http://schemas.microsoft.com/office/powerpoint/2010/main" val="5592469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0456" y="136525"/>
            <a:ext cx="9109370" cy="1325563"/>
          </a:xfrm>
        </p:spPr>
        <p:txBody>
          <a:bodyPr/>
          <a:lstStyle/>
          <a:p>
            <a:pPr algn="l"/>
            <a:r>
              <a:rPr lang="en-MY" b="1" dirty="0">
                <a:solidFill>
                  <a:schemeClr val="accent6"/>
                </a:solidFill>
              </a:rPr>
              <a:t>Characteristics of data in DW</a:t>
            </a:r>
          </a:p>
        </p:txBody>
      </p:sp>
      <p:sp>
        <p:nvSpPr>
          <p:cNvPr id="4" name="Date Placeholder 3"/>
          <p:cNvSpPr>
            <a:spLocks noGrp="1"/>
          </p:cNvSpPr>
          <p:nvPr>
            <p:ph type="dt" sz="half" idx="10"/>
          </p:nvPr>
        </p:nvSpPr>
        <p:spPr/>
        <p:txBody>
          <a:bodyPr/>
          <a:lstStyle/>
          <a:p>
            <a:pPr>
              <a:defRPr/>
            </a:pPr>
            <a:fld id="{FAD3AFE0-AACE-4FD9-8B6F-A0E1B86D6F01}" type="datetime1">
              <a:rPr lang="en-US" smtClean="0"/>
              <a:t>12/27/2024</a:t>
            </a:fld>
            <a:endParaRPr lang="en-US"/>
          </a:p>
        </p:txBody>
      </p:sp>
      <p:sp>
        <p:nvSpPr>
          <p:cNvPr id="5" name="Slide Number Placeholder 4"/>
          <p:cNvSpPr>
            <a:spLocks noGrp="1"/>
          </p:cNvSpPr>
          <p:nvPr>
            <p:ph type="sldNum" sz="quarter" idx="12"/>
          </p:nvPr>
        </p:nvSpPr>
        <p:spPr/>
        <p:txBody>
          <a:bodyPr/>
          <a:lstStyle/>
          <a:p>
            <a:pPr>
              <a:defRPr/>
            </a:pPr>
            <a:fld id="{4AEEF2DB-3D68-4EFF-B92B-90C34555BE45}" type="slidenum">
              <a:rPr lang="en-US" smtClean="0"/>
              <a:t>9</a:t>
            </a:fld>
            <a:endParaRPr lang="en-US" dirty="0"/>
          </a:p>
        </p:txBody>
      </p:sp>
      <p:sp>
        <p:nvSpPr>
          <p:cNvPr id="7" name="Rectangle: Rounded Corners 6"/>
          <p:cNvSpPr/>
          <p:nvPr/>
        </p:nvSpPr>
        <p:spPr>
          <a:xfrm>
            <a:off x="360456" y="2034182"/>
            <a:ext cx="2743200" cy="62273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MY" b="1" dirty="0">
                <a:effectLst>
                  <a:outerShdw blurRad="38100" dist="38100" dir="2700000" algn="tl">
                    <a:srgbClr val="000000">
                      <a:alpha val="43137"/>
                    </a:srgbClr>
                  </a:outerShdw>
                </a:effectLst>
              </a:rPr>
              <a:t>Subject-oriented</a:t>
            </a:r>
          </a:p>
        </p:txBody>
      </p:sp>
      <p:sp>
        <p:nvSpPr>
          <p:cNvPr id="8" name="Rectangle: Rounded Corners 7"/>
          <p:cNvSpPr/>
          <p:nvPr/>
        </p:nvSpPr>
        <p:spPr>
          <a:xfrm>
            <a:off x="3221396" y="2003022"/>
            <a:ext cx="2743200" cy="622738"/>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MY" b="1" dirty="0">
                <a:effectLst>
                  <a:outerShdw blurRad="38100" dist="38100" dir="2700000" algn="tl">
                    <a:srgbClr val="000000">
                      <a:alpha val="43137"/>
                    </a:srgbClr>
                  </a:outerShdw>
                </a:effectLst>
              </a:rPr>
              <a:t>Integrated</a:t>
            </a:r>
          </a:p>
        </p:txBody>
      </p:sp>
      <p:sp>
        <p:nvSpPr>
          <p:cNvPr id="9" name="Rectangle: Rounded Corners 8"/>
          <p:cNvSpPr/>
          <p:nvPr/>
        </p:nvSpPr>
        <p:spPr>
          <a:xfrm>
            <a:off x="6123177" y="2003022"/>
            <a:ext cx="2743200" cy="622738"/>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MY" b="1" dirty="0">
                <a:effectLst>
                  <a:outerShdw blurRad="38100" dist="38100" dir="2700000" algn="tl">
                    <a:srgbClr val="000000">
                      <a:alpha val="43137"/>
                    </a:srgbClr>
                  </a:outerShdw>
                </a:effectLst>
              </a:rPr>
              <a:t>Time-variant</a:t>
            </a:r>
          </a:p>
        </p:txBody>
      </p:sp>
      <p:sp>
        <p:nvSpPr>
          <p:cNvPr id="10" name="Rectangle: Rounded Corners 9"/>
          <p:cNvSpPr/>
          <p:nvPr/>
        </p:nvSpPr>
        <p:spPr>
          <a:xfrm>
            <a:off x="9003946" y="2001337"/>
            <a:ext cx="2743200" cy="622738"/>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MY" b="1" dirty="0">
                <a:effectLst>
                  <a:outerShdw blurRad="38100" dist="38100" dir="2700000" algn="tl">
                    <a:srgbClr val="000000">
                      <a:alpha val="43137"/>
                    </a:srgbClr>
                  </a:outerShdw>
                </a:effectLst>
              </a:rPr>
              <a:t>Non-volatile</a:t>
            </a:r>
          </a:p>
        </p:txBody>
      </p:sp>
      <p:sp>
        <p:nvSpPr>
          <p:cNvPr id="11" name="Rectangle: Rounded Corners 10"/>
          <p:cNvSpPr/>
          <p:nvPr/>
        </p:nvSpPr>
        <p:spPr>
          <a:xfrm>
            <a:off x="360456" y="2783044"/>
            <a:ext cx="2743200" cy="3373827"/>
          </a:xfrm>
          <a:prstGeom prst="roundRect">
            <a:avLst>
              <a:gd name="adj" fmla="val 0"/>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80975" indent="-180975">
              <a:buFont typeface="Arial" panose="020B0604020202020204" pitchFamily="34" charset="0"/>
              <a:buChar char="•"/>
              <a:defRPr/>
            </a:pPr>
            <a:r>
              <a:rPr lang="en-GB" sz="1600" dirty="0">
                <a:effectLst>
                  <a:outerShdw blurRad="38100" dist="38100" dir="2700000" algn="tl">
                    <a:srgbClr val="000000">
                      <a:alpha val="43137"/>
                    </a:srgbClr>
                  </a:outerShdw>
                </a:effectLst>
              </a:rPr>
              <a:t>The warehouse is organized around the major </a:t>
            </a:r>
            <a:r>
              <a:rPr lang="en-GB" sz="1600" b="1" dirty="0">
                <a:solidFill>
                  <a:srgbClr val="FFFF00"/>
                </a:solidFill>
                <a:effectLst>
                  <a:outerShdw blurRad="38100" dist="38100" dir="2700000" algn="tl">
                    <a:srgbClr val="000000">
                      <a:alpha val="43137"/>
                    </a:srgbClr>
                  </a:outerShdw>
                </a:effectLst>
              </a:rPr>
              <a:t>subjects of the enterprise </a:t>
            </a:r>
            <a:r>
              <a:rPr lang="en-GB" sz="1600" dirty="0">
                <a:effectLst>
                  <a:outerShdw blurRad="38100" dist="38100" dir="2700000" algn="tl">
                    <a:srgbClr val="000000">
                      <a:alpha val="43137"/>
                    </a:srgbClr>
                  </a:outerShdw>
                </a:effectLst>
              </a:rPr>
              <a:t>(e.g. customers, products, and sales) rather than the major application areas (e.g. customer invoicing, stock control, and product sales).</a:t>
            </a:r>
          </a:p>
          <a:p>
            <a:pPr marL="180975" indent="-180975">
              <a:buFont typeface="Arial" panose="020B0604020202020204" pitchFamily="34" charset="0"/>
              <a:buChar char="•"/>
              <a:defRPr/>
            </a:pPr>
            <a:r>
              <a:rPr lang="en-GB" sz="1600" dirty="0">
                <a:effectLst>
                  <a:outerShdw blurRad="38100" dist="38100" dir="2700000" algn="tl">
                    <a:srgbClr val="000000">
                      <a:alpha val="43137"/>
                    </a:srgbClr>
                  </a:outerShdw>
                </a:effectLst>
              </a:rPr>
              <a:t>This is reflected in the need to store </a:t>
            </a:r>
            <a:r>
              <a:rPr lang="en-GB" sz="1600" b="1" dirty="0">
                <a:solidFill>
                  <a:srgbClr val="FFFF00"/>
                </a:solidFill>
                <a:effectLst>
                  <a:outerShdw blurRad="38100" dist="38100" dir="2700000" algn="tl">
                    <a:srgbClr val="000000">
                      <a:alpha val="43137"/>
                    </a:srgbClr>
                  </a:outerShdw>
                </a:effectLst>
              </a:rPr>
              <a:t>decision-support data </a:t>
            </a:r>
            <a:r>
              <a:rPr lang="en-GB" sz="1600" dirty="0">
                <a:effectLst>
                  <a:outerShdw blurRad="38100" dist="38100" dir="2700000" algn="tl">
                    <a:srgbClr val="000000">
                      <a:alpha val="43137"/>
                    </a:srgbClr>
                  </a:outerShdw>
                </a:effectLst>
              </a:rPr>
              <a:t>rather than application-oriented data.</a:t>
            </a:r>
          </a:p>
        </p:txBody>
      </p:sp>
      <p:sp>
        <p:nvSpPr>
          <p:cNvPr id="12" name="Rectangle: Rounded Corners 11"/>
          <p:cNvSpPr/>
          <p:nvPr/>
        </p:nvSpPr>
        <p:spPr>
          <a:xfrm>
            <a:off x="3221396" y="2751884"/>
            <a:ext cx="2743200" cy="3373827"/>
          </a:xfrm>
          <a:prstGeom prst="roundRect">
            <a:avLst>
              <a:gd name="adj" fmla="val 0"/>
            </a:avLst>
          </a:prstGeom>
        </p:spPr>
        <p:style>
          <a:lnRef idx="2">
            <a:schemeClr val="accent2">
              <a:shade val="50000"/>
            </a:schemeClr>
          </a:lnRef>
          <a:fillRef idx="1">
            <a:schemeClr val="accent2"/>
          </a:fillRef>
          <a:effectRef idx="0">
            <a:schemeClr val="accent2"/>
          </a:effectRef>
          <a:fontRef idx="minor">
            <a:schemeClr val="lt1"/>
          </a:fontRef>
        </p:style>
        <p:txBody>
          <a:bodyPr rtlCol="0" anchor="t"/>
          <a:lstStyle/>
          <a:p>
            <a:pPr marL="180975" indent="-180975">
              <a:buFont typeface="Arial" panose="020B0604020202020204" pitchFamily="34" charset="0"/>
              <a:buChar char="•"/>
              <a:defRPr/>
            </a:pPr>
            <a:r>
              <a:rPr lang="en-US" sz="1600" dirty="0">
                <a:effectLst>
                  <a:outerShdw blurRad="38100" dist="38100" dir="2700000" algn="tl">
                    <a:srgbClr val="000000">
                      <a:alpha val="43137"/>
                    </a:srgbClr>
                  </a:outerShdw>
                </a:effectLst>
              </a:rPr>
              <a:t>The data warehouse integrates corporate application-oriented data from </a:t>
            </a:r>
            <a:r>
              <a:rPr lang="en-US" sz="1600" b="1" dirty="0">
                <a:solidFill>
                  <a:srgbClr val="FFFF00"/>
                </a:solidFill>
                <a:effectLst>
                  <a:outerShdw blurRad="38100" dist="38100" dir="2700000" algn="tl">
                    <a:srgbClr val="000000">
                      <a:alpha val="43137"/>
                    </a:srgbClr>
                  </a:outerShdw>
                </a:effectLst>
              </a:rPr>
              <a:t>different source systems</a:t>
            </a:r>
            <a:r>
              <a:rPr lang="en-US" sz="1600" dirty="0">
                <a:effectLst>
                  <a:outerShdw blurRad="38100" dist="38100" dir="2700000" algn="tl">
                    <a:srgbClr val="000000">
                      <a:alpha val="43137"/>
                    </a:srgbClr>
                  </a:outerShdw>
                </a:effectLst>
              </a:rPr>
              <a:t>, which often includes data that is inconsistent.</a:t>
            </a:r>
          </a:p>
          <a:p>
            <a:pPr marL="180975" indent="-180975">
              <a:buFont typeface="Arial" panose="020B0604020202020204" pitchFamily="34" charset="0"/>
              <a:buChar char="•"/>
              <a:defRPr/>
            </a:pPr>
            <a:r>
              <a:rPr lang="en-US" sz="1600" dirty="0">
                <a:effectLst>
                  <a:outerShdw blurRad="38100" dist="38100" dir="2700000" algn="tl">
                    <a:srgbClr val="000000">
                      <a:alpha val="43137"/>
                    </a:srgbClr>
                  </a:outerShdw>
                </a:effectLst>
              </a:rPr>
              <a:t>The integrated data source must be made consistent to present a unified view of the data to the users.</a:t>
            </a:r>
          </a:p>
        </p:txBody>
      </p:sp>
      <p:sp>
        <p:nvSpPr>
          <p:cNvPr id="13" name="Rectangle: Rounded Corners 12"/>
          <p:cNvSpPr/>
          <p:nvPr/>
        </p:nvSpPr>
        <p:spPr>
          <a:xfrm>
            <a:off x="6112671" y="2751884"/>
            <a:ext cx="2743200" cy="3373827"/>
          </a:xfrm>
          <a:prstGeom prst="roundRect">
            <a:avLst>
              <a:gd name="adj" fmla="val 0"/>
            </a:avLst>
          </a:prstGeom>
        </p:spPr>
        <p:style>
          <a:lnRef idx="2">
            <a:schemeClr val="accent3">
              <a:shade val="50000"/>
            </a:schemeClr>
          </a:lnRef>
          <a:fillRef idx="1">
            <a:schemeClr val="accent3"/>
          </a:fillRef>
          <a:effectRef idx="0">
            <a:schemeClr val="accent3"/>
          </a:effectRef>
          <a:fontRef idx="minor">
            <a:schemeClr val="lt1"/>
          </a:fontRef>
        </p:style>
        <p:txBody>
          <a:bodyPr rtlCol="0" anchor="t"/>
          <a:lstStyle/>
          <a:p>
            <a:pPr marL="180975" indent="-180975">
              <a:buFont typeface="Arial" panose="020B0604020202020204" pitchFamily="34" charset="0"/>
              <a:buChar char="•"/>
              <a:defRPr/>
            </a:pPr>
            <a:r>
              <a:rPr lang="en-US" sz="1600" dirty="0">
                <a:effectLst>
                  <a:outerShdw blurRad="38100" dist="38100" dir="2700000" algn="tl">
                    <a:srgbClr val="000000">
                      <a:alpha val="43137"/>
                    </a:srgbClr>
                  </a:outerShdw>
                </a:effectLst>
              </a:rPr>
              <a:t>Data in the warehouse is only accurate and </a:t>
            </a:r>
            <a:r>
              <a:rPr lang="en-US" sz="1600" b="1" dirty="0">
                <a:solidFill>
                  <a:srgbClr val="FFFF00"/>
                </a:solidFill>
                <a:effectLst>
                  <a:outerShdw blurRad="38100" dist="38100" dir="2700000" algn="tl">
                    <a:srgbClr val="000000">
                      <a:alpha val="43137"/>
                    </a:srgbClr>
                  </a:outerShdw>
                </a:effectLst>
              </a:rPr>
              <a:t>valid at some point </a:t>
            </a:r>
            <a:r>
              <a:rPr lang="en-US" sz="1600" dirty="0">
                <a:effectLst>
                  <a:outerShdw blurRad="38100" dist="38100" dir="2700000" algn="tl">
                    <a:srgbClr val="000000">
                      <a:alpha val="43137"/>
                    </a:srgbClr>
                  </a:outerShdw>
                </a:effectLst>
              </a:rPr>
              <a:t>in time or over some </a:t>
            </a:r>
            <a:r>
              <a:rPr lang="en-US" sz="1600" b="1" dirty="0">
                <a:solidFill>
                  <a:srgbClr val="FFFF00"/>
                </a:solidFill>
                <a:effectLst>
                  <a:outerShdw blurRad="38100" dist="38100" dir="2700000" algn="tl">
                    <a:srgbClr val="000000">
                      <a:alpha val="43137"/>
                    </a:srgbClr>
                  </a:outerShdw>
                </a:effectLst>
              </a:rPr>
              <a:t>time interval</a:t>
            </a:r>
            <a:r>
              <a:rPr lang="en-US" sz="1600" dirty="0">
                <a:effectLst>
                  <a:outerShdw blurRad="38100" dist="38100" dir="2700000" algn="tl">
                    <a:srgbClr val="000000">
                      <a:alpha val="43137"/>
                    </a:srgbClr>
                  </a:outerShdw>
                </a:effectLst>
              </a:rPr>
              <a:t>.</a:t>
            </a:r>
          </a:p>
          <a:p>
            <a:pPr marL="180975" indent="-180975">
              <a:buFont typeface="Arial" panose="020B0604020202020204" pitchFamily="34" charset="0"/>
              <a:buChar char="•"/>
              <a:defRPr/>
            </a:pPr>
            <a:r>
              <a:rPr lang="en-US" sz="1600" dirty="0">
                <a:effectLst>
                  <a:outerShdw blurRad="38100" dist="38100" dir="2700000" algn="tl">
                    <a:srgbClr val="000000">
                      <a:alpha val="43137"/>
                    </a:srgbClr>
                  </a:outerShdw>
                </a:effectLst>
              </a:rPr>
              <a:t>Time-variance is also shown in the extended time that the data is held, the implicit or explicit association of time with all data, and the fact that the data represents a series of snapshots.</a:t>
            </a:r>
          </a:p>
        </p:txBody>
      </p:sp>
      <p:sp>
        <p:nvSpPr>
          <p:cNvPr id="14" name="Rectangle: Rounded Corners 13"/>
          <p:cNvSpPr/>
          <p:nvPr/>
        </p:nvSpPr>
        <p:spPr>
          <a:xfrm>
            <a:off x="9010521" y="2750199"/>
            <a:ext cx="2743200" cy="3373827"/>
          </a:xfrm>
          <a:prstGeom prst="roundRect">
            <a:avLst>
              <a:gd name="adj" fmla="val 0"/>
            </a:avLst>
          </a:prstGeom>
        </p:spPr>
        <p:style>
          <a:lnRef idx="2">
            <a:schemeClr val="accent6">
              <a:shade val="50000"/>
            </a:schemeClr>
          </a:lnRef>
          <a:fillRef idx="1">
            <a:schemeClr val="accent6"/>
          </a:fillRef>
          <a:effectRef idx="0">
            <a:schemeClr val="accent6"/>
          </a:effectRef>
          <a:fontRef idx="minor">
            <a:schemeClr val="lt1"/>
          </a:fontRef>
        </p:style>
        <p:txBody>
          <a:bodyPr rtlCol="0" anchor="t"/>
          <a:lstStyle/>
          <a:p>
            <a:pPr marL="180975" indent="-180975">
              <a:buFont typeface="Arial" panose="020B0604020202020204" pitchFamily="34" charset="0"/>
              <a:buChar char="•"/>
              <a:defRPr/>
            </a:pPr>
            <a:r>
              <a:rPr lang="en-US" sz="1600" dirty="0">
                <a:effectLst>
                  <a:outerShdw blurRad="38100" dist="38100" dir="2700000" algn="tl">
                    <a:srgbClr val="000000">
                      <a:alpha val="43137"/>
                    </a:srgbClr>
                  </a:outerShdw>
                </a:effectLst>
              </a:rPr>
              <a:t>Data in the warehouse is </a:t>
            </a:r>
            <a:r>
              <a:rPr lang="en-US" sz="1600" b="1" dirty="0">
                <a:solidFill>
                  <a:srgbClr val="FFFF00"/>
                </a:solidFill>
                <a:effectLst>
                  <a:outerShdw blurRad="38100" dist="38100" dir="2700000" algn="tl">
                    <a:srgbClr val="000000">
                      <a:alpha val="43137"/>
                    </a:srgbClr>
                  </a:outerShdw>
                </a:effectLst>
              </a:rPr>
              <a:t>not normally updated in real-time</a:t>
            </a:r>
            <a:r>
              <a:rPr lang="en-US" sz="1600" dirty="0">
                <a:effectLst>
                  <a:outerShdw blurRad="38100" dist="38100" dir="2700000" algn="tl">
                    <a:srgbClr val="000000">
                      <a:alpha val="43137"/>
                    </a:srgbClr>
                  </a:outerShdw>
                </a:effectLst>
              </a:rPr>
              <a:t> (RT) but is refreshed from </a:t>
            </a:r>
            <a:r>
              <a:rPr lang="en-US" sz="1600" b="1" dirty="0">
                <a:solidFill>
                  <a:srgbClr val="FFFF00"/>
                </a:solidFill>
                <a:effectLst>
                  <a:outerShdw blurRad="38100" dist="38100" dir="2700000" algn="tl">
                    <a:srgbClr val="000000">
                      <a:alpha val="43137"/>
                    </a:srgbClr>
                  </a:outerShdw>
                </a:effectLst>
              </a:rPr>
              <a:t>operational systems </a:t>
            </a:r>
            <a:r>
              <a:rPr lang="en-US" sz="1600" dirty="0">
                <a:effectLst>
                  <a:outerShdw blurRad="38100" dist="38100" dir="2700000" algn="tl">
                    <a:srgbClr val="000000">
                      <a:alpha val="43137"/>
                    </a:srgbClr>
                  </a:outerShdw>
                </a:effectLst>
              </a:rPr>
              <a:t>on a regular basis. (However, emerging trend is towards R T or near RT DWs)</a:t>
            </a:r>
          </a:p>
          <a:p>
            <a:pPr marL="180975" indent="-180975">
              <a:buFont typeface="Arial" panose="020B0604020202020204" pitchFamily="34" charset="0"/>
              <a:buChar char="•"/>
              <a:defRPr/>
            </a:pPr>
            <a:r>
              <a:rPr lang="en-US" sz="1600" dirty="0">
                <a:effectLst>
                  <a:outerShdw blurRad="38100" dist="38100" dir="2700000" algn="tl">
                    <a:srgbClr val="000000">
                      <a:alpha val="43137"/>
                    </a:srgbClr>
                  </a:outerShdw>
                </a:effectLst>
              </a:rPr>
              <a:t>New data is always added as a </a:t>
            </a:r>
            <a:r>
              <a:rPr lang="en-US" sz="1600" b="1" dirty="0">
                <a:solidFill>
                  <a:srgbClr val="FFFF00"/>
                </a:solidFill>
                <a:effectLst>
                  <a:outerShdw blurRad="38100" dist="38100" dir="2700000" algn="tl">
                    <a:srgbClr val="000000">
                      <a:alpha val="43137"/>
                    </a:srgbClr>
                  </a:outerShdw>
                </a:effectLst>
              </a:rPr>
              <a:t>supplement</a:t>
            </a:r>
            <a:r>
              <a:rPr lang="en-US" sz="1600" dirty="0">
                <a:effectLst>
                  <a:outerShdw blurRad="38100" dist="38100" dir="2700000" algn="tl">
                    <a:srgbClr val="000000">
                      <a:alpha val="43137"/>
                    </a:srgbClr>
                  </a:outerShdw>
                </a:effectLst>
              </a:rPr>
              <a:t> to the database, rather than a replacement.</a:t>
            </a:r>
          </a:p>
        </p:txBody>
      </p:sp>
      <p:sp>
        <p:nvSpPr>
          <p:cNvPr id="15" name="Rectangle: Rounded Corners 14"/>
          <p:cNvSpPr/>
          <p:nvPr/>
        </p:nvSpPr>
        <p:spPr>
          <a:xfrm>
            <a:off x="360456" y="1248315"/>
            <a:ext cx="11471088" cy="622738"/>
          </a:xfrm>
          <a:prstGeom prst="roundRect">
            <a:avLst/>
          </a:prstGeom>
          <a:solidFill>
            <a:schemeClr val="accent3">
              <a:lumMod val="60000"/>
              <a:lumOff val="40000"/>
            </a:schemeClr>
          </a:solidFill>
          <a:ln>
            <a:solidFill>
              <a:srgbClr val="FFFFFF"/>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2000" b="1" dirty="0">
                <a:effectLst>
                  <a:outerShdw blurRad="38100" dist="38100" dir="2700000" algn="tl">
                    <a:srgbClr val="000000">
                      <a:alpha val="43137"/>
                    </a:srgbClr>
                  </a:outerShdw>
                </a:effectLst>
              </a:rPr>
              <a:t>The data held in a data warehouse is described as being </a:t>
            </a:r>
            <a:r>
              <a:rPr lang="en-US" sz="2000" b="1" dirty="0">
                <a:solidFill>
                  <a:srgbClr val="C00000"/>
                </a:solidFill>
              </a:rPr>
              <a:t>subject-oriented</a:t>
            </a:r>
            <a:r>
              <a:rPr lang="en-US" sz="2000" b="1" dirty="0">
                <a:effectLst>
                  <a:outerShdw blurRad="38100" dist="38100" dir="2700000" algn="tl">
                    <a:srgbClr val="000000">
                      <a:alpha val="43137"/>
                    </a:srgbClr>
                  </a:outerShdw>
                </a:effectLst>
              </a:rPr>
              <a:t>, </a:t>
            </a:r>
            <a:r>
              <a:rPr lang="en-US" sz="2000" b="1" dirty="0">
                <a:solidFill>
                  <a:srgbClr val="C00000"/>
                </a:solidFill>
              </a:rPr>
              <a:t>integrated</a:t>
            </a:r>
            <a:r>
              <a:rPr lang="en-US" sz="2000" b="1" dirty="0">
                <a:effectLst>
                  <a:outerShdw blurRad="38100" dist="38100" dir="2700000" algn="tl">
                    <a:srgbClr val="000000">
                      <a:alpha val="43137"/>
                    </a:srgbClr>
                  </a:outerShdw>
                </a:effectLst>
              </a:rPr>
              <a:t>,</a:t>
            </a:r>
          </a:p>
          <a:p>
            <a:pPr algn="ctr"/>
            <a:r>
              <a:rPr lang="en-US" sz="2000" b="1" dirty="0">
                <a:solidFill>
                  <a:srgbClr val="C00000"/>
                </a:solidFill>
              </a:rPr>
              <a:t>time-variant</a:t>
            </a:r>
            <a:r>
              <a:rPr lang="en-US" sz="2000" b="1" dirty="0">
                <a:effectLst>
                  <a:outerShdw blurRad="38100" dist="38100" dir="2700000" algn="tl">
                    <a:srgbClr val="000000">
                      <a:alpha val="43137"/>
                    </a:srgbClr>
                  </a:outerShdw>
                </a:effectLst>
              </a:rPr>
              <a:t>, and </a:t>
            </a:r>
            <a:r>
              <a:rPr lang="en-US" sz="2000" b="1" dirty="0">
                <a:solidFill>
                  <a:srgbClr val="C00000"/>
                </a:solidFill>
              </a:rPr>
              <a:t>nonvolatile</a:t>
            </a:r>
            <a:r>
              <a:rPr lang="en-US" sz="2000" b="1" dirty="0">
                <a:effectLst>
                  <a:outerShdw blurRad="38100" dist="38100" dir="2700000" algn="tl">
                    <a:srgbClr val="000000">
                      <a:alpha val="43137"/>
                    </a:srgbClr>
                  </a:outerShdw>
                </a:effectLst>
              </a:rPr>
              <a:t> (</a:t>
            </a:r>
            <a:r>
              <a:rPr lang="en-US" sz="2000" b="1" dirty="0" err="1">
                <a:effectLst>
                  <a:outerShdw blurRad="38100" dist="38100" dir="2700000" algn="tl">
                    <a:srgbClr val="000000">
                      <a:alpha val="43137"/>
                    </a:srgbClr>
                  </a:outerShdw>
                </a:effectLst>
              </a:rPr>
              <a:t>Inmon</a:t>
            </a:r>
            <a:r>
              <a:rPr lang="en-US" sz="2000" b="1" dirty="0">
                <a:effectLst>
                  <a:outerShdw blurRad="38100" dist="38100" dir="2700000" algn="tl">
                    <a:srgbClr val="000000">
                      <a:alpha val="43137"/>
                    </a:srgbClr>
                  </a:outerShdw>
                </a:effectLst>
              </a:rPr>
              <a:t>, 1993).</a:t>
            </a:r>
            <a:endParaRPr lang="en-MY" sz="2000" b="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5806358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MY" b="1" dirty="0">
                <a:solidFill>
                  <a:schemeClr val="accent6"/>
                </a:solidFill>
              </a:rPr>
              <a:t>Design of Architecture of a Data Warehouse</a:t>
            </a:r>
          </a:p>
        </p:txBody>
      </p:sp>
      <p:sp>
        <p:nvSpPr>
          <p:cNvPr id="3" name="Content Placeholder 2"/>
          <p:cNvSpPr>
            <a:spLocks noGrp="1"/>
          </p:cNvSpPr>
          <p:nvPr>
            <p:ph idx="1"/>
          </p:nvPr>
        </p:nvSpPr>
        <p:spPr/>
        <p:txBody>
          <a:bodyPr/>
          <a:lstStyle/>
          <a:p>
            <a:r>
              <a:rPr lang="en-US" dirty="0"/>
              <a:t>Designed for </a:t>
            </a:r>
            <a:r>
              <a:rPr lang="en-US" b="1" dirty="0">
                <a:solidFill>
                  <a:srgbClr val="C00000"/>
                </a:solidFill>
              </a:rPr>
              <a:t>analytical processing.</a:t>
            </a:r>
          </a:p>
          <a:p>
            <a:r>
              <a:rPr lang="en-US" dirty="0"/>
              <a:t>Optimized for </a:t>
            </a:r>
            <a:r>
              <a:rPr lang="en-US" b="1" dirty="0">
                <a:solidFill>
                  <a:srgbClr val="C00000"/>
                </a:solidFill>
              </a:rPr>
              <a:t>complex queries</a:t>
            </a:r>
            <a:r>
              <a:rPr lang="en-US" dirty="0"/>
              <a:t>, </a:t>
            </a:r>
            <a:r>
              <a:rPr lang="en-US" b="1" dirty="0">
                <a:solidFill>
                  <a:srgbClr val="C00000"/>
                </a:solidFill>
              </a:rPr>
              <a:t>data aggregation </a:t>
            </a:r>
            <a:r>
              <a:rPr lang="en-US" dirty="0"/>
              <a:t>and </a:t>
            </a:r>
            <a:r>
              <a:rPr lang="en-US" b="1" dirty="0">
                <a:solidFill>
                  <a:srgbClr val="C00000"/>
                </a:solidFill>
              </a:rPr>
              <a:t>large-scale reporting.</a:t>
            </a:r>
          </a:p>
          <a:p>
            <a:r>
              <a:rPr lang="en-US" dirty="0"/>
              <a:t>Focuses on </a:t>
            </a:r>
            <a:r>
              <a:rPr lang="en-US" b="1" dirty="0">
                <a:solidFill>
                  <a:srgbClr val="C00000"/>
                </a:solidFill>
              </a:rPr>
              <a:t>historical data and trends</a:t>
            </a:r>
            <a:r>
              <a:rPr lang="en-US" dirty="0"/>
              <a:t>.</a:t>
            </a:r>
          </a:p>
          <a:p>
            <a:r>
              <a:rPr lang="en-US" dirty="0"/>
              <a:t>A consolidated/integrated view of corporate data drawn from disparate operational data sources and a range of end-user access tools capable of supporting simple to highly complex queries to support decision making.</a:t>
            </a:r>
            <a:endParaRPr lang="en-MY" sz="3200" dirty="0"/>
          </a:p>
        </p:txBody>
      </p:sp>
      <p:sp>
        <p:nvSpPr>
          <p:cNvPr id="4" name="Date Placeholder 3"/>
          <p:cNvSpPr>
            <a:spLocks noGrp="1"/>
          </p:cNvSpPr>
          <p:nvPr>
            <p:ph type="dt" sz="half" idx="10"/>
          </p:nvPr>
        </p:nvSpPr>
        <p:spPr/>
        <p:txBody>
          <a:bodyPr/>
          <a:lstStyle/>
          <a:p>
            <a:pPr>
              <a:defRPr/>
            </a:pPr>
            <a:fld id="{AF9E9C88-C25D-4126-9581-9A50208BFAC4}" type="datetime1">
              <a:rPr lang="en-US" smtClean="0"/>
              <a:t>12/27/2024</a:t>
            </a:fld>
            <a:endParaRPr lang="en-US"/>
          </a:p>
        </p:txBody>
      </p:sp>
      <p:sp>
        <p:nvSpPr>
          <p:cNvPr id="5" name="Slide Number Placeholder 4"/>
          <p:cNvSpPr>
            <a:spLocks noGrp="1"/>
          </p:cNvSpPr>
          <p:nvPr>
            <p:ph type="sldNum" sz="quarter" idx="12"/>
          </p:nvPr>
        </p:nvSpPr>
        <p:spPr/>
        <p:txBody>
          <a:bodyPr/>
          <a:lstStyle/>
          <a:p>
            <a:pPr>
              <a:defRPr/>
            </a:pPr>
            <a:fld id="{4AEEF2DB-3D68-4EFF-B92B-90C34555BE45}" type="slidenum">
              <a:rPr lang="en-US" smtClean="0"/>
              <a:t>10</a:t>
            </a:fld>
            <a:endParaRPr lang="en-US" dirty="0"/>
          </a:p>
        </p:txBody>
      </p:sp>
    </p:spTree>
    <p:extLst>
      <p:ext uri="{BB962C8B-B14F-4D97-AF65-F5344CB8AC3E}">
        <p14:creationId xmlns:p14="http://schemas.microsoft.com/office/powerpoint/2010/main" val="10472443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1249" y="704671"/>
            <a:ext cx="9673214" cy="609579"/>
          </a:xfrm>
        </p:spPr>
        <p:txBody>
          <a:bodyPr>
            <a:noAutofit/>
          </a:bodyPr>
          <a:lstStyle/>
          <a:p>
            <a:r>
              <a:rPr lang="en-MY" sz="3800" b="1" dirty="0">
                <a:solidFill>
                  <a:schemeClr val="accent6"/>
                </a:solidFill>
              </a:rPr>
              <a:t>Architecture Components of a Data Warehouse</a:t>
            </a:r>
          </a:p>
        </p:txBody>
      </p:sp>
      <p:sp>
        <p:nvSpPr>
          <p:cNvPr id="3" name="Content Placeholder 2"/>
          <p:cNvSpPr>
            <a:spLocks noGrp="1"/>
          </p:cNvSpPr>
          <p:nvPr>
            <p:ph idx="1"/>
          </p:nvPr>
        </p:nvSpPr>
        <p:spPr>
          <a:xfrm>
            <a:off x="601249" y="1851718"/>
            <a:ext cx="10752551" cy="4687194"/>
          </a:xfrm>
        </p:spPr>
        <p:txBody>
          <a:bodyPr/>
          <a:lstStyle/>
          <a:p>
            <a:r>
              <a:rPr lang="en-US" b="1" dirty="0">
                <a:solidFill>
                  <a:srgbClr val="C00000"/>
                </a:solidFill>
              </a:rPr>
              <a:t>Data Sources: </a:t>
            </a:r>
            <a:r>
              <a:rPr lang="en-US" dirty="0"/>
              <a:t>Include internal databases (OLTP systems), external data sources, and other data feeds.</a:t>
            </a:r>
          </a:p>
          <a:p>
            <a:r>
              <a:rPr lang="en-US" b="1" dirty="0">
                <a:solidFill>
                  <a:srgbClr val="C00000"/>
                </a:solidFill>
              </a:rPr>
              <a:t>ETL (Extract, Transform, Load) Process:</a:t>
            </a:r>
            <a:r>
              <a:rPr lang="en-US" dirty="0">
                <a:solidFill>
                  <a:srgbClr val="C00000"/>
                </a:solidFill>
              </a:rPr>
              <a:t> </a:t>
            </a:r>
          </a:p>
          <a:p>
            <a:pPr lvl="1"/>
            <a:r>
              <a:rPr lang="en-US" dirty="0"/>
              <a:t>Extracts: Gather data from various sources, </a:t>
            </a:r>
          </a:p>
          <a:p>
            <a:pPr lvl="1"/>
            <a:r>
              <a:rPr lang="en-US" dirty="0"/>
              <a:t>Transform: Converts data into a usable format, ensuring consistency and accuracy.</a:t>
            </a:r>
          </a:p>
          <a:p>
            <a:pPr lvl="1"/>
            <a:r>
              <a:rPr lang="en-US" dirty="0"/>
              <a:t>Load: Loads transformed data into the data warehouse.</a:t>
            </a:r>
          </a:p>
          <a:p>
            <a:r>
              <a:rPr lang="en-US" b="1" dirty="0">
                <a:solidFill>
                  <a:srgbClr val="C00000"/>
                </a:solidFill>
              </a:rPr>
              <a:t>Data Storage:</a:t>
            </a:r>
            <a:r>
              <a:rPr lang="en-US" dirty="0">
                <a:solidFill>
                  <a:srgbClr val="C00000"/>
                </a:solidFill>
              </a:rPr>
              <a:t> </a:t>
            </a:r>
            <a:r>
              <a:rPr lang="en-US" dirty="0"/>
              <a:t>Centralized storage area for structured and unstructured data, often using a star or snowflake schema for organizing data.</a:t>
            </a:r>
          </a:p>
        </p:txBody>
      </p:sp>
      <p:sp>
        <p:nvSpPr>
          <p:cNvPr id="4" name="Date Placeholder 3"/>
          <p:cNvSpPr>
            <a:spLocks noGrp="1"/>
          </p:cNvSpPr>
          <p:nvPr>
            <p:ph type="dt" sz="half" idx="10"/>
          </p:nvPr>
        </p:nvSpPr>
        <p:spPr/>
        <p:txBody>
          <a:bodyPr/>
          <a:lstStyle/>
          <a:p>
            <a:pPr>
              <a:defRPr/>
            </a:pPr>
            <a:fld id="{AF9E9C88-C25D-4126-9581-9A50208BFAC4}" type="datetime1">
              <a:rPr lang="en-US" smtClean="0"/>
              <a:t>12/27/2024</a:t>
            </a:fld>
            <a:endParaRPr lang="en-US"/>
          </a:p>
        </p:txBody>
      </p:sp>
      <p:sp>
        <p:nvSpPr>
          <p:cNvPr id="5" name="Slide Number Placeholder 4"/>
          <p:cNvSpPr>
            <a:spLocks noGrp="1"/>
          </p:cNvSpPr>
          <p:nvPr>
            <p:ph type="sldNum" sz="quarter" idx="12"/>
          </p:nvPr>
        </p:nvSpPr>
        <p:spPr/>
        <p:txBody>
          <a:bodyPr/>
          <a:lstStyle/>
          <a:p>
            <a:pPr>
              <a:defRPr/>
            </a:pPr>
            <a:fld id="{4AEEF2DB-3D68-4EFF-B92B-90C34555BE45}" type="slidenum">
              <a:rPr lang="en-US" smtClean="0"/>
              <a:t>11</a:t>
            </a:fld>
            <a:endParaRPr lang="en-US" dirty="0"/>
          </a:p>
        </p:txBody>
      </p:sp>
    </p:spTree>
    <p:extLst>
      <p:ext uri="{BB962C8B-B14F-4D97-AF65-F5344CB8AC3E}">
        <p14:creationId xmlns:p14="http://schemas.microsoft.com/office/powerpoint/2010/main" val="39429916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6509" y="808827"/>
            <a:ext cx="10872591" cy="1157759"/>
          </a:xfrm>
        </p:spPr>
        <p:txBody>
          <a:bodyPr>
            <a:normAutofit fontScale="90000"/>
          </a:bodyPr>
          <a:lstStyle/>
          <a:p>
            <a:pPr algn="l"/>
            <a:r>
              <a:rPr lang="en-MY" b="1" dirty="0">
                <a:solidFill>
                  <a:schemeClr val="accent6"/>
                </a:solidFill>
              </a:rPr>
              <a:t>Architecture Components of a Data Warehouse (cont.)</a:t>
            </a:r>
          </a:p>
        </p:txBody>
      </p:sp>
      <p:sp>
        <p:nvSpPr>
          <p:cNvPr id="3" name="Content Placeholder 2"/>
          <p:cNvSpPr>
            <a:spLocks noGrp="1"/>
          </p:cNvSpPr>
          <p:nvPr>
            <p:ph idx="1"/>
          </p:nvPr>
        </p:nvSpPr>
        <p:spPr>
          <a:xfrm>
            <a:off x="726510" y="2228650"/>
            <a:ext cx="10972799" cy="3034152"/>
          </a:xfrm>
        </p:spPr>
        <p:txBody>
          <a:bodyPr>
            <a:normAutofit/>
          </a:bodyPr>
          <a:lstStyle/>
          <a:p>
            <a:pPr>
              <a:lnSpc>
                <a:spcPct val="100000"/>
              </a:lnSpc>
            </a:pPr>
            <a:r>
              <a:rPr lang="en-US" b="1" dirty="0">
                <a:solidFill>
                  <a:srgbClr val="C00000"/>
                </a:solidFill>
              </a:rPr>
              <a:t>Data Marts:</a:t>
            </a:r>
            <a:r>
              <a:rPr lang="en-US" dirty="0">
                <a:solidFill>
                  <a:srgbClr val="C00000"/>
                </a:solidFill>
              </a:rPr>
              <a:t> </a:t>
            </a:r>
            <a:r>
              <a:rPr lang="en-US" dirty="0"/>
              <a:t>Subsets of the data warehouse, optimized for specific departments or business functions.</a:t>
            </a:r>
          </a:p>
          <a:p>
            <a:pPr>
              <a:lnSpc>
                <a:spcPct val="100000"/>
              </a:lnSpc>
            </a:pPr>
            <a:r>
              <a:rPr lang="en-US" b="1" dirty="0">
                <a:solidFill>
                  <a:srgbClr val="C00000"/>
                </a:solidFill>
              </a:rPr>
              <a:t>Metadata Management:</a:t>
            </a:r>
            <a:r>
              <a:rPr lang="en-US" dirty="0">
                <a:solidFill>
                  <a:srgbClr val="C00000"/>
                </a:solidFill>
              </a:rPr>
              <a:t> </a:t>
            </a:r>
            <a:r>
              <a:rPr lang="en-US" dirty="0"/>
              <a:t>Manages metadata, which describes the structure, operations, and contents of the data warehouse.</a:t>
            </a:r>
          </a:p>
          <a:p>
            <a:pPr>
              <a:lnSpc>
                <a:spcPct val="100000"/>
              </a:lnSpc>
            </a:pPr>
            <a:r>
              <a:rPr lang="en-US" b="1" dirty="0">
                <a:solidFill>
                  <a:srgbClr val="C00000"/>
                </a:solidFill>
              </a:rPr>
              <a:t>Data Access Tools:</a:t>
            </a:r>
            <a:r>
              <a:rPr lang="en-US" dirty="0">
                <a:solidFill>
                  <a:srgbClr val="C00000"/>
                </a:solidFill>
              </a:rPr>
              <a:t> </a:t>
            </a:r>
            <a:r>
              <a:rPr lang="en-US" dirty="0"/>
              <a:t>Include reporting, analysis, data mining, and visualization tools for end-users.</a:t>
            </a:r>
          </a:p>
        </p:txBody>
      </p:sp>
      <p:sp>
        <p:nvSpPr>
          <p:cNvPr id="4" name="Date Placeholder 3"/>
          <p:cNvSpPr>
            <a:spLocks noGrp="1"/>
          </p:cNvSpPr>
          <p:nvPr>
            <p:ph type="dt" sz="half" idx="10"/>
          </p:nvPr>
        </p:nvSpPr>
        <p:spPr/>
        <p:txBody>
          <a:bodyPr/>
          <a:lstStyle/>
          <a:p>
            <a:pPr>
              <a:defRPr/>
            </a:pPr>
            <a:fld id="{AF9E9C88-C25D-4126-9581-9A50208BFAC4}" type="datetime1">
              <a:rPr lang="en-US" smtClean="0"/>
              <a:t>12/27/2024</a:t>
            </a:fld>
            <a:endParaRPr lang="en-US"/>
          </a:p>
        </p:txBody>
      </p:sp>
      <p:sp>
        <p:nvSpPr>
          <p:cNvPr id="5" name="Slide Number Placeholder 4"/>
          <p:cNvSpPr>
            <a:spLocks noGrp="1"/>
          </p:cNvSpPr>
          <p:nvPr>
            <p:ph type="sldNum" sz="quarter" idx="12"/>
          </p:nvPr>
        </p:nvSpPr>
        <p:spPr/>
        <p:txBody>
          <a:bodyPr/>
          <a:lstStyle/>
          <a:p>
            <a:pPr>
              <a:defRPr/>
            </a:pPr>
            <a:fld id="{4AEEF2DB-3D68-4EFF-B92B-90C34555BE45}" type="slidenum">
              <a:rPr lang="en-US" smtClean="0"/>
              <a:t>12</a:t>
            </a:fld>
            <a:endParaRPr lang="en-US" dirty="0"/>
          </a:p>
        </p:txBody>
      </p:sp>
    </p:spTree>
    <p:extLst>
      <p:ext uri="{BB962C8B-B14F-4D97-AF65-F5344CB8AC3E}">
        <p14:creationId xmlns:p14="http://schemas.microsoft.com/office/powerpoint/2010/main" val="29971673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0625" y="183743"/>
            <a:ext cx="7590773" cy="1325563"/>
          </a:xfrm>
        </p:spPr>
        <p:txBody>
          <a:bodyPr/>
          <a:lstStyle/>
          <a:p>
            <a:r>
              <a:rPr lang="en-MY" b="1" dirty="0">
                <a:solidFill>
                  <a:schemeClr val="accent6"/>
                </a:solidFill>
              </a:rPr>
              <a:t>Data Warehouse Architecture</a:t>
            </a:r>
          </a:p>
        </p:txBody>
      </p:sp>
      <p:sp>
        <p:nvSpPr>
          <p:cNvPr id="4" name="Date Placeholder 3"/>
          <p:cNvSpPr>
            <a:spLocks noGrp="1"/>
          </p:cNvSpPr>
          <p:nvPr>
            <p:ph type="dt" sz="half" idx="10"/>
          </p:nvPr>
        </p:nvSpPr>
        <p:spPr/>
        <p:txBody>
          <a:bodyPr/>
          <a:lstStyle/>
          <a:p>
            <a:pPr>
              <a:defRPr/>
            </a:pPr>
            <a:fld id="{1D2002C9-4C8D-4DE1-A559-7A58CCE52D3B}" type="datetime1">
              <a:rPr lang="en-US" smtClean="0"/>
              <a:t>12/27/2024</a:t>
            </a:fld>
            <a:endParaRPr lang="en-US"/>
          </a:p>
        </p:txBody>
      </p:sp>
      <p:sp>
        <p:nvSpPr>
          <p:cNvPr id="5" name="Slide Number Placeholder 4"/>
          <p:cNvSpPr>
            <a:spLocks noGrp="1"/>
          </p:cNvSpPr>
          <p:nvPr>
            <p:ph type="sldNum" sz="quarter" idx="12"/>
          </p:nvPr>
        </p:nvSpPr>
        <p:spPr/>
        <p:txBody>
          <a:bodyPr/>
          <a:lstStyle/>
          <a:p>
            <a:pPr>
              <a:defRPr/>
            </a:pPr>
            <a:fld id="{4AEEF2DB-3D68-4EFF-B92B-90C34555BE45}" type="slidenum">
              <a:rPr lang="en-US" smtClean="0"/>
              <a:t>13</a:t>
            </a:fld>
            <a:endParaRPr lang="en-US" dirty="0"/>
          </a:p>
        </p:txBody>
      </p:sp>
      <p:pic>
        <p:nvPicPr>
          <p:cNvPr id="7" name="Picture 6"/>
          <p:cNvPicPr>
            <a:picLocks noChangeAspect="1"/>
          </p:cNvPicPr>
          <p:nvPr/>
        </p:nvPicPr>
        <p:blipFill>
          <a:blip r:embed="rId2"/>
          <a:srcRect t="2267"/>
          <a:stretch/>
        </p:blipFill>
        <p:spPr>
          <a:xfrm>
            <a:off x="2746841" y="1400175"/>
            <a:ext cx="6698318" cy="4693197"/>
          </a:xfrm>
          <a:prstGeom prst="rect">
            <a:avLst/>
          </a:prstGeom>
        </p:spPr>
      </p:pic>
      <p:sp>
        <p:nvSpPr>
          <p:cNvPr id="8" name="TextBox 7"/>
          <p:cNvSpPr txBox="1"/>
          <p:nvPr/>
        </p:nvSpPr>
        <p:spPr>
          <a:xfrm>
            <a:off x="3916012" y="6090721"/>
            <a:ext cx="4435638" cy="369332"/>
          </a:xfrm>
          <a:prstGeom prst="rect">
            <a:avLst/>
          </a:prstGeom>
          <a:noFill/>
        </p:spPr>
        <p:txBody>
          <a:bodyPr wrap="none" rtlCol="0">
            <a:spAutoFit/>
          </a:bodyPr>
          <a:lstStyle/>
          <a:p>
            <a:r>
              <a:rPr lang="en-MY" b="1" dirty="0"/>
              <a:t>The typical architecture of a data warehouse</a:t>
            </a:r>
          </a:p>
        </p:txBody>
      </p:sp>
    </p:spTree>
    <p:extLst>
      <p:ext uri="{BB962C8B-B14F-4D97-AF65-F5344CB8AC3E}">
        <p14:creationId xmlns:p14="http://schemas.microsoft.com/office/powerpoint/2010/main" val="1809077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8827" y="428267"/>
            <a:ext cx="8968636" cy="927100"/>
          </a:xfrm>
        </p:spPr>
        <p:txBody>
          <a:bodyPr>
            <a:normAutofit fontScale="90000"/>
          </a:bodyPr>
          <a:lstStyle/>
          <a:p>
            <a:r>
              <a:rPr lang="en-MY" b="1" dirty="0">
                <a:solidFill>
                  <a:schemeClr val="accent6"/>
                </a:solidFill>
              </a:rPr>
              <a:t>Multi-Tiered Architecture of Data Warehouse</a:t>
            </a:r>
          </a:p>
        </p:txBody>
      </p:sp>
      <p:sp>
        <p:nvSpPr>
          <p:cNvPr id="4" name="Date Placeholder 3"/>
          <p:cNvSpPr>
            <a:spLocks noGrp="1"/>
          </p:cNvSpPr>
          <p:nvPr>
            <p:ph type="dt" sz="half" idx="10"/>
          </p:nvPr>
        </p:nvSpPr>
        <p:spPr/>
        <p:txBody>
          <a:bodyPr/>
          <a:lstStyle/>
          <a:p>
            <a:pPr>
              <a:defRPr/>
            </a:pPr>
            <a:fld id="{1D2002C9-4C8D-4DE1-A559-7A58CCE52D3B}" type="datetime1">
              <a:rPr lang="en-US" smtClean="0"/>
              <a:t>12/27/2024</a:t>
            </a:fld>
            <a:endParaRPr lang="en-US"/>
          </a:p>
        </p:txBody>
      </p:sp>
      <p:sp>
        <p:nvSpPr>
          <p:cNvPr id="5" name="Slide Number Placeholder 4"/>
          <p:cNvSpPr>
            <a:spLocks noGrp="1"/>
          </p:cNvSpPr>
          <p:nvPr>
            <p:ph type="sldNum" sz="quarter" idx="12"/>
          </p:nvPr>
        </p:nvSpPr>
        <p:spPr/>
        <p:txBody>
          <a:bodyPr/>
          <a:lstStyle/>
          <a:p>
            <a:pPr>
              <a:defRPr/>
            </a:pPr>
            <a:fld id="{4AEEF2DB-3D68-4EFF-B92B-90C34555BE45}" type="slidenum">
              <a:rPr lang="en-US" smtClean="0"/>
              <a:t>14</a:t>
            </a:fld>
            <a:endParaRPr lang="en-US" dirty="0"/>
          </a:p>
        </p:txBody>
      </p:sp>
      <p:pic>
        <p:nvPicPr>
          <p:cNvPr id="9" name="Picture 8">
            <a:extLst>
              <a:ext uri="{FF2B5EF4-FFF2-40B4-BE49-F238E27FC236}">
                <a16:creationId xmlns:a16="http://schemas.microsoft.com/office/drawing/2014/main" id="{50A091A4-0335-E210-2FD2-29019CB226D3}"/>
              </a:ext>
            </a:extLst>
          </p:cNvPr>
          <p:cNvPicPr>
            <a:picLocks noChangeAspect="1"/>
          </p:cNvPicPr>
          <p:nvPr/>
        </p:nvPicPr>
        <p:blipFill>
          <a:blip r:embed="rId2"/>
          <a:stretch>
            <a:fillRect/>
          </a:stretch>
        </p:blipFill>
        <p:spPr>
          <a:xfrm>
            <a:off x="1590805" y="1117484"/>
            <a:ext cx="9219156" cy="5238866"/>
          </a:xfrm>
          <a:prstGeom prst="rect">
            <a:avLst/>
          </a:prstGeom>
        </p:spPr>
      </p:pic>
    </p:spTree>
    <p:extLst>
      <p:ext uri="{BB962C8B-B14F-4D97-AF65-F5344CB8AC3E}">
        <p14:creationId xmlns:p14="http://schemas.microsoft.com/office/powerpoint/2010/main" val="37815091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AD57C9-7D42-4F2B-0708-1917B52E71BF}"/>
              </a:ext>
            </a:extLst>
          </p:cNvPr>
          <p:cNvSpPr>
            <a:spLocks noGrp="1"/>
          </p:cNvSpPr>
          <p:nvPr>
            <p:ph type="title"/>
          </p:nvPr>
        </p:nvSpPr>
        <p:spPr>
          <a:xfrm>
            <a:off x="601249" y="428136"/>
            <a:ext cx="6237242" cy="708489"/>
          </a:xfrm>
        </p:spPr>
        <p:txBody>
          <a:bodyPr>
            <a:normAutofit/>
          </a:bodyPr>
          <a:lstStyle/>
          <a:p>
            <a:r>
              <a:rPr lang="en-US" b="1" dirty="0">
                <a:solidFill>
                  <a:schemeClr val="accent6"/>
                </a:solidFill>
              </a:rPr>
              <a:t>Designing a Data Warehouse</a:t>
            </a:r>
            <a:endParaRPr lang="en-MY" b="1" dirty="0">
              <a:solidFill>
                <a:schemeClr val="accent6"/>
              </a:solidFill>
            </a:endParaRPr>
          </a:p>
        </p:txBody>
      </p:sp>
      <p:sp>
        <p:nvSpPr>
          <p:cNvPr id="3" name="Content Placeholder 2">
            <a:extLst>
              <a:ext uri="{FF2B5EF4-FFF2-40B4-BE49-F238E27FC236}">
                <a16:creationId xmlns:a16="http://schemas.microsoft.com/office/drawing/2014/main" id="{0B9C3A7B-9D71-7863-340C-E7DBC34D934F}"/>
              </a:ext>
            </a:extLst>
          </p:cNvPr>
          <p:cNvSpPr>
            <a:spLocks noGrp="1"/>
          </p:cNvSpPr>
          <p:nvPr>
            <p:ph idx="1"/>
          </p:nvPr>
        </p:nvSpPr>
        <p:spPr>
          <a:xfrm>
            <a:off x="838200" y="1460258"/>
            <a:ext cx="10660692" cy="4896092"/>
          </a:xfrm>
        </p:spPr>
        <p:txBody>
          <a:bodyPr>
            <a:normAutofit lnSpcReduction="10000"/>
          </a:bodyPr>
          <a:lstStyle/>
          <a:p>
            <a:r>
              <a:rPr lang="en-US" b="1" dirty="0">
                <a:solidFill>
                  <a:srgbClr val="C00000"/>
                </a:solidFill>
              </a:rPr>
              <a:t>Bottom-Up Approach</a:t>
            </a:r>
          </a:p>
          <a:p>
            <a:endParaRPr lang="en-US" b="1" dirty="0"/>
          </a:p>
          <a:p>
            <a:endParaRPr lang="en-US" b="1" dirty="0"/>
          </a:p>
          <a:p>
            <a:endParaRPr lang="en-US" b="1" dirty="0"/>
          </a:p>
          <a:p>
            <a:endParaRPr lang="en-US" b="1" dirty="0"/>
          </a:p>
          <a:p>
            <a:endParaRPr lang="en-US" b="1" dirty="0"/>
          </a:p>
          <a:p>
            <a:endParaRPr lang="en-US" b="1" dirty="0"/>
          </a:p>
          <a:p>
            <a:r>
              <a:rPr lang="en-US" dirty="0"/>
              <a:t>The </a:t>
            </a:r>
            <a:r>
              <a:rPr lang="en-US" b="1" dirty="0">
                <a:solidFill>
                  <a:srgbClr val="C00000"/>
                </a:solidFill>
              </a:rPr>
              <a:t>Bottom-Up Approach </a:t>
            </a:r>
            <a:r>
              <a:rPr lang="en-US" dirty="0"/>
              <a:t>creating small data marts, to solve specific business problems.</a:t>
            </a:r>
          </a:p>
          <a:p>
            <a:r>
              <a:rPr lang="en-US" dirty="0"/>
              <a:t>As these data marts can be combined into a larger data warehouse.</a:t>
            </a:r>
            <a:endParaRPr lang="en-MY" dirty="0"/>
          </a:p>
        </p:txBody>
      </p:sp>
      <p:sp>
        <p:nvSpPr>
          <p:cNvPr id="4" name="Date Placeholder 3">
            <a:extLst>
              <a:ext uri="{FF2B5EF4-FFF2-40B4-BE49-F238E27FC236}">
                <a16:creationId xmlns:a16="http://schemas.microsoft.com/office/drawing/2014/main" id="{5EF31190-3E55-101B-2906-FB2617DBC27A}"/>
              </a:ext>
            </a:extLst>
          </p:cNvPr>
          <p:cNvSpPr>
            <a:spLocks noGrp="1"/>
          </p:cNvSpPr>
          <p:nvPr>
            <p:ph type="dt" sz="half" idx="10"/>
          </p:nvPr>
        </p:nvSpPr>
        <p:spPr/>
        <p:txBody>
          <a:bodyPr/>
          <a:lstStyle/>
          <a:p>
            <a:pPr>
              <a:defRPr/>
            </a:pPr>
            <a:fld id="{DDA07878-072F-4F95-8AF2-003920565BB0}" type="datetime1">
              <a:rPr lang="en-US" smtClean="0"/>
              <a:t>12/27/2024</a:t>
            </a:fld>
            <a:endParaRPr lang="en-US"/>
          </a:p>
        </p:txBody>
      </p:sp>
      <p:sp>
        <p:nvSpPr>
          <p:cNvPr id="5" name="Slide Number Placeholder 4">
            <a:extLst>
              <a:ext uri="{FF2B5EF4-FFF2-40B4-BE49-F238E27FC236}">
                <a16:creationId xmlns:a16="http://schemas.microsoft.com/office/drawing/2014/main" id="{221496CB-2C76-E1B6-74F6-E9C9E8734E54}"/>
              </a:ext>
            </a:extLst>
          </p:cNvPr>
          <p:cNvSpPr>
            <a:spLocks noGrp="1"/>
          </p:cNvSpPr>
          <p:nvPr>
            <p:ph type="sldNum" sz="quarter" idx="12"/>
          </p:nvPr>
        </p:nvSpPr>
        <p:spPr/>
        <p:txBody>
          <a:bodyPr/>
          <a:lstStyle/>
          <a:p>
            <a:pPr>
              <a:defRPr/>
            </a:pPr>
            <a:fld id="{4AEEF2DB-3D68-4EFF-B92B-90C34555BE45}" type="slidenum">
              <a:rPr lang="en-US" smtClean="0"/>
              <a:t>15</a:t>
            </a:fld>
            <a:endParaRPr lang="en-US" dirty="0"/>
          </a:p>
        </p:txBody>
      </p:sp>
      <p:pic>
        <p:nvPicPr>
          <p:cNvPr id="8" name="Picture 7">
            <a:extLst>
              <a:ext uri="{FF2B5EF4-FFF2-40B4-BE49-F238E27FC236}">
                <a16:creationId xmlns:a16="http://schemas.microsoft.com/office/drawing/2014/main" id="{D94FE5A7-ECFE-875D-0D39-C74C50860ECB}"/>
              </a:ext>
            </a:extLst>
          </p:cNvPr>
          <p:cNvPicPr>
            <a:picLocks noChangeAspect="1"/>
          </p:cNvPicPr>
          <p:nvPr/>
        </p:nvPicPr>
        <p:blipFill>
          <a:blip r:embed="rId2"/>
          <a:stretch>
            <a:fillRect/>
          </a:stretch>
        </p:blipFill>
        <p:spPr>
          <a:xfrm>
            <a:off x="2486025" y="2213644"/>
            <a:ext cx="7496175" cy="2181225"/>
          </a:xfrm>
          <a:prstGeom prst="rect">
            <a:avLst/>
          </a:prstGeom>
        </p:spPr>
      </p:pic>
    </p:spTree>
    <p:extLst>
      <p:ext uri="{BB962C8B-B14F-4D97-AF65-F5344CB8AC3E}">
        <p14:creationId xmlns:p14="http://schemas.microsoft.com/office/powerpoint/2010/main" val="3646954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AD57C9-7D42-4F2B-0708-1917B52E71BF}"/>
              </a:ext>
            </a:extLst>
          </p:cNvPr>
          <p:cNvSpPr>
            <a:spLocks noGrp="1"/>
          </p:cNvSpPr>
          <p:nvPr>
            <p:ph type="title"/>
          </p:nvPr>
        </p:nvSpPr>
        <p:spPr>
          <a:xfrm>
            <a:off x="838200" y="412509"/>
            <a:ext cx="5975239" cy="708489"/>
          </a:xfrm>
        </p:spPr>
        <p:txBody>
          <a:bodyPr>
            <a:normAutofit fontScale="90000"/>
          </a:bodyPr>
          <a:lstStyle/>
          <a:p>
            <a:r>
              <a:rPr lang="en-US" b="1" dirty="0">
                <a:solidFill>
                  <a:schemeClr val="accent6"/>
                </a:solidFill>
              </a:rPr>
              <a:t>Designing a Data Warehouse</a:t>
            </a:r>
            <a:endParaRPr lang="en-MY" b="1" dirty="0">
              <a:solidFill>
                <a:schemeClr val="accent6"/>
              </a:solidFill>
            </a:endParaRPr>
          </a:p>
        </p:txBody>
      </p:sp>
      <p:sp>
        <p:nvSpPr>
          <p:cNvPr id="3" name="Content Placeholder 2">
            <a:extLst>
              <a:ext uri="{FF2B5EF4-FFF2-40B4-BE49-F238E27FC236}">
                <a16:creationId xmlns:a16="http://schemas.microsoft.com/office/drawing/2014/main" id="{0B9C3A7B-9D71-7863-340C-E7DBC34D934F}"/>
              </a:ext>
            </a:extLst>
          </p:cNvPr>
          <p:cNvSpPr>
            <a:spLocks noGrp="1"/>
          </p:cNvSpPr>
          <p:nvPr>
            <p:ph idx="1"/>
          </p:nvPr>
        </p:nvSpPr>
        <p:spPr>
          <a:xfrm>
            <a:off x="838200" y="1290180"/>
            <a:ext cx="10515599" cy="4972833"/>
          </a:xfrm>
        </p:spPr>
        <p:txBody>
          <a:bodyPr>
            <a:normAutofit/>
          </a:bodyPr>
          <a:lstStyle/>
          <a:p>
            <a:r>
              <a:rPr lang="en-US" b="1" dirty="0">
                <a:solidFill>
                  <a:srgbClr val="C00000"/>
                </a:solidFill>
              </a:rPr>
              <a:t>Top-Down Approach</a:t>
            </a:r>
          </a:p>
          <a:p>
            <a:endParaRPr lang="en-US" b="1" dirty="0"/>
          </a:p>
          <a:p>
            <a:endParaRPr lang="en-US" b="1" dirty="0"/>
          </a:p>
          <a:p>
            <a:endParaRPr lang="en-US" b="1" dirty="0"/>
          </a:p>
          <a:p>
            <a:endParaRPr lang="en-US" b="1" dirty="0"/>
          </a:p>
          <a:p>
            <a:endParaRPr lang="en-US" b="1" dirty="0"/>
          </a:p>
          <a:p>
            <a:endParaRPr lang="en-US" b="1" dirty="0"/>
          </a:p>
          <a:p>
            <a:pPr>
              <a:lnSpc>
                <a:spcPct val="100000"/>
              </a:lnSpc>
            </a:pPr>
            <a:r>
              <a:rPr lang="en-US" dirty="0"/>
              <a:t>The </a:t>
            </a:r>
            <a:r>
              <a:rPr lang="en-US" b="1" dirty="0">
                <a:solidFill>
                  <a:srgbClr val="C00000"/>
                </a:solidFill>
              </a:rPr>
              <a:t>Top-Down Approach </a:t>
            </a:r>
            <a:r>
              <a:rPr lang="en-US" dirty="0"/>
              <a:t>suggests that start by creating an enterprise-wide data warehouse and then, as specific business needs are identified, create smaller data marts.</a:t>
            </a:r>
            <a:endParaRPr lang="en-MY" dirty="0"/>
          </a:p>
        </p:txBody>
      </p:sp>
      <p:sp>
        <p:nvSpPr>
          <p:cNvPr id="4" name="Date Placeholder 3">
            <a:extLst>
              <a:ext uri="{FF2B5EF4-FFF2-40B4-BE49-F238E27FC236}">
                <a16:creationId xmlns:a16="http://schemas.microsoft.com/office/drawing/2014/main" id="{5EF31190-3E55-101B-2906-FB2617DBC27A}"/>
              </a:ext>
            </a:extLst>
          </p:cNvPr>
          <p:cNvSpPr>
            <a:spLocks noGrp="1"/>
          </p:cNvSpPr>
          <p:nvPr>
            <p:ph type="dt" sz="half" idx="10"/>
          </p:nvPr>
        </p:nvSpPr>
        <p:spPr/>
        <p:txBody>
          <a:bodyPr/>
          <a:lstStyle/>
          <a:p>
            <a:pPr>
              <a:defRPr/>
            </a:pPr>
            <a:fld id="{DDA07878-072F-4F95-8AF2-003920565BB0}" type="datetime1">
              <a:rPr lang="en-US" smtClean="0"/>
              <a:t>12/27/2024</a:t>
            </a:fld>
            <a:endParaRPr lang="en-US"/>
          </a:p>
        </p:txBody>
      </p:sp>
      <p:sp>
        <p:nvSpPr>
          <p:cNvPr id="5" name="Slide Number Placeholder 4">
            <a:extLst>
              <a:ext uri="{FF2B5EF4-FFF2-40B4-BE49-F238E27FC236}">
                <a16:creationId xmlns:a16="http://schemas.microsoft.com/office/drawing/2014/main" id="{221496CB-2C76-E1B6-74F6-E9C9E8734E54}"/>
              </a:ext>
            </a:extLst>
          </p:cNvPr>
          <p:cNvSpPr>
            <a:spLocks noGrp="1"/>
          </p:cNvSpPr>
          <p:nvPr>
            <p:ph type="sldNum" sz="quarter" idx="12"/>
          </p:nvPr>
        </p:nvSpPr>
        <p:spPr/>
        <p:txBody>
          <a:bodyPr/>
          <a:lstStyle/>
          <a:p>
            <a:pPr>
              <a:defRPr/>
            </a:pPr>
            <a:fld id="{4AEEF2DB-3D68-4EFF-B92B-90C34555BE45}" type="slidenum">
              <a:rPr lang="en-US" smtClean="0"/>
              <a:t>16</a:t>
            </a:fld>
            <a:endParaRPr lang="en-US" dirty="0"/>
          </a:p>
        </p:txBody>
      </p:sp>
      <p:pic>
        <p:nvPicPr>
          <p:cNvPr id="7" name="Picture 6">
            <a:extLst>
              <a:ext uri="{FF2B5EF4-FFF2-40B4-BE49-F238E27FC236}">
                <a16:creationId xmlns:a16="http://schemas.microsoft.com/office/drawing/2014/main" id="{E5AAB6FA-2464-D14A-7BDF-DAB2633EE45F}"/>
              </a:ext>
            </a:extLst>
          </p:cNvPr>
          <p:cNvPicPr>
            <a:picLocks noChangeAspect="1"/>
          </p:cNvPicPr>
          <p:nvPr/>
        </p:nvPicPr>
        <p:blipFill>
          <a:blip r:embed="rId2"/>
          <a:stretch>
            <a:fillRect/>
          </a:stretch>
        </p:blipFill>
        <p:spPr>
          <a:xfrm>
            <a:off x="1285220" y="2088425"/>
            <a:ext cx="9914975" cy="2433470"/>
          </a:xfrm>
          <a:prstGeom prst="rect">
            <a:avLst/>
          </a:prstGeom>
        </p:spPr>
      </p:pic>
    </p:spTree>
    <p:extLst>
      <p:ext uri="{BB962C8B-B14F-4D97-AF65-F5344CB8AC3E}">
        <p14:creationId xmlns:p14="http://schemas.microsoft.com/office/powerpoint/2010/main" val="34541548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1249" y="545035"/>
            <a:ext cx="3358801" cy="927100"/>
          </a:xfrm>
        </p:spPr>
        <p:txBody>
          <a:bodyPr>
            <a:noAutofit/>
          </a:bodyPr>
          <a:lstStyle/>
          <a:p>
            <a:r>
              <a:rPr lang="en-GB" b="1" dirty="0">
                <a:solidFill>
                  <a:schemeClr val="accent6"/>
                </a:solidFill>
              </a:rPr>
              <a:t>Data Mart</a:t>
            </a:r>
            <a:endParaRPr lang="en-US" b="1" dirty="0">
              <a:solidFill>
                <a:schemeClr val="accent6"/>
              </a:solidFill>
            </a:endParaRPr>
          </a:p>
        </p:txBody>
      </p:sp>
      <p:sp>
        <p:nvSpPr>
          <p:cNvPr id="3" name="Text Placeholder 2"/>
          <p:cNvSpPr>
            <a:spLocks noGrp="1"/>
          </p:cNvSpPr>
          <p:nvPr>
            <p:ph type="body" idx="1"/>
          </p:nvPr>
        </p:nvSpPr>
        <p:spPr>
          <a:xfrm>
            <a:off x="601249" y="1600201"/>
            <a:ext cx="10897644" cy="4525963"/>
          </a:xfrm>
        </p:spPr>
        <p:txBody>
          <a:bodyPr>
            <a:normAutofit/>
          </a:bodyPr>
          <a:lstStyle/>
          <a:p>
            <a:pPr algn="just">
              <a:defRPr/>
            </a:pPr>
            <a:r>
              <a:rPr lang="en-GB" sz="3200" dirty="0"/>
              <a:t>A database that contains a </a:t>
            </a:r>
            <a:r>
              <a:rPr lang="en-GB" sz="3200" b="1" dirty="0">
                <a:solidFill>
                  <a:srgbClr val="C00000"/>
                </a:solidFill>
              </a:rPr>
              <a:t>subset of corporate data </a:t>
            </a:r>
            <a:r>
              <a:rPr lang="en-GB" sz="3200" dirty="0"/>
              <a:t>to support the </a:t>
            </a:r>
            <a:r>
              <a:rPr lang="en-GB" sz="3200" b="1" dirty="0">
                <a:solidFill>
                  <a:srgbClr val="C00000"/>
                </a:solidFill>
              </a:rPr>
              <a:t>analytical requirements </a:t>
            </a:r>
            <a:r>
              <a:rPr lang="en-GB" sz="3200" dirty="0"/>
              <a:t>of a particular business unit (such as the Sales department) or to support users who share the same requirements to analyse a particular business process (such as property sales).</a:t>
            </a:r>
          </a:p>
          <a:p>
            <a:pPr algn="just">
              <a:defRPr/>
            </a:pPr>
            <a:r>
              <a:rPr lang="en-US" sz="3200" b="1" dirty="0">
                <a:solidFill>
                  <a:srgbClr val="C00000"/>
                </a:solidFill>
              </a:rPr>
              <a:t>A smaller, more focused version </a:t>
            </a:r>
            <a:r>
              <a:rPr lang="en-US" sz="3200" dirty="0"/>
              <a:t>of a data warehouse tailored to specific business areas (e.g., sales, finance).</a:t>
            </a:r>
            <a:endParaRPr lang="en-GB" sz="3200" dirty="0"/>
          </a:p>
        </p:txBody>
      </p:sp>
    </p:spTree>
    <p:extLst>
      <p:ext uri="{BB962C8B-B14F-4D97-AF65-F5344CB8AC3E}">
        <p14:creationId xmlns:p14="http://schemas.microsoft.com/office/powerpoint/2010/main" val="19481393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GB" b="1" dirty="0">
                <a:solidFill>
                  <a:schemeClr val="accent6">
                    <a:lumMod val="75000"/>
                  </a:schemeClr>
                </a:solidFill>
              </a:rPr>
              <a:t>Reasons for Creating a Data Mart </a:t>
            </a:r>
            <a:endParaRPr lang="en-US" sz="2000" b="1" dirty="0">
              <a:solidFill>
                <a:schemeClr val="accent6">
                  <a:lumMod val="75000"/>
                </a:schemeClr>
              </a:solidFill>
            </a:endParaRPr>
          </a:p>
        </p:txBody>
      </p:sp>
      <p:sp>
        <p:nvSpPr>
          <p:cNvPr id="3" name="Text Placeholder 2"/>
          <p:cNvSpPr>
            <a:spLocks noGrp="1"/>
          </p:cNvSpPr>
          <p:nvPr>
            <p:ph type="body" idx="1"/>
          </p:nvPr>
        </p:nvSpPr>
        <p:spPr>
          <a:xfrm>
            <a:off x="594464" y="1825625"/>
            <a:ext cx="11003071" cy="4351338"/>
          </a:xfrm>
        </p:spPr>
        <p:txBody>
          <a:bodyPr/>
          <a:lstStyle/>
          <a:p>
            <a:pPr algn="just">
              <a:defRPr/>
            </a:pPr>
            <a:r>
              <a:rPr lang="en-US" b="1" dirty="0">
                <a:solidFill>
                  <a:srgbClr val="C00000"/>
                </a:solidFill>
              </a:rPr>
              <a:t>Improved Performance:</a:t>
            </a:r>
            <a:r>
              <a:rPr lang="en-US" dirty="0">
                <a:solidFill>
                  <a:srgbClr val="C00000"/>
                </a:solidFill>
              </a:rPr>
              <a:t> </a:t>
            </a:r>
            <a:r>
              <a:rPr lang="en-US" dirty="0"/>
              <a:t>Faster query response times for specific data sets.</a:t>
            </a:r>
          </a:p>
          <a:p>
            <a:pPr algn="just">
              <a:defRPr/>
            </a:pPr>
            <a:r>
              <a:rPr lang="en-US" b="1" dirty="0">
                <a:solidFill>
                  <a:srgbClr val="C00000"/>
                </a:solidFill>
              </a:rPr>
              <a:t>Cost Efficiency:</a:t>
            </a:r>
            <a:r>
              <a:rPr lang="en-US" dirty="0">
                <a:solidFill>
                  <a:srgbClr val="C00000"/>
                </a:solidFill>
              </a:rPr>
              <a:t> </a:t>
            </a:r>
            <a:r>
              <a:rPr lang="en-US" dirty="0"/>
              <a:t>Reduces storage and processing costs by focusing on specific data needs.</a:t>
            </a:r>
          </a:p>
          <a:p>
            <a:pPr algn="just">
              <a:defRPr/>
            </a:pPr>
            <a:r>
              <a:rPr lang="en-US" b="1" dirty="0">
                <a:solidFill>
                  <a:srgbClr val="C00000"/>
                </a:solidFill>
              </a:rPr>
              <a:t>Simplified Access:</a:t>
            </a:r>
            <a:r>
              <a:rPr lang="en-US" dirty="0">
                <a:solidFill>
                  <a:srgbClr val="C00000"/>
                </a:solidFill>
              </a:rPr>
              <a:t> </a:t>
            </a:r>
            <a:r>
              <a:rPr lang="en-US" dirty="0"/>
              <a:t>Makes data access easier and more relevant for end-users (</a:t>
            </a:r>
            <a:r>
              <a:rPr lang="en-GB" dirty="0"/>
              <a:t>give users access to the data they need to </a:t>
            </a:r>
            <a:r>
              <a:rPr lang="en-GB" dirty="0" err="1"/>
              <a:t>analyze</a:t>
            </a:r>
            <a:r>
              <a:rPr lang="en-GB" dirty="0"/>
              <a:t> most often).</a:t>
            </a:r>
          </a:p>
          <a:p>
            <a:pPr algn="just">
              <a:defRPr/>
            </a:pPr>
            <a:r>
              <a:rPr lang="en-US" b="1" dirty="0">
                <a:solidFill>
                  <a:srgbClr val="C00000"/>
                </a:solidFill>
              </a:rPr>
              <a:t>Customized data models </a:t>
            </a:r>
            <a:r>
              <a:rPr lang="en-US" dirty="0"/>
              <a:t>for specific business requirements (t</a:t>
            </a:r>
            <a:r>
              <a:rPr lang="en-GB" dirty="0"/>
              <a:t>o provide data in a form that matches the collective view of the data by a group of users in a department or business application area).</a:t>
            </a:r>
          </a:p>
        </p:txBody>
      </p:sp>
    </p:spTree>
    <p:extLst>
      <p:ext uri="{BB962C8B-B14F-4D97-AF65-F5344CB8AC3E}">
        <p14:creationId xmlns:p14="http://schemas.microsoft.com/office/powerpoint/2010/main" val="31880868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9180" y="429771"/>
            <a:ext cx="6544439" cy="927100"/>
          </a:xfrm>
        </p:spPr>
        <p:txBody>
          <a:bodyPr/>
          <a:lstStyle/>
          <a:p>
            <a:r>
              <a:rPr lang="en-US" b="1" dirty="0">
                <a:solidFill>
                  <a:schemeClr val="accent6">
                    <a:lumMod val="75000"/>
                  </a:schemeClr>
                </a:solidFill>
              </a:rPr>
              <a:t>Designing a Data Warehouse</a:t>
            </a:r>
            <a:endParaRPr lang="en-MY" b="1" dirty="0">
              <a:solidFill>
                <a:schemeClr val="accent6">
                  <a:lumMod val="75000"/>
                </a:schemeClr>
              </a:solidFill>
            </a:endParaRPr>
          </a:p>
        </p:txBody>
      </p:sp>
      <p:sp>
        <p:nvSpPr>
          <p:cNvPr id="3" name="Content Placeholder 2"/>
          <p:cNvSpPr>
            <a:spLocks noGrp="1"/>
          </p:cNvSpPr>
          <p:nvPr>
            <p:ph idx="1"/>
          </p:nvPr>
        </p:nvSpPr>
        <p:spPr>
          <a:xfrm>
            <a:off x="838200" y="1545558"/>
            <a:ext cx="10515600" cy="4622105"/>
          </a:xfrm>
        </p:spPr>
        <p:txBody>
          <a:bodyPr>
            <a:normAutofit fontScale="92500" lnSpcReduction="10000"/>
          </a:bodyPr>
          <a:lstStyle/>
          <a:p>
            <a:pPr marL="0" indent="0" algn="just">
              <a:lnSpc>
                <a:spcPct val="100000"/>
              </a:lnSpc>
              <a:buNone/>
            </a:pPr>
            <a:r>
              <a:rPr lang="en-MY" dirty="0"/>
              <a:t>Dimensionality </a:t>
            </a:r>
            <a:r>
              <a:rPr lang="en-MY" dirty="0" err="1"/>
              <a:t>Modeling</a:t>
            </a:r>
            <a:r>
              <a:rPr lang="en-MY" dirty="0"/>
              <a:t>:</a:t>
            </a:r>
          </a:p>
          <a:p>
            <a:pPr algn="just">
              <a:lnSpc>
                <a:spcPct val="100000"/>
              </a:lnSpc>
            </a:pPr>
            <a:r>
              <a:rPr lang="en-US" dirty="0"/>
              <a:t>A </a:t>
            </a:r>
            <a:r>
              <a:rPr lang="en-US" b="1" dirty="0">
                <a:solidFill>
                  <a:srgbClr val="C00000"/>
                </a:solidFill>
              </a:rPr>
              <a:t>logical design technique </a:t>
            </a:r>
            <a:r>
              <a:rPr lang="en-US" dirty="0"/>
              <a:t>that aims to present the data in a standard, intuitive form that allows for high-performance </a:t>
            </a:r>
            <a:r>
              <a:rPr lang="en-MY" dirty="0"/>
              <a:t>access.</a:t>
            </a:r>
          </a:p>
          <a:p>
            <a:pPr algn="just">
              <a:lnSpc>
                <a:spcPct val="100000"/>
              </a:lnSpc>
            </a:pPr>
            <a:r>
              <a:rPr lang="en-MY" dirty="0"/>
              <a:t>Two types in general:</a:t>
            </a:r>
          </a:p>
          <a:p>
            <a:pPr lvl="1" algn="just">
              <a:lnSpc>
                <a:spcPct val="100000"/>
              </a:lnSpc>
            </a:pPr>
            <a:r>
              <a:rPr lang="en-MY" dirty="0"/>
              <a:t>Star schema</a:t>
            </a:r>
          </a:p>
          <a:p>
            <a:pPr lvl="1" algn="just">
              <a:lnSpc>
                <a:spcPct val="100000"/>
              </a:lnSpc>
            </a:pPr>
            <a:r>
              <a:rPr lang="en-MY" dirty="0"/>
              <a:t>Snowflake schema</a:t>
            </a:r>
          </a:p>
          <a:p>
            <a:pPr algn="just">
              <a:lnSpc>
                <a:spcPct val="100000"/>
              </a:lnSpc>
            </a:pPr>
            <a:r>
              <a:rPr lang="en-MY" b="1" dirty="0">
                <a:solidFill>
                  <a:srgbClr val="C00000"/>
                </a:solidFill>
              </a:rPr>
              <a:t>Fact Table </a:t>
            </a:r>
            <a:r>
              <a:rPr lang="en-MY" dirty="0"/>
              <a:t>– the primary table in a dimensional model that is meant to contain measurements of the business.</a:t>
            </a:r>
          </a:p>
          <a:p>
            <a:pPr algn="just">
              <a:lnSpc>
                <a:spcPct val="100000"/>
              </a:lnSpc>
            </a:pPr>
            <a:r>
              <a:rPr lang="en-MY" b="1" dirty="0">
                <a:solidFill>
                  <a:srgbClr val="C00000"/>
                </a:solidFill>
              </a:rPr>
              <a:t>Dimension Table </a:t>
            </a:r>
            <a:r>
              <a:rPr lang="en-MY" dirty="0"/>
              <a:t>– One of a set of companion tables to a fact table. Most dimension tables contain many textual attributes that are the basis for constraining and grouping within data warehouse queries.</a:t>
            </a:r>
          </a:p>
          <a:p>
            <a:pPr algn="just">
              <a:lnSpc>
                <a:spcPct val="100000"/>
              </a:lnSpc>
            </a:pPr>
            <a:endParaRPr lang="en-MY" dirty="0"/>
          </a:p>
        </p:txBody>
      </p:sp>
      <p:sp>
        <p:nvSpPr>
          <p:cNvPr id="4" name="Date Placeholder 3"/>
          <p:cNvSpPr>
            <a:spLocks noGrp="1"/>
          </p:cNvSpPr>
          <p:nvPr>
            <p:ph type="dt" sz="half" idx="10"/>
          </p:nvPr>
        </p:nvSpPr>
        <p:spPr/>
        <p:txBody>
          <a:bodyPr/>
          <a:lstStyle/>
          <a:p>
            <a:pPr>
              <a:defRPr/>
            </a:pPr>
            <a:fld id="{DDA07878-072F-4F95-8AF2-003920565BB0}" type="datetime1">
              <a:rPr lang="en-US" smtClean="0"/>
              <a:t>12/27/2024</a:t>
            </a:fld>
            <a:endParaRPr lang="en-US"/>
          </a:p>
        </p:txBody>
      </p:sp>
      <p:sp>
        <p:nvSpPr>
          <p:cNvPr id="5" name="Slide Number Placeholder 4"/>
          <p:cNvSpPr>
            <a:spLocks noGrp="1"/>
          </p:cNvSpPr>
          <p:nvPr>
            <p:ph type="sldNum" sz="quarter" idx="12"/>
          </p:nvPr>
        </p:nvSpPr>
        <p:spPr/>
        <p:txBody>
          <a:bodyPr/>
          <a:lstStyle/>
          <a:p>
            <a:pPr>
              <a:defRPr/>
            </a:pPr>
            <a:fld id="{4AEEF2DB-3D68-4EFF-B92B-90C34555BE45}" type="slidenum">
              <a:rPr lang="en-US" smtClean="0"/>
              <a:t>19</a:t>
            </a:fld>
            <a:endParaRPr lang="en-US" dirty="0"/>
          </a:p>
        </p:txBody>
      </p:sp>
    </p:spTree>
    <p:extLst>
      <p:ext uri="{BB962C8B-B14F-4D97-AF65-F5344CB8AC3E}">
        <p14:creationId xmlns:p14="http://schemas.microsoft.com/office/powerpoint/2010/main" val="12878131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2574" y="695193"/>
            <a:ext cx="6177158" cy="927100"/>
          </a:xfrm>
        </p:spPr>
        <p:txBody>
          <a:bodyPr>
            <a:noAutofit/>
          </a:bodyPr>
          <a:lstStyle/>
          <a:p>
            <a:r>
              <a:rPr lang="en-AU" b="1" dirty="0">
                <a:solidFill>
                  <a:schemeClr val="accent6">
                    <a:lumMod val="75000"/>
                  </a:schemeClr>
                </a:solidFill>
                <a:cs typeface="Times New Roman" pitchFamily="18" charset="0"/>
              </a:rPr>
              <a:t>Dimensionality </a:t>
            </a:r>
            <a:r>
              <a:rPr lang="en-AU" b="1" dirty="0" err="1">
                <a:solidFill>
                  <a:schemeClr val="accent6">
                    <a:lumMod val="75000"/>
                  </a:schemeClr>
                </a:solidFill>
                <a:cs typeface="Times New Roman" pitchFamily="18" charset="0"/>
              </a:rPr>
              <a:t>Modeling</a:t>
            </a:r>
            <a:endParaRPr lang="en-US" b="1" dirty="0">
              <a:solidFill>
                <a:schemeClr val="accent6">
                  <a:lumMod val="75000"/>
                </a:schemeClr>
              </a:solidFill>
            </a:endParaRPr>
          </a:p>
        </p:txBody>
      </p:sp>
      <p:sp>
        <p:nvSpPr>
          <p:cNvPr id="3" name="Text Placeholder 2"/>
          <p:cNvSpPr>
            <a:spLocks noGrp="1"/>
          </p:cNvSpPr>
          <p:nvPr>
            <p:ph type="body" idx="1"/>
          </p:nvPr>
        </p:nvSpPr>
        <p:spPr>
          <a:xfrm>
            <a:off x="912574" y="2095451"/>
            <a:ext cx="10586319" cy="3140256"/>
          </a:xfrm>
        </p:spPr>
        <p:txBody>
          <a:bodyPr>
            <a:noAutofit/>
          </a:bodyPr>
          <a:lstStyle/>
          <a:p>
            <a:pPr>
              <a:defRPr/>
            </a:pPr>
            <a:r>
              <a:rPr lang="en-AU" sz="3000" dirty="0">
                <a:cs typeface="Times New Roman" pitchFamily="18" charset="0"/>
              </a:rPr>
              <a:t>Dimension </a:t>
            </a:r>
            <a:r>
              <a:rPr lang="en-AU" sz="3000" b="1" dirty="0">
                <a:solidFill>
                  <a:srgbClr val="C00000"/>
                </a:solidFill>
                <a:cs typeface="Times New Roman" pitchFamily="18" charset="0"/>
              </a:rPr>
              <a:t>tables</a:t>
            </a:r>
            <a:r>
              <a:rPr lang="en-AU" sz="3000" dirty="0">
                <a:cs typeface="Times New Roman" pitchFamily="18" charset="0"/>
              </a:rPr>
              <a:t> usually contain </a:t>
            </a:r>
            <a:r>
              <a:rPr lang="en-AU" sz="3000" b="1" dirty="0">
                <a:solidFill>
                  <a:srgbClr val="C00000"/>
                </a:solidFill>
                <a:cs typeface="Times New Roman" pitchFamily="18" charset="0"/>
              </a:rPr>
              <a:t>descriptive textual information</a:t>
            </a:r>
            <a:r>
              <a:rPr lang="en-AU" sz="3000" dirty="0">
                <a:cs typeface="Times New Roman" pitchFamily="18" charset="0"/>
              </a:rPr>
              <a:t>.</a:t>
            </a:r>
          </a:p>
          <a:p>
            <a:pPr>
              <a:defRPr/>
            </a:pPr>
            <a:r>
              <a:rPr lang="en-AU" sz="3000" dirty="0">
                <a:cs typeface="Times New Roman" pitchFamily="18" charset="0"/>
              </a:rPr>
              <a:t>Dimension </a:t>
            </a:r>
            <a:r>
              <a:rPr lang="en-AU" sz="3000" b="1" dirty="0">
                <a:solidFill>
                  <a:srgbClr val="C00000"/>
                </a:solidFill>
                <a:cs typeface="Times New Roman" pitchFamily="18" charset="0"/>
              </a:rPr>
              <a:t>attributes</a:t>
            </a:r>
            <a:r>
              <a:rPr lang="en-AU" sz="3000" dirty="0">
                <a:cs typeface="Times New Roman" pitchFamily="18" charset="0"/>
              </a:rPr>
              <a:t> are used as the </a:t>
            </a:r>
            <a:r>
              <a:rPr lang="en-AU" sz="3000" b="1" dirty="0">
                <a:solidFill>
                  <a:srgbClr val="C00000"/>
                </a:solidFill>
                <a:cs typeface="Times New Roman" pitchFamily="18" charset="0"/>
              </a:rPr>
              <a:t>constraints in data warehouse queries</a:t>
            </a:r>
            <a:r>
              <a:rPr lang="en-AU" sz="3000" dirty="0">
                <a:cs typeface="Times New Roman" pitchFamily="18" charset="0"/>
              </a:rPr>
              <a:t>.</a:t>
            </a:r>
            <a:endParaRPr lang="en-GB" sz="3000" dirty="0"/>
          </a:p>
          <a:p>
            <a:pPr>
              <a:defRPr/>
            </a:pPr>
            <a:r>
              <a:rPr lang="en-GB" sz="3000" dirty="0">
                <a:cs typeface="Times New Roman" pitchFamily="18" charset="0"/>
              </a:rPr>
              <a:t>Every dimensional model (DM) is composed of one table with a composite primary key, called the </a:t>
            </a:r>
            <a:r>
              <a:rPr lang="en-GB" sz="3000" b="1" dirty="0">
                <a:solidFill>
                  <a:srgbClr val="C00000"/>
                </a:solidFill>
                <a:cs typeface="Times New Roman" pitchFamily="18" charset="0"/>
              </a:rPr>
              <a:t>fact table</a:t>
            </a:r>
            <a:r>
              <a:rPr lang="en-GB" sz="3000" dirty="0">
                <a:cs typeface="Times New Roman" pitchFamily="18" charset="0"/>
              </a:rPr>
              <a:t>, and a set of smaller tables called </a:t>
            </a:r>
            <a:r>
              <a:rPr lang="en-GB" sz="3000" b="1" dirty="0">
                <a:solidFill>
                  <a:srgbClr val="C00000"/>
                </a:solidFill>
                <a:cs typeface="Times New Roman" pitchFamily="18" charset="0"/>
              </a:rPr>
              <a:t>dimension tables</a:t>
            </a:r>
            <a:r>
              <a:rPr lang="en-GB" sz="3000" dirty="0">
                <a:cs typeface="Times New Roman" pitchFamily="18" charset="0"/>
              </a:rPr>
              <a:t>.</a:t>
            </a:r>
          </a:p>
        </p:txBody>
      </p:sp>
    </p:spTree>
    <p:extLst>
      <p:ext uri="{BB962C8B-B14F-4D97-AF65-F5344CB8AC3E}">
        <p14:creationId xmlns:p14="http://schemas.microsoft.com/office/powerpoint/2010/main" val="23815759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8411" y="491924"/>
            <a:ext cx="7639137" cy="927100"/>
          </a:xfrm>
        </p:spPr>
        <p:txBody>
          <a:bodyPr>
            <a:normAutofit/>
          </a:bodyPr>
          <a:lstStyle/>
          <a:p>
            <a:r>
              <a:rPr lang="en-AU" b="1" dirty="0">
                <a:solidFill>
                  <a:schemeClr val="accent6">
                    <a:lumMod val="75000"/>
                  </a:schemeClr>
                </a:solidFill>
                <a:cs typeface="Times New Roman" pitchFamily="18" charset="0"/>
              </a:rPr>
              <a:t>Dimensionality </a:t>
            </a:r>
            <a:r>
              <a:rPr lang="en-AU" b="1" dirty="0" err="1">
                <a:solidFill>
                  <a:schemeClr val="accent6">
                    <a:lumMod val="75000"/>
                  </a:schemeClr>
                </a:solidFill>
                <a:cs typeface="Times New Roman" pitchFamily="18" charset="0"/>
              </a:rPr>
              <a:t>Modeling</a:t>
            </a:r>
            <a:r>
              <a:rPr lang="en-AU" b="1" dirty="0">
                <a:solidFill>
                  <a:schemeClr val="accent6">
                    <a:lumMod val="75000"/>
                  </a:schemeClr>
                </a:solidFill>
                <a:cs typeface="Times New Roman" pitchFamily="18" charset="0"/>
              </a:rPr>
              <a:t> (cont.)</a:t>
            </a:r>
            <a:endParaRPr lang="en-US" b="1" dirty="0">
              <a:solidFill>
                <a:schemeClr val="accent6">
                  <a:lumMod val="75000"/>
                </a:schemeClr>
              </a:solidFill>
            </a:endParaRPr>
          </a:p>
        </p:txBody>
      </p:sp>
      <p:sp>
        <p:nvSpPr>
          <p:cNvPr id="3" name="Text Placeholder 2"/>
          <p:cNvSpPr>
            <a:spLocks noGrp="1"/>
          </p:cNvSpPr>
          <p:nvPr>
            <p:ph type="body" idx="1"/>
          </p:nvPr>
        </p:nvSpPr>
        <p:spPr>
          <a:xfrm>
            <a:off x="588723" y="1615858"/>
            <a:ext cx="11060482" cy="4750218"/>
          </a:xfrm>
        </p:spPr>
        <p:txBody>
          <a:bodyPr>
            <a:noAutofit/>
          </a:bodyPr>
          <a:lstStyle/>
          <a:p>
            <a:pPr>
              <a:defRPr/>
            </a:pPr>
            <a:r>
              <a:rPr lang="en-AU" altLang="en-US" b="1" dirty="0">
                <a:solidFill>
                  <a:srgbClr val="C00000"/>
                </a:solidFill>
                <a:cs typeface="Times New Roman" panose="02020603050405020304" pitchFamily="18" charset="0"/>
              </a:rPr>
              <a:t>Star schema </a:t>
            </a:r>
            <a:r>
              <a:rPr lang="en-AU" altLang="en-US" dirty="0">
                <a:cs typeface="Times New Roman" panose="02020603050405020304" pitchFamily="18" charset="0"/>
              </a:rPr>
              <a:t>is a logical structure that has a fact table containing </a:t>
            </a:r>
            <a:r>
              <a:rPr lang="en-AU" altLang="en-US" b="1" dirty="0">
                <a:solidFill>
                  <a:srgbClr val="C00000"/>
                </a:solidFill>
                <a:cs typeface="Times New Roman" panose="02020603050405020304" pitchFamily="18" charset="0"/>
              </a:rPr>
              <a:t>factual data in the </a:t>
            </a:r>
            <a:r>
              <a:rPr lang="en-AU" altLang="en-US" b="1" dirty="0" err="1">
                <a:solidFill>
                  <a:srgbClr val="C00000"/>
                </a:solidFill>
                <a:cs typeface="Times New Roman" panose="02020603050405020304" pitchFamily="18" charset="0"/>
              </a:rPr>
              <a:t>center</a:t>
            </a:r>
            <a:r>
              <a:rPr lang="en-AU" altLang="en-US" dirty="0">
                <a:cs typeface="Times New Roman" panose="02020603050405020304" pitchFamily="18" charset="0"/>
              </a:rPr>
              <a:t>, surrounded by dimension tables containing reference data, which can be </a:t>
            </a:r>
            <a:r>
              <a:rPr lang="en-AU" altLang="en-US" b="1" dirty="0">
                <a:solidFill>
                  <a:srgbClr val="C00000"/>
                </a:solidFill>
                <a:cs typeface="Times New Roman" panose="02020603050405020304" pitchFamily="18" charset="0"/>
              </a:rPr>
              <a:t>denormalized</a:t>
            </a:r>
            <a:r>
              <a:rPr lang="en-AU" altLang="en-US" dirty="0">
                <a:cs typeface="Times New Roman" panose="02020603050405020304" pitchFamily="18" charset="0"/>
              </a:rPr>
              <a:t>.</a:t>
            </a:r>
            <a:r>
              <a:rPr lang="en-GB" altLang="en-US" dirty="0">
                <a:cs typeface="Times New Roman" panose="02020603050405020304" pitchFamily="18" charset="0"/>
              </a:rPr>
              <a:t> </a:t>
            </a:r>
            <a:endParaRPr lang="en-GB" altLang="en-US" dirty="0">
              <a:latin typeface="Times" panose="02020603050405020304" pitchFamily="18" charset="0"/>
            </a:endParaRPr>
          </a:p>
          <a:p>
            <a:pPr>
              <a:defRPr/>
            </a:pPr>
            <a:r>
              <a:rPr lang="en-AU" dirty="0">
                <a:cs typeface="Times New Roman" pitchFamily="18" charset="0"/>
              </a:rPr>
              <a:t>Star schemas can be used to speed up query performance by denormalizing reference information into a single dimension table.</a:t>
            </a:r>
          </a:p>
          <a:p>
            <a:pPr>
              <a:defRPr/>
            </a:pPr>
            <a:r>
              <a:rPr lang="en-AU" b="1" dirty="0">
                <a:solidFill>
                  <a:srgbClr val="C00000"/>
                </a:solidFill>
                <a:cs typeface="Times New Roman" pitchFamily="18" charset="0"/>
              </a:rPr>
              <a:t>Snowflake schema </a:t>
            </a:r>
            <a:r>
              <a:rPr lang="en-AU" dirty="0">
                <a:cs typeface="Times New Roman" pitchFamily="18" charset="0"/>
              </a:rPr>
              <a:t>is a variant of the star schema that has a fact table in the </a:t>
            </a:r>
            <a:r>
              <a:rPr lang="en-AU" dirty="0" err="1">
                <a:cs typeface="Times New Roman" pitchFamily="18" charset="0"/>
              </a:rPr>
              <a:t>center</a:t>
            </a:r>
            <a:r>
              <a:rPr lang="en-AU" dirty="0">
                <a:cs typeface="Times New Roman" pitchFamily="18" charset="0"/>
              </a:rPr>
              <a:t>, surrounded by </a:t>
            </a:r>
            <a:r>
              <a:rPr lang="en-AU" b="1" dirty="0">
                <a:solidFill>
                  <a:srgbClr val="C00000"/>
                </a:solidFill>
                <a:cs typeface="Times New Roman" pitchFamily="18" charset="0"/>
              </a:rPr>
              <a:t>normalized dimension tables</a:t>
            </a:r>
            <a:r>
              <a:rPr lang="en-AU" dirty="0">
                <a:cs typeface="Times New Roman" pitchFamily="18" charset="0"/>
              </a:rPr>
              <a:t>.</a:t>
            </a:r>
            <a:endParaRPr lang="en-GB" dirty="0"/>
          </a:p>
          <a:p>
            <a:pPr>
              <a:defRPr/>
            </a:pPr>
            <a:r>
              <a:rPr lang="en-AU" b="1" dirty="0" err="1">
                <a:solidFill>
                  <a:srgbClr val="C00000"/>
                </a:solidFill>
                <a:cs typeface="Times New Roman" pitchFamily="18" charset="0"/>
              </a:rPr>
              <a:t>Starflake</a:t>
            </a:r>
            <a:r>
              <a:rPr lang="en-AU" b="1" dirty="0">
                <a:solidFill>
                  <a:srgbClr val="C00000"/>
                </a:solidFill>
                <a:cs typeface="Times New Roman" pitchFamily="18" charset="0"/>
              </a:rPr>
              <a:t> schema </a:t>
            </a:r>
            <a:r>
              <a:rPr lang="en-AU" dirty="0">
                <a:cs typeface="Times New Roman" pitchFamily="18" charset="0"/>
              </a:rPr>
              <a:t>is a </a:t>
            </a:r>
            <a:r>
              <a:rPr lang="en-AU" b="1" dirty="0">
                <a:solidFill>
                  <a:srgbClr val="C00000"/>
                </a:solidFill>
                <a:cs typeface="Times New Roman" pitchFamily="18" charset="0"/>
              </a:rPr>
              <a:t>hybrid structure </a:t>
            </a:r>
            <a:r>
              <a:rPr lang="en-AU" dirty="0">
                <a:cs typeface="Times New Roman" pitchFamily="18" charset="0"/>
              </a:rPr>
              <a:t>that contains a mixture of star (denormalized) and snowflake (normalized) dimension tables. </a:t>
            </a:r>
            <a:r>
              <a:rPr lang="en-GB" altLang="en-US" dirty="0"/>
              <a:t>Allows</a:t>
            </a:r>
            <a:r>
              <a:rPr lang="en-AU" altLang="en-US" dirty="0">
                <a:cs typeface="Times New Roman" panose="02020603050405020304" pitchFamily="18" charset="0"/>
              </a:rPr>
              <a:t> dimensions to be present in both forms to cater for different query requirements. </a:t>
            </a:r>
            <a:endParaRPr lang="en-GB" dirty="0">
              <a:cs typeface="Times New Roman" pitchFamily="18" charset="0"/>
            </a:endParaRPr>
          </a:p>
          <a:p>
            <a:pPr>
              <a:defRPr/>
            </a:pPr>
            <a:endParaRPr lang="en-GB" dirty="0">
              <a:cs typeface="Times New Roman" pitchFamily="18" charset="0"/>
            </a:endParaRPr>
          </a:p>
        </p:txBody>
      </p:sp>
    </p:spTree>
    <p:extLst>
      <p:ext uri="{BB962C8B-B14F-4D97-AF65-F5344CB8AC3E}">
        <p14:creationId xmlns:p14="http://schemas.microsoft.com/office/powerpoint/2010/main" val="13001897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36111"/>
            <a:ext cx="3702426" cy="576942"/>
          </a:xfrm>
        </p:spPr>
        <p:txBody>
          <a:bodyPr>
            <a:noAutofit/>
          </a:bodyPr>
          <a:lstStyle/>
          <a:p>
            <a:r>
              <a:rPr lang="en-MY" b="1" dirty="0">
                <a:solidFill>
                  <a:schemeClr val="accent6">
                    <a:lumMod val="75000"/>
                  </a:schemeClr>
                </a:solidFill>
              </a:rPr>
              <a:t>Star Schema</a:t>
            </a:r>
          </a:p>
        </p:txBody>
      </p:sp>
      <p:sp>
        <p:nvSpPr>
          <p:cNvPr id="3" name="Content Placeholder 2"/>
          <p:cNvSpPr>
            <a:spLocks noGrp="1"/>
          </p:cNvSpPr>
          <p:nvPr>
            <p:ph idx="1"/>
          </p:nvPr>
        </p:nvSpPr>
        <p:spPr>
          <a:xfrm>
            <a:off x="680582" y="1762682"/>
            <a:ext cx="10673218" cy="3882265"/>
          </a:xfrm>
        </p:spPr>
        <p:txBody>
          <a:bodyPr>
            <a:normAutofit lnSpcReduction="10000"/>
          </a:bodyPr>
          <a:lstStyle/>
          <a:p>
            <a:pPr algn="just">
              <a:lnSpc>
                <a:spcPct val="100000"/>
              </a:lnSpc>
            </a:pPr>
            <a:r>
              <a:rPr lang="en-US" dirty="0"/>
              <a:t>A dimensional data model that has a fact table in the center, surrounded by </a:t>
            </a:r>
            <a:r>
              <a:rPr lang="en-US" b="1" dirty="0">
                <a:solidFill>
                  <a:srgbClr val="C00000"/>
                </a:solidFill>
              </a:rPr>
              <a:t>denormalized</a:t>
            </a:r>
            <a:r>
              <a:rPr lang="en-US" dirty="0"/>
              <a:t> dimension tables.</a:t>
            </a:r>
          </a:p>
          <a:p>
            <a:pPr algn="just">
              <a:lnSpc>
                <a:spcPct val="100000"/>
              </a:lnSpc>
            </a:pPr>
            <a:r>
              <a:rPr lang="en-MY" dirty="0"/>
              <a:t>A fact table in the middle connected to be a set of dimension tables.</a:t>
            </a:r>
          </a:p>
          <a:p>
            <a:pPr algn="just">
              <a:lnSpc>
                <a:spcPct val="100000"/>
              </a:lnSpc>
              <a:defRPr/>
            </a:pPr>
            <a:r>
              <a:rPr lang="en-AU" dirty="0">
                <a:cs typeface="Times New Roman" pitchFamily="18" charset="0"/>
              </a:rPr>
              <a:t>Star schema is a logical structure that has a fact table (containing factual data) in the </a:t>
            </a:r>
            <a:r>
              <a:rPr lang="en-AU" dirty="0" err="1">
                <a:cs typeface="Times New Roman" pitchFamily="18" charset="0"/>
              </a:rPr>
              <a:t>center</a:t>
            </a:r>
            <a:r>
              <a:rPr lang="en-AU" dirty="0">
                <a:cs typeface="Times New Roman" pitchFamily="18" charset="0"/>
              </a:rPr>
              <a:t>, surrounded by denormalized dimension tables (containing reference data).</a:t>
            </a:r>
            <a:endParaRPr lang="en-GB" dirty="0"/>
          </a:p>
          <a:p>
            <a:pPr algn="just">
              <a:lnSpc>
                <a:spcPct val="100000"/>
              </a:lnSpc>
              <a:defRPr/>
            </a:pPr>
            <a:r>
              <a:rPr lang="en-AU" b="1" dirty="0">
                <a:solidFill>
                  <a:srgbClr val="C00000"/>
                </a:solidFill>
                <a:cs typeface="Times New Roman" pitchFamily="18" charset="0"/>
              </a:rPr>
              <a:t>Facts</a:t>
            </a:r>
            <a:r>
              <a:rPr lang="en-AU" dirty="0">
                <a:cs typeface="Times New Roman" pitchFamily="18" charset="0"/>
              </a:rPr>
              <a:t> are generated by </a:t>
            </a:r>
            <a:r>
              <a:rPr lang="en-AU" b="1" dirty="0">
                <a:solidFill>
                  <a:srgbClr val="C00000"/>
                </a:solidFill>
                <a:cs typeface="Times New Roman" pitchFamily="18" charset="0"/>
              </a:rPr>
              <a:t>events that occurred in the past</a:t>
            </a:r>
            <a:r>
              <a:rPr lang="en-AU" dirty="0">
                <a:cs typeface="Times New Roman" pitchFamily="18" charset="0"/>
              </a:rPr>
              <a:t>, and are unlikely to change, regardless of how they are </a:t>
            </a:r>
            <a:r>
              <a:rPr lang="en-AU" dirty="0" err="1">
                <a:cs typeface="Times New Roman" pitchFamily="18" charset="0"/>
              </a:rPr>
              <a:t>analyzed</a:t>
            </a:r>
            <a:r>
              <a:rPr lang="en-AU" dirty="0">
                <a:cs typeface="Times New Roman" pitchFamily="18" charset="0"/>
              </a:rPr>
              <a:t>.</a:t>
            </a:r>
            <a:endParaRPr lang="en-GB" dirty="0">
              <a:cs typeface="Times New Roman" pitchFamily="18" charset="0"/>
            </a:endParaRPr>
          </a:p>
          <a:p>
            <a:pPr marL="0" indent="0" algn="just">
              <a:lnSpc>
                <a:spcPct val="100000"/>
              </a:lnSpc>
              <a:buNone/>
            </a:pPr>
            <a:endParaRPr lang="en-MY" dirty="0"/>
          </a:p>
        </p:txBody>
      </p:sp>
      <p:sp>
        <p:nvSpPr>
          <p:cNvPr id="4" name="Date Placeholder 3"/>
          <p:cNvSpPr>
            <a:spLocks noGrp="1"/>
          </p:cNvSpPr>
          <p:nvPr>
            <p:ph type="dt" sz="half" idx="10"/>
          </p:nvPr>
        </p:nvSpPr>
        <p:spPr/>
        <p:txBody>
          <a:bodyPr/>
          <a:lstStyle/>
          <a:p>
            <a:pPr>
              <a:defRPr/>
            </a:pPr>
            <a:fld id="{DDA07878-072F-4F95-8AF2-003920565BB0}" type="datetime1">
              <a:rPr lang="en-US" smtClean="0"/>
              <a:t>12/27/2024</a:t>
            </a:fld>
            <a:endParaRPr lang="en-US"/>
          </a:p>
        </p:txBody>
      </p:sp>
      <p:sp>
        <p:nvSpPr>
          <p:cNvPr id="5" name="Slide Number Placeholder 4"/>
          <p:cNvSpPr>
            <a:spLocks noGrp="1"/>
          </p:cNvSpPr>
          <p:nvPr>
            <p:ph type="sldNum" sz="quarter" idx="12"/>
          </p:nvPr>
        </p:nvSpPr>
        <p:spPr/>
        <p:txBody>
          <a:bodyPr/>
          <a:lstStyle/>
          <a:p>
            <a:pPr>
              <a:defRPr/>
            </a:pPr>
            <a:fld id="{4AEEF2DB-3D68-4EFF-B92B-90C34555BE45}" type="slidenum">
              <a:rPr lang="en-US" smtClean="0"/>
              <a:t>22</a:t>
            </a:fld>
            <a:endParaRPr lang="en-US" dirty="0"/>
          </a:p>
        </p:txBody>
      </p:sp>
    </p:spTree>
    <p:extLst>
      <p:ext uri="{BB962C8B-B14F-4D97-AF65-F5344CB8AC3E}">
        <p14:creationId xmlns:p14="http://schemas.microsoft.com/office/powerpoint/2010/main" val="40695868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49558"/>
            <a:ext cx="5257800" cy="576942"/>
          </a:xfrm>
        </p:spPr>
        <p:txBody>
          <a:bodyPr>
            <a:noAutofit/>
          </a:bodyPr>
          <a:lstStyle/>
          <a:p>
            <a:r>
              <a:rPr lang="en-MY" b="1" dirty="0">
                <a:solidFill>
                  <a:schemeClr val="accent6">
                    <a:lumMod val="75000"/>
                  </a:schemeClr>
                </a:solidFill>
              </a:rPr>
              <a:t>Example of Star Schema</a:t>
            </a:r>
          </a:p>
        </p:txBody>
      </p:sp>
      <p:sp>
        <p:nvSpPr>
          <p:cNvPr id="4" name="Date Placeholder 3"/>
          <p:cNvSpPr>
            <a:spLocks noGrp="1"/>
          </p:cNvSpPr>
          <p:nvPr>
            <p:ph type="dt" sz="half" idx="10"/>
          </p:nvPr>
        </p:nvSpPr>
        <p:spPr/>
        <p:txBody>
          <a:bodyPr/>
          <a:lstStyle/>
          <a:p>
            <a:pPr>
              <a:defRPr/>
            </a:pPr>
            <a:fld id="{DDA07878-072F-4F95-8AF2-003920565BB0}" type="datetime1">
              <a:rPr lang="en-US" smtClean="0"/>
              <a:t>12/27/2024</a:t>
            </a:fld>
            <a:endParaRPr lang="en-US"/>
          </a:p>
        </p:txBody>
      </p:sp>
      <p:sp>
        <p:nvSpPr>
          <p:cNvPr id="5" name="Slide Number Placeholder 4"/>
          <p:cNvSpPr>
            <a:spLocks noGrp="1"/>
          </p:cNvSpPr>
          <p:nvPr>
            <p:ph type="sldNum" sz="quarter" idx="12"/>
          </p:nvPr>
        </p:nvSpPr>
        <p:spPr/>
        <p:txBody>
          <a:bodyPr/>
          <a:lstStyle/>
          <a:p>
            <a:pPr>
              <a:defRPr/>
            </a:pPr>
            <a:fld id="{4AEEF2DB-3D68-4EFF-B92B-90C34555BE45}" type="slidenum">
              <a:rPr lang="en-US" smtClean="0"/>
              <a:t>23</a:t>
            </a:fld>
            <a:endParaRPr lang="en-US" dirty="0"/>
          </a:p>
        </p:txBody>
      </p:sp>
      <p:pic>
        <p:nvPicPr>
          <p:cNvPr id="7" name="Picture 6"/>
          <p:cNvPicPr>
            <a:picLocks noChangeAspect="1"/>
          </p:cNvPicPr>
          <p:nvPr/>
        </p:nvPicPr>
        <p:blipFill>
          <a:blip r:embed="rId2"/>
          <a:stretch>
            <a:fillRect/>
          </a:stretch>
        </p:blipFill>
        <p:spPr>
          <a:xfrm>
            <a:off x="2209800" y="1209063"/>
            <a:ext cx="7569843" cy="5329849"/>
          </a:xfrm>
          <a:prstGeom prst="rect">
            <a:avLst/>
          </a:prstGeom>
        </p:spPr>
      </p:pic>
    </p:spTree>
    <p:extLst>
      <p:ext uri="{BB962C8B-B14F-4D97-AF65-F5344CB8AC3E}">
        <p14:creationId xmlns:p14="http://schemas.microsoft.com/office/powerpoint/2010/main" val="29216789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64504" y="505760"/>
            <a:ext cx="4322683" cy="681037"/>
          </a:xfrm>
        </p:spPr>
        <p:txBody>
          <a:bodyPr>
            <a:normAutofit/>
          </a:bodyPr>
          <a:lstStyle/>
          <a:p>
            <a:r>
              <a:rPr lang="en-MY" b="1" dirty="0">
                <a:solidFill>
                  <a:schemeClr val="accent6">
                    <a:lumMod val="75000"/>
                  </a:schemeClr>
                </a:solidFill>
              </a:rPr>
              <a:t>Snowflake Schema</a:t>
            </a:r>
          </a:p>
        </p:txBody>
      </p:sp>
      <p:sp>
        <p:nvSpPr>
          <p:cNvPr id="3" name="Content Placeholder 2"/>
          <p:cNvSpPr>
            <a:spLocks noGrp="1"/>
          </p:cNvSpPr>
          <p:nvPr>
            <p:ph idx="1"/>
          </p:nvPr>
        </p:nvSpPr>
        <p:spPr>
          <a:xfrm>
            <a:off x="838200" y="1396056"/>
            <a:ext cx="10515600" cy="4615665"/>
          </a:xfrm>
        </p:spPr>
        <p:txBody>
          <a:bodyPr>
            <a:noAutofit/>
          </a:bodyPr>
          <a:lstStyle/>
          <a:p>
            <a:r>
              <a:rPr lang="en-US" dirty="0"/>
              <a:t>A dimensional data model that has a fact table in the center, surrounded by </a:t>
            </a:r>
            <a:r>
              <a:rPr lang="en-US" b="1" dirty="0">
                <a:solidFill>
                  <a:srgbClr val="C00000"/>
                </a:solidFill>
              </a:rPr>
              <a:t>normalized</a:t>
            </a:r>
            <a:r>
              <a:rPr lang="en-US" dirty="0"/>
              <a:t> dimension tables.</a:t>
            </a:r>
          </a:p>
          <a:p>
            <a:r>
              <a:rPr lang="en-US" dirty="0"/>
              <a:t>A refinement of star schema where some dimensional hierarchy is </a:t>
            </a:r>
            <a:r>
              <a:rPr lang="en-US" b="1" dirty="0">
                <a:solidFill>
                  <a:srgbClr val="C00000"/>
                </a:solidFill>
              </a:rPr>
              <a:t>normalized</a:t>
            </a:r>
            <a:r>
              <a:rPr lang="en-US" dirty="0"/>
              <a:t> into a set of smaller dimension tables, forming a shape similar to snowflake.</a:t>
            </a:r>
          </a:p>
          <a:p>
            <a:pPr>
              <a:defRPr/>
            </a:pPr>
            <a:r>
              <a:rPr lang="en-AU" dirty="0">
                <a:cs typeface="Times New Roman" pitchFamily="18" charset="0"/>
              </a:rPr>
              <a:t>Bulk of data in data warehouse is in fact tables, which can be extremely large.</a:t>
            </a:r>
          </a:p>
          <a:p>
            <a:pPr>
              <a:defRPr/>
            </a:pPr>
            <a:r>
              <a:rPr lang="en-AU" dirty="0">
                <a:cs typeface="Times New Roman" pitchFamily="18" charset="0"/>
              </a:rPr>
              <a:t>Important to treat fact data as </a:t>
            </a:r>
            <a:r>
              <a:rPr lang="en-AU" b="1" dirty="0">
                <a:solidFill>
                  <a:srgbClr val="C00000"/>
                </a:solidFill>
                <a:cs typeface="Times New Roman" pitchFamily="18" charset="0"/>
              </a:rPr>
              <a:t>read-only reference data </a:t>
            </a:r>
            <a:r>
              <a:rPr lang="en-AU" dirty="0">
                <a:cs typeface="Times New Roman" pitchFamily="18" charset="0"/>
              </a:rPr>
              <a:t>that will not change over time.</a:t>
            </a:r>
          </a:p>
          <a:p>
            <a:pPr>
              <a:defRPr/>
            </a:pPr>
            <a:r>
              <a:rPr lang="en-AU" dirty="0">
                <a:cs typeface="Times New Roman" pitchFamily="18" charset="0"/>
              </a:rPr>
              <a:t>Most useful fact tables contain one or more numerical measures, or ‘facts’ that occur for each record and are</a:t>
            </a:r>
            <a:r>
              <a:rPr lang="en-US" dirty="0">
                <a:cs typeface="Times New Roman" pitchFamily="18" charset="0"/>
              </a:rPr>
              <a:t> numeric and additive.</a:t>
            </a:r>
            <a:endParaRPr lang="en-GB" dirty="0"/>
          </a:p>
        </p:txBody>
      </p:sp>
      <p:sp>
        <p:nvSpPr>
          <p:cNvPr id="4" name="Date Placeholder 3"/>
          <p:cNvSpPr>
            <a:spLocks noGrp="1"/>
          </p:cNvSpPr>
          <p:nvPr>
            <p:ph type="dt" sz="half" idx="10"/>
          </p:nvPr>
        </p:nvSpPr>
        <p:spPr/>
        <p:txBody>
          <a:bodyPr/>
          <a:lstStyle/>
          <a:p>
            <a:pPr>
              <a:defRPr/>
            </a:pPr>
            <a:fld id="{DDA07878-072F-4F95-8AF2-003920565BB0}" type="datetime1">
              <a:rPr lang="en-US" smtClean="0"/>
              <a:t>12/27/2024</a:t>
            </a:fld>
            <a:endParaRPr lang="en-US"/>
          </a:p>
        </p:txBody>
      </p:sp>
      <p:sp>
        <p:nvSpPr>
          <p:cNvPr id="5" name="Slide Number Placeholder 4"/>
          <p:cNvSpPr>
            <a:spLocks noGrp="1"/>
          </p:cNvSpPr>
          <p:nvPr>
            <p:ph type="sldNum" sz="quarter" idx="12"/>
          </p:nvPr>
        </p:nvSpPr>
        <p:spPr/>
        <p:txBody>
          <a:bodyPr/>
          <a:lstStyle/>
          <a:p>
            <a:pPr>
              <a:defRPr/>
            </a:pPr>
            <a:fld id="{4AEEF2DB-3D68-4EFF-B92B-90C34555BE45}" type="slidenum">
              <a:rPr lang="en-US" smtClean="0"/>
              <a:t>24</a:t>
            </a:fld>
            <a:endParaRPr lang="en-US" dirty="0"/>
          </a:p>
        </p:txBody>
      </p:sp>
    </p:spTree>
    <p:extLst>
      <p:ext uri="{BB962C8B-B14F-4D97-AF65-F5344CB8AC3E}">
        <p14:creationId xmlns:p14="http://schemas.microsoft.com/office/powerpoint/2010/main" val="13528040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25555"/>
            <a:ext cx="7416451" cy="681037"/>
          </a:xfrm>
        </p:spPr>
        <p:txBody>
          <a:bodyPr>
            <a:noAutofit/>
          </a:bodyPr>
          <a:lstStyle/>
          <a:p>
            <a:r>
              <a:rPr lang="en-MY" b="1" dirty="0">
                <a:solidFill>
                  <a:schemeClr val="accent6">
                    <a:lumMod val="75000"/>
                  </a:schemeClr>
                </a:solidFill>
              </a:rPr>
              <a:t>Example of Snowflake Schema (1)</a:t>
            </a:r>
          </a:p>
        </p:txBody>
      </p:sp>
      <p:sp>
        <p:nvSpPr>
          <p:cNvPr id="4" name="Date Placeholder 3"/>
          <p:cNvSpPr>
            <a:spLocks noGrp="1"/>
          </p:cNvSpPr>
          <p:nvPr>
            <p:ph type="dt" sz="half" idx="10"/>
          </p:nvPr>
        </p:nvSpPr>
        <p:spPr/>
        <p:txBody>
          <a:bodyPr/>
          <a:lstStyle/>
          <a:p>
            <a:pPr>
              <a:defRPr/>
            </a:pPr>
            <a:fld id="{DDA07878-072F-4F95-8AF2-003920565BB0}" type="datetime1">
              <a:rPr lang="en-US" smtClean="0"/>
              <a:t>12/27/2024</a:t>
            </a:fld>
            <a:endParaRPr lang="en-US"/>
          </a:p>
        </p:txBody>
      </p:sp>
      <p:sp>
        <p:nvSpPr>
          <p:cNvPr id="5" name="Slide Number Placeholder 4"/>
          <p:cNvSpPr>
            <a:spLocks noGrp="1"/>
          </p:cNvSpPr>
          <p:nvPr>
            <p:ph type="sldNum" sz="quarter" idx="12"/>
          </p:nvPr>
        </p:nvSpPr>
        <p:spPr/>
        <p:txBody>
          <a:bodyPr/>
          <a:lstStyle/>
          <a:p>
            <a:pPr>
              <a:defRPr/>
            </a:pPr>
            <a:fld id="{4AEEF2DB-3D68-4EFF-B92B-90C34555BE45}" type="slidenum">
              <a:rPr lang="en-US" smtClean="0"/>
              <a:t>25</a:t>
            </a:fld>
            <a:endParaRPr lang="en-US" dirty="0"/>
          </a:p>
        </p:txBody>
      </p:sp>
      <p:pic>
        <p:nvPicPr>
          <p:cNvPr id="9" name="Picture 8">
            <a:extLst>
              <a:ext uri="{FF2B5EF4-FFF2-40B4-BE49-F238E27FC236}">
                <a16:creationId xmlns:a16="http://schemas.microsoft.com/office/drawing/2014/main" id="{5E074537-3066-CA5C-72E4-EE91488D91CD}"/>
              </a:ext>
            </a:extLst>
          </p:cNvPr>
          <p:cNvPicPr>
            <a:picLocks noChangeAspect="1"/>
          </p:cNvPicPr>
          <p:nvPr/>
        </p:nvPicPr>
        <p:blipFill>
          <a:blip r:embed="rId2"/>
          <a:srcRect l="15939" t="15964" r="14556" b="10900"/>
          <a:stretch/>
        </p:blipFill>
        <p:spPr>
          <a:xfrm>
            <a:off x="2458732" y="1680290"/>
            <a:ext cx="7900292" cy="4676060"/>
          </a:xfrm>
          <a:prstGeom prst="rect">
            <a:avLst/>
          </a:prstGeom>
        </p:spPr>
      </p:pic>
    </p:spTree>
    <p:extLst>
      <p:ext uri="{BB962C8B-B14F-4D97-AF65-F5344CB8AC3E}">
        <p14:creationId xmlns:p14="http://schemas.microsoft.com/office/powerpoint/2010/main" val="31895946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a:defRPr/>
            </a:pPr>
            <a:fld id="{DDA07878-072F-4F95-8AF2-003920565BB0}" type="datetime1">
              <a:rPr lang="en-US" smtClean="0"/>
              <a:t>12/27/2024</a:t>
            </a:fld>
            <a:endParaRPr lang="en-US"/>
          </a:p>
        </p:txBody>
      </p:sp>
      <p:sp>
        <p:nvSpPr>
          <p:cNvPr id="5" name="Slide Number Placeholder 4"/>
          <p:cNvSpPr>
            <a:spLocks noGrp="1"/>
          </p:cNvSpPr>
          <p:nvPr>
            <p:ph type="sldNum" sz="quarter" idx="12"/>
          </p:nvPr>
        </p:nvSpPr>
        <p:spPr/>
        <p:txBody>
          <a:bodyPr/>
          <a:lstStyle/>
          <a:p>
            <a:pPr>
              <a:defRPr/>
            </a:pPr>
            <a:fld id="{4AEEF2DB-3D68-4EFF-B92B-90C34555BE45}" type="slidenum">
              <a:rPr lang="en-US" smtClean="0"/>
              <a:t>26</a:t>
            </a:fld>
            <a:endParaRPr lang="en-US" dirty="0"/>
          </a:p>
        </p:txBody>
      </p:sp>
      <p:pic>
        <p:nvPicPr>
          <p:cNvPr id="7" name="Picture 6"/>
          <p:cNvPicPr>
            <a:picLocks noChangeAspect="1"/>
          </p:cNvPicPr>
          <p:nvPr/>
        </p:nvPicPr>
        <p:blipFill>
          <a:blip r:embed="rId2"/>
          <a:stretch>
            <a:fillRect/>
          </a:stretch>
        </p:blipFill>
        <p:spPr>
          <a:xfrm>
            <a:off x="2909949" y="1558233"/>
            <a:ext cx="6058686" cy="4600414"/>
          </a:xfrm>
          <a:prstGeom prst="rect">
            <a:avLst/>
          </a:prstGeom>
        </p:spPr>
      </p:pic>
      <p:sp>
        <p:nvSpPr>
          <p:cNvPr id="11" name="Title 1">
            <a:extLst>
              <a:ext uri="{FF2B5EF4-FFF2-40B4-BE49-F238E27FC236}">
                <a16:creationId xmlns:a16="http://schemas.microsoft.com/office/drawing/2014/main" id="{37C8B65B-E9A5-3C6F-000F-FF1D66342B65}"/>
              </a:ext>
            </a:extLst>
          </p:cNvPr>
          <p:cNvSpPr>
            <a:spLocks noGrp="1"/>
          </p:cNvSpPr>
          <p:nvPr>
            <p:ph type="title"/>
          </p:nvPr>
        </p:nvSpPr>
        <p:spPr>
          <a:xfrm>
            <a:off x="838200" y="679494"/>
            <a:ext cx="7718656" cy="681037"/>
          </a:xfrm>
        </p:spPr>
        <p:txBody>
          <a:bodyPr>
            <a:normAutofit/>
          </a:bodyPr>
          <a:lstStyle/>
          <a:p>
            <a:r>
              <a:rPr lang="en-MY" b="1" dirty="0">
                <a:solidFill>
                  <a:schemeClr val="accent6">
                    <a:lumMod val="75000"/>
                  </a:schemeClr>
                </a:solidFill>
              </a:rPr>
              <a:t>Example of Snowflake Schema (2)</a:t>
            </a:r>
          </a:p>
        </p:txBody>
      </p:sp>
    </p:spTree>
    <p:extLst>
      <p:ext uri="{BB962C8B-B14F-4D97-AF65-F5344CB8AC3E}">
        <p14:creationId xmlns:p14="http://schemas.microsoft.com/office/powerpoint/2010/main" val="23971102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66590" y="628220"/>
            <a:ext cx="8315195" cy="927100"/>
          </a:xfrm>
        </p:spPr>
        <p:txBody>
          <a:bodyPr>
            <a:noAutofit/>
          </a:bodyPr>
          <a:lstStyle/>
          <a:p>
            <a:r>
              <a:rPr lang="en-MY" b="1" dirty="0">
                <a:solidFill>
                  <a:schemeClr val="accent6">
                    <a:lumMod val="75000"/>
                  </a:schemeClr>
                </a:solidFill>
              </a:rPr>
              <a:t>Online Transaction Processing (OLTP)</a:t>
            </a:r>
          </a:p>
        </p:txBody>
      </p:sp>
      <p:sp>
        <p:nvSpPr>
          <p:cNvPr id="3" name="Content Placeholder 2"/>
          <p:cNvSpPr>
            <a:spLocks noGrp="1"/>
          </p:cNvSpPr>
          <p:nvPr>
            <p:ph idx="1"/>
          </p:nvPr>
        </p:nvSpPr>
        <p:spPr>
          <a:xfrm>
            <a:off x="966591" y="1812056"/>
            <a:ext cx="10258817" cy="2885204"/>
          </a:xfrm>
        </p:spPr>
        <p:txBody>
          <a:bodyPr>
            <a:normAutofit/>
          </a:bodyPr>
          <a:lstStyle/>
          <a:p>
            <a:r>
              <a:rPr lang="en-US" dirty="0"/>
              <a:t>Major task of traditional relational DBMS.</a:t>
            </a:r>
          </a:p>
          <a:p>
            <a:r>
              <a:rPr lang="en-US" dirty="0"/>
              <a:t>Design for day-to-day transaction processing: purchasing, inventory, banking, manufacturing, payroll, registration, accounting, etc.</a:t>
            </a:r>
          </a:p>
          <a:p>
            <a:r>
              <a:rPr lang="en-US" dirty="0"/>
              <a:t>Optimized for data entry, updating and deletion.</a:t>
            </a:r>
          </a:p>
          <a:p>
            <a:pPr>
              <a:lnSpc>
                <a:spcPct val="100000"/>
              </a:lnSpc>
            </a:pPr>
            <a:r>
              <a:rPr lang="en-US" dirty="0"/>
              <a:t>Focuses on real-time data management.</a:t>
            </a:r>
          </a:p>
          <a:p>
            <a:endParaRPr lang="en-US" dirty="0"/>
          </a:p>
          <a:p>
            <a:endParaRPr lang="en-MY" dirty="0"/>
          </a:p>
        </p:txBody>
      </p:sp>
      <p:sp>
        <p:nvSpPr>
          <p:cNvPr id="4" name="Date Placeholder 3"/>
          <p:cNvSpPr>
            <a:spLocks noGrp="1"/>
          </p:cNvSpPr>
          <p:nvPr>
            <p:ph type="dt" sz="half" idx="10"/>
          </p:nvPr>
        </p:nvSpPr>
        <p:spPr/>
        <p:txBody>
          <a:bodyPr/>
          <a:lstStyle/>
          <a:p>
            <a:pPr>
              <a:defRPr/>
            </a:pPr>
            <a:fld id="{DDA07878-072F-4F95-8AF2-003920565BB0}" type="datetime1">
              <a:rPr lang="en-US" smtClean="0"/>
              <a:t>12/27/2024</a:t>
            </a:fld>
            <a:endParaRPr lang="en-US"/>
          </a:p>
        </p:txBody>
      </p:sp>
      <p:sp>
        <p:nvSpPr>
          <p:cNvPr id="5" name="Slide Number Placeholder 4"/>
          <p:cNvSpPr>
            <a:spLocks noGrp="1"/>
          </p:cNvSpPr>
          <p:nvPr>
            <p:ph type="sldNum" sz="quarter" idx="12"/>
          </p:nvPr>
        </p:nvSpPr>
        <p:spPr/>
        <p:txBody>
          <a:bodyPr/>
          <a:lstStyle/>
          <a:p>
            <a:pPr>
              <a:defRPr/>
            </a:pPr>
            <a:fld id="{4AEEF2DB-3D68-4EFF-B92B-90C34555BE45}" type="slidenum">
              <a:rPr lang="en-US" smtClean="0"/>
              <a:t>27</a:t>
            </a:fld>
            <a:endParaRPr lang="en-US" dirty="0"/>
          </a:p>
        </p:txBody>
      </p:sp>
    </p:spTree>
    <p:extLst>
      <p:ext uri="{BB962C8B-B14F-4D97-AF65-F5344CB8AC3E}">
        <p14:creationId xmlns:p14="http://schemas.microsoft.com/office/powerpoint/2010/main" val="16467774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175576"/>
          </a:xfrm>
        </p:spPr>
        <p:txBody>
          <a:bodyPr/>
          <a:lstStyle/>
          <a:p>
            <a:pPr algn="l"/>
            <a:r>
              <a:rPr lang="en-MY" b="1" dirty="0">
                <a:solidFill>
                  <a:schemeClr val="accent6">
                    <a:lumMod val="75000"/>
                  </a:schemeClr>
                </a:solidFill>
              </a:rPr>
              <a:t>Online Analytical Processing (OLAP)</a:t>
            </a:r>
          </a:p>
        </p:txBody>
      </p:sp>
      <p:sp>
        <p:nvSpPr>
          <p:cNvPr id="3" name="Content Placeholder 2"/>
          <p:cNvSpPr>
            <a:spLocks noGrp="1"/>
          </p:cNvSpPr>
          <p:nvPr>
            <p:ph idx="1"/>
          </p:nvPr>
        </p:nvSpPr>
        <p:spPr>
          <a:xfrm>
            <a:off x="838200" y="1650261"/>
            <a:ext cx="10515600" cy="4351338"/>
          </a:xfrm>
        </p:spPr>
        <p:txBody>
          <a:bodyPr>
            <a:normAutofit/>
          </a:bodyPr>
          <a:lstStyle/>
          <a:p>
            <a:pPr>
              <a:lnSpc>
                <a:spcPct val="100000"/>
              </a:lnSpc>
            </a:pPr>
            <a:r>
              <a:rPr lang="en-US" sz="2400" dirty="0"/>
              <a:t>Original definition - The dynamic synthesis, analysis, and consolidation of large volumes of multi-dimensional data, Codd (1993).</a:t>
            </a:r>
          </a:p>
          <a:p>
            <a:pPr>
              <a:lnSpc>
                <a:spcPct val="100000"/>
              </a:lnSpc>
            </a:pPr>
            <a:r>
              <a:rPr lang="en-US" sz="2400" dirty="0"/>
              <a:t>Describes a technology that is designed to </a:t>
            </a:r>
            <a:r>
              <a:rPr lang="en-US" sz="2400" b="1" dirty="0">
                <a:solidFill>
                  <a:srgbClr val="C00000"/>
                </a:solidFill>
              </a:rPr>
              <a:t>optimize</a:t>
            </a:r>
            <a:r>
              <a:rPr lang="en-US" sz="2400" dirty="0"/>
              <a:t> the storing and querying of large volumes of </a:t>
            </a:r>
            <a:r>
              <a:rPr lang="en-US" sz="2400" b="1" dirty="0">
                <a:solidFill>
                  <a:srgbClr val="C00000"/>
                </a:solidFill>
              </a:rPr>
              <a:t>multi-dimensional data </a:t>
            </a:r>
            <a:r>
              <a:rPr lang="en-US" sz="2400" dirty="0"/>
              <a:t>that is aggregated (summarized) to various levels of detail to </a:t>
            </a:r>
            <a:r>
              <a:rPr lang="en-US" sz="2400" b="1" dirty="0">
                <a:solidFill>
                  <a:srgbClr val="C00000"/>
                </a:solidFill>
              </a:rPr>
              <a:t>support the analysis</a:t>
            </a:r>
            <a:r>
              <a:rPr lang="en-US" sz="2400" dirty="0"/>
              <a:t> of this data.</a:t>
            </a:r>
          </a:p>
          <a:p>
            <a:pPr>
              <a:lnSpc>
                <a:spcPct val="100000"/>
              </a:lnSpc>
            </a:pPr>
            <a:r>
              <a:rPr lang="en-US" sz="2400" dirty="0"/>
              <a:t>Enables users to gain a </a:t>
            </a:r>
            <a:r>
              <a:rPr lang="en-US" sz="2400" b="1" dirty="0">
                <a:solidFill>
                  <a:srgbClr val="C00000"/>
                </a:solidFill>
              </a:rPr>
              <a:t>deeper understanding and knowledge </a:t>
            </a:r>
            <a:r>
              <a:rPr lang="en-US" sz="2400" dirty="0"/>
              <a:t>about various aspects of their corporate data through fast, consistent, interactive access to a wide variety of possible views of the data.</a:t>
            </a:r>
          </a:p>
          <a:p>
            <a:pPr>
              <a:lnSpc>
                <a:spcPct val="100000"/>
              </a:lnSpc>
            </a:pPr>
            <a:r>
              <a:rPr lang="en-US" sz="2400" dirty="0"/>
              <a:t>Allows users to </a:t>
            </a:r>
            <a:r>
              <a:rPr lang="en-US" sz="2400" b="1" dirty="0">
                <a:solidFill>
                  <a:srgbClr val="C00000"/>
                </a:solidFill>
              </a:rPr>
              <a:t>view corporate data </a:t>
            </a:r>
            <a:r>
              <a:rPr lang="en-US" sz="2400" dirty="0"/>
              <a:t>in such a way that it is a better model of the </a:t>
            </a:r>
            <a:r>
              <a:rPr lang="en-US" sz="2400" b="1" dirty="0">
                <a:solidFill>
                  <a:srgbClr val="C00000"/>
                </a:solidFill>
              </a:rPr>
              <a:t>true dimensionality of the enterprise</a:t>
            </a:r>
            <a:r>
              <a:rPr lang="en-US" sz="2400" dirty="0"/>
              <a:t>.</a:t>
            </a:r>
          </a:p>
          <a:p>
            <a:pPr>
              <a:lnSpc>
                <a:spcPct val="100000"/>
              </a:lnSpc>
            </a:pPr>
            <a:endParaRPr lang="en-MY" sz="2400" dirty="0"/>
          </a:p>
        </p:txBody>
      </p:sp>
      <p:sp>
        <p:nvSpPr>
          <p:cNvPr id="4" name="Date Placeholder 3"/>
          <p:cNvSpPr>
            <a:spLocks noGrp="1"/>
          </p:cNvSpPr>
          <p:nvPr>
            <p:ph type="dt" sz="half" idx="10"/>
          </p:nvPr>
        </p:nvSpPr>
        <p:spPr/>
        <p:txBody>
          <a:bodyPr/>
          <a:lstStyle/>
          <a:p>
            <a:pPr>
              <a:defRPr/>
            </a:pPr>
            <a:fld id="{DDA07878-072F-4F95-8AF2-003920565BB0}" type="datetime1">
              <a:rPr lang="en-US" smtClean="0"/>
              <a:t>12/27/2024</a:t>
            </a:fld>
            <a:endParaRPr lang="en-US"/>
          </a:p>
        </p:txBody>
      </p:sp>
      <p:sp>
        <p:nvSpPr>
          <p:cNvPr id="5" name="Slide Number Placeholder 4"/>
          <p:cNvSpPr>
            <a:spLocks noGrp="1"/>
          </p:cNvSpPr>
          <p:nvPr>
            <p:ph type="sldNum" sz="quarter" idx="12"/>
          </p:nvPr>
        </p:nvSpPr>
        <p:spPr/>
        <p:txBody>
          <a:bodyPr/>
          <a:lstStyle/>
          <a:p>
            <a:pPr>
              <a:defRPr/>
            </a:pPr>
            <a:fld id="{4AEEF2DB-3D68-4EFF-B92B-90C34555BE45}" type="slidenum">
              <a:rPr lang="en-US" smtClean="0"/>
              <a:t>28</a:t>
            </a:fld>
            <a:endParaRPr lang="en-US" dirty="0"/>
          </a:p>
        </p:txBody>
      </p:sp>
    </p:spTree>
    <p:extLst>
      <p:ext uri="{BB962C8B-B14F-4D97-AF65-F5344CB8AC3E}">
        <p14:creationId xmlns:p14="http://schemas.microsoft.com/office/powerpoint/2010/main" val="28804863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112946"/>
          </a:xfrm>
        </p:spPr>
        <p:txBody>
          <a:bodyPr/>
          <a:lstStyle/>
          <a:p>
            <a:pPr algn="l"/>
            <a:r>
              <a:rPr lang="en-MY" b="1" dirty="0">
                <a:solidFill>
                  <a:schemeClr val="accent6">
                    <a:lumMod val="75000"/>
                  </a:schemeClr>
                </a:solidFill>
              </a:rPr>
              <a:t>OLTP vs. OLAP</a:t>
            </a:r>
          </a:p>
        </p:txBody>
      </p:sp>
      <p:sp>
        <p:nvSpPr>
          <p:cNvPr id="4" name="Date Placeholder 3"/>
          <p:cNvSpPr>
            <a:spLocks noGrp="1"/>
          </p:cNvSpPr>
          <p:nvPr>
            <p:ph type="dt" sz="half" idx="10"/>
          </p:nvPr>
        </p:nvSpPr>
        <p:spPr/>
        <p:txBody>
          <a:bodyPr/>
          <a:lstStyle/>
          <a:p>
            <a:pPr>
              <a:defRPr/>
            </a:pPr>
            <a:fld id="{DDA07878-072F-4F95-8AF2-003920565BB0}" type="datetime1">
              <a:rPr lang="en-US" smtClean="0"/>
              <a:t>12/27/2024</a:t>
            </a:fld>
            <a:endParaRPr lang="en-US"/>
          </a:p>
        </p:txBody>
      </p:sp>
      <p:sp>
        <p:nvSpPr>
          <p:cNvPr id="5" name="Slide Number Placeholder 4"/>
          <p:cNvSpPr>
            <a:spLocks noGrp="1"/>
          </p:cNvSpPr>
          <p:nvPr>
            <p:ph type="sldNum" sz="quarter" idx="12"/>
          </p:nvPr>
        </p:nvSpPr>
        <p:spPr/>
        <p:txBody>
          <a:bodyPr/>
          <a:lstStyle/>
          <a:p>
            <a:pPr>
              <a:defRPr/>
            </a:pPr>
            <a:fld id="{4AEEF2DB-3D68-4EFF-B92B-90C34555BE45}" type="slidenum">
              <a:rPr lang="en-US" smtClean="0"/>
              <a:t>29</a:t>
            </a:fld>
            <a:endParaRPr lang="en-US" dirty="0"/>
          </a:p>
        </p:txBody>
      </p:sp>
      <p:pic>
        <p:nvPicPr>
          <p:cNvPr id="9" name="Picture 8">
            <a:extLst>
              <a:ext uri="{FF2B5EF4-FFF2-40B4-BE49-F238E27FC236}">
                <a16:creationId xmlns:a16="http://schemas.microsoft.com/office/drawing/2014/main" id="{57482BF6-25A7-A2B4-E724-DB772C22EB34}"/>
              </a:ext>
            </a:extLst>
          </p:cNvPr>
          <p:cNvPicPr>
            <a:picLocks noChangeAspect="1"/>
          </p:cNvPicPr>
          <p:nvPr/>
        </p:nvPicPr>
        <p:blipFill>
          <a:blip r:embed="rId2"/>
          <a:stretch>
            <a:fillRect/>
          </a:stretch>
        </p:blipFill>
        <p:spPr>
          <a:xfrm>
            <a:off x="1841327" y="1376464"/>
            <a:ext cx="8830849" cy="4979886"/>
          </a:xfrm>
          <a:prstGeom prst="rect">
            <a:avLst/>
          </a:prstGeom>
        </p:spPr>
      </p:pic>
    </p:spTree>
    <p:extLst>
      <p:ext uri="{BB962C8B-B14F-4D97-AF65-F5344CB8AC3E}">
        <p14:creationId xmlns:p14="http://schemas.microsoft.com/office/powerpoint/2010/main" val="32750335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5390" y="662781"/>
            <a:ext cx="11471245" cy="1325563"/>
          </a:xfrm>
        </p:spPr>
        <p:txBody>
          <a:bodyPr/>
          <a:lstStyle/>
          <a:p>
            <a:pPr algn="l"/>
            <a:r>
              <a:rPr lang="en-US" b="1" dirty="0">
                <a:solidFill>
                  <a:schemeClr val="accent6">
                    <a:lumMod val="75000"/>
                  </a:schemeClr>
                </a:solidFill>
              </a:rPr>
              <a:t>Examples of OLAP Applications in Various Functional Areas</a:t>
            </a:r>
            <a:endParaRPr lang="en-MY" b="1" dirty="0">
              <a:solidFill>
                <a:schemeClr val="accent6">
                  <a:lumMod val="75000"/>
                </a:schemeClr>
              </a:solidFill>
            </a:endParaRPr>
          </a:p>
        </p:txBody>
      </p:sp>
      <p:pic>
        <p:nvPicPr>
          <p:cNvPr id="7" name="Content Placeholder 6"/>
          <p:cNvPicPr>
            <a:picLocks noGrp="1" noChangeAspect="1"/>
          </p:cNvPicPr>
          <p:nvPr>
            <p:ph idx="1"/>
          </p:nvPr>
        </p:nvPicPr>
        <p:blipFill>
          <a:blip r:embed="rId2"/>
          <a:stretch>
            <a:fillRect/>
          </a:stretch>
        </p:blipFill>
        <p:spPr>
          <a:xfrm>
            <a:off x="955645" y="2193610"/>
            <a:ext cx="10398155" cy="3554192"/>
          </a:xfrm>
          <a:prstGeom prst="rect">
            <a:avLst/>
          </a:prstGeom>
        </p:spPr>
      </p:pic>
      <p:sp>
        <p:nvSpPr>
          <p:cNvPr id="4" name="Date Placeholder 3"/>
          <p:cNvSpPr>
            <a:spLocks noGrp="1"/>
          </p:cNvSpPr>
          <p:nvPr>
            <p:ph type="dt" sz="half" idx="10"/>
          </p:nvPr>
        </p:nvSpPr>
        <p:spPr/>
        <p:txBody>
          <a:bodyPr/>
          <a:lstStyle/>
          <a:p>
            <a:pPr>
              <a:defRPr/>
            </a:pPr>
            <a:fld id="{DDA07878-072F-4F95-8AF2-003920565BB0}" type="datetime1">
              <a:rPr lang="en-US" smtClean="0"/>
              <a:t>12/27/2024</a:t>
            </a:fld>
            <a:endParaRPr lang="en-US"/>
          </a:p>
        </p:txBody>
      </p:sp>
      <p:sp>
        <p:nvSpPr>
          <p:cNvPr id="5" name="Slide Number Placeholder 4"/>
          <p:cNvSpPr>
            <a:spLocks noGrp="1"/>
          </p:cNvSpPr>
          <p:nvPr>
            <p:ph type="sldNum" sz="quarter" idx="12"/>
          </p:nvPr>
        </p:nvSpPr>
        <p:spPr/>
        <p:txBody>
          <a:bodyPr/>
          <a:lstStyle/>
          <a:p>
            <a:pPr>
              <a:defRPr/>
            </a:pPr>
            <a:fld id="{4AEEF2DB-3D68-4EFF-B92B-90C34555BE45}" type="slidenum">
              <a:rPr lang="en-US" smtClean="0"/>
              <a:t>30</a:t>
            </a:fld>
            <a:endParaRPr lang="en-US" dirty="0"/>
          </a:p>
        </p:txBody>
      </p:sp>
    </p:spTree>
    <p:extLst>
      <p:ext uri="{BB962C8B-B14F-4D97-AF65-F5344CB8AC3E}">
        <p14:creationId xmlns:p14="http://schemas.microsoft.com/office/powerpoint/2010/main" val="358110230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6093" y="561182"/>
            <a:ext cx="10308921" cy="927100"/>
          </a:xfrm>
        </p:spPr>
        <p:txBody>
          <a:bodyPr>
            <a:normAutofit fontScale="90000"/>
          </a:bodyPr>
          <a:lstStyle/>
          <a:p>
            <a:pPr algn="l"/>
            <a:r>
              <a:rPr lang="en-US" b="1" dirty="0">
                <a:solidFill>
                  <a:schemeClr val="accent6">
                    <a:lumMod val="75000"/>
                  </a:schemeClr>
                </a:solidFill>
              </a:rPr>
              <a:t>Comparison of OLTP Systems and Data Warehousing</a:t>
            </a:r>
            <a:endParaRPr lang="en-MY" b="1" dirty="0">
              <a:solidFill>
                <a:schemeClr val="accent6">
                  <a:lumMod val="75000"/>
                </a:schemeClr>
              </a:solidFill>
            </a:endParaRPr>
          </a:p>
        </p:txBody>
      </p:sp>
      <p:sp>
        <p:nvSpPr>
          <p:cNvPr id="4" name="Date Placeholder 3"/>
          <p:cNvSpPr>
            <a:spLocks noGrp="1"/>
          </p:cNvSpPr>
          <p:nvPr>
            <p:ph type="dt" sz="half" idx="10"/>
          </p:nvPr>
        </p:nvSpPr>
        <p:spPr/>
        <p:txBody>
          <a:bodyPr/>
          <a:lstStyle/>
          <a:p>
            <a:pPr>
              <a:defRPr/>
            </a:pPr>
            <a:fld id="{DDA07878-072F-4F95-8AF2-003920565BB0}" type="datetime1">
              <a:rPr lang="en-US" smtClean="0"/>
              <a:t>12/27/2024</a:t>
            </a:fld>
            <a:endParaRPr lang="en-US"/>
          </a:p>
        </p:txBody>
      </p:sp>
      <p:sp>
        <p:nvSpPr>
          <p:cNvPr id="5" name="Slide Number Placeholder 4"/>
          <p:cNvSpPr>
            <a:spLocks noGrp="1"/>
          </p:cNvSpPr>
          <p:nvPr>
            <p:ph type="sldNum" sz="quarter" idx="12"/>
          </p:nvPr>
        </p:nvSpPr>
        <p:spPr/>
        <p:txBody>
          <a:bodyPr/>
          <a:lstStyle/>
          <a:p>
            <a:pPr>
              <a:defRPr/>
            </a:pPr>
            <a:fld id="{4AEEF2DB-3D68-4EFF-B92B-90C34555BE45}" type="slidenum">
              <a:rPr lang="en-US" smtClean="0"/>
              <a:t>31</a:t>
            </a:fld>
            <a:endParaRPr lang="en-US" dirty="0"/>
          </a:p>
        </p:txBody>
      </p:sp>
      <p:sp>
        <p:nvSpPr>
          <p:cNvPr id="9" name="Content Placeholder 8"/>
          <p:cNvSpPr>
            <a:spLocks noGrp="1"/>
          </p:cNvSpPr>
          <p:nvPr>
            <p:ph idx="1"/>
          </p:nvPr>
        </p:nvSpPr>
        <p:spPr>
          <a:xfrm>
            <a:off x="526093" y="1488282"/>
            <a:ext cx="10827707" cy="4548579"/>
          </a:xfrm>
        </p:spPr>
        <p:txBody>
          <a:bodyPr>
            <a:normAutofit/>
          </a:bodyPr>
          <a:lstStyle/>
          <a:p>
            <a:r>
              <a:rPr lang="en-US" sz="2400" dirty="0"/>
              <a:t>A DBMS built for online transaction processing (OLTP) is generally regarded as unsuitable for data warehousing, because each system is designed with a differing set of requirements in mind. </a:t>
            </a:r>
          </a:p>
          <a:p>
            <a:r>
              <a:rPr lang="en-US" sz="2400" dirty="0"/>
              <a:t>For example, OLTP systems are designed to maximize the transaction processing capacity, while data warehouses are designed to support </a:t>
            </a:r>
            <a:r>
              <a:rPr lang="en-US" sz="2400" i="1" dirty="0"/>
              <a:t>ad hoc </a:t>
            </a:r>
            <a:r>
              <a:rPr lang="en-US" sz="2400" dirty="0"/>
              <a:t>query processing.</a:t>
            </a:r>
            <a:endParaRPr lang="en-MY" sz="2400" dirty="0"/>
          </a:p>
        </p:txBody>
      </p:sp>
      <p:pic>
        <p:nvPicPr>
          <p:cNvPr id="10" name="Picture 9"/>
          <p:cNvPicPr>
            <a:picLocks noChangeAspect="1"/>
          </p:cNvPicPr>
          <p:nvPr/>
        </p:nvPicPr>
        <p:blipFill>
          <a:blip r:embed="rId2"/>
          <a:stretch>
            <a:fillRect/>
          </a:stretch>
        </p:blipFill>
        <p:spPr>
          <a:xfrm>
            <a:off x="2734850" y="3429000"/>
            <a:ext cx="6713950" cy="3192551"/>
          </a:xfrm>
          <a:prstGeom prst="rect">
            <a:avLst/>
          </a:prstGeom>
        </p:spPr>
      </p:pic>
    </p:spTree>
    <p:extLst>
      <p:ext uri="{BB962C8B-B14F-4D97-AF65-F5344CB8AC3E}">
        <p14:creationId xmlns:p14="http://schemas.microsoft.com/office/powerpoint/2010/main" val="31228326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GB" b="1" dirty="0">
                <a:solidFill>
                  <a:schemeClr val="accent6">
                    <a:lumMod val="75000"/>
                  </a:schemeClr>
                </a:solidFill>
              </a:rPr>
              <a:t>Data Warehouse Queries</a:t>
            </a:r>
            <a:endParaRPr lang="en-US" sz="2000" b="1" dirty="0">
              <a:solidFill>
                <a:schemeClr val="accent6">
                  <a:lumMod val="75000"/>
                </a:schemeClr>
              </a:solidFill>
            </a:endParaRPr>
          </a:p>
        </p:txBody>
      </p:sp>
      <p:sp>
        <p:nvSpPr>
          <p:cNvPr id="3" name="Text Placeholder 2"/>
          <p:cNvSpPr>
            <a:spLocks noGrp="1"/>
          </p:cNvSpPr>
          <p:nvPr>
            <p:ph type="body" idx="1"/>
          </p:nvPr>
        </p:nvSpPr>
        <p:spPr/>
        <p:txBody>
          <a:bodyPr>
            <a:normAutofit/>
          </a:bodyPr>
          <a:lstStyle/>
          <a:p>
            <a:pPr>
              <a:defRPr/>
            </a:pPr>
            <a:r>
              <a:rPr lang="en-US" dirty="0">
                <a:cs typeface="Times New Roman" pitchFamily="18" charset="0"/>
              </a:rPr>
              <a:t>The types of queries that a data warehouse is expected to answer ranges from the relatively simple to the highly complex and is </a:t>
            </a:r>
            <a:r>
              <a:rPr lang="en-US" b="1" dirty="0">
                <a:solidFill>
                  <a:srgbClr val="C00000"/>
                </a:solidFill>
                <a:cs typeface="Times New Roman" pitchFamily="18" charset="0"/>
              </a:rPr>
              <a:t>dependent </a:t>
            </a:r>
            <a:r>
              <a:rPr lang="en-US" dirty="0">
                <a:cs typeface="Times New Roman" pitchFamily="18" charset="0"/>
              </a:rPr>
              <a:t>on the </a:t>
            </a:r>
            <a:r>
              <a:rPr lang="en-US" b="1" dirty="0">
                <a:solidFill>
                  <a:srgbClr val="C00000"/>
                </a:solidFill>
                <a:cs typeface="Times New Roman" pitchFamily="18" charset="0"/>
              </a:rPr>
              <a:t>type of end-user access tools </a:t>
            </a:r>
            <a:r>
              <a:rPr lang="en-US" dirty="0">
                <a:cs typeface="Times New Roman" pitchFamily="18" charset="0"/>
              </a:rPr>
              <a:t>used.</a:t>
            </a:r>
            <a:endParaRPr lang="en-GB" dirty="0"/>
          </a:p>
          <a:p>
            <a:pPr>
              <a:defRPr/>
            </a:pPr>
            <a:r>
              <a:rPr lang="en-GB" dirty="0"/>
              <a:t>End-user access tools include:</a:t>
            </a:r>
          </a:p>
          <a:p>
            <a:pPr lvl="1">
              <a:defRPr/>
            </a:pPr>
            <a:r>
              <a:rPr lang="en-GB" sz="2800" dirty="0"/>
              <a:t>Traditional reporting and query</a:t>
            </a:r>
          </a:p>
          <a:p>
            <a:pPr lvl="1">
              <a:defRPr/>
            </a:pPr>
            <a:r>
              <a:rPr lang="en-GB" sz="2800" dirty="0"/>
              <a:t>O L A P</a:t>
            </a:r>
          </a:p>
          <a:p>
            <a:pPr lvl="1">
              <a:defRPr/>
            </a:pPr>
            <a:r>
              <a:rPr lang="en-GB" sz="2800" dirty="0"/>
              <a:t>Data mining</a:t>
            </a:r>
          </a:p>
        </p:txBody>
      </p:sp>
    </p:spTree>
    <p:extLst>
      <p:ext uri="{BB962C8B-B14F-4D97-AF65-F5344CB8AC3E}">
        <p14:creationId xmlns:p14="http://schemas.microsoft.com/office/powerpoint/2010/main" val="79706271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GB" b="1" dirty="0">
                <a:solidFill>
                  <a:schemeClr val="accent6">
                    <a:lumMod val="75000"/>
                  </a:schemeClr>
                </a:solidFill>
              </a:rPr>
              <a:t>Example - Data Warehouse Queries </a:t>
            </a:r>
            <a:endParaRPr lang="en-US" sz="2000" b="1" dirty="0">
              <a:solidFill>
                <a:schemeClr val="accent6">
                  <a:lumMod val="75000"/>
                </a:schemeClr>
              </a:solidFill>
            </a:endParaRPr>
          </a:p>
        </p:txBody>
      </p:sp>
      <p:sp>
        <p:nvSpPr>
          <p:cNvPr id="3" name="Text Placeholder 2"/>
          <p:cNvSpPr>
            <a:spLocks noGrp="1"/>
          </p:cNvSpPr>
          <p:nvPr>
            <p:ph type="body" idx="1"/>
          </p:nvPr>
        </p:nvSpPr>
        <p:spPr/>
        <p:txBody>
          <a:bodyPr>
            <a:normAutofit/>
          </a:bodyPr>
          <a:lstStyle/>
          <a:p>
            <a:pPr>
              <a:lnSpc>
                <a:spcPct val="100000"/>
              </a:lnSpc>
              <a:defRPr/>
            </a:pPr>
            <a:r>
              <a:rPr lang="en-US" dirty="0">
                <a:cs typeface="Times New Roman" pitchFamily="18" charset="0"/>
              </a:rPr>
              <a:t>What was the total revenue for Scotland in the third quarter of 2001?</a:t>
            </a:r>
            <a:endParaRPr lang="en-GB" dirty="0"/>
          </a:p>
          <a:p>
            <a:pPr>
              <a:lnSpc>
                <a:spcPct val="100000"/>
              </a:lnSpc>
              <a:defRPr/>
            </a:pPr>
            <a:r>
              <a:rPr lang="en-US" dirty="0">
                <a:cs typeface="Times New Roman" pitchFamily="18" charset="0"/>
              </a:rPr>
              <a:t>What was the total revenue for property sales for each type of property in Great Britain in 2000?</a:t>
            </a:r>
            <a:endParaRPr lang="en-GB" dirty="0"/>
          </a:p>
          <a:p>
            <a:pPr>
              <a:lnSpc>
                <a:spcPct val="100000"/>
              </a:lnSpc>
              <a:defRPr/>
            </a:pPr>
            <a:r>
              <a:rPr lang="en-US" dirty="0">
                <a:cs typeface="Times New Roman" pitchFamily="18" charset="0"/>
              </a:rPr>
              <a:t>What are the three most popular areas in each city for the renting of property in 2001 and how does this compare with the figures for the previous two years?</a:t>
            </a:r>
            <a:endParaRPr lang="en-GB" dirty="0">
              <a:cs typeface="Times New Roman" pitchFamily="18" charset="0"/>
            </a:endParaRPr>
          </a:p>
          <a:p>
            <a:pPr>
              <a:lnSpc>
                <a:spcPct val="100000"/>
              </a:lnSpc>
              <a:defRPr/>
            </a:pPr>
            <a:r>
              <a:rPr lang="en-US" dirty="0">
                <a:cs typeface="Times New Roman" pitchFamily="18" charset="0"/>
              </a:rPr>
              <a:t>What is the monthly revenue for property sales at each branch office, compared with rolling 12-monthly prior figures?</a:t>
            </a:r>
            <a:endParaRPr lang="en-GB" dirty="0"/>
          </a:p>
        </p:txBody>
      </p:sp>
    </p:spTree>
    <p:extLst>
      <p:ext uri="{BB962C8B-B14F-4D97-AF65-F5344CB8AC3E}">
        <p14:creationId xmlns:p14="http://schemas.microsoft.com/office/powerpoint/2010/main" val="351815994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GB" b="1" dirty="0">
                <a:solidFill>
                  <a:schemeClr val="accent6">
                    <a:lumMod val="75000"/>
                  </a:schemeClr>
                </a:solidFill>
              </a:rPr>
              <a:t>Example - Data Warehouse Queries (cont.)</a:t>
            </a:r>
            <a:endParaRPr lang="en-US" b="1" dirty="0">
              <a:solidFill>
                <a:schemeClr val="accent6">
                  <a:lumMod val="75000"/>
                </a:schemeClr>
              </a:solidFill>
            </a:endParaRPr>
          </a:p>
        </p:txBody>
      </p:sp>
      <p:sp>
        <p:nvSpPr>
          <p:cNvPr id="3" name="Text Placeholder 2"/>
          <p:cNvSpPr>
            <a:spLocks noGrp="1"/>
          </p:cNvSpPr>
          <p:nvPr>
            <p:ph type="body" idx="1"/>
          </p:nvPr>
        </p:nvSpPr>
        <p:spPr/>
        <p:txBody>
          <a:bodyPr>
            <a:normAutofit/>
          </a:bodyPr>
          <a:lstStyle/>
          <a:p>
            <a:pPr>
              <a:lnSpc>
                <a:spcPct val="100000"/>
              </a:lnSpc>
              <a:defRPr/>
            </a:pPr>
            <a:r>
              <a:rPr lang="en-US" dirty="0">
                <a:cs typeface="Times New Roman" pitchFamily="18" charset="0"/>
              </a:rPr>
              <a:t>Which type of property sells for prices above the average selling price for properties in the main cities of Great Britain and how does this correlate to demographic data?</a:t>
            </a:r>
            <a:endParaRPr lang="en-GB" dirty="0"/>
          </a:p>
          <a:p>
            <a:pPr>
              <a:lnSpc>
                <a:spcPct val="100000"/>
              </a:lnSpc>
              <a:defRPr/>
            </a:pPr>
            <a:r>
              <a:rPr lang="en-US" dirty="0">
                <a:cs typeface="Times New Roman" pitchFamily="18" charset="0"/>
              </a:rPr>
              <a:t>What is the relationship between the total annual revenue generated by each branch office and the total number of sales staff assigned to each branch office?</a:t>
            </a:r>
            <a:endParaRPr lang="en-GB" dirty="0"/>
          </a:p>
        </p:txBody>
      </p:sp>
    </p:spTree>
    <p:extLst>
      <p:ext uri="{BB962C8B-B14F-4D97-AF65-F5344CB8AC3E}">
        <p14:creationId xmlns:p14="http://schemas.microsoft.com/office/powerpoint/2010/main" val="404785654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2082" y="513897"/>
            <a:ext cx="9313320" cy="1189642"/>
          </a:xfrm>
        </p:spPr>
        <p:txBody>
          <a:bodyPr/>
          <a:lstStyle/>
          <a:p>
            <a:pPr algn="l"/>
            <a:r>
              <a:rPr lang="en-GB" b="1" dirty="0">
                <a:solidFill>
                  <a:schemeClr val="accent6">
                    <a:lumMod val="75000"/>
                  </a:schemeClr>
                </a:solidFill>
              </a:rPr>
              <a:t>E T L in Data Warehousing</a:t>
            </a:r>
            <a:endParaRPr lang="en-US" b="1" dirty="0">
              <a:solidFill>
                <a:schemeClr val="accent6">
                  <a:lumMod val="75000"/>
                </a:schemeClr>
              </a:solidFill>
            </a:endParaRPr>
          </a:p>
        </p:txBody>
      </p:sp>
      <p:sp>
        <p:nvSpPr>
          <p:cNvPr id="3" name="Text Placeholder 2"/>
          <p:cNvSpPr>
            <a:spLocks noGrp="1"/>
          </p:cNvSpPr>
          <p:nvPr>
            <p:ph type="body" idx="1"/>
          </p:nvPr>
        </p:nvSpPr>
        <p:spPr>
          <a:xfrm>
            <a:off x="801666" y="1703539"/>
            <a:ext cx="10659649" cy="5277087"/>
          </a:xfrm>
        </p:spPr>
        <p:txBody>
          <a:bodyPr>
            <a:normAutofit/>
          </a:bodyPr>
          <a:lstStyle/>
          <a:p>
            <a:pPr>
              <a:defRPr/>
            </a:pPr>
            <a:r>
              <a:rPr lang="en-GB" dirty="0"/>
              <a:t>All data loaded into the data warehouse would have to be converted to use this standard format is called </a:t>
            </a:r>
            <a:r>
              <a:rPr lang="en-GB" b="1" dirty="0">
                <a:solidFill>
                  <a:srgbClr val="C00000"/>
                </a:solidFill>
              </a:rPr>
              <a:t>Extraction-Transformation-Load (ETL)</a:t>
            </a:r>
            <a:r>
              <a:rPr lang="en-GB" dirty="0"/>
              <a:t>.</a:t>
            </a:r>
          </a:p>
          <a:p>
            <a:pPr>
              <a:defRPr/>
            </a:pPr>
            <a:r>
              <a:rPr lang="en-US" dirty="0"/>
              <a:t>It is a critical process in data warehousing that involves three main stages to </a:t>
            </a:r>
            <a:r>
              <a:rPr lang="en-US" b="1" dirty="0">
                <a:solidFill>
                  <a:srgbClr val="C00000"/>
                </a:solidFill>
              </a:rPr>
              <a:t>integrate data from multiple sources into a single</a:t>
            </a:r>
            <a:r>
              <a:rPr lang="en-US" dirty="0"/>
              <a:t>, unified data warehouse.</a:t>
            </a:r>
            <a:endParaRPr lang="en-GB" dirty="0"/>
          </a:p>
          <a:p>
            <a:pPr>
              <a:defRPr/>
            </a:pPr>
            <a:r>
              <a:rPr lang="en-US" dirty="0"/>
              <a:t>The ETL process ensures that the data stored in the warehouse is accurate, consistent, and ready for analysis.</a:t>
            </a:r>
          </a:p>
          <a:p>
            <a:pPr marL="0" indent="0">
              <a:buNone/>
              <a:defRPr/>
            </a:pPr>
            <a:endParaRPr lang="en-GB" dirty="0"/>
          </a:p>
        </p:txBody>
      </p:sp>
    </p:spTree>
    <p:extLst>
      <p:ext uri="{BB962C8B-B14F-4D97-AF65-F5344CB8AC3E}">
        <p14:creationId xmlns:p14="http://schemas.microsoft.com/office/powerpoint/2010/main" val="179847709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3671" y="290529"/>
            <a:ext cx="8359254" cy="1097279"/>
          </a:xfrm>
        </p:spPr>
        <p:txBody>
          <a:bodyPr/>
          <a:lstStyle/>
          <a:p>
            <a:r>
              <a:rPr lang="en-GB" b="1" dirty="0">
                <a:solidFill>
                  <a:schemeClr val="accent6">
                    <a:lumMod val="75000"/>
                  </a:schemeClr>
                </a:solidFill>
              </a:rPr>
              <a:t>E</a:t>
            </a:r>
            <a:r>
              <a:rPr lang="en-GB" sz="100" b="1" dirty="0">
                <a:solidFill>
                  <a:schemeClr val="accent6">
                    <a:lumMod val="75000"/>
                  </a:schemeClr>
                </a:solidFill>
              </a:rPr>
              <a:t> </a:t>
            </a:r>
            <a:r>
              <a:rPr lang="en-GB" b="1" dirty="0">
                <a:solidFill>
                  <a:schemeClr val="accent6">
                    <a:lumMod val="75000"/>
                  </a:schemeClr>
                </a:solidFill>
              </a:rPr>
              <a:t>T</a:t>
            </a:r>
            <a:r>
              <a:rPr lang="en-GB" sz="100" b="1" dirty="0">
                <a:solidFill>
                  <a:schemeClr val="accent6">
                    <a:lumMod val="75000"/>
                  </a:schemeClr>
                </a:solidFill>
              </a:rPr>
              <a:t> </a:t>
            </a:r>
            <a:r>
              <a:rPr lang="en-GB" b="1" dirty="0">
                <a:solidFill>
                  <a:schemeClr val="accent6">
                    <a:lumMod val="75000"/>
                  </a:schemeClr>
                </a:solidFill>
              </a:rPr>
              <a:t>L in Data Warehousing - Extraction</a:t>
            </a:r>
            <a:endParaRPr lang="en-US" sz="2000" b="1" dirty="0">
              <a:solidFill>
                <a:schemeClr val="accent6">
                  <a:lumMod val="75000"/>
                </a:schemeClr>
              </a:solidFill>
            </a:endParaRPr>
          </a:p>
        </p:txBody>
      </p:sp>
      <p:sp>
        <p:nvSpPr>
          <p:cNvPr id="3" name="Text Placeholder 2"/>
          <p:cNvSpPr>
            <a:spLocks noGrp="1"/>
          </p:cNvSpPr>
          <p:nvPr>
            <p:ph type="body" idx="1"/>
          </p:nvPr>
        </p:nvSpPr>
        <p:spPr>
          <a:xfrm>
            <a:off x="563671" y="1478071"/>
            <a:ext cx="10960274" cy="4689403"/>
          </a:xfrm>
        </p:spPr>
        <p:txBody>
          <a:bodyPr>
            <a:normAutofit fontScale="92500"/>
          </a:bodyPr>
          <a:lstStyle/>
          <a:p>
            <a:pPr>
              <a:defRPr/>
            </a:pPr>
            <a:r>
              <a:rPr lang="en-US" dirty="0"/>
              <a:t>Involves gathering data from multiple heterogeneous sources. </a:t>
            </a:r>
          </a:p>
          <a:p>
            <a:pPr algn="just">
              <a:defRPr/>
            </a:pPr>
            <a:r>
              <a:rPr lang="en-US" b="1" dirty="0">
                <a:solidFill>
                  <a:srgbClr val="C00000"/>
                </a:solidFill>
              </a:rPr>
              <a:t>Objective</a:t>
            </a:r>
            <a:r>
              <a:rPr lang="en-US" dirty="0"/>
              <a:t> - To </a:t>
            </a:r>
            <a:r>
              <a:rPr lang="en-US" b="1" dirty="0">
                <a:solidFill>
                  <a:srgbClr val="C00000"/>
                </a:solidFill>
              </a:rPr>
              <a:t>capture all necessary data required </a:t>
            </a:r>
            <a:r>
              <a:rPr lang="en-US" dirty="0"/>
              <a:t>for analysis while </a:t>
            </a:r>
            <a:r>
              <a:rPr lang="en-US" b="1" dirty="0">
                <a:solidFill>
                  <a:srgbClr val="C00000"/>
                </a:solidFill>
              </a:rPr>
              <a:t>minimizing the impact on the source </a:t>
            </a:r>
            <a:r>
              <a:rPr lang="en-US" dirty="0"/>
              <a:t>systems.</a:t>
            </a:r>
          </a:p>
          <a:p>
            <a:pPr algn="just">
              <a:defRPr/>
            </a:pPr>
            <a:r>
              <a:rPr lang="en-US" dirty="0"/>
              <a:t>Targets one or more data sources and these sources typically include </a:t>
            </a:r>
            <a:r>
              <a:rPr lang="en-GB" dirty="0"/>
              <a:t>OLTP databases but can also include personal databases and spreadsheets, and web services and other structured or unstructured data repositories.</a:t>
            </a:r>
          </a:p>
          <a:p>
            <a:pPr algn="just">
              <a:defRPr/>
            </a:pPr>
            <a:r>
              <a:rPr lang="en-GB" dirty="0"/>
              <a:t>The data sources are normally internal but can also include external sources such as the systems used by suppliers and/or customers.</a:t>
            </a:r>
          </a:p>
          <a:p>
            <a:pPr algn="just">
              <a:defRPr/>
            </a:pPr>
            <a:r>
              <a:rPr lang="en-GB" b="1" dirty="0">
                <a:solidFill>
                  <a:srgbClr val="C00000"/>
                </a:solidFill>
              </a:rPr>
              <a:t>Challenges: </a:t>
            </a:r>
          </a:p>
          <a:p>
            <a:pPr lvl="1" algn="just">
              <a:defRPr/>
            </a:pPr>
            <a:r>
              <a:rPr lang="en-US" dirty="0"/>
              <a:t>Handling data from heterogeneous sources with varying formats and structures.</a:t>
            </a:r>
          </a:p>
          <a:p>
            <a:pPr lvl="1" algn="just">
              <a:defRPr/>
            </a:pPr>
            <a:r>
              <a:rPr lang="en-US" dirty="0"/>
              <a:t>Ensuring data integrity and consistency during extraction.</a:t>
            </a:r>
            <a:endParaRPr lang="en-GB" b="1" dirty="0"/>
          </a:p>
          <a:p>
            <a:pPr algn="just">
              <a:defRPr/>
            </a:pPr>
            <a:endParaRPr lang="en-GB" dirty="0"/>
          </a:p>
        </p:txBody>
      </p:sp>
    </p:spTree>
    <p:extLst>
      <p:ext uri="{BB962C8B-B14F-4D97-AF65-F5344CB8AC3E}">
        <p14:creationId xmlns:p14="http://schemas.microsoft.com/office/powerpoint/2010/main" val="336814901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3753" y="215372"/>
            <a:ext cx="9091809" cy="1097279"/>
          </a:xfrm>
        </p:spPr>
        <p:txBody>
          <a:bodyPr>
            <a:noAutofit/>
          </a:bodyPr>
          <a:lstStyle/>
          <a:p>
            <a:r>
              <a:rPr lang="en-GB" sz="3800" b="1" dirty="0">
                <a:solidFill>
                  <a:schemeClr val="accent6">
                    <a:lumMod val="75000"/>
                  </a:schemeClr>
                </a:solidFill>
              </a:rPr>
              <a:t>E T L in Data Warehousing – Transformation</a:t>
            </a:r>
            <a:endParaRPr lang="en-US" sz="3800" b="1" dirty="0">
              <a:solidFill>
                <a:schemeClr val="accent6">
                  <a:lumMod val="75000"/>
                </a:schemeClr>
              </a:solidFill>
            </a:endParaRPr>
          </a:p>
        </p:txBody>
      </p:sp>
      <p:sp>
        <p:nvSpPr>
          <p:cNvPr id="3" name="Text Placeholder 2"/>
          <p:cNvSpPr>
            <a:spLocks noGrp="1"/>
          </p:cNvSpPr>
          <p:nvPr>
            <p:ph type="body" idx="1"/>
          </p:nvPr>
        </p:nvSpPr>
        <p:spPr>
          <a:xfrm>
            <a:off x="638826" y="1312651"/>
            <a:ext cx="11110587" cy="5478992"/>
          </a:xfrm>
        </p:spPr>
        <p:txBody>
          <a:bodyPr>
            <a:normAutofit lnSpcReduction="10000"/>
          </a:bodyPr>
          <a:lstStyle/>
          <a:p>
            <a:pPr>
              <a:lnSpc>
                <a:spcPct val="100000"/>
              </a:lnSpc>
              <a:defRPr/>
            </a:pPr>
            <a:r>
              <a:rPr lang="en-US" dirty="0"/>
              <a:t>Involve </a:t>
            </a:r>
            <a:r>
              <a:rPr lang="en-US" b="1" dirty="0">
                <a:solidFill>
                  <a:srgbClr val="C00000"/>
                </a:solidFill>
              </a:rPr>
              <a:t>converting</a:t>
            </a:r>
            <a:r>
              <a:rPr lang="en-US" dirty="0"/>
              <a:t> the extracted data into a format suitable for analysis in the data warehouse.</a:t>
            </a:r>
          </a:p>
          <a:p>
            <a:pPr>
              <a:lnSpc>
                <a:spcPct val="100000"/>
              </a:lnSpc>
              <a:defRPr/>
            </a:pPr>
            <a:r>
              <a:rPr lang="en-US" dirty="0"/>
              <a:t>This stage cleanses, filters, and structures the data to ensure it meets the quality and format requirements of the data warehouse.</a:t>
            </a:r>
            <a:endParaRPr lang="en-US" b="1" dirty="0"/>
          </a:p>
          <a:p>
            <a:pPr>
              <a:lnSpc>
                <a:spcPct val="100000"/>
              </a:lnSpc>
              <a:defRPr/>
            </a:pPr>
            <a:r>
              <a:rPr lang="en-US" b="1" dirty="0">
                <a:solidFill>
                  <a:srgbClr val="C00000"/>
                </a:solidFill>
              </a:rPr>
              <a:t>Objective:</a:t>
            </a:r>
            <a:r>
              <a:rPr lang="en-US" dirty="0">
                <a:solidFill>
                  <a:srgbClr val="C00000"/>
                </a:solidFill>
              </a:rPr>
              <a:t> </a:t>
            </a:r>
            <a:r>
              <a:rPr lang="en-US" dirty="0"/>
              <a:t>To ensure that data is accurate, consistent, and relevant for decision-making.</a:t>
            </a:r>
          </a:p>
          <a:p>
            <a:pPr>
              <a:lnSpc>
                <a:spcPct val="100000"/>
              </a:lnSpc>
              <a:defRPr/>
            </a:pPr>
            <a:r>
              <a:rPr lang="en-US" b="1" dirty="0">
                <a:solidFill>
                  <a:srgbClr val="C00000"/>
                </a:solidFill>
              </a:rPr>
              <a:t>Challenges:</a:t>
            </a:r>
          </a:p>
          <a:p>
            <a:pPr lvl="1">
              <a:lnSpc>
                <a:spcPct val="100000"/>
              </a:lnSpc>
              <a:defRPr/>
            </a:pPr>
            <a:r>
              <a:rPr lang="en-US" dirty="0"/>
              <a:t>Managing complex data transformations and maintaining data integrity.</a:t>
            </a:r>
          </a:p>
          <a:p>
            <a:pPr lvl="1">
              <a:lnSpc>
                <a:spcPct val="100000"/>
              </a:lnSpc>
              <a:defRPr/>
            </a:pPr>
            <a:r>
              <a:rPr lang="en-US" dirty="0"/>
              <a:t>Ensuring that transformed data maintains its meaning and relevance.</a:t>
            </a:r>
            <a:endParaRPr lang="en-US" b="1" dirty="0"/>
          </a:p>
          <a:p>
            <a:pPr>
              <a:lnSpc>
                <a:spcPct val="100000"/>
              </a:lnSpc>
              <a:defRPr/>
            </a:pPr>
            <a:r>
              <a:rPr lang="en-GB" sz="2400" dirty="0"/>
              <a:t>Applies a </a:t>
            </a:r>
            <a:r>
              <a:rPr lang="en-GB" sz="2400" b="1" dirty="0">
                <a:solidFill>
                  <a:srgbClr val="C00000"/>
                </a:solidFill>
              </a:rPr>
              <a:t>series of rules or functions</a:t>
            </a:r>
            <a:r>
              <a:rPr lang="en-GB" sz="2400" dirty="0"/>
              <a:t> to the extracted data, which determines how the data will be used for analysis and can involve transformations such as data summations, data encoding, data merging, data splitting, data calculations, and creation of surrogate keys.</a:t>
            </a:r>
          </a:p>
        </p:txBody>
      </p:sp>
    </p:spTree>
    <p:extLst>
      <p:ext uri="{BB962C8B-B14F-4D97-AF65-F5344CB8AC3E}">
        <p14:creationId xmlns:p14="http://schemas.microsoft.com/office/powerpoint/2010/main" val="233198077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3983" y="365685"/>
            <a:ext cx="9496817" cy="1097279"/>
          </a:xfrm>
        </p:spPr>
        <p:txBody>
          <a:bodyPr/>
          <a:lstStyle/>
          <a:p>
            <a:pPr algn="l"/>
            <a:r>
              <a:rPr lang="en-GB" b="1" dirty="0">
                <a:solidFill>
                  <a:schemeClr val="accent6">
                    <a:lumMod val="75000"/>
                  </a:schemeClr>
                </a:solidFill>
              </a:rPr>
              <a:t>E</a:t>
            </a:r>
            <a:r>
              <a:rPr lang="en-GB" sz="100" b="1" dirty="0">
                <a:solidFill>
                  <a:schemeClr val="accent6">
                    <a:lumMod val="75000"/>
                  </a:schemeClr>
                </a:solidFill>
              </a:rPr>
              <a:t> </a:t>
            </a:r>
            <a:r>
              <a:rPr lang="en-GB" b="1" dirty="0">
                <a:solidFill>
                  <a:schemeClr val="accent6">
                    <a:lumMod val="75000"/>
                  </a:schemeClr>
                </a:solidFill>
              </a:rPr>
              <a:t>T</a:t>
            </a:r>
            <a:r>
              <a:rPr lang="en-GB" sz="100" b="1" dirty="0">
                <a:solidFill>
                  <a:schemeClr val="accent6">
                    <a:lumMod val="75000"/>
                  </a:schemeClr>
                </a:solidFill>
              </a:rPr>
              <a:t> </a:t>
            </a:r>
            <a:r>
              <a:rPr lang="en-GB" b="1" dirty="0">
                <a:solidFill>
                  <a:schemeClr val="accent6">
                    <a:lumMod val="75000"/>
                  </a:schemeClr>
                </a:solidFill>
              </a:rPr>
              <a:t>L in Data Warehousing - Loading</a:t>
            </a:r>
            <a:endParaRPr lang="en-US" sz="2000" b="1" dirty="0">
              <a:solidFill>
                <a:schemeClr val="accent6">
                  <a:lumMod val="75000"/>
                </a:schemeClr>
              </a:solidFill>
            </a:endParaRPr>
          </a:p>
        </p:txBody>
      </p:sp>
      <p:sp>
        <p:nvSpPr>
          <p:cNvPr id="3" name="Text Placeholder 2"/>
          <p:cNvSpPr>
            <a:spLocks noGrp="1"/>
          </p:cNvSpPr>
          <p:nvPr>
            <p:ph type="body" idx="1"/>
          </p:nvPr>
        </p:nvSpPr>
        <p:spPr>
          <a:xfrm>
            <a:off x="551145" y="1603332"/>
            <a:ext cx="11110587" cy="4240044"/>
          </a:xfrm>
        </p:spPr>
        <p:txBody>
          <a:bodyPr>
            <a:normAutofit/>
          </a:bodyPr>
          <a:lstStyle/>
          <a:p>
            <a:pPr>
              <a:defRPr/>
            </a:pPr>
            <a:r>
              <a:rPr lang="en-US" dirty="0"/>
              <a:t>Involves </a:t>
            </a:r>
            <a:r>
              <a:rPr lang="en-US" b="1" dirty="0">
                <a:solidFill>
                  <a:srgbClr val="C00000"/>
                </a:solidFill>
              </a:rPr>
              <a:t>moving the transformed data</a:t>
            </a:r>
            <a:r>
              <a:rPr lang="en-US" dirty="0"/>
              <a:t> into the target data warehouse. </a:t>
            </a:r>
          </a:p>
          <a:p>
            <a:pPr>
              <a:defRPr/>
            </a:pPr>
            <a:r>
              <a:rPr lang="en-US" dirty="0"/>
              <a:t>The loading process can be done in </a:t>
            </a:r>
            <a:r>
              <a:rPr lang="en-US" b="1" dirty="0">
                <a:solidFill>
                  <a:srgbClr val="C00000"/>
                </a:solidFill>
              </a:rPr>
              <a:t>batches</a:t>
            </a:r>
            <a:r>
              <a:rPr lang="en-US" dirty="0"/>
              <a:t> or as a </a:t>
            </a:r>
            <a:r>
              <a:rPr lang="en-US" b="1" dirty="0">
                <a:solidFill>
                  <a:srgbClr val="C00000"/>
                </a:solidFill>
              </a:rPr>
              <a:t>continuous stream</a:t>
            </a:r>
            <a:r>
              <a:rPr lang="en-US" dirty="0"/>
              <a:t>, depending on the data's volume and the business requirements.</a:t>
            </a:r>
          </a:p>
          <a:p>
            <a:pPr>
              <a:defRPr/>
            </a:pPr>
            <a:r>
              <a:rPr lang="en-US" b="1" dirty="0">
                <a:solidFill>
                  <a:srgbClr val="C00000"/>
                </a:solidFill>
              </a:rPr>
              <a:t>Objective:</a:t>
            </a:r>
            <a:r>
              <a:rPr lang="en-US" dirty="0">
                <a:solidFill>
                  <a:srgbClr val="C00000"/>
                </a:solidFill>
              </a:rPr>
              <a:t> </a:t>
            </a:r>
            <a:r>
              <a:rPr lang="en-US" dirty="0"/>
              <a:t>To ensure that data is accurately loaded into the data warehouse without loss or corruption.</a:t>
            </a:r>
          </a:p>
          <a:p>
            <a:pPr>
              <a:defRPr/>
            </a:pPr>
            <a:r>
              <a:rPr lang="en-GB" sz="2400" b="1" dirty="0">
                <a:solidFill>
                  <a:srgbClr val="C00000"/>
                </a:solidFill>
              </a:rPr>
              <a:t>Challenges: </a:t>
            </a:r>
          </a:p>
          <a:p>
            <a:pPr lvl="1">
              <a:defRPr/>
            </a:pPr>
            <a:r>
              <a:rPr lang="en-US" dirty="0"/>
              <a:t>Ensuring data integrity and avoiding data loss or corruption during loading.</a:t>
            </a:r>
            <a:endParaRPr lang="en-GB" dirty="0"/>
          </a:p>
          <a:p>
            <a:pPr lvl="1">
              <a:defRPr/>
            </a:pPr>
            <a:r>
              <a:rPr lang="en-US" dirty="0"/>
              <a:t>Minimizing the load's impact on data warehouse performance.</a:t>
            </a:r>
            <a:endParaRPr lang="en-GB" dirty="0"/>
          </a:p>
        </p:txBody>
      </p:sp>
    </p:spTree>
    <p:extLst>
      <p:ext uri="{BB962C8B-B14F-4D97-AF65-F5344CB8AC3E}">
        <p14:creationId xmlns:p14="http://schemas.microsoft.com/office/powerpoint/2010/main" val="223205399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1145" y="409628"/>
            <a:ext cx="6501008" cy="794775"/>
          </a:xfrm>
        </p:spPr>
        <p:txBody>
          <a:bodyPr>
            <a:noAutofit/>
          </a:bodyPr>
          <a:lstStyle/>
          <a:p>
            <a:r>
              <a:rPr lang="en-GB" sz="3800" b="1" dirty="0">
                <a:solidFill>
                  <a:srgbClr val="6C1D35"/>
                </a:solidFill>
              </a:rPr>
              <a:t>Problems of Data Warehousing</a:t>
            </a:r>
            <a:endParaRPr lang="en-US" sz="3800" b="1" dirty="0">
              <a:solidFill>
                <a:srgbClr val="6C1D35"/>
              </a:solidFill>
            </a:endParaRPr>
          </a:p>
        </p:txBody>
      </p:sp>
      <p:sp>
        <p:nvSpPr>
          <p:cNvPr id="3" name="Text Placeholder 2"/>
          <p:cNvSpPr>
            <a:spLocks noGrp="1"/>
          </p:cNvSpPr>
          <p:nvPr>
            <p:ph type="body" idx="1"/>
          </p:nvPr>
        </p:nvSpPr>
        <p:spPr>
          <a:xfrm>
            <a:off x="425884" y="1350906"/>
            <a:ext cx="11060483" cy="5285356"/>
          </a:xfrm>
        </p:spPr>
        <p:txBody>
          <a:bodyPr/>
          <a:lstStyle/>
          <a:p>
            <a:pPr algn="just">
              <a:defRPr/>
            </a:pPr>
            <a:r>
              <a:rPr lang="en-US" sz="2200" b="1" dirty="0">
                <a:solidFill>
                  <a:srgbClr val="C00000"/>
                </a:solidFill>
              </a:rPr>
              <a:t>Data Integration Complexity:</a:t>
            </a:r>
            <a:r>
              <a:rPr lang="en-US" sz="2200" dirty="0">
                <a:solidFill>
                  <a:srgbClr val="C00000"/>
                </a:solidFill>
              </a:rPr>
              <a:t> </a:t>
            </a:r>
            <a:r>
              <a:rPr lang="en-US" sz="2200" dirty="0"/>
              <a:t>Combining data from various and often incompatible sources can be challenging and time-consuming.</a:t>
            </a:r>
          </a:p>
          <a:p>
            <a:pPr algn="just">
              <a:defRPr/>
            </a:pPr>
            <a:r>
              <a:rPr lang="en-US" sz="2200" b="1" dirty="0">
                <a:solidFill>
                  <a:srgbClr val="C00000"/>
                </a:solidFill>
              </a:rPr>
              <a:t>High Costs:</a:t>
            </a:r>
            <a:r>
              <a:rPr lang="en-US" sz="2200" dirty="0">
                <a:solidFill>
                  <a:srgbClr val="C00000"/>
                </a:solidFill>
              </a:rPr>
              <a:t> </a:t>
            </a:r>
            <a:r>
              <a:rPr lang="en-US" sz="2200" dirty="0"/>
              <a:t>Requires substantial investment in hardware, software, and ongoing maintenance.</a:t>
            </a:r>
          </a:p>
          <a:p>
            <a:pPr algn="just">
              <a:defRPr/>
            </a:pPr>
            <a:r>
              <a:rPr lang="en-US" sz="2200" b="1" dirty="0">
                <a:solidFill>
                  <a:srgbClr val="C00000"/>
                </a:solidFill>
              </a:rPr>
              <a:t>Data Latency:</a:t>
            </a:r>
            <a:r>
              <a:rPr lang="en-US" sz="2200" dirty="0">
                <a:solidFill>
                  <a:srgbClr val="C00000"/>
                </a:solidFill>
              </a:rPr>
              <a:t> </a:t>
            </a:r>
            <a:r>
              <a:rPr lang="en-US" sz="2200" dirty="0"/>
              <a:t>Data is often not updated in real-time, leading to potential delays in data availability.</a:t>
            </a:r>
          </a:p>
          <a:p>
            <a:pPr algn="just">
              <a:defRPr/>
            </a:pPr>
            <a:r>
              <a:rPr lang="en-US" sz="2200" b="1" dirty="0">
                <a:solidFill>
                  <a:srgbClr val="C00000"/>
                </a:solidFill>
              </a:rPr>
              <a:t>Data Quality Issues:</a:t>
            </a:r>
            <a:r>
              <a:rPr lang="en-US" sz="2200" dirty="0">
                <a:solidFill>
                  <a:srgbClr val="C00000"/>
                </a:solidFill>
              </a:rPr>
              <a:t> </a:t>
            </a:r>
            <a:r>
              <a:rPr lang="en-US" sz="2200" dirty="0"/>
              <a:t>Inconsistent or poor-quality data from source systems can negatively impact the accuracy of analysis.</a:t>
            </a:r>
            <a:endParaRPr lang="en-GB" sz="2200" dirty="0"/>
          </a:p>
          <a:p>
            <a:pPr algn="just">
              <a:defRPr/>
            </a:pPr>
            <a:r>
              <a:rPr lang="en-US" sz="2200" b="1" dirty="0">
                <a:solidFill>
                  <a:srgbClr val="C00000"/>
                </a:solidFill>
              </a:rPr>
              <a:t>Scalability Challenges:</a:t>
            </a:r>
            <a:r>
              <a:rPr lang="en-US" sz="2200" dirty="0">
                <a:solidFill>
                  <a:srgbClr val="C00000"/>
                </a:solidFill>
              </a:rPr>
              <a:t> </a:t>
            </a:r>
            <a:r>
              <a:rPr lang="en-US" sz="2200" dirty="0"/>
              <a:t>As data volume grows, the warehouse may require significant upgrades to handle increased load and maintain performance.</a:t>
            </a:r>
            <a:endParaRPr lang="en-GB" sz="2200" dirty="0"/>
          </a:p>
          <a:p>
            <a:pPr algn="just">
              <a:defRPr/>
            </a:pPr>
            <a:r>
              <a:rPr lang="en-US" sz="2200" b="1" dirty="0">
                <a:solidFill>
                  <a:srgbClr val="C00000"/>
                </a:solidFill>
              </a:rPr>
              <a:t>Maintenance Overhead:</a:t>
            </a:r>
            <a:r>
              <a:rPr lang="en-US" sz="2200" dirty="0">
                <a:solidFill>
                  <a:srgbClr val="C00000"/>
                </a:solidFill>
              </a:rPr>
              <a:t> </a:t>
            </a:r>
            <a:r>
              <a:rPr lang="en-US" sz="2200" dirty="0"/>
              <a:t>Ongoing effort is required to update, manage, and optimize the data warehouse environment.</a:t>
            </a:r>
            <a:endParaRPr lang="en-GB" sz="2200" dirty="0"/>
          </a:p>
          <a:p>
            <a:pPr algn="just">
              <a:defRPr/>
            </a:pPr>
            <a:r>
              <a:rPr lang="en-US" sz="2200" b="1" dirty="0">
                <a:solidFill>
                  <a:srgbClr val="C00000"/>
                </a:solidFill>
              </a:rPr>
              <a:t>Security Risks:</a:t>
            </a:r>
            <a:r>
              <a:rPr lang="en-US" sz="2200" dirty="0">
                <a:solidFill>
                  <a:srgbClr val="C00000"/>
                </a:solidFill>
              </a:rPr>
              <a:t> </a:t>
            </a:r>
            <a:r>
              <a:rPr lang="en-US" sz="2200" dirty="0"/>
              <a:t>Large repositories of sensitive data may pose security risks if not adequately protected.</a:t>
            </a:r>
            <a:endParaRPr lang="en-GB" sz="2200" dirty="0"/>
          </a:p>
        </p:txBody>
      </p:sp>
    </p:spTree>
    <p:extLst>
      <p:ext uri="{BB962C8B-B14F-4D97-AF65-F5344CB8AC3E}">
        <p14:creationId xmlns:p14="http://schemas.microsoft.com/office/powerpoint/2010/main" val="235452273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9832A7B-17DE-A49A-0D98-B172644510D5}"/>
              </a:ext>
            </a:extLst>
          </p:cNvPr>
          <p:cNvSpPr>
            <a:spLocks noGrp="1"/>
          </p:cNvSpPr>
          <p:nvPr>
            <p:ph type="title"/>
          </p:nvPr>
        </p:nvSpPr>
        <p:spPr>
          <a:xfrm>
            <a:off x="4289858" y="1517230"/>
            <a:ext cx="3612283" cy="1325563"/>
          </a:xfrm>
        </p:spPr>
        <p:txBody>
          <a:bodyPr>
            <a:noAutofit/>
          </a:bodyPr>
          <a:lstStyle/>
          <a:p>
            <a:r>
              <a:rPr lang="en-US" sz="5000" b="1" dirty="0"/>
              <a:t>THANK YOU!</a:t>
            </a:r>
          </a:p>
        </p:txBody>
      </p:sp>
      <p:sp>
        <p:nvSpPr>
          <p:cNvPr id="2" name="Slide Number Placeholder 1">
            <a:extLst>
              <a:ext uri="{FF2B5EF4-FFF2-40B4-BE49-F238E27FC236}">
                <a16:creationId xmlns:a16="http://schemas.microsoft.com/office/drawing/2014/main" id="{624BE87F-5B1E-B127-DCFD-1E4D48217575}"/>
              </a:ext>
            </a:extLst>
          </p:cNvPr>
          <p:cNvSpPr>
            <a:spLocks noGrp="1"/>
          </p:cNvSpPr>
          <p:nvPr>
            <p:ph type="sldNum" sz="quarter" idx="10"/>
          </p:nvPr>
        </p:nvSpPr>
        <p:spPr/>
        <p:txBody>
          <a:bodyPr/>
          <a:lstStyle/>
          <a:p>
            <a:fld id="{7737D3DD-0AB3-4F16-99FA-6262B2B4036D}" type="slidenum">
              <a:rPr lang="en-MY" smtClean="0"/>
              <a:t>40</a:t>
            </a:fld>
            <a:endParaRPr lang="en-MY"/>
          </a:p>
        </p:txBody>
      </p:sp>
      <p:pic>
        <p:nvPicPr>
          <p:cNvPr id="50" name="Picture 49">
            <a:extLst>
              <a:ext uri="{FF2B5EF4-FFF2-40B4-BE49-F238E27FC236}">
                <a16:creationId xmlns:a16="http://schemas.microsoft.com/office/drawing/2014/main" id="{1EC0F348-2D30-7AC1-3CE0-4197AE9882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75188" y="3963599"/>
            <a:ext cx="5327003" cy="400892"/>
          </a:xfrm>
          <a:prstGeom prst="rect">
            <a:avLst/>
          </a:prstGeom>
        </p:spPr>
      </p:pic>
      <p:pic>
        <p:nvPicPr>
          <p:cNvPr id="52" name="Picture 51">
            <a:extLst>
              <a:ext uri="{FF2B5EF4-FFF2-40B4-BE49-F238E27FC236}">
                <a16:creationId xmlns:a16="http://schemas.microsoft.com/office/drawing/2014/main" id="{851558A9-F831-677E-BB04-1C0F9AD9714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25089" y="3429000"/>
            <a:ext cx="5327003" cy="400892"/>
          </a:xfrm>
          <a:prstGeom prst="rect">
            <a:avLst/>
          </a:prstGeom>
        </p:spPr>
      </p:pic>
      <p:pic>
        <p:nvPicPr>
          <p:cNvPr id="54" name="Picture 53">
            <a:extLst>
              <a:ext uri="{FF2B5EF4-FFF2-40B4-BE49-F238E27FC236}">
                <a16:creationId xmlns:a16="http://schemas.microsoft.com/office/drawing/2014/main" id="{FCCD5C17-9FCF-9090-0510-5284D0FCF10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05563" y="3219021"/>
            <a:ext cx="3612283" cy="1221741"/>
          </a:xfrm>
          <a:prstGeom prst="rect">
            <a:avLst/>
          </a:prstGeom>
        </p:spPr>
      </p:pic>
    </p:spTree>
    <p:extLst>
      <p:ext uri="{BB962C8B-B14F-4D97-AF65-F5344CB8AC3E}">
        <p14:creationId xmlns:p14="http://schemas.microsoft.com/office/powerpoint/2010/main" val="1502775014"/>
      </p:ext>
    </p:extLst>
  </p:cSld>
  <p:clrMapOvr>
    <a:masterClrMapping/>
  </p:clrMapOvr>
</p:sld>
</file>

<file path=ppt/theme/theme1.xml><?xml version="1.0" encoding="utf-8"?>
<a:theme xmlns:a="http://schemas.openxmlformats.org/drawingml/2006/main" name="Office Theme">
  <a:themeElements>
    <a:clrScheme name="Custom 2">
      <a:dk1>
        <a:sysClr val="windowText" lastClr="000000"/>
      </a:dk1>
      <a:lt1>
        <a:sysClr val="window" lastClr="FFFFFF"/>
      </a:lt1>
      <a:dk2>
        <a:srgbClr val="696464"/>
      </a:dk2>
      <a:lt2>
        <a:srgbClr val="E9E5DC"/>
      </a:lt2>
      <a:accent1>
        <a:srgbClr val="6C1D35"/>
      </a:accent1>
      <a:accent2>
        <a:srgbClr val="9B2D1F"/>
      </a:accent2>
      <a:accent3>
        <a:srgbClr val="A28E6A"/>
      </a:accent3>
      <a:accent4>
        <a:srgbClr val="956251"/>
      </a:accent4>
      <a:accent5>
        <a:srgbClr val="918485"/>
      </a:accent5>
      <a:accent6>
        <a:srgbClr val="6C3636"/>
      </a:accent6>
      <a:hlink>
        <a:srgbClr val="CC9900"/>
      </a:hlink>
      <a:folHlink>
        <a:srgbClr val="96A9A9"/>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7345</TotalTime>
  <Words>3224</Words>
  <Application>Microsoft Office PowerPoint</Application>
  <PresentationFormat>Widescreen</PresentationFormat>
  <Paragraphs>293</Paragraphs>
  <Slides>40</Slides>
  <Notes>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40</vt:i4>
      </vt:variant>
    </vt:vector>
  </HeadingPairs>
  <TitlesOfParts>
    <vt:vector size="48" baseType="lpstr">
      <vt:lpstr>Arial</vt:lpstr>
      <vt:lpstr>Calibri</vt:lpstr>
      <vt:lpstr>Helvetica</vt:lpstr>
      <vt:lpstr>Montserrat Semi</vt:lpstr>
      <vt:lpstr>Times</vt:lpstr>
      <vt:lpstr>Times New Roman</vt:lpstr>
      <vt:lpstr>Verdana</vt:lpstr>
      <vt:lpstr>Office Theme</vt:lpstr>
      <vt:lpstr>PowerPoint Presentation</vt:lpstr>
      <vt:lpstr>LECTURE LEARNING OUTCOME</vt:lpstr>
      <vt:lpstr>What is Data Warehouse?</vt:lpstr>
      <vt:lpstr>Definition: Data Warehouse</vt:lpstr>
      <vt:lpstr>Data Warehousing - Introduction</vt:lpstr>
      <vt:lpstr>Data Warehouse Usage - Examples</vt:lpstr>
      <vt:lpstr>Concepts of Data Warehousing</vt:lpstr>
      <vt:lpstr>Benefits of Data Warehousing</vt:lpstr>
      <vt:lpstr>Characteristics of data in DW</vt:lpstr>
      <vt:lpstr>Design of Architecture of a Data Warehouse</vt:lpstr>
      <vt:lpstr>Architecture Components of a Data Warehouse</vt:lpstr>
      <vt:lpstr>Architecture Components of a Data Warehouse (cont.)</vt:lpstr>
      <vt:lpstr>Data Warehouse Architecture</vt:lpstr>
      <vt:lpstr>Multi-Tiered Architecture of Data Warehouse</vt:lpstr>
      <vt:lpstr>Designing a Data Warehouse</vt:lpstr>
      <vt:lpstr>Designing a Data Warehouse</vt:lpstr>
      <vt:lpstr>Data Mart</vt:lpstr>
      <vt:lpstr>Reasons for Creating a Data Mart </vt:lpstr>
      <vt:lpstr>Designing a Data Warehouse</vt:lpstr>
      <vt:lpstr>Dimensionality Modeling</vt:lpstr>
      <vt:lpstr>Dimensionality Modeling (cont.)</vt:lpstr>
      <vt:lpstr>Star Schema</vt:lpstr>
      <vt:lpstr>Example of Star Schema</vt:lpstr>
      <vt:lpstr>Snowflake Schema</vt:lpstr>
      <vt:lpstr>Example of Snowflake Schema (1)</vt:lpstr>
      <vt:lpstr>Example of Snowflake Schema (2)</vt:lpstr>
      <vt:lpstr>Online Transaction Processing (OLTP)</vt:lpstr>
      <vt:lpstr>Online Analytical Processing (OLAP)</vt:lpstr>
      <vt:lpstr>OLTP vs. OLAP</vt:lpstr>
      <vt:lpstr>Examples of OLAP Applications in Various Functional Areas</vt:lpstr>
      <vt:lpstr>Comparison of OLTP Systems and Data Warehousing</vt:lpstr>
      <vt:lpstr>Data Warehouse Queries</vt:lpstr>
      <vt:lpstr>Example - Data Warehouse Queries </vt:lpstr>
      <vt:lpstr>Example - Data Warehouse Queries (cont.)</vt:lpstr>
      <vt:lpstr>E T L in Data Warehousing</vt:lpstr>
      <vt:lpstr>E T L in Data Warehousing - Extraction</vt:lpstr>
      <vt:lpstr>E T L in Data Warehousing – Transformation</vt:lpstr>
      <vt:lpstr>E T L in Data Warehousing - Loading</vt:lpstr>
      <vt:lpstr>Problems of Data Warehousing</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NUR AMALINA BINTI HAMIDI</dc:creator>
  <cp:lastModifiedBy>Noor Hidayah Zakaria</cp:lastModifiedBy>
  <cp:revision>51</cp:revision>
  <dcterms:created xsi:type="dcterms:W3CDTF">2023-12-31T03:09:43Z</dcterms:created>
  <dcterms:modified xsi:type="dcterms:W3CDTF">2024-12-27T15:06:03Z</dcterms:modified>
</cp:coreProperties>
</file>