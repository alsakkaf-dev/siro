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Federo"/>
      <p:regular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hS8iki6lWE+Shk3/c9zujsXbE8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Federo-regular.fntdata"/><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8" name="Google Shape;9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3" name="Google Shape;10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4" name="Google Shape;10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Analysts disagree on exactly how many phases there are in the SDLC. </a:t>
            </a:r>
            <a:endParaRPr/>
          </a:p>
          <a:p>
            <a:pPr indent="0" lvl="0" marL="0" rtl="0" algn="l">
              <a:lnSpc>
                <a:spcPct val="100000"/>
              </a:lnSpc>
              <a:spcBef>
                <a:spcPts val="0"/>
              </a:spcBef>
              <a:spcAft>
                <a:spcPts val="0"/>
              </a:spcAft>
              <a:buSzPts val="1400"/>
              <a:buNone/>
            </a:pPr>
            <a:r>
              <a:rPr lang="en-US"/>
              <a:t>Each phase consists of activities which overlap into other phases and then taper off, rather then done in separate steps.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1" name="Google Shape;11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8" name="Google Shape;11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9" name="Google Shape;11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Critical to the success of the rest of the project, because no one wants to waste time addressing the wrong problem.</a:t>
            </a:r>
            <a:endParaRPr/>
          </a:p>
          <a:p>
            <a:pPr indent="0" lvl="0" marL="0" rtl="0" algn="l">
              <a:lnSpc>
                <a:spcPct val="100000"/>
              </a:lnSpc>
              <a:spcBef>
                <a:spcPts val="0"/>
              </a:spcBef>
              <a:spcAft>
                <a:spcPts val="0"/>
              </a:spcAft>
              <a:buSzPts val="1400"/>
              <a:buNone/>
            </a:pPr>
            <a:r>
              <a:rPr lang="en-US"/>
              <a:t>Problems – generally the reason the analyst was called in in the first place.</a:t>
            </a:r>
            <a:endParaRPr/>
          </a:p>
          <a:p>
            <a:pPr indent="0" lvl="0" marL="0" rtl="0" algn="l">
              <a:lnSpc>
                <a:spcPct val="100000"/>
              </a:lnSpc>
              <a:spcBef>
                <a:spcPts val="0"/>
              </a:spcBef>
              <a:spcAft>
                <a:spcPts val="0"/>
              </a:spcAft>
              <a:buSzPts val="1400"/>
              <a:buNone/>
            </a:pPr>
            <a:r>
              <a:rPr lang="en-US"/>
              <a:t>Opportunities – situations that the analyst believes can be improved through the use of computerized information systems.</a:t>
            </a:r>
            <a:endParaRPr/>
          </a:p>
          <a:p>
            <a:pPr indent="0" lvl="0" marL="0" rtl="0" algn="l">
              <a:lnSpc>
                <a:spcPct val="100000"/>
              </a:lnSpc>
              <a:spcBef>
                <a:spcPts val="0"/>
              </a:spcBef>
              <a:spcAft>
                <a:spcPts val="0"/>
              </a:spcAft>
              <a:buSzPts val="1400"/>
              <a:buNone/>
            </a:pPr>
            <a:r>
              <a:rPr lang="en-US"/>
              <a:t>Objectives – how can the business reach its objectives by addressing specific problems or opportunities.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36" name="Google Shape;13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7" name="Google Shape;13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Determining human needs of the users involved.</a:t>
            </a:r>
            <a:endParaRPr/>
          </a:p>
          <a:p>
            <a:pPr indent="0" lvl="0" marL="0" rtl="0" algn="l">
              <a:lnSpc>
                <a:spcPct val="100000"/>
              </a:lnSpc>
              <a:spcBef>
                <a:spcPts val="0"/>
              </a:spcBef>
              <a:spcAft>
                <a:spcPts val="0"/>
              </a:spcAft>
              <a:buSzPts val="1400"/>
              <a:buNone/>
            </a:pPr>
            <a:r>
              <a:rPr lang="en-US"/>
              <a:t>Uses activities to pose and answer questions concerning human-computer interaction:</a:t>
            </a:r>
            <a:endParaRPr/>
          </a:p>
          <a:p>
            <a:pPr indent="0" lvl="0" marL="0" rtl="0" algn="l">
              <a:lnSpc>
                <a:spcPct val="100000"/>
              </a:lnSpc>
              <a:spcBef>
                <a:spcPts val="0"/>
              </a:spcBef>
              <a:spcAft>
                <a:spcPts val="0"/>
              </a:spcAft>
              <a:buSzPts val="1400"/>
              <a:buNone/>
            </a:pPr>
            <a:r>
              <a:rPr lang="en-US"/>
              <a:t>	What are the users strengths and limitations?</a:t>
            </a:r>
            <a:endParaRPr/>
          </a:p>
          <a:p>
            <a:pPr indent="0" lvl="0" marL="0" rtl="0" algn="l">
              <a:lnSpc>
                <a:spcPct val="100000"/>
              </a:lnSpc>
              <a:spcBef>
                <a:spcPts val="0"/>
              </a:spcBef>
              <a:spcAft>
                <a:spcPts val="0"/>
              </a:spcAft>
              <a:buSzPts val="1400"/>
              <a:buNone/>
            </a:pPr>
            <a:r>
              <a:rPr lang="en-US"/>
              <a:t>	</a:t>
            </a:r>
            <a:endParaRPr/>
          </a:p>
          <a:p>
            <a:pPr indent="0" lvl="0" marL="0" rtl="0" algn="l">
              <a:lnSpc>
                <a:spcPct val="100000"/>
              </a:lnSpc>
              <a:spcBef>
                <a:spcPts val="0"/>
              </a:spcBef>
              <a:spcAft>
                <a:spcPts val="0"/>
              </a:spcAft>
              <a:buSzPts val="1400"/>
              <a:buNone/>
            </a:pPr>
            <a:r>
              <a:rPr lang="en-US"/>
              <a:t>Trying to understand what information users need to perform their jobs.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Who – the people who are involved</a:t>
            </a:r>
            <a:endParaRPr/>
          </a:p>
          <a:p>
            <a:pPr indent="0" lvl="0" marL="0" rtl="0" algn="l">
              <a:lnSpc>
                <a:spcPct val="100000"/>
              </a:lnSpc>
              <a:spcBef>
                <a:spcPts val="0"/>
              </a:spcBef>
              <a:spcAft>
                <a:spcPts val="0"/>
              </a:spcAft>
              <a:buSzPts val="1400"/>
              <a:buNone/>
            </a:pPr>
            <a:r>
              <a:rPr lang="en-US"/>
              <a:t>What – the business activity</a:t>
            </a:r>
            <a:endParaRPr/>
          </a:p>
          <a:p>
            <a:pPr indent="0" lvl="0" marL="0" rtl="0" algn="l">
              <a:lnSpc>
                <a:spcPct val="100000"/>
              </a:lnSpc>
              <a:spcBef>
                <a:spcPts val="0"/>
              </a:spcBef>
              <a:spcAft>
                <a:spcPts val="0"/>
              </a:spcAft>
              <a:buSzPts val="1400"/>
              <a:buNone/>
            </a:pPr>
            <a:r>
              <a:rPr lang="en-US"/>
              <a:t>Where – the environment in which the work takes place</a:t>
            </a:r>
            <a:endParaRPr/>
          </a:p>
          <a:p>
            <a:pPr indent="0" lvl="0" marL="0" rtl="0" algn="l">
              <a:lnSpc>
                <a:spcPct val="100000"/>
              </a:lnSpc>
              <a:spcBef>
                <a:spcPts val="0"/>
              </a:spcBef>
              <a:spcAft>
                <a:spcPts val="0"/>
              </a:spcAft>
              <a:buSzPts val="1400"/>
              <a:buNone/>
            </a:pPr>
            <a:r>
              <a:rPr lang="en-US"/>
              <a:t>When – the timing</a:t>
            </a:r>
            <a:endParaRPr/>
          </a:p>
          <a:p>
            <a:pPr indent="0" lvl="0" marL="0" rtl="0" algn="l">
              <a:lnSpc>
                <a:spcPct val="100000"/>
              </a:lnSpc>
              <a:spcBef>
                <a:spcPts val="0"/>
              </a:spcBef>
              <a:spcAft>
                <a:spcPts val="0"/>
              </a:spcAft>
              <a:buSzPts val="1400"/>
              <a:buNone/>
            </a:pPr>
            <a:r>
              <a:rPr lang="en-US"/>
              <a:t>How – how the current procedures are performed</a:t>
            </a:r>
            <a:endParaRPr/>
          </a:p>
          <a:p>
            <a:pPr indent="0" lvl="0" marL="0" rtl="0" algn="l">
              <a:lnSpc>
                <a:spcPct val="100000"/>
              </a:lnSpc>
              <a:spcBef>
                <a:spcPts val="0"/>
              </a:spcBef>
              <a:spcAft>
                <a:spcPts val="0"/>
              </a:spcAft>
              <a:buSzPts val="1400"/>
              <a:buNone/>
            </a:pPr>
            <a:r>
              <a:rPr lang="en-US"/>
              <a:t>Why – why the system uses the current system</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54" name="Google Shape;15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5" name="Google Shape;155;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Data Flow Diagrams – chart the input, processes, and output of the business’s functions in a structured graphical form.</a:t>
            </a:r>
            <a:endParaRPr/>
          </a:p>
          <a:p>
            <a:pPr indent="0" lvl="0" marL="0" rtl="0" algn="l">
              <a:lnSpc>
                <a:spcPct val="100000"/>
              </a:lnSpc>
              <a:spcBef>
                <a:spcPts val="0"/>
              </a:spcBef>
              <a:spcAft>
                <a:spcPts val="0"/>
              </a:spcAft>
              <a:buSzPts val="1400"/>
              <a:buNone/>
            </a:pPr>
            <a:r>
              <a:rPr lang="en-US"/>
              <a:t>Data dictionary – lists all the data items used in the system, as well as their specifications.</a:t>
            </a:r>
            <a:endParaRPr/>
          </a:p>
          <a:p>
            <a:pPr indent="0" lvl="0" marL="0" rtl="0" algn="l">
              <a:lnSpc>
                <a:spcPct val="100000"/>
              </a:lnSpc>
              <a:spcBef>
                <a:spcPts val="0"/>
              </a:spcBef>
              <a:spcAft>
                <a:spcPts val="0"/>
              </a:spcAft>
              <a:buSzPts val="1400"/>
              <a:buNone/>
            </a:pPr>
            <a:r>
              <a:rPr lang="en-US"/>
              <a:t>Structured decisions made – those for which the conditions, condition alternatives, actions, and action rules can be determined.</a:t>
            </a:r>
            <a:endParaRPr/>
          </a:p>
          <a:p>
            <a:pPr indent="0" lvl="0" marL="0" rtl="0" algn="l">
              <a:lnSpc>
                <a:spcPct val="100000"/>
              </a:lnSpc>
              <a:spcBef>
                <a:spcPts val="0"/>
              </a:spcBef>
              <a:spcAft>
                <a:spcPts val="0"/>
              </a:spcAft>
              <a:buSzPts val="1400"/>
              <a:buNone/>
            </a:pPr>
            <a:r>
              <a:rPr lang="en-US"/>
              <a:t>Structure decision methods:</a:t>
            </a:r>
            <a:endParaRPr/>
          </a:p>
          <a:p>
            <a:pPr indent="0" lvl="0" marL="0" rtl="0" algn="l">
              <a:lnSpc>
                <a:spcPct val="100000"/>
              </a:lnSpc>
              <a:spcBef>
                <a:spcPts val="0"/>
              </a:spcBef>
              <a:spcAft>
                <a:spcPts val="0"/>
              </a:spcAft>
              <a:buSzPts val="1400"/>
              <a:buNone/>
            </a:pPr>
            <a:r>
              <a:rPr lang="en-US"/>
              <a:t>	structures English</a:t>
            </a:r>
            <a:endParaRPr/>
          </a:p>
          <a:p>
            <a:pPr indent="0" lvl="0" marL="0" rtl="0" algn="l">
              <a:lnSpc>
                <a:spcPct val="100000"/>
              </a:lnSpc>
              <a:spcBef>
                <a:spcPts val="0"/>
              </a:spcBef>
              <a:spcAft>
                <a:spcPts val="0"/>
              </a:spcAft>
              <a:buSzPts val="1400"/>
              <a:buNone/>
            </a:pPr>
            <a:r>
              <a:rPr lang="en-US"/>
              <a:t>	decision tables</a:t>
            </a:r>
            <a:endParaRPr/>
          </a:p>
          <a:p>
            <a:pPr indent="0" lvl="0" marL="0" rtl="0" algn="l">
              <a:lnSpc>
                <a:spcPct val="100000"/>
              </a:lnSpc>
              <a:spcBef>
                <a:spcPts val="0"/>
              </a:spcBef>
              <a:spcAft>
                <a:spcPts val="0"/>
              </a:spcAft>
              <a:buSzPts val="1400"/>
              <a:buNone/>
            </a:pPr>
            <a:r>
              <a:rPr lang="en-US"/>
              <a:t>	decision trees</a:t>
            </a:r>
            <a:endParaRPr/>
          </a:p>
          <a:p>
            <a:pPr indent="0" lvl="0" marL="0" rtl="0" algn="l">
              <a:lnSpc>
                <a:spcPct val="100000"/>
              </a:lnSpc>
              <a:spcBef>
                <a:spcPts val="0"/>
              </a:spcBef>
              <a:spcAft>
                <a:spcPts val="0"/>
              </a:spcAft>
              <a:buSzPts val="1400"/>
              <a:buNone/>
            </a:pPr>
            <a:r>
              <a:rPr lang="en-US"/>
              <a:t>System proposal – summarizes what has been found</a:t>
            </a:r>
            <a:endParaRPr/>
          </a:p>
          <a:p>
            <a:pPr indent="0" lvl="0" marL="0" rtl="0" algn="l">
              <a:lnSpc>
                <a:spcPct val="100000"/>
              </a:lnSpc>
              <a:spcBef>
                <a:spcPts val="0"/>
              </a:spcBef>
              <a:spcAft>
                <a:spcPts val="0"/>
              </a:spcAft>
              <a:buSzPts val="1400"/>
              <a:buNone/>
            </a:pPr>
            <a:r>
              <a:rPr lang="en-US"/>
              <a:t>	about users</a:t>
            </a:r>
            <a:endParaRPr/>
          </a:p>
          <a:p>
            <a:pPr indent="0" lvl="0" marL="0" rtl="0" algn="l">
              <a:lnSpc>
                <a:spcPct val="100000"/>
              </a:lnSpc>
              <a:spcBef>
                <a:spcPts val="0"/>
              </a:spcBef>
              <a:spcAft>
                <a:spcPts val="0"/>
              </a:spcAft>
              <a:buSzPts val="1400"/>
              <a:buNone/>
            </a:pPr>
            <a:r>
              <a:rPr lang="en-US"/>
              <a:t>	usability and usefulness of current system</a:t>
            </a:r>
            <a:endParaRPr/>
          </a:p>
          <a:p>
            <a:pPr indent="0" lvl="0" marL="0" rtl="0" algn="l">
              <a:lnSpc>
                <a:spcPct val="100000"/>
              </a:lnSpc>
              <a:spcBef>
                <a:spcPts val="0"/>
              </a:spcBef>
              <a:spcAft>
                <a:spcPts val="0"/>
              </a:spcAft>
              <a:buSzPts val="1400"/>
              <a:buNone/>
            </a:pPr>
            <a:r>
              <a:rPr lang="en-US"/>
              <a:t>	provides cost/benefit analysis of alternatives</a:t>
            </a:r>
            <a:endParaRPr/>
          </a:p>
          <a:p>
            <a:pPr indent="0" lvl="0" marL="0" rtl="0" algn="l">
              <a:lnSpc>
                <a:spcPct val="100000"/>
              </a:lnSpc>
              <a:spcBef>
                <a:spcPts val="0"/>
              </a:spcBef>
              <a:spcAft>
                <a:spcPts val="0"/>
              </a:spcAft>
              <a:buSzPts val="1400"/>
              <a:buNone/>
            </a:pPr>
            <a:r>
              <a:rPr lang="en-US"/>
              <a:t>	makes recommendations on what (if anything) should be done</a:t>
            </a:r>
            <a:endParaRPr/>
          </a:p>
          <a:p>
            <a:pPr indent="0" lvl="0" marL="0" rtl="0" algn="l">
              <a:lnSpc>
                <a:spcPct val="100000"/>
              </a:lnSpc>
              <a:spcBef>
                <a:spcPts val="0"/>
              </a:spcBef>
              <a:spcAft>
                <a:spcPts val="0"/>
              </a:spcAft>
              <a:buSzPts val="1400"/>
              <a:buNone/>
            </a:pPr>
            <a:r>
              <a:rPr lang="en-US"/>
              <a:t>The recommendation or solution is based on the analysts individual qualities and professional training and their interaction with users.</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72" name="Google Shape;172;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3" name="Google Shape;173;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Uses the information collected earlier to accomplish the logical design of the information system:</a:t>
            </a:r>
            <a:endParaRPr/>
          </a:p>
          <a:p>
            <a:pPr indent="0" lvl="0" marL="0" rtl="0" algn="l">
              <a:lnSpc>
                <a:spcPct val="100000"/>
              </a:lnSpc>
              <a:spcBef>
                <a:spcPts val="0"/>
              </a:spcBef>
              <a:spcAft>
                <a:spcPts val="0"/>
              </a:spcAft>
              <a:buSzPts val="1400"/>
              <a:buNone/>
            </a:pPr>
            <a:r>
              <a:rPr lang="en-US"/>
              <a:t>	designs procedures for users to help them accurately enter data</a:t>
            </a:r>
            <a:endParaRPr/>
          </a:p>
          <a:p>
            <a:pPr indent="0" lvl="0" marL="0" rtl="0" algn="l">
              <a:lnSpc>
                <a:spcPct val="100000"/>
              </a:lnSpc>
              <a:spcBef>
                <a:spcPts val="0"/>
              </a:spcBef>
              <a:spcAft>
                <a:spcPts val="0"/>
              </a:spcAft>
              <a:buSzPts val="1400"/>
              <a:buNone/>
            </a:pPr>
            <a:r>
              <a:rPr lang="en-US"/>
              <a:t>	provides for users to complete effective input to the information system</a:t>
            </a:r>
            <a:endParaRPr/>
          </a:p>
          <a:p>
            <a:pPr indent="0" lvl="0" marL="0" rtl="0" algn="l">
              <a:lnSpc>
                <a:spcPct val="100000"/>
              </a:lnSpc>
              <a:spcBef>
                <a:spcPts val="0"/>
              </a:spcBef>
              <a:spcAft>
                <a:spcPts val="0"/>
              </a:spcAft>
              <a:buSzPts val="1400"/>
              <a:buNone/>
            </a:pPr>
            <a:r>
              <a:rPr lang="en-US"/>
              <a:t>	devises the human-computer interface</a:t>
            </a:r>
            <a:endParaRPr/>
          </a:p>
          <a:p>
            <a:pPr indent="0" lvl="0" marL="0" rtl="0" algn="l">
              <a:lnSpc>
                <a:spcPct val="100000"/>
              </a:lnSpc>
              <a:spcBef>
                <a:spcPts val="0"/>
              </a:spcBef>
              <a:spcAft>
                <a:spcPts val="0"/>
              </a:spcAft>
              <a:buSzPts val="1400"/>
              <a:buNone/>
            </a:pPr>
            <a:r>
              <a:rPr lang="en-US"/>
              <a:t>	designs files or databases that will store the data needed by decision makers</a:t>
            </a:r>
            <a:endParaRPr/>
          </a:p>
          <a:p>
            <a:pPr indent="0" lvl="0" marL="0" rtl="0" algn="l">
              <a:lnSpc>
                <a:spcPct val="100000"/>
              </a:lnSpc>
              <a:spcBef>
                <a:spcPts val="0"/>
              </a:spcBef>
              <a:spcAft>
                <a:spcPts val="0"/>
              </a:spcAft>
              <a:buSzPts val="1400"/>
              <a:buNone/>
            </a:pPr>
            <a:r>
              <a:rPr lang="en-US"/>
              <a:t>	designs output (onscreen or printed)</a:t>
            </a:r>
            <a:endParaRPr/>
          </a:p>
          <a:p>
            <a:pPr indent="0" lvl="0" marL="0" rtl="0" algn="l">
              <a:lnSpc>
                <a:spcPct val="100000"/>
              </a:lnSpc>
              <a:spcBef>
                <a:spcPts val="0"/>
              </a:spcBef>
              <a:spcAft>
                <a:spcPts val="0"/>
              </a:spcAft>
              <a:buSzPts val="1400"/>
              <a:buNone/>
            </a:pPr>
            <a:r>
              <a:rPr lang="en-US"/>
              <a:t>	designs controls and backup procedures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90" name="Google Shape;19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1" name="Google Shape;191;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analyst uses structure charts and pseudocode to communicate to the programmer what needs to be programmed.</a:t>
            </a:r>
            <a:endParaRPr/>
          </a:p>
          <a:p>
            <a:pPr indent="0" lvl="0" marL="0" rtl="0" algn="l">
              <a:lnSpc>
                <a:spcPct val="100000"/>
              </a:lnSpc>
              <a:spcBef>
                <a:spcPts val="0"/>
              </a:spcBef>
              <a:spcAft>
                <a:spcPts val="0"/>
              </a:spcAft>
              <a:buSzPts val="1400"/>
              <a:buNone/>
            </a:pPr>
            <a:r>
              <a:rPr lang="en-US"/>
              <a:t>Documentation includes:</a:t>
            </a:r>
            <a:endParaRPr/>
          </a:p>
          <a:p>
            <a:pPr indent="0" lvl="0" marL="0" rtl="0" algn="l">
              <a:lnSpc>
                <a:spcPct val="100000"/>
              </a:lnSpc>
              <a:spcBef>
                <a:spcPts val="0"/>
              </a:spcBef>
              <a:spcAft>
                <a:spcPts val="0"/>
              </a:spcAft>
              <a:buSzPts val="1400"/>
              <a:buNone/>
            </a:pPr>
            <a:r>
              <a:rPr lang="en-US"/>
              <a:t>	procedure manuals</a:t>
            </a:r>
            <a:endParaRPr/>
          </a:p>
          <a:p>
            <a:pPr indent="0" lvl="0" marL="0" rtl="0" algn="l">
              <a:lnSpc>
                <a:spcPct val="100000"/>
              </a:lnSpc>
              <a:spcBef>
                <a:spcPts val="0"/>
              </a:spcBef>
              <a:spcAft>
                <a:spcPts val="0"/>
              </a:spcAft>
              <a:buSzPts val="1400"/>
              <a:buNone/>
            </a:pPr>
            <a:r>
              <a:rPr lang="en-US"/>
              <a:t>	online help</a:t>
            </a:r>
            <a:endParaRPr/>
          </a:p>
          <a:p>
            <a:pPr indent="0" lvl="0" marL="0" rtl="0" algn="l">
              <a:lnSpc>
                <a:spcPct val="100000"/>
              </a:lnSpc>
              <a:spcBef>
                <a:spcPts val="0"/>
              </a:spcBef>
              <a:spcAft>
                <a:spcPts val="0"/>
              </a:spcAft>
              <a:buSzPts val="1400"/>
              <a:buNone/>
            </a:pPr>
            <a:r>
              <a:rPr lang="en-US"/>
              <a:t>	Web sites</a:t>
            </a:r>
            <a:endParaRPr/>
          </a:p>
          <a:p>
            <a:pPr indent="0" lvl="0" marL="0" rtl="0" algn="l">
              <a:lnSpc>
                <a:spcPct val="100000"/>
              </a:lnSpc>
              <a:spcBef>
                <a:spcPts val="0"/>
              </a:spcBef>
              <a:spcAft>
                <a:spcPts val="0"/>
              </a:spcAft>
              <a:buSzPts val="1400"/>
              <a:buNone/>
            </a:pPr>
            <a:r>
              <a:rPr lang="en-US"/>
              <a:t>	“Read Me” files</a:t>
            </a:r>
            <a:endParaRPr/>
          </a:p>
          <a:p>
            <a:pPr indent="0" lvl="0" marL="0" rtl="0" algn="l">
              <a:lnSpc>
                <a:spcPct val="100000"/>
              </a:lnSpc>
              <a:spcBef>
                <a:spcPts val="0"/>
              </a:spcBef>
              <a:spcAft>
                <a:spcPts val="0"/>
              </a:spcAft>
              <a:buSzPts val="1400"/>
              <a:buNone/>
            </a:pPr>
            <a:r>
              <a:rPr lang="en-US"/>
              <a:t>Because users are involved from the beginning, the documentation should address the questions they have raised and solved jointly with the analyst.</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08" name="Google Shape;20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9" name="Google Shape;20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Testing should take place first with sample data and then with actual data.</a:t>
            </a:r>
            <a:endParaRPr/>
          </a:p>
          <a:p>
            <a:pPr indent="0" lvl="0" marL="0" rtl="0" algn="l">
              <a:lnSpc>
                <a:spcPct val="100000"/>
              </a:lnSpc>
              <a:spcBef>
                <a:spcPts val="0"/>
              </a:spcBef>
              <a:spcAft>
                <a:spcPts val="0"/>
              </a:spcAft>
              <a:buSzPts val="1400"/>
              <a:buNone/>
            </a:pPr>
            <a:r>
              <a:rPr lang="en-US"/>
              <a:t>Testing is done by both the programmers and the analyst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maintenance started here is carried out routinely through the life of the system.</a:t>
            </a:r>
            <a:endParaRPr/>
          </a:p>
          <a:p>
            <a:pPr indent="0" lvl="0" marL="0" rtl="0" algn="l">
              <a:lnSpc>
                <a:spcPct val="100000"/>
              </a:lnSpc>
              <a:spcBef>
                <a:spcPts val="0"/>
              </a:spcBef>
              <a:spcAft>
                <a:spcPts val="0"/>
              </a:spcAft>
              <a:buSzPts val="1400"/>
              <a:buNone/>
            </a:pPr>
            <a:r>
              <a:rPr lang="en-US"/>
              <a:t> 	updates may be performed via a vendor site on the Web.</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26" name="Google Shape;22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7" name="Google Shape;227;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Training users to handle the system.</a:t>
            </a:r>
            <a:endParaRPr/>
          </a:p>
          <a:p>
            <a:pPr indent="0" lvl="0" marL="0" rtl="0" algn="l">
              <a:lnSpc>
                <a:spcPct val="100000"/>
              </a:lnSpc>
              <a:spcBef>
                <a:spcPts val="0"/>
              </a:spcBef>
              <a:spcAft>
                <a:spcPts val="0"/>
              </a:spcAft>
              <a:buSzPts val="1400"/>
              <a:buNone/>
            </a:pPr>
            <a:r>
              <a:rPr lang="en-US"/>
              <a:t>System conversion – converting files from old formats to new ones, or building a database, installing equipment, and bringing the new system into production.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Actually evaluation takes place during every phase.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pic>
        <p:nvPicPr>
          <p:cNvPr id="14" name="Google Shape;14;p7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5" name="Google Shape;15;p7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rgbClr val="000000"/>
              </a:buClr>
              <a:buSzPts val="1400"/>
              <a:buFont typeface="Arial"/>
              <a:buNone/>
              <a:defRPr b="0" i="0" sz="60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6" name="Google Shape;16;p7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7" name="Google Shape;17;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0" name="Shape 20"/>
        <p:cNvGrpSpPr/>
        <p:nvPr/>
      </p:nvGrpSpPr>
      <p:grpSpPr>
        <a:xfrm>
          <a:off x="0" y="0"/>
          <a:ext cx="0" cy="0"/>
          <a:chOff x="0" y="0"/>
          <a:chExt cx="0" cy="0"/>
        </a:xfrm>
      </p:grpSpPr>
      <p:pic>
        <p:nvPicPr>
          <p:cNvPr id="21" name="Google Shape;21;p7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 name="Google Shape;22;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75"/>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7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76"/>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7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33" name="Google Shape;33;p7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7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 name="Google Shape;35;p7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7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7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8" name="Shape 38"/>
        <p:cNvGrpSpPr/>
        <p:nvPr/>
      </p:nvGrpSpPr>
      <p:grpSpPr>
        <a:xfrm>
          <a:off x="0" y="0"/>
          <a:ext cx="0" cy="0"/>
          <a:chOff x="0" y="0"/>
          <a:chExt cx="0" cy="0"/>
        </a:xfrm>
      </p:grpSpPr>
      <p:sp>
        <p:nvSpPr>
          <p:cNvPr id="39" name="Google Shape;39;p77"/>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7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43" name="Shape 43"/>
        <p:cNvGrpSpPr/>
        <p:nvPr/>
      </p:nvGrpSpPr>
      <p:grpSpPr>
        <a:xfrm>
          <a:off x="0" y="0"/>
          <a:ext cx="0" cy="0"/>
          <a:chOff x="0" y="0"/>
          <a:chExt cx="0" cy="0"/>
        </a:xfrm>
      </p:grpSpPr>
      <p:pic>
        <p:nvPicPr>
          <p:cNvPr id="44" name="Google Shape;44;p7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5" name="Google Shape;45;p7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46" name="Google Shape;46;p7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49" name="Shape 49"/>
        <p:cNvGrpSpPr/>
        <p:nvPr/>
      </p:nvGrpSpPr>
      <p:grpSpPr>
        <a:xfrm>
          <a:off x="0" y="0"/>
          <a:ext cx="0" cy="0"/>
          <a:chOff x="0" y="0"/>
          <a:chExt cx="0" cy="0"/>
        </a:xfrm>
      </p:grpSpPr>
      <p:pic>
        <p:nvPicPr>
          <p:cNvPr id="50" name="Google Shape;50;p7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1" name="Google Shape;51;p7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52" name="Google Shape;52;p7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8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57" name="Google Shape;57;p8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8" name="Google Shape;58;p8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59" name="Google Shape;59;p8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8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64" name="Google Shape;64;p81"/>
          <p:cNvSpPr/>
          <p:nvPr>
            <p:ph idx="2" type="pic"/>
          </p:nvPr>
        </p:nvSpPr>
        <p:spPr>
          <a:xfrm>
            <a:off x="5183188" y="987425"/>
            <a:ext cx="6172200" cy="4873625"/>
          </a:xfrm>
          <a:prstGeom prst="rect">
            <a:avLst/>
          </a:prstGeom>
          <a:noFill/>
          <a:ln>
            <a:noFill/>
          </a:ln>
        </p:spPr>
      </p:sp>
      <p:sp>
        <p:nvSpPr>
          <p:cNvPr id="65" name="Google Shape;65;p8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6" name="Google Shape;66;p8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8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8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1" name="Google Shape;71;p82"/>
          <p:cNvSpPr txBox="1"/>
          <p:nvPr>
            <p:ph idx="1" type="body"/>
          </p:nvPr>
        </p:nvSpPr>
        <p:spPr>
          <a:xfrm rot="5400000">
            <a:off x="4595813" y="-1931987"/>
            <a:ext cx="3000375"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2" name="Google Shape;72;p8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8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8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83"/>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7" name="Google Shape;77;p8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8" name="Google Shape;78;p8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8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8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type="titleOnly">
  <p:cSld name="TITLE_ONLY">
    <p:spTree>
      <p:nvGrpSpPr>
        <p:cNvPr id="81" name="Shape 81"/>
        <p:cNvGrpSpPr/>
        <p:nvPr/>
      </p:nvGrpSpPr>
      <p:grpSpPr>
        <a:xfrm>
          <a:off x="0" y="0"/>
          <a:ext cx="0" cy="0"/>
          <a:chOff x="0" y="0"/>
          <a:chExt cx="0" cy="0"/>
        </a:xfrm>
      </p:grpSpPr>
      <p:sp>
        <p:nvSpPr>
          <p:cNvPr id="82" name="Google Shape;82;p85"/>
          <p:cNvSpPr txBox="1"/>
          <p:nvPr>
            <p:ph type="title"/>
          </p:nvPr>
        </p:nvSpPr>
        <p:spPr>
          <a:xfrm>
            <a:off x="2000221" y="274638"/>
            <a:ext cx="9582179"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1" i="0" sz="40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83" name="Google Shape;83;p85"/>
          <p:cNvSpPr txBox="1"/>
          <p:nvPr>
            <p:ph idx="10" type="dt"/>
          </p:nvPr>
        </p:nvSpPr>
        <p:spPr>
          <a:xfrm>
            <a:off x="609600" y="628652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85"/>
          <p:cNvSpPr txBox="1"/>
          <p:nvPr>
            <p:ph idx="11" type="ftr"/>
          </p:nvPr>
        </p:nvSpPr>
        <p:spPr>
          <a:xfrm>
            <a:off x="4165600" y="628652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85"/>
          <p:cNvSpPr txBox="1"/>
          <p:nvPr>
            <p:ph idx="12" type="sldNum"/>
          </p:nvPr>
        </p:nvSpPr>
        <p:spPr>
          <a:xfrm>
            <a:off x="8737600" y="628652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with lefthand caption">
  <p:cSld name="6_Image with lefthand caption">
    <p:spTree>
      <p:nvGrpSpPr>
        <p:cNvPr id="86" name="Shape 86"/>
        <p:cNvGrpSpPr/>
        <p:nvPr/>
      </p:nvGrpSpPr>
      <p:grpSpPr>
        <a:xfrm>
          <a:off x="0" y="0"/>
          <a:ext cx="0" cy="0"/>
          <a:chOff x="0" y="0"/>
          <a:chExt cx="0" cy="0"/>
        </a:xfrm>
      </p:grpSpPr>
      <p:sp>
        <p:nvSpPr>
          <p:cNvPr id="87" name="Google Shape;87;p86"/>
          <p:cNvSpPr/>
          <p:nvPr>
            <p:ph idx="2" type="pic"/>
          </p:nvPr>
        </p:nvSpPr>
        <p:spPr>
          <a:xfrm>
            <a:off x="3860800" y="1752600"/>
            <a:ext cx="7518400" cy="4572000"/>
          </a:xfrm>
          <a:prstGeom prst="rect">
            <a:avLst/>
          </a:prstGeom>
          <a:noFill/>
          <a:ln>
            <a:noFill/>
          </a:ln>
        </p:spPr>
      </p:sp>
      <p:sp>
        <p:nvSpPr>
          <p:cNvPr id="88" name="Google Shape;88;p86"/>
          <p:cNvSpPr txBox="1"/>
          <p:nvPr>
            <p:ph idx="1" type="body"/>
          </p:nvPr>
        </p:nvSpPr>
        <p:spPr>
          <a:xfrm>
            <a:off x="609600" y="1775717"/>
            <a:ext cx="2844800" cy="32534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4pPr>
            <a:lvl5pPr indent="-304800" lvl="4" marL="22860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9" name="Google Shape;89;p86"/>
          <p:cNvSpPr txBox="1"/>
          <p:nvPr>
            <p:ph idx="3" type="body"/>
          </p:nvPr>
        </p:nvSpPr>
        <p:spPr>
          <a:xfrm>
            <a:off x="609600" y="5257800"/>
            <a:ext cx="2844800" cy="228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4pPr>
            <a:lvl5pPr indent="-304800" lvl="4" marL="22860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0" name="Google Shape;90;p86"/>
          <p:cNvSpPr txBox="1"/>
          <p:nvPr>
            <p:ph idx="4" type="body"/>
          </p:nvPr>
        </p:nvSpPr>
        <p:spPr>
          <a:xfrm>
            <a:off x="1981200" y="990600"/>
            <a:ext cx="8229600" cy="381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9F0F10"/>
              </a:buClr>
              <a:buSzPts val="2000"/>
              <a:buFont typeface="Arial"/>
              <a:buNone/>
              <a:defRPr b="1" i="1" sz="2000" u="none" cap="none" strike="noStrike">
                <a:solidFill>
                  <a:srgbClr val="9F0F10"/>
                </a:solidFill>
                <a:latin typeface="Calibri"/>
                <a:ea typeface="Calibri"/>
                <a:cs typeface="Calibri"/>
                <a:sym typeface="Calibri"/>
              </a:defRPr>
            </a:lvl1pPr>
            <a:lvl2pPr indent="-355600" lvl="1" marL="914400" marR="0" rtl="0" algn="ctr">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ct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ctr">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ctr">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with lefthand caption">
  <p:cSld name="7_Image with lefthand caption">
    <p:spTree>
      <p:nvGrpSpPr>
        <p:cNvPr id="91" name="Shape 91"/>
        <p:cNvGrpSpPr/>
        <p:nvPr/>
      </p:nvGrpSpPr>
      <p:grpSpPr>
        <a:xfrm>
          <a:off x="0" y="0"/>
          <a:ext cx="0" cy="0"/>
          <a:chOff x="0" y="0"/>
          <a:chExt cx="0" cy="0"/>
        </a:xfrm>
      </p:grpSpPr>
      <p:sp>
        <p:nvSpPr>
          <p:cNvPr id="92" name="Google Shape;92;p87"/>
          <p:cNvSpPr/>
          <p:nvPr>
            <p:ph idx="2" type="pic"/>
          </p:nvPr>
        </p:nvSpPr>
        <p:spPr>
          <a:xfrm>
            <a:off x="3860800" y="1752600"/>
            <a:ext cx="7518400" cy="4572000"/>
          </a:xfrm>
          <a:prstGeom prst="rect">
            <a:avLst/>
          </a:prstGeom>
          <a:noFill/>
          <a:ln>
            <a:noFill/>
          </a:ln>
        </p:spPr>
      </p:sp>
      <p:sp>
        <p:nvSpPr>
          <p:cNvPr id="93" name="Google Shape;93;p87"/>
          <p:cNvSpPr txBox="1"/>
          <p:nvPr>
            <p:ph idx="1" type="body"/>
          </p:nvPr>
        </p:nvSpPr>
        <p:spPr>
          <a:xfrm>
            <a:off x="609600" y="1775717"/>
            <a:ext cx="2844800" cy="32534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4pPr>
            <a:lvl5pPr indent="-304800" lvl="4" marL="22860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4" name="Google Shape;94;p87"/>
          <p:cNvSpPr txBox="1"/>
          <p:nvPr>
            <p:ph idx="3" type="body"/>
          </p:nvPr>
        </p:nvSpPr>
        <p:spPr>
          <a:xfrm>
            <a:off x="609600" y="5257800"/>
            <a:ext cx="2844800" cy="228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4pPr>
            <a:lvl5pPr indent="-304800" lvl="4" marL="22860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 name="Google Shape;95;p87"/>
          <p:cNvSpPr txBox="1"/>
          <p:nvPr>
            <p:ph idx="4" type="body"/>
          </p:nvPr>
        </p:nvSpPr>
        <p:spPr>
          <a:xfrm>
            <a:off x="1981200" y="990600"/>
            <a:ext cx="8229600" cy="381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9F0F10"/>
              </a:buClr>
              <a:buSzPts val="2000"/>
              <a:buFont typeface="Arial"/>
              <a:buNone/>
              <a:defRPr b="1" i="1" sz="2000" u="none" cap="none" strike="noStrike">
                <a:solidFill>
                  <a:srgbClr val="9F0F10"/>
                </a:solidFill>
                <a:latin typeface="Calibri"/>
                <a:ea typeface="Calibri"/>
                <a:cs typeface="Calibri"/>
                <a:sym typeface="Calibri"/>
              </a:defRPr>
            </a:lvl1pPr>
            <a:lvl2pPr indent="-355600" lvl="1" marL="914400" marR="0" rtl="0" algn="ctr">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ct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ctr">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ctr">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 name="Google Shape;11;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7"/>
          <p:cNvSpPr txBox="1"/>
          <p:nvPr>
            <p:ph type="ctrTitle"/>
          </p:nvPr>
        </p:nvSpPr>
        <p:spPr>
          <a:xfrm>
            <a:off x="1431532" y="2077860"/>
            <a:ext cx="9144000" cy="23876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b="1" lang="en-US">
                <a:solidFill>
                  <a:schemeClr val="lt1"/>
                </a:solidFill>
                <a:latin typeface="Federo"/>
                <a:ea typeface="Federo"/>
                <a:cs typeface="Federo"/>
                <a:sym typeface="Federo"/>
              </a:rPr>
              <a:t>SYSTEM DEVELOPMENT LIFE CYCLE (SDLC)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7" name="Google Shape;107;p38"/>
          <p:cNvSpPr txBox="1"/>
          <p:nvPr>
            <p:ph idx="1" type="body"/>
          </p:nvPr>
        </p:nvSpPr>
        <p:spPr>
          <a:xfrm>
            <a:off x="522269" y="2289175"/>
            <a:ext cx="11395753" cy="4183544"/>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systems </a:t>
            </a:r>
            <a:r>
              <a:rPr b="0" i="0" lang="en-US" sz="2400" u="none" cap="none" strike="noStrike">
                <a:solidFill>
                  <a:schemeClr val="dk1"/>
                </a:solidFill>
                <a:latin typeface="Calibri"/>
                <a:ea typeface="Calibri"/>
                <a:cs typeface="Calibri"/>
                <a:sym typeface="Calibri"/>
              </a:rPr>
              <a:t>development</a:t>
            </a:r>
            <a:r>
              <a:rPr b="0" i="0" lang="en-US" sz="2800" u="none" cap="none" strike="noStrike">
                <a:solidFill>
                  <a:schemeClr val="dk1"/>
                </a:solidFill>
                <a:latin typeface="Calibri"/>
                <a:ea typeface="Calibri"/>
                <a:cs typeface="Calibri"/>
                <a:sym typeface="Calibri"/>
              </a:rPr>
              <a:t> life cycle is a phased approach to solving business problems</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Developed through the use of a specific cycle of analyst and user activities</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Each phase has unique user activities.</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Incorporating Human-Computer Interaction (HCI) Considerations</a:t>
            </a:r>
            <a:endParaRPr b="0" i="0" sz="1400" u="none" cap="none" strike="noStrike">
              <a:solidFill>
                <a:srgbClr val="000000"/>
              </a:solidFill>
              <a:latin typeface="Arial"/>
              <a:ea typeface="Arial"/>
              <a:cs typeface="Arial"/>
              <a:sym typeface="Arial"/>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demand for analysts who are capable of incorporating HCI into the systems development process keeps increasing, as companies begin to realize that the quality of systems and the quality of work life can be improved by taking a human-centered approach at the outset of a project</a:t>
            </a:r>
            <a:endParaRPr b="0" i="0" sz="1400" u="none" cap="none" strike="noStrike">
              <a:solidFill>
                <a:srgbClr val="000000"/>
              </a:solidFill>
              <a:latin typeface="Arial"/>
              <a:ea typeface="Arial"/>
              <a:cs typeface="Arial"/>
              <a:sym typeface="Arial"/>
            </a:endParaRPr>
          </a:p>
          <a:p>
            <a:pPr indent="-76200" lvl="1" marL="68580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08" name="Google Shape;108;p38"/>
          <p:cNvSpPr txBox="1"/>
          <p:nvPr/>
        </p:nvSpPr>
        <p:spPr>
          <a:xfrm>
            <a:off x="332444" y="628431"/>
            <a:ext cx="11859556" cy="9715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5400"/>
              <a:buFont typeface="Arial"/>
              <a:buNone/>
            </a:pPr>
            <a:r>
              <a:rPr b="1" i="0" lang="en-US" sz="5400" u="none" cap="none" strike="noStrike">
                <a:solidFill>
                  <a:srgbClr val="840F3E"/>
                </a:solidFill>
                <a:latin typeface="Calibri"/>
                <a:ea typeface="Calibri"/>
                <a:cs typeface="Calibri"/>
                <a:sym typeface="Calibri"/>
              </a:rPr>
              <a:t>SYSTEM DEVELOPMENT LIFE CYCLE (SDLC)</a:t>
            </a:r>
            <a:endParaRPr b="1" i="0" sz="5400" u="none" cap="none" strike="noStrike">
              <a:solidFill>
                <a:srgbClr val="840F3E"/>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14" name="Google Shape;114;p39"/>
          <p:cNvPicPr preferRelativeResize="0"/>
          <p:nvPr/>
        </p:nvPicPr>
        <p:blipFill rotWithShape="1">
          <a:blip r:embed="rId3">
            <a:alphaModFix/>
          </a:blip>
          <a:srcRect b="0" l="0" r="0" t="0"/>
          <a:stretch/>
        </p:blipFill>
        <p:spPr>
          <a:xfrm>
            <a:off x="1650107" y="1599981"/>
            <a:ext cx="8237067" cy="4538435"/>
          </a:xfrm>
          <a:prstGeom prst="rect">
            <a:avLst/>
          </a:prstGeom>
          <a:noFill/>
          <a:ln>
            <a:noFill/>
          </a:ln>
        </p:spPr>
      </p:pic>
      <p:sp>
        <p:nvSpPr>
          <p:cNvPr id="115" name="Google Shape;115;p39"/>
          <p:cNvSpPr txBox="1"/>
          <p:nvPr/>
        </p:nvSpPr>
        <p:spPr>
          <a:xfrm>
            <a:off x="332444" y="628431"/>
            <a:ext cx="11859556" cy="9715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5400"/>
              <a:buFont typeface="Arial"/>
              <a:buNone/>
            </a:pPr>
            <a:r>
              <a:rPr b="1" i="0" lang="en-US" sz="5400" u="none" cap="none" strike="noStrike">
                <a:solidFill>
                  <a:srgbClr val="840F3E"/>
                </a:solidFill>
                <a:latin typeface="Calibri"/>
                <a:ea typeface="Calibri"/>
                <a:cs typeface="Calibri"/>
                <a:sym typeface="Calibri"/>
              </a:rPr>
              <a:t>SDLC – THE SEVEN PHASES</a:t>
            </a:r>
            <a:endParaRPr b="1" i="0" sz="5400" u="none" cap="none" strike="noStrike">
              <a:solidFill>
                <a:srgbClr val="840F3E"/>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22" name="Google Shape;122;p40"/>
          <p:cNvGrpSpPr/>
          <p:nvPr/>
        </p:nvGrpSpPr>
        <p:grpSpPr>
          <a:xfrm>
            <a:off x="5383659" y="1416735"/>
            <a:ext cx="6500117" cy="4920165"/>
            <a:chOff x="0" y="19449"/>
            <a:chExt cx="6500117" cy="4920165"/>
          </a:xfrm>
        </p:grpSpPr>
        <p:sp>
          <p:nvSpPr>
            <p:cNvPr id="123" name="Google Shape;123;p40"/>
            <p:cNvSpPr/>
            <p:nvPr/>
          </p:nvSpPr>
          <p:spPr>
            <a:xfrm>
              <a:off x="0" y="19449"/>
              <a:ext cx="6500117" cy="743535"/>
            </a:xfrm>
            <a:prstGeom prst="roundRect">
              <a:avLst>
                <a:gd fmla="val 16667"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40"/>
            <p:cNvSpPr txBox="1"/>
            <p:nvPr/>
          </p:nvSpPr>
          <p:spPr>
            <a:xfrm>
              <a:off x="36296" y="55745"/>
              <a:ext cx="6427525" cy="670943"/>
            </a:xfrm>
            <a:prstGeom prst="rect">
              <a:avLst/>
            </a:prstGeom>
            <a:noFill/>
            <a:ln>
              <a:noFill/>
            </a:ln>
          </p:spPr>
          <p:txBody>
            <a:bodyPr anchorCtr="0" anchor="ctr" bIns="118100" lIns="118100" spcFirstLastPara="1" rIns="118100" wrap="square" tIns="118100">
              <a:noAutofit/>
            </a:bodyPr>
            <a:lstStyle/>
            <a:p>
              <a:pPr indent="0" lvl="0" marL="0" marR="0" rtl="0" algn="l">
                <a:lnSpc>
                  <a:spcPct val="90000"/>
                </a:lnSpc>
                <a:spcBef>
                  <a:spcPts val="0"/>
                </a:spcBef>
                <a:spcAft>
                  <a:spcPts val="0"/>
                </a:spcAft>
                <a:buClr>
                  <a:schemeClr val="lt1"/>
                </a:buClr>
                <a:buSzPts val="3100"/>
                <a:buFont typeface="Calibri"/>
                <a:buNone/>
              </a:pPr>
              <a:r>
                <a:rPr b="0" i="0" lang="en-US" sz="3100" u="none" cap="none" strike="noStrike">
                  <a:solidFill>
                    <a:schemeClr val="lt1"/>
                  </a:solidFill>
                  <a:latin typeface="Calibri"/>
                  <a:ea typeface="Calibri"/>
                  <a:cs typeface="Calibri"/>
                  <a:sym typeface="Calibri"/>
                </a:rPr>
                <a:t>ACTIVITY:</a:t>
              </a:r>
              <a:endParaRPr b="0" i="0" sz="3100" u="none" cap="none" strike="noStrike">
                <a:solidFill>
                  <a:schemeClr val="lt1"/>
                </a:solidFill>
                <a:latin typeface="Calibri"/>
                <a:ea typeface="Calibri"/>
                <a:cs typeface="Calibri"/>
                <a:sym typeface="Calibri"/>
              </a:endParaRPr>
            </a:p>
          </p:txBody>
        </p:sp>
        <p:sp>
          <p:nvSpPr>
            <p:cNvPr id="125" name="Google Shape;125;p40"/>
            <p:cNvSpPr/>
            <p:nvPr/>
          </p:nvSpPr>
          <p:spPr>
            <a:xfrm>
              <a:off x="0" y="762984"/>
              <a:ext cx="6500117" cy="16684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40"/>
            <p:cNvSpPr txBox="1"/>
            <p:nvPr/>
          </p:nvSpPr>
          <p:spPr>
            <a:xfrm>
              <a:off x="0" y="762984"/>
              <a:ext cx="6500117" cy="1668420"/>
            </a:xfrm>
            <a:prstGeom prst="rect">
              <a:avLst/>
            </a:prstGeom>
            <a:noFill/>
            <a:ln>
              <a:noFill/>
            </a:ln>
          </p:spPr>
          <p:txBody>
            <a:bodyPr anchorCtr="0" anchor="t" bIns="39350" lIns="206375" spcFirstLastPara="1" rIns="220450" wrap="square" tIns="39350">
              <a:noAutofit/>
            </a:bodyPr>
            <a:lstStyle/>
            <a:p>
              <a:pPr indent="-228600" lvl="1" marL="228600" marR="0" rtl="0" algn="l">
                <a:lnSpc>
                  <a:spcPct val="9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Interviewing user management</a:t>
              </a:r>
              <a:endParaRPr b="0" i="0" sz="2400" u="none" cap="none" strike="noStrike">
                <a:solidFill>
                  <a:schemeClr val="dk1"/>
                </a:solidFill>
                <a:latin typeface="Calibri"/>
                <a:ea typeface="Calibri"/>
                <a:cs typeface="Calibri"/>
                <a:sym typeface="Calibri"/>
              </a:endParaRPr>
            </a:p>
            <a:p>
              <a:pPr indent="-228600" lvl="1" marL="228600" marR="0" rtl="0" algn="l">
                <a:lnSpc>
                  <a:spcPct val="9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Summarizing the knowledge obtained</a:t>
              </a:r>
              <a:endParaRPr b="0" i="0" sz="2400" u="none" cap="none" strike="noStrike">
                <a:solidFill>
                  <a:schemeClr val="dk1"/>
                </a:solidFill>
                <a:latin typeface="Calibri"/>
                <a:ea typeface="Calibri"/>
                <a:cs typeface="Calibri"/>
                <a:sym typeface="Calibri"/>
              </a:endParaRPr>
            </a:p>
            <a:p>
              <a:pPr indent="-228600" lvl="1" marL="228600" marR="0" rtl="0" algn="l">
                <a:lnSpc>
                  <a:spcPct val="9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Estimating the scope of the project</a:t>
              </a:r>
              <a:endParaRPr b="0" i="0" sz="2400" u="none" cap="none" strike="noStrike">
                <a:solidFill>
                  <a:schemeClr val="dk1"/>
                </a:solidFill>
                <a:latin typeface="Calibri"/>
                <a:ea typeface="Calibri"/>
                <a:cs typeface="Calibri"/>
                <a:sym typeface="Calibri"/>
              </a:endParaRPr>
            </a:p>
            <a:p>
              <a:pPr indent="-228600" lvl="1" marL="228600" marR="0" rtl="0" algn="l">
                <a:lnSpc>
                  <a:spcPct val="9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Documenting the results</a:t>
              </a:r>
              <a:endParaRPr b="0" i="0" sz="2400" u="none" cap="none" strike="noStrike">
                <a:solidFill>
                  <a:schemeClr val="dk1"/>
                </a:solidFill>
                <a:latin typeface="Calibri"/>
                <a:ea typeface="Calibri"/>
                <a:cs typeface="Calibri"/>
                <a:sym typeface="Calibri"/>
              </a:endParaRPr>
            </a:p>
          </p:txBody>
        </p:sp>
        <p:sp>
          <p:nvSpPr>
            <p:cNvPr id="127" name="Google Shape;127;p40"/>
            <p:cNvSpPr/>
            <p:nvPr/>
          </p:nvSpPr>
          <p:spPr>
            <a:xfrm>
              <a:off x="0" y="2431404"/>
              <a:ext cx="6500117" cy="743535"/>
            </a:xfrm>
            <a:prstGeom prst="roundRect">
              <a:avLst>
                <a:gd fmla="val 16667"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40"/>
            <p:cNvSpPr txBox="1"/>
            <p:nvPr/>
          </p:nvSpPr>
          <p:spPr>
            <a:xfrm>
              <a:off x="36296" y="2467700"/>
              <a:ext cx="6427525" cy="670943"/>
            </a:xfrm>
            <a:prstGeom prst="rect">
              <a:avLst/>
            </a:prstGeom>
            <a:noFill/>
            <a:ln>
              <a:noFill/>
            </a:ln>
          </p:spPr>
          <p:txBody>
            <a:bodyPr anchorCtr="0" anchor="ctr" bIns="118100" lIns="118100" spcFirstLastPara="1" rIns="118100" wrap="square" tIns="118100">
              <a:noAutofit/>
            </a:bodyPr>
            <a:lstStyle/>
            <a:p>
              <a:pPr indent="0" lvl="0" marL="0" marR="0" rtl="0" algn="l">
                <a:lnSpc>
                  <a:spcPct val="90000"/>
                </a:lnSpc>
                <a:spcBef>
                  <a:spcPts val="0"/>
                </a:spcBef>
                <a:spcAft>
                  <a:spcPts val="0"/>
                </a:spcAft>
                <a:buClr>
                  <a:schemeClr val="lt1"/>
                </a:buClr>
                <a:buSzPts val="3100"/>
                <a:buFont typeface="Calibri"/>
                <a:buNone/>
              </a:pPr>
              <a:r>
                <a:rPr b="0" i="0" lang="en-US" sz="3100" u="none" cap="none" strike="noStrike">
                  <a:solidFill>
                    <a:schemeClr val="lt1"/>
                  </a:solidFill>
                  <a:latin typeface="Calibri"/>
                  <a:ea typeface="Calibri"/>
                  <a:cs typeface="Calibri"/>
                  <a:sym typeface="Calibri"/>
                </a:rPr>
                <a:t>OUTPUT: FEASIBILITY REPORT  	</a:t>
              </a:r>
              <a:endParaRPr b="0" i="0" sz="3100" u="none" cap="none" strike="noStrike">
                <a:solidFill>
                  <a:schemeClr val="lt1"/>
                </a:solidFill>
                <a:latin typeface="Calibri"/>
                <a:ea typeface="Calibri"/>
                <a:cs typeface="Calibri"/>
                <a:sym typeface="Calibri"/>
              </a:endParaRPr>
            </a:p>
          </p:txBody>
        </p:sp>
        <p:sp>
          <p:nvSpPr>
            <p:cNvPr id="129" name="Google Shape;129;p40"/>
            <p:cNvSpPr/>
            <p:nvPr/>
          </p:nvSpPr>
          <p:spPr>
            <a:xfrm>
              <a:off x="0" y="3174939"/>
              <a:ext cx="6500117" cy="176467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40"/>
            <p:cNvSpPr txBox="1"/>
            <p:nvPr/>
          </p:nvSpPr>
          <p:spPr>
            <a:xfrm>
              <a:off x="0" y="3174939"/>
              <a:ext cx="6500117" cy="1764675"/>
            </a:xfrm>
            <a:prstGeom prst="rect">
              <a:avLst/>
            </a:prstGeom>
            <a:noFill/>
            <a:ln>
              <a:noFill/>
            </a:ln>
          </p:spPr>
          <p:txBody>
            <a:bodyPr anchorCtr="0" anchor="t" bIns="39350" lIns="206375" spcFirstLastPara="1" rIns="220450" wrap="square" tIns="39350">
              <a:noAutofit/>
            </a:bodyPr>
            <a:lstStyle/>
            <a:p>
              <a:pPr indent="-228600" lvl="1" marL="228600" marR="0" rtl="0" algn="l">
                <a:lnSpc>
                  <a:spcPct val="9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containing problem definition and objective summaries from which management can make a decision on whether to proceed with the proposed project (come out with your system  proposal)</a:t>
              </a:r>
              <a:endParaRPr b="0" i="0" sz="2400" u="none" cap="none" strike="noStrike">
                <a:solidFill>
                  <a:schemeClr val="dk1"/>
                </a:solidFill>
                <a:latin typeface="Calibri"/>
                <a:ea typeface="Calibri"/>
                <a:cs typeface="Calibri"/>
                <a:sym typeface="Calibri"/>
              </a:endParaRPr>
            </a:p>
          </p:txBody>
        </p:sp>
      </p:grpSp>
      <p:sp>
        <p:nvSpPr>
          <p:cNvPr id="131" name="Google Shape;131;p40"/>
          <p:cNvSpPr txBox="1"/>
          <p:nvPr/>
        </p:nvSpPr>
        <p:spPr>
          <a:xfrm>
            <a:off x="256854" y="628431"/>
            <a:ext cx="11935146" cy="9715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4800"/>
              <a:buFont typeface="Arial"/>
              <a:buNone/>
            </a:pPr>
            <a:r>
              <a:rPr b="1" i="0" lang="en-US" sz="4800" u="none" cap="none" strike="noStrike">
                <a:solidFill>
                  <a:srgbClr val="840F3E"/>
                </a:solidFill>
                <a:latin typeface="Calibri"/>
                <a:ea typeface="Calibri"/>
                <a:cs typeface="Calibri"/>
                <a:sym typeface="Calibri"/>
              </a:rPr>
              <a:t>PHASE 1:</a:t>
            </a:r>
            <a:r>
              <a:rPr b="1" i="0" lang="en-US" sz="4400" u="none" cap="none" strike="noStrike">
                <a:solidFill>
                  <a:srgbClr val="840F3E"/>
                </a:solidFill>
                <a:latin typeface="Calibri"/>
                <a:ea typeface="Calibri"/>
                <a:cs typeface="Calibri"/>
                <a:sym typeface="Calibri"/>
              </a:rPr>
              <a:t> </a:t>
            </a:r>
            <a:r>
              <a:rPr b="1" i="0" lang="en-US" sz="3600" u="none" cap="none" strike="noStrike">
                <a:solidFill>
                  <a:srgbClr val="840F3E"/>
                </a:solidFill>
                <a:latin typeface="Calibri"/>
                <a:ea typeface="Calibri"/>
                <a:cs typeface="Calibri"/>
                <a:sym typeface="Calibri"/>
              </a:rPr>
              <a:t>Identifying Problems, Opportunities &amp; Objectives</a:t>
            </a:r>
            <a:endParaRPr b="1" i="0" sz="5400" u="none" cap="none" strike="noStrike">
              <a:solidFill>
                <a:srgbClr val="840F3E"/>
              </a:solidFill>
              <a:latin typeface="Calibri"/>
              <a:ea typeface="Calibri"/>
              <a:cs typeface="Calibri"/>
              <a:sym typeface="Calibri"/>
            </a:endParaRPr>
          </a:p>
        </p:txBody>
      </p:sp>
      <p:pic>
        <p:nvPicPr>
          <p:cNvPr id="132" name="Google Shape;132;p40"/>
          <p:cNvPicPr preferRelativeResize="0"/>
          <p:nvPr/>
        </p:nvPicPr>
        <p:blipFill rotWithShape="1">
          <a:blip r:embed="rId3">
            <a:alphaModFix/>
          </a:blip>
          <a:srcRect b="0" l="0" r="0" t="0"/>
          <a:stretch/>
        </p:blipFill>
        <p:spPr>
          <a:xfrm>
            <a:off x="158731" y="2239766"/>
            <a:ext cx="5323051" cy="2932879"/>
          </a:xfrm>
          <a:prstGeom prst="rect">
            <a:avLst/>
          </a:prstGeom>
          <a:noFill/>
          <a:ln>
            <a:noFill/>
          </a:ln>
        </p:spPr>
      </p:pic>
      <p:sp>
        <p:nvSpPr>
          <p:cNvPr id="133" name="Google Shape;133;p40"/>
          <p:cNvSpPr/>
          <p:nvPr/>
        </p:nvSpPr>
        <p:spPr>
          <a:xfrm>
            <a:off x="1272373" y="2332234"/>
            <a:ext cx="1253447" cy="603607"/>
          </a:xfrm>
          <a:prstGeom prst="roundRect">
            <a:avLst>
              <a:gd fmla="val 16667" name="adj"/>
            </a:avLst>
          </a:prstGeom>
          <a:noFill/>
          <a:ln cap="flat" cmpd="sng" w="571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41"/>
          <p:cNvPicPr preferRelativeResize="0"/>
          <p:nvPr/>
        </p:nvPicPr>
        <p:blipFill rotWithShape="1">
          <a:blip r:embed="rId3">
            <a:alphaModFix/>
          </a:blip>
          <a:srcRect b="0" l="0" r="0" t="0"/>
          <a:stretch/>
        </p:blipFill>
        <p:spPr>
          <a:xfrm>
            <a:off x="0" y="2229491"/>
            <a:ext cx="5323051" cy="2932879"/>
          </a:xfrm>
          <a:prstGeom prst="rect">
            <a:avLst/>
          </a:prstGeom>
          <a:noFill/>
          <a:ln>
            <a:noFill/>
          </a:ln>
        </p:spPr>
      </p:pic>
      <p:sp>
        <p:nvSpPr>
          <p:cNvPr id="140" name="Google Shape;140;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41" name="Google Shape;141;p41"/>
          <p:cNvGrpSpPr/>
          <p:nvPr/>
        </p:nvGrpSpPr>
        <p:grpSpPr>
          <a:xfrm>
            <a:off x="5137079" y="1567428"/>
            <a:ext cx="6896190" cy="4817341"/>
            <a:chOff x="0" y="211239"/>
            <a:chExt cx="6896190" cy="4817341"/>
          </a:xfrm>
        </p:grpSpPr>
        <p:sp>
          <p:nvSpPr>
            <p:cNvPr id="142" name="Google Shape;142;p41"/>
            <p:cNvSpPr/>
            <p:nvPr/>
          </p:nvSpPr>
          <p:spPr>
            <a:xfrm>
              <a:off x="0" y="211239"/>
              <a:ext cx="6896190" cy="746460"/>
            </a:xfrm>
            <a:prstGeom prst="roundRect">
              <a:avLst>
                <a:gd fmla="val 16667"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41"/>
            <p:cNvSpPr txBox="1"/>
            <p:nvPr/>
          </p:nvSpPr>
          <p:spPr>
            <a:xfrm>
              <a:off x="36439" y="247678"/>
              <a:ext cx="6823312" cy="673582"/>
            </a:xfrm>
            <a:prstGeom prst="rect">
              <a:avLst/>
            </a:prstGeom>
            <a:noFill/>
            <a:ln>
              <a:noFill/>
            </a:ln>
          </p:spPr>
          <p:txBody>
            <a:bodyPr anchorCtr="0" anchor="ctr" bIns="118100" lIns="118100" spcFirstLastPara="1" rIns="118100" wrap="square" tIns="118100">
              <a:noAutofit/>
            </a:bodyPr>
            <a:lstStyle/>
            <a:p>
              <a:pPr indent="0" lvl="0" marL="0" marR="0" rtl="0" algn="l">
                <a:lnSpc>
                  <a:spcPct val="90000"/>
                </a:lnSpc>
                <a:spcBef>
                  <a:spcPts val="0"/>
                </a:spcBef>
                <a:spcAft>
                  <a:spcPts val="0"/>
                </a:spcAft>
                <a:buClr>
                  <a:schemeClr val="lt1"/>
                </a:buClr>
                <a:buSzPts val="3100"/>
                <a:buFont typeface="Calibri"/>
                <a:buNone/>
              </a:pPr>
              <a:r>
                <a:rPr b="0" i="0" lang="en-US" sz="3100" u="none" cap="none" strike="noStrike">
                  <a:solidFill>
                    <a:schemeClr val="lt1"/>
                  </a:solidFill>
                  <a:latin typeface="Calibri"/>
                  <a:ea typeface="Calibri"/>
                  <a:cs typeface="Calibri"/>
                  <a:sym typeface="Calibri"/>
                </a:rPr>
                <a:t>ACTIVITY:</a:t>
              </a:r>
              <a:endParaRPr b="0" i="0" sz="3100" u="none" cap="none" strike="noStrike">
                <a:solidFill>
                  <a:schemeClr val="lt1"/>
                </a:solidFill>
                <a:latin typeface="Calibri"/>
                <a:ea typeface="Calibri"/>
                <a:cs typeface="Calibri"/>
                <a:sym typeface="Calibri"/>
              </a:endParaRPr>
            </a:p>
          </p:txBody>
        </p:sp>
        <p:sp>
          <p:nvSpPr>
            <p:cNvPr id="144" name="Google Shape;144;p41"/>
            <p:cNvSpPr/>
            <p:nvPr/>
          </p:nvSpPr>
          <p:spPr>
            <a:xfrm>
              <a:off x="0" y="957700"/>
              <a:ext cx="6896190" cy="17760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41"/>
            <p:cNvSpPr txBox="1"/>
            <p:nvPr/>
          </p:nvSpPr>
          <p:spPr>
            <a:xfrm>
              <a:off x="0" y="957700"/>
              <a:ext cx="6896190" cy="1776060"/>
            </a:xfrm>
            <a:prstGeom prst="rect">
              <a:avLst/>
            </a:prstGeom>
            <a:noFill/>
            <a:ln>
              <a:noFill/>
            </a:ln>
          </p:spPr>
          <p:txBody>
            <a:bodyPr anchorCtr="0" anchor="t" bIns="27925" lIns="218950" spcFirstLastPara="1" rIns="156450" wrap="square" tIns="2792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Interviewing</a:t>
              </a:r>
              <a:endParaRPr b="0" i="0" sz="1700" u="none" cap="none" strike="noStrike">
                <a:solidFill>
                  <a:schemeClr val="dk1"/>
                </a:solidFill>
                <a:latin typeface="Calibri"/>
                <a:ea typeface="Calibri"/>
                <a:cs typeface="Calibri"/>
                <a:sym typeface="Calibri"/>
              </a:endParaRPr>
            </a:p>
            <a:p>
              <a:pPr indent="-171450" lvl="1" marL="171450" marR="0" rtl="0" algn="l">
                <a:lnSpc>
                  <a:spcPct val="90000"/>
                </a:lnSpc>
                <a:spcBef>
                  <a:spcPts val="34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Sampling and investing hard data</a:t>
              </a:r>
              <a:endParaRPr b="0" i="0" sz="1700" u="none" cap="none" strike="noStrike">
                <a:solidFill>
                  <a:schemeClr val="dk1"/>
                </a:solidFill>
                <a:latin typeface="Calibri"/>
                <a:ea typeface="Calibri"/>
                <a:cs typeface="Calibri"/>
                <a:sym typeface="Calibri"/>
              </a:endParaRPr>
            </a:p>
            <a:p>
              <a:pPr indent="-171450" lvl="1" marL="171450" marR="0" rtl="0" algn="l">
                <a:lnSpc>
                  <a:spcPct val="90000"/>
                </a:lnSpc>
                <a:spcBef>
                  <a:spcPts val="34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Questionnaires</a:t>
              </a:r>
              <a:endParaRPr b="0" i="0" sz="1700" u="none" cap="none" strike="noStrike">
                <a:solidFill>
                  <a:schemeClr val="dk1"/>
                </a:solidFill>
                <a:latin typeface="Calibri"/>
                <a:ea typeface="Calibri"/>
                <a:cs typeface="Calibri"/>
                <a:sym typeface="Calibri"/>
              </a:endParaRPr>
            </a:p>
            <a:p>
              <a:pPr indent="-171450" lvl="1" marL="171450" marR="0" rtl="0" algn="l">
                <a:lnSpc>
                  <a:spcPct val="90000"/>
                </a:lnSpc>
                <a:spcBef>
                  <a:spcPts val="34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Observe the decision maker’s behavior and environment</a:t>
              </a:r>
              <a:endParaRPr b="0" i="0" sz="1700" u="none" cap="none" strike="noStrike">
                <a:solidFill>
                  <a:schemeClr val="dk1"/>
                </a:solidFill>
                <a:latin typeface="Calibri"/>
                <a:ea typeface="Calibri"/>
                <a:cs typeface="Calibri"/>
                <a:sym typeface="Calibri"/>
              </a:endParaRPr>
            </a:p>
            <a:p>
              <a:pPr indent="-171450" lvl="1" marL="171450" marR="0" rtl="0" algn="l">
                <a:lnSpc>
                  <a:spcPct val="90000"/>
                </a:lnSpc>
                <a:spcBef>
                  <a:spcPts val="34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Prototyping</a:t>
              </a:r>
              <a:endParaRPr b="0" i="0" sz="1700" u="none" cap="none" strike="noStrike">
                <a:solidFill>
                  <a:schemeClr val="dk1"/>
                </a:solidFill>
                <a:latin typeface="Calibri"/>
                <a:ea typeface="Calibri"/>
                <a:cs typeface="Calibri"/>
                <a:sym typeface="Calibri"/>
              </a:endParaRPr>
            </a:p>
            <a:p>
              <a:pPr indent="-171450" lvl="1" marL="171450" marR="0" rtl="0" algn="l">
                <a:lnSpc>
                  <a:spcPct val="90000"/>
                </a:lnSpc>
                <a:spcBef>
                  <a:spcPts val="34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Learn the who, what, where, when, how, and why of the current system</a:t>
              </a:r>
              <a:endParaRPr b="0" i="0" sz="1700" u="none" cap="none" strike="noStrike">
                <a:solidFill>
                  <a:schemeClr val="dk1"/>
                </a:solidFill>
                <a:latin typeface="Calibri"/>
                <a:ea typeface="Calibri"/>
                <a:cs typeface="Calibri"/>
                <a:sym typeface="Calibri"/>
              </a:endParaRPr>
            </a:p>
          </p:txBody>
        </p:sp>
        <p:sp>
          <p:nvSpPr>
            <p:cNvPr id="146" name="Google Shape;146;p41"/>
            <p:cNvSpPr/>
            <p:nvPr/>
          </p:nvSpPr>
          <p:spPr>
            <a:xfrm>
              <a:off x="0" y="2733760"/>
              <a:ext cx="6896190" cy="746460"/>
            </a:xfrm>
            <a:prstGeom prst="roundRect">
              <a:avLst>
                <a:gd fmla="val 16667"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41"/>
            <p:cNvSpPr txBox="1"/>
            <p:nvPr/>
          </p:nvSpPr>
          <p:spPr>
            <a:xfrm>
              <a:off x="36439" y="2770199"/>
              <a:ext cx="6823312" cy="673582"/>
            </a:xfrm>
            <a:prstGeom prst="rect">
              <a:avLst/>
            </a:prstGeom>
            <a:noFill/>
            <a:ln>
              <a:noFill/>
            </a:ln>
          </p:spPr>
          <p:txBody>
            <a:bodyPr anchorCtr="0" anchor="ctr" bIns="118100" lIns="118100" spcFirstLastPara="1" rIns="118100" wrap="square" tIns="118100">
              <a:noAutofit/>
            </a:bodyPr>
            <a:lstStyle/>
            <a:p>
              <a:pPr indent="0" lvl="0" marL="0" marR="0" rtl="0" algn="l">
                <a:lnSpc>
                  <a:spcPct val="90000"/>
                </a:lnSpc>
                <a:spcBef>
                  <a:spcPts val="0"/>
                </a:spcBef>
                <a:spcAft>
                  <a:spcPts val="0"/>
                </a:spcAft>
                <a:buClr>
                  <a:schemeClr val="lt1"/>
                </a:buClr>
                <a:buSzPts val="3100"/>
                <a:buFont typeface="Calibri"/>
                <a:buNone/>
              </a:pPr>
              <a:r>
                <a:rPr b="0" i="0" lang="en-US" sz="3200" u="none" cap="none" strike="noStrike">
                  <a:solidFill>
                    <a:schemeClr val="lt1"/>
                  </a:solidFill>
                  <a:latin typeface="Calibri"/>
                  <a:ea typeface="Calibri"/>
                  <a:cs typeface="Calibri"/>
                  <a:sym typeface="Calibri"/>
                </a:rPr>
                <a:t>OUTPUT</a:t>
              </a:r>
              <a:r>
                <a:rPr b="0" i="0" lang="en-US" sz="3100" u="none" cap="none" strike="noStrike">
                  <a:solidFill>
                    <a:schemeClr val="lt1"/>
                  </a:solidFill>
                  <a:latin typeface="Calibri"/>
                  <a:ea typeface="Calibri"/>
                  <a:cs typeface="Calibri"/>
                  <a:sym typeface="Calibri"/>
                </a:rPr>
                <a:t>: </a:t>
              </a:r>
              <a:endParaRPr b="0" i="0" sz="3100" u="none" cap="none" strike="noStrike">
                <a:solidFill>
                  <a:schemeClr val="lt1"/>
                </a:solidFill>
                <a:latin typeface="Calibri"/>
                <a:ea typeface="Calibri"/>
                <a:cs typeface="Calibri"/>
                <a:sym typeface="Calibri"/>
              </a:endParaRPr>
            </a:p>
          </p:txBody>
        </p:sp>
        <p:sp>
          <p:nvSpPr>
            <p:cNvPr id="148" name="Google Shape;148;p41"/>
            <p:cNvSpPr/>
            <p:nvPr/>
          </p:nvSpPr>
          <p:spPr>
            <a:xfrm>
              <a:off x="0" y="3480220"/>
              <a:ext cx="6896190" cy="15483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41"/>
            <p:cNvSpPr txBox="1"/>
            <p:nvPr/>
          </p:nvSpPr>
          <p:spPr>
            <a:xfrm>
              <a:off x="0" y="3480220"/>
              <a:ext cx="6896190" cy="1548360"/>
            </a:xfrm>
            <a:prstGeom prst="rect">
              <a:avLst/>
            </a:prstGeom>
            <a:noFill/>
            <a:ln>
              <a:noFill/>
            </a:ln>
          </p:spPr>
          <p:txBody>
            <a:bodyPr anchorCtr="0" anchor="t" bIns="27925" lIns="218950" spcFirstLastPara="1" rIns="156450" wrap="square" tIns="2792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Analyst understands how users accomplish their work when interacting with a computer; and begin to know how to make the </a:t>
              </a:r>
              <a:r>
                <a:rPr b="1" i="0" lang="en-US" sz="1700" u="none" cap="none" strike="noStrike">
                  <a:solidFill>
                    <a:schemeClr val="accent2"/>
                  </a:solidFill>
                  <a:latin typeface="Calibri"/>
                  <a:ea typeface="Calibri"/>
                  <a:cs typeface="Calibri"/>
                  <a:sym typeface="Calibri"/>
                </a:rPr>
                <a:t>new system more useful and usable</a:t>
              </a:r>
              <a:r>
                <a:rPr b="0" i="0" lang="en-US" sz="1700" u="none" cap="none" strike="noStrike">
                  <a:solidFill>
                    <a:schemeClr val="dk1"/>
                  </a:solidFill>
                  <a:latin typeface="Calibri"/>
                  <a:ea typeface="Calibri"/>
                  <a:cs typeface="Calibri"/>
                  <a:sym typeface="Calibri"/>
                </a:rPr>
                <a:t>. </a:t>
              </a:r>
              <a:endParaRPr b="0" i="0" sz="1700" u="none" cap="none" strike="noStrike">
                <a:solidFill>
                  <a:schemeClr val="dk1"/>
                </a:solidFill>
                <a:latin typeface="Calibri"/>
                <a:ea typeface="Calibri"/>
                <a:cs typeface="Calibri"/>
                <a:sym typeface="Calibri"/>
              </a:endParaRPr>
            </a:p>
            <a:p>
              <a:pPr indent="-171450" lvl="1" marL="171450" marR="0" rtl="0" algn="l">
                <a:lnSpc>
                  <a:spcPct val="90000"/>
                </a:lnSpc>
                <a:spcBef>
                  <a:spcPts val="34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The analyst should also know the </a:t>
              </a:r>
              <a:r>
                <a:rPr b="1" i="0" lang="en-US" sz="1700" u="none" cap="none" strike="noStrike">
                  <a:solidFill>
                    <a:schemeClr val="accent2"/>
                  </a:solidFill>
                  <a:latin typeface="Calibri"/>
                  <a:ea typeface="Calibri"/>
                  <a:cs typeface="Calibri"/>
                  <a:sym typeface="Calibri"/>
                </a:rPr>
                <a:t>BUSINESS FUNCTIONS </a:t>
              </a:r>
              <a:r>
                <a:rPr b="0" i="0" lang="en-US" sz="1700" u="none" cap="none" strike="noStrike">
                  <a:solidFill>
                    <a:schemeClr val="dk1"/>
                  </a:solidFill>
                  <a:latin typeface="Calibri"/>
                  <a:ea typeface="Calibri"/>
                  <a:cs typeface="Calibri"/>
                  <a:sym typeface="Calibri"/>
                </a:rPr>
                <a:t>and have complete information on the people, goals, data and procedure involved.</a:t>
              </a:r>
              <a:endParaRPr b="0" i="0" sz="1700" u="none" cap="none" strike="noStrike">
                <a:solidFill>
                  <a:schemeClr val="dk1"/>
                </a:solidFill>
                <a:latin typeface="Calibri"/>
                <a:ea typeface="Calibri"/>
                <a:cs typeface="Calibri"/>
                <a:sym typeface="Calibri"/>
              </a:endParaRPr>
            </a:p>
          </p:txBody>
        </p:sp>
      </p:grpSp>
      <p:sp>
        <p:nvSpPr>
          <p:cNvPr id="150" name="Google Shape;150;p41"/>
          <p:cNvSpPr txBox="1"/>
          <p:nvPr/>
        </p:nvSpPr>
        <p:spPr>
          <a:xfrm>
            <a:off x="256854" y="628431"/>
            <a:ext cx="11935146" cy="9715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4800"/>
              <a:buFont typeface="Arial"/>
              <a:buNone/>
            </a:pPr>
            <a:r>
              <a:rPr b="1" i="0" lang="en-US" sz="4800" u="none" cap="none" strike="noStrike">
                <a:solidFill>
                  <a:srgbClr val="840F3E"/>
                </a:solidFill>
                <a:latin typeface="Calibri"/>
                <a:ea typeface="Calibri"/>
                <a:cs typeface="Calibri"/>
                <a:sym typeface="Calibri"/>
              </a:rPr>
              <a:t>PHASE 2:</a:t>
            </a:r>
            <a:r>
              <a:rPr b="1" i="0" lang="en-US" sz="4400" u="none" cap="none" strike="noStrike">
                <a:solidFill>
                  <a:srgbClr val="840F3E"/>
                </a:solidFill>
                <a:latin typeface="Calibri"/>
                <a:ea typeface="Calibri"/>
                <a:cs typeface="Calibri"/>
                <a:sym typeface="Calibri"/>
              </a:rPr>
              <a:t> </a:t>
            </a:r>
            <a:r>
              <a:rPr b="1" i="0" lang="en-US" sz="3600" u="none" cap="none" strike="noStrike">
                <a:solidFill>
                  <a:srgbClr val="840F3E"/>
                </a:solidFill>
                <a:latin typeface="Calibri"/>
                <a:ea typeface="Calibri"/>
                <a:cs typeface="Calibri"/>
                <a:sym typeface="Calibri"/>
              </a:rPr>
              <a:t>Determining Human Information Requirements</a:t>
            </a:r>
            <a:endParaRPr b="1" i="0" sz="5400" u="none" cap="none" strike="noStrike">
              <a:solidFill>
                <a:srgbClr val="840F3E"/>
              </a:solidFill>
              <a:latin typeface="Calibri"/>
              <a:ea typeface="Calibri"/>
              <a:cs typeface="Calibri"/>
              <a:sym typeface="Calibri"/>
            </a:endParaRPr>
          </a:p>
        </p:txBody>
      </p:sp>
      <p:sp>
        <p:nvSpPr>
          <p:cNvPr id="151" name="Google Shape;151;p41"/>
          <p:cNvSpPr/>
          <p:nvPr/>
        </p:nvSpPr>
        <p:spPr>
          <a:xfrm>
            <a:off x="2901345" y="2229491"/>
            <a:ext cx="1253447" cy="603607"/>
          </a:xfrm>
          <a:prstGeom prst="roundRect">
            <a:avLst>
              <a:gd fmla="val 16667" name="adj"/>
            </a:avLst>
          </a:prstGeom>
          <a:noFill/>
          <a:ln cap="flat" cmpd="sng" w="571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58" name="Google Shape;158;p42"/>
          <p:cNvGrpSpPr/>
          <p:nvPr/>
        </p:nvGrpSpPr>
        <p:grpSpPr>
          <a:xfrm>
            <a:off x="5439062" y="1718527"/>
            <a:ext cx="6602250" cy="4361030"/>
            <a:chOff x="0" y="382887"/>
            <a:chExt cx="6602250" cy="4361030"/>
          </a:xfrm>
        </p:grpSpPr>
        <p:sp>
          <p:nvSpPr>
            <p:cNvPr id="159" name="Google Shape;159;p42"/>
            <p:cNvSpPr/>
            <p:nvPr/>
          </p:nvSpPr>
          <p:spPr>
            <a:xfrm>
              <a:off x="0" y="382887"/>
              <a:ext cx="6602250" cy="875993"/>
            </a:xfrm>
            <a:prstGeom prst="roundRect">
              <a:avLst>
                <a:gd fmla="val 16667"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42"/>
            <p:cNvSpPr txBox="1"/>
            <p:nvPr/>
          </p:nvSpPr>
          <p:spPr>
            <a:xfrm>
              <a:off x="42762" y="425649"/>
              <a:ext cx="6516726" cy="790469"/>
            </a:xfrm>
            <a:prstGeom prst="rect">
              <a:avLst/>
            </a:prstGeom>
            <a:noFill/>
            <a:ln>
              <a:noFill/>
            </a:ln>
          </p:spPr>
          <p:txBody>
            <a:bodyPr anchorCtr="0" anchor="ctr" bIns="118100" lIns="118100" spcFirstLastPara="1" rIns="118100" wrap="square" tIns="118100">
              <a:noAutofit/>
            </a:bodyPr>
            <a:lstStyle/>
            <a:p>
              <a:pPr indent="0" lvl="0" marL="0" marR="0" rtl="0" algn="l">
                <a:lnSpc>
                  <a:spcPct val="90000"/>
                </a:lnSpc>
                <a:spcBef>
                  <a:spcPts val="0"/>
                </a:spcBef>
                <a:spcAft>
                  <a:spcPts val="0"/>
                </a:spcAft>
                <a:buClr>
                  <a:schemeClr val="lt1"/>
                </a:buClr>
                <a:buSzPts val="3100"/>
                <a:buFont typeface="Calibri"/>
                <a:buNone/>
              </a:pPr>
              <a:r>
                <a:rPr b="0" i="0" lang="en-US" sz="3100" u="none" cap="none" strike="noStrike">
                  <a:solidFill>
                    <a:schemeClr val="lt1"/>
                  </a:solidFill>
                  <a:latin typeface="Calibri"/>
                  <a:ea typeface="Calibri"/>
                  <a:cs typeface="Calibri"/>
                  <a:sym typeface="Calibri"/>
                </a:rPr>
                <a:t>ACTIVITY:</a:t>
              </a:r>
              <a:endParaRPr b="0" i="0" sz="3100" u="none" cap="none" strike="noStrike">
                <a:solidFill>
                  <a:schemeClr val="lt1"/>
                </a:solidFill>
                <a:latin typeface="Calibri"/>
                <a:ea typeface="Calibri"/>
                <a:cs typeface="Calibri"/>
                <a:sym typeface="Calibri"/>
              </a:endParaRPr>
            </a:p>
          </p:txBody>
        </p:sp>
        <p:sp>
          <p:nvSpPr>
            <p:cNvPr id="161" name="Google Shape;161;p42"/>
            <p:cNvSpPr/>
            <p:nvPr/>
          </p:nvSpPr>
          <p:spPr>
            <a:xfrm>
              <a:off x="0" y="1258880"/>
              <a:ext cx="6602250" cy="1648237"/>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42"/>
            <p:cNvSpPr txBox="1"/>
            <p:nvPr/>
          </p:nvSpPr>
          <p:spPr>
            <a:xfrm>
              <a:off x="0" y="1258880"/>
              <a:ext cx="6602250" cy="1648237"/>
            </a:xfrm>
            <a:prstGeom prst="rect">
              <a:avLst/>
            </a:prstGeom>
            <a:noFill/>
            <a:ln>
              <a:noFill/>
            </a:ln>
          </p:spPr>
          <p:txBody>
            <a:bodyPr anchorCtr="0" anchor="t" bIns="30475" lIns="209600" spcFirstLastPara="1" rIns="170675" wrap="square" tIns="30475">
              <a:noAutofit/>
            </a:bodyPr>
            <a:lstStyle/>
            <a:p>
              <a:pPr indent="-228600" lvl="1" marL="228600" marR="0" rtl="0" algn="l">
                <a:lnSpc>
                  <a:spcPct val="9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Create data flow diagrams </a:t>
              </a:r>
              <a:endParaRPr b="0" i="0" sz="2400" u="none" cap="none" strike="noStrike">
                <a:solidFill>
                  <a:schemeClr val="dk1"/>
                </a:solidFill>
                <a:latin typeface="Calibri"/>
                <a:ea typeface="Calibri"/>
                <a:cs typeface="Calibri"/>
                <a:sym typeface="Calibri"/>
              </a:endParaRPr>
            </a:p>
            <a:p>
              <a:pPr indent="-228600" lvl="1" marL="228600" marR="0" rtl="0" algn="l">
                <a:lnSpc>
                  <a:spcPct val="9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Complete the data dictionary</a:t>
              </a:r>
              <a:endParaRPr b="0" i="0" sz="2400" u="none" cap="none" strike="noStrike">
                <a:solidFill>
                  <a:schemeClr val="dk1"/>
                </a:solidFill>
                <a:latin typeface="Calibri"/>
                <a:ea typeface="Calibri"/>
                <a:cs typeface="Calibri"/>
                <a:sym typeface="Calibri"/>
              </a:endParaRPr>
            </a:p>
            <a:p>
              <a:pPr indent="-228600" lvl="1" marL="228600" marR="0" rtl="0" algn="l">
                <a:lnSpc>
                  <a:spcPct val="9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Analyze the structured decisions made</a:t>
              </a:r>
              <a:endParaRPr b="0" i="0" sz="2400" u="none" cap="none" strike="noStrike">
                <a:solidFill>
                  <a:schemeClr val="dk1"/>
                </a:solidFill>
                <a:latin typeface="Calibri"/>
                <a:ea typeface="Calibri"/>
                <a:cs typeface="Calibri"/>
                <a:sym typeface="Calibri"/>
              </a:endParaRPr>
            </a:p>
            <a:p>
              <a:pPr indent="-228600" lvl="1" marL="228600" marR="0" rtl="0" algn="l">
                <a:lnSpc>
                  <a:spcPct val="90000"/>
                </a:lnSpc>
                <a:spcBef>
                  <a:spcPts val="48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Prepare and present the system proposal</a:t>
              </a:r>
              <a:endParaRPr b="0" i="0" sz="2400" u="none" cap="none" strike="noStrike">
                <a:solidFill>
                  <a:schemeClr val="dk1"/>
                </a:solidFill>
                <a:latin typeface="Calibri"/>
                <a:ea typeface="Calibri"/>
                <a:cs typeface="Calibri"/>
                <a:sym typeface="Calibri"/>
              </a:endParaRPr>
            </a:p>
          </p:txBody>
        </p:sp>
        <p:sp>
          <p:nvSpPr>
            <p:cNvPr id="163" name="Google Shape;163;p42"/>
            <p:cNvSpPr/>
            <p:nvPr/>
          </p:nvSpPr>
          <p:spPr>
            <a:xfrm>
              <a:off x="0" y="2907118"/>
              <a:ext cx="6602250" cy="760398"/>
            </a:xfrm>
            <a:prstGeom prst="roundRect">
              <a:avLst>
                <a:gd fmla="val 16667"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42"/>
            <p:cNvSpPr txBox="1"/>
            <p:nvPr/>
          </p:nvSpPr>
          <p:spPr>
            <a:xfrm>
              <a:off x="37120" y="2944238"/>
              <a:ext cx="6528010" cy="686158"/>
            </a:xfrm>
            <a:prstGeom prst="rect">
              <a:avLst/>
            </a:prstGeom>
            <a:noFill/>
            <a:ln>
              <a:noFill/>
            </a:ln>
          </p:spPr>
          <p:txBody>
            <a:bodyPr anchorCtr="0" anchor="ctr" bIns="118100" lIns="118100" spcFirstLastPara="1" rIns="118100" wrap="square" tIns="118100">
              <a:noAutofit/>
            </a:bodyPr>
            <a:lstStyle/>
            <a:p>
              <a:pPr indent="0" lvl="0" marL="0" marR="0" rtl="0" algn="l">
                <a:lnSpc>
                  <a:spcPct val="90000"/>
                </a:lnSpc>
                <a:spcBef>
                  <a:spcPts val="0"/>
                </a:spcBef>
                <a:spcAft>
                  <a:spcPts val="0"/>
                </a:spcAft>
                <a:buClr>
                  <a:schemeClr val="lt1"/>
                </a:buClr>
                <a:buSzPts val="3100"/>
                <a:buFont typeface="Calibri"/>
                <a:buNone/>
              </a:pPr>
              <a:r>
                <a:rPr b="0" i="0" lang="en-US" sz="3100" u="none" cap="none" strike="noStrike">
                  <a:solidFill>
                    <a:schemeClr val="lt1"/>
                  </a:solidFill>
                  <a:latin typeface="Calibri"/>
                  <a:ea typeface="Calibri"/>
                  <a:cs typeface="Calibri"/>
                  <a:sym typeface="Calibri"/>
                </a:rPr>
                <a:t>OUTPUT: </a:t>
              </a:r>
              <a:endParaRPr b="0" i="0" sz="3100" u="none" cap="none" strike="noStrike">
                <a:solidFill>
                  <a:schemeClr val="lt1"/>
                </a:solidFill>
                <a:latin typeface="Calibri"/>
                <a:ea typeface="Calibri"/>
                <a:cs typeface="Calibri"/>
                <a:sym typeface="Calibri"/>
              </a:endParaRPr>
            </a:p>
          </p:txBody>
        </p:sp>
        <p:sp>
          <p:nvSpPr>
            <p:cNvPr id="165" name="Google Shape;165;p42"/>
            <p:cNvSpPr/>
            <p:nvPr/>
          </p:nvSpPr>
          <p:spPr>
            <a:xfrm>
              <a:off x="0" y="3667517"/>
              <a:ext cx="6602250" cy="107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42"/>
            <p:cNvSpPr txBox="1"/>
            <p:nvPr/>
          </p:nvSpPr>
          <p:spPr>
            <a:xfrm>
              <a:off x="0" y="3667517"/>
              <a:ext cx="6602250" cy="1076400"/>
            </a:xfrm>
            <a:prstGeom prst="rect">
              <a:avLst/>
            </a:prstGeom>
            <a:noFill/>
            <a:ln>
              <a:noFill/>
            </a:ln>
          </p:spPr>
          <p:txBody>
            <a:bodyPr anchorCtr="0" anchor="t" bIns="30475" lIns="209600" spcFirstLastPara="1" rIns="170675" wrap="square" tIns="30475">
              <a:noAutofit/>
            </a:bodyPr>
            <a:lstStyle/>
            <a:p>
              <a:pPr indent="-228600" lvl="1" marL="228600" marR="0" rtl="0" algn="l">
                <a:lnSpc>
                  <a:spcPct val="9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Recommendation on what, if anything, should be done</a:t>
              </a:r>
              <a:endParaRPr b="0" i="0" sz="2400" u="none" cap="none" strike="noStrike">
                <a:solidFill>
                  <a:schemeClr val="dk1"/>
                </a:solidFill>
                <a:latin typeface="Calibri"/>
                <a:ea typeface="Calibri"/>
                <a:cs typeface="Calibri"/>
                <a:sym typeface="Calibri"/>
              </a:endParaRPr>
            </a:p>
          </p:txBody>
        </p:sp>
      </p:grpSp>
      <p:sp>
        <p:nvSpPr>
          <p:cNvPr id="167" name="Google Shape;167;p42"/>
          <p:cNvSpPr txBox="1"/>
          <p:nvPr/>
        </p:nvSpPr>
        <p:spPr>
          <a:xfrm>
            <a:off x="256854" y="628431"/>
            <a:ext cx="11935146" cy="9715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4800"/>
              <a:buFont typeface="Arial"/>
              <a:buNone/>
            </a:pPr>
            <a:r>
              <a:rPr b="1" i="0" lang="en-US" sz="4800" u="none" cap="none" strike="noStrike">
                <a:solidFill>
                  <a:srgbClr val="840F3E"/>
                </a:solidFill>
                <a:latin typeface="Calibri"/>
                <a:ea typeface="Calibri"/>
                <a:cs typeface="Calibri"/>
                <a:sym typeface="Calibri"/>
              </a:rPr>
              <a:t>PHASE 3:</a:t>
            </a:r>
            <a:r>
              <a:rPr b="1" i="0" lang="en-US" sz="4400" u="none" cap="none" strike="noStrike">
                <a:solidFill>
                  <a:srgbClr val="840F3E"/>
                </a:solidFill>
                <a:latin typeface="Calibri"/>
                <a:ea typeface="Calibri"/>
                <a:cs typeface="Calibri"/>
                <a:sym typeface="Calibri"/>
              </a:rPr>
              <a:t> </a:t>
            </a:r>
            <a:r>
              <a:rPr b="1" i="0" lang="en-US" sz="3600" u="none" cap="none" strike="noStrike">
                <a:solidFill>
                  <a:srgbClr val="840F3E"/>
                </a:solidFill>
                <a:latin typeface="Calibri"/>
                <a:ea typeface="Calibri"/>
                <a:cs typeface="Calibri"/>
                <a:sym typeface="Calibri"/>
              </a:rPr>
              <a:t>Analyzing System Needs</a:t>
            </a:r>
            <a:endParaRPr b="1" i="0" sz="5400" u="none" cap="none" strike="noStrike">
              <a:solidFill>
                <a:srgbClr val="840F3E"/>
              </a:solidFill>
              <a:latin typeface="Calibri"/>
              <a:ea typeface="Calibri"/>
              <a:cs typeface="Calibri"/>
              <a:sym typeface="Calibri"/>
            </a:endParaRPr>
          </a:p>
        </p:txBody>
      </p:sp>
      <p:pic>
        <p:nvPicPr>
          <p:cNvPr id="168" name="Google Shape;168;p42"/>
          <p:cNvPicPr preferRelativeResize="0"/>
          <p:nvPr/>
        </p:nvPicPr>
        <p:blipFill rotWithShape="1">
          <a:blip r:embed="rId3">
            <a:alphaModFix/>
          </a:blip>
          <a:srcRect b="0" l="0" r="0" t="0"/>
          <a:stretch/>
        </p:blipFill>
        <p:spPr>
          <a:xfrm>
            <a:off x="0" y="2239766"/>
            <a:ext cx="5323051" cy="2932879"/>
          </a:xfrm>
          <a:prstGeom prst="rect">
            <a:avLst/>
          </a:prstGeom>
          <a:noFill/>
          <a:ln>
            <a:noFill/>
          </a:ln>
        </p:spPr>
      </p:pic>
      <p:sp>
        <p:nvSpPr>
          <p:cNvPr id="169" name="Google Shape;169;p42"/>
          <p:cNvSpPr/>
          <p:nvPr/>
        </p:nvSpPr>
        <p:spPr>
          <a:xfrm>
            <a:off x="4185615" y="3000054"/>
            <a:ext cx="1253447" cy="428946"/>
          </a:xfrm>
          <a:prstGeom prst="roundRect">
            <a:avLst>
              <a:gd fmla="val 16667" name="adj"/>
            </a:avLst>
          </a:prstGeom>
          <a:noFill/>
          <a:ln cap="flat" cmpd="sng" w="571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76" name="Google Shape;176;p43"/>
          <p:cNvGrpSpPr/>
          <p:nvPr/>
        </p:nvGrpSpPr>
        <p:grpSpPr>
          <a:xfrm>
            <a:off x="5481782" y="1626113"/>
            <a:ext cx="6453364" cy="4516560"/>
            <a:chOff x="0" y="26132"/>
            <a:chExt cx="6453364" cy="4516560"/>
          </a:xfrm>
        </p:grpSpPr>
        <p:sp>
          <p:nvSpPr>
            <p:cNvPr id="177" name="Google Shape;177;p43"/>
            <p:cNvSpPr/>
            <p:nvPr/>
          </p:nvSpPr>
          <p:spPr>
            <a:xfrm>
              <a:off x="0" y="26132"/>
              <a:ext cx="6453364" cy="815490"/>
            </a:xfrm>
            <a:prstGeom prst="roundRect">
              <a:avLst>
                <a:gd fmla="val 16667"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43"/>
            <p:cNvSpPr txBox="1"/>
            <p:nvPr/>
          </p:nvSpPr>
          <p:spPr>
            <a:xfrm>
              <a:off x="39809" y="65941"/>
              <a:ext cx="6373746" cy="735872"/>
            </a:xfrm>
            <a:prstGeom prst="rect">
              <a:avLst/>
            </a:prstGeom>
            <a:noFill/>
            <a:ln>
              <a:noFill/>
            </a:ln>
          </p:spPr>
          <p:txBody>
            <a:bodyPr anchorCtr="0" anchor="ctr" bIns="129525" lIns="129525" spcFirstLastPara="1" rIns="129525" wrap="square" tIns="129525">
              <a:noAutofit/>
            </a:bodyPr>
            <a:lstStyle/>
            <a:p>
              <a:pPr indent="0" lvl="0" marL="0" marR="0" rtl="0" algn="l">
                <a:lnSpc>
                  <a:spcPct val="90000"/>
                </a:lnSpc>
                <a:spcBef>
                  <a:spcPts val="0"/>
                </a:spcBef>
                <a:spcAft>
                  <a:spcPts val="0"/>
                </a:spcAft>
                <a:buClr>
                  <a:schemeClr val="lt1"/>
                </a:buClr>
                <a:buSzPts val="3400"/>
                <a:buFont typeface="Calibri"/>
                <a:buNone/>
              </a:pPr>
              <a:r>
                <a:rPr b="0" i="0" lang="en-US" sz="3400" u="none" cap="none" strike="noStrike">
                  <a:solidFill>
                    <a:schemeClr val="lt1"/>
                  </a:solidFill>
                  <a:latin typeface="Calibri"/>
                  <a:ea typeface="Calibri"/>
                  <a:cs typeface="Calibri"/>
                  <a:sym typeface="Calibri"/>
                </a:rPr>
                <a:t>ACTIVITY:</a:t>
              </a:r>
              <a:endParaRPr b="0" i="0" sz="3400" u="none" cap="none" strike="noStrike">
                <a:solidFill>
                  <a:schemeClr val="lt1"/>
                </a:solidFill>
                <a:latin typeface="Calibri"/>
                <a:ea typeface="Calibri"/>
                <a:cs typeface="Calibri"/>
                <a:sym typeface="Calibri"/>
              </a:endParaRPr>
            </a:p>
          </p:txBody>
        </p:sp>
        <p:sp>
          <p:nvSpPr>
            <p:cNvPr id="179" name="Google Shape;179;p43"/>
            <p:cNvSpPr/>
            <p:nvPr/>
          </p:nvSpPr>
          <p:spPr>
            <a:xfrm>
              <a:off x="0" y="841622"/>
              <a:ext cx="6453364" cy="232254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43"/>
            <p:cNvSpPr txBox="1"/>
            <p:nvPr/>
          </p:nvSpPr>
          <p:spPr>
            <a:xfrm>
              <a:off x="0" y="841622"/>
              <a:ext cx="6453364" cy="2322540"/>
            </a:xfrm>
            <a:prstGeom prst="rect">
              <a:avLst/>
            </a:prstGeom>
            <a:noFill/>
            <a:ln>
              <a:noFill/>
            </a:ln>
          </p:spPr>
          <p:txBody>
            <a:bodyPr anchorCtr="0" anchor="t" bIns="43175" lIns="204875" spcFirstLastPara="1" rIns="241800" wrap="square" tIns="43175">
              <a:noAutofit/>
            </a:bodyPr>
            <a:lstStyle/>
            <a:p>
              <a:pPr indent="-228600" lvl="1" marL="228600" marR="0" rtl="0" algn="l">
                <a:lnSpc>
                  <a:spcPct val="90000"/>
                </a:lnSpc>
                <a:spcBef>
                  <a:spcPts val="0"/>
                </a:spcBef>
                <a:spcAft>
                  <a:spcPts val="0"/>
                </a:spcAft>
                <a:buClr>
                  <a:schemeClr val="dk1"/>
                </a:buClr>
                <a:buSzPts val="2700"/>
                <a:buFont typeface="Calibri"/>
                <a:buChar char="•"/>
              </a:pPr>
              <a:r>
                <a:rPr b="0" i="0" lang="en-US" sz="2700" u="none" cap="none" strike="noStrike">
                  <a:solidFill>
                    <a:schemeClr val="dk1"/>
                  </a:solidFill>
                  <a:latin typeface="Calibri"/>
                  <a:ea typeface="Calibri"/>
                  <a:cs typeface="Calibri"/>
                  <a:sym typeface="Calibri"/>
                </a:rPr>
                <a:t>Design procedures for data entry</a:t>
              </a:r>
              <a:endParaRPr b="0" i="0" sz="2700" u="none" cap="none" strike="noStrike">
                <a:solidFill>
                  <a:schemeClr val="dk1"/>
                </a:solidFill>
                <a:latin typeface="Calibri"/>
                <a:ea typeface="Calibri"/>
                <a:cs typeface="Calibri"/>
                <a:sym typeface="Calibri"/>
              </a:endParaRPr>
            </a:p>
            <a:p>
              <a:pPr indent="-228600" lvl="1" marL="228600" marR="0" rtl="0" algn="l">
                <a:lnSpc>
                  <a:spcPct val="90000"/>
                </a:lnSpc>
                <a:spcBef>
                  <a:spcPts val="540"/>
                </a:spcBef>
                <a:spcAft>
                  <a:spcPts val="0"/>
                </a:spcAft>
                <a:buClr>
                  <a:schemeClr val="dk1"/>
                </a:buClr>
                <a:buSzPts val="2700"/>
                <a:buFont typeface="Calibri"/>
                <a:buChar char="•"/>
              </a:pPr>
              <a:r>
                <a:rPr b="0" i="0" lang="en-US" sz="2700" u="none" cap="none" strike="noStrike">
                  <a:solidFill>
                    <a:schemeClr val="dk1"/>
                  </a:solidFill>
                  <a:latin typeface="Calibri"/>
                  <a:ea typeface="Calibri"/>
                  <a:cs typeface="Calibri"/>
                  <a:sym typeface="Calibri"/>
                </a:rPr>
                <a:t>Design the human-computer interface</a:t>
              </a:r>
              <a:endParaRPr b="0" i="0" sz="2700" u="none" cap="none" strike="noStrike">
                <a:solidFill>
                  <a:schemeClr val="dk1"/>
                </a:solidFill>
                <a:latin typeface="Calibri"/>
                <a:ea typeface="Calibri"/>
                <a:cs typeface="Calibri"/>
                <a:sym typeface="Calibri"/>
              </a:endParaRPr>
            </a:p>
            <a:p>
              <a:pPr indent="-228600" lvl="1" marL="228600" marR="0" rtl="0" algn="l">
                <a:lnSpc>
                  <a:spcPct val="90000"/>
                </a:lnSpc>
                <a:spcBef>
                  <a:spcPts val="540"/>
                </a:spcBef>
                <a:spcAft>
                  <a:spcPts val="0"/>
                </a:spcAft>
                <a:buClr>
                  <a:schemeClr val="dk1"/>
                </a:buClr>
                <a:buSzPts val="2700"/>
                <a:buFont typeface="Calibri"/>
                <a:buChar char="•"/>
              </a:pPr>
              <a:r>
                <a:rPr b="0" i="0" lang="en-US" sz="2700" u="none" cap="none" strike="noStrike">
                  <a:solidFill>
                    <a:schemeClr val="dk1"/>
                  </a:solidFill>
                  <a:latin typeface="Calibri"/>
                  <a:ea typeface="Calibri"/>
                  <a:cs typeface="Calibri"/>
                  <a:sym typeface="Calibri"/>
                </a:rPr>
                <a:t>Design system controls</a:t>
              </a:r>
              <a:endParaRPr b="0" i="0" sz="2700" u="none" cap="none" strike="noStrike">
                <a:solidFill>
                  <a:schemeClr val="dk1"/>
                </a:solidFill>
                <a:latin typeface="Calibri"/>
                <a:ea typeface="Calibri"/>
                <a:cs typeface="Calibri"/>
                <a:sym typeface="Calibri"/>
              </a:endParaRPr>
            </a:p>
            <a:p>
              <a:pPr indent="-228600" lvl="1" marL="228600" marR="0" rtl="0" algn="l">
                <a:lnSpc>
                  <a:spcPct val="90000"/>
                </a:lnSpc>
                <a:spcBef>
                  <a:spcPts val="540"/>
                </a:spcBef>
                <a:spcAft>
                  <a:spcPts val="0"/>
                </a:spcAft>
                <a:buClr>
                  <a:schemeClr val="dk1"/>
                </a:buClr>
                <a:buSzPts val="2700"/>
                <a:buFont typeface="Calibri"/>
                <a:buChar char="•"/>
              </a:pPr>
              <a:r>
                <a:rPr b="0" i="0" lang="en-US" sz="2700" u="none" cap="none" strike="noStrike">
                  <a:solidFill>
                    <a:schemeClr val="dk1"/>
                  </a:solidFill>
                  <a:latin typeface="Calibri"/>
                  <a:ea typeface="Calibri"/>
                  <a:cs typeface="Calibri"/>
                  <a:sym typeface="Calibri"/>
                </a:rPr>
                <a:t>Design files and/or database</a:t>
              </a:r>
              <a:endParaRPr b="0" i="0" sz="2700" u="none" cap="none" strike="noStrike">
                <a:solidFill>
                  <a:schemeClr val="dk1"/>
                </a:solidFill>
                <a:latin typeface="Calibri"/>
                <a:ea typeface="Calibri"/>
                <a:cs typeface="Calibri"/>
                <a:sym typeface="Calibri"/>
              </a:endParaRPr>
            </a:p>
            <a:p>
              <a:pPr indent="-228600" lvl="1" marL="228600" marR="0" rtl="0" algn="l">
                <a:lnSpc>
                  <a:spcPct val="90000"/>
                </a:lnSpc>
                <a:spcBef>
                  <a:spcPts val="540"/>
                </a:spcBef>
                <a:spcAft>
                  <a:spcPts val="0"/>
                </a:spcAft>
                <a:buClr>
                  <a:schemeClr val="dk1"/>
                </a:buClr>
                <a:buSzPts val="2700"/>
                <a:buFont typeface="Calibri"/>
                <a:buChar char="•"/>
              </a:pPr>
              <a:r>
                <a:rPr b="0" i="0" lang="en-US" sz="2700" u="none" cap="none" strike="noStrike">
                  <a:solidFill>
                    <a:schemeClr val="dk1"/>
                  </a:solidFill>
                  <a:latin typeface="Calibri"/>
                  <a:ea typeface="Calibri"/>
                  <a:cs typeface="Calibri"/>
                  <a:sym typeface="Calibri"/>
                </a:rPr>
                <a:t>Design backup procedures</a:t>
              </a:r>
              <a:endParaRPr b="0" i="0" sz="2700" u="none" cap="none" strike="noStrike">
                <a:solidFill>
                  <a:schemeClr val="dk1"/>
                </a:solidFill>
                <a:latin typeface="Calibri"/>
                <a:ea typeface="Calibri"/>
                <a:cs typeface="Calibri"/>
                <a:sym typeface="Calibri"/>
              </a:endParaRPr>
            </a:p>
          </p:txBody>
        </p:sp>
        <p:sp>
          <p:nvSpPr>
            <p:cNvPr id="181" name="Google Shape;181;p43"/>
            <p:cNvSpPr/>
            <p:nvPr/>
          </p:nvSpPr>
          <p:spPr>
            <a:xfrm>
              <a:off x="0" y="3164162"/>
              <a:ext cx="6453364" cy="815490"/>
            </a:xfrm>
            <a:prstGeom prst="roundRect">
              <a:avLst>
                <a:gd fmla="val 16667"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43"/>
            <p:cNvSpPr txBox="1"/>
            <p:nvPr/>
          </p:nvSpPr>
          <p:spPr>
            <a:xfrm>
              <a:off x="39809" y="3203971"/>
              <a:ext cx="6373746" cy="735872"/>
            </a:xfrm>
            <a:prstGeom prst="rect">
              <a:avLst/>
            </a:prstGeom>
            <a:noFill/>
            <a:ln>
              <a:noFill/>
            </a:ln>
          </p:spPr>
          <p:txBody>
            <a:bodyPr anchorCtr="0" anchor="ctr" bIns="129525" lIns="129525" spcFirstLastPara="1" rIns="129525" wrap="square" tIns="129525">
              <a:noAutofit/>
            </a:bodyPr>
            <a:lstStyle/>
            <a:p>
              <a:pPr indent="0" lvl="0" marL="0" marR="0" rtl="0" algn="l">
                <a:lnSpc>
                  <a:spcPct val="90000"/>
                </a:lnSpc>
                <a:spcBef>
                  <a:spcPts val="0"/>
                </a:spcBef>
                <a:spcAft>
                  <a:spcPts val="0"/>
                </a:spcAft>
                <a:buClr>
                  <a:schemeClr val="lt1"/>
                </a:buClr>
                <a:buSzPts val="3400"/>
                <a:buFont typeface="Calibri"/>
                <a:buNone/>
              </a:pPr>
              <a:r>
                <a:rPr b="0" i="0" lang="en-US" sz="3400" u="none" cap="none" strike="noStrike">
                  <a:solidFill>
                    <a:schemeClr val="lt1"/>
                  </a:solidFill>
                  <a:latin typeface="Calibri"/>
                  <a:ea typeface="Calibri"/>
                  <a:cs typeface="Calibri"/>
                  <a:sym typeface="Calibri"/>
                </a:rPr>
                <a:t>OUTPUT:</a:t>
              </a:r>
              <a:endParaRPr/>
            </a:p>
          </p:txBody>
        </p:sp>
        <p:sp>
          <p:nvSpPr>
            <p:cNvPr id="183" name="Google Shape;183;p43"/>
            <p:cNvSpPr/>
            <p:nvPr/>
          </p:nvSpPr>
          <p:spPr>
            <a:xfrm>
              <a:off x="0" y="3979652"/>
              <a:ext cx="6453364" cy="56304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43"/>
            <p:cNvSpPr txBox="1"/>
            <p:nvPr/>
          </p:nvSpPr>
          <p:spPr>
            <a:xfrm>
              <a:off x="0" y="3979652"/>
              <a:ext cx="6453364" cy="563040"/>
            </a:xfrm>
            <a:prstGeom prst="rect">
              <a:avLst/>
            </a:prstGeom>
            <a:noFill/>
            <a:ln>
              <a:noFill/>
            </a:ln>
          </p:spPr>
          <p:txBody>
            <a:bodyPr anchorCtr="0" anchor="t" bIns="43175" lIns="204875" spcFirstLastPara="1" rIns="241800" wrap="square" tIns="43175">
              <a:noAutofit/>
            </a:bodyPr>
            <a:lstStyle/>
            <a:p>
              <a:pPr indent="-228600" lvl="1" marL="228600" marR="0" rtl="0" algn="l">
                <a:lnSpc>
                  <a:spcPct val="90000"/>
                </a:lnSpc>
                <a:spcBef>
                  <a:spcPts val="0"/>
                </a:spcBef>
                <a:spcAft>
                  <a:spcPts val="0"/>
                </a:spcAft>
                <a:buClr>
                  <a:schemeClr val="dk1"/>
                </a:buClr>
                <a:buSzPts val="2700"/>
                <a:buFont typeface="Calibri"/>
                <a:buChar char="•"/>
              </a:pPr>
              <a:r>
                <a:rPr b="0" i="0" lang="en-US" sz="2700" u="none" cap="none" strike="noStrike">
                  <a:solidFill>
                    <a:schemeClr val="dk1"/>
                  </a:solidFill>
                  <a:latin typeface="Calibri"/>
                  <a:ea typeface="Calibri"/>
                  <a:cs typeface="Calibri"/>
                  <a:sym typeface="Calibri"/>
                </a:rPr>
                <a:t>Model of the actual system </a:t>
              </a:r>
              <a:endParaRPr b="0" i="0" sz="2700" u="none" cap="none" strike="noStrike">
                <a:solidFill>
                  <a:schemeClr val="dk1"/>
                </a:solidFill>
                <a:latin typeface="Calibri"/>
                <a:ea typeface="Calibri"/>
                <a:cs typeface="Calibri"/>
                <a:sym typeface="Calibri"/>
              </a:endParaRPr>
            </a:p>
          </p:txBody>
        </p:sp>
      </p:grpSp>
      <p:sp>
        <p:nvSpPr>
          <p:cNvPr id="185" name="Google Shape;185;p43"/>
          <p:cNvSpPr txBox="1"/>
          <p:nvPr/>
        </p:nvSpPr>
        <p:spPr>
          <a:xfrm>
            <a:off x="256854" y="628431"/>
            <a:ext cx="11935146" cy="9715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4800"/>
              <a:buFont typeface="Arial"/>
              <a:buNone/>
            </a:pPr>
            <a:r>
              <a:rPr b="1" i="0" lang="en-US" sz="4800" u="none" cap="none" strike="noStrike">
                <a:solidFill>
                  <a:srgbClr val="840F3E"/>
                </a:solidFill>
                <a:latin typeface="Calibri"/>
                <a:ea typeface="Calibri"/>
                <a:cs typeface="Calibri"/>
                <a:sym typeface="Calibri"/>
              </a:rPr>
              <a:t>PHASE 4:</a:t>
            </a:r>
            <a:r>
              <a:rPr b="1" i="0" lang="en-US" sz="4400" u="none" cap="none" strike="noStrike">
                <a:solidFill>
                  <a:srgbClr val="840F3E"/>
                </a:solidFill>
                <a:latin typeface="Calibri"/>
                <a:ea typeface="Calibri"/>
                <a:cs typeface="Calibri"/>
                <a:sym typeface="Calibri"/>
              </a:rPr>
              <a:t> </a:t>
            </a:r>
            <a:r>
              <a:rPr b="1" i="0" lang="en-US" sz="3600" u="none" cap="none" strike="noStrike">
                <a:solidFill>
                  <a:srgbClr val="840F3E"/>
                </a:solidFill>
                <a:latin typeface="Calibri"/>
                <a:ea typeface="Calibri"/>
                <a:cs typeface="Calibri"/>
                <a:sym typeface="Calibri"/>
              </a:rPr>
              <a:t>Designing the Recommended System</a:t>
            </a:r>
            <a:endParaRPr b="1" i="0" sz="5400" u="none" cap="none" strike="noStrike">
              <a:solidFill>
                <a:srgbClr val="840F3E"/>
              </a:solidFill>
              <a:latin typeface="Calibri"/>
              <a:ea typeface="Calibri"/>
              <a:cs typeface="Calibri"/>
              <a:sym typeface="Calibri"/>
            </a:endParaRPr>
          </a:p>
        </p:txBody>
      </p:sp>
      <p:pic>
        <p:nvPicPr>
          <p:cNvPr id="186" name="Google Shape;186;p43"/>
          <p:cNvPicPr preferRelativeResize="0"/>
          <p:nvPr/>
        </p:nvPicPr>
        <p:blipFill rotWithShape="1">
          <a:blip r:embed="rId3">
            <a:alphaModFix/>
          </a:blip>
          <a:srcRect b="0" l="0" r="0" t="0"/>
          <a:stretch/>
        </p:blipFill>
        <p:spPr>
          <a:xfrm>
            <a:off x="158731" y="2239766"/>
            <a:ext cx="5323051" cy="2932879"/>
          </a:xfrm>
          <a:prstGeom prst="rect">
            <a:avLst/>
          </a:prstGeom>
          <a:noFill/>
          <a:ln>
            <a:noFill/>
          </a:ln>
        </p:spPr>
      </p:pic>
      <p:sp>
        <p:nvSpPr>
          <p:cNvPr id="187" name="Google Shape;187;p43"/>
          <p:cNvSpPr/>
          <p:nvPr/>
        </p:nvSpPr>
        <p:spPr>
          <a:xfrm>
            <a:off x="4228335" y="4089115"/>
            <a:ext cx="1253447" cy="603607"/>
          </a:xfrm>
          <a:prstGeom prst="roundRect">
            <a:avLst>
              <a:gd fmla="val 16667" name="adj"/>
            </a:avLst>
          </a:prstGeom>
          <a:noFill/>
          <a:ln cap="flat" cmpd="sng" w="571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44"/>
          <p:cNvPicPr preferRelativeResize="0"/>
          <p:nvPr/>
        </p:nvPicPr>
        <p:blipFill rotWithShape="1">
          <a:blip r:embed="rId3">
            <a:alphaModFix/>
          </a:blip>
          <a:srcRect b="0" l="0" r="0" t="0"/>
          <a:stretch/>
        </p:blipFill>
        <p:spPr>
          <a:xfrm>
            <a:off x="158731" y="2239766"/>
            <a:ext cx="5323051" cy="2932879"/>
          </a:xfrm>
          <a:prstGeom prst="rect">
            <a:avLst/>
          </a:prstGeom>
          <a:noFill/>
          <a:ln>
            <a:noFill/>
          </a:ln>
        </p:spPr>
      </p:pic>
      <p:sp>
        <p:nvSpPr>
          <p:cNvPr id="194" name="Google Shape;19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95" name="Google Shape;195;p44"/>
          <p:cNvGrpSpPr/>
          <p:nvPr/>
        </p:nvGrpSpPr>
        <p:grpSpPr>
          <a:xfrm>
            <a:off x="5291191" y="1657180"/>
            <a:ext cx="6742077" cy="4369140"/>
            <a:chOff x="0" y="99842"/>
            <a:chExt cx="6742077" cy="4369140"/>
          </a:xfrm>
        </p:grpSpPr>
        <p:sp>
          <p:nvSpPr>
            <p:cNvPr id="196" name="Google Shape;196;p44"/>
            <p:cNvSpPr/>
            <p:nvPr/>
          </p:nvSpPr>
          <p:spPr>
            <a:xfrm>
              <a:off x="0" y="99842"/>
              <a:ext cx="6742077" cy="647595"/>
            </a:xfrm>
            <a:prstGeom prst="roundRect">
              <a:avLst>
                <a:gd fmla="val 16667"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4"/>
            <p:cNvSpPr txBox="1"/>
            <p:nvPr/>
          </p:nvSpPr>
          <p:spPr>
            <a:xfrm>
              <a:off x="31613" y="131455"/>
              <a:ext cx="6678851" cy="584369"/>
            </a:xfrm>
            <a:prstGeom prst="rect">
              <a:avLst/>
            </a:prstGeom>
            <a:noFill/>
            <a:ln>
              <a:noFill/>
            </a:ln>
          </p:spPr>
          <p:txBody>
            <a:bodyPr anchorCtr="0" anchor="ctr" bIns="102850" lIns="102850" spcFirstLastPara="1" rIns="102850" wrap="square" tIns="102850">
              <a:noAutofit/>
            </a:bodyPr>
            <a:lstStyle/>
            <a:p>
              <a:pPr indent="0" lvl="0" marL="0" marR="0" rtl="0" algn="l">
                <a:lnSpc>
                  <a:spcPct val="90000"/>
                </a:lnSpc>
                <a:spcBef>
                  <a:spcPts val="0"/>
                </a:spcBef>
                <a:spcAft>
                  <a:spcPts val="0"/>
                </a:spcAft>
                <a:buClr>
                  <a:schemeClr val="lt1"/>
                </a:buClr>
                <a:buSzPts val="2700"/>
                <a:buFont typeface="Calibri"/>
                <a:buNone/>
              </a:pPr>
              <a:r>
                <a:rPr b="0" i="0" lang="en-US" sz="2800" u="none" cap="none" strike="noStrike">
                  <a:solidFill>
                    <a:schemeClr val="lt1"/>
                  </a:solidFill>
                  <a:latin typeface="Calibri"/>
                  <a:ea typeface="Calibri"/>
                  <a:cs typeface="Calibri"/>
                  <a:sym typeface="Calibri"/>
                </a:rPr>
                <a:t>ACTIVITY</a:t>
              </a:r>
              <a:r>
                <a:rPr b="0" i="0" lang="en-US" sz="2700" u="none" cap="none" strike="noStrike">
                  <a:solidFill>
                    <a:schemeClr val="lt1"/>
                  </a:solidFill>
                  <a:latin typeface="Calibri"/>
                  <a:ea typeface="Calibri"/>
                  <a:cs typeface="Calibri"/>
                  <a:sym typeface="Calibri"/>
                </a:rPr>
                <a:t>:</a:t>
              </a:r>
              <a:endParaRPr b="0" i="0" sz="2700" u="none" cap="none" strike="noStrike">
                <a:solidFill>
                  <a:schemeClr val="lt1"/>
                </a:solidFill>
                <a:latin typeface="Calibri"/>
                <a:ea typeface="Calibri"/>
                <a:cs typeface="Calibri"/>
                <a:sym typeface="Calibri"/>
              </a:endParaRPr>
            </a:p>
          </p:txBody>
        </p:sp>
        <p:sp>
          <p:nvSpPr>
            <p:cNvPr id="198" name="Google Shape;198;p44"/>
            <p:cNvSpPr/>
            <p:nvPr/>
          </p:nvSpPr>
          <p:spPr>
            <a:xfrm>
              <a:off x="0" y="747437"/>
              <a:ext cx="6742077" cy="234737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44"/>
            <p:cNvSpPr txBox="1"/>
            <p:nvPr/>
          </p:nvSpPr>
          <p:spPr>
            <a:xfrm>
              <a:off x="0" y="747437"/>
              <a:ext cx="6742077" cy="2347379"/>
            </a:xfrm>
            <a:prstGeom prst="rect">
              <a:avLst/>
            </a:prstGeom>
            <a:noFill/>
            <a:ln>
              <a:noFill/>
            </a:ln>
          </p:spPr>
          <p:txBody>
            <a:bodyPr anchorCtr="0" anchor="t" bIns="34275" lIns="214050" spcFirstLastPara="1" rIns="192000" wrap="square" tIns="34275">
              <a:noAutofit/>
            </a:bodyPr>
            <a:lstStyle/>
            <a:p>
              <a:pPr indent="-228600" lvl="1" marL="228600" marR="0" rtl="0" algn="l">
                <a:lnSpc>
                  <a:spcPct val="90000"/>
                </a:lnSpc>
                <a:spcBef>
                  <a:spcPts val="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System analyst works with programmers to develop any original software</a:t>
              </a:r>
              <a:endParaRPr b="0" i="0" sz="2100" u="none" cap="none" strike="noStrike">
                <a:solidFill>
                  <a:schemeClr val="dk1"/>
                </a:solidFill>
                <a:latin typeface="Calibri"/>
                <a:ea typeface="Calibri"/>
                <a:cs typeface="Calibri"/>
                <a:sym typeface="Calibri"/>
              </a:endParaRPr>
            </a:p>
            <a:p>
              <a:pPr indent="-228600" lvl="1" marL="228600" marR="0" rtl="0" algn="l">
                <a:lnSpc>
                  <a:spcPct val="90000"/>
                </a:lnSpc>
                <a:spcBef>
                  <a:spcPts val="42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Works with users to develop effective documentation</a:t>
              </a:r>
              <a:endParaRPr b="0" i="0" sz="2100" u="none" cap="none" strike="noStrike">
                <a:solidFill>
                  <a:schemeClr val="dk1"/>
                </a:solidFill>
                <a:latin typeface="Calibri"/>
                <a:ea typeface="Calibri"/>
                <a:cs typeface="Calibri"/>
                <a:sym typeface="Calibri"/>
              </a:endParaRPr>
            </a:p>
            <a:p>
              <a:pPr indent="-228600" lvl="1" marL="228600" marR="0" rtl="0" algn="l">
                <a:lnSpc>
                  <a:spcPct val="90000"/>
                </a:lnSpc>
                <a:spcBef>
                  <a:spcPts val="42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Programmers design, code, and remove syntactical errors from computer programs</a:t>
              </a:r>
              <a:endParaRPr b="0" i="0" sz="2100" u="none" cap="none" strike="noStrike">
                <a:solidFill>
                  <a:schemeClr val="dk1"/>
                </a:solidFill>
                <a:latin typeface="Calibri"/>
                <a:ea typeface="Calibri"/>
                <a:cs typeface="Calibri"/>
                <a:sym typeface="Calibri"/>
              </a:endParaRPr>
            </a:p>
            <a:p>
              <a:pPr indent="-228600" lvl="1" marL="228600" marR="0" rtl="0" algn="l">
                <a:lnSpc>
                  <a:spcPct val="90000"/>
                </a:lnSpc>
                <a:spcBef>
                  <a:spcPts val="42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Document software with help files, procedure manuals, and Web sites with Frequently Asked Questions</a:t>
              </a:r>
              <a:endParaRPr b="0" i="0" sz="2100" u="none" cap="none" strike="noStrike">
                <a:solidFill>
                  <a:schemeClr val="dk1"/>
                </a:solidFill>
                <a:latin typeface="Calibri"/>
                <a:ea typeface="Calibri"/>
                <a:cs typeface="Calibri"/>
                <a:sym typeface="Calibri"/>
              </a:endParaRPr>
            </a:p>
          </p:txBody>
        </p:sp>
        <p:sp>
          <p:nvSpPr>
            <p:cNvPr id="200" name="Google Shape;200;p44"/>
            <p:cNvSpPr/>
            <p:nvPr/>
          </p:nvSpPr>
          <p:spPr>
            <a:xfrm>
              <a:off x="0" y="3094817"/>
              <a:ext cx="6742077" cy="647595"/>
            </a:xfrm>
            <a:prstGeom prst="roundRect">
              <a:avLst>
                <a:gd fmla="val 16667"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44"/>
            <p:cNvSpPr txBox="1"/>
            <p:nvPr/>
          </p:nvSpPr>
          <p:spPr>
            <a:xfrm>
              <a:off x="31613" y="3126430"/>
              <a:ext cx="6678851" cy="584369"/>
            </a:xfrm>
            <a:prstGeom prst="rect">
              <a:avLst/>
            </a:prstGeom>
            <a:noFill/>
            <a:ln>
              <a:noFill/>
            </a:ln>
          </p:spPr>
          <p:txBody>
            <a:bodyPr anchorCtr="0" anchor="ctr" bIns="102850" lIns="102850" spcFirstLastPara="1" rIns="102850" wrap="square" tIns="102850">
              <a:noAutofit/>
            </a:bodyPr>
            <a:lstStyle/>
            <a:p>
              <a:pPr indent="0" lvl="0" marL="0" marR="0" rtl="0" algn="l">
                <a:lnSpc>
                  <a:spcPct val="90000"/>
                </a:lnSpc>
                <a:spcBef>
                  <a:spcPts val="0"/>
                </a:spcBef>
                <a:spcAft>
                  <a:spcPts val="0"/>
                </a:spcAft>
                <a:buClr>
                  <a:schemeClr val="lt1"/>
                </a:buClr>
                <a:buSzPts val="2700"/>
                <a:buFont typeface="Calibri"/>
                <a:buNone/>
              </a:pPr>
              <a:r>
                <a:rPr b="0" i="0" lang="en-US" sz="2800" u="none" cap="none" strike="noStrike">
                  <a:solidFill>
                    <a:schemeClr val="lt1"/>
                  </a:solidFill>
                  <a:latin typeface="Calibri"/>
                  <a:ea typeface="Calibri"/>
                  <a:cs typeface="Calibri"/>
                  <a:sym typeface="Calibri"/>
                </a:rPr>
                <a:t>OUTPUT</a:t>
              </a:r>
              <a:r>
                <a:rPr b="0" i="0" lang="en-US" sz="2700" u="none" cap="none" strike="noStrike">
                  <a:solidFill>
                    <a:schemeClr val="lt1"/>
                  </a:solidFill>
                  <a:latin typeface="Calibri"/>
                  <a:ea typeface="Calibri"/>
                  <a:cs typeface="Calibri"/>
                  <a:sym typeface="Calibri"/>
                </a:rPr>
                <a:t>:</a:t>
              </a:r>
              <a:endParaRPr b="0" i="0" sz="2700" u="none" cap="none" strike="noStrike">
                <a:solidFill>
                  <a:schemeClr val="lt1"/>
                </a:solidFill>
                <a:latin typeface="Calibri"/>
                <a:ea typeface="Calibri"/>
                <a:cs typeface="Calibri"/>
                <a:sym typeface="Calibri"/>
              </a:endParaRPr>
            </a:p>
          </p:txBody>
        </p:sp>
        <p:sp>
          <p:nvSpPr>
            <p:cNvPr id="202" name="Google Shape;202;p44"/>
            <p:cNvSpPr/>
            <p:nvPr/>
          </p:nvSpPr>
          <p:spPr>
            <a:xfrm>
              <a:off x="0" y="3742412"/>
              <a:ext cx="6742077" cy="72657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4"/>
            <p:cNvSpPr txBox="1"/>
            <p:nvPr/>
          </p:nvSpPr>
          <p:spPr>
            <a:xfrm>
              <a:off x="0" y="3742412"/>
              <a:ext cx="6742077" cy="726570"/>
            </a:xfrm>
            <a:prstGeom prst="rect">
              <a:avLst/>
            </a:prstGeom>
            <a:noFill/>
            <a:ln>
              <a:noFill/>
            </a:ln>
          </p:spPr>
          <p:txBody>
            <a:bodyPr anchorCtr="0" anchor="t" bIns="34275" lIns="214050" spcFirstLastPara="1" rIns="192000" wrap="square" tIns="34275">
              <a:noAutofit/>
            </a:bodyPr>
            <a:lstStyle/>
            <a:p>
              <a:pPr indent="-228600" lvl="1" marL="228600" marR="0" rtl="0" algn="l">
                <a:lnSpc>
                  <a:spcPct val="90000"/>
                </a:lnSpc>
                <a:spcBef>
                  <a:spcPts val="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Computer programs</a:t>
              </a:r>
              <a:endParaRPr b="0" i="0" sz="2100" u="none" cap="none" strike="noStrike">
                <a:solidFill>
                  <a:schemeClr val="dk1"/>
                </a:solidFill>
                <a:latin typeface="Calibri"/>
                <a:ea typeface="Calibri"/>
                <a:cs typeface="Calibri"/>
                <a:sym typeface="Calibri"/>
              </a:endParaRPr>
            </a:p>
            <a:p>
              <a:pPr indent="-228600" lvl="1" marL="228600" marR="0" rtl="0" algn="l">
                <a:lnSpc>
                  <a:spcPct val="90000"/>
                </a:lnSpc>
                <a:spcBef>
                  <a:spcPts val="42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System documentation</a:t>
              </a:r>
              <a:endParaRPr b="0" i="0" sz="2100" u="none" cap="none" strike="noStrike">
                <a:solidFill>
                  <a:schemeClr val="dk1"/>
                </a:solidFill>
                <a:latin typeface="Calibri"/>
                <a:ea typeface="Calibri"/>
                <a:cs typeface="Calibri"/>
                <a:sym typeface="Calibri"/>
              </a:endParaRPr>
            </a:p>
          </p:txBody>
        </p:sp>
      </p:grpSp>
      <p:sp>
        <p:nvSpPr>
          <p:cNvPr id="204" name="Google Shape;204;p44"/>
          <p:cNvSpPr txBox="1"/>
          <p:nvPr/>
        </p:nvSpPr>
        <p:spPr>
          <a:xfrm>
            <a:off x="256854" y="628431"/>
            <a:ext cx="11935146" cy="9715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4800"/>
              <a:buFont typeface="Arial"/>
              <a:buNone/>
            </a:pPr>
            <a:r>
              <a:rPr b="1" i="0" lang="en-US" sz="4800" u="none" cap="none" strike="noStrike">
                <a:solidFill>
                  <a:srgbClr val="840F3E"/>
                </a:solidFill>
                <a:latin typeface="Calibri"/>
                <a:ea typeface="Calibri"/>
                <a:cs typeface="Calibri"/>
                <a:sym typeface="Calibri"/>
              </a:rPr>
              <a:t>PHASE 5:</a:t>
            </a:r>
            <a:r>
              <a:rPr b="1" i="0" lang="en-US" sz="4400" u="none" cap="none" strike="noStrike">
                <a:solidFill>
                  <a:srgbClr val="840F3E"/>
                </a:solidFill>
                <a:latin typeface="Calibri"/>
                <a:ea typeface="Calibri"/>
                <a:cs typeface="Calibri"/>
                <a:sym typeface="Calibri"/>
              </a:rPr>
              <a:t> </a:t>
            </a:r>
            <a:r>
              <a:rPr b="1" i="0" lang="en-US" sz="3600" u="none" cap="none" strike="noStrike">
                <a:solidFill>
                  <a:srgbClr val="840F3E"/>
                </a:solidFill>
                <a:latin typeface="Calibri"/>
                <a:ea typeface="Calibri"/>
                <a:cs typeface="Calibri"/>
                <a:sym typeface="Calibri"/>
              </a:rPr>
              <a:t>Developing and Documenting Software</a:t>
            </a:r>
            <a:endParaRPr b="1" i="0" sz="5400" u="none" cap="none" strike="noStrike">
              <a:solidFill>
                <a:srgbClr val="840F3E"/>
              </a:solidFill>
              <a:latin typeface="Calibri"/>
              <a:ea typeface="Calibri"/>
              <a:cs typeface="Calibri"/>
              <a:sym typeface="Calibri"/>
            </a:endParaRPr>
          </a:p>
        </p:txBody>
      </p:sp>
      <p:sp>
        <p:nvSpPr>
          <p:cNvPr id="205" name="Google Shape;205;p44"/>
          <p:cNvSpPr/>
          <p:nvPr/>
        </p:nvSpPr>
        <p:spPr>
          <a:xfrm>
            <a:off x="2679932" y="4569038"/>
            <a:ext cx="1253447" cy="603607"/>
          </a:xfrm>
          <a:prstGeom prst="roundRect">
            <a:avLst>
              <a:gd fmla="val 16667" name="adj"/>
            </a:avLst>
          </a:prstGeom>
          <a:noFill/>
          <a:ln cap="flat" cmpd="sng" w="571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212" name="Google Shape;212;p45"/>
          <p:cNvGrpSpPr/>
          <p:nvPr/>
        </p:nvGrpSpPr>
        <p:grpSpPr>
          <a:xfrm>
            <a:off x="5630238" y="1546911"/>
            <a:ext cx="6403031" cy="4761900"/>
            <a:chOff x="0" y="44750"/>
            <a:chExt cx="6403031" cy="4761900"/>
          </a:xfrm>
        </p:grpSpPr>
        <p:sp>
          <p:nvSpPr>
            <p:cNvPr id="213" name="Google Shape;213;p45"/>
            <p:cNvSpPr/>
            <p:nvPr/>
          </p:nvSpPr>
          <p:spPr>
            <a:xfrm>
              <a:off x="0" y="44750"/>
              <a:ext cx="6403031" cy="887445"/>
            </a:xfrm>
            <a:prstGeom prst="roundRect">
              <a:avLst>
                <a:gd fmla="val 16667"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45"/>
            <p:cNvSpPr txBox="1"/>
            <p:nvPr/>
          </p:nvSpPr>
          <p:spPr>
            <a:xfrm>
              <a:off x="43321" y="88071"/>
              <a:ext cx="6316389" cy="800803"/>
            </a:xfrm>
            <a:prstGeom prst="rect">
              <a:avLst/>
            </a:prstGeom>
            <a:noFill/>
            <a:ln>
              <a:noFill/>
            </a:ln>
          </p:spPr>
          <p:txBody>
            <a:bodyPr anchorCtr="0" anchor="ctr" bIns="140950" lIns="140950" spcFirstLastPara="1" rIns="140950" wrap="square" tIns="140950">
              <a:noAutofit/>
            </a:bodyPr>
            <a:lstStyle/>
            <a:p>
              <a:pPr indent="0" lvl="0" marL="0" marR="0" rtl="0" algn="l">
                <a:lnSpc>
                  <a:spcPct val="90000"/>
                </a:lnSpc>
                <a:spcBef>
                  <a:spcPts val="0"/>
                </a:spcBef>
                <a:spcAft>
                  <a:spcPts val="0"/>
                </a:spcAft>
                <a:buClr>
                  <a:schemeClr val="lt1"/>
                </a:buClr>
                <a:buSzPts val="3700"/>
                <a:buFont typeface="Calibri"/>
                <a:buNone/>
              </a:pPr>
              <a:r>
                <a:rPr b="0" i="0" lang="en-US" sz="3700" u="none" cap="none" strike="noStrike">
                  <a:solidFill>
                    <a:schemeClr val="lt1"/>
                  </a:solidFill>
                  <a:latin typeface="Calibri"/>
                  <a:ea typeface="Calibri"/>
                  <a:cs typeface="Calibri"/>
                  <a:sym typeface="Calibri"/>
                </a:rPr>
                <a:t>ACTIVITY:</a:t>
              </a:r>
              <a:endParaRPr b="0" i="0" sz="3700" u="none" cap="none" strike="noStrike">
                <a:solidFill>
                  <a:schemeClr val="lt1"/>
                </a:solidFill>
                <a:latin typeface="Calibri"/>
                <a:ea typeface="Calibri"/>
                <a:cs typeface="Calibri"/>
                <a:sym typeface="Calibri"/>
              </a:endParaRPr>
            </a:p>
          </p:txBody>
        </p:sp>
        <p:sp>
          <p:nvSpPr>
            <p:cNvPr id="215" name="Google Shape;215;p45"/>
            <p:cNvSpPr/>
            <p:nvPr/>
          </p:nvSpPr>
          <p:spPr>
            <a:xfrm>
              <a:off x="0" y="932195"/>
              <a:ext cx="6403031" cy="149350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45"/>
            <p:cNvSpPr txBox="1"/>
            <p:nvPr/>
          </p:nvSpPr>
          <p:spPr>
            <a:xfrm>
              <a:off x="0" y="932195"/>
              <a:ext cx="6403031" cy="1493505"/>
            </a:xfrm>
            <a:prstGeom prst="rect">
              <a:avLst/>
            </a:prstGeom>
            <a:noFill/>
            <a:ln>
              <a:noFill/>
            </a:ln>
          </p:spPr>
          <p:txBody>
            <a:bodyPr anchorCtr="0" anchor="t" bIns="46975" lIns="203275" spcFirstLastPara="1" rIns="263125" wrap="square" tIns="46975">
              <a:noAutofit/>
            </a:bodyPr>
            <a:lstStyle/>
            <a:p>
              <a:pPr indent="-285750" lvl="1" marL="285750" marR="0" rtl="0" algn="l">
                <a:lnSpc>
                  <a:spcPct val="90000"/>
                </a:lnSpc>
                <a:spcBef>
                  <a:spcPts val="0"/>
                </a:spcBef>
                <a:spcAft>
                  <a:spcPts val="0"/>
                </a:spcAft>
                <a:buClr>
                  <a:schemeClr val="dk1"/>
                </a:buClr>
                <a:buSzPts val="2900"/>
                <a:buFont typeface="Calibri"/>
                <a:buChar char="•"/>
              </a:pPr>
              <a:r>
                <a:rPr b="0" i="0" lang="en-US" sz="2900" u="none" cap="none" strike="noStrike">
                  <a:solidFill>
                    <a:schemeClr val="dk1"/>
                  </a:solidFill>
                  <a:latin typeface="Calibri"/>
                  <a:ea typeface="Calibri"/>
                  <a:cs typeface="Calibri"/>
                  <a:sym typeface="Calibri"/>
                </a:rPr>
                <a:t>Test the information system</a:t>
              </a:r>
              <a:endParaRPr b="0" i="0" sz="2900" u="none" cap="none" strike="noStrike">
                <a:solidFill>
                  <a:schemeClr val="dk1"/>
                </a:solidFill>
                <a:latin typeface="Calibri"/>
                <a:ea typeface="Calibri"/>
                <a:cs typeface="Calibri"/>
                <a:sym typeface="Calibri"/>
              </a:endParaRPr>
            </a:p>
            <a:p>
              <a:pPr indent="-285750" lvl="1" marL="285750" marR="0" rtl="0" algn="l">
                <a:lnSpc>
                  <a:spcPct val="90000"/>
                </a:lnSpc>
                <a:spcBef>
                  <a:spcPts val="580"/>
                </a:spcBef>
                <a:spcAft>
                  <a:spcPts val="0"/>
                </a:spcAft>
                <a:buClr>
                  <a:schemeClr val="dk1"/>
                </a:buClr>
                <a:buSzPts val="2900"/>
                <a:buFont typeface="Calibri"/>
                <a:buChar char="•"/>
              </a:pPr>
              <a:r>
                <a:rPr b="0" i="0" lang="en-US" sz="2900" u="none" cap="none" strike="noStrike">
                  <a:solidFill>
                    <a:schemeClr val="dk1"/>
                  </a:solidFill>
                  <a:latin typeface="Calibri"/>
                  <a:ea typeface="Calibri"/>
                  <a:cs typeface="Calibri"/>
                  <a:sym typeface="Calibri"/>
                </a:rPr>
                <a:t>System maintenance </a:t>
              </a:r>
              <a:endParaRPr b="0" i="0" sz="2900" u="none" cap="none" strike="noStrike">
                <a:solidFill>
                  <a:schemeClr val="dk1"/>
                </a:solidFill>
                <a:latin typeface="Calibri"/>
                <a:ea typeface="Calibri"/>
                <a:cs typeface="Calibri"/>
                <a:sym typeface="Calibri"/>
              </a:endParaRPr>
            </a:p>
            <a:p>
              <a:pPr indent="-285750" lvl="1" marL="285750" marR="0" rtl="0" algn="l">
                <a:lnSpc>
                  <a:spcPct val="90000"/>
                </a:lnSpc>
                <a:spcBef>
                  <a:spcPts val="580"/>
                </a:spcBef>
                <a:spcAft>
                  <a:spcPts val="0"/>
                </a:spcAft>
                <a:buClr>
                  <a:schemeClr val="dk1"/>
                </a:buClr>
                <a:buSzPts val="2900"/>
                <a:buFont typeface="Calibri"/>
                <a:buChar char="•"/>
              </a:pPr>
              <a:r>
                <a:rPr b="0" i="0" lang="en-US" sz="2900" u="none" cap="none" strike="noStrike">
                  <a:solidFill>
                    <a:schemeClr val="dk1"/>
                  </a:solidFill>
                  <a:latin typeface="Calibri"/>
                  <a:ea typeface="Calibri"/>
                  <a:cs typeface="Calibri"/>
                  <a:sym typeface="Calibri"/>
                </a:rPr>
                <a:t>Maintenance documentation</a:t>
              </a:r>
              <a:endParaRPr b="0" i="0" sz="2900" u="none" cap="none" strike="noStrike">
                <a:solidFill>
                  <a:schemeClr val="dk1"/>
                </a:solidFill>
                <a:latin typeface="Calibri"/>
                <a:ea typeface="Calibri"/>
                <a:cs typeface="Calibri"/>
                <a:sym typeface="Calibri"/>
              </a:endParaRPr>
            </a:p>
          </p:txBody>
        </p:sp>
        <p:sp>
          <p:nvSpPr>
            <p:cNvPr id="217" name="Google Shape;217;p45"/>
            <p:cNvSpPr/>
            <p:nvPr/>
          </p:nvSpPr>
          <p:spPr>
            <a:xfrm>
              <a:off x="0" y="2425700"/>
              <a:ext cx="6403031" cy="887445"/>
            </a:xfrm>
            <a:prstGeom prst="roundRect">
              <a:avLst>
                <a:gd fmla="val 16667"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5"/>
            <p:cNvSpPr txBox="1"/>
            <p:nvPr/>
          </p:nvSpPr>
          <p:spPr>
            <a:xfrm>
              <a:off x="43321" y="2469021"/>
              <a:ext cx="6316389" cy="800803"/>
            </a:xfrm>
            <a:prstGeom prst="rect">
              <a:avLst/>
            </a:prstGeom>
            <a:noFill/>
            <a:ln>
              <a:noFill/>
            </a:ln>
          </p:spPr>
          <p:txBody>
            <a:bodyPr anchorCtr="0" anchor="ctr" bIns="140950" lIns="140950" spcFirstLastPara="1" rIns="140950" wrap="square" tIns="140950">
              <a:noAutofit/>
            </a:bodyPr>
            <a:lstStyle/>
            <a:p>
              <a:pPr indent="0" lvl="0" marL="0" marR="0" rtl="0" algn="l">
                <a:lnSpc>
                  <a:spcPct val="90000"/>
                </a:lnSpc>
                <a:spcBef>
                  <a:spcPts val="0"/>
                </a:spcBef>
                <a:spcAft>
                  <a:spcPts val="0"/>
                </a:spcAft>
                <a:buClr>
                  <a:schemeClr val="lt1"/>
                </a:buClr>
                <a:buSzPts val="3700"/>
                <a:buFont typeface="Calibri"/>
                <a:buNone/>
              </a:pPr>
              <a:r>
                <a:rPr b="0" i="0" lang="en-US" sz="3600" u="none" cap="none" strike="noStrike">
                  <a:solidFill>
                    <a:schemeClr val="lt1"/>
                  </a:solidFill>
                  <a:latin typeface="Calibri"/>
                  <a:ea typeface="Calibri"/>
                  <a:cs typeface="Calibri"/>
                  <a:sym typeface="Calibri"/>
                </a:rPr>
                <a:t>OUTPUT</a:t>
              </a:r>
              <a:r>
                <a:rPr b="0" i="0" lang="en-US" sz="3700" u="none" cap="none" strike="noStrike">
                  <a:solidFill>
                    <a:schemeClr val="lt1"/>
                  </a:solidFill>
                  <a:latin typeface="Calibri"/>
                  <a:ea typeface="Calibri"/>
                  <a:cs typeface="Calibri"/>
                  <a:sym typeface="Calibri"/>
                </a:rPr>
                <a:t>:</a:t>
              </a:r>
              <a:endParaRPr b="0" i="0" sz="3700" u="none" cap="none" strike="noStrike">
                <a:solidFill>
                  <a:schemeClr val="lt1"/>
                </a:solidFill>
                <a:latin typeface="Calibri"/>
                <a:ea typeface="Calibri"/>
                <a:cs typeface="Calibri"/>
                <a:sym typeface="Calibri"/>
              </a:endParaRPr>
            </a:p>
          </p:txBody>
        </p:sp>
        <p:sp>
          <p:nvSpPr>
            <p:cNvPr id="219" name="Google Shape;219;p45"/>
            <p:cNvSpPr/>
            <p:nvPr/>
          </p:nvSpPr>
          <p:spPr>
            <a:xfrm>
              <a:off x="0" y="3313145"/>
              <a:ext cx="6403031" cy="149350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45"/>
            <p:cNvSpPr txBox="1"/>
            <p:nvPr/>
          </p:nvSpPr>
          <p:spPr>
            <a:xfrm>
              <a:off x="0" y="3313145"/>
              <a:ext cx="6403031" cy="1493505"/>
            </a:xfrm>
            <a:prstGeom prst="rect">
              <a:avLst/>
            </a:prstGeom>
            <a:noFill/>
            <a:ln>
              <a:noFill/>
            </a:ln>
          </p:spPr>
          <p:txBody>
            <a:bodyPr anchorCtr="0" anchor="t" bIns="46975" lIns="203275" spcFirstLastPara="1" rIns="263125" wrap="square" tIns="46975">
              <a:noAutofit/>
            </a:bodyPr>
            <a:lstStyle/>
            <a:p>
              <a:pPr indent="-285750" lvl="1" marL="285750" marR="0" rtl="0" algn="l">
                <a:lnSpc>
                  <a:spcPct val="90000"/>
                </a:lnSpc>
                <a:spcBef>
                  <a:spcPts val="0"/>
                </a:spcBef>
                <a:spcAft>
                  <a:spcPts val="0"/>
                </a:spcAft>
                <a:buClr>
                  <a:schemeClr val="dk1"/>
                </a:buClr>
                <a:buSzPts val="2900"/>
                <a:buFont typeface="Calibri"/>
                <a:buChar char="•"/>
              </a:pPr>
              <a:r>
                <a:rPr b="0" i="0" lang="en-US" sz="2900" u="none" cap="none" strike="noStrike">
                  <a:solidFill>
                    <a:schemeClr val="dk1"/>
                  </a:solidFill>
                  <a:latin typeface="Calibri"/>
                  <a:ea typeface="Calibri"/>
                  <a:cs typeface="Calibri"/>
                  <a:sym typeface="Calibri"/>
                </a:rPr>
                <a:t>Problems (if any)</a:t>
              </a:r>
              <a:endParaRPr b="0" i="0" sz="2900" u="none" cap="none" strike="noStrike">
                <a:solidFill>
                  <a:schemeClr val="dk1"/>
                </a:solidFill>
                <a:latin typeface="Calibri"/>
                <a:ea typeface="Calibri"/>
                <a:cs typeface="Calibri"/>
                <a:sym typeface="Calibri"/>
              </a:endParaRPr>
            </a:p>
            <a:p>
              <a:pPr indent="-285750" lvl="1" marL="285750" marR="0" rtl="0" algn="l">
                <a:lnSpc>
                  <a:spcPct val="90000"/>
                </a:lnSpc>
                <a:spcBef>
                  <a:spcPts val="580"/>
                </a:spcBef>
                <a:spcAft>
                  <a:spcPts val="0"/>
                </a:spcAft>
                <a:buClr>
                  <a:schemeClr val="dk1"/>
                </a:buClr>
                <a:buSzPts val="2900"/>
                <a:buFont typeface="Calibri"/>
                <a:buChar char="•"/>
              </a:pPr>
              <a:r>
                <a:rPr b="0" i="0" lang="en-US" sz="2900" u="none" cap="none" strike="noStrike">
                  <a:solidFill>
                    <a:schemeClr val="dk1"/>
                  </a:solidFill>
                  <a:latin typeface="Calibri"/>
                  <a:ea typeface="Calibri"/>
                  <a:cs typeface="Calibri"/>
                  <a:sym typeface="Calibri"/>
                </a:rPr>
                <a:t>Updated programs</a:t>
              </a:r>
              <a:endParaRPr b="0" i="0" sz="2900" u="none" cap="none" strike="noStrike">
                <a:solidFill>
                  <a:schemeClr val="dk1"/>
                </a:solidFill>
                <a:latin typeface="Calibri"/>
                <a:ea typeface="Calibri"/>
                <a:cs typeface="Calibri"/>
                <a:sym typeface="Calibri"/>
              </a:endParaRPr>
            </a:p>
            <a:p>
              <a:pPr indent="-285750" lvl="1" marL="285750" marR="0" rtl="0" algn="l">
                <a:lnSpc>
                  <a:spcPct val="90000"/>
                </a:lnSpc>
                <a:spcBef>
                  <a:spcPts val="580"/>
                </a:spcBef>
                <a:spcAft>
                  <a:spcPts val="0"/>
                </a:spcAft>
                <a:buClr>
                  <a:schemeClr val="dk1"/>
                </a:buClr>
                <a:buSzPts val="2900"/>
                <a:buFont typeface="Calibri"/>
                <a:buChar char="•"/>
              </a:pPr>
              <a:r>
                <a:rPr b="0" i="0" lang="en-US" sz="2900" u="none" cap="none" strike="noStrike">
                  <a:solidFill>
                    <a:schemeClr val="dk1"/>
                  </a:solidFill>
                  <a:latin typeface="Calibri"/>
                  <a:ea typeface="Calibri"/>
                  <a:cs typeface="Calibri"/>
                  <a:sym typeface="Calibri"/>
                </a:rPr>
                <a:t>Documentation</a:t>
              </a:r>
              <a:endParaRPr b="0" i="0" sz="2900" u="none" cap="none" strike="noStrike">
                <a:solidFill>
                  <a:schemeClr val="dk1"/>
                </a:solidFill>
                <a:latin typeface="Calibri"/>
                <a:ea typeface="Calibri"/>
                <a:cs typeface="Calibri"/>
                <a:sym typeface="Calibri"/>
              </a:endParaRPr>
            </a:p>
          </p:txBody>
        </p:sp>
      </p:grpSp>
      <p:sp>
        <p:nvSpPr>
          <p:cNvPr id="221" name="Google Shape;221;p45"/>
          <p:cNvSpPr txBox="1"/>
          <p:nvPr/>
        </p:nvSpPr>
        <p:spPr>
          <a:xfrm>
            <a:off x="256854" y="628431"/>
            <a:ext cx="11935146" cy="9715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4800"/>
              <a:buFont typeface="Arial"/>
              <a:buNone/>
            </a:pPr>
            <a:r>
              <a:rPr b="1" i="0" lang="en-US" sz="4800" u="none" cap="none" strike="noStrike">
                <a:solidFill>
                  <a:srgbClr val="840F3E"/>
                </a:solidFill>
                <a:latin typeface="Calibri"/>
                <a:ea typeface="Calibri"/>
                <a:cs typeface="Calibri"/>
                <a:sym typeface="Calibri"/>
              </a:rPr>
              <a:t>PHASE 6:</a:t>
            </a:r>
            <a:r>
              <a:rPr b="1" i="0" lang="en-US" sz="4400" u="none" cap="none" strike="noStrike">
                <a:solidFill>
                  <a:srgbClr val="840F3E"/>
                </a:solidFill>
                <a:latin typeface="Calibri"/>
                <a:ea typeface="Calibri"/>
                <a:cs typeface="Calibri"/>
                <a:sym typeface="Calibri"/>
              </a:rPr>
              <a:t> </a:t>
            </a:r>
            <a:r>
              <a:rPr b="1" i="0" lang="en-US" sz="3600" u="none" cap="none" strike="noStrike">
                <a:solidFill>
                  <a:srgbClr val="840F3E"/>
                </a:solidFill>
                <a:latin typeface="Calibri"/>
                <a:ea typeface="Calibri"/>
                <a:cs typeface="Calibri"/>
                <a:sym typeface="Calibri"/>
              </a:rPr>
              <a:t>Testing &amp; Maintaining the System</a:t>
            </a:r>
            <a:endParaRPr b="1" i="0" sz="5400" u="none" cap="none" strike="noStrike">
              <a:solidFill>
                <a:srgbClr val="840F3E"/>
              </a:solidFill>
              <a:latin typeface="Calibri"/>
              <a:ea typeface="Calibri"/>
              <a:cs typeface="Calibri"/>
              <a:sym typeface="Calibri"/>
            </a:endParaRPr>
          </a:p>
        </p:txBody>
      </p:sp>
      <p:pic>
        <p:nvPicPr>
          <p:cNvPr id="222" name="Google Shape;222;p45"/>
          <p:cNvPicPr preferRelativeResize="0"/>
          <p:nvPr/>
        </p:nvPicPr>
        <p:blipFill rotWithShape="1">
          <a:blip r:embed="rId3">
            <a:alphaModFix/>
          </a:blip>
          <a:srcRect b="0" l="0" r="0" t="0"/>
          <a:stretch/>
        </p:blipFill>
        <p:spPr>
          <a:xfrm>
            <a:off x="158731" y="2239766"/>
            <a:ext cx="5323051" cy="2932879"/>
          </a:xfrm>
          <a:prstGeom prst="rect">
            <a:avLst/>
          </a:prstGeom>
          <a:noFill/>
          <a:ln>
            <a:noFill/>
          </a:ln>
        </p:spPr>
      </p:pic>
      <p:sp>
        <p:nvSpPr>
          <p:cNvPr id="223" name="Google Shape;223;p45"/>
          <p:cNvSpPr/>
          <p:nvPr/>
        </p:nvSpPr>
        <p:spPr>
          <a:xfrm>
            <a:off x="1118261" y="4569038"/>
            <a:ext cx="1253447" cy="603607"/>
          </a:xfrm>
          <a:prstGeom prst="roundRect">
            <a:avLst>
              <a:gd fmla="val 16667" name="adj"/>
            </a:avLst>
          </a:prstGeom>
          <a:noFill/>
          <a:ln cap="flat" cmpd="sng" w="571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230" name="Google Shape;230;p46"/>
          <p:cNvGrpSpPr/>
          <p:nvPr/>
        </p:nvGrpSpPr>
        <p:grpSpPr>
          <a:xfrm>
            <a:off x="5404207" y="1643838"/>
            <a:ext cx="6787793" cy="4395824"/>
            <a:chOff x="0" y="86500"/>
            <a:chExt cx="6787793" cy="4395824"/>
          </a:xfrm>
        </p:grpSpPr>
        <p:sp>
          <p:nvSpPr>
            <p:cNvPr id="231" name="Google Shape;231;p46"/>
            <p:cNvSpPr/>
            <p:nvPr/>
          </p:nvSpPr>
          <p:spPr>
            <a:xfrm>
              <a:off x="0" y="86500"/>
              <a:ext cx="6787793" cy="839474"/>
            </a:xfrm>
            <a:prstGeom prst="roundRect">
              <a:avLst>
                <a:gd fmla="val 16667"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46"/>
            <p:cNvSpPr txBox="1"/>
            <p:nvPr/>
          </p:nvSpPr>
          <p:spPr>
            <a:xfrm>
              <a:off x="40980" y="127480"/>
              <a:ext cx="6705833" cy="757514"/>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lt1"/>
                </a:buClr>
                <a:buSzPts val="3500"/>
                <a:buFont typeface="Calibri"/>
                <a:buNone/>
              </a:pPr>
              <a:r>
                <a:rPr b="0" i="0" lang="en-US" sz="3500" u="none" cap="none" strike="noStrike">
                  <a:solidFill>
                    <a:schemeClr val="lt1"/>
                  </a:solidFill>
                  <a:latin typeface="Calibri"/>
                  <a:ea typeface="Calibri"/>
                  <a:cs typeface="Calibri"/>
                  <a:sym typeface="Calibri"/>
                </a:rPr>
                <a:t>ACTIVITY:</a:t>
              </a:r>
              <a:endParaRPr b="0" i="0" sz="3500" u="none" cap="none" strike="noStrike">
                <a:solidFill>
                  <a:schemeClr val="lt1"/>
                </a:solidFill>
                <a:latin typeface="Calibri"/>
                <a:ea typeface="Calibri"/>
                <a:cs typeface="Calibri"/>
                <a:sym typeface="Calibri"/>
              </a:endParaRPr>
            </a:p>
          </p:txBody>
        </p:sp>
        <p:sp>
          <p:nvSpPr>
            <p:cNvPr id="233" name="Google Shape;233;p46"/>
            <p:cNvSpPr/>
            <p:nvPr/>
          </p:nvSpPr>
          <p:spPr>
            <a:xfrm>
              <a:off x="0" y="925974"/>
              <a:ext cx="6787793" cy="177502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46"/>
            <p:cNvSpPr txBox="1"/>
            <p:nvPr/>
          </p:nvSpPr>
          <p:spPr>
            <a:xfrm>
              <a:off x="0" y="925974"/>
              <a:ext cx="6787793" cy="1775025"/>
            </a:xfrm>
            <a:prstGeom prst="rect">
              <a:avLst/>
            </a:prstGeom>
            <a:noFill/>
            <a:ln>
              <a:noFill/>
            </a:ln>
          </p:spPr>
          <p:txBody>
            <a:bodyPr anchorCtr="0" anchor="t" bIns="44450" lIns="215500" spcFirstLastPara="1" rIns="248900" wrap="square" tIns="44450">
              <a:noAutofit/>
            </a:bodyPr>
            <a:lstStyle/>
            <a:p>
              <a:pPr indent="-228600" lvl="1" marL="228600" marR="0" rtl="0" algn="l">
                <a:lnSpc>
                  <a:spcPct val="90000"/>
                </a:lnSpc>
                <a:spcBef>
                  <a:spcPts val="0"/>
                </a:spcBef>
                <a:spcAft>
                  <a:spcPts val="0"/>
                </a:spcAft>
                <a:buClr>
                  <a:schemeClr val="dk1"/>
                </a:buClr>
                <a:buSzPts val="2700"/>
                <a:buFont typeface="Calibri"/>
                <a:buChar char="•"/>
              </a:pPr>
              <a:r>
                <a:rPr b="0" i="0" lang="en-US" sz="2700" u="none" cap="none" strike="noStrike">
                  <a:solidFill>
                    <a:schemeClr val="dk1"/>
                  </a:solidFill>
                  <a:latin typeface="Calibri"/>
                  <a:ea typeface="Calibri"/>
                  <a:cs typeface="Calibri"/>
                  <a:sym typeface="Calibri"/>
                </a:rPr>
                <a:t>Do user training</a:t>
              </a:r>
              <a:endParaRPr b="0" i="0" sz="2700" u="none" cap="none" strike="noStrike">
                <a:solidFill>
                  <a:schemeClr val="dk1"/>
                </a:solidFill>
                <a:latin typeface="Calibri"/>
                <a:ea typeface="Calibri"/>
                <a:cs typeface="Calibri"/>
                <a:sym typeface="Calibri"/>
              </a:endParaRPr>
            </a:p>
            <a:p>
              <a:pPr indent="-228600" lvl="1" marL="228600" marR="0" rtl="0" algn="l">
                <a:lnSpc>
                  <a:spcPct val="90000"/>
                </a:lnSpc>
                <a:spcBef>
                  <a:spcPts val="540"/>
                </a:spcBef>
                <a:spcAft>
                  <a:spcPts val="0"/>
                </a:spcAft>
                <a:buClr>
                  <a:schemeClr val="dk1"/>
                </a:buClr>
                <a:buSzPts val="2700"/>
                <a:buFont typeface="Calibri"/>
                <a:buChar char="•"/>
              </a:pPr>
              <a:r>
                <a:rPr b="0" i="0" lang="en-US" sz="2700" u="none" cap="none" strike="noStrike">
                  <a:solidFill>
                    <a:schemeClr val="dk1"/>
                  </a:solidFill>
                  <a:latin typeface="Calibri"/>
                  <a:ea typeface="Calibri"/>
                  <a:cs typeface="Calibri"/>
                  <a:sym typeface="Calibri"/>
                </a:rPr>
                <a:t>Analyze the plan to make sure smooth conversion from old system to new system</a:t>
              </a:r>
              <a:endParaRPr b="0" i="0" sz="2700" u="none" cap="none" strike="noStrike">
                <a:solidFill>
                  <a:schemeClr val="dk1"/>
                </a:solidFill>
                <a:latin typeface="Calibri"/>
                <a:ea typeface="Calibri"/>
                <a:cs typeface="Calibri"/>
                <a:sym typeface="Calibri"/>
              </a:endParaRPr>
            </a:p>
            <a:p>
              <a:pPr indent="-228600" lvl="1" marL="228600" marR="0" rtl="0" algn="l">
                <a:lnSpc>
                  <a:spcPct val="90000"/>
                </a:lnSpc>
                <a:spcBef>
                  <a:spcPts val="540"/>
                </a:spcBef>
                <a:spcAft>
                  <a:spcPts val="0"/>
                </a:spcAft>
                <a:buClr>
                  <a:schemeClr val="dk1"/>
                </a:buClr>
                <a:buSzPts val="2700"/>
                <a:buFont typeface="Calibri"/>
                <a:buChar char="•"/>
              </a:pPr>
              <a:r>
                <a:rPr b="0" i="0" lang="en-US" sz="2700" u="none" cap="none" strike="noStrike">
                  <a:solidFill>
                    <a:schemeClr val="dk1"/>
                  </a:solidFill>
                  <a:latin typeface="Calibri"/>
                  <a:ea typeface="Calibri"/>
                  <a:cs typeface="Calibri"/>
                  <a:sym typeface="Calibri"/>
                </a:rPr>
                <a:t>Review and evaluate system</a:t>
              </a:r>
              <a:endParaRPr b="0" i="0" sz="2700" u="none" cap="none" strike="noStrike">
                <a:solidFill>
                  <a:schemeClr val="dk1"/>
                </a:solidFill>
                <a:latin typeface="Calibri"/>
                <a:ea typeface="Calibri"/>
                <a:cs typeface="Calibri"/>
                <a:sym typeface="Calibri"/>
              </a:endParaRPr>
            </a:p>
          </p:txBody>
        </p:sp>
        <p:sp>
          <p:nvSpPr>
            <p:cNvPr id="235" name="Google Shape;235;p46"/>
            <p:cNvSpPr/>
            <p:nvPr/>
          </p:nvSpPr>
          <p:spPr>
            <a:xfrm>
              <a:off x="0" y="2700999"/>
              <a:ext cx="6787793" cy="839474"/>
            </a:xfrm>
            <a:prstGeom prst="roundRect">
              <a:avLst>
                <a:gd fmla="val 16667"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46"/>
            <p:cNvSpPr txBox="1"/>
            <p:nvPr/>
          </p:nvSpPr>
          <p:spPr>
            <a:xfrm>
              <a:off x="40980" y="2741979"/>
              <a:ext cx="6705833" cy="757514"/>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lt1"/>
                </a:buClr>
                <a:buSzPts val="3500"/>
                <a:buFont typeface="Calibri"/>
                <a:buNone/>
              </a:pPr>
              <a:r>
                <a:rPr b="0" i="0" lang="en-US" sz="3500" u="none" cap="none" strike="noStrike">
                  <a:solidFill>
                    <a:schemeClr val="lt1"/>
                  </a:solidFill>
                  <a:latin typeface="Calibri"/>
                  <a:ea typeface="Calibri"/>
                  <a:cs typeface="Calibri"/>
                  <a:sym typeface="Calibri"/>
                </a:rPr>
                <a:t>OUTPUT:</a:t>
              </a:r>
              <a:endParaRPr b="0" i="0" sz="3500" u="none" cap="none" strike="noStrike">
                <a:solidFill>
                  <a:schemeClr val="lt1"/>
                </a:solidFill>
                <a:latin typeface="Calibri"/>
                <a:ea typeface="Calibri"/>
                <a:cs typeface="Calibri"/>
                <a:sym typeface="Calibri"/>
              </a:endParaRPr>
            </a:p>
          </p:txBody>
        </p:sp>
        <p:sp>
          <p:nvSpPr>
            <p:cNvPr id="237" name="Google Shape;237;p46"/>
            <p:cNvSpPr/>
            <p:nvPr/>
          </p:nvSpPr>
          <p:spPr>
            <a:xfrm>
              <a:off x="0" y="3540474"/>
              <a:ext cx="6787793" cy="94185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46"/>
            <p:cNvSpPr txBox="1"/>
            <p:nvPr/>
          </p:nvSpPr>
          <p:spPr>
            <a:xfrm>
              <a:off x="0" y="3540474"/>
              <a:ext cx="6787793" cy="941850"/>
            </a:xfrm>
            <a:prstGeom prst="rect">
              <a:avLst/>
            </a:prstGeom>
            <a:noFill/>
            <a:ln>
              <a:noFill/>
            </a:ln>
          </p:spPr>
          <p:txBody>
            <a:bodyPr anchorCtr="0" anchor="t" bIns="44450" lIns="215500" spcFirstLastPara="1" rIns="248900" wrap="square" tIns="44450">
              <a:noAutofit/>
            </a:bodyPr>
            <a:lstStyle/>
            <a:p>
              <a:pPr indent="-228600" lvl="1" marL="228600" marR="0" rtl="0" algn="l">
                <a:lnSpc>
                  <a:spcPct val="90000"/>
                </a:lnSpc>
                <a:spcBef>
                  <a:spcPts val="0"/>
                </a:spcBef>
                <a:spcAft>
                  <a:spcPts val="0"/>
                </a:spcAft>
                <a:buClr>
                  <a:schemeClr val="dk1"/>
                </a:buClr>
                <a:buSzPts val="2700"/>
                <a:buFont typeface="Calibri"/>
                <a:buChar char="•"/>
              </a:pPr>
              <a:r>
                <a:rPr b="0" i="0" lang="en-US" sz="2700" u="none" cap="none" strike="noStrike">
                  <a:solidFill>
                    <a:schemeClr val="dk1"/>
                  </a:solidFill>
                  <a:latin typeface="Calibri"/>
                  <a:ea typeface="Calibri"/>
                  <a:cs typeface="Calibri"/>
                  <a:sym typeface="Calibri"/>
                </a:rPr>
                <a:t>Trained personnel</a:t>
              </a:r>
              <a:endParaRPr b="0" i="0" sz="2700" u="none" cap="none" strike="noStrike">
                <a:solidFill>
                  <a:schemeClr val="dk1"/>
                </a:solidFill>
                <a:latin typeface="Calibri"/>
                <a:ea typeface="Calibri"/>
                <a:cs typeface="Calibri"/>
                <a:sym typeface="Calibri"/>
              </a:endParaRPr>
            </a:p>
            <a:p>
              <a:pPr indent="-228600" lvl="1" marL="228600" marR="0" rtl="0" algn="l">
                <a:lnSpc>
                  <a:spcPct val="90000"/>
                </a:lnSpc>
                <a:spcBef>
                  <a:spcPts val="540"/>
                </a:spcBef>
                <a:spcAft>
                  <a:spcPts val="0"/>
                </a:spcAft>
                <a:buClr>
                  <a:schemeClr val="dk1"/>
                </a:buClr>
                <a:buSzPts val="2700"/>
                <a:buFont typeface="Calibri"/>
                <a:buChar char="•"/>
              </a:pPr>
              <a:r>
                <a:rPr b="0" i="0" lang="en-US" sz="2700" u="none" cap="none" strike="noStrike">
                  <a:solidFill>
                    <a:schemeClr val="dk1"/>
                  </a:solidFill>
                  <a:latin typeface="Calibri"/>
                  <a:ea typeface="Calibri"/>
                  <a:cs typeface="Calibri"/>
                  <a:sym typeface="Calibri"/>
                </a:rPr>
                <a:t>Installed system</a:t>
              </a:r>
              <a:endParaRPr b="0" i="0" sz="2700" u="none" cap="none" strike="noStrike">
                <a:solidFill>
                  <a:schemeClr val="dk1"/>
                </a:solidFill>
                <a:latin typeface="Calibri"/>
                <a:ea typeface="Calibri"/>
                <a:cs typeface="Calibri"/>
                <a:sym typeface="Calibri"/>
              </a:endParaRPr>
            </a:p>
          </p:txBody>
        </p:sp>
      </p:grpSp>
      <p:sp>
        <p:nvSpPr>
          <p:cNvPr id="239" name="Google Shape;239;p46"/>
          <p:cNvSpPr txBox="1"/>
          <p:nvPr/>
        </p:nvSpPr>
        <p:spPr>
          <a:xfrm>
            <a:off x="256854" y="628431"/>
            <a:ext cx="11935146" cy="9715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4800"/>
              <a:buFont typeface="Arial"/>
              <a:buNone/>
            </a:pPr>
            <a:r>
              <a:rPr b="1" i="0" lang="en-US" sz="4800" u="none" cap="none" strike="noStrike">
                <a:solidFill>
                  <a:srgbClr val="840F3E"/>
                </a:solidFill>
                <a:latin typeface="Calibri"/>
                <a:ea typeface="Calibri"/>
                <a:cs typeface="Calibri"/>
                <a:sym typeface="Calibri"/>
              </a:rPr>
              <a:t>PHASE 7:</a:t>
            </a:r>
            <a:r>
              <a:rPr b="1" i="0" lang="en-US" sz="4400" u="none" cap="none" strike="noStrike">
                <a:solidFill>
                  <a:srgbClr val="840F3E"/>
                </a:solidFill>
                <a:latin typeface="Calibri"/>
                <a:ea typeface="Calibri"/>
                <a:cs typeface="Calibri"/>
                <a:sym typeface="Calibri"/>
              </a:rPr>
              <a:t> </a:t>
            </a:r>
            <a:r>
              <a:rPr b="1" i="0" lang="en-US" sz="3600" u="none" cap="none" strike="noStrike">
                <a:solidFill>
                  <a:srgbClr val="840F3E"/>
                </a:solidFill>
                <a:latin typeface="Calibri"/>
                <a:ea typeface="Calibri"/>
                <a:cs typeface="Calibri"/>
                <a:sym typeface="Calibri"/>
              </a:rPr>
              <a:t>Implementing &amp; Evaluating the System</a:t>
            </a:r>
            <a:endParaRPr b="1" i="0" sz="5400" u="none" cap="none" strike="noStrike">
              <a:solidFill>
                <a:srgbClr val="840F3E"/>
              </a:solidFill>
              <a:latin typeface="Calibri"/>
              <a:ea typeface="Calibri"/>
              <a:cs typeface="Calibri"/>
              <a:sym typeface="Calibri"/>
            </a:endParaRPr>
          </a:p>
        </p:txBody>
      </p:sp>
      <p:pic>
        <p:nvPicPr>
          <p:cNvPr id="240" name="Google Shape;240;p46"/>
          <p:cNvPicPr preferRelativeResize="0"/>
          <p:nvPr/>
        </p:nvPicPr>
        <p:blipFill rotWithShape="1">
          <a:blip r:embed="rId3">
            <a:alphaModFix/>
          </a:blip>
          <a:srcRect b="0" l="0" r="0" t="0"/>
          <a:stretch/>
        </p:blipFill>
        <p:spPr>
          <a:xfrm>
            <a:off x="40980" y="2188394"/>
            <a:ext cx="5323051" cy="2932879"/>
          </a:xfrm>
          <a:prstGeom prst="rect">
            <a:avLst/>
          </a:prstGeom>
          <a:noFill/>
          <a:ln>
            <a:noFill/>
          </a:ln>
        </p:spPr>
      </p:pic>
      <p:sp>
        <p:nvSpPr>
          <p:cNvPr id="241" name="Google Shape;241;p46"/>
          <p:cNvSpPr/>
          <p:nvPr/>
        </p:nvSpPr>
        <p:spPr>
          <a:xfrm>
            <a:off x="158731" y="3353031"/>
            <a:ext cx="1125538" cy="603607"/>
          </a:xfrm>
          <a:prstGeom prst="roundRect">
            <a:avLst>
              <a:gd fmla="val 16667" name="adj"/>
            </a:avLst>
          </a:prstGeom>
          <a:noFill/>
          <a:ln cap="flat" cmpd="sng" w="571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2019-08-14T06:48:07Z</dcterms:created>
  <dc:creator>sharin</dc:creator>
</cp:coreProperties>
</file>