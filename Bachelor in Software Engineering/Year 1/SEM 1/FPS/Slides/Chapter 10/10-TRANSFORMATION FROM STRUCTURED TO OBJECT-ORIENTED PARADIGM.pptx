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3"/>
  </p:notesMasterIdLst>
  <p:sldIdLst>
    <p:sldId id="256" r:id="rId2"/>
    <p:sldId id="259" r:id="rId3"/>
    <p:sldId id="258" r:id="rId4"/>
    <p:sldId id="307" r:id="rId5"/>
    <p:sldId id="260" r:id="rId6"/>
    <p:sldId id="261" r:id="rId7"/>
    <p:sldId id="262" r:id="rId8"/>
    <p:sldId id="286" r:id="rId9"/>
    <p:sldId id="287" r:id="rId10"/>
    <p:sldId id="288" r:id="rId11"/>
    <p:sldId id="289" r:id="rId12"/>
    <p:sldId id="290" r:id="rId13"/>
    <p:sldId id="291" r:id="rId14"/>
    <p:sldId id="292" r:id="rId15"/>
    <p:sldId id="293" r:id="rId16"/>
    <p:sldId id="294" r:id="rId17"/>
    <p:sldId id="295" r:id="rId18"/>
    <p:sldId id="308" r:id="rId19"/>
    <p:sldId id="309" r:id="rId20"/>
    <p:sldId id="310" r:id="rId21"/>
    <p:sldId id="311" r:id="rId22"/>
    <p:sldId id="263" r:id="rId23"/>
    <p:sldId id="264" r:id="rId24"/>
    <p:sldId id="265" r:id="rId25"/>
    <p:sldId id="266" r:id="rId26"/>
    <p:sldId id="268" r:id="rId27"/>
    <p:sldId id="269" r:id="rId28"/>
    <p:sldId id="270" r:id="rId29"/>
    <p:sldId id="271" r:id="rId30"/>
    <p:sldId id="272" r:id="rId31"/>
    <p:sldId id="296" r:id="rId32"/>
    <p:sldId id="297" r:id="rId33"/>
    <p:sldId id="298" r:id="rId34"/>
    <p:sldId id="299" r:id="rId35"/>
    <p:sldId id="300" r:id="rId36"/>
    <p:sldId id="301" r:id="rId37"/>
    <p:sldId id="302" r:id="rId38"/>
    <p:sldId id="303" r:id="rId39"/>
    <p:sldId id="304" r:id="rId40"/>
    <p:sldId id="305" r:id="rId41"/>
    <p:sldId id="306" r:id="rId4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gFpBIvtBDaiXVg1Zaf1zlbvCCEV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964" y="4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2" name="Google Shape;122;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50531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0" name="Google Shape;390;p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0" name="Google Shape;450;p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0" name="Google Shape;460;p3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7" name="Google Shape;467;p3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5" name="Google Shape;475;p3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3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0" name="Google Shape;490;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1" name="Google Shape;491;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3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0" name="Google Shape;510;p3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1" name="Google Shape;531;p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4" name="Google Shape;554;p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4" name="Google Shape;264;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4" name="Google Shape;574;p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6" name="Google Shape;586;p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p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4" name="Google Shape;614;p4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8" name="Google Shape;628;p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5" name="Google Shape;635;p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2" name="Google Shape;642;p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9" name="Google Shape;649;p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5" name="Google Shape;655;p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5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8" name="Google Shape;18;p5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560"/>
              </a:spcBef>
              <a:spcAft>
                <a:spcPts val="0"/>
              </a:spcAft>
              <a:buClr>
                <a:srgbClr val="888888"/>
              </a:buClr>
              <a:buSzPts val="2800"/>
              <a:buNone/>
              <a:defRPr sz="2800">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9" name="Google Shape;19;p5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5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Only">
  <p:cSld name="1_Title Only">
    <p:spTree>
      <p:nvGrpSpPr>
        <p:cNvPr id="1" name="Shape 22"/>
        <p:cNvGrpSpPr/>
        <p:nvPr/>
      </p:nvGrpSpPr>
      <p:grpSpPr>
        <a:xfrm>
          <a:off x="0" y="0"/>
          <a:ext cx="0" cy="0"/>
          <a:chOff x="0" y="0"/>
          <a:chExt cx="0" cy="0"/>
        </a:xfrm>
      </p:grpSpPr>
      <p:sp>
        <p:nvSpPr>
          <p:cNvPr id="23" name="Google Shape;23;p5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4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4" name="Google Shape;24;p5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5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5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54"/>
          <p:cNvSpPr>
            <a:spLocks noGrp="1"/>
          </p:cNvSpPr>
          <p:nvPr>
            <p:ph type="body" idx="1"/>
          </p:nvPr>
        </p:nvSpPr>
        <p:spPr>
          <a:xfrm>
            <a:off x="457200" y="1529154"/>
            <a:ext cx="8229600" cy="914400"/>
          </a:xfrm>
          <a:prstGeom prst="roundRect">
            <a:avLst>
              <a:gd name="adj" fmla="val 16667"/>
            </a:avLst>
          </a:prstGeom>
          <a:solidFill>
            <a:schemeClr val="accent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lvl1pPr marL="457200" lvl="0" indent="-381000" algn="l">
              <a:spcBef>
                <a:spcPts val="480"/>
              </a:spcBef>
              <a:spcAft>
                <a:spcPts val="0"/>
              </a:spcAft>
              <a:buClr>
                <a:schemeClr val="lt1"/>
              </a:buClr>
              <a:buSzPts val="2400"/>
              <a:buFont typeface="Noto Sans Symbols"/>
              <a:buChar char="🏵"/>
              <a:defRPr sz="2400">
                <a:solidFill>
                  <a:schemeClr val="lt1"/>
                </a:solidFill>
              </a:defRPr>
            </a:lvl1pPr>
            <a:lvl2pPr marL="914400" lvl="1" indent="-355600" algn="l">
              <a:spcBef>
                <a:spcPts val="400"/>
              </a:spcBef>
              <a:spcAft>
                <a:spcPts val="0"/>
              </a:spcAft>
              <a:buClr>
                <a:schemeClr val="lt1"/>
              </a:buClr>
              <a:buSzPts val="2000"/>
              <a:buFont typeface="Noto Sans Symbols"/>
              <a:buChar char="◆"/>
              <a:defRPr sz="2000">
                <a:solidFill>
                  <a:schemeClr val="lt1"/>
                </a:solidFill>
              </a:defRPr>
            </a:lvl2pPr>
            <a:lvl3pPr marL="1371600" lvl="2" indent="-381000" algn="l">
              <a:spcBef>
                <a:spcPts val="480"/>
              </a:spcBef>
              <a:spcAft>
                <a:spcPts val="0"/>
              </a:spcAft>
              <a:buClr>
                <a:schemeClr val="lt1"/>
              </a:buClr>
              <a:buSzPts val="2400"/>
              <a:buChar char="•"/>
              <a:defRPr>
                <a:solidFill>
                  <a:schemeClr val="lt1"/>
                </a:solidFill>
              </a:defRPr>
            </a:lvl3pPr>
            <a:lvl4pPr marL="1828800" lvl="3" indent="-355600" algn="l">
              <a:spcBef>
                <a:spcPts val="400"/>
              </a:spcBef>
              <a:spcAft>
                <a:spcPts val="0"/>
              </a:spcAft>
              <a:buClr>
                <a:schemeClr val="lt1"/>
              </a:buClr>
              <a:buSzPts val="2000"/>
              <a:buChar char="–"/>
              <a:defRPr>
                <a:solidFill>
                  <a:schemeClr val="lt1"/>
                </a:solidFill>
              </a:defRPr>
            </a:lvl4pPr>
            <a:lvl5pPr marL="2286000" lvl="4" indent="-355600" algn="l">
              <a:spcBef>
                <a:spcPts val="400"/>
              </a:spcBef>
              <a:spcAft>
                <a:spcPts val="0"/>
              </a:spcAft>
              <a:buClr>
                <a:schemeClr val="lt1"/>
              </a:buClr>
              <a:buSzPts val="2000"/>
              <a:buChar char="»"/>
              <a:defRPr>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54"/>
          <p:cNvSpPr>
            <a:spLocks noGrp="1"/>
          </p:cNvSpPr>
          <p:nvPr>
            <p:ph type="body" idx="2"/>
          </p:nvPr>
        </p:nvSpPr>
        <p:spPr>
          <a:xfrm>
            <a:off x="455645" y="2514600"/>
            <a:ext cx="8229600" cy="914400"/>
          </a:xfrm>
          <a:prstGeom prst="roundRect">
            <a:avLst>
              <a:gd name="adj" fmla="val 16667"/>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lvl1pPr marL="457200" lvl="0" indent="-381000" algn="l">
              <a:spcBef>
                <a:spcPts val="480"/>
              </a:spcBef>
              <a:spcAft>
                <a:spcPts val="0"/>
              </a:spcAft>
              <a:buClr>
                <a:schemeClr val="lt1"/>
              </a:buClr>
              <a:buSzPts val="2400"/>
              <a:buFont typeface="Noto Sans Symbols"/>
              <a:buChar char="🏵"/>
              <a:defRPr sz="2400">
                <a:solidFill>
                  <a:schemeClr val="lt1"/>
                </a:solidFill>
              </a:defRPr>
            </a:lvl1pPr>
            <a:lvl2pPr marL="914400" lvl="1" indent="-355600" algn="l">
              <a:spcBef>
                <a:spcPts val="400"/>
              </a:spcBef>
              <a:spcAft>
                <a:spcPts val="0"/>
              </a:spcAft>
              <a:buClr>
                <a:schemeClr val="lt1"/>
              </a:buClr>
              <a:buSzPts val="2000"/>
              <a:buFont typeface="Noto Sans Symbols"/>
              <a:buChar char="◆"/>
              <a:defRPr sz="2000">
                <a:solidFill>
                  <a:schemeClr val="lt1"/>
                </a:solidFill>
              </a:defRPr>
            </a:lvl2pPr>
            <a:lvl3pPr marL="1371600" lvl="2" indent="-381000" algn="l">
              <a:spcBef>
                <a:spcPts val="480"/>
              </a:spcBef>
              <a:spcAft>
                <a:spcPts val="0"/>
              </a:spcAft>
              <a:buClr>
                <a:schemeClr val="lt1"/>
              </a:buClr>
              <a:buSzPts val="2400"/>
              <a:buChar char="•"/>
              <a:defRPr>
                <a:solidFill>
                  <a:schemeClr val="lt1"/>
                </a:solidFill>
              </a:defRPr>
            </a:lvl3pPr>
            <a:lvl4pPr marL="1828800" lvl="3" indent="-355600" algn="l">
              <a:spcBef>
                <a:spcPts val="400"/>
              </a:spcBef>
              <a:spcAft>
                <a:spcPts val="0"/>
              </a:spcAft>
              <a:buClr>
                <a:schemeClr val="lt1"/>
              </a:buClr>
              <a:buSzPts val="2000"/>
              <a:buChar char="–"/>
              <a:defRPr>
                <a:solidFill>
                  <a:schemeClr val="lt1"/>
                </a:solidFill>
              </a:defRPr>
            </a:lvl4pPr>
            <a:lvl5pPr marL="2286000" lvl="4" indent="-355600" algn="l">
              <a:spcBef>
                <a:spcPts val="400"/>
              </a:spcBef>
              <a:spcAft>
                <a:spcPts val="0"/>
              </a:spcAft>
              <a:buClr>
                <a:schemeClr val="lt1"/>
              </a:buClr>
              <a:buSzPts val="2000"/>
              <a:buChar char="»"/>
              <a:defRPr>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 name="Google Shape;29;p54"/>
          <p:cNvSpPr>
            <a:spLocks noGrp="1"/>
          </p:cNvSpPr>
          <p:nvPr>
            <p:ph type="body" idx="3"/>
          </p:nvPr>
        </p:nvSpPr>
        <p:spPr>
          <a:xfrm>
            <a:off x="455645" y="3505200"/>
            <a:ext cx="8229600" cy="914400"/>
          </a:xfrm>
          <a:prstGeom prst="roundRect">
            <a:avLst>
              <a:gd name="adj" fmla="val 16667"/>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lvl1pPr marL="457200" lvl="0" indent="-381000" algn="l">
              <a:spcBef>
                <a:spcPts val="480"/>
              </a:spcBef>
              <a:spcAft>
                <a:spcPts val="0"/>
              </a:spcAft>
              <a:buClr>
                <a:schemeClr val="lt1"/>
              </a:buClr>
              <a:buSzPts val="2400"/>
              <a:buFont typeface="Noto Sans Symbols"/>
              <a:buChar char="🏵"/>
              <a:defRPr sz="2400">
                <a:solidFill>
                  <a:schemeClr val="lt1"/>
                </a:solidFill>
              </a:defRPr>
            </a:lvl1pPr>
            <a:lvl2pPr marL="914400" lvl="1" indent="-355600" algn="l">
              <a:spcBef>
                <a:spcPts val="400"/>
              </a:spcBef>
              <a:spcAft>
                <a:spcPts val="0"/>
              </a:spcAft>
              <a:buClr>
                <a:schemeClr val="lt1"/>
              </a:buClr>
              <a:buSzPts val="2000"/>
              <a:buFont typeface="Noto Sans Symbols"/>
              <a:buChar char="◆"/>
              <a:defRPr sz="2000">
                <a:solidFill>
                  <a:schemeClr val="lt1"/>
                </a:solidFill>
              </a:defRPr>
            </a:lvl2pPr>
            <a:lvl3pPr marL="1371600" lvl="2" indent="-381000" algn="l">
              <a:spcBef>
                <a:spcPts val="480"/>
              </a:spcBef>
              <a:spcAft>
                <a:spcPts val="0"/>
              </a:spcAft>
              <a:buClr>
                <a:schemeClr val="lt1"/>
              </a:buClr>
              <a:buSzPts val="2400"/>
              <a:buChar char="•"/>
              <a:defRPr>
                <a:solidFill>
                  <a:schemeClr val="lt1"/>
                </a:solidFill>
              </a:defRPr>
            </a:lvl3pPr>
            <a:lvl4pPr marL="1828800" lvl="3" indent="-355600" algn="l">
              <a:spcBef>
                <a:spcPts val="400"/>
              </a:spcBef>
              <a:spcAft>
                <a:spcPts val="0"/>
              </a:spcAft>
              <a:buClr>
                <a:schemeClr val="lt1"/>
              </a:buClr>
              <a:buSzPts val="2000"/>
              <a:buChar char="–"/>
              <a:defRPr>
                <a:solidFill>
                  <a:schemeClr val="lt1"/>
                </a:solidFill>
              </a:defRPr>
            </a:lvl4pPr>
            <a:lvl5pPr marL="2286000" lvl="4" indent="-355600" algn="l">
              <a:spcBef>
                <a:spcPts val="400"/>
              </a:spcBef>
              <a:spcAft>
                <a:spcPts val="0"/>
              </a:spcAft>
              <a:buClr>
                <a:schemeClr val="lt1"/>
              </a:buClr>
              <a:buSzPts val="2000"/>
              <a:buChar char="»"/>
              <a:defRPr>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0" name="Google Shape;30;p54"/>
          <p:cNvSpPr>
            <a:spLocks noGrp="1"/>
          </p:cNvSpPr>
          <p:nvPr>
            <p:ph type="body" idx="4"/>
          </p:nvPr>
        </p:nvSpPr>
        <p:spPr>
          <a:xfrm>
            <a:off x="455645" y="4495800"/>
            <a:ext cx="8229600" cy="914400"/>
          </a:xfrm>
          <a:prstGeom prst="roundRect">
            <a:avLst>
              <a:gd name="adj" fmla="val 16667"/>
            </a:avLst>
          </a:prstGeom>
          <a:solidFill>
            <a:schemeClr val="accent5"/>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lvl1pPr marL="457200" lvl="0" indent="-381000" algn="l">
              <a:spcBef>
                <a:spcPts val="480"/>
              </a:spcBef>
              <a:spcAft>
                <a:spcPts val="0"/>
              </a:spcAft>
              <a:buClr>
                <a:schemeClr val="lt1"/>
              </a:buClr>
              <a:buSzPts val="2400"/>
              <a:buFont typeface="Noto Sans Symbols"/>
              <a:buChar char="🏵"/>
              <a:defRPr sz="2400">
                <a:solidFill>
                  <a:schemeClr val="lt1"/>
                </a:solidFill>
              </a:defRPr>
            </a:lvl1pPr>
            <a:lvl2pPr marL="914400" lvl="1" indent="-355600" algn="l">
              <a:spcBef>
                <a:spcPts val="400"/>
              </a:spcBef>
              <a:spcAft>
                <a:spcPts val="0"/>
              </a:spcAft>
              <a:buClr>
                <a:schemeClr val="lt1"/>
              </a:buClr>
              <a:buSzPts val="2000"/>
              <a:buFont typeface="Noto Sans Symbols"/>
              <a:buChar char="◆"/>
              <a:defRPr sz="2000">
                <a:solidFill>
                  <a:schemeClr val="lt1"/>
                </a:solidFill>
              </a:defRPr>
            </a:lvl2pPr>
            <a:lvl3pPr marL="1371600" lvl="2" indent="-381000" algn="l">
              <a:spcBef>
                <a:spcPts val="480"/>
              </a:spcBef>
              <a:spcAft>
                <a:spcPts val="0"/>
              </a:spcAft>
              <a:buClr>
                <a:schemeClr val="lt1"/>
              </a:buClr>
              <a:buSzPts val="2400"/>
              <a:buChar char="•"/>
              <a:defRPr>
                <a:solidFill>
                  <a:schemeClr val="lt1"/>
                </a:solidFill>
              </a:defRPr>
            </a:lvl3pPr>
            <a:lvl4pPr marL="1828800" lvl="3" indent="-355600" algn="l">
              <a:spcBef>
                <a:spcPts val="400"/>
              </a:spcBef>
              <a:spcAft>
                <a:spcPts val="0"/>
              </a:spcAft>
              <a:buClr>
                <a:schemeClr val="lt1"/>
              </a:buClr>
              <a:buSzPts val="2000"/>
              <a:buChar char="–"/>
              <a:defRPr>
                <a:solidFill>
                  <a:schemeClr val="lt1"/>
                </a:solidFill>
              </a:defRPr>
            </a:lvl4pPr>
            <a:lvl5pPr marL="2286000" lvl="4" indent="-355600" algn="l">
              <a:spcBef>
                <a:spcPts val="400"/>
              </a:spcBef>
              <a:spcAft>
                <a:spcPts val="0"/>
              </a:spcAft>
              <a:buClr>
                <a:schemeClr val="lt1"/>
              </a:buClr>
              <a:buSzPts val="2000"/>
              <a:buChar char="»"/>
              <a:defRPr>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1" name="Google Shape;31;p54"/>
          <p:cNvSpPr>
            <a:spLocks noGrp="1"/>
          </p:cNvSpPr>
          <p:nvPr>
            <p:ph type="body" idx="5"/>
          </p:nvPr>
        </p:nvSpPr>
        <p:spPr>
          <a:xfrm>
            <a:off x="455645" y="5502679"/>
            <a:ext cx="8229600" cy="914400"/>
          </a:xfrm>
          <a:prstGeom prst="roundRect">
            <a:avLst>
              <a:gd name="adj" fmla="val 16667"/>
            </a:avLst>
          </a:prstGeom>
          <a:solidFill>
            <a:schemeClr val="accent6"/>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lvl1pPr marL="457200" lvl="0" indent="-381000" algn="l">
              <a:spcBef>
                <a:spcPts val="480"/>
              </a:spcBef>
              <a:spcAft>
                <a:spcPts val="0"/>
              </a:spcAft>
              <a:buClr>
                <a:schemeClr val="lt1"/>
              </a:buClr>
              <a:buSzPts val="2400"/>
              <a:buFont typeface="Noto Sans Symbols"/>
              <a:buChar char="🏵"/>
              <a:defRPr sz="2400">
                <a:solidFill>
                  <a:schemeClr val="lt1"/>
                </a:solidFill>
              </a:defRPr>
            </a:lvl1pPr>
            <a:lvl2pPr marL="914400" lvl="1" indent="-355600" algn="l">
              <a:spcBef>
                <a:spcPts val="400"/>
              </a:spcBef>
              <a:spcAft>
                <a:spcPts val="0"/>
              </a:spcAft>
              <a:buClr>
                <a:schemeClr val="lt1"/>
              </a:buClr>
              <a:buSzPts val="2000"/>
              <a:buFont typeface="Noto Sans Symbols"/>
              <a:buChar char="◆"/>
              <a:defRPr sz="2000">
                <a:solidFill>
                  <a:schemeClr val="lt1"/>
                </a:solidFill>
              </a:defRPr>
            </a:lvl2pPr>
            <a:lvl3pPr marL="1371600" lvl="2" indent="-381000" algn="l">
              <a:spcBef>
                <a:spcPts val="480"/>
              </a:spcBef>
              <a:spcAft>
                <a:spcPts val="0"/>
              </a:spcAft>
              <a:buClr>
                <a:schemeClr val="lt1"/>
              </a:buClr>
              <a:buSzPts val="2400"/>
              <a:buChar char="•"/>
              <a:defRPr>
                <a:solidFill>
                  <a:schemeClr val="lt1"/>
                </a:solidFill>
              </a:defRPr>
            </a:lvl3pPr>
            <a:lvl4pPr marL="1828800" lvl="3" indent="-355600" algn="l">
              <a:spcBef>
                <a:spcPts val="400"/>
              </a:spcBef>
              <a:spcAft>
                <a:spcPts val="0"/>
              </a:spcAft>
              <a:buClr>
                <a:schemeClr val="lt1"/>
              </a:buClr>
              <a:buSzPts val="2000"/>
              <a:buChar char="–"/>
              <a:defRPr>
                <a:solidFill>
                  <a:schemeClr val="lt1"/>
                </a:solidFill>
              </a:defRPr>
            </a:lvl4pPr>
            <a:lvl5pPr marL="2286000" lvl="4" indent="-355600" algn="l">
              <a:spcBef>
                <a:spcPts val="400"/>
              </a:spcBef>
              <a:spcAft>
                <a:spcPts val="0"/>
              </a:spcAft>
              <a:buClr>
                <a:schemeClr val="lt1"/>
              </a:buClr>
              <a:buSzPts val="2000"/>
              <a:buChar char="»"/>
              <a:defRPr>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5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4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7" name="Google Shape;37;p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2"/>
        <p:cNvGrpSpPr/>
        <p:nvPr/>
      </p:nvGrpSpPr>
      <p:grpSpPr>
        <a:xfrm>
          <a:off x="0" y="0"/>
          <a:ext cx="0" cy="0"/>
          <a:chOff x="0" y="0"/>
          <a:chExt cx="0" cy="0"/>
        </a:xfrm>
      </p:grpSpPr>
      <p:sp>
        <p:nvSpPr>
          <p:cNvPr id="53" name="Google Shape;53;p5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4" name="Google Shape;54;p59"/>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55" name="Google Shape;55;p59"/>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56" name="Google Shape;56;p5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5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5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9"/>
        <p:cNvGrpSpPr/>
        <p:nvPr/>
      </p:nvGrpSpPr>
      <p:grpSpPr>
        <a:xfrm>
          <a:off x="0" y="0"/>
          <a:ext cx="0" cy="0"/>
          <a:chOff x="0" y="0"/>
          <a:chExt cx="0" cy="0"/>
        </a:xfrm>
      </p:grpSpPr>
      <p:sp>
        <p:nvSpPr>
          <p:cNvPr id="60" name="Google Shape;60;p6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1" name="Google Shape;61;p60"/>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62" name="Google Shape;62;p60"/>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3" name="Google Shape;63;p60"/>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64" name="Google Shape;64;p60"/>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5" name="Google Shape;65;p6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6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6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8"/>
        <p:cNvGrpSpPr/>
        <p:nvPr/>
      </p:nvGrpSpPr>
      <p:grpSpPr>
        <a:xfrm>
          <a:off x="0" y="0"/>
          <a:ext cx="0" cy="0"/>
          <a:chOff x="0" y="0"/>
          <a:chExt cx="0" cy="0"/>
        </a:xfrm>
      </p:grpSpPr>
      <p:sp>
        <p:nvSpPr>
          <p:cNvPr id="69" name="Google Shape;69;p6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6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2"/>
        <p:cNvGrpSpPr/>
        <p:nvPr/>
      </p:nvGrpSpPr>
      <p:grpSpPr>
        <a:xfrm>
          <a:off x="0" y="0"/>
          <a:ext cx="0" cy="0"/>
          <a:chOff x="0" y="0"/>
          <a:chExt cx="0" cy="0"/>
        </a:xfrm>
      </p:grpSpPr>
      <p:sp>
        <p:nvSpPr>
          <p:cNvPr id="73" name="Google Shape;73;p6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6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75" name="Google Shape;75;p6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6" name="Google Shape;76;p6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6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6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9"/>
        <p:cNvGrpSpPr/>
        <p:nvPr/>
      </p:nvGrpSpPr>
      <p:grpSpPr>
        <a:xfrm>
          <a:off x="0" y="0"/>
          <a:ext cx="0" cy="0"/>
          <a:chOff x="0" y="0"/>
          <a:chExt cx="0" cy="0"/>
        </a:xfrm>
      </p:grpSpPr>
      <p:sp>
        <p:nvSpPr>
          <p:cNvPr id="80" name="Google Shape;80;p6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1" name="Google Shape;81;p63"/>
          <p:cNvSpPr>
            <a:spLocks noGrp="1"/>
          </p:cNvSpPr>
          <p:nvPr>
            <p:ph type="pic" idx="2"/>
          </p:nvPr>
        </p:nvSpPr>
        <p:spPr>
          <a:xfrm>
            <a:off x="1792288" y="612775"/>
            <a:ext cx="5486400" cy="4114800"/>
          </a:xfrm>
          <a:prstGeom prst="rect">
            <a:avLst/>
          </a:prstGeom>
          <a:noFill/>
          <a:ln>
            <a:noFill/>
          </a:ln>
        </p:spPr>
      </p:sp>
      <p:sp>
        <p:nvSpPr>
          <p:cNvPr id="82" name="Google Shape;82;p6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3" name="Google Shape;83;p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6"/>
        <p:cNvGrpSpPr/>
        <p:nvPr/>
      </p:nvGrpSpPr>
      <p:grpSpPr>
        <a:xfrm>
          <a:off x="0" y="0"/>
          <a:ext cx="0" cy="0"/>
          <a:chOff x="0" y="0"/>
          <a:chExt cx="0" cy="0"/>
        </a:xfrm>
      </p:grpSpPr>
      <p:sp>
        <p:nvSpPr>
          <p:cNvPr id="87" name="Google Shape;87;p6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8" name="Google Shape;88;p64"/>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9" name="Google Shape;89;p6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6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6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2"/>
        <p:cNvGrpSpPr/>
        <p:nvPr/>
      </p:nvGrpSpPr>
      <p:grpSpPr>
        <a:xfrm>
          <a:off x="0" y="0"/>
          <a:ext cx="0" cy="0"/>
          <a:chOff x="0" y="0"/>
          <a:chExt cx="0" cy="0"/>
        </a:xfrm>
      </p:grpSpPr>
      <p:sp>
        <p:nvSpPr>
          <p:cNvPr id="93" name="Google Shape;93;p6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4" name="Google Shape;94;p6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5" name="Google Shape;95;p6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6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6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rgbClr val="888888"/>
                </a:solidFill>
                <a:latin typeface="Calibri"/>
                <a:ea typeface="Calibri"/>
                <a:cs typeface="Calibri"/>
                <a:sym typeface="Calibri"/>
              </a:defRPr>
            </a:lvl1pPr>
            <a:lvl2pPr marL="0" marR="0" lvl="1" indent="0" algn="r">
              <a:spcBef>
                <a:spcPts val="0"/>
              </a:spcBef>
              <a:spcAft>
                <a:spcPts val="0"/>
              </a:spcAft>
              <a:buNone/>
              <a:defRPr sz="1200">
                <a:solidFill>
                  <a:srgbClr val="888888"/>
                </a:solidFill>
                <a:latin typeface="Calibri"/>
                <a:ea typeface="Calibri"/>
                <a:cs typeface="Calibri"/>
                <a:sym typeface="Calibri"/>
              </a:defRPr>
            </a:lvl2pPr>
            <a:lvl3pPr marL="0" marR="0" lvl="2" indent="0" algn="r">
              <a:spcBef>
                <a:spcPts val="0"/>
              </a:spcBef>
              <a:spcAft>
                <a:spcPts val="0"/>
              </a:spcAft>
              <a:buNone/>
              <a:defRPr sz="1200">
                <a:solidFill>
                  <a:srgbClr val="888888"/>
                </a:solidFill>
                <a:latin typeface="Calibri"/>
                <a:ea typeface="Calibri"/>
                <a:cs typeface="Calibri"/>
                <a:sym typeface="Calibri"/>
              </a:defRPr>
            </a:lvl3pPr>
            <a:lvl4pPr marL="0" marR="0" lvl="3" indent="0" algn="r">
              <a:spcBef>
                <a:spcPts val="0"/>
              </a:spcBef>
              <a:spcAft>
                <a:spcPts val="0"/>
              </a:spcAft>
              <a:buNone/>
              <a:defRPr sz="1200">
                <a:solidFill>
                  <a:srgbClr val="888888"/>
                </a:solidFill>
                <a:latin typeface="Calibri"/>
                <a:ea typeface="Calibri"/>
                <a:cs typeface="Calibri"/>
                <a:sym typeface="Calibri"/>
              </a:defRPr>
            </a:lvl4pPr>
            <a:lvl5pPr marL="0" marR="0" lvl="4" indent="0" algn="r">
              <a:spcBef>
                <a:spcPts val="0"/>
              </a:spcBef>
              <a:spcAft>
                <a:spcPts val="0"/>
              </a:spcAft>
              <a:buNone/>
              <a:defRPr sz="1200">
                <a:solidFill>
                  <a:srgbClr val="888888"/>
                </a:solidFill>
                <a:latin typeface="Calibri"/>
                <a:ea typeface="Calibri"/>
                <a:cs typeface="Calibri"/>
                <a:sym typeface="Calibri"/>
              </a:defRPr>
            </a:lvl5pPr>
            <a:lvl6pPr marL="0" marR="0" lvl="5" indent="0" algn="r">
              <a:spcBef>
                <a:spcPts val="0"/>
              </a:spcBef>
              <a:spcAft>
                <a:spcPts val="0"/>
              </a:spcAft>
              <a:buNone/>
              <a:defRPr sz="1200">
                <a:solidFill>
                  <a:srgbClr val="888888"/>
                </a:solidFill>
                <a:latin typeface="Calibri"/>
                <a:ea typeface="Calibri"/>
                <a:cs typeface="Calibri"/>
                <a:sym typeface="Calibri"/>
              </a:defRPr>
            </a:lvl6pPr>
            <a:lvl7pPr marL="0" marR="0" lvl="6" indent="0" algn="r">
              <a:spcBef>
                <a:spcPts val="0"/>
              </a:spcBef>
              <a:spcAft>
                <a:spcPts val="0"/>
              </a:spcAft>
              <a:buNone/>
              <a:defRPr sz="1200">
                <a:solidFill>
                  <a:srgbClr val="888888"/>
                </a:solidFill>
                <a:latin typeface="Calibri"/>
                <a:ea typeface="Calibri"/>
                <a:cs typeface="Calibri"/>
                <a:sym typeface="Calibri"/>
              </a:defRPr>
            </a:lvl7pPr>
            <a:lvl8pPr marL="0" marR="0" lvl="7" indent="0" algn="r">
              <a:spcBef>
                <a:spcPts val="0"/>
              </a:spcBef>
              <a:spcAft>
                <a:spcPts val="0"/>
              </a:spcAft>
              <a:buNone/>
              <a:defRPr sz="1200">
                <a:solidFill>
                  <a:srgbClr val="888888"/>
                </a:solidFill>
                <a:latin typeface="Calibri"/>
                <a:ea typeface="Calibri"/>
                <a:cs typeface="Calibri"/>
                <a:sym typeface="Calibri"/>
              </a:defRPr>
            </a:lvl8pPr>
            <a:lvl9pPr marL="0" marR="0" lvl="8" indent="0" algn="r">
              <a:spcBef>
                <a:spcPts val="0"/>
              </a:spcBef>
              <a:spcAft>
                <a:spcPts val="0"/>
              </a:spcAft>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38"/>
        <p:cNvGrpSpPr/>
        <p:nvPr/>
      </p:nvGrpSpPr>
      <p:grpSpPr>
        <a:xfrm>
          <a:off x="0" y="0"/>
          <a:ext cx="0" cy="0"/>
          <a:chOff x="0" y="0"/>
          <a:chExt cx="0" cy="0"/>
        </a:xfrm>
      </p:grpSpPr>
      <p:sp>
        <p:nvSpPr>
          <p:cNvPr id="39" name="Google Shape;39;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0" name="Google Shape;40;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1" name="Google Shape;4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66491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5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5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52"/>
          <p:cNvPicPr preferRelativeResize="0"/>
          <p:nvPr/>
        </p:nvPicPr>
        <p:blipFill rotWithShape="1">
          <a:blip r:embed="rId13">
            <a:alphaModFix/>
          </a:blip>
          <a:srcRect/>
          <a:stretch/>
        </p:blipFill>
        <p:spPr>
          <a:xfrm>
            <a:off x="1588" y="0"/>
            <a:ext cx="9140825"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5" r:id="rId4"/>
    <p:sldLayoutId id="2147483656" r:id="rId5"/>
    <p:sldLayoutId id="2147483657" r:id="rId6"/>
    <p:sldLayoutId id="2147483658" r:id="rId7"/>
    <p:sldLayoutId id="2147483659" r:id="rId8"/>
    <p:sldLayoutId id="2147483660" r:id="rId9"/>
    <p:sldLayoutId id="2147483661" r:id="rId10"/>
    <p:sldLayoutId id="214748366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
          <p:cNvSpPr txBox="1">
            <a:spLocks noGrp="1"/>
          </p:cNvSpPr>
          <p:nvPr>
            <p:ph type="ctrTitle"/>
          </p:nvPr>
        </p:nvSpPr>
        <p:spPr>
          <a:xfrm>
            <a:off x="838200" y="1752600"/>
            <a:ext cx="7772400" cy="31242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Fundamental Programming</a:t>
            </a:r>
            <a:br>
              <a:rPr lang="en-US" dirty="0"/>
            </a:br>
            <a:r>
              <a:rPr lang="en-US" dirty="0"/>
              <a:t>SCSE 1013</a:t>
            </a:r>
            <a:br>
              <a:rPr lang="en-US" dirty="0"/>
            </a:br>
            <a:br>
              <a:rPr lang="en-US" dirty="0"/>
            </a:br>
            <a:r>
              <a:rPr lang="en-US" sz="3200" b="0" dirty="0"/>
              <a:t>Semester 1, 2024/2025</a:t>
            </a:r>
            <a:br>
              <a:rPr lang="en-US" sz="3200" b="0" dirty="0"/>
            </a:br>
            <a:br>
              <a:rPr lang="en-US" sz="3200" b="0" dirty="0"/>
            </a:br>
            <a:br>
              <a:rPr lang="en-US" sz="3200" b="0" dirty="0"/>
            </a:br>
            <a:r>
              <a:rPr lang="en-US" sz="1800" b="0" dirty="0"/>
              <a:t>Faculty of Computing, UTM</a:t>
            </a:r>
            <a:endParaRPr sz="32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4"/>
          <p:cNvSpPr txBox="1">
            <a:spLocks noGrp="1"/>
          </p:cNvSpPr>
          <p:nvPr>
            <p:ph type="ctrTitle"/>
          </p:nvPr>
        </p:nvSpPr>
        <p:spPr>
          <a:xfrm>
            <a:off x="838200" y="1752600"/>
            <a:ext cx="7772400" cy="14700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10: Transformation From Structured To Object-oriented Paradigm</a:t>
            </a:r>
            <a:endParaRPr dirty="0"/>
          </a:p>
        </p:txBody>
      </p:sp>
      <p:sp>
        <p:nvSpPr>
          <p:cNvPr id="125" name="Google Shape;125;p4"/>
          <p:cNvSpPr txBox="1">
            <a:spLocks noGrp="1"/>
          </p:cNvSpPr>
          <p:nvPr>
            <p:ph type="subTitle" idx="1"/>
          </p:nvPr>
        </p:nvSpPr>
        <p:spPr>
          <a:xfrm>
            <a:off x="1371600" y="4191000"/>
            <a:ext cx="6400800" cy="10668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888888"/>
              </a:buClr>
              <a:buSzPts val="2800"/>
              <a:buNone/>
            </a:pPr>
            <a:r>
              <a:rPr lang="en-MY" dirty="0"/>
              <a:t>Fundamental Programming</a:t>
            </a:r>
            <a:endParaRPr dirty="0"/>
          </a:p>
          <a:p>
            <a:pPr marL="0" lvl="0" indent="0" algn="ctr" rtl="0">
              <a:spcBef>
                <a:spcPts val="560"/>
              </a:spcBef>
              <a:spcAft>
                <a:spcPts val="0"/>
              </a:spcAft>
              <a:buClr>
                <a:srgbClr val="888888"/>
              </a:buClr>
              <a:buSzPts val="2800"/>
              <a:buNone/>
            </a:pPr>
            <a:r>
              <a:rPr lang="en-US" dirty="0"/>
              <a:t>(SCSE 1013)</a:t>
            </a:r>
            <a:endParaRPr dirty="0"/>
          </a:p>
          <a:p>
            <a:pPr marL="0" lvl="0" indent="0" algn="ctr" rtl="0">
              <a:spcBef>
                <a:spcPts val="560"/>
              </a:spcBef>
              <a:spcAft>
                <a:spcPts val="0"/>
              </a:spcAft>
              <a:buClr>
                <a:srgbClr val="888888"/>
              </a:buClr>
              <a:buSzPts val="2800"/>
              <a:buNone/>
            </a:pPr>
            <a:endParaRPr dirty="0"/>
          </a:p>
          <a:p>
            <a:pPr marL="0" lvl="0" indent="0" algn="ctr" rtl="0">
              <a:spcBef>
                <a:spcPts val="320"/>
              </a:spcBef>
              <a:spcAft>
                <a:spcPts val="0"/>
              </a:spcAft>
              <a:buClr>
                <a:srgbClr val="0070C0"/>
              </a:buClr>
              <a:buSzPts val="1600"/>
              <a:buNone/>
            </a:pPr>
            <a:r>
              <a:rPr lang="en-US" sz="1600" i="1" dirty="0">
                <a:solidFill>
                  <a:srgbClr val="0070C0"/>
                </a:solidFill>
                <a:latin typeface="Calibri"/>
                <a:ea typeface="Calibri"/>
                <a:cs typeface="Calibri"/>
                <a:sym typeface="Calibri"/>
              </a:rPr>
              <a:t>Adapted from Tony Gaddis and Barret </a:t>
            </a:r>
            <a:r>
              <a:rPr lang="en-US" sz="1600" i="1" dirty="0" err="1">
                <a:solidFill>
                  <a:srgbClr val="0070C0"/>
                </a:solidFill>
                <a:latin typeface="Calibri"/>
                <a:ea typeface="Calibri"/>
                <a:cs typeface="Calibri"/>
                <a:sym typeface="Calibri"/>
              </a:rPr>
              <a:t>Krupnow</a:t>
            </a:r>
            <a:r>
              <a:rPr lang="en-US" sz="1600" i="1" dirty="0">
                <a:solidFill>
                  <a:srgbClr val="0070C0"/>
                </a:solidFill>
                <a:latin typeface="Calibri"/>
                <a:ea typeface="Calibri"/>
                <a:cs typeface="Calibri"/>
                <a:sym typeface="Calibri"/>
              </a:rPr>
              <a:t> (2016), Starting out with C++: From Control Structures through Objects</a:t>
            </a:r>
            <a:endParaRPr sz="1600" i="1" dirty="0">
              <a:solidFill>
                <a:srgbClr val="0070C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txBox="1">
            <a:spLocks noGrp="1"/>
          </p:cNvSpPr>
          <p:nvPr>
            <p:ph type="title"/>
          </p:nvPr>
        </p:nvSpPr>
        <p:spPr>
          <a:xfrm>
            <a:off x="838200" y="189627"/>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Contents</a:t>
            </a:r>
            <a:endParaRPr dirty="0"/>
          </a:p>
        </p:txBody>
      </p:sp>
      <p:sp>
        <p:nvSpPr>
          <p:cNvPr id="115" name="Google Shape;115;p3"/>
          <p:cNvSpPr>
            <a:spLocks noGrp="1"/>
          </p:cNvSpPr>
          <p:nvPr>
            <p:ph type="body" idx="1"/>
          </p:nvPr>
        </p:nvSpPr>
        <p:spPr>
          <a:xfrm>
            <a:off x="472578" y="1384117"/>
            <a:ext cx="8229600" cy="954233"/>
          </a:xfrm>
          <a:prstGeom prst="roundRect">
            <a:avLst>
              <a:gd name="adj" fmla="val 16667"/>
            </a:avLst>
          </a:prstGeom>
          <a:solidFill>
            <a:schemeClr val="accent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400"/>
              </a:spcBef>
              <a:spcAft>
                <a:spcPts val="0"/>
              </a:spcAft>
              <a:buClr>
                <a:schemeClr val="lt1"/>
              </a:buClr>
              <a:buSzPts val="2000"/>
              <a:buFont typeface="Noto Sans Symbols"/>
              <a:buChar char="🏵"/>
            </a:pPr>
            <a:r>
              <a:rPr lang="en-US" sz="2000" dirty="0"/>
              <a:t>Object Oriented Programming Principles</a:t>
            </a:r>
            <a:endParaRPr dirty="0"/>
          </a:p>
        </p:txBody>
      </p:sp>
      <p:sp>
        <p:nvSpPr>
          <p:cNvPr id="116" name="Google Shape;116;p3"/>
          <p:cNvSpPr>
            <a:spLocks noGrp="1"/>
          </p:cNvSpPr>
          <p:nvPr>
            <p:ph type="body" idx="2"/>
          </p:nvPr>
        </p:nvSpPr>
        <p:spPr>
          <a:xfrm>
            <a:off x="457200" y="2389841"/>
            <a:ext cx="8229600" cy="954234"/>
          </a:xfrm>
          <a:prstGeom prst="roundRect">
            <a:avLst>
              <a:gd name="adj" fmla="val 16667"/>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400"/>
              </a:spcBef>
              <a:spcAft>
                <a:spcPts val="0"/>
              </a:spcAft>
              <a:buClr>
                <a:schemeClr val="lt1"/>
              </a:buClr>
              <a:buSzPts val="2000"/>
              <a:buFont typeface="Noto Sans Symbols"/>
              <a:buChar char="🏵"/>
            </a:pPr>
            <a:r>
              <a:rPr lang="en-US" sz="2000" dirty="0"/>
              <a:t>Class and Object Manipulations</a:t>
            </a:r>
            <a:endParaRPr dirty="0"/>
          </a:p>
        </p:txBody>
      </p:sp>
      <p:sp>
        <p:nvSpPr>
          <p:cNvPr id="117" name="Google Shape;117;p3"/>
          <p:cNvSpPr>
            <a:spLocks noGrp="1"/>
          </p:cNvSpPr>
          <p:nvPr>
            <p:ph type="body" idx="3"/>
          </p:nvPr>
        </p:nvSpPr>
        <p:spPr>
          <a:xfrm>
            <a:off x="472578" y="3395567"/>
            <a:ext cx="8229600" cy="954234"/>
          </a:xfrm>
          <a:prstGeom prst="roundRect">
            <a:avLst>
              <a:gd name="adj" fmla="val 16667"/>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indent="-342900">
              <a:spcBef>
                <a:spcPts val="0"/>
              </a:spcBef>
              <a:buSzPts val="2000"/>
            </a:pPr>
            <a:endParaRPr lang="en-US" sz="2000" dirty="0"/>
          </a:p>
          <a:p>
            <a:pPr marL="342900" indent="-342900">
              <a:spcBef>
                <a:spcPts val="0"/>
              </a:spcBef>
              <a:buSzPts val="2000"/>
            </a:pPr>
            <a:endParaRPr lang="en-US" sz="2000" dirty="0"/>
          </a:p>
          <a:p>
            <a:pPr marL="342900" indent="-342900">
              <a:spcBef>
                <a:spcPts val="0"/>
              </a:spcBef>
              <a:buSzPts val="2000"/>
            </a:pPr>
            <a:r>
              <a:rPr lang="en-US" sz="2000" dirty="0"/>
              <a:t>Associations, Aggregations and Compositions</a:t>
            </a:r>
          </a:p>
          <a:p>
            <a:pPr marL="342900" lvl="0" indent="-342900">
              <a:spcBef>
                <a:spcPts val="0"/>
              </a:spcBef>
              <a:buSzPts val="2000"/>
            </a:pPr>
            <a:endParaRPr lang="en-US" sz="2000" dirty="0"/>
          </a:p>
          <a:p>
            <a:pPr marL="342900" lvl="0" indent="-215900" algn="l" rtl="0">
              <a:spcBef>
                <a:spcPts val="400"/>
              </a:spcBef>
              <a:spcAft>
                <a:spcPts val="0"/>
              </a:spcAft>
              <a:buClr>
                <a:schemeClr val="lt1"/>
              </a:buClr>
              <a:buSzPts val="2000"/>
              <a:buFont typeface="Noto Sans Symbols"/>
              <a:buNone/>
            </a:pPr>
            <a:endParaRPr sz="2000" dirty="0"/>
          </a:p>
        </p:txBody>
      </p:sp>
      <p:sp>
        <p:nvSpPr>
          <p:cNvPr id="118" name="Google Shape;118;p3"/>
          <p:cNvSpPr>
            <a:spLocks noGrp="1"/>
          </p:cNvSpPr>
          <p:nvPr>
            <p:ph type="body" idx="1"/>
          </p:nvPr>
        </p:nvSpPr>
        <p:spPr>
          <a:xfrm>
            <a:off x="457200" y="4401292"/>
            <a:ext cx="8229600" cy="954234"/>
          </a:xfrm>
          <a:prstGeom prst="roundRect">
            <a:avLst>
              <a:gd name="adj" fmla="val 16667"/>
            </a:avLst>
          </a:prstGeom>
          <a:solidFill>
            <a:srgbClr val="36609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400"/>
              </a:spcBef>
              <a:spcAft>
                <a:spcPts val="0"/>
              </a:spcAft>
              <a:buClr>
                <a:schemeClr val="lt1"/>
              </a:buClr>
              <a:buSzPts val="2000"/>
              <a:buFont typeface="Noto Sans Symbols"/>
              <a:buChar char="🏵"/>
            </a:pPr>
            <a:r>
              <a:rPr lang="en-US" sz="2000" dirty="0"/>
              <a:t>Inheritance and Polymorphisms</a:t>
            </a:r>
            <a:endParaRPr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3"/>
          <p:cNvSpPr txBox="1">
            <a:spLocks noGrp="1"/>
          </p:cNvSpPr>
          <p:nvPr>
            <p:ph type="title"/>
          </p:nvPr>
        </p:nvSpPr>
        <p:spPr>
          <a:xfrm>
            <a:off x="1047604" y="274839"/>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Intro: Types of Programming Languages</a:t>
            </a:r>
            <a:endParaRPr dirty="0"/>
          </a:p>
        </p:txBody>
      </p:sp>
      <p:sp>
        <p:nvSpPr>
          <p:cNvPr id="115" name="Google Shape;115;p3"/>
          <p:cNvSpPr>
            <a:spLocks noGrp="1"/>
          </p:cNvSpPr>
          <p:nvPr>
            <p:ph type="body" idx="1"/>
          </p:nvPr>
        </p:nvSpPr>
        <p:spPr>
          <a:xfrm>
            <a:off x="408339" y="1691244"/>
            <a:ext cx="8229600" cy="821611"/>
          </a:xfrm>
          <a:prstGeom prst="roundRect">
            <a:avLst>
              <a:gd name="adj" fmla="val 16667"/>
            </a:avLst>
          </a:prstGeom>
          <a:solidFill>
            <a:schemeClr val="accent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400"/>
              </a:spcBef>
              <a:spcAft>
                <a:spcPts val="0"/>
              </a:spcAft>
              <a:buClr>
                <a:schemeClr val="lt1"/>
              </a:buClr>
              <a:buSzPts val="2000"/>
              <a:buFont typeface="Noto Sans Symbols"/>
              <a:buChar char="🏵"/>
            </a:pPr>
            <a:r>
              <a:rPr lang="en-US" sz="2000" dirty="0"/>
              <a:t>Procedural Programming (PP)  - Example: C, Pascal</a:t>
            </a:r>
            <a:endParaRPr dirty="0"/>
          </a:p>
        </p:txBody>
      </p:sp>
      <p:sp>
        <p:nvSpPr>
          <p:cNvPr id="116" name="Google Shape;116;p3"/>
          <p:cNvSpPr>
            <a:spLocks noGrp="1"/>
          </p:cNvSpPr>
          <p:nvPr>
            <p:ph type="body" idx="2"/>
          </p:nvPr>
        </p:nvSpPr>
        <p:spPr>
          <a:xfrm>
            <a:off x="408339" y="2607389"/>
            <a:ext cx="8229600" cy="821611"/>
          </a:xfrm>
          <a:prstGeom prst="roundRect">
            <a:avLst>
              <a:gd name="adj" fmla="val 16667"/>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400"/>
              </a:spcBef>
              <a:spcAft>
                <a:spcPts val="0"/>
              </a:spcAft>
              <a:buClr>
                <a:schemeClr val="lt1"/>
              </a:buClr>
              <a:buSzPts val="2000"/>
              <a:buFont typeface="Noto Sans Symbols"/>
              <a:buChar char="🏵"/>
            </a:pPr>
            <a:r>
              <a:rPr lang="en-US" sz="2000" dirty="0"/>
              <a:t>Functional Programming (FP) – Example: Scala, Erlang, Haskell</a:t>
            </a:r>
            <a:endParaRPr dirty="0"/>
          </a:p>
        </p:txBody>
      </p:sp>
      <p:sp>
        <p:nvSpPr>
          <p:cNvPr id="117" name="Google Shape;117;p3"/>
          <p:cNvSpPr>
            <a:spLocks noGrp="1"/>
          </p:cNvSpPr>
          <p:nvPr>
            <p:ph type="body" idx="3"/>
          </p:nvPr>
        </p:nvSpPr>
        <p:spPr>
          <a:xfrm>
            <a:off x="408339" y="3559324"/>
            <a:ext cx="8229600" cy="821611"/>
          </a:xfrm>
          <a:prstGeom prst="roundRect">
            <a:avLst>
              <a:gd name="adj" fmla="val 16667"/>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indent="-342900">
              <a:spcBef>
                <a:spcPts val="0"/>
              </a:spcBef>
              <a:buSzPts val="2000"/>
            </a:pPr>
            <a:endParaRPr lang="en-US" sz="2000" dirty="0"/>
          </a:p>
          <a:p>
            <a:pPr marL="342900" indent="-342900">
              <a:spcBef>
                <a:spcPts val="0"/>
              </a:spcBef>
              <a:buSzPts val="2000"/>
            </a:pPr>
            <a:endParaRPr lang="en-US" sz="2000" dirty="0"/>
          </a:p>
          <a:p>
            <a:pPr marL="342900" indent="-342900">
              <a:spcBef>
                <a:spcPts val="0"/>
              </a:spcBef>
              <a:buSzPts val="2000"/>
            </a:pPr>
            <a:r>
              <a:rPr lang="en-US" sz="2000" dirty="0"/>
              <a:t>Object-Oriented Programming (OOP) – Example: Java, Phyton, C++</a:t>
            </a:r>
          </a:p>
          <a:p>
            <a:pPr marL="342900" lvl="0" indent="-342900">
              <a:spcBef>
                <a:spcPts val="0"/>
              </a:spcBef>
              <a:buSzPts val="2000"/>
            </a:pPr>
            <a:endParaRPr lang="en-US" sz="2000" dirty="0"/>
          </a:p>
          <a:p>
            <a:pPr marL="342900" lvl="0" indent="-215900" algn="l" rtl="0">
              <a:spcBef>
                <a:spcPts val="400"/>
              </a:spcBef>
              <a:spcAft>
                <a:spcPts val="0"/>
              </a:spcAft>
              <a:buClr>
                <a:schemeClr val="lt1"/>
              </a:buClr>
              <a:buSzPts val="2000"/>
              <a:buFont typeface="Noto Sans Symbols"/>
              <a:buNone/>
            </a:pPr>
            <a:endParaRPr sz="2000" dirty="0"/>
          </a:p>
        </p:txBody>
      </p:sp>
      <p:sp>
        <p:nvSpPr>
          <p:cNvPr id="118" name="Google Shape;118;p3"/>
          <p:cNvSpPr>
            <a:spLocks noGrp="1"/>
          </p:cNvSpPr>
          <p:nvPr>
            <p:ph type="body" idx="1"/>
          </p:nvPr>
        </p:nvSpPr>
        <p:spPr>
          <a:xfrm>
            <a:off x="408339" y="4511259"/>
            <a:ext cx="8229600" cy="821611"/>
          </a:xfrm>
          <a:prstGeom prst="roundRect">
            <a:avLst>
              <a:gd name="adj" fmla="val 16667"/>
            </a:avLst>
          </a:prstGeom>
          <a:solidFill>
            <a:srgbClr val="36609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400"/>
              </a:spcBef>
              <a:spcAft>
                <a:spcPts val="0"/>
              </a:spcAft>
              <a:buClr>
                <a:schemeClr val="lt1"/>
              </a:buClr>
              <a:buSzPts val="2000"/>
              <a:buFont typeface="Noto Sans Symbols"/>
              <a:buChar char="🏵"/>
            </a:pPr>
            <a:r>
              <a:rPr lang="en-US" sz="2000" dirty="0"/>
              <a:t>Scripting Language – Example: PHP, Ruby, Node.js</a:t>
            </a:r>
            <a:endParaRPr sz="2000" dirty="0"/>
          </a:p>
        </p:txBody>
      </p:sp>
      <p:sp>
        <p:nvSpPr>
          <p:cNvPr id="2" name="Google Shape;118;p3">
            <a:extLst>
              <a:ext uri="{FF2B5EF4-FFF2-40B4-BE49-F238E27FC236}">
                <a16:creationId xmlns:a16="http://schemas.microsoft.com/office/drawing/2014/main" id="{26D09E7F-189D-1888-CC53-E1543B9A8A53}"/>
              </a:ext>
            </a:extLst>
          </p:cNvPr>
          <p:cNvSpPr txBox="1">
            <a:spLocks/>
          </p:cNvSpPr>
          <p:nvPr/>
        </p:nvSpPr>
        <p:spPr>
          <a:xfrm>
            <a:off x="408339" y="5463194"/>
            <a:ext cx="8229600" cy="821611"/>
          </a:xfrm>
          <a:prstGeom prst="roundRect">
            <a:avLst>
              <a:gd name="adj" fmla="val 16667"/>
            </a:avLst>
          </a:prstGeom>
          <a:solidFill>
            <a:schemeClr val="accent5">
              <a:lumMod val="50000"/>
            </a:schemeClr>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lt1"/>
              </a:buClr>
              <a:buSzPts val="2400"/>
              <a:buFont typeface="Noto Sans Symbols"/>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lt1"/>
              </a:buClr>
              <a:buSzPts val="2000"/>
              <a:buFont typeface="Noto Sans Symbols"/>
              <a:buChar char="◆"/>
              <a:defRPr sz="20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342900" indent="-342900">
              <a:spcBef>
                <a:spcPts val="400"/>
              </a:spcBef>
              <a:buSzPts val="2000"/>
            </a:pPr>
            <a:r>
              <a:rPr lang="en-US" sz="2000" dirty="0"/>
              <a:t>Logic Programming Language – Example: Prolog, </a:t>
            </a:r>
            <a:r>
              <a:rPr lang="en-US" sz="2000" dirty="0" err="1"/>
              <a:t>Datalog</a:t>
            </a:r>
            <a:endParaRPr lang="en-US" sz="2000" dirty="0"/>
          </a:p>
        </p:txBody>
      </p:sp>
    </p:spTree>
    <p:extLst>
      <p:ext uri="{BB962C8B-B14F-4D97-AF65-F5344CB8AC3E}">
        <p14:creationId xmlns:p14="http://schemas.microsoft.com/office/powerpoint/2010/main" val="2679973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5"/>
          <p:cNvSpPr txBox="1">
            <a:spLocks noGrp="1"/>
          </p:cNvSpPr>
          <p:nvPr>
            <p:ph type="title"/>
          </p:nvPr>
        </p:nvSpPr>
        <p:spPr>
          <a:xfrm>
            <a:off x="838200" y="-1524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Procedural Programming (PP)</a:t>
            </a:r>
            <a:endParaRPr/>
          </a:p>
        </p:txBody>
      </p:sp>
      <p:sp>
        <p:nvSpPr>
          <p:cNvPr id="131" name="Google Shape;131;p5"/>
          <p:cNvSpPr>
            <a:spLocks noGrp="1"/>
          </p:cNvSpPr>
          <p:nvPr>
            <p:ph type="body" idx="1"/>
          </p:nvPr>
        </p:nvSpPr>
        <p:spPr>
          <a:xfrm>
            <a:off x="457200" y="914400"/>
            <a:ext cx="8229600" cy="1290246"/>
          </a:xfrm>
          <a:prstGeom prst="roundRect">
            <a:avLst>
              <a:gd name="adj" fmla="val 16667"/>
            </a:avLst>
          </a:prstGeom>
          <a:solidFill>
            <a:schemeClr val="accent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400"/>
              <a:buFont typeface="Noto Sans Symbols"/>
              <a:buChar char="🏵"/>
            </a:pPr>
            <a:r>
              <a:rPr lang="en-US"/>
              <a:t>Traditional programming languages were procedural.</a:t>
            </a:r>
            <a:endParaRPr/>
          </a:p>
          <a:p>
            <a:pPr marL="742950" lvl="1" indent="-285750" algn="l" rtl="0">
              <a:spcBef>
                <a:spcPts val="400"/>
              </a:spcBef>
              <a:spcAft>
                <a:spcPts val="0"/>
              </a:spcAft>
              <a:buClr>
                <a:schemeClr val="lt1"/>
              </a:buClr>
              <a:buSzPts val="2000"/>
              <a:buChar char="◆"/>
            </a:pPr>
            <a:r>
              <a:rPr lang="en-US"/>
              <a:t>C, Pascal, BASIC, Ada and COBOL</a:t>
            </a:r>
            <a:endParaRPr/>
          </a:p>
        </p:txBody>
      </p:sp>
      <p:sp>
        <p:nvSpPr>
          <p:cNvPr id="132" name="Google Shape;132;p5"/>
          <p:cNvSpPr>
            <a:spLocks noGrp="1"/>
          </p:cNvSpPr>
          <p:nvPr>
            <p:ph type="body" idx="2"/>
          </p:nvPr>
        </p:nvSpPr>
        <p:spPr>
          <a:xfrm>
            <a:off x="455645" y="2408238"/>
            <a:ext cx="8229600" cy="1173162"/>
          </a:xfrm>
          <a:prstGeom prst="roundRect">
            <a:avLst>
              <a:gd name="adj" fmla="val 16667"/>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400"/>
              <a:buFont typeface="Noto Sans Symbols"/>
              <a:buChar char="🏵"/>
            </a:pPr>
            <a:r>
              <a:rPr lang="en-US"/>
              <a:t>Programming in procedural languages involves choosing data structures (appropriate ways to store data), designing algorithms, and translating algorithm into code.</a:t>
            </a:r>
            <a:endParaRPr/>
          </a:p>
        </p:txBody>
      </p:sp>
      <p:sp>
        <p:nvSpPr>
          <p:cNvPr id="133" name="Google Shape;133;p5"/>
          <p:cNvSpPr>
            <a:spLocks noGrp="1"/>
          </p:cNvSpPr>
          <p:nvPr>
            <p:ph type="body" idx="3"/>
          </p:nvPr>
        </p:nvSpPr>
        <p:spPr>
          <a:xfrm>
            <a:off x="381000" y="3810000"/>
            <a:ext cx="8229600" cy="914400"/>
          </a:xfrm>
          <a:prstGeom prst="roundRect">
            <a:avLst>
              <a:gd name="adj" fmla="val 16667"/>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lvl="0" indent="-342900" algn="l" rtl="0">
              <a:spcBef>
                <a:spcPts val="0"/>
              </a:spcBef>
              <a:spcAft>
                <a:spcPts val="0"/>
              </a:spcAft>
              <a:buClr>
                <a:schemeClr val="lt1"/>
              </a:buClr>
              <a:buSzPts val="2400"/>
              <a:buFont typeface="Noto Sans Symbols"/>
              <a:buChar char="🏵"/>
            </a:pPr>
            <a:r>
              <a:rPr lang="en-US"/>
              <a:t>In procedural programming, </a:t>
            </a:r>
            <a:r>
              <a:rPr lang="en-US">
                <a:solidFill>
                  <a:srgbClr val="FFFF00"/>
                </a:solidFill>
              </a:rPr>
              <a:t>data and operations are separated</a:t>
            </a:r>
            <a:r>
              <a:rPr lang="en-US"/>
              <a:t>.</a:t>
            </a:r>
            <a:endParaRPr/>
          </a:p>
          <a:p>
            <a:pPr marL="342900" lvl="0" indent="-190500" algn="l" rtl="0">
              <a:spcBef>
                <a:spcPts val="480"/>
              </a:spcBef>
              <a:spcAft>
                <a:spcPts val="0"/>
              </a:spcAft>
              <a:buClr>
                <a:schemeClr val="lt1"/>
              </a:buClr>
              <a:buSzPts val="2400"/>
              <a:buFont typeface="Noto Sans Symbols"/>
              <a:buNone/>
            </a:pPr>
            <a:endParaRPr/>
          </a:p>
        </p:txBody>
      </p:sp>
      <p:sp>
        <p:nvSpPr>
          <p:cNvPr id="134" name="Google Shape;134;p5"/>
          <p:cNvSpPr>
            <a:spLocks noGrp="1"/>
          </p:cNvSpPr>
          <p:nvPr>
            <p:ph type="body" idx="1"/>
          </p:nvPr>
        </p:nvSpPr>
        <p:spPr>
          <a:xfrm>
            <a:off x="457200" y="4953000"/>
            <a:ext cx="8229600" cy="1290246"/>
          </a:xfrm>
          <a:prstGeom prst="roundRect">
            <a:avLst>
              <a:gd name="adj" fmla="val 16667"/>
            </a:avLst>
          </a:prstGeom>
          <a:solidFill>
            <a:srgbClr val="36609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400"/>
              <a:buFont typeface="Noto Sans Symbols"/>
              <a:buChar char="🏵"/>
            </a:pPr>
            <a:r>
              <a:rPr lang="en-US"/>
              <a:t>This methodology requires sending data to procedure/functions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Procedural Programming</a:t>
            </a:r>
            <a:endParaRPr/>
          </a:p>
        </p:txBody>
      </p:sp>
      <p:sp>
        <p:nvSpPr>
          <p:cNvPr id="140" name="Google Shape;140;p6"/>
          <p:cNvSpPr/>
          <p:nvPr/>
        </p:nvSpPr>
        <p:spPr>
          <a:xfrm>
            <a:off x="1066800" y="3352800"/>
            <a:ext cx="2514600" cy="1981200"/>
          </a:xfrm>
          <a:prstGeom prst="rect">
            <a:avLst/>
          </a:prstGeom>
          <a:solidFill>
            <a:srgbClr val="66FFFF"/>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0" i="0" u="none" strike="noStrike" cap="none">
                <a:solidFill>
                  <a:srgbClr val="000000"/>
                </a:solidFill>
                <a:latin typeface="Times New Roman"/>
                <a:ea typeface="Times New Roman"/>
                <a:cs typeface="Times New Roman"/>
                <a:sym typeface="Times New Roman"/>
              </a:rPr>
              <a:t>Function A</a:t>
            </a:r>
            <a:endParaRPr/>
          </a:p>
        </p:txBody>
      </p:sp>
      <p:grpSp>
        <p:nvGrpSpPr>
          <p:cNvPr id="141" name="Google Shape;141;p6"/>
          <p:cNvGrpSpPr/>
          <p:nvPr/>
        </p:nvGrpSpPr>
        <p:grpSpPr>
          <a:xfrm>
            <a:off x="2133600" y="1600200"/>
            <a:ext cx="3810000" cy="1752600"/>
            <a:chOff x="1200" y="864"/>
            <a:chExt cx="2400" cy="1104"/>
          </a:xfrm>
        </p:grpSpPr>
        <p:sp>
          <p:nvSpPr>
            <p:cNvPr id="142" name="Google Shape;142;p6"/>
            <p:cNvSpPr/>
            <p:nvPr/>
          </p:nvSpPr>
          <p:spPr>
            <a:xfrm>
              <a:off x="2016" y="864"/>
              <a:ext cx="1584" cy="1008"/>
            </a:xfrm>
            <a:prstGeom prst="ellipse">
              <a:avLst/>
            </a:prstGeom>
            <a:solidFill>
              <a:srgbClr val="CCCC99"/>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0" i="0" u="none" strike="noStrike" cap="none">
                  <a:solidFill>
                    <a:srgbClr val="000000"/>
                  </a:solidFill>
                  <a:latin typeface="Times New Roman"/>
                  <a:ea typeface="Times New Roman"/>
                  <a:cs typeface="Times New Roman"/>
                  <a:sym typeface="Times New Roman"/>
                </a:rPr>
                <a:t>Data Element</a:t>
              </a:r>
              <a:endParaRPr/>
            </a:p>
          </p:txBody>
        </p:sp>
        <p:sp>
          <p:nvSpPr>
            <p:cNvPr id="143" name="Google Shape;143;p6"/>
            <p:cNvSpPr/>
            <p:nvPr/>
          </p:nvSpPr>
          <p:spPr>
            <a:xfrm>
              <a:off x="1200" y="1152"/>
              <a:ext cx="816" cy="816"/>
            </a:xfrm>
            <a:custGeom>
              <a:avLst/>
              <a:gdLst/>
              <a:ahLst/>
              <a:cxnLst/>
              <a:rect l="l" t="t" r="r" b="b"/>
              <a:pathLst>
                <a:path w="21600" h="21600" extrusionOk="0">
                  <a:moveTo>
                    <a:pt x="21600" y="6079"/>
                  </a:moveTo>
                  <a:lnTo>
                    <a:pt x="15115" y="0"/>
                  </a:lnTo>
                  <a:lnTo>
                    <a:pt x="15115" y="3971"/>
                  </a:lnTo>
                  <a:lnTo>
                    <a:pt x="12427" y="3971"/>
                  </a:lnTo>
                  <a:cubicBezTo>
                    <a:pt x="5564" y="3971"/>
                    <a:pt x="0" y="7636"/>
                    <a:pt x="0" y="12158"/>
                  </a:cubicBezTo>
                  <a:lnTo>
                    <a:pt x="0" y="21600"/>
                  </a:lnTo>
                  <a:lnTo>
                    <a:pt x="4309" y="21600"/>
                  </a:lnTo>
                  <a:lnTo>
                    <a:pt x="4309" y="12158"/>
                  </a:lnTo>
                  <a:cubicBezTo>
                    <a:pt x="4309" y="9965"/>
                    <a:pt x="7944" y="8187"/>
                    <a:pt x="12427" y="8187"/>
                  </a:cubicBezTo>
                  <a:lnTo>
                    <a:pt x="15115" y="8187"/>
                  </a:lnTo>
                  <a:lnTo>
                    <a:pt x="15115" y="12158"/>
                  </a:lnTo>
                  <a:lnTo>
                    <a:pt x="21600" y="6079"/>
                  </a:lnTo>
                  <a:close/>
                </a:path>
              </a:pathLst>
            </a:custGeom>
            <a:solidFill>
              <a:srgbClr val="FF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grpSp>
      <p:sp>
        <p:nvSpPr>
          <p:cNvPr id="144" name="Google Shape;144;p6"/>
          <p:cNvSpPr/>
          <p:nvPr/>
        </p:nvSpPr>
        <p:spPr>
          <a:xfrm>
            <a:off x="5791200" y="3352800"/>
            <a:ext cx="2514600" cy="1981200"/>
          </a:xfrm>
          <a:prstGeom prst="rect">
            <a:avLst/>
          </a:prstGeom>
          <a:solidFill>
            <a:srgbClr val="66FFFF"/>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0" i="0" u="none" strike="noStrike" cap="none">
                <a:solidFill>
                  <a:srgbClr val="000000"/>
                </a:solidFill>
                <a:latin typeface="Times New Roman"/>
                <a:ea typeface="Times New Roman"/>
                <a:cs typeface="Times New Roman"/>
                <a:sym typeface="Times New Roman"/>
              </a:rPr>
              <a:t>Function B</a:t>
            </a:r>
            <a:endParaRPr/>
          </a:p>
        </p:txBody>
      </p:sp>
      <p:sp>
        <p:nvSpPr>
          <p:cNvPr id="145" name="Google Shape;145;p6"/>
          <p:cNvSpPr/>
          <p:nvPr/>
        </p:nvSpPr>
        <p:spPr>
          <a:xfrm rot="5400000">
            <a:off x="6134100" y="2095500"/>
            <a:ext cx="1143000" cy="1371600"/>
          </a:xfrm>
          <a:custGeom>
            <a:avLst/>
            <a:gdLst/>
            <a:ahLst/>
            <a:cxnLst/>
            <a:rect l="l" t="t" r="r" b="b"/>
            <a:pathLst>
              <a:path w="21600" h="21600" extrusionOk="0">
                <a:moveTo>
                  <a:pt x="21600" y="6079"/>
                </a:moveTo>
                <a:lnTo>
                  <a:pt x="14909" y="0"/>
                </a:lnTo>
                <a:lnTo>
                  <a:pt x="14909" y="4078"/>
                </a:lnTo>
                <a:lnTo>
                  <a:pt x="12427" y="4078"/>
                </a:lnTo>
                <a:cubicBezTo>
                  <a:pt x="5564" y="4078"/>
                  <a:pt x="0" y="7696"/>
                  <a:pt x="0" y="12158"/>
                </a:cubicBezTo>
                <a:lnTo>
                  <a:pt x="0" y="21600"/>
                </a:lnTo>
                <a:lnTo>
                  <a:pt x="4091" y="21600"/>
                </a:lnTo>
                <a:lnTo>
                  <a:pt x="4091" y="12158"/>
                </a:lnTo>
                <a:cubicBezTo>
                  <a:pt x="4091" y="9906"/>
                  <a:pt x="7823" y="8080"/>
                  <a:pt x="12427" y="8080"/>
                </a:cubicBezTo>
                <a:lnTo>
                  <a:pt x="14909" y="8080"/>
                </a:lnTo>
                <a:lnTo>
                  <a:pt x="14909" y="12158"/>
                </a:lnTo>
                <a:lnTo>
                  <a:pt x="21600" y="6079"/>
                </a:lnTo>
                <a:close/>
              </a:path>
            </a:pathLst>
          </a:custGeom>
          <a:solidFill>
            <a:srgbClr val="FF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p:cTn id="7" dur="500"/>
                                        <p:tgtEl>
                                          <p:spTgt spid="14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41"/>
                                        </p:tgtEl>
                                        <p:attrNameLst>
                                          <p:attrName>style.visibility</p:attrName>
                                        </p:attrNameLst>
                                      </p:cBhvr>
                                      <p:to>
                                        <p:strVal val="visible"/>
                                      </p:to>
                                    </p:set>
                                    <p:animEffect transition="in" filter="fade">
                                      <p:cBhvr>
                                        <p:cTn id="11" dur="500"/>
                                        <p:tgtEl>
                                          <p:spTgt spid="14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45"/>
                                        </p:tgtEl>
                                        <p:attrNameLst>
                                          <p:attrName>style.visibility</p:attrName>
                                        </p:attrNameLst>
                                      </p:cBhvr>
                                      <p:to>
                                        <p:strVal val="visible"/>
                                      </p:to>
                                    </p:set>
                                    <p:animEffect transition="in" filter="fade">
                                      <p:cBhvr>
                                        <p:cTn id="15" dur="500"/>
                                        <p:tgtEl>
                                          <p:spTgt spid="145"/>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144"/>
                                        </p:tgtEl>
                                        <p:attrNameLst>
                                          <p:attrName>style.visibility</p:attrName>
                                        </p:attrNameLst>
                                      </p:cBhvr>
                                      <p:to>
                                        <p:strVal val="visible"/>
                                      </p:to>
                                    </p:set>
                                    <p:animEffect transition="in" filter="fade">
                                      <p:cBhvr>
                                        <p:cTn id="19" dur="5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7"/>
          <p:cNvSpPr txBox="1">
            <a:spLocks noGrp="1"/>
          </p:cNvSpPr>
          <p:nvPr>
            <p:ph type="title"/>
          </p:nvPr>
        </p:nvSpPr>
        <p:spPr>
          <a:xfrm>
            <a:off x="1905000" y="122238"/>
            <a:ext cx="7162800" cy="6397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Functional Programming (FP)</a:t>
            </a:r>
            <a:endParaRPr/>
          </a:p>
        </p:txBody>
      </p:sp>
      <p:sp>
        <p:nvSpPr>
          <p:cNvPr id="151" name="Google Shape;151;p7"/>
          <p:cNvSpPr>
            <a:spLocks noGrp="1"/>
          </p:cNvSpPr>
          <p:nvPr>
            <p:ph type="body" idx="1"/>
          </p:nvPr>
        </p:nvSpPr>
        <p:spPr>
          <a:xfrm>
            <a:off x="547540" y="832164"/>
            <a:ext cx="8206819" cy="2825435"/>
          </a:xfrm>
          <a:prstGeom prst="roundRect">
            <a:avLst>
              <a:gd name="adj" fmla="val 16667"/>
            </a:avLst>
          </a:prstGeom>
          <a:solidFill>
            <a:srgbClr val="31859B"/>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000"/>
              <a:buFont typeface="Noto Sans Symbols"/>
              <a:buChar char="🏵"/>
            </a:pPr>
            <a:r>
              <a:rPr lang="en-US" sz="2000"/>
              <a:t>FP is a programming paradigm where programs are constructed by applying and composing </a:t>
            </a:r>
            <a:r>
              <a:rPr lang="en-US" sz="2000">
                <a:solidFill>
                  <a:srgbClr val="FFFF00"/>
                </a:solidFill>
              </a:rPr>
              <a:t>functions</a:t>
            </a:r>
            <a:endParaRPr/>
          </a:p>
          <a:p>
            <a:pPr marL="342900" lvl="0" indent="-342900" algn="l" rtl="0">
              <a:spcBef>
                <a:spcPts val="400"/>
              </a:spcBef>
              <a:spcAft>
                <a:spcPts val="0"/>
              </a:spcAft>
              <a:buClr>
                <a:schemeClr val="lt1"/>
              </a:buClr>
              <a:buSzPts val="2000"/>
              <a:buFont typeface="Noto Sans Symbols"/>
              <a:buChar char="🏵"/>
            </a:pPr>
            <a:r>
              <a:rPr lang="en-US" sz="2000"/>
              <a:t>Functions are treated as first-class citizen. They can be:</a:t>
            </a:r>
            <a:endParaRPr/>
          </a:p>
          <a:p>
            <a:pPr marL="742950" lvl="1" indent="-285750" algn="l" rtl="0">
              <a:spcBef>
                <a:spcPts val="360"/>
              </a:spcBef>
              <a:spcAft>
                <a:spcPts val="0"/>
              </a:spcAft>
              <a:buClr>
                <a:schemeClr val="lt1"/>
              </a:buClr>
              <a:buSzPts val="1800"/>
              <a:buChar char="◆"/>
            </a:pPr>
            <a:r>
              <a:rPr lang="en-US" sz="1800"/>
              <a:t>bound to names</a:t>
            </a:r>
            <a:endParaRPr/>
          </a:p>
          <a:p>
            <a:pPr marL="742950" lvl="1" indent="-285750" algn="l" rtl="0">
              <a:spcBef>
                <a:spcPts val="360"/>
              </a:spcBef>
              <a:spcAft>
                <a:spcPts val="0"/>
              </a:spcAft>
              <a:buClr>
                <a:schemeClr val="lt1"/>
              </a:buClr>
              <a:buSzPts val="1800"/>
              <a:buChar char="◆"/>
            </a:pPr>
            <a:r>
              <a:rPr lang="en-US" sz="1800"/>
              <a:t>passed as parameters to other functions</a:t>
            </a:r>
            <a:endParaRPr/>
          </a:p>
          <a:p>
            <a:pPr marL="742950" lvl="1" indent="-285750" algn="l" rtl="0">
              <a:spcBef>
                <a:spcPts val="360"/>
              </a:spcBef>
              <a:spcAft>
                <a:spcPts val="0"/>
              </a:spcAft>
              <a:buClr>
                <a:schemeClr val="lt1"/>
              </a:buClr>
              <a:buSzPts val="1800"/>
              <a:buChar char="◆"/>
            </a:pPr>
            <a:r>
              <a:rPr lang="en-US" sz="1800"/>
              <a:t>returned from other functions</a:t>
            </a:r>
            <a:endParaRPr sz="1600"/>
          </a:p>
        </p:txBody>
      </p:sp>
      <p:sp>
        <p:nvSpPr>
          <p:cNvPr id="152" name="Google Shape;152;p7"/>
          <p:cNvSpPr>
            <a:spLocks noGrp="1"/>
          </p:cNvSpPr>
          <p:nvPr>
            <p:ph type="body" idx="2"/>
          </p:nvPr>
        </p:nvSpPr>
        <p:spPr>
          <a:xfrm>
            <a:off x="593102" y="3921860"/>
            <a:ext cx="8229600" cy="2402740"/>
          </a:xfrm>
          <a:prstGeom prst="roundRect">
            <a:avLst>
              <a:gd name="adj" fmla="val 16667"/>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lvl="0" indent="-342900" algn="l" rtl="0">
              <a:spcBef>
                <a:spcPts val="0"/>
              </a:spcBef>
              <a:spcAft>
                <a:spcPts val="0"/>
              </a:spcAft>
              <a:buClr>
                <a:schemeClr val="lt1"/>
              </a:buClr>
              <a:buSzPts val="2400"/>
              <a:buFont typeface="Noto Sans Symbols"/>
              <a:buChar char="🏵"/>
            </a:pPr>
            <a:r>
              <a:rPr lang="en-US"/>
              <a:t>FP uses </a:t>
            </a:r>
            <a:r>
              <a:rPr lang="en-US">
                <a:solidFill>
                  <a:srgbClr val="FFFF00"/>
                </a:solidFill>
              </a:rPr>
              <a:t>declarative </a:t>
            </a:r>
            <a:r>
              <a:rPr lang="en-US"/>
              <a:t>programming style</a:t>
            </a:r>
            <a:endParaRPr/>
          </a:p>
          <a:p>
            <a:pPr marL="742950" lvl="1" indent="-285750" algn="l" rtl="0">
              <a:spcBef>
                <a:spcPts val="400"/>
              </a:spcBef>
              <a:spcAft>
                <a:spcPts val="0"/>
              </a:spcAft>
              <a:buClr>
                <a:schemeClr val="lt1"/>
              </a:buClr>
              <a:buSzPts val="2000"/>
              <a:buChar char="◆"/>
            </a:pPr>
            <a:r>
              <a:rPr lang="en-US"/>
              <a:t>expresses the logic  of </a:t>
            </a:r>
            <a:r>
              <a:rPr lang="en-US">
                <a:solidFill>
                  <a:srgbClr val="FFFF00"/>
                </a:solidFill>
              </a:rPr>
              <a:t>WHAT </a:t>
            </a:r>
            <a:r>
              <a:rPr lang="en-US"/>
              <a:t>the program should accomplish without specifying how it should achieve that.</a:t>
            </a:r>
            <a:endParaRPr/>
          </a:p>
          <a:p>
            <a:pPr marL="457200" lvl="1" indent="0" algn="l" rtl="0">
              <a:spcBef>
                <a:spcPts val="180"/>
              </a:spcBef>
              <a:spcAft>
                <a:spcPts val="0"/>
              </a:spcAft>
              <a:buClr>
                <a:schemeClr val="lt1"/>
              </a:buClr>
              <a:buSzPts val="900"/>
              <a:buNone/>
            </a:pPr>
            <a:endParaRPr sz="900" i="1"/>
          </a:p>
          <a:p>
            <a:pPr marL="457200" lvl="1" indent="0" algn="l" rtl="0">
              <a:spcBef>
                <a:spcPts val="400"/>
              </a:spcBef>
              <a:spcAft>
                <a:spcPts val="0"/>
              </a:spcAft>
              <a:buClr>
                <a:schemeClr val="lt1"/>
              </a:buClr>
              <a:buSzPts val="2000"/>
              <a:buNone/>
            </a:pPr>
            <a:r>
              <a:rPr lang="en-US" i="1"/>
              <a:t>Note:  PP and OOP use </a:t>
            </a:r>
            <a:r>
              <a:rPr lang="en-US" i="1">
                <a:solidFill>
                  <a:srgbClr val="FFFF00"/>
                </a:solidFill>
              </a:rPr>
              <a:t>imperative</a:t>
            </a:r>
            <a:r>
              <a:rPr lang="en-US" i="1"/>
              <a:t> programming style.  This style focuses on describing </a:t>
            </a:r>
            <a:r>
              <a:rPr lang="en-US" i="1">
                <a:solidFill>
                  <a:srgbClr val="FFFF00"/>
                </a:solidFill>
              </a:rPr>
              <a:t>HOW</a:t>
            </a:r>
            <a:r>
              <a:rPr lang="en-US" i="1"/>
              <a:t> a program operates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2">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2">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2">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1"/>
          <p:cNvSpPr txBox="1">
            <a:spLocks noGrp="1"/>
          </p:cNvSpPr>
          <p:nvPr>
            <p:ph type="title"/>
          </p:nvPr>
        </p:nvSpPr>
        <p:spPr>
          <a:xfrm>
            <a:off x="1371600" y="-762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Object-Oriented Programming</a:t>
            </a:r>
            <a:endParaRPr>
              <a:latin typeface="Courier New"/>
              <a:ea typeface="Courier New"/>
              <a:cs typeface="Courier New"/>
              <a:sym typeface="Courier New"/>
            </a:endParaRPr>
          </a:p>
        </p:txBody>
      </p:sp>
      <p:grpSp>
        <p:nvGrpSpPr>
          <p:cNvPr id="393" name="Google Shape;393;p31"/>
          <p:cNvGrpSpPr/>
          <p:nvPr/>
        </p:nvGrpSpPr>
        <p:grpSpPr>
          <a:xfrm>
            <a:off x="4724400" y="1143000"/>
            <a:ext cx="2819400" cy="4876800"/>
            <a:chOff x="2165" y="816"/>
            <a:chExt cx="1776" cy="3072"/>
          </a:xfrm>
        </p:grpSpPr>
        <p:sp>
          <p:nvSpPr>
            <p:cNvPr id="394" name="Google Shape;394;p31"/>
            <p:cNvSpPr/>
            <p:nvPr/>
          </p:nvSpPr>
          <p:spPr>
            <a:xfrm>
              <a:off x="2165" y="816"/>
              <a:ext cx="1776" cy="288"/>
            </a:xfrm>
            <a:prstGeom prst="rect">
              <a:avLst/>
            </a:prstGeom>
            <a:solidFill>
              <a:srgbClr val="CCCC9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0" i="0" u="none" strike="noStrike" cap="none">
                  <a:solidFill>
                    <a:srgbClr val="000000"/>
                  </a:solidFill>
                  <a:latin typeface="Times New Roman"/>
                  <a:ea typeface="Times New Roman"/>
                  <a:cs typeface="Times New Roman"/>
                  <a:sym typeface="Times New Roman"/>
                </a:rPr>
                <a:t>Object</a:t>
              </a:r>
              <a:endParaRPr/>
            </a:p>
          </p:txBody>
        </p:sp>
        <p:sp>
          <p:nvSpPr>
            <p:cNvPr id="395" name="Google Shape;395;p31"/>
            <p:cNvSpPr/>
            <p:nvPr/>
          </p:nvSpPr>
          <p:spPr>
            <a:xfrm>
              <a:off x="2165" y="1104"/>
              <a:ext cx="1776" cy="336"/>
            </a:xfrm>
            <a:prstGeom prst="rect">
              <a:avLst/>
            </a:prstGeom>
            <a:solidFill>
              <a:srgbClr val="CCCC9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Noto Sans Symbols"/>
                <a:buNone/>
              </a:pPr>
              <a:r>
                <a:rPr lang="en-US" sz="1600" b="0" i="0" u="none" strike="noStrike" cap="none" dirty="0">
                  <a:solidFill>
                    <a:srgbClr val="000000"/>
                  </a:solidFill>
                  <a:latin typeface="Times New Roman"/>
                  <a:ea typeface="Times New Roman"/>
                  <a:cs typeface="Times New Roman"/>
                  <a:sym typeface="Times New Roman"/>
                </a:rPr>
                <a:t>Attributes</a:t>
              </a:r>
              <a:br>
                <a:rPr lang="en-US" sz="1600" b="0" i="0" u="none" strike="noStrike" cap="none" dirty="0">
                  <a:solidFill>
                    <a:srgbClr val="000000"/>
                  </a:solidFill>
                  <a:latin typeface="Times New Roman"/>
                  <a:ea typeface="Times New Roman"/>
                  <a:cs typeface="Times New Roman"/>
                  <a:sym typeface="Times New Roman"/>
                </a:rPr>
              </a:br>
              <a:r>
                <a:rPr lang="en-US" sz="1600" b="0" i="0" u="none" strike="noStrike" cap="none" dirty="0">
                  <a:solidFill>
                    <a:srgbClr val="000000"/>
                  </a:solidFill>
                  <a:latin typeface="Times New Roman"/>
                  <a:ea typeface="Times New Roman"/>
                  <a:cs typeface="Times New Roman"/>
                  <a:sym typeface="Times New Roman"/>
                </a:rPr>
                <a:t>typically, private to this object</a:t>
              </a:r>
              <a:endParaRPr sz="1600" dirty="0"/>
            </a:p>
          </p:txBody>
        </p:sp>
        <p:sp>
          <p:nvSpPr>
            <p:cNvPr id="396" name="Google Shape;396;p31"/>
            <p:cNvSpPr/>
            <p:nvPr/>
          </p:nvSpPr>
          <p:spPr>
            <a:xfrm>
              <a:off x="2165" y="1440"/>
              <a:ext cx="1776" cy="2448"/>
            </a:xfrm>
            <a:prstGeom prst="rect">
              <a:avLst/>
            </a:prstGeom>
            <a:solidFill>
              <a:srgbClr val="CCCC99"/>
            </a:solidFill>
            <a:ln w="9525" cap="flat" cmpd="sng">
              <a:solidFill>
                <a:srgbClr val="000000"/>
              </a:solidFill>
              <a:prstDash val="solid"/>
              <a:miter lim="800000"/>
              <a:headEnd type="none" w="sm" len="sm"/>
              <a:tailEnd type="none" w="sm" len="sm"/>
            </a:ln>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rgbClr val="000000"/>
                </a:buClr>
                <a:buSzPts val="1800"/>
                <a:buFont typeface="Noto Sans Symbols"/>
                <a:buNone/>
              </a:pPr>
              <a:r>
                <a:rPr lang="en-US" sz="1800" b="0" i="0" u="none" strike="noStrike" cap="none">
                  <a:solidFill>
                    <a:srgbClr val="000000"/>
                  </a:solidFill>
                  <a:latin typeface="Times New Roman"/>
                  <a:ea typeface="Times New Roman"/>
                  <a:cs typeface="Times New Roman"/>
                  <a:sym typeface="Times New Roman"/>
                </a:rPr>
                <a:t>Methods</a:t>
              </a:r>
              <a:br>
                <a:rPr lang="en-US" sz="1800" b="0" i="0" u="none" strike="noStrike" cap="none">
                  <a:solidFill>
                    <a:srgbClr val="000000"/>
                  </a:solidFill>
                  <a:latin typeface="Times New Roman"/>
                  <a:ea typeface="Times New Roman"/>
                  <a:cs typeface="Times New Roman"/>
                  <a:sym typeface="Times New Roman"/>
                </a:rPr>
              </a:br>
              <a:endParaRPr sz="1800" b="0" i="0" u="none" strike="noStrike" cap="none">
                <a:solidFill>
                  <a:srgbClr val="000000"/>
                </a:solidFill>
                <a:latin typeface="Times New Roman"/>
                <a:ea typeface="Times New Roman"/>
                <a:cs typeface="Times New Roman"/>
                <a:sym typeface="Times New Roman"/>
              </a:endParaRPr>
            </a:p>
          </p:txBody>
        </p:sp>
        <p:grpSp>
          <p:nvGrpSpPr>
            <p:cNvPr id="397" name="Google Shape;397;p31"/>
            <p:cNvGrpSpPr/>
            <p:nvPr/>
          </p:nvGrpSpPr>
          <p:grpSpPr>
            <a:xfrm>
              <a:off x="2500" y="2112"/>
              <a:ext cx="1148" cy="1296"/>
              <a:chOff x="1582" y="1584"/>
              <a:chExt cx="1404" cy="1584"/>
            </a:xfrm>
          </p:grpSpPr>
          <p:grpSp>
            <p:nvGrpSpPr>
              <p:cNvPr id="398" name="Google Shape;398;p31"/>
              <p:cNvGrpSpPr/>
              <p:nvPr/>
            </p:nvGrpSpPr>
            <p:grpSpPr>
              <a:xfrm>
                <a:off x="1582" y="1584"/>
                <a:ext cx="348" cy="432"/>
                <a:chOff x="1775" y="2208"/>
                <a:chExt cx="193" cy="240"/>
              </a:xfrm>
            </p:grpSpPr>
            <p:sp>
              <p:nvSpPr>
                <p:cNvPr id="399" name="Google Shape;399;p31"/>
                <p:cNvSpPr/>
                <p:nvPr/>
              </p:nvSpPr>
              <p:spPr>
                <a:xfrm>
                  <a:off x="1776" y="2208"/>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400" name="Google Shape;400;p31"/>
                <p:cNvSpPr/>
                <p:nvPr/>
              </p:nvSpPr>
              <p:spPr>
                <a:xfrm rot="10800000">
                  <a:off x="1776" y="2256"/>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1"/>
                <p:cNvSpPr txBox="1"/>
                <p:nvPr/>
              </p:nvSpPr>
              <p:spPr>
                <a:xfrm>
                  <a:off x="1775" y="2250"/>
                  <a:ext cx="192" cy="19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grpSp>
          <p:grpSp>
            <p:nvGrpSpPr>
              <p:cNvPr id="402" name="Google Shape;402;p31"/>
              <p:cNvGrpSpPr/>
              <p:nvPr/>
            </p:nvGrpSpPr>
            <p:grpSpPr>
              <a:xfrm>
                <a:off x="2110" y="1584"/>
                <a:ext cx="348" cy="432"/>
                <a:chOff x="1775" y="2208"/>
                <a:chExt cx="193" cy="240"/>
              </a:xfrm>
            </p:grpSpPr>
            <p:sp>
              <p:nvSpPr>
                <p:cNvPr id="403" name="Google Shape;403;p31"/>
                <p:cNvSpPr/>
                <p:nvPr/>
              </p:nvSpPr>
              <p:spPr>
                <a:xfrm>
                  <a:off x="1776" y="2208"/>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404" name="Google Shape;404;p31"/>
                <p:cNvSpPr/>
                <p:nvPr/>
              </p:nvSpPr>
              <p:spPr>
                <a:xfrm rot="10800000">
                  <a:off x="1776" y="2256"/>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1"/>
                <p:cNvSpPr txBox="1"/>
                <p:nvPr/>
              </p:nvSpPr>
              <p:spPr>
                <a:xfrm>
                  <a:off x="1775" y="2250"/>
                  <a:ext cx="192" cy="19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grpSp>
          <p:grpSp>
            <p:nvGrpSpPr>
              <p:cNvPr id="406" name="Google Shape;406;p31"/>
              <p:cNvGrpSpPr/>
              <p:nvPr/>
            </p:nvGrpSpPr>
            <p:grpSpPr>
              <a:xfrm>
                <a:off x="2638" y="1584"/>
                <a:ext cx="348" cy="432"/>
                <a:chOff x="1775" y="2208"/>
                <a:chExt cx="193" cy="240"/>
              </a:xfrm>
            </p:grpSpPr>
            <p:sp>
              <p:nvSpPr>
                <p:cNvPr id="407" name="Google Shape;407;p31"/>
                <p:cNvSpPr/>
                <p:nvPr/>
              </p:nvSpPr>
              <p:spPr>
                <a:xfrm>
                  <a:off x="1776" y="2208"/>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408" name="Google Shape;408;p31"/>
                <p:cNvSpPr/>
                <p:nvPr/>
              </p:nvSpPr>
              <p:spPr>
                <a:xfrm rot="10800000">
                  <a:off x="1776" y="2256"/>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1"/>
                <p:cNvSpPr txBox="1"/>
                <p:nvPr/>
              </p:nvSpPr>
              <p:spPr>
                <a:xfrm>
                  <a:off x="1775" y="2250"/>
                  <a:ext cx="192" cy="19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grpSp>
          <p:grpSp>
            <p:nvGrpSpPr>
              <p:cNvPr id="410" name="Google Shape;410;p31"/>
              <p:cNvGrpSpPr/>
              <p:nvPr/>
            </p:nvGrpSpPr>
            <p:grpSpPr>
              <a:xfrm>
                <a:off x="2638" y="2736"/>
                <a:ext cx="348" cy="432"/>
                <a:chOff x="1775" y="2208"/>
                <a:chExt cx="193" cy="240"/>
              </a:xfrm>
            </p:grpSpPr>
            <p:sp>
              <p:nvSpPr>
                <p:cNvPr id="411" name="Google Shape;411;p31"/>
                <p:cNvSpPr/>
                <p:nvPr/>
              </p:nvSpPr>
              <p:spPr>
                <a:xfrm>
                  <a:off x="1776" y="2208"/>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412" name="Google Shape;412;p31"/>
                <p:cNvSpPr/>
                <p:nvPr/>
              </p:nvSpPr>
              <p:spPr>
                <a:xfrm rot="10800000">
                  <a:off x="1776" y="2256"/>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1"/>
                <p:cNvSpPr txBox="1"/>
                <p:nvPr/>
              </p:nvSpPr>
              <p:spPr>
                <a:xfrm>
                  <a:off x="1775" y="2250"/>
                  <a:ext cx="192" cy="19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grpSp>
          <p:grpSp>
            <p:nvGrpSpPr>
              <p:cNvPr id="414" name="Google Shape;414;p31"/>
              <p:cNvGrpSpPr/>
              <p:nvPr/>
            </p:nvGrpSpPr>
            <p:grpSpPr>
              <a:xfrm>
                <a:off x="1582" y="2160"/>
                <a:ext cx="348" cy="432"/>
                <a:chOff x="1775" y="2208"/>
                <a:chExt cx="193" cy="240"/>
              </a:xfrm>
            </p:grpSpPr>
            <p:sp>
              <p:nvSpPr>
                <p:cNvPr id="415" name="Google Shape;415;p31"/>
                <p:cNvSpPr/>
                <p:nvPr/>
              </p:nvSpPr>
              <p:spPr>
                <a:xfrm>
                  <a:off x="1776" y="2208"/>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416" name="Google Shape;416;p31"/>
                <p:cNvSpPr/>
                <p:nvPr/>
              </p:nvSpPr>
              <p:spPr>
                <a:xfrm rot="10800000">
                  <a:off x="1776" y="2256"/>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1"/>
                <p:cNvSpPr txBox="1"/>
                <p:nvPr/>
              </p:nvSpPr>
              <p:spPr>
                <a:xfrm>
                  <a:off x="1775" y="2250"/>
                  <a:ext cx="192" cy="19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grpSp>
          <p:grpSp>
            <p:nvGrpSpPr>
              <p:cNvPr id="418" name="Google Shape;418;p31"/>
              <p:cNvGrpSpPr/>
              <p:nvPr/>
            </p:nvGrpSpPr>
            <p:grpSpPr>
              <a:xfrm>
                <a:off x="2110" y="2160"/>
                <a:ext cx="348" cy="432"/>
                <a:chOff x="1775" y="2208"/>
                <a:chExt cx="193" cy="240"/>
              </a:xfrm>
            </p:grpSpPr>
            <p:sp>
              <p:nvSpPr>
                <p:cNvPr id="419" name="Google Shape;419;p31"/>
                <p:cNvSpPr/>
                <p:nvPr/>
              </p:nvSpPr>
              <p:spPr>
                <a:xfrm>
                  <a:off x="1776" y="2208"/>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420" name="Google Shape;420;p31"/>
                <p:cNvSpPr/>
                <p:nvPr/>
              </p:nvSpPr>
              <p:spPr>
                <a:xfrm rot="10800000">
                  <a:off x="1776" y="2256"/>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1"/>
                <p:cNvSpPr txBox="1"/>
                <p:nvPr/>
              </p:nvSpPr>
              <p:spPr>
                <a:xfrm>
                  <a:off x="1775" y="2250"/>
                  <a:ext cx="192" cy="19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grpSp>
          <p:grpSp>
            <p:nvGrpSpPr>
              <p:cNvPr id="422" name="Google Shape;422;p31"/>
              <p:cNvGrpSpPr/>
              <p:nvPr/>
            </p:nvGrpSpPr>
            <p:grpSpPr>
              <a:xfrm>
                <a:off x="2638" y="2160"/>
                <a:ext cx="348" cy="432"/>
                <a:chOff x="1775" y="2208"/>
                <a:chExt cx="193" cy="240"/>
              </a:xfrm>
            </p:grpSpPr>
            <p:sp>
              <p:nvSpPr>
                <p:cNvPr id="423" name="Google Shape;423;p31"/>
                <p:cNvSpPr/>
                <p:nvPr/>
              </p:nvSpPr>
              <p:spPr>
                <a:xfrm>
                  <a:off x="1776" y="2208"/>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424" name="Google Shape;424;p31"/>
                <p:cNvSpPr/>
                <p:nvPr/>
              </p:nvSpPr>
              <p:spPr>
                <a:xfrm rot="10800000">
                  <a:off x="1776" y="2256"/>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1"/>
                <p:cNvSpPr txBox="1"/>
                <p:nvPr/>
              </p:nvSpPr>
              <p:spPr>
                <a:xfrm>
                  <a:off x="1775" y="2250"/>
                  <a:ext cx="192" cy="19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grpSp>
          <p:grpSp>
            <p:nvGrpSpPr>
              <p:cNvPr id="426" name="Google Shape;426;p31"/>
              <p:cNvGrpSpPr/>
              <p:nvPr/>
            </p:nvGrpSpPr>
            <p:grpSpPr>
              <a:xfrm>
                <a:off x="1582" y="2736"/>
                <a:ext cx="348" cy="432"/>
                <a:chOff x="1775" y="2208"/>
                <a:chExt cx="193" cy="240"/>
              </a:xfrm>
            </p:grpSpPr>
            <p:sp>
              <p:nvSpPr>
                <p:cNvPr id="427" name="Google Shape;427;p31"/>
                <p:cNvSpPr/>
                <p:nvPr/>
              </p:nvSpPr>
              <p:spPr>
                <a:xfrm>
                  <a:off x="1776" y="2208"/>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428" name="Google Shape;428;p31"/>
                <p:cNvSpPr/>
                <p:nvPr/>
              </p:nvSpPr>
              <p:spPr>
                <a:xfrm rot="10800000">
                  <a:off x="1776" y="2256"/>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1"/>
                <p:cNvSpPr txBox="1"/>
                <p:nvPr/>
              </p:nvSpPr>
              <p:spPr>
                <a:xfrm>
                  <a:off x="1775" y="2250"/>
                  <a:ext cx="192" cy="19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grpSp>
          <p:grpSp>
            <p:nvGrpSpPr>
              <p:cNvPr id="430" name="Google Shape;430;p31"/>
              <p:cNvGrpSpPr/>
              <p:nvPr/>
            </p:nvGrpSpPr>
            <p:grpSpPr>
              <a:xfrm>
                <a:off x="2110" y="2736"/>
                <a:ext cx="348" cy="432"/>
                <a:chOff x="1775" y="2208"/>
                <a:chExt cx="193" cy="240"/>
              </a:xfrm>
            </p:grpSpPr>
            <p:sp>
              <p:nvSpPr>
                <p:cNvPr id="431" name="Google Shape;431;p31"/>
                <p:cNvSpPr/>
                <p:nvPr/>
              </p:nvSpPr>
              <p:spPr>
                <a:xfrm>
                  <a:off x="1776" y="2208"/>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sp>
              <p:nvSpPr>
                <p:cNvPr id="432" name="Google Shape;432;p31"/>
                <p:cNvSpPr/>
                <p:nvPr/>
              </p:nvSpPr>
              <p:spPr>
                <a:xfrm rot="10800000">
                  <a:off x="1776" y="2256"/>
                  <a:ext cx="192" cy="192"/>
                </a:xfrm>
                <a:custGeom>
                  <a:avLst/>
                  <a:gdLst/>
                  <a:ahLst/>
                  <a:cxnLst/>
                  <a:rect l="l" t="t" r="r" b="b"/>
                  <a:pathLst>
                    <a:path w="21600" h="21600" extrusionOk="0">
                      <a:moveTo>
                        <a:pt x="16200" y="10800"/>
                      </a:moveTo>
                      <a:cubicBezTo>
                        <a:pt x="16200" y="7817"/>
                        <a:pt x="13782" y="5400"/>
                        <a:pt x="10800" y="5400"/>
                      </a:cubicBezTo>
                      <a:cubicBezTo>
                        <a:pt x="7817" y="5400"/>
                        <a:pt x="5400" y="7817"/>
                        <a:pt x="5400" y="10800"/>
                      </a:cubicBezTo>
                      <a:lnTo>
                        <a:pt x="0" y="10800"/>
                      </a:lnTo>
                      <a:cubicBezTo>
                        <a:pt x="0" y="4835"/>
                        <a:pt x="4835" y="0"/>
                        <a:pt x="10800" y="0"/>
                      </a:cubicBezTo>
                      <a:cubicBezTo>
                        <a:pt x="16764" y="0"/>
                        <a:pt x="21599" y="4835"/>
                        <a:pt x="21600" y="10799"/>
                      </a:cubicBezTo>
                      <a:lnTo>
                        <a:pt x="21600" y="10800"/>
                      </a:lnTo>
                      <a:lnTo>
                        <a:pt x="24300" y="10800"/>
                      </a:lnTo>
                      <a:lnTo>
                        <a:pt x="18900" y="16200"/>
                      </a:lnTo>
                      <a:lnTo>
                        <a:pt x="13500" y="10800"/>
                      </a:lnTo>
                      <a:lnTo>
                        <a:pt x="16200" y="10800"/>
                      </a:lnTo>
                      <a:close/>
                    </a:path>
                  </a:pathLst>
                </a:custGeom>
                <a:solidFill>
                  <a:srgbClr val="FF3300"/>
                </a:solidFill>
                <a:ln w="9525" cap="flat" cmpd="sng">
                  <a:solidFill>
                    <a:srgbClr val="000000"/>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1"/>
                <p:cNvSpPr txBox="1"/>
                <p:nvPr/>
              </p:nvSpPr>
              <p:spPr>
                <a:xfrm>
                  <a:off x="1775" y="2250"/>
                  <a:ext cx="192" cy="19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grpSp>
        </p:grpSp>
        <p:cxnSp>
          <p:nvCxnSpPr>
            <p:cNvPr id="434" name="Google Shape;434;p31"/>
            <p:cNvCxnSpPr/>
            <p:nvPr/>
          </p:nvCxnSpPr>
          <p:spPr>
            <a:xfrm rot="10800000">
              <a:off x="2645" y="1488"/>
              <a:ext cx="0" cy="528"/>
            </a:xfrm>
            <a:prstGeom prst="straightConnector1">
              <a:avLst/>
            </a:prstGeom>
            <a:noFill/>
            <a:ln w="76200" cap="flat" cmpd="sng">
              <a:solidFill>
                <a:srgbClr val="366092"/>
              </a:solidFill>
              <a:prstDash val="solid"/>
              <a:round/>
              <a:headEnd type="triangle" w="sm" len="sm"/>
              <a:tailEnd type="triangle" w="sm" len="sm"/>
            </a:ln>
          </p:spPr>
        </p:cxnSp>
        <p:cxnSp>
          <p:nvCxnSpPr>
            <p:cNvPr id="435" name="Google Shape;435;p31"/>
            <p:cNvCxnSpPr/>
            <p:nvPr/>
          </p:nvCxnSpPr>
          <p:spPr>
            <a:xfrm rot="10800000">
              <a:off x="3077" y="1488"/>
              <a:ext cx="0" cy="528"/>
            </a:xfrm>
            <a:prstGeom prst="straightConnector1">
              <a:avLst/>
            </a:prstGeom>
            <a:noFill/>
            <a:ln w="76200" cap="flat" cmpd="sng">
              <a:solidFill>
                <a:srgbClr val="366092"/>
              </a:solidFill>
              <a:prstDash val="solid"/>
              <a:round/>
              <a:headEnd type="triangle" w="sm" len="sm"/>
              <a:tailEnd type="triangle" w="sm" len="sm"/>
            </a:ln>
          </p:spPr>
        </p:cxnSp>
        <p:cxnSp>
          <p:nvCxnSpPr>
            <p:cNvPr id="436" name="Google Shape;436;p31"/>
            <p:cNvCxnSpPr/>
            <p:nvPr/>
          </p:nvCxnSpPr>
          <p:spPr>
            <a:xfrm rot="10800000">
              <a:off x="3509" y="1488"/>
              <a:ext cx="0" cy="528"/>
            </a:xfrm>
            <a:prstGeom prst="straightConnector1">
              <a:avLst/>
            </a:prstGeom>
            <a:noFill/>
            <a:ln w="76200" cap="flat" cmpd="sng">
              <a:solidFill>
                <a:srgbClr val="366092"/>
              </a:solidFill>
              <a:prstDash val="solid"/>
              <a:round/>
              <a:headEnd type="triangle" w="sm" len="sm"/>
              <a:tailEnd type="triangle" w="sm" len="sm"/>
            </a:ln>
          </p:spPr>
        </p:cxnSp>
      </p:grpSp>
      <p:grpSp>
        <p:nvGrpSpPr>
          <p:cNvPr id="437" name="Google Shape;437;p31"/>
          <p:cNvGrpSpPr/>
          <p:nvPr/>
        </p:nvGrpSpPr>
        <p:grpSpPr>
          <a:xfrm>
            <a:off x="2201863" y="1641475"/>
            <a:ext cx="2827337" cy="3540125"/>
            <a:chOff x="576" y="1130"/>
            <a:chExt cx="1781" cy="2230"/>
          </a:xfrm>
        </p:grpSpPr>
        <p:grpSp>
          <p:nvGrpSpPr>
            <p:cNvPr id="438" name="Google Shape;438;p31"/>
            <p:cNvGrpSpPr/>
            <p:nvPr/>
          </p:nvGrpSpPr>
          <p:grpSpPr>
            <a:xfrm rot="-5400000">
              <a:off x="1613" y="2472"/>
              <a:ext cx="960" cy="528"/>
              <a:chOff x="624" y="1584"/>
              <a:chExt cx="864" cy="528"/>
            </a:xfrm>
          </p:grpSpPr>
          <p:cxnSp>
            <p:nvCxnSpPr>
              <p:cNvPr id="439" name="Google Shape;439;p31"/>
              <p:cNvCxnSpPr/>
              <p:nvPr/>
            </p:nvCxnSpPr>
            <p:spPr>
              <a:xfrm rot="10800000">
                <a:off x="624" y="1584"/>
                <a:ext cx="0" cy="528"/>
              </a:xfrm>
              <a:prstGeom prst="straightConnector1">
                <a:avLst/>
              </a:prstGeom>
              <a:noFill/>
              <a:ln w="76200" cap="flat" cmpd="sng">
                <a:solidFill>
                  <a:srgbClr val="366092"/>
                </a:solidFill>
                <a:prstDash val="solid"/>
                <a:round/>
                <a:headEnd type="triangle" w="sm" len="sm"/>
                <a:tailEnd type="triangle" w="sm" len="sm"/>
              </a:ln>
            </p:spPr>
          </p:cxnSp>
          <p:cxnSp>
            <p:nvCxnSpPr>
              <p:cNvPr id="440" name="Google Shape;440;p31"/>
              <p:cNvCxnSpPr/>
              <p:nvPr/>
            </p:nvCxnSpPr>
            <p:spPr>
              <a:xfrm rot="10800000">
                <a:off x="1056" y="1584"/>
                <a:ext cx="0" cy="528"/>
              </a:xfrm>
              <a:prstGeom prst="straightConnector1">
                <a:avLst/>
              </a:prstGeom>
              <a:noFill/>
              <a:ln w="76200" cap="flat" cmpd="sng">
                <a:solidFill>
                  <a:srgbClr val="366092"/>
                </a:solidFill>
                <a:prstDash val="solid"/>
                <a:round/>
                <a:headEnd type="triangle" w="sm" len="sm"/>
                <a:tailEnd type="triangle" w="sm" len="sm"/>
              </a:ln>
            </p:spPr>
          </p:cxnSp>
          <p:cxnSp>
            <p:nvCxnSpPr>
              <p:cNvPr id="441" name="Google Shape;441;p31"/>
              <p:cNvCxnSpPr/>
              <p:nvPr/>
            </p:nvCxnSpPr>
            <p:spPr>
              <a:xfrm rot="10800000">
                <a:off x="1488" y="1584"/>
                <a:ext cx="0" cy="528"/>
              </a:xfrm>
              <a:prstGeom prst="straightConnector1">
                <a:avLst/>
              </a:prstGeom>
              <a:noFill/>
              <a:ln w="76200" cap="flat" cmpd="sng">
                <a:solidFill>
                  <a:srgbClr val="366092"/>
                </a:solidFill>
                <a:prstDash val="solid"/>
                <a:round/>
                <a:headEnd type="triangle" w="sm" len="sm"/>
                <a:tailEnd type="triangle" w="sm" len="sm"/>
              </a:ln>
            </p:spPr>
          </p:cxnSp>
        </p:grpSp>
        <p:sp>
          <p:nvSpPr>
            <p:cNvPr id="442" name="Google Shape;442;p31"/>
            <p:cNvSpPr/>
            <p:nvPr/>
          </p:nvSpPr>
          <p:spPr>
            <a:xfrm>
              <a:off x="581" y="2112"/>
              <a:ext cx="1152" cy="1248"/>
            </a:xfrm>
            <a:prstGeom prst="rect">
              <a:avLst/>
            </a:prstGeom>
            <a:solidFill>
              <a:srgbClr val="366092"/>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0" i="0" u="none" strike="noStrike" cap="none">
                  <a:solidFill>
                    <a:srgbClr val="000000"/>
                  </a:solidFill>
                  <a:latin typeface="Times New Roman"/>
                  <a:ea typeface="Times New Roman"/>
                  <a:cs typeface="Times New Roman"/>
                  <a:sym typeface="Times New Roman"/>
                </a:rPr>
                <a:t>Other</a:t>
              </a:r>
              <a:endParaRPr/>
            </a:p>
            <a:p>
              <a:pPr marL="0" marR="0" lvl="0" indent="0" algn="ctr" rtl="0">
                <a:lnSpc>
                  <a:spcPct val="100000"/>
                </a:lnSpc>
                <a:spcBef>
                  <a:spcPts val="0"/>
                </a:spcBef>
                <a:spcAft>
                  <a:spcPts val="0"/>
                </a:spcAft>
                <a:buClr>
                  <a:srgbClr val="000000"/>
                </a:buClr>
                <a:buSzPts val="2400"/>
                <a:buFont typeface="Noto Sans Symbols"/>
                <a:buNone/>
              </a:pPr>
              <a:r>
                <a:rPr lang="en-US" sz="2400" b="0" i="0" u="none" strike="noStrike" cap="none">
                  <a:solidFill>
                    <a:srgbClr val="000000"/>
                  </a:solidFill>
                  <a:latin typeface="Times New Roman"/>
                  <a:ea typeface="Times New Roman"/>
                  <a:cs typeface="Times New Roman"/>
                  <a:sym typeface="Times New Roman"/>
                </a:rPr>
                <a:t>objects</a:t>
              </a:r>
              <a:endParaRPr/>
            </a:p>
          </p:txBody>
        </p:sp>
        <p:grpSp>
          <p:nvGrpSpPr>
            <p:cNvPr id="443" name="Google Shape;443;p31"/>
            <p:cNvGrpSpPr/>
            <p:nvPr/>
          </p:nvGrpSpPr>
          <p:grpSpPr>
            <a:xfrm>
              <a:off x="576" y="1130"/>
              <a:ext cx="1589" cy="934"/>
              <a:chOff x="379" y="1130"/>
              <a:chExt cx="1589" cy="934"/>
            </a:xfrm>
          </p:grpSpPr>
          <p:sp>
            <p:nvSpPr>
              <p:cNvPr id="444" name="Google Shape;444;p31"/>
              <p:cNvSpPr txBox="1"/>
              <p:nvPr/>
            </p:nvSpPr>
            <p:spPr>
              <a:xfrm>
                <a:off x="379" y="1130"/>
                <a:ext cx="1171" cy="51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0" i="0" u="none" strike="noStrike" cap="none">
                    <a:solidFill>
                      <a:srgbClr val="000000"/>
                    </a:solidFill>
                    <a:latin typeface="Times New Roman"/>
                    <a:ea typeface="Times New Roman"/>
                    <a:cs typeface="Times New Roman"/>
                    <a:sym typeface="Times New Roman"/>
                  </a:rPr>
                  <a:t>Programming</a:t>
                </a:r>
                <a:endParaRPr/>
              </a:p>
              <a:p>
                <a:pPr marL="0" marR="0" lvl="0" indent="0" algn="ctr" rtl="0">
                  <a:lnSpc>
                    <a:spcPct val="100000"/>
                  </a:lnSpc>
                  <a:spcBef>
                    <a:spcPts val="0"/>
                  </a:spcBef>
                  <a:spcAft>
                    <a:spcPts val="0"/>
                  </a:spcAft>
                  <a:buClr>
                    <a:srgbClr val="000000"/>
                  </a:buClr>
                  <a:buSzPts val="2400"/>
                  <a:buFont typeface="Noto Sans Symbols"/>
                  <a:buNone/>
                </a:pPr>
                <a:r>
                  <a:rPr lang="en-US" sz="2400" b="0" i="0" u="none" strike="noStrike" cap="none">
                    <a:solidFill>
                      <a:srgbClr val="000000"/>
                    </a:solidFill>
                    <a:latin typeface="Times New Roman"/>
                    <a:ea typeface="Times New Roman"/>
                    <a:cs typeface="Times New Roman"/>
                    <a:sym typeface="Times New Roman"/>
                  </a:rPr>
                  <a:t>Interface</a:t>
                </a:r>
                <a:endParaRPr/>
              </a:p>
            </p:txBody>
          </p:sp>
          <p:sp>
            <p:nvSpPr>
              <p:cNvPr id="445" name="Google Shape;445;p31"/>
              <p:cNvSpPr/>
              <p:nvPr/>
            </p:nvSpPr>
            <p:spPr>
              <a:xfrm rot="5400000">
                <a:off x="1392" y="1488"/>
                <a:ext cx="624" cy="528"/>
              </a:xfrm>
              <a:custGeom>
                <a:avLst/>
                <a:gdLst/>
                <a:ahLst/>
                <a:cxnLst/>
                <a:rect l="l" t="t" r="r" b="b"/>
                <a:pathLst>
                  <a:path w="21600" h="21600" extrusionOk="0">
                    <a:moveTo>
                      <a:pt x="21600" y="6079"/>
                    </a:moveTo>
                    <a:lnTo>
                      <a:pt x="15092" y="0"/>
                    </a:lnTo>
                    <a:lnTo>
                      <a:pt x="15092" y="5261"/>
                    </a:lnTo>
                    <a:lnTo>
                      <a:pt x="12427" y="5261"/>
                    </a:lnTo>
                    <a:cubicBezTo>
                      <a:pt x="5564" y="5261"/>
                      <a:pt x="0" y="8349"/>
                      <a:pt x="0" y="12158"/>
                    </a:cubicBezTo>
                    <a:lnTo>
                      <a:pt x="0" y="21600"/>
                    </a:lnTo>
                    <a:lnTo>
                      <a:pt x="1672" y="21600"/>
                    </a:lnTo>
                    <a:lnTo>
                      <a:pt x="1672" y="12158"/>
                    </a:lnTo>
                    <a:cubicBezTo>
                      <a:pt x="1672" y="9252"/>
                      <a:pt x="6487" y="6897"/>
                      <a:pt x="12427" y="6897"/>
                    </a:cubicBezTo>
                    <a:lnTo>
                      <a:pt x="15092" y="6897"/>
                    </a:lnTo>
                    <a:lnTo>
                      <a:pt x="15092" y="12158"/>
                    </a:lnTo>
                    <a:lnTo>
                      <a:pt x="21600" y="6079"/>
                    </a:lnTo>
                    <a:close/>
                  </a:path>
                </a:pathLst>
              </a:custGeom>
              <a:solidFill>
                <a:srgbClr val="FF0000"/>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rgbClr val="000000"/>
                  </a:solidFill>
                  <a:latin typeface="Arial"/>
                  <a:ea typeface="Arial"/>
                  <a:cs typeface="Arial"/>
                  <a:sym typeface="Arial"/>
                </a:endParaRPr>
              </a:p>
            </p:txBody>
          </p:sp>
        </p:grpSp>
      </p:grpSp>
      <p:sp>
        <p:nvSpPr>
          <p:cNvPr id="446" name="Google Shape;446;p31"/>
          <p:cNvSpPr/>
          <p:nvPr/>
        </p:nvSpPr>
        <p:spPr>
          <a:xfrm>
            <a:off x="1905000" y="3429000"/>
            <a:ext cx="1828800" cy="1981200"/>
          </a:xfrm>
          <a:prstGeom prst="rect">
            <a:avLst/>
          </a:prstGeom>
          <a:solidFill>
            <a:srgbClr val="366092"/>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0" i="0" u="none" strike="noStrike" cap="none">
                <a:solidFill>
                  <a:srgbClr val="000000"/>
                </a:solidFill>
                <a:latin typeface="Times New Roman"/>
                <a:ea typeface="Times New Roman"/>
                <a:cs typeface="Times New Roman"/>
                <a:sym typeface="Times New Roman"/>
              </a:rPr>
              <a:t>Other</a:t>
            </a:r>
            <a:endParaRPr/>
          </a:p>
          <a:p>
            <a:pPr marL="0" marR="0" lvl="0" indent="0" algn="ctr" rtl="0">
              <a:lnSpc>
                <a:spcPct val="100000"/>
              </a:lnSpc>
              <a:spcBef>
                <a:spcPts val="0"/>
              </a:spcBef>
              <a:spcAft>
                <a:spcPts val="0"/>
              </a:spcAft>
              <a:buClr>
                <a:srgbClr val="000000"/>
              </a:buClr>
              <a:buSzPts val="2400"/>
              <a:buFont typeface="Noto Sans Symbols"/>
              <a:buNone/>
            </a:pPr>
            <a:r>
              <a:rPr lang="en-US" sz="2400" b="0" i="0" u="none" strike="noStrike" cap="none">
                <a:solidFill>
                  <a:srgbClr val="000000"/>
                </a:solidFill>
                <a:latin typeface="Times New Roman"/>
                <a:ea typeface="Times New Roman"/>
                <a:cs typeface="Times New Roman"/>
                <a:sym typeface="Times New Roman"/>
              </a:rPr>
              <a:t>objects</a:t>
            </a:r>
            <a:endParaRPr/>
          </a:p>
        </p:txBody>
      </p:sp>
      <p:sp>
        <p:nvSpPr>
          <p:cNvPr id="447" name="Google Shape;447;p31"/>
          <p:cNvSpPr/>
          <p:nvPr/>
        </p:nvSpPr>
        <p:spPr>
          <a:xfrm>
            <a:off x="1600200" y="3657600"/>
            <a:ext cx="1828800" cy="1981200"/>
          </a:xfrm>
          <a:prstGeom prst="rect">
            <a:avLst/>
          </a:prstGeom>
          <a:solidFill>
            <a:srgbClr val="366092"/>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0" i="0" u="none" strike="noStrike" cap="none">
                <a:solidFill>
                  <a:srgbClr val="000000"/>
                </a:solidFill>
                <a:latin typeface="Times New Roman"/>
                <a:ea typeface="Times New Roman"/>
                <a:cs typeface="Times New Roman"/>
                <a:sym typeface="Times New Roman"/>
              </a:rPr>
              <a:t>Other</a:t>
            </a:r>
            <a:endParaRPr/>
          </a:p>
          <a:p>
            <a:pPr marL="0" marR="0" lvl="0" indent="0" algn="ctr" rtl="0">
              <a:lnSpc>
                <a:spcPct val="100000"/>
              </a:lnSpc>
              <a:spcBef>
                <a:spcPts val="0"/>
              </a:spcBef>
              <a:spcAft>
                <a:spcPts val="0"/>
              </a:spcAft>
              <a:buClr>
                <a:srgbClr val="000000"/>
              </a:buClr>
              <a:buSzPts val="2400"/>
              <a:buFont typeface="Noto Sans Symbols"/>
              <a:buNone/>
            </a:pPr>
            <a:r>
              <a:rPr lang="en-US" sz="2400" b="0" i="0" u="none" strike="noStrike" cap="none">
                <a:solidFill>
                  <a:srgbClr val="000000"/>
                </a:solidFill>
                <a:latin typeface="Times New Roman"/>
                <a:ea typeface="Times New Roman"/>
                <a:cs typeface="Times New Roman"/>
                <a:sym typeface="Times New Roman"/>
              </a:rPr>
              <a:t>objects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2"/>
          <p:cNvSpPr txBox="1">
            <a:spLocks noGrp="1"/>
          </p:cNvSpPr>
          <p:nvPr>
            <p:ph type="title"/>
          </p:nvPr>
        </p:nvSpPr>
        <p:spPr>
          <a:xfrm>
            <a:off x="1905000" y="122238"/>
            <a:ext cx="7162800" cy="63976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Object-Oriented Programming</a:t>
            </a:r>
            <a:endParaRPr/>
          </a:p>
        </p:txBody>
      </p:sp>
      <p:sp>
        <p:nvSpPr>
          <p:cNvPr id="453" name="Google Shape;453;p32"/>
          <p:cNvSpPr>
            <a:spLocks noGrp="1"/>
          </p:cNvSpPr>
          <p:nvPr>
            <p:ph type="body" idx="1"/>
          </p:nvPr>
        </p:nvSpPr>
        <p:spPr>
          <a:xfrm>
            <a:off x="457200" y="838200"/>
            <a:ext cx="8229600" cy="909246"/>
          </a:xfrm>
          <a:prstGeom prst="roundRect">
            <a:avLst>
              <a:gd name="adj" fmla="val 16667"/>
            </a:avLst>
          </a:prstGeom>
          <a:solidFill>
            <a:schemeClr val="accent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400"/>
              <a:buFont typeface="Noto Sans Symbols"/>
              <a:buChar char="🏵"/>
            </a:pPr>
            <a:r>
              <a:rPr lang="en-US"/>
              <a:t>Object-oriented programming combines data and methods via </a:t>
            </a:r>
            <a:r>
              <a:rPr lang="en-US" b="1">
                <a:solidFill>
                  <a:srgbClr val="FFFF00"/>
                </a:solidFill>
              </a:rPr>
              <a:t>encapsulation</a:t>
            </a:r>
            <a:r>
              <a:rPr lang="en-US"/>
              <a:t>.</a:t>
            </a:r>
            <a:endParaRPr/>
          </a:p>
        </p:txBody>
      </p:sp>
      <p:sp>
        <p:nvSpPr>
          <p:cNvPr id="454" name="Google Shape;454;p32"/>
          <p:cNvSpPr>
            <a:spLocks noGrp="1"/>
          </p:cNvSpPr>
          <p:nvPr>
            <p:ph type="body" idx="2"/>
          </p:nvPr>
        </p:nvSpPr>
        <p:spPr>
          <a:xfrm>
            <a:off x="455645" y="1899846"/>
            <a:ext cx="8229600" cy="990600"/>
          </a:xfrm>
          <a:prstGeom prst="roundRect">
            <a:avLst>
              <a:gd name="adj" fmla="val 16667"/>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400"/>
              <a:buFont typeface="Noto Sans Symbols"/>
              <a:buChar char="🏵"/>
            </a:pPr>
            <a:r>
              <a:rPr lang="en-US" b="1">
                <a:solidFill>
                  <a:srgbClr val="FFFF00"/>
                </a:solidFill>
              </a:rPr>
              <a:t>Data hiding</a:t>
            </a:r>
            <a:r>
              <a:rPr lang="en-US"/>
              <a:t> is the ability of an object to hide data from other objects in the program</a:t>
            </a:r>
            <a:endParaRPr/>
          </a:p>
        </p:txBody>
      </p:sp>
      <p:sp>
        <p:nvSpPr>
          <p:cNvPr id="455" name="Google Shape;455;p32"/>
          <p:cNvSpPr>
            <a:spLocks noGrp="1"/>
          </p:cNvSpPr>
          <p:nvPr>
            <p:ph type="body" idx="3"/>
          </p:nvPr>
        </p:nvSpPr>
        <p:spPr>
          <a:xfrm>
            <a:off x="455645" y="3042846"/>
            <a:ext cx="8229600" cy="914400"/>
          </a:xfrm>
          <a:prstGeom prst="roundRect">
            <a:avLst>
              <a:gd name="adj" fmla="val 16667"/>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400"/>
              <a:buFont typeface="Noto Sans Symbols"/>
              <a:buChar char="🏵"/>
            </a:pPr>
            <a:r>
              <a:rPr lang="en-US"/>
              <a:t>Only object’s methods should be able to directly manipulate its attributes</a:t>
            </a:r>
            <a:endParaRPr/>
          </a:p>
        </p:txBody>
      </p:sp>
      <p:sp>
        <p:nvSpPr>
          <p:cNvPr id="456" name="Google Shape;456;p32"/>
          <p:cNvSpPr>
            <a:spLocks noGrp="1"/>
          </p:cNvSpPr>
          <p:nvPr>
            <p:ph type="body" idx="2"/>
          </p:nvPr>
        </p:nvSpPr>
        <p:spPr>
          <a:xfrm>
            <a:off x="455645" y="4109646"/>
            <a:ext cx="8229600" cy="990600"/>
          </a:xfrm>
          <a:prstGeom prst="roundRect">
            <a:avLst>
              <a:gd name="adj" fmla="val 16667"/>
            </a:avLst>
          </a:prstGeom>
          <a:solidFill>
            <a:srgbClr val="E36C09"/>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400"/>
              <a:buFont typeface="Noto Sans Symbols"/>
              <a:buChar char="🏵"/>
            </a:pPr>
            <a:r>
              <a:rPr lang="en-US"/>
              <a:t>Other objects are allowed to manipulate object’s attributes via the object’s methods.</a:t>
            </a:r>
            <a:endParaRPr/>
          </a:p>
        </p:txBody>
      </p:sp>
      <p:sp>
        <p:nvSpPr>
          <p:cNvPr id="457" name="Google Shape;457;p32"/>
          <p:cNvSpPr>
            <a:spLocks noGrp="1"/>
          </p:cNvSpPr>
          <p:nvPr>
            <p:ph type="body" idx="2"/>
          </p:nvPr>
        </p:nvSpPr>
        <p:spPr>
          <a:xfrm>
            <a:off x="457200" y="5257800"/>
            <a:ext cx="8229600" cy="990600"/>
          </a:xfrm>
          <a:prstGeom prst="roundRect">
            <a:avLst>
              <a:gd name="adj" fmla="val 16667"/>
            </a:avLst>
          </a:prstGeom>
          <a:solidFill>
            <a:srgbClr val="002060"/>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400"/>
              <a:buFont typeface="Noto Sans Symbols"/>
              <a:buChar char="🏵"/>
            </a:pPr>
            <a:r>
              <a:rPr lang="en-US"/>
              <a:t>This indirect access is known as a </a:t>
            </a:r>
            <a:r>
              <a:rPr lang="en-US" b="1"/>
              <a:t>programming interface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OOP Principles: Classes</a:t>
            </a:r>
            <a:endParaRPr/>
          </a:p>
        </p:txBody>
      </p:sp>
      <p:sp>
        <p:nvSpPr>
          <p:cNvPr id="463" name="Google Shape;463;p33"/>
          <p:cNvSpPr/>
          <p:nvPr/>
        </p:nvSpPr>
        <p:spPr>
          <a:xfrm>
            <a:off x="457200" y="1600201"/>
            <a:ext cx="8229600" cy="1447800"/>
          </a:xfrm>
          <a:prstGeom prst="roundRect">
            <a:avLst>
              <a:gd name="adj" fmla="val 16667"/>
            </a:avLst>
          </a:prstGeom>
          <a:solidFill>
            <a:schemeClr val="accent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marR="0" lvl="0" indent="-342900" algn="l" rtl="0">
              <a:spcBef>
                <a:spcPts val="0"/>
              </a:spcBef>
              <a:spcAft>
                <a:spcPts val="0"/>
              </a:spcAft>
              <a:buClr>
                <a:schemeClr val="lt1"/>
              </a:buClr>
              <a:buSzPts val="2400"/>
              <a:buFont typeface="Noto Sans Symbols"/>
              <a:buChar char="🏵"/>
            </a:pPr>
            <a:r>
              <a:rPr lang="en-US" sz="2400">
                <a:solidFill>
                  <a:schemeClr val="lt1"/>
                </a:solidFill>
                <a:latin typeface="Calibri"/>
                <a:ea typeface="Calibri"/>
                <a:cs typeface="Calibri"/>
                <a:sym typeface="Calibri"/>
              </a:rPr>
              <a:t> </a:t>
            </a:r>
            <a:r>
              <a:rPr lang="en-US" sz="2800">
                <a:solidFill>
                  <a:schemeClr val="lt1"/>
                </a:solidFill>
                <a:latin typeface="Calibri"/>
                <a:ea typeface="Calibri"/>
                <a:cs typeface="Calibri"/>
                <a:sym typeface="Calibri"/>
              </a:rPr>
              <a:t> A class is the </a:t>
            </a:r>
            <a:r>
              <a:rPr lang="en-US" sz="2800" b="1">
                <a:solidFill>
                  <a:srgbClr val="FFFF00"/>
                </a:solidFill>
                <a:latin typeface="Calibri"/>
                <a:ea typeface="Calibri"/>
                <a:cs typeface="Calibri"/>
                <a:sym typeface="Calibri"/>
              </a:rPr>
              <a:t>template</a:t>
            </a:r>
            <a:r>
              <a:rPr lang="en-US" sz="2800">
                <a:solidFill>
                  <a:schemeClr val="lt1"/>
                </a:solidFill>
                <a:latin typeface="Calibri"/>
                <a:ea typeface="Calibri"/>
                <a:cs typeface="Calibri"/>
                <a:sym typeface="Calibri"/>
              </a:rPr>
              <a:t> or </a:t>
            </a:r>
            <a:r>
              <a:rPr lang="en-US" sz="2800">
                <a:solidFill>
                  <a:srgbClr val="FFFF00"/>
                </a:solidFill>
                <a:latin typeface="Calibri"/>
                <a:ea typeface="Calibri"/>
                <a:cs typeface="Calibri"/>
                <a:sym typeface="Calibri"/>
              </a:rPr>
              <a:t>mould</a:t>
            </a:r>
            <a:r>
              <a:rPr lang="en-US" sz="2800">
                <a:solidFill>
                  <a:schemeClr val="lt1"/>
                </a:solidFill>
                <a:latin typeface="Calibri"/>
                <a:ea typeface="Calibri"/>
                <a:cs typeface="Calibri"/>
                <a:sym typeface="Calibri"/>
              </a:rPr>
              <a:t> or </a:t>
            </a:r>
            <a:r>
              <a:rPr lang="en-US" sz="2800">
                <a:solidFill>
                  <a:srgbClr val="FFFF00"/>
                </a:solidFill>
                <a:latin typeface="Calibri"/>
                <a:ea typeface="Calibri"/>
                <a:cs typeface="Calibri"/>
                <a:sym typeface="Calibri"/>
              </a:rPr>
              <a:t>blueprint</a:t>
            </a:r>
            <a:r>
              <a:rPr lang="en-US" sz="2800">
                <a:solidFill>
                  <a:schemeClr val="lt1"/>
                </a:solidFill>
                <a:latin typeface="Calibri"/>
                <a:ea typeface="Calibri"/>
                <a:cs typeface="Calibri"/>
                <a:sym typeface="Calibri"/>
              </a:rPr>
              <a:t> from which objects are actually made. </a:t>
            </a:r>
            <a:endParaRPr/>
          </a:p>
        </p:txBody>
      </p:sp>
      <p:sp>
        <p:nvSpPr>
          <p:cNvPr id="464" name="Google Shape;464;p33"/>
          <p:cNvSpPr>
            <a:spLocks noGrp="1"/>
          </p:cNvSpPr>
          <p:nvPr>
            <p:ph type="body" idx="2"/>
          </p:nvPr>
        </p:nvSpPr>
        <p:spPr>
          <a:xfrm>
            <a:off x="457200" y="3276600"/>
            <a:ext cx="8229600" cy="1295400"/>
          </a:xfrm>
          <a:prstGeom prst="roundRect">
            <a:avLst>
              <a:gd name="adj" fmla="val 16667"/>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lvl="0" indent="-342900" algn="l" rtl="0">
              <a:spcBef>
                <a:spcPts val="0"/>
              </a:spcBef>
              <a:spcAft>
                <a:spcPts val="0"/>
              </a:spcAft>
              <a:buClr>
                <a:schemeClr val="lt1"/>
              </a:buClr>
              <a:buSzPts val="2800"/>
              <a:buFont typeface="Noto Sans Symbols"/>
              <a:buChar char="🏵"/>
            </a:pPr>
            <a:r>
              <a:rPr lang="en-US" sz="2800"/>
              <a:t>A class </a:t>
            </a:r>
            <a:r>
              <a:rPr lang="en-US" sz="2800" b="1">
                <a:solidFill>
                  <a:srgbClr val="FFFF00"/>
                </a:solidFill>
              </a:rPr>
              <a:t>encapsulates</a:t>
            </a:r>
            <a:r>
              <a:rPr lang="en-US" sz="2800"/>
              <a:t> the attributes and actions that characterizes a certain type of object.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34"/>
          <p:cNvSpPr txBox="1">
            <a:spLocks noGrp="1"/>
          </p:cNvSpPr>
          <p:nvPr>
            <p:ph type="title"/>
          </p:nvPr>
        </p:nvSpPr>
        <p:spPr>
          <a:xfrm>
            <a:off x="457200" y="5334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OOP Principles: Objects</a:t>
            </a:r>
            <a:endParaRPr/>
          </a:p>
        </p:txBody>
      </p:sp>
      <p:sp>
        <p:nvSpPr>
          <p:cNvPr id="470" name="Google Shape;470;p34"/>
          <p:cNvSpPr>
            <a:spLocks noGrp="1"/>
          </p:cNvSpPr>
          <p:nvPr>
            <p:ph type="body" idx="1"/>
          </p:nvPr>
        </p:nvSpPr>
        <p:spPr>
          <a:xfrm>
            <a:off x="0" y="1828800"/>
            <a:ext cx="9067800" cy="838200"/>
          </a:xfrm>
          <a:prstGeom prst="roundRect">
            <a:avLst>
              <a:gd name="adj" fmla="val 16667"/>
            </a:avLst>
          </a:prstGeom>
          <a:solidFill>
            <a:srgbClr val="5F497A"/>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400"/>
              <a:buFont typeface="Noto Sans Symbols"/>
              <a:buChar char="🏵"/>
            </a:pPr>
            <a:r>
              <a:rPr lang="en-US"/>
              <a:t>Classes can be used to </a:t>
            </a:r>
            <a:r>
              <a:rPr lang="en-US" b="1">
                <a:solidFill>
                  <a:srgbClr val="FFFF00"/>
                </a:solidFill>
              </a:rPr>
              <a:t>instantiate</a:t>
            </a:r>
            <a:r>
              <a:rPr lang="en-US"/>
              <a:t> as many objects as are needed.</a:t>
            </a:r>
            <a:endParaRPr/>
          </a:p>
        </p:txBody>
      </p:sp>
      <p:sp>
        <p:nvSpPr>
          <p:cNvPr id="471" name="Google Shape;471;p34"/>
          <p:cNvSpPr/>
          <p:nvPr/>
        </p:nvSpPr>
        <p:spPr>
          <a:xfrm>
            <a:off x="59820" y="3009900"/>
            <a:ext cx="9067800" cy="838200"/>
          </a:xfrm>
          <a:prstGeom prst="roundRect">
            <a:avLst>
              <a:gd name="adj" fmla="val 16667"/>
            </a:avLst>
          </a:prstGeom>
          <a:solidFill>
            <a:srgbClr val="17365D"/>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marR="0" lvl="0" indent="-342900" algn="l" rtl="0">
              <a:spcBef>
                <a:spcPts val="0"/>
              </a:spcBef>
              <a:spcAft>
                <a:spcPts val="0"/>
              </a:spcAft>
              <a:buClr>
                <a:schemeClr val="lt1"/>
              </a:buClr>
              <a:buSzPts val="2400"/>
              <a:buFont typeface="Noto Sans Symbols"/>
              <a:buChar char="🏵"/>
            </a:pPr>
            <a:r>
              <a:rPr lang="en-US" sz="2400">
                <a:solidFill>
                  <a:schemeClr val="lt1"/>
                </a:solidFill>
                <a:latin typeface="Calibri"/>
                <a:ea typeface="Calibri"/>
                <a:cs typeface="Calibri"/>
                <a:sym typeface="Calibri"/>
              </a:rPr>
              <a:t>Each object that is created from a class is called an </a:t>
            </a:r>
            <a:r>
              <a:rPr lang="en-US" sz="2400" b="1">
                <a:solidFill>
                  <a:srgbClr val="FFFF00"/>
                </a:solidFill>
                <a:latin typeface="Calibri"/>
                <a:ea typeface="Calibri"/>
                <a:cs typeface="Calibri"/>
                <a:sym typeface="Calibri"/>
              </a:rPr>
              <a:t>instance</a:t>
            </a:r>
            <a:r>
              <a:rPr lang="en-US" sz="2400">
                <a:solidFill>
                  <a:schemeClr val="lt1"/>
                </a:solidFill>
                <a:latin typeface="Calibri"/>
                <a:ea typeface="Calibri"/>
                <a:cs typeface="Calibri"/>
                <a:sym typeface="Calibri"/>
              </a:rPr>
              <a:t> of the class.</a:t>
            </a:r>
            <a:endParaRPr/>
          </a:p>
        </p:txBody>
      </p:sp>
      <p:sp>
        <p:nvSpPr>
          <p:cNvPr id="472" name="Google Shape;472;p34"/>
          <p:cNvSpPr/>
          <p:nvPr/>
        </p:nvSpPr>
        <p:spPr>
          <a:xfrm>
            <a:off x="76200" y="4038600"/>
            <a:ext cx="9067800" cy="838200"/>
          </a:xfrm>
          <a:prstGeom prst="roundRect">
            <a:avLst>
              <a:gd name="adj" fmla="val 16667"/>
            </a:avLst>
          </a:prstGeom>
          <a:solidFill>
            <a:srgbClr val="974806"/>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marR="0" lvl="0" indent="-342900" algn="l" rtl="0">
              <a:spcBef>
                <a:spcPts val="0"/>
              </a:spcBef>
              <a:spcAft>
                <a:spcPts val="0"/>
              </a:spcAft>
              <a:buClr>
                <a:schemeClr val="lt1"/>
              </a:buClr>
              <a:buSzPts val="2400"/>
              <a:buFont typeface="Noto Sans Symbols"/>
              <a:buChar char="🏵"/>
            </a:pPr>
            <a:r>
              <a:rPr lang="en-US" sz="2400">
                <a:solidFill>
                  <a:schemeClr val="lt1"/>
                </a:solidFill>
                <a:latin typeface="Calibri"/>
                <a:ea typeface="Calibri"/>
                <a:cs typeface="Calibri"/>
                <a:sym typeface="Calibri"/>
              </a:rPr>
              <a:t>A program is simply a collection of objects that interact with each other to accomplish a goal.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Classes and Objects</a:t>
            </a:r>
            <a:endParaRPr/>
          </a:p>
        </p:txBody>
      </p:sp>
      <p:sp>
        <p:nvSpPr>
          <p:cNvPr id="478" name="Google Shape;478;p35"/>
          <p:cNvSpPr txBox="1"/>
          <p:nvPr/>
        </p:nvSpPr>
        <p:spPr>
          <a:xfrm>
            <a:off x="685800" y="1676400"/>
            <a:ext cx="3962400" cy="193899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000000"/>
              </a:buClr>
              <a:buSzPts val="2400"/>
              <a:buFont typeface="Noto Sans Symbols"/>
              <a:buNone/>
            </a:pPr>
            <a:r>
              <a:rPr lang="en-US" sz="2400" b="1">
                <a:solidFill>
                  <a:srgbClr val="000000"/>
                </a:solidFill>
                <a:latin typeface="Times New Roman"/>
                <a:ea typeface="Times New Roman"/>
                <a:cs typeface="Times New Roman"/>
                <a:sym typeface="Times New Roman"/>
              </a:rPr>
              <a:t>The </a:t>
            </a:r>
            <a:r>
              <a:rPr lang="en-US" sz="2400" b="1" i="1">
                <a:solidFill>
                  <a:srgbClr val="990033"/>
                </a:solidFill>
                <a:latin typeface="Times New Roman"/>
                <a:ea typeface="Times New Roman"/>
                <a:cs typeface="Times New Roman"/>
                <a:sym typeface="Times New Roman"/>
              </a:rPr>
              <a:t>Car</a:t>
            </a:r>
            <a:r>
              <a:rPr lang="en-US" sz="2400" b="1">
                <a:solidFill>
                  <a:srgbClr val="990033"/>
                </a:solidFill>
                <a:latin typeface="Times New Roman"/>
                <a:ea typeface="Times New Roman"/>
                <a:cs typeface="Times New Roman"/>
                <a:sym typeface="Times New Roman"/>
              </a:rPr>
              <a:t> class</a:t>
            </a:r>
            <a:r>
              <a:rPr lang="en-US" sz="2400" b="1">
                <a:solidFill>
                  <a:srgbClr val="000000"/>
                </a:solidFill>
                <a:latin typeface="Times New Roman"/>
                <a:ea typeface="Times New Roman"/>
                <a:cs typeface="Times New Roman"/>
                <a:sym typeface="Times New Roman"/>
              </a:rPr>
              <a:t> defines the attributes and methods that will exist in all objects</a:t>
            </a:r>
            <a:endParaRPr/>
          </a:p>
          <a:p>
            <a:pPr marL="0" marR="0" lvl="0" indent="0" algn="ctr" rtl="0">
              <a:spcBef>
                <a:spcPts val="0"/>
              </a:spcBef>
              <a:spcAft>
                <a:spcPts val="0"/>
              </a:spcAft>
              <a:buClr>
                <a:srgbClr val="000000"/>
              </a:buClr>
              <a:buSzPts val="2400"/>
              <a:buFont typeface="Noto Sans Symbols"/>
              <a:buNone/>
            </a:pPr>
            <a:r>
              <a:rPr lang="en-US" sz="2400" b="1">
                <a:solidFill>
                  <a:srgbClr val="000000"/>
                </a:solidFill>
                <a:latin typeface="Times New Roman"/>
                <a:ea typeface="Times New Roman"/>
                <a:cs typeface="Times New Roman"/>
                <a:sym typeface="Times New Roman"/>
              </a:rPr>
              <a:t>that are instances of the class.</a:t>
            </a:r>
            <a:endParaRPr/>
          </a:p>
        </p:txBody>
      </p:sp>
      <p:grpSp>
        <p:nvGrpSpPr>
          <p:cNvPr id="479" name="Google Shape;479;p35"/>
          <p:cNvGrpSpPr/>
          <p:nvPr/>
        </p:nvGrpSpPr>
        <p:grpSpPr>
          <a:xfrm>
            <a:off x="3352800" y="1646238"/>
            <a:ext cx="5638800" cy="2438400"/>
            <a:chOff x="2304" y="816"/>
            <a:chExt cx="2815" cy="1536"/>
          </a:xfrm>
        </p:grpSpPr>
        <p:sp>
          <p:nvSpPr>
            <p:cNvPr id="480" name="Google Shape;480;p35"/>
            <p:cNvSpPr/>
            <p:nvPr/>
          </p:nvSpPr>
          <p:spPr>
            <a:xfrm>
              <a:off x="3696" y="816"/>
              <a:ext cx="1056" cy="576"/>
            </a:xfrm>
            <a:prstGeom prst="rect">
              <a:avLst/>
            </a:prstGeom>
            <a:solidFill>
              <a:srgbClr val="CCCC99"/>
            </a:solidFill>
            <a:ln w="9525" cap="flat" cmpd="sng">
              <a:solidFill>
                <a:srgbClr val="000000"/>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Noto Sans Symbols"/>
                <a:buNone/>
              </a:pPr>
              <a:r>
                <a:rPr lang="en-US" sz="2800" b="1" i="0" u="none" strike="noStrike" cap="none">
                  <a:solidFill>
                    <a:srgbClr val="000000"/>
                  </a:solidFill>
                  <a:latin typeface="Times New Roman"/>
                  <a:ea typeface="Times New Roman"/>
                  <a:cs typeface="Times New Roman"/>
                  <a:sym typeface="Times New Roman"/>
                </a:rPr>
                <a:t>Kancil object</a:t>
              </a:r>
              <a:endParaRPr/>
            </a:p>
          </p:txBody>
        </p:sp>
        <p:cxnSp>
          <p:nvCxnSpPr>
            <p:cNvPr id="481" name="Google Shape;481;p35"/>
            <p:cNvCxnSpPr/>
            <p:nvPr/>
          </p:nvCxnSpPr>
          <p:spPr>
            <a:xfrm rot="10800000" flipH="1">
              <a:off x="2304" y="1104"/>
              <a:ext cx="1392" cy="1248"/>
            </a:xfrm>
            <a:prstGeom prst="straightConnector1">
              <a:avLst/>
            </a:prstGeom>
            <a:noFill/>
            <a:ln w="19050" cap="flat" cmpd="sng">
              <a:solidFill>
                <a:srgbClr val="000000"/>
              </a:solidFill>
              <a:prstDash val="solid"/>
              <a:round/>
              <a:headEnd type="none" w="med" len="med"/>
              <a:tailEnd type="triangle" w="med" len="med"/>
            </a:ln>
            <a:effectLst>
              <a:outerShdw blurRad="50800" dist="38100" dir="2700000" algn="tl" rotWithShape="0">
                <a:srgbClr val="000000">
                  <a:alpha val="40000"/>
                </a:srgbClr>
              </a:outerShdw>
            </a:effectLst>
          </p:spPr>
        </p:cxnSp>
        <p:sp>
          <p:nvSpPr>
            <p:cNvPr id="482" name="Google Shape;482;p35"/>
            <p:cNvSpPr txBox="1"/>
            <p:nvPr/>
          </p:nvSpPr>
          <p:spPr>
            <a:xfrm>
              <a:off x="3312" y="1440"/>
              <a:ext cx="1807" cy="442"/>
            </a:xfrm>
            <a:prstGeom prst="rect">
              <a:avLst/>
            </a:prstGeom>
            <a:noFill/>
            <a:ln>
              <a:noFill/>
            </a:ln>
            <a:effectLst>
              <a:outerShdw blurRad="50800" dist="38100" dir="2700000" algn="tl" rotWithShape="0">
                <a:srgbClr val="000000">
                  <a:alpha val="40000"/>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1" i="0" u="none" strike="noStrike" cap="none">
                  <a:solidFill>
                    <a:srgbClr val="000000"/>
                  </a:solidFill>
                  <a:latin typeface="Times New Roman"/>
                  <a:ea typeface="Times New Roman"/>
                  <a:cs typeface="Times New Roman"/>
                  <a:sym typeface="Times New Roman"/>
                </a:rPr>
                <a:t>The Kancil object is an</a:t>
              </a:r>
              <a:endParaRPr/>
            </a:p>
            <a:p>
              <a:pPr marL="0" marR="0" lvl="0" indent="0" algn="ctr" rtl="0">
                <a:lnSpc>
                  <a:spcPct val="100000"/>
                </a:lnSpc>
                <a:spcBef>
                  <a:spcPts val="0"/>
                </a:spcBef>
                <a:spcAft>
                  <a:spcPts val="0"/>
                </a:spcAft>
                <a:buClr>
                  <a:srgbClr val="000000"/>
                </a:buClr>
                <a:buSzPts val="2000"/>
                <a:buFont typeface="Noto Sans Symbols"/>
                <a:buNone/>
              </a:pPr>
              <a:r>
                <a:rPr lang="en-US" sz="2000" b="1" i="0" u="none" strike="noStrike" cap="none">
                  <a:solidFill>
                    <a:srgbClr val="000000"/>
                  </a:solidFill>
                  <a:latin typeface="Times New Roman"/>
                  <a:ea typeface="Times New Roman"/>
                  <a:cs typeface="Times New Roman"/>
                  <a:sym typeface="Times New Roman"/>
                </a:rPr>
                <a:t>instance of the Car class.</a:t>
              </a:r>
              <a:endParaRPr/>
            </a:p>
          </p:txBody>
        </p:sp>
      </p:grpSp>
      <p:grpSp>
        <p:nvGrpSpPr>
          <p:cNvPr id="483" name="Google Shape;483;p35"/>
          <p:cNvGrpSpPr/>
          <p:nvPr/>
        </p:nvGrpSpPr>
        <p:grpSpPr>
          <a:xfrm>
            <a:off x="3128963" y="4038600"/>
            <a:ext cx="5634037" cy="1981200"/>
            <a:chOff x="2304" y="2400"/>
            <a:chExt cx="2563" cy="1248"/>
          </a:xfrm>
        </p:grpSpPr>
        <p:sp>
          <p:nvSpPr>
            <p:cNvPr id="484" name="Google Shape;484;p35"/>
            <p:cNvSpPr/>
            <p:nvPr/>
          </p:nvSpPr>
          <p:spPr>
            <a:xfrm>
              <a:off x="3696" y="3072"/>
              <a:ext cx="1056" cy="576"/>
            </a:xfrm>
            <a:prstGeom prst="rect">
              <a:avLst/>
            </a:prstGeom>
            <a:solidFill>
              <a:srgbClr val="CCCC99"/>
            </a:solidFill>
            <a:ln w="9525" cap="flat" cmpd="sng">
              <a:solidFill>
                <a:srgbClr val="000000"/>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Noto Sans Symbols"/>
                <a:buNone/>
              </a:pPr>
              <a:r>
                <a:rPr lang="en-US" sz="2800" b="1" i="0" u="none" strike="noStrike" cap="none">
                  <a:solidFill>
                    <a:srgbClr val="000000"/>
                  </a:solidFill>
                  <a:latin typeface="Times New Roman"/>
                  <a:ea typeface="Times New Roman"/>
                  <a:cs typeface="Times New Roman"/>
                  <a:sym typeface="Times New Roman"/>
                </a:rPr>
                <a:t>Nazaria object</a:t>
              </a:r>
              <a:endParaRPr/>
            </a:p>
          </p:txBody>
        </p:sp>
        <p:cxnSp>
          <p:nvCxnSpPr>
            <p:cNvPr id="485" name="Google Shape;485;p35"/>
            <p:cNvCxnSpPr/>
            <p:nvPr/>
          </p:nvCxnSpPr>
          <p:spPr>
            <a:xfrm>
              <a:off x="2304" y="2400"/>
              <a:ext cx="1392" cy="960"/>
            </a:xfrm>
            <a:prstGeom prst="straightConnector1">
              <a:avLst/>
            </a:prstGeom>
            <a:noFill/>
            <a:ln w="19050" cap="flat" cmpd="sng">
              <a:solidFill>
                <a:srgbClr val="000000"/>
              </a:solidFill>
              <a:prstDash val="solid"/>
              <a:round/>
              <a:headEnd type="none" w="med" len="med"/>
              <a:tailEnd type="triangle" w="med" len="med"/>
            </a:ln>
          </p:spPr>
        </p:cxnSp>
        <p:sp>
          <p:nvSpPr>
            <p:cNvPr id="486" name="Google Shape;486;p35"/>
            <p:cNvSpPr txBox="1"/>
            <p:nvPr/>
          </p:nvSpPr>
          <p:spPr>
            <a:xfrm>
              <a:off x="3562" y="2544"/>
              <a:ext cx="1305" cy="44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1" i="0" u="none" strike="noStrike" cap="none">
                  <a:solidFill>
                    <a:srgbClr val="000000"/>
                  </a:solidFill>
                  <a:latin typeface="Times New Roman"/>
                  <a:ea typeface="Times New Roman"/>
                  <a:cs typeface="Times New Roman"/>
                  <a:sym typeface="Times New Roman"/>
                </a:rPr>
                <a:t>The Nazaria object is an</a:t>
              </a:r>
              <a:endParaRPr/>
            </a:p>
            <a:p>
              <a:pPr marL="0" marR="0" lvl="0" indent="0" algn="ctr" rtl="0">
                <a:lnSpc>
                  <a:spcPct val="100000"/>
                </a:lnSpc>
                <a:spcBef>
                  <a:spcPts val="0"/>
                </a:spcBef>
                <a:spcAft>
                  <a:spcPts val="0"/>
                </a:spcAft>
                <a:buClr>
                  <a:srgbClr val="000000"/>
                </a:buClr>
                <a:buSzPts val="2000"/>
                <a:buFont typeface="Noto Sans Symbols"/>
                <a:buNone/>
              </a:pPr>
              <a:r>
                <a:rPr lang="en-US" sz="2000" b="1" i="0" u="none" strike="noStrike" cap="none">
                  <a:solidFill>
                    <a:srgbClr val="000000"/>
                  </a:solidFill>
                  <a:latin typeface="Times New Roman"/>
                  <a:ea typeface="Times New Roman"/>
                  <a:cs typeface="Times New Roman"/>
                  <a:sym typeface="Times New Roman"/>
                </a:rPr>
                <a:t>instance of the Car class.</a:t>
              </a:r>
              <a:endParaRPr/>
            </a:p>
          </p:txBody>
        </p:sp>
      </p:grpSp>
      <p:sp>
        <p:nvSpPr>
          <p:cNvPr id="487" name="Google Shape;487;p35"/>
          <p:cNvSpPr/>
          <p:nvPr/>
        </p:nvSpPr>
        <p:spPr>
          <a:xfrm>
            <a:off x="1143000" y="3657600"/>
            <a:ext cx="2209800" cy="914400"/>
          </a:xfrm>
          <a:prstGeom prst="rect">
            <a:avLst/>
          </a:prstGeom>
          <a:solidFill>
            <a:srgbClr val="66FFFF"/>
          </a:solidFill>
          <a:ln w="9525" cap="flat" cmpd="sng">
            <a:solidFill>
              <a:srgbClr val="000000"/>
            </a:solidFill>
            <a:prstDash val="dash"/>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800"/>
              <a:buFont typeface="Noto Sans Symbols"/>
              <a:buNone/>
            </a:pPr>
            <a:r>
              <a:rPr lang="en-US" sz="2800" b="1" i="0" u="none" strike="noStrike" cap="none">
                <a:solidFill>
                  <a:srgbClr val="000000"/>
                </a:solidFill>
                <a:latin typeface="Times New Roman"/>
                <a:ea typeface="Times New Roman"/>
                <a:cs typeface="Times New Roman"/>
                <a:sym typeface="Times New Roman"/>
              </a:rPr>
              <a:t>Car class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36"/>
          <p:cNvSpPr txBox="1">
            <a:spLocks noGrp="1"/>
          </p:cNvSpPr>
          <p:nvPr>
            <p:ph type="title"/>
          </p:nvPr>
        </p:nvSpPr>
        <p:spPr>
          <a:xfrm>
            <a:off x="1447800" y="-1524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t>OOP Principles:  Encapsulation</a:t>
            </a:r>
            <a:endParaRPr/>
          </a:p>
        </p:txBody>
      </p:sp>
      <p:sp>
        <p:nvSpPr>
          <p:cNvPr id="494" name="Google Shape;494;p36"/>
          <p:cNvSpPr>
            <a:spLocks noGrp="1"/>
          </p:cNvSpPr>
          <p:nvPr>
            <p:ph type="body" idx="1"/>
          </p:nvPr>
        </p:nvSpPr>
        <p:spPr>
          <a:xfrm>
            <a:off x="457200" y="914400"/>
            <a:ext cx="8229600" cy="1676400"/>
          </a:xfrm>
          <a:prstGeom prst="roundRect">
            <a:avLst>
              <a:gd name="adj" fmla="val 16667"/>
            </a:avLst>
          </a:prstGeom>
          <a:solidFill>
            <a:schemeClr val="accent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400"/>
              <a:buFont typeface="Noto Sans Symbols"/>
              <a:buChar char="🏵"/>
            </a:pPr>
            <a:r>
              <a:rPr lang="en-US" b="1">
                <a:solidFill>
                  <a:srgbClr val="FFFF00"/>
                </a:solidFill>
              </a:rPr>
              <a:t>Encapsulation</a:t>
            </a:r>
            <a:r>
              <a:rPr lang="en-US"/>
              <a:t> is a key concept in working with objects: </a:t>
            </a:r>
            <a:r>
              <a:rPr lang="en-US" b="1">
                <a:solidFill>
                  <a:srgbClr val="FFFF00"/>
                </a:solidFill>
              </a:rPr>
              <a:t>Combining attributes and methods</a:t>
            </a:r>
            <a:r>
              <a:rPr lang="en-US"/>
              <a:t> in one package and hiding the implementation of the data from the user of the object.</a:t>
            </a:r>
            <a:endParaRPr/>
          </a:p>
        </p:txBody>
      </p:sp>
      <p:sp>
        <p:nvSpPr>
          <p:cNvPr id="495" name="Google Shape;495;p36"/>
          <p:cNvSpPr/>
          <p:nvPr/>
        </p:nvSpPr>
        <p:spPr>
          <a:xfrm>
            <a:off x="5638800" y="3429000"/>
            <a:ext cx="2743200" cy="348952"/>
          </a:xfrm>
          <a:prstGeom prst="rect">
            <a:avLst/>
          </a:prstGeom>
          <a:solidFill>
            <a:srgbClr val="CCCC9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Noto Sans Symbols"/>
              <a:buNone/>
            </a:pPr>
            <a:r>
              <a:rPr lang="en-US" sz="1800" b="0" i="0" u="none" strike="noStrike" cap="none">
                <a:solidFill>
                  <a:srgbClr val="000000"/>
                </a:solidFill>
                <a:latin typeface="Times New Roman"/>
                <a:ea typeface="Times New Roman"/>
                <a:cs typeface="Times New Roman"/>
                <a:sym typeface="Times New Roman"/>
              </a:rPr>
              <a:t>Car</a:t>
            </a:r>
            <a:endParaRPr/>
          </a:p>
        </p:txBody>
      </p:sp>
      <p:sp>
        <p:nvSpPr>
          <p:cNvPr id="496" name="Google Shape;496;p36"/>
          <p:cNvSpPr/>
          <p:nvPr/>
        </p:nvSpPr>
        <p:spPr>
          <a:xfrm>
            <a:off x="5638800" y="3757775"/>
            <a:ext cx="2743200" cy="1005793"/>
          </a:xfrm>
          <a:prstGeom prst="rect">
            <a:avLst/>
          </a:prstGeom>
          <a:solidFill>
            <a:srgbClr val="CCCC9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Noto Sans Symbols"/>
              <a:buNone/>
            </a:pPr>
            <a:r>
              <a:rPr lang="en-US" sz="1400" b="0" i="1" u="none" strike="noStrike" cap="none">
                <a:solidFill>
                  <a:srgbClr val="000000"/>
                </a:solidFill>
                <a:latin typeface="Times New Roman"/>
                <a:ea typeface="Times New Roman"/>
                <a:cs typeface="Times New Roman"/>
                <a:sym typeface="Times New Roman"/>
              </a:rPr>
              <a:t>Attributes:</a:t>
            </a:r>
            <a:endParaRPr/>
          </a:p>
          <a:p>
            <a:pPr marL="0" marR="0" lvl="0" indent="0" algn="ctr" rtl="0">
              <a:lnSpc>
                <a:spcPct val="100000"/>
              </a:lnSpc>
              <a:spcBef>
                <a:spcPts val="0"/>
              </a:spcBef>
              <a:spcAft>
                <a:spcPts val="0"/>
              </a:spcAft>
              <a:buClr>
                <a:srgbClr val="000000"/>
              </a:buClr>
              <a:buSzPts val="1400"/>
              <a:buFont typeface="Noto Sans Symbols"/>
              <a:buNone/>
            </a:pPr>
            <a:r>
              <a:rPr lang="en-US" sz="1400" b="0" i="0" u="none" strike="noStrike" cap="none">
                <a:solidFill>
                  <a:srgbClr val="000000"/>
                </a:solidFill>
                <a:latin typeface="Times New Roman"/>
                <a:ea typeface="Times New Roman"/>
                <a:cs typeface="Times New Roman"/>
                <a:sym typeface="Times New Roman"/>
              </a:rPr>
              <a:t>model, </a:t>
            </a:r>
            <a:endParaRPr/>
          </a:p>
          <a:p>
            <a:pPr marL="0" marR="0" lvl="0" indent="0" algn="ctr" rtl="0">
              <a:lnSpc>
                <a:spcPct val="100000"/>
              </a:lnSpc>
              <a:spcBef>
                <a:spcPts val="0"/>
              </a:spcBef>
              <a:spcAft>
                <a:spcPts val="0"/>
              </a:spcAft>
              <a:buClr>
                <a:srgbClr val="000000"/>
              </a:buClr>
              <a:buSzPts val="1400"/>
              <a:buFont typeface="Noto Sans Symbols"/>
              <a:buNone/>
            </a:pPr>
            <a:r>
              <a:rPr lang="en-US" sz="1400">
                <a:solidFill>
                  <a:srgbClr val="000000"/>
                </a:solidFill>
                <a:latin typeface="Times New Roman"/>
                <a:ea typeface="Times New Roman"/>
                <a:cs typeface="Times New Roman"/>
                <a:sym typeface="Times New Roman"/>
              </a:rPr>
              <a:t>cylinder capacity</a:t>
            </a:r>
            <a:endParaRPr/>
          </a:p>
        </p:txBody>
      </p:sp>
      <p:sp>
        <p:nvSpPr>
          <p:cNvPr id="497" name="Google Shape;497;p36"/>
          <p:cNvSpPr/>
          <p:nvPr/>
        </p:nvSpPr>
        <p:spPr>
          <a:xfrm>
            <a:off x="5638800" y="4765501"/>
            <a:ext cx="2743200" cy="949499"/>
          </a:xfrm>
          <a:prstGeom prst="rect">
            <a:avLst/>
          </a:prstGeom>
          <a:solidFill>
            <a:srgbClr val="CCCC9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Noto Sans Symbols"/>
              <a:buNone/>
            </a:pPr>
            <a:r>
              <a:rPr lang="en-US" sz="1400" b="0" i="1" u="none" strike="noStrike" cap="none">
                <a:solidFill>
                  <a:srgbClr val="000000"/>
                </a:solidFill>
                <a:latin typeface="Times New Roman"/>
                <a:ea typeface="Times New Roman"/>
                <a:cs typeface="Times New Roman"/>
                <a:sym typeface="Times New Roman"/>
              </a:rPr>
              <a:t>Methods:</a:t>
            </a:r>
            <a:endParaRPr/>
          </a:p>
          <a:p>
            <a:pPr marL="0" marR="0" lvl="0" indent="0" algn="ctr" rtl="0">
              <a:lnSpc>
                <a:spcPct val="100000"/>
              </a:lnSpc>
              <a:spcBef>
                <a:spcPts val="0"/>
              </a:spcBef>
              <a:spcAft>
                <a:spcPts val="0"/>
              </a:spcAft>
              <a:buClr>
                <a:srgbClr val="000000"/>
              </a:buClr>
              <a:buSzPts val="1400"/>
              <a:buFont typeface="Noto Sans Symbols"/>
              <a:buNone/>
            </a:pPr>
            <a:r>
              <a:rPr lang="en-US" sz="1400" b="0" i="0" u="none" strike="noStrike" cap="none">
                <a:solidFill>
                  <a:srgbClr val="000000"/>
                </a:solidFill>
                <a:latin typeface="Times New Roman"/>
                <a:ea typeface="Times New Roman"/>
                <a:cs typeface="Times New Roman"/>
                <a:sym typeface="Times New Roman"/>
              </a:rPr>
              <a:t>move, </a:t>
            </a:r>
            <a:endParaRPr/>
          </a:p>
          <a:p>
            <a:pPr marL="0" marR="0" lvl="0" indent="0" algn="ctr" rtl="0">
              <a:lnSpc>
                <a:spcPct val="100000"/>
              </a:lnSpc>
              <a:spcBef>
                <a:spcPts val="0"/>
              </a:spcBef>
              <a:spcAft>
                <a:spcPts val="0"/>
              </a:spcAft>
              <a:buClr>
                <a:srgbClr val="000000"/>
              </a:buClr>
              <a:buSzPts val="1400"/>
              <a:buFont typeface="Noto Sans Symbols"/>
              <a:buNone/>
            </a:pPr>
            <a:r>
              <a:rPr lang="en-US" sz="1400">
                <a:solidFill>
                  <a:srgbClr val="000000"/>
                </a:solidFill>
                <a:latin typeface="Times New Roman"/>
                <a:ea typeface="Times New Roman"/>
                <a:cs typeface="Times New Roman"/>
                <a:sym typeface="Times New Roman"/>
              </a:rPr>
              <a:t>accelerate</a:t>
            </a:r>
            <a:endParaRPr/>
          </a:p>
        </p:txBody>
      </p:sp>
      <p:sp>
        <p:nvSpPr>
          <p:cNvPr id="498" name="Google Shape;498;p36"/>
          <p:cNvSpPr/>
          <p:nvPr/>
        </p:nvSpPr>
        <p:spPr>
          <a:xfrm>
            <a:off x="457200" y="2797829"/>
            <a:ext cx="4191000" cy="1774171"/>
          </a:xfrm>
          <a:prstGeom prst="rect">
            <a:avLst/>
          </a:prstGeom>
          <a:solidFill>
            <a:srgbClr val="B2A0C7"/>
          </a:solidFill>
          <a:ln w="9525" cap="flat" cmpd="sng">
            <a:solidFill>
              <a:srgbClr val="000000"/>
            </a:solidFill>
            <a:prstDash val="solid"/>
            <a:miter lim="800000"/>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Noto Sans Symbols"/>
              <a:buNone/>
            </a:pPr>
            <a:r>
              <a:rPr lang="en-US" sz="2400" b="1" i="1" u="none" strike="noStrike" cap="none">
                <a:solidFill>
                  <a:srgbClr val="000000"/>
                </a:solidFill>
                <a:latin typeface="Times New Roman"/>
                <a:ea typeface="Times New Roman"/>
                <a:cs typeface="Times New Roman"/>
                <a:sym typeface="Times New Roman"/>
              </a:rPr>
              <a:t>Encapsulation:</a:t>
            </a:r>
            <a:endParaRPr/>
          </a:p>
          <a:p>
            <a:pPr marL="0" marR="0" lvl="0" indent="0" algn="ctr" rtl="0">
              <a:lnSpc>
                <a:spcPct val="100000"/>
              </a:lnSpc>
              <a:spcBef>
                <a:spcPts val="0"/>
              </a:spcBef>
              <a:spcAft>
                <a:spcPts val="0"/>
              </a:spcAft>
              <a:buClr>
                <a:schemeClr val="dk1"/>
              </a:buClr>
              <a:buSzPts val="2400"/>
              <a:buFont typeface="Noto Sans Symbols"/>
              <a:buNone/>
            </a:pPr>
            <a:endParaRPr sz="2400" b="0" i="0" u="none" strike="noStrike" cap="none">
              <a:solidFill>
                <a:srgbClr val="000000"/>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2400"/>
              <a:buFont typeface="Noto Sans Symbols"/>
              <a:buNone/>
            </a:pPr>
            <a:r>
              <a:rPr lang="en-US" sz="2400" b="0" i="0" u="none" strike="noStrike" cap="none">
                <a:solidFill>
                  <a:srgbClr val="000000"/>
                </a:solidFill>
                <a:latin typeface="Times New Roman"/>
                <a:ea typeface="Times New Roman"/>
                <a:cs typeface="Times New Roman"/>
                <a:sym typeface="Times New Roman"/>
              </a:rPr>
              <a:t>Attributes/data </a:t>
            </a:r>
            <a:endParaRPr/>
          </a:p>
          <a:p>
            <a:pPr marL="0" marR="0" lvl="0" indent="0" algn="ctr" rtl="0">
              <a:lnSpc>
                <a:spcPct val="100000"/>
              </a:lnSpc>
              <a:spcBef>
                <a:spcPts val="0"/>
              </a:spcBef>
              <a:spcAft>
                <a:spcPts val="0"/>
              </a:spcAft>
              <a:buClr>
                <a:srgbClr val="000000"/>
              </a:buClr>
              <a:buSzPts val="2400"/>
              <a:buFont typeface="Noto Sans Symbols"/>
              <a:buNone/>
            </a:pPr>
            <a:r>
              <a:rPr lang="en-US" sz="2400" b="0" i="0" u="none" strike="noStrike" cap="none">
                <a:solidFill>
                  <a:srgbClr val="000000"/>
                </a:solidFill>
                <a:latin typeface="Times New Roman"/>
                <a:ea typeface="Times New Roman"/>
                <a:cs typeface="Times New Roman"/>
                <a:sym typeface="Times New Roman"/>
              </a:rPr>
              <a:t>+ </a:t>
            </a:r>
            <a:endParaRPr/>
          </a:p>
          <a:p>
            <a:pPr marL="0" marR="0" lvl="0" indent="0" algn="ctr" rtl="0">
              <a:lnSpc>
                <a:spcPct val="100000"/>
              </a:lnSpc>
              <a:spcBef>
                <a:spcPts val="0"/>
              </a:spcBef>
              <a:spcAft>
                <a:spcPts val="0"/>
              </a:spcAft>
              <a:buClr>
                <a:srgbClr val="000000"/>
              </a:buClr>
              <a:buSzPts val="2400"/>
              <a:buFont typeface="Noto Sans Symbols"/>
              <a:buNone/>
            </a:pPr>
            <a:r>
              <a:rPr lang="en-US" sz="2400" b="0" i="0" u="none" strike="noStrike" cap="none">
                <a:solidFill>
                  <a:srgbClr val="000000"/>
                </a:solidFill>
                <a:latin typeface="Times New Roman"/>
                <a:ea typeface="Times New Roman"/>
                <a:cs typeface="Times New Roman"/>
                <a:sym typeface="Times New Roman"/>
              </a:rPr>
              <a:t>Methods/functions = Class</a:t>
            </a:r>
            <a:endParaRPr/>
          </a:p>
        </p:txBody>
      </p:sp>
      <p:sp>
        <p:nvSpPr>
          <p:cNvPr id="499" name="Google Shape;499;p36"/>
          <p:cNvSpPr txBox="1"/>
          <p:nvPr/>
        </p:nvSpPr>
        <p:spPr>
          <a:xfrm>
            <a:off x="5257800" y="2690336"/>
            <a:ext cx="32004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1400"/>
              <a:buFont typeface="Noto Sans Symbols"/>
              <a:buNone/>
            </a:pPr>
            <a:r>
              <a:rPr lang="en-US" sz="1400" b="1">
                <a:solidFill>
                  <a:srgbClr val="000000"/>
                </a:solidFill>
                <a:latin typeface="Times New Roman"/>
                <a:ea typeface="Times New Roman"/>
                <a:cs typeface="Times New Roman"/>
                <a:sym typeface="Times New Roman"/>
              </a:rPr>
              <a:t>Example: </a:t>
            </a:r>
            <a:endParaRPr/>
          </a:p>
          <a:p>
            <a:pPr marL="0" marR="0" lvl="0" indent="0" algn="l" rtl="0">
              <a:spcBef>
                <a:spcPts val="0"/>
              </a:spcBef>
              <a:spcAft>
                <a:spcPts val="0"/>
              </a:spcAft>
              <a:buClr>
                <a:srgbClr val="000000"/>
              </a:buClr>
              <a:buSzPts val="1400"/>
              <a:buFont typeface="Noto Sans Symbols"/>
              <a:buNone/>
            </a:pPr>
            <a:r>
              <a:rPr lang="en-US" sz="1400">
                <a:solidFill>
                  <a:srgbClr val="000000"/>
                </a:solidFill>
                <a:latin typeface="Times New Roman"/>
                <a:ea typeface="Times New Roman"/>
                <a:cs typeface="Times New Roman"/>
                <a:sym typeface="Times New Roman"/>
              </a:rPr>
              <a:t>a car has attributes and methods below. </a:t>
            </a:r>
            <a:endParaRPr sz="1400" b="1">
              <a:solidFill>
                <a:srgbClr val="000000"/>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37"/>
          <p:cNvSpPr txBox="1">
            <a:spLocks noGrp="1"/>
          </p:cNvSpPr>
          <p:nvPr>
            <p:ph type="title"/>
          </p:nvPr>
        </p:nvSpPr>
        <p:spPr>
          <a:xfrm>
            <a:off x="1447800" y="-1524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3200"/>
              <a:t>OOP Principles:  Data Hiding</a:t>
            </a:r>
            <a:endParaRPr/>
          </a:p>
        </p:txBody>
      </p:sp>
      <p:sp>
        <p:nvSpPr>
          <p:cNvPr id="505" name="Google Shape;505;p37"/>
          <p:cNvSpPr>
            <a:spLocks noGrp="1"/>
          </p:cNvSpPr>
          <p:nvPr>
            <p:ph type="body" idx="1"/>
          </p:nvPr>
        </p:nvSpPr>
        <p:spPr>
          <a:xfrm>
            <a:off x="457200" y="914400"/>
            <a:ext cx="8229600" cy="914400"/>
          </a:xfrm>
          <a:prstGeom prst="roundRect">
            <a:avLst>
              <a:gd name="adj" fmla="val 16667"/>
            </a:avLst>
          </a:prstGeom>
          <a:solidFill>
            <a:schemeClr val="accent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000"/>
              <a:buFont typeface="Noto Sans Symbols"/>
              <a:buChar char="🏵"/>
            </a:pPr>
            <a:r>
              <a:rPr lang="en-US" sz="2000" b="1">
                <a:solidFill>
                  <a:srgbClr val="FFFF00"/>
                </a:solidFill>
              </a:rPr>
              <a:t>Data hiding</a:t>
            </a:r>
            <a:r>
              <a:rPr lang="en-US" sz="2000">
                <a:solidFill>
                  <a:schemeClr val="dk1"/>
                </a:solidFill>
              </a:rPr>
              <a:t> </a:t>
            </a:r>
            <a:r>
              <a:rPr lang="en-US" sz="2000"/>
              <a:t>ensures methods </a:t>
            </a:r>
            <a:r>
              <a:rPr lang="en-US" sz="2000" b="1">
                <a:solidFill>
                  <a:srgbClr val="FFFF00"/>
                </a:solidFill>
              </a:rPr>
              <a:t>should not directly access</a:t>
            </a:r>
            <a:r>
              <a:rPr lang="en-US" sz="2000"/>
              <a:t> instance attributes in a class other than their own.</a:t>
            </a:r>
            <a:endParaRPr sz="2000"/>
          </a:p>
        </p:txBody>
      </p:sp>
      <p:sp>
        <p:nvSpPr>
          <p:cNvPr id="506" name="Google Shape;506;p37"/>
          <p:cNvSpPr/>
          <p:nvPr/>
        </p:nvSpPr>
        <p:spPr>
          <a:xfrm>
            <a:off x="415184" y="1983211"/>
            <a:ext cx="8229600" cy="762000"/>
          </a:xfrm>
          <a:prstGeom prst="roundRect">
            <a:avLst>
              <a:gd name="adj" fmla="val 16667"/>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marR="0" lvl="0" indent="-342900" algn="l" rtl="0">
              <a:spcBef>
                <a:spcPts val="0"/>
              </a:spcBef>
              <a:spcAft>
                <a:spcPts val="0"/>
              </a:spcAft>
              <a:buClr>
                <a:schemeClr val="lt1"/>
              </a:buClr>
              <a:buSzPts val="2000"/>
              <a:buFont typeface="Noto Sans Symbols"/>
              <a:buChar char="🏵"/>
            </a:pPr>
            <a:r>
              <a:rPr lang="en-US" sz="2000">
                <a:solidFill>
                  <a:schemeClr val="lt1"/>
                </a:solidFill>
                <a:latin typeface="Calibri"/>
                <a:ea typeface="Calibri"/>
                <a:cs typeface="Calibri"/>
                <a:sym typeface="Calibri"/>
              </a:rPr>
              <a:t>Programs should interact with object attributes only through the object's methods.</a:t>
            </a:r>
            <a:endParaRPr sz="2000">
              <a:solidFill>
                <a:schemeClr val="lt1"/>
              </a:solidFill>
              <a:latin typeface="Calibri"/>
              <a:ea typeface="Calibri"/>
              <a:cs typeface="Calibri"/>
              <a:sym typeface="Calibri"/>
            </a:endParaRPr>
          </a:p>
        </p:txBody>
      </p:sp>
      <p:sp>
        <p:nvSpPr>
          <p:cNvPr id="507" name="Google Shape;507;p37"/>
          <p:cNvSpPr/>
          <p:nvPr/>
        </p:nvSpPr>
        <p:spPr>
          <a:xfrm>
            <a:off x="415184" y="3045990"/>
            <a:ext cx="8229600" cy="2133600"/>
          </a:xfrm>
          <a:prstGeom prst="roundRect">
            <a:avLst>
              <a:gd name="adj" fmla="val 16667"/>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marR="0" lvl="0" indent="-342900" algn="l" rtl="0">
              <a:spcBef>
                <a:spcPts val="0"/>
              </a:spcBef>
              <a:spcAft>
                <a:spcPts val="0"/>
              </a:spcAft>
              <a:buClr>
                <a:schemeClr val="lt1"/>
              </a:buClr>
              <a:buSzPts val="2000"/>
              <a:buFont typeface="Noto Sans Symbols"/>
              <a:buChar char="🏵"/>
            </a:pPr>
            <a:r>
              <a:rPr lang="en-US" sz="2000">
                <a:solidFill>
                  <a:schemeClr val="lt1"/>
                </a:solidFill>
                <a:latin typeface="Calibri"/>
                <a:ea typeface="Calibri"/>
                <a:cs typeface="Calibri"/>
                <a:sym typeface="Calibri"/>
              </a:rPr>
              <a:t>Data hiding is important for several reasons.</a:t>
            </a:r>
            <a:endParaRPr/>
          </a:p>
          <a:p>
            <a:pPr marL="742950" marR="0" lvl="1" indent="-285750" algn="l" rtl="0">
              <a:spcBef>
                <a:spcPts val="360"/>
              </a:spcBef>
              <a:spcAft>
                <a:spcPts val="0"/>
              </a:spcAft>
              <a:buClr>
                <a:schemeClr val="lt1"/>
              </a:buClr>
              <a:buSzPts val="1800"/>
              <a:buFont typeface="Noto Sans Symbols"/>
              <a:buChar char="◆"/>
            </a:pPr>
            <a:r>
              <a:rPr lang="en-US" sz="1800" b="0" i="0" u="none" strike="noStrike" cap="none">
                <a:solidFill>
                  <a:schemeClr val="lt1"/>
                </a:solidFill>
                <a:latin typeface="Calibri"/>
                <a:ea typeface="Calibri"/>
                <a:cs typeface="Calibri"/>
                <a:sym typeface="Calibri"/>
              </a:rPr>
              <a:t>It protects attributes from accidental corruption by outside objects.</a:t>
            </a:r>
            <a:endParaRPr/>
          </a:p>
          <a:p>
            <a:pPr marL="742950" marR="0" lvl="1" indent="-285750" algn="l" rtl="0">
              <a:spcBef>
                <a:spcPts val="360"/>
              </a:spcBef>
              <a:spcAft>
                <a:spcPts val="0"/>
              </a:spcAft>
              <a:buClr>
                <a:schemeClr val="lt1"/>
              </a:buClr>
              <a:buSzPts val="1800"/>
              <a:buFont typeface="Noto Sans Symbols"/>
              <a:buChar char="◆"/>
            </a:pPr>
            <a:r>
              <a:rPr lang="en-US" sz="1800" b="0" i="0" u="none" strike="noStrike" cap="none">
                <a:solidFill>
                  <a:schemeClr val="lt1"/>
                </a:solidFill>
                <a:latin typeface="Calibri"/>
                <a:ea typeface="Calibri"/>
                <a:cs typeface="Calibri"/>
                <a:sym typeface="Calibri"/>
              </a:rPr>
              <a:t>It hides the details of how an object works, so the programmer can concentrate on using it.</a:t>
            </a:r>
            <a:endParaRPr/>
          </a:p>
          <a:p>
            <a:pPr marL="742950" marR="0" lvl="1" indent="-285750" algn="l" rtl="0">
              <a:spcBef>
                <a:spcPts val="360"/>
              </a:spcBef>
              <a:spcAft>
                <a:spcPts val="0"/>
              </a:spcAft>
              <a:buClr>
                <a:schemeClr val="lt1"/>
              </a:buClr>
              <a:buSzPts val="1800"/>
              <a:buFont typeface="Noto Sans Symbols"/>
              <a:buChar char="◆"/>
            </a:pPr>
            <a:r>
              <a:rPr lang="en-US" sz="1800" b="0" i="0" u="none" strike="noStrike" cap="none">
                <a:solidFill>
                  <a:schemeClr val="lt1"/>
                </a:solidFill>
                <a:latin typeface="Calibri"/>
                <a:ea typeface="Calibri"/>
                <a:cs typeface="Calibri"/>
                <a:sym typeface="Calibri"/>
              </a:rPr>
              <a:t>It allows the maintainer of the object to have the ability to modify the internal functioning of the object without “breaking” someone else's code.</a:t>
            </a:r>
            <a:endParaRPr/>
          </a:p>
          <a:p>
            <a:pPr marL="342900" marR="0" lvl="0" indent="-215900" algn="l" rtl="0">
              <a:spcBef>
                <a:spcPts val="400"/>
              </a:spcBef>
              <a:spcAft>
                <a:spcPts val="0"/>
              </a:spcAft>
              <a:buClr>
                <a:schemeClr val="lt1"/>
              </a:buClr>
              <a:buSzPts val="2000"/>
              <a:buFont typeface="Noto Sans Symbols"/>
              <a:buNone/>
            </a:pPr>
            <a:endParaRPr sz="2000">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38"/>
          <p:cNvSpPr txBox="1">
            <a:spLocks noGrp="1"/>
          </p:cNvSpPr>
          <p:nvPr>
            <p:ph type="title"/>
          </p:nvPr>
        </p:nvSpPr>
        <p:spPr>
          <a:xfrm>
            <a:off x="533400" y="-762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a:t>OOP Principles: Associations</a:t>
            </a:r>
            <a:endParaRPr/>
          </a:p>
        </p:txBody>
      </p:sp>
      <p:sp>
        <p:nvSpPr>
          <p:cNvPr id="513" name="Google Shape;513;p38"/>
          <p:cNvSpPr>
            <a:spLocks noGrp="1"/>
          </p:cNvSpPr>
          <p:nvPr>
            <p:ph type="body" idx="1"/>
          </p:nvPr>
        </p:nvSpPr>
        <p:spPr>
          <a:xfrm>
            <a:off x="457200" y="914400"/>
            <a:ext cx="8229600" cy="641623"/>
          </a:xfrm>
          <a:prstGeom prst="roundRect">
            <a:avLst>
              <a:gd name="adj" fmla="val 16667"/>
            </a:avLst>
          </a:prstGeom>
          <a:solidFill>
            <a:schemeClr val="accent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000"/>
              <a:buFont typeface="Noto Sans Symbols"/>
              <a:buChar char="🏵"/>
            </a:pPr>
            <a:r>
              <a:rPr lang="en-US" sz="2000" b="1">
                <a:solidFill>
                  <a:srgbClr val="FFFF00"/>
                </a:solidFill>
              </a:rPr>
              <a:t>Association</a:t>
            </a:r>
            <a:r>
              <a:rPr lang="en-US" sz="2000"/>
              <a:t>: </a:t>
            </a:r>
            <a:r>
              <a:rPr lang="en-US" sz="2000">
                <a:solidFill>
                  <a:srgbClr val="FFFF00"/>
                </a:solidFill>
              </a:rPr>
              <a:t>relates</a:t>
            </a:r>
            <a:r>
              <a:rPr lang="en-US" sz="2000"/>
              <a:t> classes to each other through their objects.</a:t>
            </a:r>
            <a:endParaRPr sz="2000"/>
          </a:p>
        </p:txBody>
      </p:sp>
      <p:sp>
        <p:nvSpPr>
          <p:cNvPr id="514" name="Google Shape;514;p38"/>
          <p:cNvSpPr txBox="1"/>
          <p:nvPr/>
        </p:nvSpPr>
        <p:spPr>
          <a:xfrm>
            <a:off x="1447800" y="2770571"/>
            <a:ext cx="2063385"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Noto Sans Symbols"/>
              <a:buNone/>
            </a:pPr>
            <a:r>
              <a:rPr lang="en-US" sz="1200" b="0" i="0" u="none" strike="noStrike" cap="none">
                <a:solidFill>
                  <a:srgbClr val="000000"/>
                </a:solidFill>
                <a:latin typeface="Times New Roman"/>
                <a:ea typeface="Times New Roman"/>
                <a:cs typeface="Times New Roman"/>
                <a:sym typeface="Times New Roman"/>
              </a:rPr>
              <a:t>A person can own several cars</a:t>
            </a:r>
            <a:endParaRPr/>
          </a:p>
        </p:txBody>
      </p:sp>
      <p:sp>
        <p:nvSpPr>
          <p:cNvPr id="515" name="Google Shape;515;p38"/>
          <p:cNvSpPr txBox="1"/>
          <p:nvPr/>
        </p:nvSpPr>
        <p:spPr>
          <a:xfrm>
            <a:off x="685800" y="2480816"/>
            <a:ext cx="9144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1400"/>
              <a:buFont typeface="Noto Sans Symbols"/>
              <a:buNone/>
            </a:pPr>
            <a:r>
              <a:rPr lang="en-US" sz="1400" b="1">
                <a:solidFill>
                  <a:srgbClr val="000000"/>
                </a:solidFill>
                <a:latin typeface="Times New Roman"/>
                <a:ea typeface="Times New Roman"/>
                <a:cs typeface="Times New Roman"/>
                <a:sym typeface="Times New Roman"/>
              </a:rPr>
              <a:t>Example:</a:t>
            </a:r>
            <a:endParaRPr/>
          </a:p>
        </p:txBody>
      </p:sp>
      <p:pic>
        <p:nvPicPr>
          <p:cNvPr id="516" name="Google Shape;516;p38"/>
          <p:cNvPicPr preferRelativeResize="0"/>
          <p:nvPr/>
        </p:nvPicPr>
        <p:blipFill rotWithShape="1">
          <a:blip r:embed="rId3">
            <a:alphaModFix/>
          </a:blip>
          <a:srcRect/>
          <a:stretch/>
        </p:blipFill>
        <p:spPr>
          <a:xfrm>
            <a:off x="4899474" y="3554338"/>
            <a:ext cx="1095804" cy="911992"/>
          </a:xfrm>
          <a:prstGeom prst="rect">
            <a:avLst/>
          </a:prstGeom>
          <a:noFill/>
          <a:ln>
            <a:noFill/>
          </a:ln>
        </p:spPr>
      </p:pic>
      <p:sp>
        <p:nvSpPr>
          <p:cNvPr id="517" name="Google Shape;517;p38"/>
          <p:cNvSpPr/>
          <p:nvPr/>
        </p:nvSpPr>
        <p:spPr>
          <a:xfrm>
            <a:off x="457200" y="1687654"/>
            <a:ext cx="8229600" cy="641623"/>
          </a:xfrm>
          <a:prstGeom prst="roundRect">
            <a:avLst>
              <a:gd name="adj" fmla="val 16667"/>
            </a:avLst>
          </a:prstGeom>
          <a:solidFill>
            <a:srgbClr val="76923C"/>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marR="0" lvl="0" indent="-342900" algn="l" rtl="0">
              <a:spcBef>
                <a:spcPts val="0"/>
              </a:spcBef>
              <a:spcAft>
                <a:spcPts val="0"/>
              </a:spcAft>
              <a:buClr>
                <a:schemeClr val="lt1"/>
              </a:buClr>
              <a:buSzPts val="2000"/>
              <a:buFont typeface="Noto Sans Symbols"/>
              <a:buChar char="🏵"/>
            </a:pPr>
            <a:r>
              <a:rPr lang="en-US" sz="2000">
                <a:solidFill>
                  <a:schemeClr val="lt1"/>
                </a:solidFill>
                <a:latin typeface="Calibri"/>
                <a:ea typeface="Calibri"/>
                <a:cs typeface="Calibri"/>
                <a:sym typeface="Calibri"/>
              </a:rPr>
              <a:t>Association can be, one to one, one to many, many to one, or many to many relationships.</a:t>
            </a:r>
            <a:endParaRPr sz="2000">
              <a:solidFill>
                <a:schemeClr val="lt1"/>
              </a:solidFill>
              <a:latin typeface="Calibri"/>
              <a:ea typeface="Calibri"/>
              <a:cs typeface="Calibri"/>
              <a:sym typeface="Calibri"/>
            </a:endParaRPr>
          </a:p>
        </p:txBody>
      </p:sp>
      <p:sp>
        <p:nvSpPr>
          <p:cNvPr id="518" name="Google Shape;518;p38"/>
          <p:cNvSpPr/>
          <p:nvPr/>
        </p:nvSpPr>
        <p:spPr>
          <a:xfrm>
            <a:off x="4746116" y="3307078"/>
            <a:ext cx="1349884" cy="1221646"/>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0" i="0" u="none" strike="noStrike" cap="none">
                <a:solidFill>
                  <a:srgbClr val="000000"/>
                </a:solidFill>
                <a:latin typeface="Times New Roman"/>
                <a:ea typeface="Times New Roman"/>
                <a:cs typeface="Times New Roman"/>
                <a:sym typeface="Times New Roman"/>
              </a:rPr>
              <a:t>Car</a:t>
            </a:r>
            <a:endParaRPr/>
          </a:p>
        </p:txBody>
      </p:sp>
      <p:sp>
        <p:nvSpPr>
          <p:cNvPr id="519" name="Google Shape;519;p38"/>
          <p:cNvSpPr/>
          <p:nvPr/>
        </p:nvSpPr>
        <p:spPr>
          <a:xfrm>
            <a:off x="1871410" y="3229738"/>
            <a:ext cx="1349884" cy="1376326"/>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0" i="0" u="none" strike="noStrike" cap="none">
                <a:solidFill>
                  <a:srgbClr val="000000"/>
                </a:solidFill>
                <a:latin typeface="Times New Roman"/>
                <a:ea typeface="Times New Roman"/>
                <a:cs typeface="Times New Roman"/>
                <a:sym typeface="Times New Roman"/>
              </a:rPr>
              <a:t>Person</a:t>
            </a:r>
            <a:endParaRPr/>
          </a:p>
        </p:txBody>
      </p:sp>
      <p:cxnSp>
        <p:nvCxnSpPr>
          <p:cNvPr id="520" name="Google Shape;520;p38"/>
          <p:cNvCxnSpPr>
            <a:stCxn id="519" idx="3"/>
            <a:endCxn id="518" idx="1"/>
          </p:cNvCxnSpPr>
          <p:nvPr/>
        </p:nvCxnSpPr>
        <p:spPr>
          <a:xfrm>
            <a:off x="3221294" y="3917901"/>
            <a:ext cx="1524900" cy="0"/>
          </a:xfrm>
          <a:prstGeom prst="straightConnector1">
            <a:avLst/>
          </a:prstGeom>
          <a:noFill/>
          <a:ln w="28575" cap="flat" cmpd="sng">
            <a:solidFill>
              <a:schemeClr val="dk1"/>
            </a:solidFill>
            <a:prstDash val="solid"/>
            <a:round/>
            <a:headEnd type="none" w="sm" len="sm"/>
            <a:tailEnd type="triangle" w="med" len="med"/>
          </a:ln>
        </p:spPr>
      </p:cxnSp>
      <p:sp>
        <p:nvSpPr>
          <p:cNvPr id="521" name="Google Shape;521;p38"/>
          <p:cNvSpPr/>
          <p:nvPr/>
        </p:nvSpPr>
        <p:spPr>
          <a:xfrm>
            <a:off x="4226138" y="3672839"/>
            <a:ext cx="495517" cy="228116"/>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a:solidFill>
                  <a:schemeClr val="dk1"/>
                </a:solidFill>
                <a:latin typeface="Calibri"/>
                <a:ea typeface="Calibri"/>
                <a:cs typeface="Calibri"/>
                <a:sym typeface="Calibri"/>
              </a:rPr>
              <a:t>0..*</a:t>
            </a:r>
            <a:endParaRPr/>
          </a:p>
        </p:txBody>
      </p:sp>
      <p:sp>
        <p:nvSpPr>
          <p:cNvPr id="522" name="Google Shape;522;p38"/>
          <p:cNvSpPr txBox="1"/>
          <p:nvPr/>
        </p:nvSpPr>
        <p:spPr>
          <a:xfrm>
            <a:off x="3529297" y="3590374"/>
            <a:ext cx="557014"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Noto Sans Symbols"/>
              <a:buNone/>
            </a:pPr>
            <a:r>
              <a:rPr lang="en-US" sz="1200" b="0" i="0" u="none" strike="noStrike" cap="none">
                <a:solidFill>
                  <a:srgbClr val="000000"/>
                </a:solidFill>
                <a:latin typeface="Times New Roman"/>
                <a:ea typeface="Times New Roman"/>
                <a:cs typeface="Times New Roman"/>
                <a:sym typeface="Times New Roman"/>
              </a:rPr>
              <a:t>owns</a:t>
            </a:r>
            <a:endParaRPr/>
          </a:p>
        </p:txBody>
      </p:sp>
      <p:pic>
        <p:nvPicPr>
          <p:cNvPr id="523" name="Google Shape;523;p38"/>
          <p:cNvPicPr preferRelativeResize="0"/>
          <p:nvPr/>
        </p:nvPicPr>
        <p:blipFill rotWithShape="1">
          <a:blip r:embed="rId4">
            <a:alphaModFix/>
          </a:blip>
          <a:srcRect/>
          <a:stretch/>
        </p:blipFill>
        <p:spPr>
          <a:xfrm>
            <a:off x="2375151" y="3577597"/>
            <a:ext cx="449305" cy="951128"/>
          </a:xfrm>
          <a:prstGeom prst="rect">
            <a:avLst/>
          </a:prstGeom>
          <a:noFill/>
          <a:ln>
            <a:noFill/>
          </a:ln>
        </p:spPr>
      </p:pic>
      <p:sp>
        <p:nvSpPr>
          <p:cNvPr id="524" name="Google Shape;524;p38"/>
          <p:cNvSpPr/>
          <p:nvPr/>
        </p:nvSpPr>
        <p:spPr>
          <a:xfrm>
            <a:off x="4650729" y="4876800"/>
            <a:ext cx="1349884" cy="1376326"/>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0" i="0" u="none" strike="noStrike" cap="none">
                <a:solidFill>
                  <a:srgbClr val="000000"/>
                </a:solidFill>
                <a:latin typeface="Times New Roman"/>
                <a:ea typeface="Times New Roman"/>
                <a:cs typeface="Times New Roman"/>
                <a:sym typeface="Times New Roman"/>
              </a:rPr>
              <a:t>Company</a:t>
            </a:r>
            <a:endParaRPr/>
          </a:p>
        </p:txBody>
      </p:sp>
      <p:pic>
        <p:nvPicPr>
          <p:cNvPr id="525" name="Google Shape;525;p38"/>
          <p:cNvPicPr preferRelativeResize="0"/>
          <p:nvPr/>
        </p:nvPicPr>
        <p:blipFill rotWithShape="1">
          <a:blip r:embed="rId5">
            <a:alphaModFix/>
          </a:blip>
          <a:srcRect/>
          <a:stretch/>
        </p:blipFill>
        <p:spPr>
          <a:xfrm>
            <a:off x="4900895" y="5282573"/>
            <a:ext cx="949640" cy="949640"/>
          </a:xfrm>
          <a:prstGeom prst="rect">
            <a:avLst/>
          </a:prstGeom>
          <a:noFill/>
          <a:ln>
            <a:noFill/>
          </a:ln>
        </p:spPr>
      </p:pic>
      <p:sp>
        <p:nvSpPr>
          <p:cNvPr id="526" name="Google Shape;526;p38"/>
          <p:cNvSpPr txBox="1"/>
          <p:nvPr/>
        </p:nvSpPr>
        <p:spPr>
          <a:xfrm>
            <a:off x="3418255" y="4687771"/>
            <a:ext cx="1240803"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Noto Sans Symbols"/>
              <a:buNone/>
            </a:pPr>
            <a:r>
              <a:rPr lang="en-US" sz="1200" b="0" i="0" u="none" strike="noStrike" cap="none">
                <a:solidFill>
                  <a:srgbClr val="000000"/>
                </a:solidFill>
                <a:latin typeface="Times New Roman"/>
                <a:ea typeface="Times New Roman"/>
                <a:cs typeface="Times New Roman"/>
                <a:sym typeface="Times New Roman"/>
              </a:rPr>
              <a:t>Works for</a:t>
            </a:r>
            <a:endParaRPr/>
          </a:p>
        </p:txBody>
      </p:sp>
      <p:cxnSp>
        <p:nvCxnSpPr>
          <p:cNvPr id="527" name="Google Shape;527;p38"/>
          <p:cNvCxnSpPr>
            <a:endCxn id="524" idx="1"/>
          </p:cNvCxnSpPr>
          <p:nvPr/>
        </p:nvCxnSpPr>
        <p:spPr>
          <a:xfrm>
            <a:off x="3221229" y="4190963"/>
            <a:ext cx="1429500" cy="1374000"/>
          </a:xfrm>
          <a:prstGeom prst="bentConnector3">
            <a:avLst>
              <a:gd name="adj1" fmla="val 50000"/>
            </a:avLst>
          </a:prstGeom>
          <a:noFill/>
          <a:ln w="28575" cap="flat" cmpd="sng">
            <a:solidFill>
              <a:schemeClr val="dk1"/>
            </a:solidFill>
            <a:prstDash val="solid"/>
            <a:round/>
            <a:headEnd type="none" w="sm" len="sm"/>
            <a:tailEnd type="triangle" w="med" len="med"/>
          </a:ln>
        </p:spPr>
      </p:cxnSp>
      <p:sp>
        <p:nvSpPr>
          <p:cNvPr id="528" name="Google Shape;528;p38"/>
          <p:cNvSpPr txBox="1"/>
          <p:nvPr/>
        </p:nvSpPr>
        <p:spPr>
          <a:xfrm>
            <a:off x="1701627" y="5793642"/>
            <a:ext cx="2087431"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Noto Sans Symbols"/>
              <a:buNone/>
            </a:pPr>
            <a:r>
              <a:rPr lang="en-US" sz="1200" b="0" i="0" u="none" strike="noStrike" cap="none">
                <a:solidFill>
                  <a:srgbClr val="000000"/>
                </a:solidFill>
                <a:latin typeface="Times New Roman"/>
                <a:ea typeface="Times New Roman"/>
                <a:cs typeface="Times New Roman"/>
                <a:sym typeface="Times New Roman"/>
              </a:rPr>
              <a:t>A person works for a company</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39"/>
          <p:cNvSpPr txBox="1">
            <a:spLocks noGrp="1"/>
          </p:cNvSpPr>
          <p:nvPr>
            <p:ph type="title"/>
          </p:nvPr>
        </p:nvSpPr>
        <p:spPr>
          <a:xfrm>
            <a:off x="533400" y="-762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a:t>OOP Principles: Inheritance</a:t>
            </a:r>
            <a:endParaRPr/>
          </a:p>
        </p:txBody>
      </p:sp>
      <p:sp>
        <p:nvSpPr>
          <p:cNvPr id="534" name="Google Shape;534;p39"/>
          <p:cNvSpPr>
            <a:spLocks noGrp="1"/>
          </p:cNvSpPr>
          <p:nvPr>
            <p:ph type="body" idx="1"/>
          </p:nvPr>
        </p:nvSpPr>
        <p:spPr>
          <a:xfrm>
            <a:off x="457200" y="914400"/>
            <a:ext cx="8229600" cy="1143000"/>
          </a:xfrm>
          <a:prstGeom prst="roundRect">
            <a:avLst>
              <a:gd name="adj" fmla="val 16667"/>
            </a:avLst>
          </a:prstGeom>
          <a:solidFill>
            <a:schemeClr val="accent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000"/>
              <a:buFont typeface="Noto Sans Symbols"/>
              <a:buChar char="🏵"/>
            </a:pPr>
            <a:r>
              <a:rPr lang="en-US" sz="2000"/>
              <a:t>Inheritance is the ability of one class to </a:t>
            </a:r>
            <a:r>
              <a:rPr lang="en-US" sz="2000" b="1">
                <a:solidFill>
                  <a:srgbClr val="FFFF00"/>
                </a:solidFill>
              </a:rPr>
              <a:t>extend</a:t>
            </a:r>
            <a:r>
              <a:rPr lang="en-US" sz="2000"/>
              <a:t> the capabilities of another.</a:t>
            </a:r>
            <a:endParaRPr/>
          </a:p>
          <a:p>
            <a:pPr marL="742950" lvl="1" indent="-285750" algn="l" rtl="0">
              <a:spcBef>
                <a:spcPts val="360"/>
              </a:spcBef>
              <a:spcAft>
                <a:spcPts val="0"/>
              </a:spcAft>
              <a:buClr>
                <a:schemeClr val="lt1"/>
              </a:buClr>
              <a:buSzPts val="1800"/>
              <a:buChar char="◆"/>
            </a:pPr>
            <a:r>
              <a:rPr lang="en-US" sz="1800"/>
              <a:t>it allows code defined in one class to be reused in other classes</a:t>
            </a:r>
            <a:endParaRPr/>
          </a:p>
        </p:txBody>
      </p:sp>
      <p:grpSp>
        <p:nvGrpSpPr>
          <p:cNvPr id="535" name="Google Shape;535;p39"/>
          <p:cNvGrpSpPr/>
          <p:nvPr/>
        </p:nvGrpSpPr>
        <p:grpSpPr>
          <a:xfrm>
            <a:off x="3445334" y="2649206"/>
            <a:ext cx="2843854" cy="732415"/>
            <a:chOff x="2208" y="1104"/>
            <a:chExt cx="2143" cy="609"/>
          </a:xfrm>
        </p:grpSpPr>
        <p:sp>
          <p:nvSpPr>
            <p:cNvPr id="536" name="Google Shape;536;p39"/>
            <p:cNvSpPr/>
            <p:nvPr/>
          </p:nvSpPr>
          <p:spPr>
            <a:xfrm>
              <a:off x="2208" y="1104"/>
              <a:ext cx="1194" cy="473"/>
            </a:xfrm>
            <a:prstGeom prst="rect">
              <a:avLst/>
            </a:prstGeom>
            <a:solidFill>
              <a:srgbClr val="CCCC9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0" i="0" u="none" strike="noStrike" cap="none">
                  <a:solidFill>
                    <a:srgbClr val="000000"/>
                  </a:solidFill>
                  <a:latin typeface="Times New Roman"/>
                  <a:ea typeface="Times New Roman"/>
                  <a:cs typeface="Times New Roman"/>
                  <a:sym typeface="Times New Roman"/>
                </a:rPr>
                <a:t>Vehicle</a:t>
              </a:r>
              <a:endParaRPr/>
            </a:p>
          </p:txBody>
        </p:sp>
        <p:sp>
          <p:nvSpPr>
            <p:cNvPr id="537" name="Google Shape;537;p39"/>
            <p:cNvSpPr txBox="1"/>
            <p:nvPr/>
          </p:nvSpPr>
          <p:spPr>
            <a:xfrm>
              <a:off x="3572" y="1329"/>
              <a:ext cx="779" cy="38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Noto Sans Symbols"/>
                <a:buNone/>
              </a:pPr>
              <a:r>
                <a:rPr lang="en-US" sz="1200" b="0" i="0" u="none" strike="noStrike" cap="none">
                  <a:solidFill>
                    <a:srgbClr val="000000"/>
                  </a:solidFill>
                  <a:latin typeface="Times New Roman"/>
                  <a:ea typeface="Times New Roman"/>
                  <a:cs typeface="Times New Roman"/>
                  <a:sym typeface="Times New Roman"/>
                </a:rPr>
                <a:t>Vehicle is the</a:t>
              </a:r>
              <a:endParaRPr/>
            </a:p>
            <a:p>
              <a:pPr marL="0" marR="0" lvl="0" indent="0" algn="l" rtl="0">
                <a:lnSpc>
                  <a:spcPct val="100000"/>
                </a:lnSpc>
                <a:spcBef>
                  <a:spcPts val="0"/>
                </a:spcBef>
                <a:spcAft>
                  <a:spcPts val="0"/>
                </a:spcAft>
                <a:buClr>
                  <a:srgbClr val="000000"/>
                </a:buClr>
                <a:buSzPts val="1200"/>
                <a:buFont typeface="Noto Sans Symbols"/>
                <a:buNone/>
              </a:pPr>
              <a:r>
                <a:rPr lang="en-US" sz="1200" b="0" i="0" u="none" strike="noStrike" cap="none">
                  <a:solidFill>
                    <a:srgbClr val="000000"/>
                  </a:solidFill>
                  <a:latin typeface="Times New Roman"/>
                  <a:ea typeface="Times New Roman"/>
                  <a:cs typeface="Times New Roman"/>
                  <a:sym typeface="Times New Roman"/>
                </a:rPr>
                <a:t>parent class.</a:t>
              </a:r>
              <a:endParaRPr/>
            </a:p>
          </p:txBody>
        </p:sp>
      </p:grpSp>
      <p:cxnSp>
        <p:nvCxnSpPr>
          <p:cNvPr id="538" name="Google Shape;538;p39"/>
          <p:cNvCxnSpPr/>
          <p:nvPr/>
        </p:nvCxnSpPr>
        <p:spPr>
          <a:xfrm>
            <a:off x="5316810" y="3604491"/>
            <a:ext cx="0" cy="461818"/>
          </a:xfrm>
          <a:prstGeom prst="straightConnector1">
            <a:avLst/>
          </a:prstGeom>
          <a:noFill/>
          <a:ln w="9525" cap="flat" cmpd="sng">
            <a:solidFill>
              <a:srgbClr val="000000"/>
            </a:solidFill>
            <a:prstDash val="solid"/>
            <a:round/>
            <a:headEnd type="none" w="med" len="med"/>
            <a:tailEnd type="none" w="med" len="med"/>
          </a:ln>
        </p:spPr>
      </p:cxnSp>
      <p:cxnSp>
        <p:nvCxnSpPr>
          <p:cNvPr id="539" name="Google Shape;539;p39"/>
          <p:cNvCxnSpPr/>
          <p:nvPr/>
        </p:nvCxnSpPr>
        <p:spPr>
          <a:xfrm rot="10800000">
            <a:off x="4233943" y="3200400"/>
            <a:ext cx="0" cy="404091"/>
          </a:xfrm>
          <a:prstGeom prst="straightConnector1">
            <a:avLst/>
          </a:prstGeom>
          <a:noFill/>
          <a:ln w="9525" cap="flat" cmpd="sng">
            <a:solidFill>
              <a:srgbClr val="000000"/>
            </a:solidFill>
            <a:prstDash val="solid"/>
            <a:round/>
            <a:headEnd type="none" w="sm" len="sm"/>
            <a:tailEnd type="none" w="sm" len="sm"/>
          </a:ln>
        </p:spPr>
      </p:cxnSp>
      <p:cxnSp>
        <p:nvCxnSpPr>
          <p:cNvPr id="540" name="Google Shape;540;p39"/>
          <p:cNvCxnSpPr/>
          <p:nvPr/>
        </p:nvCxnSpPr>
        <p:spPr>
          <a:xfrm>
            <a:off x="3151075" y="3604491"/>
            <a:ext cx="2165736" cy="0"/>
          </a:xfrm>
          <a:prstGeom prst="straightConnector1">
            <a:avLst/>
          </a:prstGeom>
          <a:noFill/>
          <a:ln w="9525" cap="flat" cmpd="sng">
            <a:solidFill>
              <a:srgbClr val="000000"/>
            </a:solidFill>
            <a:prstDash val="solid"/>
            <a:round/>
            <a:headEnd type="none" w="med" len="med"/>
            <a:tailEnd type="none" w="med" len="med"/>
          </a:ln>
        </p:spPr>
      </p:cxnSp>
      <p:cxnSp>
        <p:nvCxnSpPr>
          <p:cNvPr id="541" name="Google Shape;541;p39"/>
          <p:cNvCxnSpPr/>
          <p:nvPr/>
        </p:nvCxnSpPr>
        <p:spPr>
          <a:xfrm>
            <a:off x="3151075" y="3604491"/>
            <a:ext cx="0" cy="461818"/>
          </a:xfrm>
          <a:prstGeom prst="straightConnector1">
            <a:avLst/>
          </a:prstGeom>
          <a:noFill/>
          <a:ln w="9525" cap="flat" cmpd="sng">
            <a:solidFill>
              <a:srgbClr val="000000"/>
            </a:solidFill>
            <a:prstDash val="solid"/>
            <a:round/>
            <a:headEnd type="none" w="med" len="med"/>
            <a:tailEnd type="none" w="med" len="med"/>
          </a:ln>
        </p:spPr>
      </p:cxnSp>
      <p:sp>
        <p:nvSpPr>
          <p:cNvPr id="542" name="Google Shape;542;p39"/>
          <p:cNvSpPr txBox="1"/>
          <p:nvPr/>
        </p:nvSpPr>
        <p:spPr>
          <a:xfrm>
            <a:off x="3444352" y="3586451"/>
            <a:ext cx="1681365" cy="33914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Noto Sans Symbols"/>
              <a:buNone/>
            </a:pPr>
            <a:r>
              <a:rPr lang="en-US" sz="1600" b="0" i="0" u="none" strike="noStrike" cap="none">
                <a:solidFill>
                  <a:srgbClr val="000000"/>
                </a:solidFill>
                <a:latin typeface="Times New Roman"/>
                <a:ea typeface="Times New Roman"/>
                <a:cs typeface="Times New Roman"/>
                <a:sym typeface="Times New Roman"/>
              </a:rPr>
              <a:t>“is-a” relationship</a:t>
            </a:r>
            <a:endParaRPr/>
          </a:p>
        </p:txBody>
      </p:sp>
      <p:sp>
        <p:nvSpPr>
          <p:cNvPr id="543" name="Google Shape;543;p39"/>
          <p:cNvSpPr txBox="1"/>
          <p:nvPr/>
        </p:nvSpPr>
        <p:spPr>
          <a:xfrm>
            <a:off x="7044583" y="4140873"/>
            <a:ext cx="1303157" cy="6458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Noto Sans Symbols"/>
              <a:buNone/>
            </a:pPr>
            <a:r>
              <a:rPr lang="en-US" sz="1200" b="0" i="0" u="none" strike="noStrike" cap="none">
                <a:solidFill>
                  <a:srgbClr val="000000"/>
                </a:solidFill>
                <a:latin typeface="Times New Roman"/>
                <a:ea typeface="Times New Roman"/>
                <a:cs typeface="Times New Roman"/>
                <a:sym typeface="Times New Roman"/>
              </a:rPr>
              <a:t>Car and Truck are</a:t>
            </a:r>
            <a:endParaRPr/>
          </a:p>
          <a:p>
            <a:pPr marL="0" marR="0" lvl="0" indent="0" algn="l" rtl="0">
              <a:lnSpc>
                <a:spcPct val="100000"/>
              </a:lnSpc>
              <a:spcBef>
                <a:spcPts val="0"/>
              </a:spcBef>
              <a:spcAft>
                <a:spcPts val="0"/>
              </a:spcAft>
              <a:buClr>
                <a:srgbClr val="000000"/>
              </a:buClr>
              <a:buSzPts val="1200"/>
              <a:buFont typeface="Noto Sans Symbols"/>
              <a:buNone/>
            </a:pPr>
            <a:r>
              <a:rPr lang="en-US" sz="1200" b="0" i="0" u="none" strike="noStrike" cap="none">
                <a:solidFill>
                  <a:srgbClr val="000000"/>
                </a:solidFill>
                <a:latin typeface="Times New Roman"/>
                <a:ea typeface="Times New Roman"/>
                <a:cs typeface="Times New Roman"/>
                <a:sym typeface="Times New Roman"/>
              </a:rPr>
              <a:t>child classes of</a:t>
            </a:r>
            <a:endParaRPr/>
          </a:p>
          <a:p>
            <a:pPr marL="0" marR="0" lvl="0" indent="0" algn="l" rtl="0">
              <a:lnSpc>
                <a:spcPct val="100000"/>
              </a:lnSpc>
              <a:spcBef>
                <a:spcPts val="0"/>
              </a:spcBef>
              <a:spcAft>
                <a:spcPts val="0"/>
              </a:spcAft>
              <a:buClr>
                <a:srgbClr val="000000"/>
              </a:buClr>
              <a:buSzPts val="1200"/>
              <a:buFont typeface="Noto Sans Symbols"/>
              <a:buNone/>
            </a:pPr>
            <a:r>
              <a:rPr lang="en-US" sz="1200" b="0" i="0" u="none" strike="noStrike" cap="none">
                <a:solidFill>
                  <a:srgbClr val="000000"/>
                </a:solidFill>
                <a:latin typeface="Times New Roman"/>
                <a:ea typeface="Times New Roman"/>
                <a:cs typeface="Times New Roman"/>
                <a:sym typeface="Times New Roman"/>
              </a:rPr>
              <a:t>Vehicle.</a:t>
            </a:r>
            <a:endParaRPr/>
          </a:p>
        </p:txBody>
      </p:sp>
      <p:sp>
        <p:nvSpPr>
          <p:cNvPr id="544" name="Google Shape;544;p39"/>
          <p:cNvSpPr txBox="1"/>
          <p:nvPr/>
        </p:nvSpPr>
        <p:spPr>
          <a:xfrm>
            <a:off x="581918" y="4140873"/>
            <a:ext cx="1616339" cy="6458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Noto Sans Symbols"/>
              <a:buNone/>
            </a:pPr>
            <a:r>
              <a:rPr lang="en-US" sz="1200" b="0" i="0" u="none" strike="noStrike" cap="none">
                <a:solidFill>
                  <a:srgbClr val="000000"/>
                </a:solidFill>
                <a:latin typeface="Times New Roman"/>
                <a:ea typeface="Times New Roman"/>
                <a:cs typeface="Times New Roman"/>
                <a:sym typeface="Times New Roman"/>
              </a:rPr>
              <a:t>Car and Truck are</a:t>
            </a:r>
            <a:endParaRPr/>
          </a:p>
          <a:p>
            <a:pPr marL="0" marR="0" lvl="0" indent="0" algn="l" rtl="0">
              <a:lnSpc>
                <a:spcPct val="100000"/>
              </a:lnSpc>
              <a:spcBef>
                <a:spcPts val="0"/>
              </a:spcBef>
              <a:spcAft>
                <a:spcPts val="0"/>
              </a:spcAft>
              <a:buClr>
                <a:srgbClr val="000000"/>
              </a:buClr>
              <a:buSzPts val="1200"/>
              <a:buFont typeface="Noto Sans Symbols"/>
              <a:buNone/>
            </a:pPr>
            <a:r>
              <a:rPr lang="en-US" sz="1200" b="0" i="0" u="none" strike="noStrike" cap="none">
                <a:solidFill>
                  <a:srgbClr val="000000"/>
                </a:solidFill>
                <a:latin typeface="Times New Roman"/>
                <a:ea typeface="Times New Roman"/>
                <a:cs typeface="Times New Roman"/>
                <a:sym typeface="Times New Roman"/>
              </a:rPr>
              <a:t>Specialized versions of</a:t>
            </a:r>
            <a:endParaRPr/>
          </a:p>
          <a:p>
            <a:pPr marL="0" marR="0" lvl="0" indent="0" algn="l" rtl="0">
              <a:lnSpc>
                <a:spcPct val="100000"/>
              </a:lnSpc>
              <a:spcBef>
                <a:spcPts val="0"/>
              </a:spcBef>
              <a:spcAft>
                <a:spcPts val="0"/>
              </a:spcAft>
              <a:buClr>
                <a:srgbClr val="000000"/>
              </a:buClr>
              <a:buSzPts val="1200"/>
              <a:buFont typeface="Noto Sans Symbols"/>
              <a:buNone/>
            </a:pPr>
            <a:r>
              <a:rPr lang="en-US" sz="1200" b="0" i="0" u="none" strike="noStrike" cap="none">
                <a:solidFill>
                  <a:srgbClr val="000000"/>
                </a:solidFill>
                <a:latin typeface="Times New Roman"/>
                <a:ea typeface="Times New Roman"/>
                <a:cs typeface="Times New Roman"/>
                <a:sym typeface="Times New Roman"/>
              </a:rPr>
              <a:t>a Vehicle.</a:t>
            </a:r>
            <a:endParaRPr/>
          </a:p>
        </p:txBody>
      </p:sp>
      <p:sp>
        <p:nvSpPr>
          <p:cNvPr id="545" name="Google Shape;545;p39"/>
          <p:cNvSpPr txBox="1"/>
          <p:nvPr/>
        </p:nvSpPr>
        <p:spPr>
          <a:xfrm>
            <a:off x="752801" y="2697540"/>
            <a:ext cx="1916473" cy="95410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1400"/>
              <a:buFont typeface="Noto Sans Symbols"/>
              <a:buNone/>
            </a:pPr>
            <a:r>
              <a:rPr lang="en-US" sz="1400">
                <a:solidFill>
                  <a:srgbClr val="000000"/>
                </a:solidFill>
                <a:latin typeface="Times New Roman"/>
                <a:ea typeface="Times New Roman"/>
                <a:cs typeface="Times New Roman"/>
                <a:sym typeface="Times New Roman"/>
              </a:rPr>
              <a:t>Vehicle represents all</a:t>
            </a:r>
            <a:endParaRPr/>
          </a:p>
          <a:p>
            <a:pPr marL="0" marR="0" lvl="0" indent="0" algn="l" rtl="0">
              <a:spcBef>
                <a:spcPts val="0"/>
              </a:spcBef>
              <a:spcAft>
                <a:spcPts val="0"/>
              </a:spcAft>
              <a:buClr>
                <a:srgbClr val="000000"/>
              </a:buClr>
              <a:buSzPts val="1400"/>
              <a:buFont typeface="Noto Sans Symbols"/>
              <a:buNone/>
            </a:pPr>
            <a:r>
              <a:rPr lang="en-US" sz="1400">
                <a:solidFill>
                  <a:srgbClr val="000000"/>
                </a:solidFill>
                <a:latin typeface="Times New Roman"/>
                <a:ea typeface="Times New Roman"/>
                <a:cs typeface="Times New Roman"/>
                <a:sym typeface="Times New Roman"/>
              </a:rPr>
              <a:t>of the generic attributes</a:t>
            </a:r>
            <a:endParaRPr/>
          </a:p>
          <a:p>
            <a:pPr marL="0" marR="0" lvl="0" indent="0" algn="l" rtl="0">
              <a:spcBef>
                <a:spcPts val="0"/>
              </a:spcBef>
              <a:spcAft>
                <a:spcPts val="0"/>
              </a:spcAft>
              <a:buClr>
                <a:srgbClr val="000000"/>
              </a:buClr>
              <a:buSzPts val="1400"/>
              <a:buFont typeface="Noto Sans Symbols"/>
              <a:buNone/>
            </a:pPr>
            <a:r>
              <a:rPr lang="en-US" sz="1400">
                <a:solidFill>
                  <a:srgbClr val="000000"/>
                </a:solidFill>
                <a:latin typeface="Times New Roman"/>
                <a:ea typeface="Times New Roman"/>
                <a:cs typeface="Times New Roman"/>
                <a:sym typeface="Times New Roman"/>
              </a:rPr>
              <a:t>and methods of a vehicle.</a:t>
            </a:r>
            <a:endParaRPr/>
          </a:p>
        </p:txBody>
      </p:sp>
      <p:sp>
        <p:nvSpPr>
          <p:cNvPr id="546" name="Google Shape;546;p39"/>
          <p:cNvSpPr txBox="1"/>
          <p:nvPr/>
        </p:nvSpPr>
        <p:spPr>
          <a:xfrm>
            <a:off x="685801" y="2135284"/>
            <a:ext cx="9144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1400"/>
              <a:buFont typeface="Noto Sans Symbols"/>
              <a:buNone/>
            </a:pPr>
            <a:r>
              <a:rPr lang="en-US" sz="1400" b="1">
                <a:solidFill>
                  <a:srgbClr val="000000"/>
                </a:solidFill>
                <a:latin typeface="Times New Roman"/>
                <a:ea typeface="Times New Roman"/>
                <a:cs typeface="Times New Roman"/>
                <a:sym typeface="Times New Roman"/>
              </a:rPr>
              <a:t>Example:</a:t>
            </a:r>
            <a:endParaRPr/>
          </a:p>
        </p:txBody>
      </p:sp>
      <p:sp>
        <p:nvSpPr>
          <p:cNvPr id="547" name="Google Shape;547;p39"/>
          <p:cNvSpPr/>
          <p:nvPr/>
        </p:nvSpPr>
        <p:spPr>
          <a:xfrm>
            <a:off x="4157530" y="3222551"/>
            <a:ext cx="152400" cy="214644"/>
          </a:xfrm>
          <a:prstGeom prst="triangle">
            <a:avLst>
              <a:gd name="adj" fmla="val 50000"/>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548" name="Google Shape;548;p39"/>
          <p:cNvPicPr preferRelativeResize="0"/>
          <p:nvPr/>
        </p:nvPicPr>
        <p:blipFill rotWithShape="1">
          <a:blip r:embed="rId3">
            <a:alphaModFix/>
          </a:blip>
          <a:srcRect/>
          <a:stretch/>
        </p:blipFill>
        <p:spPr>
          <a:xfrm>
            <a:off x="2413254" y="4343400"/>
            <a:ext cx="1476375" cy="1228725"/>
          </a:xfrm>
          <a:prstGeom prst="rect">
            <a:avLst/>
          </a:prstGeom>
          <a:noFill/>
          <a:ln>
            <a:noFill/>
          </a:ln>
        </p:spPr>
      </p:pic>
      <p:sp>
        <p:nvSpPr>
          <p:cNvPr id="549" name="Google Shape;549;p39"/>
          <p:cNvSpPr/>
          <p:nvPr/>
        </p:nvSpPr>
        <p:spPr>
          <a:xfrm>
            <a:off x="2133600" y="4066308"/>
            <a:ext cx="2035684" cy="1496291"/>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0" i="0" u="none" strike="noStrike" cap="none">
                <a:solidFill>
                  <a:srgbClr val="000000"/>
                </a:solidFill>
                <a:latin typeface="Times New Roman"/>
                <a:ea typeface="Times New Roman"/>
                <a:cs typeface="Times New Roman"/>
                <a:sym typeface="Times New Roman"/>
              </a:rPr>
              <a:t>Car</a:t>
            </a:r>
            <a:endParaRPr/>
          </a:p>
        </p:txBody>
      </p:sp>
      <p:sp>
        <p:nvSpPr>
          <p:cNvPr id="550" name="Google Shape;550;p39"/>
          <p:cNvSpPr/>
          <p:nvPr/>
        </p:nvSpPr>
        <p:spPr>
          <a:xfrm>
            <a:off x="4754462" y="4073604"/>
            <a:ext cx="2035684" cy="1496291"/>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0" i="0" u="none" strike="noStrike" cap="none">
                <a:solidFill>
                  <a:srgbClr val="000000"/>
                </a:solidFill>
                <a:latin typeface="Times New Roman"/>
                <a:ea typeface="Times New Roman"/>
                <a:cs typeface="Times New Roman"/>
                <a:sym typeface="Times New Roman"/>
              </a:rPr>
              <a:t>Truck</a:t>
            </a:r>
            <a:endParaRPr/>
          </a:p>
        </p:txBody>
      </p:sp>
      <p:pic>
        <p:nvPicPr>
          <p:cNvPr id="551" name="Google Shape;551;p39" descr="Image result for truck icon"/>
          <p:cNvPicPr preferRelativeResize="0"/>
          <p:nvPr/>
        </p:nvPicPr>
        <p:blipFill rotWithShape="1">
          <a:blip r:embed="rId4">
            <a:alphaModFix/>
          </a:blip>
          <a:srcRect/>
          <a:stretch/>
        </p:blipFill>
        <p:spPr>
          <a:xfrm>
            <a:off x="4802413" y="4508338"/>
            <a:ext cx="1939782" cy="10199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40"/>
          <p:cNvSpPr txBox="1">
            <a:spLocks noGrp="1"/>
          </p:cNvSpPr>
          <p:nvPr>
            <p:ph type="title"/>
          </p:nvPr>
        </p:nvSpPr>
        <p:spPr>
          <a:xfrm>
            <a:off x="533400" y="-762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a:t>OOP Principles: Polymorphism</a:t>
            </a:r>
            <a:endParaRPr/>
          </a:p>
        </p:txBody>
      </p:sp>
      <p:sp>
        <p:nvSpPr>
          <p:cNvPr id="557" name="Google Shape;557;p40"/>
          <p:cNvSpPr>
            <a:spLocks noGrp="1"/>
          </p:cNvSpPr>
          <p:nvPr>
            <p:ph type="body" idx="1"/>
          </p:nvPr>
        </p:nvSpPr>
        <p:spPr>
          <a:xfrm>
            <a:off x="457200" y="914400"/>
            <a:ext cx="8229600" cy="1143000"/>
          </a:xfrm>
          <a:prstGeom prst="roundRect">
            <a:avLst>
              <a:gd name="adj" fmla="val 16667"/>
            </a:avLst>
          </a:prstGeom>
          <a:solidFill>
            <a:schemeClr val="accent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000"/>
              <a:buFont typeface="Noto Sans Symbols"/>
              <a:buChar char="🏵"/>
            </a:pPr>
            <a:r>
              <a:rPr lang="en-US" sz="2000"/>
              <a:t>Polymorphism is the ability of objects </a:t>
            </a:r>
            <a:r>
              <a:rPr lang="en-US" sz="2000" b="1">
                <a:solidFill>
                  <a:srgbClr val="FFFF00"/>
                </a:solidFill>
              </a:rPr>
              <a:t>performing the same actions</a:t>
            </a:r>
            <a:r>
              <a:rPr lang="en-US" sz="2000" b="1">
                <a:solidFill>
                  <a:schemeClr val="dk1"/>
                </a:solidFill>
              </a:rPr>
              <a:t> </a:t>
            </a:r>
            <a:r>
              <a:rPr lang="en-US" sz="2000" b="1">
                <a:solidFill>
                  <a:srgbClr val="FFFF00"/>
                </a:solidFill>
              </a:rPr>
              <a:t>differently</a:t>
            </a:r>
            <a:r>
              <a:rPr lang="en-US" sz="2000" b="1">
                <a:solidFill>
                  <a:schemeClr val="dk1"/>
                </a:solidFill>
              </a:rPr>
              <a:t>.</a:t>
            </a:r>
            <a:endParaRPr sz="2000"/>
          </a:p>
        </p:txBody>
      </p:sp>
      <p:pic>
        <p:nvPicPr>
          <p:cNvPr id="558" name="Google Shape;558;p40" descr="Image result for ant"/>
          <p:cNvPicPr preferRelativeResize="0"/>
          <p:nvPr/>
        </p:nvPicPr>
        <p:blipFill rotWithShape="1">
          <a:blip r:embed="rId3">
            <a:alphaModFix/>
          </a:blip>
          <a:srcRect/>
          <a:stretch/>
        </p:blipFill>
        <p:spPr>
          <a:xfrm>
            <a:off x="2452694" y="4577269"/>
            <a:ext cx="1371597" cy="760986"/>
          </a:xfrm>
          <a:prstGeom prst="rect">
            <a:avLst/>
          </a:prstGeom>
          <a:noFill/>
          <a:ln>
            <a:noFill/>
          </a:ln>
        </p:spPr>
      </p:pic>
      <p:sp>
        <p:nvSpPr>
          <p:cNvPr id="559" name="Google Shape;559;p40"/>
          <p:cNvSpPr/>
          <p:nvPr/>
        </p:nvSpPr>
        <p:spPr>
          <a:xfrm>
            <a:off x="3445334" y="2649206"/>
            <a:ext cx="1584490" cy="568854"/>
          </a:xfrm>
          <a:prstGeom prst="rect">
            <a:avLst/>
          </a:prstGeom>
          <a:solidFill>
            <a:srgbClr val="CCCC99"/>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0" i="0" u="none" strike="noStrike" cap="none">
                <a:solidFill>
                  <a:srgbClr val="000000"/>
                </a:solidFill>
                <a:latin typeface="Times New Roman"/>
                <a:ea typeface="Times New Roman"/>
                <a:cs typeface="Times New Roman"/>
                <a:sym typeface="Times New Roman"/>
              </a:rPr>
              <a:t>Insect</a:t>
            </a:r>
            <a:endParaRPr/>
          </a:p>
        </p:txBody>
      </p:sp>
      <p:cxnSp>
        <p:nvCxnSpPr>
          <p:cNvPr id="560" name="Google Shape;560;p40"/>
          <p:cNvCxnSpPr/>
          <p:nvPr/>
        </p:nvCxnSpPr>
        <p:spPr>
          <a:xfrm>
            <a:off x="5316810" y="3604491"/>
            <a:ext cx="0" cy="461818"/>
          </a:xfrm>
          <a:prstGeom prst="straightConnector1">
            <a:avLst/>
          </a:prstGeom>
          <a:noFill/>
          <a:ln w="9525" cap="flat" cmpd="sng">
            <a:solidFill>
              <a:srgbClr val="000000"/>
            </a:solidFill>
            <a:prstDash val="solid"/>
            <a:round/>
            <a:headEnd type="none" w="med" len="med"/>
            <a:tailEnd type="none" w="med" len="med"/>
          </a:ln>
        </p:spPr>
      </p:cxnSp>
      <p:cxnSp>
        <p:nvCxnSpPr>
          <p:cNvPr id="561" name="Google Shape;561;p40"/>
          <p:cNvCxnSpPr/>
          <p:nvPr/>
        </p:nvCxnSpPr>
        <p:spPr>
          <a:xfrm rot="10800000">
            <a:off x="4233943" y="3200400"/>
            <a:ext cx="0" cy="404091"/>
          </a:xfrm>
          <a:prstGeom prst="straightConnector1">
            <a:avLst/>
          </a:prstGeom>
          <a:noFill/>
          <a:ln w="9525" cap="flat" cmpd="sng">
            <a:solidFill>
              <a:srgbClr val="000000"/>
            </a:solidFill>
            <a:prstDash val="solid"/>
            <a:round/>
            <a:headEnd type="none" w="sm" len="sm"/>
            <a:tailEnd type="none" w="sm" len="sm"/>
          </a:ln>
        </p:spPr>
      </p:cxnSp>
      <p:cxnSp>
        <p:nvCxnSpPr>
          <p:cNvPr id="562" name="Google Shape;562;p40"/>
          <p:cNvCxnSpPr/>
          <p:nvPr/>
        </p:nvCxnSpPr>
        <p:spPr>
          <a:xfrm>
            <a:off x="3151075" y="3604491"/>
            <a:ext cx="2165736" cy="0"/>
          </a:xfrm>
          <a:prstGeom prst="straightConnector1">
            <a:avLst/>
          </a:prstGeom>
          <a:noFill/>
          <a:ln w="9525" cap="flat" cmpd="sng">
            <a:solidFill>
              <a:srgbClr val="000000"/>
            </a:solidFill>
            <a:prstDash val="solid"/>
            <a:round/>
            <a:headEnd type="none" w="med" len="med"/>
            <a:tailEnd type="none" w="med" len="med"/>
          </a:ln>
        </p:spPr>
      </p:cxnSp>
      <p:cxnSp>
        <p:nvCxnSpPr>
          <p:cNvPr id="563" name="Google Shape;563;p40"/>
          <p:cNvCxnSpPr/>
          <p:nvPr/>
        </p:nvCxnSpPr>
        <p:spPr>
          <a:xfrm>
            <a:off x="3151075" y="3604491"/>
            <a:ext cx="0" cy="461818"/>
          </a:xfrm>
          <a:prstGeom prst="straightConnector1">
            <a:avLst/>
          </a:prstGeom>
          <a:noFill/>
          <a:ln w="9525" cap="flat" cmpd="sng">
            <a:solidFill>
              <a:srgbClr val="000000"/>
            </a:solidFill>
            <a:prstDash val="solid"/>
            <a:round/>
            <a:headEnd type="none" w="med" len="med"/>
            <a:tailEnd type="none" w="med" len="med"/>
          </a:ln>
        </p:spPr>
      </p:cxnSp>
      <p:sp>
        <p:nvSpPr>
          <p:cNvPr id="564" name="Google Shape;564;p40"/>
          <p:cNvSpPr txBox="1"/>
          <p:nvPr/>
        </p:nvSpPr>
        <p:spPr>
          <a:xfrm>
            <a:off x="4678094" y="5666601"/>
            <a:ext cx="2188420"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Noto Sans Symbols"/>
              <a:buNone/>
            </a:pPr>
            <a:r>
              <a:rPr lang="en-US" sz="1200" b="0" i="0" u="none" strike="noStrike" cap="none">
                <a:solidFill>
                  <a:srgbClr val="000000"/>
                </a:solidFill>
                <a:latin typeface="Times New Roman"/>
                <a:ea typeface="Times New Roman"/>
                <a:cs typeface="Times New Roman"/>
                <a:sym typeface="Times New Roman"/>
              </a:rPr>
              <a:t>Grasshoppers </a:t>
            </a:r>
            <a:r>
              <a:rPr lang="en-US" sz="1200" b="1" i="0" u="sng" strike="noStrike" cap="none">
                <a:solidFill>
                  <a:srgbClr val="000000"/>
                </a:solidFill>
                <a:latin typeface="Times New Roman"/>
                <a:ea typeface="Times New Roman"/>
                <a:cs typeface="Times New Roman"/>
                <a:sym typeface="Times New Roman"/>
              </a:rPr>
              <a:t>move</a:t>
            </a:r>
            <a:r>
              <a:rPr lang="en-US" sz="1200" b="0" i="0" u="none" strike="noStrike" cap="none">
                <a:solidFill>
                  <a:srgbClr val="000000"/>
                </a:solidFill>
                <a:latin typeface="Times New Roman"/>
                <a:ea typeface="Times New Roman"/>
                <a:cs typeface="Times New Roman"/>
                <a:sym typeface="Times New Roman"/>
              </a:rPr>
              <a:t> by </a:t>
            </a:r>
            <a:r>
              <a:rPr lang="en-US" sz="1200" b="1" i="0" u="none" strike="noStrike" cap="none">
                <a:solidFill>
                  <a:srgbClr val="FF0000"/>
                </a:solidFill>
                <a:latin typeface="Times New Roman"/>
                <a:ea typeface="Times New Roman"/>
                <a:cs typeface="Times New Roman"/>
                <a:sym typeface="Times New Roman"/>
              </a:rPr>
              <a:t>jumping</a:t>
            </a:r>
            <a:endParaRPr/>
          </a:p>
        </p:txBody>
      </p:sp>
      <p:sp>
        <p:nvSpPr>
          <p:cNvPr id="565" name="Google Shape;565;p40"/>
          <p:cNvSpPr txBox="1"/>
          <p:nvPr/>
        </p:nvSpPr>
        <p:spPr>
          <a:xfrm>
            <a:off x="641964" y="2517626"/>
            <a:ext cx="2577770" cy="116955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1400"/>
              <a:buFont typeface="Noto Sans Symbols"/>
              <a:buNone/>
            </a:pPr>
            <a:r>
              <a:rPr lang="en-US" sz="1400">
                <a:solidFill>
                  <a:srgbClr val="000000"/>
                </a:solidFill>
                <a:latin typeface="Times New Roman"/>
                <a:ea typeface="Times New Roman"/>
                <a:cs typeface="Times New Roman"/>
                <a:sym typeface="Times New Roman"/>
              </a:rPr>
              <a:t>Insects have the ability to </a:t>
            </a:r>
            <a:r>
              <a:rPr lang="en-US" sz="1400" b="1" u="sng">
                <a:solidFill>
                  <a:srgbClr val="000000"/>
                </a:solidFill>
                <a:latin typeface="Times New Roman"/>
                <a:ea typeface="Times New Roman"/>
                <a:cs typeface="Times New Roman"/>
                <a:sym typeface="Times New Roman"/>
              </a:rPr>
              <a:t>move</a:t>
            </a:r>
            <a:r>
              <a:rPr lang="en-US" sz="1400" b="1">
                <a:solidFill>
                  <a:srgbClr val="000000"/>
                </a:solidFill>
                <a:latin typeface="Times New Roman"/>
                <a:ea typeface="Times New Roman"/>
                <a:cs typeface="Times New Roman"/>
                <a:sym typeface="Times New Roman"/>
              </a:rPr>
              <a:t> </a:t>
            </a:r>
            <a:r>
              <a:rPr lang="en-US" sz="1400">
                <a:solidFill>
                  <a:srgbClr val="000000"/>
                </a:solidFill>
                <a:latin typeface="Times New Roman"/>
                <a:ea typeface="Times New Roman"/>
                <a:cs typeface="Times New Roman"/>
                <a:sym typeface="Times New Roman"/>
              </a:rPr>
              <a:t>from one point to another.</a:t>
            </a:r>
            <a:endParaRPr/>
          </a:p>
          <a:p>
            <a:pPr marL="0" marR="0" lvl="0" indent="0" algn="l" rtl="0">
              <a:spcBef>
                <a:spcPts val="0"/>
              </a:spcBef>
              <a:spcAft>
                <a:spcPts val="0"/>
              </a:spcAft>
              <a:buClr>
                <a:schemeClr val="dk1"/>
              </a:buClr>
              <a:buSzPts val="1400"/>
              <a:buFont typeface="Noto Sans Symbols"/>
              <a:buNone/>
            </a:pPr>
            <a:endParaRPr sz="1400">
              <a:solidFill>
                <a:srgbClr val="000000"/>
              </a:solidFill>
              <a:latin typeface="Times New Roman"/>
              <a:ea typeface="Times New Roman"/>
              <a:cs typeface="Times New Roman"/>
              <a:sym typeface="Times New Roman"/>
            </a:endParaRPr>
          </a:p>
          <a:p>
            <a:pPr marL="0" marR="0" lvl="0" indent="0" algn="l" rtl="0">
              <a:spcBef>
                <a:spcPts val="0"/>
              </a:spcBef>
              <a:spcAft>
                <a:spcPts val="0"/>
              </a:spcAft>
              <a:buClr>
                <a:srgbClr val="000000"/>
              </a:buClr>
              <a:buSzPts val="1400"/>
              <a:buFont typeface="Noto Sans Symbols"/>
              <a:buNone/>
            </a:pPr>
            <a:r>
              <a:rPr lang="en-US" sz="1400">
                <a:solidFill>
                  <a:srgbClr val="000000"/>
                </a:solidFill>
                <a:latin typeface="Times New Roman"/>
                <a:ea typeface="Times New Roman"/>
                <a:cs typeface="Times New Roman"/>
                <a:sym typeface="Times New Roman"/>
              </a:rPr>
              <a:t>However, the way they perform their </a:t>
            </a:r>
            <a:r>
              <a:rPr lang="en-US" sz="1400" b="1">
                <a:solidFill>
                  <a:srgbClr val="000000"/>
                </a:solidFill>
                <a:latin typeface="Times New Roman"/>
                <a:ea typeface="Times New Roman"/>
                <a:cs typeface="Times New Roman"/>
                <a:sym typeface="Times New Roman"/>
              </a:rPr>
              <a:t>movement is different</a:t>
            </a:r>
            <a:endParaRPr/>
          </a:p>
        </p:txBody>
      </p:sp>
      <p:sp>
        <p:nvSpPr>
          <p:cNvPr id="566" name="Google Shape;566;p40"/>
          <p:cNvSpPr/>
          <p:nvPr/>
        </p:nvSpPr>
        <p:spPr>
          <a:xfrm>
            <a:off x="4157530" y="3222551"/>
            <a:ext cx="152400" cy="214644"/>
          </a:xfrm>
          <a:prstGeom prst="triangle">
            <a:avLst>
              <a:gd name="adj" fmla="val 50000"/>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7" name="Google Shape;567;p40"/>
          <p:cNvSpPr/>
          <p:nvPr/>
        </p:nvSpPr>
        <p:spPr>
          <a:xfrm>
            <a:off x="2133600" y="4066308"/>
            <a:ext cx="2035684" cy="1496291"/>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0" i="0" u="none" strike="noStrike" cap="none">
                <a:solidFill>
                  <a:srgbClr val="000000"/>
                </a:solidFill>
                <a:latin typeface="Times New Roman"/>
                <a:ea typeface="Times New Roman"/>
                <a:cs typeface="Times New Roman"/>
                <a:sym typeface="Times New Roman"/>
              </a:rPr>
              <a:t>Ant</a:t>
            </a:r>
            <a:endParaRPr/>
          </a:p>
        </p:txBody>
      </p:sp>
      <p:sp>
        <p:nvSpPr>
          <p:cNvPr id="568" name="Google Shape;568;p40"/>
          <p:cNvSpPr txBox="1"/>
          <p:nvPr/>
        </p:nvSpPr>
        <p:spPr>
          <a:xfrm>
            <a:off x="685801" y="2135284"/>
            <a:ext cx="9144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1400"/>
              <a:buFont typeface="Noto Sans Symbols"/>
              <a:buNone/>
            </a:pPr>
            <a:r>
              <a:rPr lang="en-US" sz="1400" b="1">
                <a:solidFill>
                  <a:srgbClr val="000000"/>
                </a:solidFill>
                <a:latin typeface="Times New Roman"/>
                <a:ea typeface="Times New Roman"/>
                <a:cs typeface="Times New Roman"/>
                <a:sym typeface="Times New Roman"/>
              </a:rPr>
              <a:t>Example:</a:t>
            </a:r>
            <a:endParaRPr/>
          </a:p>
        </p:txBody>
      </p:sp>
      <p:pic>
        <p:nvPicPr>
          <p:cNvPr id="569" name="Google Shape;569;p40"/>
          <p:cNvPicPr preferRelativeResize="0"/>
          <p:nvPr/>
        </p:nvPicPr>
        <p:blipFill rotWithShape="1">
          <a:blip r:embed="rId4">
            <a:alphaModFix/>
          </a:blip>
          <a:srcRect/>
          <a:stretch/>
        </p:blipFill>
        <p:spPr>
          <a:xfrm>
            <a:off x="5105400" y="4398604"/>
            <a:ext cx="1523376" cy="1118316"/>
          </a:xfrm>
          <a:prstGeom prst="rect">
            <a:avLst/>
          </a:prstGeom>
          <a:noFill/>
          <a:ln>
            <a:noFill/>
          </a:ln>
        </p:spPr>
      </p:pic>
      <p:sp>
        <p:nvSpPr>
          <p:cNvPr id="570" name="Google Shape;570;p40"/>
          <p:cNvSpPr/>
          <p:nvPr/>
        </p:nvSpPr>
        <p:spPr>
          <a:xfrm>
            <a:off x="4754462" y="4073604"/>
            <a:ext cx="2035684" cy="1496291"/>
          </a:xfrm>
          <a:prstGeom prst="rect">
            <a:avLst/>
          </a:prstGeom>
          <a:no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Noto Sans Symbols"/>
              <a:buNone/>
            </a:pPr>
            <a:r>
              <a:rPr lang="en-US" sz="2000" b="0" i="0" u="none" strike="noStrike" cap="none">
                <a:solidFill>
                  <a:srgbClr val="000000"/>
                </a:solidFill>
                <a:latin typeface="Times New Roman"/>
                <a:ea typeface="Times New Roman"/>
                <a:cs typeface="Times New Roman"/>
                <a:sym typeface="Times New Roman"/>
              </a:rPr>
              <a:t>Grasshopper</a:t>
            </a:r>
            <a:endParaRPr/>
          </a:p>
        </p:txBody>
      </p:sp>
      <p:sp>
        <p:nvSpPr>
          <p:cNvPr id="571" name="Google Shape;571;p40"/>
          <p:cNvSpPr txBox="1"/>
          <p:nvPr/>
        </p:nvSpPr>
        <p:spPr>
          <a:xfrm>
            <a:off x="1993651" y="5632997"/>
            <a:ext cx="1669047" cy="2769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Noto Sans Symbols"/>
              <a:buNone/>
            </a:pPr>
            <a:r>
              <a:rPr lang="en-US" sz="1200" b="0" i="0" u="none" strike="noStrike" cap="none">
                <a:solidFill>
                  <a:srgbClr val="000000"/>
                </a:solidFill>
                <a:latin typeface="Times New Roman"/>
                <a:ea typeface="Times New Roman"/>
                <a:cs typeface="Times New Roman"/>
                <a:sym typeface="Times New Roman"/>
              </a:rPr>
              <a:t>Ants </a:t>
            </a:r>
            <a:r>
              <a:rPr lang="en-US" sz="1200" b="1" i="0" u="sng" strike="noStrike" cap="none">
                <a:solidFill>
                  <a:srgbClr val="000000"/>
                </a:solidFill>
                <a:latin typeface="Times New Roman"/>
                <a:ea typeface="Times New Roman"/>
                <a:cs typeface="Times New Roman"/>
                <a:sym typeface="Times New Roman"/>
              </a:rPr>
              <a:t>move</a:t>
            </a:r>
            <a:r>
              <a:rPr lang="en-US" sz="1200" b="0" i="0" u="none" strike="noStrike" cap="none">
                <a:solidFill>
                  <a:srgbClr val="000000"/>
                </a:solidFill>
                <a:latin typeface="Times New Roman"/>
                <a:ea typeface="Times New Roman"/>
                <a:cs typeface="Times New Roman"/>
                <a:sym typeface="Times New Roman"/>
              </a:rPr>
              <a:t> by </a:t>
            </a:r>
            <a:r>
              <a:rPr lang="en-US" sz="1200" b="1" i="0" u="none" strike="noStrike" cap="none">
                <a:solidFill>
                  <a:srgbClr val="FF0000"/>
                </a:solidFill>
                <a:latin typeface="Times New Roman"/>
                <a:ea typeface="Times New Roman"/>
                <a:cs typeface="Times New Roman"/>
                <a:sym typeface="Times New Roman"/>
              </a:rPr>
              <a:t>crawling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Introduction to Associations</a:t>
            </a:r>
            <a:endParaRPr/>
          </a:p>
        </p:txBody>
      </p:sp>
      <p:sp>
        <p:nvSpPr>
          <p:cNvPr id="113" name="Google Shape;113;p3"/>
          <p:cNvSpPr>
            <a:spLocks noGrp="1"/>
          </p:cNvSpPr>
          <p:nvPr>
            <p:ph type="body" idx="1"/>
          </p:nvPr>
        </p:nvSpPr>
        <p:spPr>
          <a:xfrm>
            <a:off x="457200" y="1529154"/>
            <a:ext cx="8229600" cy="909246"/>
          </a:xfrm>
          <a:prstGeom prst="roundRect">
            <a:avLst>
              <a:gd name="adj" fmla="val 16667"/>
            </a:avLst>
          </a:prstGeom>
          <a:solidFill>
            <a:schemeClr val="accent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400"/>
              <a:buFont typeface="Noto Sans Symbols"/>
              <a:buChar char="🏵"/>
            </a:pPr>
            <a:r>
              <a:rPr lang="en-US" b="1">
                <a:solidFill>
                  <a:srgbClr val="FFFF00"/>
                </a:solidFill>
              </a:rPr>
              <a:t>Association</a:t>
            </a:r>
            <a:r>
              <a:rPr lang="en-US"/>
              <a:t>:</a:t>
            </a:r>
            <a:r>
              <a:rPr lang="en-US" b="1">
                <a:solidFill>
                  <a:srgbClr val="FFFF00"/>
                </a:solidFill>
              </a:rPr>
              <a:t> </a:t>
            </a:r>
            <a:r>
              <a:rPr lang="en-US"/>
              <a:t>Indicates </a:t>
            </a:r>
            <a:r>
              <a:rPr lang="en-US">
                <a:solidFill>
                  <a:srgbClr val="FFFF00"/>
                </a:solidFill>
              </a:rPr>
              <a:t>relationships</a:t>
            </a:r>
            <a:r>
              <a:rPr lang="en-US"/>
              <a:t> between classes through their  objects</a:t>
            </a:r>
            <a:endParaRPr/>
          </a:p>
        </p:txBody>
      </p:sp>
      <p:sp>
        <p:nvSpPr>
          <p:cNvPr id="114" name="Google Shape;114;p3"/>
          <p:cNvSpPr>
            <a:spLocks noGrp="1"/>
          </p:cNvSpPr>
          <p:nvPr>
            <p:ph type="body" idx="2"/>
          </p:nvPr>
        </p:nvSpPr>
        <p:spPr>
          <a:xfrm>
            <a:off x="422305" y="3124200"/>
            <a:ext cx="8229600" cy="1173162"/>
          </a:xfrm>
          <a:prstGeom prst="roundRect">
            <a:avLst>
              <a:gd name="adj" fmla="val 16667"/>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400"/>
              <a:buFont typeface="Noto Sans Symbols"/>
              <a:buChar char="🏵"/>
            </a:pPr>
            <a:r>
              <a:rPr lang="en-US">
                <a:latin typeface="Trebuchet MS"/>
                <a:ea typeface="Trebuchet MS"/>
                <a:cs typeface="Trebuchet MS"/>
                <a:sym typeface="Trebuchet MS"/>
              </a:rPr>
              <a:t>Association can be, one to one, one to many, many to one, or many to many relationships.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Introduction to Associations</a:t>
            </a:r>
            <a:endParaRPr/>
          </a:p>
        </p:txBody>
      </p:sp>
      <p:grpSp>
        <p:nvGrpSpPr>
          <p:cNvPr id="120" name="Google Shape;120;p4"/>
          <p:cNvGrpSpPr/>
          <p:nvPr/>
        </p:nvGrpSpPr>
        <p:grpSpPr>
          <a:xfrm>
            <a:off x="2968625" y="1760538"/>
            <a:ext cx="4103688" cy="877887"/>
            <a:chOff x="3203848" y="3126828"/>
            <a:chExt cx="4104456" cy="878236"/>
          </a:xfrm>
        </p:grpSpPr>
        <p:sp>
          <p:nvSpPr>
            <p:cNvPr id="121" name="Google Shape;121;p4"/>
            <p:cNvSpPr/>
            <p:nvPr/>
          </p:nvSpPr>
          <p:spPr>
            <a:xfrm>
              <a:off x="3203848" y="3126828"/>
              <a:ext cx="1224192" cy="287451"/>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Lecturer</a:t>
              </a:r>
              <a:endParaRPr/>
            </a:p>
          </p:txBody>
        </p:sp>
        <p:sp>
          <p:nvSpPr>
            <p:cNvPr id="122" name="Google Shape;122;p4"/>
            <p:cNvSpPr/>
            <p:nvPr/>
          </p:nvSpPr>
          <p:spPr>
            <a:xfrm>
              <a:off x="3203848" y="3423808"/>
              <a:ext cx="1224192" cy="566963"/>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3" name="Google Shape;123;p4"/>
            <p:cNvSpPr/>
            <p:nvPr/>
          </p:nvSpPr>
          <p:spPr>
            <a:xfrm>
              <a:off x="6084112" y="3141121"/>
              <a:ext cx="1224192" cy="287452"/>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Student</a:t>
              </a:r>
              <a:endParaRPr/>
            </a:p>
          </p:txBody>
        </p:sp>
        <p:sp>
          <p:nvSpPr>
            <p:cNvPr id="124" name="Google Shape;124;p4"/>
            <p:cNvSpPr/>
            <p:nvPr/>
          </p:nvSpPr>
          <p:spPr>
            <a:xfrm>
              <a:off x="6084112" y="3438102"/>
              <a:ext cx="1224192" cy="566962"/>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25" name="Google Shape;125;p4"/>
            <p:cNvCxnSpPr/>
            <p:nvPr/>
          </p:nvCxnSpPr>
          <p:spPr>
            <a:xfrm>
              <a:off x="4428040" y="3569916"/>
              <a:ext cx="1692592" cy="22234"/>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7647"/>
                </a:srgbClr>
              </a:outerShdw>
            </a:effectLst>
          </p:spPr>
        </p:cxnSp>
        <p:sp>
          <p:nvSpPr>
            <p:cNvPr id="126" name="Google Shape;126;p4"/>
            <p:cNvSpPr/>
            <p:nvPr/>
          </p:nvSpPr>
          <p:spPr>
            <a:xfrm>
              <a:off x="4680499" y="3285641"/>
              <a:ext cx="827243" cy="27951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i="0" u="none" strike="noStrike" cap="none">
                  <a:solidFill>
                    <a:schemeClr val="dk1"/>
                  </a:solidFill>
                  <a:latin typeface="Calibri"/>
                  <a:ea typeface="Calibri"/>
                  <a:cs typeface="Calibri"/>
                  <a:sym typeface="Calibri"/>
                </a:rPr>
                <a:t>Teaches</a:t>
              </a:r>
              <a:endParaRPr/>
            </a:p>
          </p:txBody>
        </p:sp>
        <p:sp>
          <p:nvSpPr>
            <p:cNvPr id="127" name="Google Shape;127;p4"/>
            <p:cNvSpPr/>
            <p:nvPr/>
          </p:nvSpPr>
          <p:spPr>
            <a:xfrm>
              <a:off x="5652231" y="3304699"/>
              <a:ext cx="431881" cy="27951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chemeClr val="dk1"/>
                  </a:solidFill>
                  <a:latin typeface="Calibri"/>
                  <a:ea typeface="Calibri"/>
                  <a:cs typeface="Calibri"/>
                  <a:sym typeface="Calibri"/>
                </a:rPr>
                <a:t>0..*</a:t>
              </a:r>
              <a:endParaRPr/>
            </a:p>
          </p:txBody>
        </p:sp>
        <p:sp>
          <p:nvSpPr>
            <p:cNvPr id="128" name="Google Shape;128;p4"/>
            <p:cNvSpPr/>
            <p:nvPr/>
          </p:nvSpPr>
          <p:spPr>
            <a:xfrm>
              <a:off x="4351826" y="3606444"/>
              <a:ext cx="720860" cy="27951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chemeClr val="dk1"/>
                  </a:solidFill>
                  <a:latin typeface="Calibri"/>
                  <a:ea typeface="Calibri"/>
                  <a:cs typeface="Calibri"/>
                  <a:sym typeface="Calibri"/>
                </a:rPr>
                <a:t>lecturer</a:t>
              </a:r>
              <a:endParaRPr/>
            </a:p>
          </p:txBody>
        </p:sp>
        <p:sp>
          <p:nvSpPr>
            <p:cNvPr id="129" name="Google Shape;129;p4"/>
            <p:cNvSpPr/>
            <p:nvPr/>
          </p:nvSpPr>
          <p:spPr>
            <a:xfrm>
              <a:off x="5436291" y="3644559"/>
              <a:ext cx="719273" cy="27951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chemeClr val="dk1"/>
                  </a:solidFill>
                  <a:latin typeface="Calibri"/>
                  <a:ea typeface="Calibri"/>
                  <a:cs typeface="Calibri"/>
                  <a:sym typeface="Calibri"/>
                </a:rPr>
                <a:t>students</a:t>
              </a:r>
              <a:endParaRPr/>
            </a:p>
          </p:txBody>
        </p:sp>
      </p:grpSp>
      <p:grpSp>
        <p:nvGrpSpPr>
          <p:cNvPr id="130" name="Google Shape;130;p4"/>
          <p:cNvGrpSpPr/>
          <p:nvPr/>
        </p:nvGrpSpPr>
        <p:grpSpPr>
          <a:xfrm>
            <a:off x="3040063" y="4951413"/>
            <a:ext cx="4949825" cy="874712"/>
            <a:chOff x="3275856" y="5111951"/>
            <a:chExt cx="4948893" cy="874270"/>
          </a:xfrm>
        </p:grpSpPr>
        <p:sp>
          <p:nvSpPr>
            <p:cNvPr id="131" name="Google Shape;131;p4"/>
            <p:cNvSpPr/>
            <p:nvPr/>
          </p:nvSpPr>
          <p:spPr>
            <a:xfrm>
              <a:off x="3275856" y="5121471"/>
              <a:ext cx="1223732" cy="288779"/>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Lecturer</a:t>
              </a:r>
              <a:endParaRPr/>
            </a:p>
          </p:txBody>
        </p:sp>
        <p:sp>
          <p:nvSpPr>
            <p:cNvPr id="132" name="Google Shape;132;p4"/>
            <p:cNvSpPr/>
            <p:nvPr/>
          </p:nvSpPr>
          <p:spPr>
            <a:xfrm>
              <a:off x="3275856" y="5418183"/>
              <a:ext cx="1223732" cy="568038"/>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3" name="Google Shape;133;p4"/>
            <p:cNvSpPr/>
            <p:nvPr/>
          </p:nvSpPr>
          <p:spPr>
            <a:xfrm>
              <a:off x="7001016" y="5111951"/>
              <a:ext cx="1223733" cy="288779"/>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Student</a:t>
              </a:r>
              <a:endParaRPr/>
            </a:p>
          </p:txBody>
        </p:sp>
        <p:sp>
          <p:nvSpPr>
            <p:cNvPr id="134" name="Google Shape;134;p4"/>
            <p:cNvSpPr/>
            <p:nvPr/>
          </p:nvSpPr>
          <p:spPr>
            <a:xfrm>
              <a:off x="7001016" y="5408663"/>
              <a:ext cx="1223733" cy="568038"/>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35" name="Google Shape;135;p4"/>
            <p:cNvCxnSpPr/>
            <p:nvPr/>
          </p:nvCxnSpPr>
          <p:spPr>
            <a:xfrm rot="10800000" flipH="1">
              <a:off x="4499588" y="5549880"/>
              <a:ext cx="2501429" cy="14280"/>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7647"/>
                </a:srgbClr>
              </a:outerShdw>
            </a:effectLst>
          </p:spPr>
        </p:cxnSp>
        <p:sp>
          <p:nvSpPr>
            <p:cNvPr id="136" name="Google Shape;136;p4"/>
            <p:cNvSpPr/>
            <p:nvPr/>
          </p:nvSpPr>
          <p:spPr>
            <a:xfrm>
              <a:off x="4680528" y="5280141"/>
              <a:ext cx="1007873" cy="279259"/>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i="0" u="none" strike="noStrike" cap="none">
                  <a:solidFill>
                    <a:schemeClr val="dk1"/>
                  </a:solidFill>
                  <a:latin typeface="Calibri"/>
                  <a:ea typeface="Calibri"/>
                  <a:cs typeface="Calibri"/>
                  <a:sym typeface="Calibri"/>
                </a:rPr>
                <a:t>Supervises</a:t>
              </a:r>
              <a:endParaRPr/>
            </a:p>
          </p:txBody>
        </p:sp>
        <p:sp>
          <p:nvSpPr>
            <p:cNvPr id="137" name="Google Shape;137;p4"/>
            <p:cNvSpPr/>
            <p:nvPr/>
          </p:nvSpPr>
          <p:spPr>
            <a:xfrm>
              <a:off x="6569298" y="5322981"/>
              <a:ext cx="431719" cy="279259"/>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chemeClr val="dk1"/>
                  </a:solidFill>
                  <a:latin typeface="Calibri"/>
                  <a:ea typeface="Calibri"/>
                  <a:cs typeface="Calibri"/>
                  <a:sym typeface="Calibri"/>
                </a:rPr>
                <a:t>0..*</a:t>
              </a:r>
              <a:endParaRPr/>
            </a:p>
          </p:txBody>
        </p:sp>
        <p:sp>
          <p:nvSpPr>
            <p:cNvPr id="138" name="Google Shape;138;p4"/>
            <p:cNvSpPr/>
            <p:nvPr/>
          </p:nvSpPr>
          <p:spPr>
            <a:xfrm>
              <a:off x="4423402" y="5602240"/>
              <a:ext cx="1084059" cy="279259"/>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chemeClr val="dk1"/>
                  </a:solidFill>
                  <a:latin typeface="Calibri"/>
                  <a:ea typeface="Calibri"/>
                  <a:cs typeface="Calibri"/>
                  <a:sym typeface="Calibri"/>
                </a:rPr>
                <a:t>supervisor</a:t>
              </a:r>
              <a:endParaRPr/>
            </a:p>
          </p:txBody>
        </p:sp>
        <p:sp>
          <p:nvSpPr>
            <p:cNvPr id="139" name="Google Shape;139;p4"/>
            <p:cNvSpPr/>
            <p:nvPr/>
          </p:nvSpPr>
          <p:spPr>
            <a:xfrm>
              <a:off x="5993144" y="5587960"/>
              <a:ext cx="1079297" cy="279259"/>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100" b="0" i="0" u="none" strike="noStrike" cap="none">
                  <a:solidFill>
                    <a:schemeClr val="dk1"/>
                  </a:solidFill>
                  <a:latin typeface="Calibri"/>
                  <a:ea typeface="Calibri"/>
                  <a:cs typeface="Calibri"/>
                  <a:sym typeface="Calibri"/>
                </a:rPr>
                <a:t>postGraduates</a:t>
              </a:r>
              <a:endParaRPr sz="1100" b="0" i="0" u="none" strike="noStrike" cap="none">
                <a:solidFill>
                  <a:schemeClr val="dk1"/>
                </a:solidFill>
                <a:latin typeface="Calibri"/>
                <a:ea typeface="Calibri"/>
                <a:cs typeface="Calibri"/>
                <a:sym typeface="Calibri"/>
              </a:endParaRPr>
            </a:p>
          </p:txBody>
        </p:sp>
      </p:grpSp>
      <p:grpSp>
        <p:nvGrpSpPr>
          <p:cNvPr id="140" name="Google Shape;140;p4"/>
          <p:cNvGrpSpPr/>
          <p:nvPr/>
        </p:nvGrpSpPr>
        <p:grpSpPr>
          <a:xfrm>
            <a:off x="3040063" y="3359150"/>
            <a:ext cx="4105275" cy="877888"/>
            <a:chOff x="3200842" y="4278956"/>
            <a:chExt cx="4104456" cy="878236"/>
          </a:xfrm>
        </p:grpSpPr>
        <p:sp>
          <p:nvSpPr>
            <p:cNvPr id="141" name="Google Shape;141;p4"/>
            <p:cNvSpPr/>
            <p:nvPr/>
          </p:nvSpPr>
          <p:spPr>
            <a:xfrm>
              <a:off x="3200842" y="4278956"/>
              <a:ext cx="1223718" cy="287452"/>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Lecturer</a:t>
              </a:r>
              <a:endParaRPr/>
            </a:p>
          </p:txBody>
        </p:sp>
        <p:sp>
          <p:nvSpPr>
            <p:cNvPr id="142" name="Google Shape;142;p4"/>
            <p:cNvSpPr/>
            <p:nvPr/>
          </p:nvSpPr>
          <p:spPr>
            <a:xfrm>
              <a:off x="3200842" y="4575937"/>
              <a:ext cx="1223718" cy="566962"/>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3" name="Google Shape;143;p4"/>
            <p:cNvSpPr/>
            <p:nvPr/>
          </p:nvSpPr>
          <p:spPr>
            <a:xfrm>
              <a:off x="6081579" y="4293250"/>
              <a:ext cx="1223719" cy="287451"/>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Student</a:t>
              </a:r>
              <a:endParaRPr/>
            </a:p>
          </p:txBody>
        </p:sp>
        <p:sp>
          <p:nvSpPr>
            <p:cNvPr id="144" name="Google Shape;144;p4"/>
            <p:cNvSpPr/>
            <p:nvPr/>
          </p:nvSpPr>
          <p:spPr>
            <a:xfrm>
              <a:off x="6081579" y="4590229"/>
              <a:ext cx="1223719" cy="566963"/>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45" name="Google Shape;145;p4"/>
            <p:cNvCxnSpPr/>
            <p:nvPr/>
          </p:nvCxnSpPr>
          <p:spPr>
            <a:xfrm>
              <a:off x="4424560" y="4722045"/>
              <a:ext cx="1691937" cy="22234"/>
            </a:xfrm>
            <a:prstGeom prst="straightConnector1">
              <a:avLst/>
            </a:prstGeom>
            <a:noFill/>
            <a:ln w="25400" cap="flat" cmpd="sng">
              <a:solidFill>
                <a:schemeClr val="dk1"/>
              </a:solidFill>
              <a:prstDash val="solid"/>
              <a:round/>
              <a:headEnd type="none" w="sm" len="sm"/>
              <a:tailEnd type="triangle" w="med" len="med"/>
            </a:ln>
            <a:effectLst>
              <a:outerShdw blurRad="40000" dist="20000" dir="5400000" rotWithShape="0">
                <a:srgbClr val="000000">
                  <a:alpha val="37647"/>
                </a:srgbClr>
              </a:outerShdw>
            </a:effectLst>
          </p:spPr>
        </p:cxnSp>
        <p:sp>
          <p:nvSpPr>
            <p:cNvPr id="146" name="Google Shape;146;p4"/>
            <p:cNvSpPr/>
            <p:nvPr/>
          </p:nvSpPr>
          <p:spPr>
            <a:xfrm>
              <a:off x="4676922" y="4437769"/>
              <a:ext cx="828510" cy="27951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1" i="0" u="none" strike="noStrike" cap="none">
                  <a:solidFill>
                    <a:schemeClr val="dk1"/>
                  </a:solidFill>
                  <a:latin typeface="Calibri"/>
                  <a:ea typeface="Calibri"/>
                  <a:cs typeface="Calibri"/>
                  <a:sym typeface="Calibri"/>
                </a:rPr>
                <a:t>Advises</a:t>
              </a:r>
              <a:endParaRPr/>
            </a:p>
          </p:txBody>
        </p:sp>
        <p:sp>
          <p:nvSpPr>
            <p:cNvPr id="147" name="Google Shape;147;p4"/>
            <p:cNvSpPr/>
            <p:nvPr/>
          </p:nvSpPr>
          <p:spPr>
            <a:xfrm>
              <a:off x="5649865" y="4456826"/>
              <a:ext cx="431714" cy="27951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chemeClr val="dk1"/>
                  </a:solidFill>
                  <a:latin typeface="Calibri"/>
                  <a:ea typeface="Calibri"/>
                  <a:cs typeface="Calibri"/>
                  <a:sym typeface="Calibri"/>
                </a:rPr>
                <a:t>0..*</a:t>
              </a:r>
              <a:endParaRPr/>
            </a:p>
          </p:txBody>
        </p:sp>
        <p:sp>
          <p:nvSpPr>
            <p:cNvPr id="148" name="Google Shape;148;p4"/>
            <p:cNvSpPr/>
            <p:nvPr/>
          </p:nvSpPr>
          <p:spPr>
            <a:xfrm>
              <a:off x="4349963" y="4758571"/>
              <a:ext cx="1082459" cy="27951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chemeClr val="dk1"/>
                  </a:solidFill>
                  <a:latin typeface="Calibri"/>
                  <a:ea typeface="Calibri"/>
                  <a:cs typeface="Calibri"/>
                  <a:sym typeface="Calibri"/>
                </a:rPr>
                <a:t>courseAdvisor</a:t>
              </a:r>
              <a:endParaRPr sz="1200" b="0" i="0" u="none" strike="noStrike" cap="none">
                <a:solidFill>
                  <a:schemeClr val="dk1"/>
                </a:solidFill>
                <a:latin typeface="Calibri"/>
                <a:ea typeface="Calibri"/>
                <a:cs typeface="Calibri"/>
                <a:sym typeface="Calibri"/>
              </a:endParaRPr>
            </a:p>
          </p:txBody>
        </p:sp>
        <p:sp>
          <p:nvSpPr>
            <p:cNvPr id="149" name="Google Shape;149;p4"/>
            <p:cNvSpPr/>
            <p:nvPr/>
          </p:nvSpPr>
          <p:spPr>
            <a:xfrm>
              <a:off x="5432422" y="4796686"/>
              <a:ext cx="720581" cy="27951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chemeClr val="dk1"/>
                  </a:solidFill>
                  <a:latin typeface="Calibri"/>
                  <a:ea typeface="Calibri"/>
                  <a:cs typeface="Calibri"/>
                  <a:sym typeface="Calibri"/>
                </a:rPr>
                <a:t>advisees</a:t>
              </a:r>
              <a:endParaRPr/>
            </a:p>
          </p:txBody>
        </p:sp>
      </p:grpSp>
      <p:sp>
        <p:nvSpPr>
          <p:cNvPr id="150" name="Google Shape;150;p4"/>
          <p:cNvSpPr txBox="1"/>
          <p:nvPr/>
        </p:nvSpPr>
        <p:spPr>
          <a:xfrm>
            <a:off x="1579563" y="1214438"/>
            <a:ext cx="7024687" cy="33496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r>
              <a:rPr lang="en-US" sz="1800" b="0" i="1" u="none" strike="noStrike" cap="none">
                <a:solidFill>
                  <a:schemeClr val="dk1"/>
                </a:solidFill>
                <a:latin typeface="Trebuchet MS"/>
                <a:ea typeface="Trebuchet MS"/>
                <a:cs typeface="Trebuchet MS"/>
                <a:sym typeface="Trebuchet MS"/>
              </a:rPr>
              <a:t>Example:</a:t>
            </a:r>
            <a:endParaRPr sz="1800" b="0" i="1" u="none" strike="noStrike" cap="none">
              <a:solidFill>
                <a:schemeClr val="dk1"/>
              </a:solidFill>
              <a:latin typeface="Trebuchet MS"/>
              <a:ea typeface="Trebuchet MS"/>
              <a:cs typeface="Trebuchet MS"/>
              <a:sym typeface="Trebuchet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Introduction to Aggregations</a:t>
            </a:r>
            <a:endParaRPr/>
          </a:p>
        </p:txBody>
      </p:sp>
      <p:sp>
        <p:nvSpPr>
          <p:cNvPr id="162" name="Google Shape;162;p6"/>
          <p:cNvSpPr>
            <a:spLocks noGrp="1"/>
          </p:cNvSpPr>
          <p:nvPr>
            <p:ph type="body" idx="1"/>
          </p:nvPr>
        </p:nvSpPr>
        <p:spPr>
          <a:xfrm>
            <a:off x="457200" y="1529154"/>
            <a:ext cx="8229600" cy="1143000"/>
          </a:xfrm>
          <a:prstGeom prst="roundRect">
            <a:avLst>
              <a:gd name="adj" fmla="val 16667"/>
            </a:avLst>
          </a:prstGeom>
          <a:solidFill>
            <a:schemeClr val="accent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400"/>
              <a:buFont typeface="Noto Sans Symbols"/>
              <a:buChar char="🏵"/>
            </a:pPr>
            <a:r>
              <a:rPr lang="en-US" b="1">
                <a:solidFill>
                  <a:srgbClr val="FFFF00"/>
                </a:solidFill>
              </a:rPr>
              <a:t>Aggregation</a:t>
            </a:r>
            <a:r>
              <a:rPr lang="en-US"/>
              <a:t>: a special type of association which is </a:t>
            </a:r>
            <a:r>
              <a:rPr lang="en-US" b="1">
                <a:solidFill>
                  <a:srgbClr val="FFFF00"/>
                </a:solidFill>
              </a:rPr>
              <a:t>one way</a:t>
            </a:r>
            <a:r>
              <a:rPr lang="en-US"/>
              <a:t> relationship.</a:t>
            </a:r>
            <a:endParaRPr/>
          </a:p>
        </p:txBody>
      </p:sp>
      <p:sp>
        <p:nvSpPr>
          <p:cNvPr id="163" name="Google Shape;163;p6"/>
          <p:cNvSpPr>
            <a:spLocks noGrp="1"/>
          </p:cNvSpPr>
          <p:nvPr>
            <p:ph type="body" idx="2"/>
          </p:nvPr>
        </p:nvSpPr>
        <p:spPr>
          <a:xfrm>
            <a:off x="455645" y="3048000"/>
            <a:ext cx="8229600" cy="990601"/>
          </a:xfrm>
          <a:prstGeom prst="roundRect">
            <a:avLst>
              <a:gd name="adj" fmla="val 16667"/>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400"/>
              <a:buFont typeface="Noto Sans Symbols"/>
              <a:buChar char="🏵"/>
            </a:pPr>
            <a:r>
              <a:rPr lang="en-US"/>
              <a:t>It models a </a:t>
            </a:r>
            <a:r>
              <a:rPr lang="en-US" b="1">
                <a:solidFill>
                  <a:srgbClr val="FFFF00"/>
                </a:solidFill>
              </a:rPr>
              <a:t>‘has a’</a:t>
            </a:r>
            <a:r>
              <a:rPr lang="en-US"/>
              <a:t> relationship between classes – enclosing class ‘has a’ enclosed class.</a:t>
            </a:r>
            <a:endParaRPr/>
          </a:p>
        </p:txBody>
      </p:sp>
      <p:sp>
        <p:nvSpPr>
          <p:cNvPr id="164" name="Google Shape;164;p6"/>
          <p:cNvSpPr>
            <a:spLocks noGrp="1"/>
          </p:cNvSpPr>
          <p:nvPr>
            <p:ph type="body" idx="3"/>
          </p:nvPr>
        </p:nvSpPr>
        <p:spPr>
          <a:xfrm>
            <a:off x="455645" y="4580391"/>
            <a:ext cx="8229600" cy="906010"/>
          </a:xfrm>
          <a:prstGeom prst="roundRect">
            <a:avLst>
              <a:gd name="adj" fmla="val 16667"/>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400"/>
              <a:buFont typeface="Noto Sans Symbols"/>
              <a:buChar char="🏵"/>
            </a:pPr>
            <a:r>
              <a:rPr lang="en-US"/>
              <a:t>The </a:t>
            </a:r>
            <a:r>
              <a:rPr lang="en-US" b="1">
                <a:solidFill>
                  <a:srgbClr val="FFFF00"/>
                </a:solidFill>
              </a:rPr>
              <a:t>existence</a:t>
            </a:r>
            <a:r>
              <a:rPr lang="en-US"/>
              <a:t> of the objects (enclosing and enclosed) are </a:t>
            </a:r>
            <a:r>
              <a:rPr lang="en-US" b="1">
                <a:solidFill>
                  <a:srgbClr val="FFFF00"/>
                </a:solidFill>
              </a:rPr>
              <a:t>independent</a:t>
            </a:r>
            <a:r>
              <a:rPr lang="en-US"/>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Introduction to Aggregations</a:t>
            </a:r>
            <a:endParaRPr/>
          </a:p>
        </p:txBody>
      </p:sp>
      <p:sp>
        <p:nvSpPr>
          <p:cNvPr id="170" name="Google Shape;170;p7"/>
          <p:cNvSpPr txBox="1"/>
          <p:nvPr/>
        </p:nvSpPr>
        <p:spPr>
          <a:xfrm>
            <a:off x="1579563" y="1214438"/>
            <a:ext cx="7024687" cy="33496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r>
              <a:rPr lang="en-US" sz="1800" b="0" i="1" u="none" strike="noStrike" cap="none">
                <a:solidFill>
                  <a:schemeClr val="dk1"/>
                </a:solidFill>
                <a:latin typeface="Trebuchet MS"/>
                <a:ea typeface="Trebuchet MS"/>
                <a:cs typeface="Trebuchet MS"/>
                <a:sym typeface="Trebuchet MS"/>
              </a:rPr>
              <a:t>Example:</a:t>
            </a:r>
            <a:endParaRPr sz="1800" b="0" i="1" u="none" strike="noStrike" cap="none">
              <a:solidFill>
                <a:schemeClr val="dk1"/>
              </a:solidFill>
              <a:latin typeface="Trebuchet MS"/>
              <a:ea typeface="Trebuchet MS"/>
              <a:cs typeface="Trebuchet MS"/>
              <a:sym typeface="Trebuchet MS"/>
            </a:endParaRPr>
          </a:p>
        </p:txBody>
      </p:sp>
      <p:grpSp>
        <p:nvGrpSpPr>
          <p:cNvPr id="171" name="Google Shape;171;p7"/>
          <p:cNvGrpSpPr/>
          <p:nvPr/>
        </p:nvGrpSpPr>
        <p:grpSpPr>
          <a:xfrm>
            <a:off x="2968625" y="1938338"/>
            <a:ext cx="4103688" cy="877887"/>
            <a:chOff x="3203848" y="3126828"/>
            <a:chExt cx="4104456" cy="878236"/>
          </a:xfrm>
        </p:grpSpPr>
        <p:sp>
          <p:nvSpPr>
            <p:cNvPr id="172" name="Google Shape;172;p7"/>
            <p:cNvSpPr/>
            <p:nvPr/>
          </p:nvSpPr>
          <p:spPr>
            <a:xfrm>
              <a:off x="3203848" y="3126828"/>
              <a:ext cx="1224192" cy="287451"/>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Wallet</a:t>
              </a:r>
              <a:endParaRPr/>
            </a:p>
          </p:txBody>
        </p:sp>
        <p:sp>
          <p:nvSpPr>
            <p:cNvPr id="173" name="Google Shape;173;p7"/>
            <p:cNvSpPr/>
            <p:nvPr/>
          </p:nvSpPr>
          <p:spPr>
            <a:xfrm>
              <a:off x="3203848" y="3423808"/>
              <a:ext cx="1224192" cy="566963"/>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4" name="Google Shape;174;p7"/>
            <p:cNvSpPr/>
            <p:nvPr/>
          </p:nvSpPr>
          <p:spPr>
            <a:xfrm>
              <a:off x="6084112" y="3141121"/>
              <a:ext cx="1224192" cy="287452"/>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Money</a:t>
              </a:r>
              <a:endParaRPr/>
            </a:p>
          </p:txBody>
        </p:sp>
        <p:sp>
          <p:nvSpPr>
            <p:cNvPr id="175" name="Google Shape;175;p7"/>
            <p:cNvSpPr/>
            <p:nvPr/>
          </p:nvSpPr>
          <p:spPr>
            <a:xfrm>
              <a:off x="6084112" y="3438102"/>
              <a:ext cx="1224192" cy="566962"/>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76" name="Google Shape;176;p7"/>
            <p:cNvCxnSpPr>
              <a:stCxn id="177" idx="3"/>
            </p:cNvCxnSpPr>
            <p:nvPr/>
          </p:nvCxnSpPr>
          <p:spPr>
            <a:xfrm>
              <a:off x="4736073" y="3574681"/>
              <a:ext cx="1347900" cy="0"/>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sp>
          <p:nvSpPr>
            <p:cNvPr id="178" name="Google Shape;178;p7"/>
            <p:cNvSpPr/>
            <p:nvPr/>
          </p:nvSpPr>
          <p:spPr>
            <a:xfrm>
              <a:off x="5652231" y="3304699"/>
              <a:ext cx="431881" cy="279511"/>
            </a:xfrm>
            <a:prstGeom prst="rect">
              <a:avLst/>
            </a:prstGeom>
            <a:no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0" i="0" u="none" strike="noStrike" cap="none">
                  <a:solidFill>
                    <a:schemeClr val="dk1"/>
                  </a:solidFill>
                  <a:latin typeface="Calibri"/>
                  <a:ea typeface="Calibri"/>
                  <a:cs typeface="Calibri"/>
                  <a:sym typeface="Calibri"/>
                </a:rPr>
                <a:t>0..*</a:t>
              </a:r>
              <a:endParaRPr/>
            </a:p>
          </p:txBody>
        </p:sp>
      </p:grpSp>
      <p:sp>
        <p:nvSpPr>
          <p:cNvPr id="179" name="Google Shape;179;p7"/>
          <p:cNvSpPr txBox="1"/>
          <p:nvPr/>
        </p:nvSpPr>
        <p:spPr>
          <a:xfrm>
            <a:off x="1979613" y="3232150"/>
            <a:ext cx="6624637" cy="1420813"/>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1600"/>
              <a:buFont typeface="Arial"/>
              <a:buChar char="•"/>
            </a:pPr>
            <a:r>
              <a:rPr lang="en-US" sz="1600" b="0" i="0" u="none" strike="noStrike" cap="none">
                <a:solidFill>
                  <a:schemeClr val="dk1"/>
                </a:solidFill>
                <a:latin typeface="Trebuchet MS"/>
                <a:ea typeface="Trebuchet MS"/>
                <a:cs typeface="Trebuchet MS"/>
                <a:sym typeface="Trebuchet MS"/>
              </a:rPr>
              <a:t>A “</a:t>
            </a:r>
            <a:r>
              <a:rPr lang="en-US" sz="1600" b="0" i="0" u="none" strike="noStrike" cap="none">
                <a:solidFill>
                  <a:srgbClr val="FF0000"/>
                </a:solidFill>
                <a:latin typeface="Trebuchet MS"/>
                <a:ea typeface="Trebuchet MS"/>
                <a:cs typeface="Trebuchet MS"/>
                <a:sym typeface="Trebuchet MS"/>
              </a:rPr>
              <a:t>has a</a:t>
            </a:r>
            <a:r>
              <a:rPr lang="en-US" sz="1600" b="0" i="0" u="none" strike="noStrike" cap="none">
                <a:solidFill>
                  <a:schemeClr val="dk1"/>
                </a:solidFill>
                <a:latin typeface="Trebuchet MS"/>
                <a:ea typeface="Trebuchet MS"/>
                <a:cs typeface="Trebuchet MS"/>
                <a:sym typeface="Trebuchet MS"/>
              </a:rPr>
              <a:t>” relationship:</a:t>
            </a:r>
            <a:r>
              <a:rPr lang="en-US" sz="1600" b="0" i="1" u="none" strike="noStrike" cap="none">
                <a:solidFill>
                  <a:schemeClr val="dk1"/>
                </a:solidFill>
                <a:latin typeface="Trebuchet MS"/>
                <a:ea typeface="Trebuchet MS"/>
                <a:cs typeface="Trebuchet MS"/>
                <a:sym typeface="Trebuchet MS"/>
              </a:rPr>
              <a:t> Wallet has Money</a:t>
            </a:r>
            <a:endParaRPr/>
          </a:p>
          <a:p>
            <a:pPr marL="342900" marR="0" lvl="0" indent="-241300" algn="l" rtl="0">
              <a:spcBef>
                <a:spcPts val="320"/>
              </a:spcBef>
              <a:spcAft>
                <a:spcPts val="0"/>
              </a:spcAft>
              <a:buClr>
                <a:schemeClr val="dk1"/>
              </a:buClr>
              <a:buSzPts val="1600"/>
              <a:buFont typeface="Arial"/>
              <a:buNone/>
            </a:pPr>
            <a:endParaRPr sz="1600" b="0" i="0" u="none" strike="noStrike" cap="none">
              <a:solidFill>
                <a:schemeClr val="dk1"/>
              </a:solidFill>
              <a:latin typeface="Trebuchet MS"/>
              <a:ea typeface="Trebuchet MS"/>
              <a:cs typeface="Trebuchet MS"/>
              <a:sym typeface="Trebuchet MS"/>
            </a:endParaRPr>
          </a:p>
          <a:p>
            <a:pPr marL="342900" marR="0" lvl="0" indent="-342900" algn="l" rtl="0">
              <a:spcBef>
                <a:spcPts val="320"/>
              </a:spcBef>
              <a:spcAft>
                <a:spcPts val="0"/>
              </a:spcAft>
              <a:buClr>
                <a:srgbClr val="FF0000"/>
              </a:buClr>
              <a:buSzPts val="1600"/>
              <a:buFont typeface="Arial"/>
              <a:buChar char="•"/>
            </a:pPr>
            <a:r>
              <a:rPr lang="en-US" sz="1600" b="0" i="0" u="none" strike="noStrike" cap="none">
                <a:solidFill>
                  <a:srgbClr val="FF0000"/>
                </a:solidFill>
                <a:latin typeface="Trebuchet MS"/>
                <a:ea typeface="Trebuchet MS"/>
                <a:cs typeface="Trebuchet MS"/>
                <a:sym typeface="Trebuchet MS"/>
              </a:rPr>
              <a:t>Independence</a:t>
            </a:r>
            <a:r>
              <a:rPr lang="en-US" sz="1600" b="0" i="0" u="none" strike="noStrike" cap="none">
                <a:solidFill>
                  <a:schemeClr val="dk1"/>
                </a:solidFill>
                <a:latin typeface="Trebuchet MS"/>
                <a:ea typeface="Trebuchet MS"/>
                <a:cs typeface="Trebuchet MS"/>
                <a:sym typeface="Trebuchet MS"/>
              </a:rPr>
              <a:t>: However, money does not necessarily need to have Wallet.</a:t>
            </a:r>
            <a:endParaRPr/>
          </a:p>
          <a:p>
            <a:pPr marL="342900" marR="0" lvl="0" indent="-241300" algn="l" rtl="0">
              <a:spcBef>
                <a:spcPts val="320"/>
              </a:spcBef>
              <a:spcAft>
                <a:spcPts val="0"/>
              </a:spcAft>
              <a:buClr>
                <a:schemeClr val="dk1"/>
              </a:buClr>
              <a:buSzPts val="1600"/>
              <a:buFont typeface="Arial"/>
              <a:buNone/>
            </a:pPr>
            <a:endParaRPr sz="1600" b="0" i="0" u="none" strike="noStrike" cap="none">
              <a:solidFill>
                <a:schemeClr val="dk1"/>
              </a:solidFill>
              <a:latin typeface="Trebuchet MS"/>
              <a:ea typeface="Trebuchet MS"/>
              <a:cs typeface="Trebuchet MS"/>
              <a:sym typeface="Trebuchet MS"/>
            </a:endParaRPr>
          </a:p>
          <a:p>
            <a:pPr marL="342900" marR="0" lvl="0" indent="-342900" algn="l" rtl="0">
              <a:spcBef>
                <a:spcPts val="320"/>
              </a:spcBef>
              <a:spcAft>
                <a:spcPts val="0"/>
              </a:spcAft>
              <a:buClr>
                <a:schemeClr val="dk1"/>
              </a:buClr>
              <a:buSzPts val="1600"/>
              <a:buFont typeface="Arial"/>
              <a:buChar char="•"/>
            </a:pPr>
            <a:r>
              <a:rPr lang="en-US" sz="1600" b="0" i="0" u="none" strike="noStrike" cap="none">
                <a:solidFill>
                  <a:schemeClr val="dk1"/>
                </a:solidFill>
                <a:latin typeface="Trebuchet MS"/>
                <a:ea typeface="Trebuchet MS"/>
                <a:cs typeface="Trebuchet MS"/>
                <a:sym typeface="Trebuchet MS"/>
              </a:rPr>
              <a:t>Money objects can be created even though there is no Wallet object.</a:t>
            </a:r>
            <a:endParaRPr/>
          </a:p>
        </p:txBody>
      </p:sp>
      <p:sp>
        <p:nvSpPr>
          <p:cNvPr id="177" name="Google Shape;177;p7"/>
          <p:cNvSpPr/>
          <p:nvPr/>
        </p:nvSpPr>
        <p:spPr>
          <a:xfrm>
            <a:off x="4211638" y="2239963"/>
            <a:ext cx="288925" cy="292100"/>
          </a:xfrm>
          <a:prstGeom prst="diamond">
            <a:avLst/>
          </a:prstGeom>
          <a:noFill/>
          <a:ln w="1905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Implementations of Aggregations</a:t>
            </a:r>
            <a:endParaRPr/>
          </a:p>
        </p:txBody>
      </p:sp>
      <p:sp>
        <p:nvSpPr>
          <p:cNvPr id="185" name="Google Shape;185;p8"/>
          <p:cNvSpPr>
            <a:spLocks noGrp="1"/>
          </p:cNvSpPr>
          <p:nvPr>
            <p:ph type="body" idx="1"/>
          </p:nvPr>
        </p:nvSpPr>
        <p:spPr>
          <a:xfrm>
            <a:off x="457200" y="1529154"/>
            <a:ext cx="8229600" cy="2204646"/>
          </a:xfrm>
          <a:prstGeom prst="roundRect">
            <a:avLst>
              <a:gd name="adj" fmla="val 16667"/>
            </a:avLst>
          </a:prstGeom>
          <a:solidFill>
            <a:srgbClr val="76923C"/>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000"/>
              <a:buFont typeface="Noto Sans Symbols"/>
              <a:buChar char="🏵"/>
            </a:pPr>
            <a:r>
              <a:rPr lang="en-US" sz="2000"/>
              <a:t>An </a:t>
            </a:r>
            <a:r>
              <a:rPr lang="en-US" sz="2000" b="1">
                <a:solidFill>
                  <a:srgbClr val="FFFF00"/>
                </a:solidFill>
              </a:rPr>
              <a:t>aggregation </a:t>
            </a:r>
            <a:r>
              <a:rPr lang="en-US" sz="2000"/>
              <a:t> relationship is implemented by objects contain </a:t>
            </a:r>
            <a:r>
              <a:rPr lang="en-US" sz="2000" b="1">
                <a:solidFill>
                  <a:srgbClr val="FFFF00"/>
                </a:solidFill>
              </a:rPr>
              <a:t>pointers</a:t>
            </a:r>
            <a:r>
              <a:rPr lang="en-US" sz="2000"/>
              <a:t> to other objects.</a:t>
            </a:r>
            <a:endParaRPr/>
          </a:p>
          <a:p>
            <a:pPr marL="742950" lvl="1" indent="-285750" algn="l" rtl="0">
              <a:spcBef>
                <a:spcPts val="360"/>
              </a:spcBef>
              <a:spcAft>
                <a:spcPts val="0"/>
              </a:spcAft>
              <a:buClr>
                <a:schemeClr val="lt1"/>
              </a:buClr>
              <a:buSzPts val="1800"/>
              <a:buChar char="◆"/>
            </a:pPr>
            <a:r>
              <a:rPr lang="en-US" sz="1800"/>
              <a:t>it is because the </a:t>
            </a:r>
            <a:r>
              <a:rPr lang="en-US" sz="1800">
                <a:solidFill>
                  <a:srgbClr val="FFFF00"/>
                </a:solidFill>
              </a:rPr>
              <a:t>existence</a:t>
            </a:r>
            <a:r>
              <a:rPr lang="en-US" sz="1800"/>
              <a:t> of the enclosing and enclosed objects are </a:t>
            </a:r>
            <a:r>
              <a:rPr lang="en-US" sz="1800">
                <a:solidFill>
                  <a:srgbClr val="FFFF00"/>
                </a:solidFill>
              </a:rPr>
              <a:t>independent</a:t>
            </a:r>
            <a:r>
              <a:rPr lang="en-US" sz="1800"/>
              <a:t>.</a:t>
            </a:r>
            <a:endParaRPr/>
          </a:p>
          <a:p>
            <a:pPr marL="742950" lvl="1" indent="-285750" algn="l" rtl="0">
              <a:spcBef>
                <a:spcPts val="360"/>
              </a:spcBef>
              <a:spcAft>
                <a:spcPts val="0"/>
              </a:spcAft>
              <a:buClr>
                <a:schemeClr val="lt1"/>
              </a:buClr>
              <a:buSzPts val="1800"/>
              <a:buChar char="◆"/>
            </a:pPr>
            <a:r>
              <a:rPr lang="en-US" sz="1800"/>
              <a:t>If one party is destroyed, the other party still exists.</a:t>
            </a:r>
            <a:endParaRPr/>
          </a:p>
          <a:p>
            <a:pPr marL="742950" lvl="1" indent="-285750" algn="l" rtl="0">
              <a:spcBef>
                <a:spcPts val="360"/>
              </a:spcBef>
              <a:spcAft>
                <a:spcPts val="0"/>
              </a:spcAft>
              <a:buClr>
                <a:schemeClr val="lt1"/>
              </a:buClr>
              <a:buSzPts val="1800"/>
              <a:buChar char="◆"/>
            </a:pPr>
            <a:r>
              <a:rPr lang="en-US" sz="1800"/>
              <a:t>the relationship between objects can be broken by only disconnecting the pointer.</a:t>
            </a:r>
            <a:endParaRPr sz="1800"/>
          </a:p>
        </p:txBody>
      </p:sp>
      <p:sp>
        <p:nvSpPr>
          <p:cNvPr id="186" name="Google Shape;186;p8"/>
          <p:cNvSpPr txBox="1"/>
          <p:nvPr/>
        </p:nvSpPr>
        <p:spPr>
          <a:xfrm>
            <a:off x="381000" y="4033446"/>
            <a:ext cx="8153400" cy="2057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r>
              <a:rPr lang="en-US" sz="1800" b="0" i="1" u="none" strike="noStrike" cap="none">
                <a:solidFill>
                  <a:schemeClr val="dk1"/>
                </a:solidFill>
                <a:latin typeface="Calibri"/>
                <a:ea typeface="Calibri"/>
                <a:cs typeface="Calibri"/>
                <a:sym typeface="Calibri"/>
              </a:rPr>
              <a:t>Example:</a:t>
            </a:r>
            <a:endParaRPr/>
          </a:p>
          <a:p>
            <a:pPr marL="742950" marR="0" lvl="1" indent="-285750" algn="l" rtl="0">
              <a:spcBef>
                <a:spcPts val="320"/>
              </a:spcBef>
              <a:spcAft>
                <a:spcPts val="0"/>
              </a:spcAft>
              <a:buClr>
                <a:schemeClr val="dk1"/>
              </a:buClr>
              <a:buSzPts val="1600"/>
              <a:buFont typeface="Arial"/>
              <a:buNone/>
            </a:pPr>
            <a:r>
              <a:rPr lang="en-US" sz="1600" b="0" i="0" u="none" strike="noStrike" cap="none">
                <a:solidFill>
                  <a:schemeClr val="dk1"/>
                </a:solidFill>
                <a:latin typeface="Calibri"/>
                <a:ea typeface="Calibri"/>
                <a:cs typeface="Calibri"/>
                <a:sym typeface="Calibri"/>
              </a:rPr>
              <a:t>Consider course registration system.</a:t>
            </a:r>
            <a:endParaRPr/>
          </a:p>
          <a:p>
            <a:pPr marL="742950" marR="0" lvl="1" indent="-285750" algn="l" rtl="0">
              <a:spcBef>
                <a:spcPts val="320"/>
              </a:spcBef>
              <a:spcAft>
                <a:spcPts val="0"/>
              </a:spcAft>
              <a:buClr>
                <a:schemeClr val="dk1"/>
              </a:buClr>
              <a:buSzPts val="1600"/>
              <a:buFont typeface="Arial"/>
              <a:buNone/>
            </a:pPr>
            <a:r>
              <a:rPr lang="en-US" sz="1600" b="0" i="0" u="none" strike="noStrike" cap="none">
                <a:solidFill>
                  <a:schemeClr val="dk1"/>
                </a:solidFill>
                <a:latin typeface="Calibri"/>
                <a:ea typeface="Calibri"/>
                <a:cs typeface="Calibri"/>
                <a:sym typeface="Calibri"/>
              </a:rPr>
              <a:t>A </a:t>
            </a:r>
            <a:r>
              <a:rPr lang="en-US" sz="1600" b="0" i="0" u="none" strike="noStrike" cap="none">
                <a:solidFill>
                  <a:srgbClr val="CC0000"/>
                </a:solidFill>
                <a:latin typeface="Calibri"/>
                <a:ea typeface="Calibri"/>
                <a:cs typeface="Calibri"/>
                <a:sym typeface="Calibri"/>
              </a:rPr>
              <a:t>student</a:t>
            </a:r>
            <a:r>
              <a:rPr lang="en-US" sz="1600" b="0" i="0" u="none" strike="noStrike" cap="none">
                <a:solidFill>
                  <a:schemeClr val="dk1"/>
                </a:solidFill>
                <a:latin typeface="Calibri"/>
                <a:ea typeface="Calibri"/>
                <a:cs typeface="Calibri"/>
                <a:sym typeface="Calibri"/>
              </a:rPr>
              <a:t> may enroll to </a:t>
            </a:r>
            <a:r>
              <a:rPr lang="en-US" sz="1600" b="0" i="0" u="none" strike="noStrike" cap="none">
                <a:solidFill>
                  <a:srgbClr val="CC0000"/>
                </a:solidFill>
                <a:latin typeface="Calibri"/>
                <a:ea typeface="Calibri"/>
                <a:cs typeface="Calibri"/>
                <a:sym typeface="Calibri"/>
              </a:rPr>
              <a:t>a course</a:t>
            </a:r>
            <a:r>
              <a:rPr lang="en-US" sz="1600" b="0" i="0" u="none" strike="noStrike" cap="none">
                <a:solidFill>
                  <a:schemeClr val="dk1"/>
                </a:solidFill>
                <a:latin typeface="Calibri"/>
                <a:ea typeface="Calibri"/>
                <a:cs typeface="Calibri"/>
                <a:sym typeface="Calibri"/>
              </a:rPr>
              <a:t>. If the student quits from his or her study. In this case, his or her record will be removed from the system. However, the course needs to remain as other students are still enrolled to the course. </a:t>
            </a:r>
            <a:endParaRPr/>
          </a:p>
          <a:p>
            <a:pPr marL="742950" marR="0" lvl="1" indent="-285750" algn="l" rtl="0">
              <a:spcBef>
                <a:spcPts val="320"/>
              </a:spcBef>
              <a:spcAft>
                <a:spcPts val="0"/>
              </a:spcAft>
              <a:buClr>
                <a:schemeClr val="dk1"/>
              </a:buClr>
              <a:buSzPts val="1600"/>
              <a:buFont typeface="Arial"/>
              <a:buNone/>
            </a:pPr>
            <a:endParaRPr sz="1600" b="0" i="0" u="none" strike="noStrike" cap="none">
              <a:solidFill>
                <a:srgbClr val="CC0000"/>
              </a:solidFill>
              <a:latin typeface="Calibri"/>
              <a:ea typeface="Calibri"/>
              <a:cs typeface="Calibri"/>
              <a:sym typeface="Calibri"/>
            </a:endParaRPr>
          </a:p>
          <a:p>
            <a:pPr marL="742950" marR="0" lvl="1" indent="-285750" algn="l" rtl="0">
              <a:spcBef>
                <a:spcPts val="320"/>
              </a:spcBef>
              <a:spcAft>
                <a:spcPts val="0"/>
              </a:spcAft>
              <a:buClr>
                <a:schemeClr val="dk1"/>
              </a:buClr>
              <a:buSzPts val="1600"/>
              <a:buFont typeface="Arial"/>
              <a:buNone/>
            </a:pPr>
            <a:r>
              <a:rPr lang="en-US" sz="1600" b="0" i="0" u="none" strike="noStrike" cap="none">
                <a:solidFill>
                  <a:schemeClr val="dk1"/>
                </a:solidFill>
                <a:latin typeface="Calibri"/>
                <a:ea typeface="Calibri"/>
                <a:cs typeface="Calibri"/>
                <a:sym typeface="Calibri"/>
              </a:rPr>
              <a:t>Relationship between students and courses should be done by an aggregation.</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9"/>
          <p:cNvSpPr txBox="1">
            <a:spLocks noGrp="1"/>
          </p:cNvSpPr>
          <p:nvPr>
            <p:ph type="title"/>
          </p:nvPr>
        </p:nvSpPr>
        <p:spPr>
          <a:xfrm>
            <a:off x="457200" y="3810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Implementations of Aggregations</a:t>
            </a:r>
            <a:endParaRPr/>
          </a:p>
        </p:txBody>
      </p:sp>
      <p:sp>
        <p:nvSpPr>
          <p:cNvPr id="192" name="Google Shape;192;p9"/>
          <p:cNvSpPr txBox="1"/>
          <p:nvPr/>
        </p:nvSpPr>
        <p:spPr>
          <a:xfrm>
            <a:off x="914400" y="1524000"/>
            <a:ext cx="7524750" cy="441960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Aggregation - declare attributes as </a:t>
            </a:r>
            <a:r>
              <a:rPr lang="en-US" sz="2400" b="0" i="0" u="none" strike="noStrike" cap="none">
                <a:solidFill>
                  <a:srgbClr val="FF0000"/>
                </a:solidFill>
                <a:latin typeface="Calibri"/>
                <a:ea typeface="Calibri"/>
                <a:cs typeface="Calibri"/>
                <a:sym typeface="Calibri"/>
              </a:rPr>
              <a:t>object pointers</a:t>
            </a:r>
            <a:r>
              <a:rPr lang="en-US" sz="2400" b="0" i="0" u="none" strike="noStrike" cap="none">
                <a:solidFill>
                  <a:schemeClr val="dk1"/>
                </a:solidFill>
                <a:latin typeface="Calibri"/>
                <a:ea typeface="Calibri"/>
                <a:cs typeface="Calibri"/>
                <a:sym typeface="Calibri"/>
              </a:rPr>
              <a:t>. </a:t>
            </a:r>
            <a:endParaRPr/>
          </a:p>
          <a:p>
            <a:pPr marL="342900" marR="0" lvl="0" indent="-342900" algn="l" rtl="0">
              <a:spcBef>
                <a:spcPts val="480"/>
              </a:spcBef>
              <a:spcAft>
                <a:spcPts val="0"/>
              </a:spcAft>
              <a:buClr>
                <a:schemeClr val="dk1"/>
              </a:buClr>
              <a:buSzPts val="2400"/>
              <a:buFont typeface="Arial"/>
              <a:buChar char="•"/>
            </a:pPr>
            <a:r>
              <a:rPr lang="en-US" sz="2400" b="0" i="0" u="none" strike="noStrike" cap="none">
                <a:solidFill>
                  <a:schemeClr val="dk1"/>
                </a:solidFill>
                <a:latin typeface="Calibri"/>
                <a:ea typeface="Calibri"/>
                <a:cs typeface="Calibri"/>
                <a:sym typeface="Calibri"/>
              </a:rPr>
              <a:t>The pointers can be set to NULL to represent no object.</a:t>
            </a:r>
            <a:endParaRPr/>
          </a:p>
          <a:p>
            <a:pPr marL="342900" marR="0" lvl="0" indent="-190500" algn="l" rtl="0">
              <a:spcBef>
                <a:spcPts val="480"/>
              </a:spcBef>
              <a:spcAft>
                <a:spcPts val="0"/>
              </a:spcAft>
              <a:buClr>
                <a:schemeClr val="dk1"/>
              </a:buClr>
              <a:buSzPts val="2400"/>
              <a:buFont typeface="Arial"/>
              <a:buNone/>
            </a:pPr>
            <a:endParaRPr sz="2400" b="0" i="0" u="none" strike="noStrike" cap="none">
              <a:solidFill>
                <a:schemeClr val="dk1"/>
              </a:solidFill>
              <a:latin typeface="Calibri"/>
              <a:ea typeface="Calibri"/>
              <a:cs typeface="Calibri"/>
              <a:sym typeface="Calibri"/>
            </a:endParaRPr>
          </a:p>
          <a:p>
            <a:pPr marL="742950" marR="0" lvl="1" indent="-285750" algn="l" rtl="0">
              <a:spcBef>
                <a:spcPts val="360"/>
              </a:spcBef>
              <a:spcAft>
                <a:spcPts val="0"/>
              </a:spcAft>
              <a:buClr>
                <a:schemeClr val="dk1"/>
              </a:buClr>
              <a:buSzPts val="1800"/>
              <a:buFont typeface="Arial"/>
              <a:buNone/>
            </a:pPr>
            <a:r>
              <a:rPr lang="en-US" sz="1800" b="1" i="0" u="none" strike="noStrike" cap="none">
                <a:solidFill>
                  <a:schemeClr val="dk1"/>
                </a:solidFill>
                <a:latin typeface="Courier New"/>
                <a:ea typeface="Courier New"/>
                <a:cs typeface="Courier New"/>
                <a:sym typeface="Courier New"/>
              </a:rPr>
              <a:t>class Student</a:t>
            </a:r>
            <a:endParaRPr/>
          </a:p>
          <a:p>
            <a:pPr marL="742950" marR="0" lvl="1" indent="-285750" algn="l" rtl="0">
              <a:spcBef>
                <a:spcPts val="360"/>
              </a:spcBef>
              <a:spcAft>
                <a:spcPts val="0"/>
              </a:spcAft>
              <a:buClr>
                <a:schemeClr val="dk1"/>
              </a:buClr>
              <a:buSzPts val="1800"/>
              <a:buFont typeface="Arial"/>
              <a:buNone/>
            </a:pPr>
            <a:r>
              <a:rPr lang="en-US" sz="1800" b="1" i="0" u="none" strike="noStrike" cap="none">
                <a:solidFill>
                  <a:schemeClr val="dk1"/>
                </a:solidFill>
                <a:latin typeface="Courier New"/>
                <a:ea typeface="Courier New"/>
                <a:cs typeface="Courier New"/>
                <a:sym typeface="Courier New"/>
              </a:rPr>
              <a:t>{ private:</a:t>
            </a:r>
            <a:endParaRPr/>
          </a:p>
          <a:p>
            <a:pPr marL="742950" marR="0" lvl="1" indent="-285750" algn="l" rtl="0">
              <a:spcBef>
                <a:spcPts val="360"/>
              </a:spcBef>
              <a:spcAft>
                <a:spcPts val="0"/>
              </a:spcAft>
              <a:buClr>
                <a:schemeClr val="dk1"/>
              </a:buClr>
              <a:buSzPts val="1800"/>
              <a:buFont typeface="Arial"/>
              <a:buNone/>
            </a:pPr>
            <a:r>
              <a:rPr lang="en-US" sz="1800" b="1" i="0" u="none" strike="noStrike" cap="none">
                <a:solidFill>
                  <a:schemeClr val="dk1"/>
                </a:solidFill>
                <a:latin typeface="Courier New"/>
                <a:ea typeface="Courier New"/>
                <a:cs typeface="Courier New"/>
                <a:sym typeface="Courier New"/>
              </a:rPr>
              <a:t>	    Course *course;</a:t>
            </a:r>
            <a:endParaRPr/>
          </a:p>
          <a:p>
            <a:pPr marL="742950" marR="0" lvl="1" indent="-285750" algn="l" rtl="0">
              <a:spcBef>
                <a:spcPts val="360"/>
              </a:spcBef>
              <a:spcAft>
                <a:spcPts val="0"/>
              </a:spcAft>
              <a:buClr>
                <a:schemeClr val="dk1"/>
              </a:buClr>
              <a:buSzPts val="1800"/>
              <a:buFont typeface="Arial"/>
              <a:buNone/>
            </a:pPr>
            <a:r>
              <a:rPr lang="en-US" sz="1800" b="1" i="0" u="none" strike="noStrike" cap="none">
                <a:solidFill>
                  <a:schemeClr val="dk1"/>
                </a:solidFill>
                <a:latin typeface="Courier New"/>
                <a:ea typeface="Courier New"/>
                <a:cs typeface="Courier New"/>
                <a:sym typeface="Courier New"/>
              </a:rPr>
              <a:t>  public:</a:t>
            </a:r>
            <a:endParaRPr/>
          </a:p>
          <a:p>
            <a:pPr marL="742950" marR="0" lvl="1" indent="-285750" algn="l" rtl="0">
              <a:spcBef>
                <a:spcPts val="360"/>
              </a:spcBef>
              <a:spcAft>
                <a:spcPts val="0"/>
              </a:spcAft>
              <a:buClr>
                <a:schemeClr val="dk1"/>
              </a:buClr>
              <a:buSzPts val="1800"/>
              <a:buFont typeface="Arial"/>
              <a:buNone/>
            </a:pPr>
            <a:r>
              <a:rPr lang="en-US" sz="1800" b="1" i="0" u="none" strike="noStrike" cap="none">
                <a:solidFill>
                  <a:schemeClr val="dk1"/>
                </a:solidFill>
                <a:latin typeface="Courier New"/>
                <a:ea typeface="Courier New"/>
                <a:cs typeface="Courier New"/>
                <a:sym typeface="Courier New"/>
              </a:rPr>
              <a:t> 	   Student(){course = NULL;}  </a:t>
            </a:r>
            <a:endParaRPr/>
          </a:p>
          <a:p>
            <a:pPr marL="742950" marR="0" lvl="1" indent="-285750" algn="l" rtl="0">
              <a:spcBef>
                <a:spcPts val="360"/>
              </a:spcBef>
              <a:spcAft>
                <a:spcPts val="0"/>
              </a:spcAft>
              <a:buClr>
                <a:schemeClr val="dk1"/>
              </a:buClr>
              <a:buSzPts val="1800"/>
              <a:buFont typeface="Arial"/>
              <a:buNone/>
            </a:pPr>
            <a:r>
              <a:rPr lang="en-US" sz="1800" b="1" i="0" u="none" strike="noStrike" cap="none">
                <a:solidFill>
                  <a:schemeClr val="dk1"/>
                </a:solidFill>
                <a:latin typeface="Courier New"/>
                <a:ea typeface="Courier New"/>
                <a:cs typeface="Courier New"/>
                <a:sym typeface="Courier New"/>
              </a:rPr>
              <a:t>     void enrollCourse(Course *);</a:t>
            </a:r>
            <a:endParaRPr/>
          </a:p>
          <a:p>
            <a:pPr marL="742950" marR="0" lvl="1" indent="-285750" algn="l" rtl="0">
              <a:spcBef>
                <a:spcPts val="360"/>
              </a:spcBef>
              <a:spcAft>
                <a:spcPts val="0"/>
              </a:spcAft>
              <a:buClr>
                <a:schemeClr val="dk1"/>
              </a:buClr>
              <a:buSzPts val="1800"/>
              <a:buFont typeface="Arial"/>
              <a:buNone/>
            </a:pPr>
            <a:r>
              <a:rPr lang="en-US" sz="1800" b="1" i="0" u="none" strike="noStrike" cap="none">
                <a:solidFill>
                  <a:schemeClr val="dk1"/>
                </a:solidFill>
                <a:latin typeface="Courier New"/>
                <a:ea typeface="Courier New"/>
                <a:cs typeface="Courier New"/>
                <a:sym typeface="Courier New"/>
              </a:rPr>
              <a:t>	   void withdrawCourse();</a:t>
            </a:r>
            <a:endParaRPr/>
          </a:p>
          <a:p>
            <a:pPr marL="742950" marR="0" lvl="1" indent="-285750" algn="l" rtl="0">
              <a:spcBef>
                <a:spcPts val="360"/>
              </a:spcBef>
              <a:spcAft>
                <a:spcPts val="0"/>
              </a:spcAft>
              <a:buClr>
                <a:schemeClr val="dk1"/>
              </a:buClr>
              <a:buSzPts val="1800"/>
              <a:buFont typeface="Arial"/>
              <a:buNone/>
            </a:pPr>
            <a:r>
              <a:rPr lang="en-US" sz="1800" b="1" i="0" u="none" strike="noStrike" cap="none">
                <a:solidFill>
                  <a:schemeClr val="dk1"/>
                </a:solidFill>
                <a:latin typeface="Courier New"/>
                <a:ea typeface="Courier New"/>
                <a:cs typeface="Courier New"/>
                <a:sym typeface="Courier New"/>
              </a:rPr>
              <a:t>..};</a:t>
            </a:r>
            <a:endParaRPr/>
          </a:p>
          <a:p>
            <a:pPr marL="342900" marR="0" lvl="0" indent="-228600" algn="l" rtl="0">
              <a:spcBef>
                <a:spcPts val="360"/>
              </a:spcBef>
              <a:spcAft>
                <a:spcPts val="0"/>
              </a:spcAft>
              <a:buClr>
                <a:schemeClr val="dk1"/>
              </a:buClr>
              <a:buSzPts val="1800"/>
              <a:buFont typeface="Arial"/>
              <a:buNone/>
            </a:pPr>
            <a:endParaRPr sz="1800" b="1" i="0" u="none" strike="noStrike" cap="none">
              <a:solidFill>
                <a:schemeClr val="dk1"/>
              </a:solidFill>
              <a:latin typeface="Courier New"/>
              <a:ea typeface="Courier New"/>
              <a:cs typeface="Courier New"/>
              <a:sym typeface="Courier New"/>
            </a:endParaRPr>
          </a:p>
        </p:txBody>
      </p:sp>
      <p:sp>
        <p:nvSpPr>
          <p:cNvPr id="193" name="Google Shape;193;p9"/>
          <p:cNvSpPr txBox="1"/>
          <p:nvPr/>
        </p:nvSpPr>
        <p:spPr>
          <a:xfrm>
            <a:off x="5726112" y="3908425"/>
            <a:ext cx="2520950" cy="646113"/>
          </a:xfrm>
          <a:prstGeom prst="rect">
            <a:avLst/>
          </a:prstGeom>
          <a:solidFill>
            <a:srgbClr val="FF6600"/>
          </a:solidFill>
          <a:ln>
            <a:noFill/>
          </a:ln>
        </p:spPr>
        <p:txBody>
          <a:bodyPr spcFirstLastPara="1" wrap="square" lIns="91425" tIns="45700" rIns="91425" bIns="45700" anchor="ctr" anchorCtr="0">
            <a:spAutoFit/>
          </a:bodyPr>
          <a:lstStyle/>
          <a:p>
            <a:pPr marL="0" marR="0" lvl="0" indent="0" algn="ctr" rtl="0">
              <a:spcBef>
                <a:spcPts val="0"/>
              </a:spcBef>
              <a:spcAft>
                <a:spcPts val="0"/>
              </a:spcAft>
              <a:buClr>
                <a:schemeClr val="dk1"/>
              </a:buClr>
              <a:buSzPts val="1800"/>
              <a:buFont typeface="Arial"/>
              <a:buNone/>
            </a:pPr>
            <a:r>
              <a:rPr lang="en-US" sz="1800" b="0" i="0" u="none" strike="noStrike" cap="none">
                <a:solidFill>
                  <a:schemeClr val="dk1"/>
                </a:solidFill>
                <a:latin typeface="Tahoma"/>
                <a:ea typeface="Tahoma"/>
                <a:cs typeface="Tahoma"/>
                <a:sym typeface="Tahoma"/>
              </a:rPr>
              <a:t>Use a pointer rather than object.</a:t>
            </a:r>
            <a:endParaRPr/>
          </a:p>
        </p:txBody>
      </p:sp>
      <p:cxnSp>
        <p:nvCxnSpPr>
          <p:cNvPr id="194" name="Google Shape;194;p9"/>
          <p:cNvCxnSpPr/>
          <p:nvPr/>
        </p:nvCxnSpPr>
        <p:spPr>
          <a:xfrm rot="10800000">
            <a:off x="3775075" y="3829050"/>
            <a:ext cx="1952625" cy="360363"/>
          </a:xfrm>
          <a:prstGeom prst="straightConnector1">
            <a:avLst/>
          </a:prstGeom>
          <a:noFill/>
          <a:ln w="76200" cap="flat" cmpd="sng">
            <a:solidFill>
              <a:srgbClr val="FF6600"/>
            </a:solidFill>
            <a:prstDash val="solid"/>
            <a:round/>
            <a:headEnd type="none" w="med" len="med"/>
            <a:tailEnd type="triangl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0"/>
          <p:cNvSpPr txBox="1">
            <a:spLocks noGrp="1"/>
          </p:cNvSpPr>
          <p:nvPr>
            <p:ph type="title"/>
          </p:nvPr>
        </p:nvSpPr>
        <p:spPr>
          <a:xfrm>
            <a:off x="457200" y="3810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Implementations of Aggregations</a:t>
            </a:r>
            <a:endParaRPr/>
          </a:p>
        </p:txBody>
      </p:sp>
      <p:sp>
        <p:nvSpPr>
          <p:cNvPr id="200" name="Google Shape;200;p10"/>
          <p:cNvSpPr txBox="1"/>
          <p:nvPr/>
        </p:nvSpPr>
        <p:spPr>
          <a:xfrm>
            <a:off x="838200" y="1981200"/>
            <a:ext cx="7292975" cy="3671887"/>
          </a:xfrm>
          <a:prstGeom prst="rect">
            <a:avLst/>
          </a:prstGeom>
          <a:noFill/>
          <a:ln>
            <a:noFill/>
          </a:ln>
        </p:spPr>
        <p:txBody>
          <a:bodyPr spcFirstLastPara="1" wrap="square" lIns="91425" tIns="45700" rIns="91425" bIns="45700" anchor="t" anchorCtr="0">
            <a:noAutofit/>
          </a:bodyPr>
          <a:lstStyle/>
          <a:p>
            <a:pPr marL="742950" marR="0" lvl="1" indent="-285750" algn="l" rtl="0">
              <a:spcBef>
                <a:spcPts val="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void Student::enrollCourse(Course* c){</a:t>
            </a:r>
            <a:endParaRPr/>
          </a:p>
          <a:p>
            <a:pPr marL="742950" marR="0" lvl="1" indent="-285750" algn="l" rtl="0">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course = c;</a:t>
            </a:r>
            <a:endParaRPr/>
          </a:p>
          <a:p>
            <a:pPr marL="742950" marR="0" lvl="1" indent="-285750" algn="l" rtl="0">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a:t>
            </a:r>
            <a:endParaRPr/>
          </a:p>
          <a:p>
            <a:pPr marL="742950" marR="0" lvl="1" indent="-285750" algn="l" rtl="0">
              <a:spcBef>
                <a:spcPts val="400"/>
              </a:spcBef>
              <a:spcAft>
                <a:spcPts val="0"/>
              </a:spcAft>
              <a:buClr>
                <a:schemeClr val="dk1"/>
              </a:buClr>
              <a:buSzPts val="2000"/>
              <a:buFont typeface="Arial"/>
              <a:buNone/>
            </a:pPr>
            <a:endParaRPr sz="2000" b="1" i="0" u="none" strike="noStrike" cap="none">
              <a:solidFill>
                <a:schemeClr val="dk1"/>
              </a:solidFill>
              <a:latin typeface="Courier New"/>
              <a:ea typeface="Courier New"/>
              <a:cs typeface="Courier New"/>
              <a:sym typeface="Courier New"/>
            </a:endParaRPr>
          </a:p>
          <a:p>
            <a:pPr marL="742950" marR="0" lvl="1" indent="-285750" algn="l" rtl="0">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void Student::withdrawSubject(){</a:t>
            </a:r>
            <a:endParaRPr/>
          </a:p>
          <a:p>
            <a:pPr marL="742950" marR="0" lvl="1" indent="-285750" algn="l" rtl="0">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course=NULL;</a:t>
            </a:r>
            <a:endParaRPr/>
          </a:p>
          <a:p>
            <a:pPr marL="742950" marR="0" lvl="1" indent="-285750" algn="l" rtl="0">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a:t>
            </a:r>
            <a:endParaRPr sz="1800" b="1" i="0" u="none" strike="noStrike" cap="none">
              <a:solidFill>
                <a:schemeClr val="dk1"/>
              </a:solidFill>
              <a:latin typeface="Courier New"/>
              <a:ea typeface="Courier New"/>
              <a:cs typeface="Courier New"/>
              <a:sym typeface="Courier New"/>
            </a:endParaRPr>
          </a:p>
        </p:txBody>
      </p:sp>
      <p:sp>
        <p:nvSpPr>
          <p:cNvPr id="201" name="Google Shape;201;p10"/>
          <p:cNvSpPr txBox="1"/>
          <p:nvPr/>
        </p:nvSpPr>
        <p:spPr>
          <a:xfrm>
            <a:off x="4786313" y="2552700"/>
            <a:ext cx="3492500" cy="954087"/>
          </a:xfrm>
          <a:prstGeom prst="rect">
            <a:avLst/>
          </a:prstGeom>
          <a:solidFill>
            <a:srgbClr val="FF6600"/>
          </a:solidFill>
          <a:ln>
            <a:noFill/>
          </a:ln>
        </p:spPr>
        <p:txBody>
          <a:bodyPr spcFirstLastPara="1" wrap="square" lIns="91425" tIns="45700" rIns="91425" bIns="45700" anchor="ctr" anchorCtr="0">
            <a:spAutoFit/>
          </a:bodyPr>
          <a:lstStyle/>
          <a:p>
            <a:pPr marL="0" marR="0" lvl="0" indent="0" algn="ctr" rtl="0">
              <a:spcBef>
                <a:spcPts val="0"/>
              </a:spcBef>
              <a:spcAft>
                <a:spcPts val="0"/>
              </a:spcAft>
              <a:buClr>
                <a:schemeClr val="dk1"/>
              </a:buClr>
              <a:buSzPts val="1400"/>
              <a:buFont typeface="Arial"/>
              <a:buNone/>
            </a:pPr>
            <a:r>
              <a:rPr lang="en-US" sz="1400" b="0" i="0" u="none" strike="noStrike" cap="none">
                <a:solidFill>
                  <a:schemeClr val="dk1"/>
                </a:solidFill>
                <a:latin typeface="Tahoma"/>
                <a:ea typeface="Tahoma"/>
                <a:cs typeface="Tahoma"/>
                <a:sym typeface="Tahoma"/>
              </a:rPr>
              <a:t>The course should be passed rather </a:t>
            </a:r>
            <a:endParaRPr/>
          </a:p>
          <a:p>
            <a:pPr marL="0" marR="0" lvl="0" indent="0" algn="ctr" rtl="0">
              <a:spcBef>
                <a:spcPts val="0"/>
              </a:spcBef>
              <a:spcAft>
                <a:spcPts val="0"/>
              </a:spcAft>
              <a:buClr>
                <a:schemeClr val="dk1"/>
              </a:buClr>
              <a:buSzPts val="1400"/>
              <a:buFont typeface="Arial"/>
              <a:buNone/>
            </a:pPr>
            <a:r>
              <a:rPr lang="en-US" sz="1400" b="0" i="0" u="none" strike="noStrike" cap="none">
                <a:solidFill>
                  <a:schemeClr val="dk1"/>
                </a:solidFill>
                <a:latin typeface="Tahoma"/>
                <a:ea typeface="Tahoma"/>
                <a:cs typeface="Tahoma"/>
                <a:sym typeface="Tahoma"/>
              </a:rPr>
              <a:t>than the object student create it itself, </a:t>
            </a:r>
            <a:endParaRPr/>
          </a:p>
          <a:p>
            <a:pPr marL="0" marR="0" lvl="0" indent="0" algn="ctr" rtl="0">
              <a:spcBef>
                <a:spcPts val="0"/>
              </a:spcBef>
              <a:spcAft>
                <a:spcPts val="0"/>
              </a:spcAft>
              <a:buClr>
                <a:schemeClr val="dk1"/>
              </a:buClr>
              <a:buSzPts val="1400"/>
              <a:buFont typeface="Arial"/>
              <a:buNone/>
            </a:pPr>
            <a:r>
              <a:rPr lang="en-US" sz="1400" b="0" i="0" u="none" strike="noStrike" cap="none">
                <a:solidFill>
                  <a:schemeClr val="dk1"/>
                </a:solidFill>
                <a:latin typeface="Tahoma"/>
                <a:ea typeface="Tahoma"/>
                <a:cs typeface="Tahoma"/>
                <a:sym typeface="Tahoma"/>
              </a:rPr>
              <a:t>as the course  is shared with other students.</a:t>
            </a:r>
            <a:endParaRPr/>
          </a:p>
        </p:txBody>
      </p:sp>
      <p:cxnSp>
        <p:nvCxnSpPr>
          <p:cNvPr id="202" name="Google Shape;202;p10"/>
          <p:cNvCxnSpPr/>
          <p:nvPr/>
        </p:nvCxnSpPr>
        <p:spPr>
          <a:xfrm rot="10800000" flipH="1">
            <a:off x="6334125" y="2190750"/>
            <a:ext cx="287338" cy="428625"/>
          </a:xfrm>
          <a:prstGeom prst="straightConnector1">
            <a:avLst/>
          </a:prstGeom>
          <a:noFill/>
          <a:ln w="76200" cap="flat" cmpd="sng">
            <a:solidFill>
              <a:srgbClr val="FF6600"/>
            </a:solidFill>
            <a:prstDash val="solid"/>
            <a:round/>
            <a:headEnd type="none" w="med" len="med"/>
            <a:tailEnd type="triangle" w="med" len="med"/>
          </a:ln>
        </p:spPr>
      </p:cxnSp>
      <p:sp>
        <p:nvSpPr>
          <p:cNvPr id="203" name="Google Shape;203;p10"/>
          <p:cNvSpPr txBox="1"/>
          <p:nvPr/>
        </p:nvSpPr>
        <p:spPr>
          <a:xfrm>
            <a:off x="1222375" y="4700587"/>
            <a:ext cx="6678613" cy="830263"/>
          </a:xfrm>
          <a:prstGeom prst="rect">
            <a:avLst/>
          </a:prstGeom>
          <a:solidFill>
            <a:srgbClr val="FF6600"/>
          </a:solidFill>
          <a:ln>
            <a:noFill/>
          </a:ln>
        </p:spPr>
        <p:txBody>
          <a:bodyPr spcFirstLastPara="1" wrap="square" lIns="91425" tIns="45700" rIns="91425" bIns="45700" anchor="ctr" anchorCtr="0">
            <a:spAutoFit/>
          </a:bodyPr>
          <a:lstStyle/>
          <a:p>
            <a:pPr marL="0" marR="0" lvl="0" indent="0" algn="ctr" rtl="0">
              <a:spcBef>
                <a:spcPts val="0"/>
              </a:spcBef>
              <a:spcAft>
                <a:spcPts val="0"/>
              </a:spcAft>
              <a:buClr>
                <a:schemeClr val="dk1"/>
              </a:buClr>
              <a:buSzPts val="1600"/>
              <a:buFont typeface="Arial"/>
              <a:buNone/>
            </a:pPr>
            <a:r>
              <a:rPr lang="en-US" sz="1600" b="0" i="0" u="none" strike="noStrike" cap="none">
                <a:solidFill>
                  <a:schemeClr val="dk1"/>
                </a:solidFill>
                <a:latin typeface="Tahoma"/>
                <a:ea typeface="Tahoma"/>
                <a:cs typeface="Tahoma"/>
                <a:sym typeface="Tahoma"/>
              </a:rPr>
              <a:t>..and when a student withdraw the course, </a:t>
            </a:r>
            <a:endParaRPr/>
          </a:p>
          <a:p>
            <a:pPr marL="0" marR="0" lvl="0" indent="0" algn="ctr" rtl="0">
              <a:spcBef>
                <a:spcPts val="0"/>
              </a:spcBef>
              <a:spcAft>
                <a:spcPts val="0"/>
              </a:spcAft>
              <a:buClr>
                <a:schemeClr val="dk1"/>
              </a:buClr>
              <a:buSzPts val="1600"/>
              <a:buFont typeface="Arial"/>
              <a:buNone/>
            </a:pPr>
            <a:r>
              <a:rPr lang="en-US" sz="1600" b="0" i="0" u="none" strike="noStrike" cap="none">
                <a:solidFill>
                  <a:schemeClr val="dk1"/>
                </a:solidFill>
                <a:latin typeface="Tahoma"/>
                <a:ea typeface="Tahoma"/>
                <a:cs typeface="Tahoma"/>
                <a:sym typeface="Tahoma"/>
              </a:rPr>
              <a:t>we just need to break the link/pointing, and not to “delete” the course. </a:t>
            </a:r>
            <a:endParaRPr/>
          </a:p>
          <a:p>
            <a:pPr marL="0" marR="0" lvl="0" indent="0" algn="ctr" rtl="0">
              <a:spcBef>
                <a:spcPts val="0"/>
              </a:spcBef>
              <a:spcAft>
                <a:spcPts val="0"/>
              </a:spcAft>
              <a:buClr>
                <a:schemeClr val="dk1"/>
              </a:buClr>
              <a:buSzPts val="1600"/>
              <a:buFont typeface="Arial"/>
              <a:buNone/>
            </a:pPr>
            <a:r>
              <a:rPr lang="en-US" sz="1600" b="0" i="0" u="none" strike="noStrike" cap="none">
                <a:solidFill>
                  <a:schemeClr val="dk1"/>
                </a:solidFill>
                <a:latin typeface="Tahoma"/>
                <a:ea typeface="Tahoma"/>
                <a:cs typeface="Tahoma"/>
                <a:sym typeface="Tahoma"/>
              </a:rPr>
              <a:t>Other students might still be using the course.</a:t>
            </a:r>
            <a:endParaRPr/>
          </a:p>
        </p:txBody>
      </p:sp>
      <p:cxnSp>
        <p:nvCxnSpPr>
          <p:cNvPr id="204" name="Google Shape;204;p10"/>
          <p:cNvCxnSpPr/>
          <p:nvPr/>
        </p:nvCxnSpPr>
        <p:spPr>
          <a:xfrm rot="10800000">
            <a:off x="3957638" y="4140200"/>
            <a:ext cx="828675" cy="560387"/>
          </a:xfrm>
          <a:prstGeom prst="straightConnector1">
            <a:avLst/>
          </a:prstGeom>
          <a:noFill/>
          <a:ln w="76200" cap="flat" cmpd="sng">
            <a:solidFill>
              <a:srgbClr val="FF6600"/>
            </a:solidFill>
            <a:prstDash val="solid"/>
            <a:round/>
            <a:headEnd type="none" w="med" len="med"/>
            <a:tailEnd type="triangle" w="med" len="med"/>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1"/>
          <p:cNvSpPr txBox="1">
            <a:spLocks noGrp="1"/>
          </p:cNvSpPr>
          <p:nvPr>
            <p:ph type="title"/>
          </p:nvPr>
        </p:nvSpPr>
        <p:spPr>
          <a:xfrm>
            <a:off x="457200" y="3810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Implementations of Aggregations</a:t>
            </a:r>
            <a:endParaRPr/>
          </a:p>
        </p:txBody>
      </p:sp>
      <p:sp>
        <p:nvSpPr>
          <p:cNvPr id="210" name="Google Shape;210;p11"/>
          <p:cNvSpPr txBox="1"/>
          <p:nvPr/>
        </p:nvSpPr>
        <p:spPr>
          <a:xfrm>
            <a:off x="1524000" y="1631950"/>
            <a:ext cx="7292975" cy="4464050"/>
          </a:xfrm>
          <a:prstGeom prst="rect">
            <a:avLst/>
          </a:prstGeom>
          <a:noFill/>
          <a:ln>
            <a:noFill/>
          </a:ln>
        </p:spPr>
        <p:txBody>
          <a:bodyPr spcFirstLastPara="1" wrap="square" lIns="91425" tIns="45700" rIns="91425" bIns="45700" anchor="t" anchorCtr="0">
            <a:noAutofit/>
          </a:bodyPr>
          <a:lstStyle/>
          <a:p>
            <a:pPr marL="742950" marR="0" lvl="1" indent="-285750" algn="l" rtl="0">
              <a:spcBef>
                <a:spcPts val="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int main()</a:t>
            </a:r>
            <a:endParaRPr/>
          </a:p>
          <a:p>
            <a:pPr marL="742950" marR="0" lvl="1" indent="-285750" algn="l" rtl="0">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a:t>
            </a:r>
            <a:endParaRPr/>
          </a:p>
          <a:p>
            <a:pPr marL="742950" marR="0" lvl="1" indent="-285750" algn="l" rtl="0">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a:t>
            </a:r>
            <a:r>
              <a:rPr lang="en-US" sz="2000" b="1" i="0" u="none" strike="noStrike" cap="none">
                <a:solidFill>
                  <a:srgbClr val="FF0000"/>
                </a:solidFill>
                <a:latin typeface="Courier New"/>
                <a:ea typeface="Courier New"/>
                <a:cs typeface="Courier New"/>
                <a:sym typeface="Courier New"/>
              </a:rPr>
              <a:t>Course c1</a:t>
            </a:r>
            <a:r>
              <a:rPr lang="en-US" sz="2000" b="1" i="0" u="none" strike="noStrike" cap="none">
                <a:solidFill>
                  <a:schemeClr val="dk1"/>
                </a:solidFill>
                <a:latin typeface="Courier New"/>
                <a:ea typeface="Courier New"/>
                <a:cs typeface="Courier New"/>
                <a:sym typeface="Courier New"/>
              </a:rPr>
              <a:t>(“SCSJ1023”,”Prog. Tech. 2”);</a:t>
            </a:r>
            <a:endParaRPr/>
          </a:p>
          <a:p>
            <a:pPr marL="742950" marR="0" lvl="1" indent="-285750" algn="l" rtl="0">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Student s1 = </a:t>
            </a:r>
            <a:r>
              <a:rPr lang="en-US" sz="2000" b="1" i="0" u="none" strike="noStrike" cap="none">
                <a:solidFill>
                  <a:srgbClr val="FF0000"/>
                </a:solidFill>
                <a:latin typeface="Courier New"/>
                <a:ea typeface="Courier New"/>
                <a:cs typeface="Courier New"/>
                <a:sym typeface="Courier New"/>
              </a:rPr>
              <a:t>new Student</a:t>
            </a:r>
            <a:r>
              <a:rPr lang="en-US" sz="2000" b="1" i="0" u="none" strike="noStrike" cap="none">
                <a:solidFill>
                  <a:schemeClr val="dk1"/>
                </a:solidFill>
                <a:latin typeface="Courier New"/>
                <a:ea typeface="Courier New"/>
                <a:cs typeface="Courier New"/>
                <a:sym typeface="Courier New"/>
              </a:rPr>
              <a:t>;</a:t>
            </a:r>
            <a:endParaRPr/>
          </a:p>
          <a:p>
            <a:pPr marL="742950" marR="0" lvl="1" indent="-285750" algn="l" rtl="0">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Student s2, s3;</a:t>
            </a:r>
            <a:endParaRPr/>
          </a:p>
          <a:p>
            <a:pPr marL="742950" marR="0" lvl="1" indent="-285750" algn="l" rtl="0">
              <a:spcBef>
                <a:spcPts val="400"/>
              </a:spcBef>
              <a:spcAft>
                <a:spcPts val="0"/>
              </a:spcAft>
              <a:buClr>
                <a:schemeClr val="dk1"/>
              </a:buClr>
              <a:buSzPts val="2000"/>
              <a:buFont typeface="Arial"/>
              <a:buNone/>
            </a:pPr>
            <a:endParaRPr sz="2000" b="1" i="0" u="none" strike="noStrike" cap="none">
              <a:solidFill>
                <a:schemeClr val="dk1"/>
              </a:solidFill>
              <a:latin typeface="Courier New"/>
              <a:ea typeface="Courier New"/>
              <a:cs typeface="Courier New"/>
              <a:sym typeface="Courier New"/>
            </a:endParaRPr>
          </a:p>
          <a:p>
            <a:pPr marL="742950" marR="0" lvl="1" indent="-285750" algn="l" rtl="0">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a:t>
            </a:r>
            <a:r>
              <a:rPr lang="en-US" sz="2000" b="1" i="0" u="none" strike="noStrike" cap="none">
                <a:solidFill>
                  <a:srgbClr val="FF0000"/>
                </a:solidFill>
                <a:latin typeface="Courier New"/>
                <a:ea typeface="Courier New"/>
                <a:cs typeface="Courier New"/>
                <a:sym typeface="Courier New"/>
              </a:rPr>
              <a:t>s1-&gt;enrollCourse</a:t>
            </a:r>
            <a:r>
              <a:rPr lang="en-US" sz="2000" b="1" i="0" u="none" strike="noStrike" cap="none">
                <a:solidFill>
                  <a:schemeClr val="dk1"/>
                </a:solidFill>
                <a:latin typeface="Courier New"/>
                <a:ea typeface="Courier New"/>
                <a:cs typeface="Courier New"/>
                <a:sym typeface="Courier New"/>
              </a:rPr>
              <a:t>(&amp;c1);  </a:t>
            </a:r>
            <a:endParaRPr/>
          </a:p>
          <a:p>
            <a:pPr marL="742950" marR="0" lvl="1" indent="-285750" algn="l" rtl="0">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s2.enrollCourse(&amp;c1);</a:t>
            </a:r>
            <a:endParaRPr/>
          </a:p>
          <a:p>
            <a:pPr marL="742950" marR="0" lvl="1" indent="-285750" algn="l" rtl="0">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s3.enrollCourse(&amp;c1);</a:t>
            </a:r>
            <a:endParaRPr/>
          </a:p>
          <a:p>
            <a:pPr marL="742950" marR="0" lvl="1" indent="-285750" algn="l" rtl="0">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a:t>
            </a:r>
            <a:endParaRPr/>
          </a:p>
          <a:p>
            <a:pPr marL="742950" marR="0" lvl="1" indent="-285750" algn="l" rtl="0">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a:t>
            </a:r>
            <a:r>
              <a:rPr lang="en-US" sz="2000" b="1" i="0" u="none" strike="noStrike" cap="none">
                <a:solidFill>
                  <a:srgbClr val="FF0000"/>
                </a:solidFill>
                <a:latin typeface="Courier New"/>
                <a:ea typeface="Courier New"/>
                <a:cs typeface="Courier New"/>
                <a:sym typeface="Courier New"/>
              </a:rPr>
              <a:t>delete s1; </a:t>
            </a:r>
            <a:endParaRPr sz="2000" b="1" i="0" u="none" strike="noStrike" cap="none">
              <a:solidFill>
                <a:schemeClr val="dk1"/>
              </a:solidFill>
              <a:latin typeface="Courier New"/>
              <a:ea typeface="Courier New"/>
              <a:cs typeface="Courier New"/>
              <a:sym typeface="Courier New"/>
            </a:endParaRPr>
          </a:p>
          <a:p>
            <a:pPr marL="742950" marR="0" lvl="1" indent="-285750" algn="l" rtl="0">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a:t>
            </a:r>
            <a:endParaRPr/>
          </a:p>
        </p:txBody>
      </p:sp>
      <p:sp>
        <p:nvSpPr>
          <p:cNvPr id="211" name="Google Shape;211;p11"/>
          <p:cNvSpPr txBox="1"/>
          <p:nvPr/>
        </p:nvSpPr>
        <p:spPr>
          <a:xfrm>
            <a:off x="3913188" y="1365250"/>
            <a:ext cx="2195512" cy="954087"/>
          </a:xfrm>
          <a:prstGeom prst="rect">
            <a:avLst/>
          </a:prstGeom>
          <a:solidFill>
            <a:srgbClr val="FF6600"/>
          </a:solidFill>
          <a:ln>
            <a:noFill/>
          </a:ln>
        </p:spPr>
        <p:txBody>
          <a:bodyPr spcFirstLastPara="1" wrap="square" lIns="91425" tIns="45700" rIns="91425" bIns="45700" anchor="ctr" anchorCtr="0">
            <a:spAutoFit/>
          </a:bodyPr>
          <a:lstStyle/>
          <a:p>
            <a:pPr marL="0" marR="0" lvl="0" indent="0" algn="ctr" rtl="0">
              <a:spcBef>
                <a:spcPts val="0"/>
              </a:spcBef>
              <a:spcAft>
                <a:spcPts val="0"/>
              </a:spcAft>
              <a:buClr>
                <a:schemeClr val="dk1"/>
              </a:buClr>
              <a:buSzPts val="1400"/>
              <a:buFont typeface="Arial"/>
              <a:buNone/>
            </a:pPr>
            <a:r>
              <a:rPr lang="en-US" sz="1400" b="0" i="0" u="none" strike="noStrike" cap="none">
                <a:solidFill>
                  <a:schemeClr val="dk1"/>
                </a:solidFill>
                <a:latin typeface="Tahoma"/>
                <a:ea typeface="Tahoma"/>
                <a:cs typeface="Tahoma"/>
                <a:sym typeface="Tahoma"/>
              </a:rPr>
              <a:t>A course can be created </a:t>
            </a:r>
            <a:endParaRPr/>
          </a:p>
          <a:p>
            <a:pPr marL="0" marR="0" lvl="0" indent="0" algn="ctr" rtl="0">
              <a:spcBef>
                <a:spcPts val="0"/>
              </a:spcBef>
              <a:spcAft>
                <a:spcPts val="0"/>
              </a:spcAft>
              <a:buClr>
                <a:schemeClr val="dk1"/>
              </a:buClr>
              <a:buSzPts val="1400"/>
              <a:buFont typeface="Arial"/>
              <a:buNone/>
            </a:pPr>
            <a:r>
              <a:rPr lang="en-US" sz="1400" b="0" i="0" u="none" strike="noStrike" cap="none">
                <a:solidFill>
                  <a:schemeClr val="dk1"/>
                </a:solidFill>
                <a:latin typeface="Tahoma"/>
                <a:ea typeface="Tahoma"/>
                <a:cs typeface="Tahoma"/>
                <a:sym typeface="Tahoma"/>
              </a:rPr>
              <a:t>independently as it does not belong to any student.</a:t>
            </a:r>
            <a:endParaRPr/>
          </a:p>
        </p:txBody>
      </p:sp>
      <p:cxnSp>
        <p:nvCxnSpPr>
          <p:cNvPr id="212" name="Google Shape;212;p11"/>
          <p:cNvCxnSpPr/>
          <p:nvPr/>
        </p:nvCxnSpPr>
        <p:spPr>
          <a:xfrm flipH="1">
            <a:off x="3478213" y="2054225"/>
            <a:ext cx="434975" cy="395287"/>
          </a:xfrm>
          <a:prstGeom prst="straightConnector1">
            <a:avLst/>
          </a:prstGeom>
          <a:noFill/>
          <a:ln w="76200" cap="flat" cmpd="sng">
            <a:solidFill>
              <a:srgbClr val="FF6600"/>
            </a:solidFill>
            <a:prstDash val="solid"/>
            <a:round/>
            <a:headEnd type="none" w="med" len="med"/>
            <a:tailEnd type="triangle" w="med" len="med"/>
          </a:ln>
        </p:spPr>
      </p:cxnSp>
      <p:sp>
        <p:nvSpPr>
          <p:cNvPr id="213" name="Google Shape;213;p11"/>
          <p:cNvSpPr txBox="1"/>
          <p:nvPr/>
        </p:nvSpPr>
        <p:spPr>
          <a:xfrm>
            <a:off x="5924550" y="4225925"/>
            <a:ext cx="2197100" cy="307975"/>
          </a:xfrm>
          <a:prstGeom prst="rect">
            <a:avLst/>
          </a:prstGeom>
          <a:solidFill>
            <a:srgbClr val="FF6600"/>
          </a:solidFill>
          <a:ln>
            <a:noFill/>
          </a:ln>
        </p:spPr>
        <p:txBody>
          <a:bodyPr spcFirstLastPara="1" wrap="square" lIns="91425" tIns="45700" rIns="91425" bIns="45700" anchor="ctr" anchorCtr="0">
            <a:spAutoFit/>
          </a:bodyPr>
          <a:lstStyle/>
          <a:p>
            <a:pPr marL="0" marR="0" lvl="0" indent="0" algn="ctr" rtl="0">
              <a:spcBef>
                <a:spcPts val="0"/>
              </a:spcBef>
              <a:spcAft>
                <a:spcPts val="0"/>
              </a:spcAft>
              <a:buClr>
                <a:schemeClr val="dk1"/>
              </a:buClr>
              <a:buSzPts val="1400"/>
              <a:buFont typeface="Arial"/>
              <a:buNone/>
            </a:pPr>
            <a:r>
              <a:rPr lang="en-US" sz="1400" b="0" i="0" u="none" strike="noStrike" cap="none">
                <a:solidFill>
                  <a:schemeClr val="dk1"/>
                </a:solidFill>
                <a:latin typeface="Tahoma"/>
                <a:ea typeface="Tahoma"/>
                <a:cs typeface="Tahoma"/>
                <a:sym typeface="Tahoma"/>
              </a:rPr>
              <a:t>Pass course as a pointer</a:t>
            </a:r>
            <a:endParaRPr/>
          </a:p>
        </p:txBody>
      </p:sp>
      <p:cxnSp>
        <p:nvCxnSpPr>
          <p:cNvPr id="214" name="Google Shape;214;p11"/>
          <p:cNvCxnSpPr/>
          <p:nvPr/>
        </p:nvCxnSpPr>
        <p:spPr>
          <a:xfrm rot="10800000">
            <a:off x="5349875" y="4356100"/>
            <a:ext cx="574675" cy="0"/>
          </a:xfrm>
          <a:prstGeom prst="straightConnector1">
            <a:avLst/>
          </a:prstGeom>
          <a:noFill/>
          <a:ln w="76200" cap="flat" cmpd="sng">
            <a:solidFill>
              <a:srgbClr val="FF6600"/>
            </a:solidFill>
            <a:prstDash val="solid"/>
            <a:round/>
            <a:headEnd type="none" w="med" len="med"/>
            <a:tailEnd type="triangle" w="med" len="med"/>
          </a:ln>
        </p:spPr>
      </p:cxnSp>
      <p:sp>
        <p:nvSpPr>
          <p:cNvPr id="215" name="Google Shape;215;p11"/>
          <p:cNvSpPr txBox="1"/>
          <p:nvPr/>
        </p:nvSpPr>
        <p:spPr>
          <a:xfrm>
            <a:off x="4500563" y="5087937"/>
            <a:ext cx="3743325" cy="738188"/>
          </a:xfrm>
          <a:prstGeom prst="rect">
            <a:avLst/>
          </a:prstGeom>
          <a:solidFill>
            <a:srgbClr val="FF6600"/>
          </a:solidFill>
          <a:ln>
            <a:noFill/>
          </a:ln>
        </p:spPr>
        <p:txBody>
          <a:bodyPr spcFirstLastPara="1" wrap="square" lIns="91425" tIns="45700" rIns="91425" bIns="45700" anchor="ctr" anchorCtr="0">
            <a:spAutoFit/>
          </a:bodyPr>
          <a:lstStyle/>
          <a:p>
            <a:pPr marL="0" marR="0" lvl="0" indent="0" algn="ctr" rtl="0">
              <a:spcBef>
                <a:spcPts val="0"/>
              </a:spcBef>
              <a:spcAft>
                <a:spcPts val="0"/>
              </a:spcAft>
              <a:buClr>
                <a:schemeClr val="dk1"/>
              </a:buClr>
              <a:buSzPts val="1400"/>
              <a:buFont typeface="Arial"/>
              <a:buNone/>
            </a:pPr>
            <a:r>
              <a:rPr lang="en-US" sz="1400" b="0" i="0" u="none" strike="noStrike" cap="none">
                <a:solidFill>
                  <a:schemeClr val="dk1"/>
                </a:solidFill>
                <a:latin typeface="Tahoma"/>
                <a:ea typeface="Tahoma"/>
                <a:cs typeface="Tahoma"/>
                <a:sym typeface="Tahoma"/>
              </a:rPr>
              <a:t>The student is deleted from the system as he or she has dropped out from the study. However, the course c1 still exists.</a:t>
            </a:r>
            <a:endParaRPr/>
          </a:p>
        </p:txBody>
      </p:sp>
      <p:cxnSp>
        <p:nvCxnSpPr>
          <p:cNvPr id="216" name="Google Shape;216;p11"/>
          <p:cNvCxnSpPr/>
          <p:nvPr/>
        </p:nvCxnSpPr>
        <p:spPr>
          <a:xfrm rot="10800000">
            <a:off x="3924300" y="5432425"/>
            <a:ext cx="576263" cy="0"/>
          </a:xfrm>
          <a:prstGeom prst="straightConnector1">
            <a:avLst/>
          </a:prstGeom>
          <a:noFill/>
          <a:ln w="76200" cap="flat" cmpd="sng">
            <a:solidFill>
              <a:srgbClr val="FF6600"/>
            </a:solidFill>
            <a:prstDash val="solid"/>
            <a:round/>
            <a:headEnd type="none" w="med" len="med"/>
            <a:tailEnd type="triangle" w="med" len="med"/>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Introduction to Compositions</a:t>
            </a:r>
            <a:endParaRPr/>
          </a:p>
        </p:txBody>
      </p:sp>
      <p:sp>
        <p:nvSpPr>
          <p:cNvPr id="228" name="Google Shape;228;p13"/>
          <p:cNvSpPr>
            <a:spLocks noGrp="1"/>
          </p:cNvSpPr>
          <p:nvPr>
            <p:ph type="body" idx="1"/>
          </p:nvPr>
        </p:nvSpPr>
        <p:spPr>
          <a:xfrm>
            <a:off x="457200" y="1529154"/>
            <a:ext cx="8229600" cy="838200"/>
          </a:xfrm>
          <a:prstGeom prst="roundRect">
            <a:avLst>
              <a:gd name="adj" fmla="val 16667"/>
            </a:avLst>
          </a:prstGeom>
          <a:solidFill>
            <a:schemeClr val="accent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000"/>
              <a:buFont typeface="Noto Sans Symbols"/>
              <a:buChar char="🏵"/>
            </a:pPr>
            <a:r>
              <a:rPr lang="en-US" sz="2000" b="1">
                <a:solidFill>
                  <a:srgbClr val="FFFF00"/>
                </a:solidFill>
              </a:rPr>
              <a:t>Composition</a:t>
            </a:r>
            <a:r>
              <a:rPr lang="en-US" sz="2000"/>
              <a:t>: a restricted version of aggregation in which the enclosing and enclosed objects are </a:t>
            </a:r>
            <a:r>
              <a:rPr lang="en-US" sz="2000">
                <a:solidFill>
                  <a:srgbClr val="FFFF00"/>
                </a:solidFill>
              </a:rPr>
              <a:t>highly dependent</a:t>
            </a:r>
            <a:r>
              <a:rPr lang="en-US" sz="2000"/>
              <a:t> on each other.</a:t>
            </a:r>
            <a:endParaRPr/>
          </a:p>
        </p:txBody>
      </p:sp>
      <p:sp>
        <p:nvSpPr>
          <p:cNvPr id="229" name="Google Shape;229;p13"/>
          <p:cNvSpPr>
            <a:spLocks noGrp="1"/>
          </p:cNvSpPr>
          <p:nvPr>
            <p:ph type="body" idx="2"/>
          </p:nvPr>
        </p:nvSpPr>
        <p:spPr>
          <a:xfrm>
            <a:off x="491383" y="2511472"/>
            <a:ext cx="8229600" cy="838200"/>
          </a:xfrm>
          <a:prstGeom prst="roundRect">
            <a:avLst>
              <a:gd name="adj" fmla="val 16667"/>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000"/>
              <a:buFont typeface="Noto Sans Symbols"/>
              <a:buChar char="🏵"/>
            </a:pPr>
            <a:r>
              <a:rPr lang="en-US" sz="2000"/>
              <a:t>The </a:t>
            </a:r>
            <a:r>
              <a:rPr lang="en-US" sz="2000">
                <a:solidFill>
                  <a:srgbClr val="FFFF00"/>
                </a:solidFill>
              </a:rPr>
              <a:t>existence</a:t>
            </a:r>
            <a:r>
              <a:rPr lang="en-US" sz="2000"/>
              <a:t> of the enclosed objects are determined by the enclosing objects.</a:t>
            </a:r>
            <a:endParaRPr/>
          </a:p>
        </p:txBody>
      </p:sp>
      <p:sp>
        <p:nvSpPr>
          <p:cNvPr id="230" name="Google Shape;230;p13"/>
          <p:cNvSpPr>
            <a:spLocks noGrp="1"/>
          </p:cNvSpPr>
          <p:nvPr>
            <p:ph type="body" idx="3"/>
          </p:nvPr>
        </p:nvSpPr>
        <p:spPr>
          <a:xfrm>
            <a:off x="489959" y="3508329"/>
            <a:ext cx="8229600" cy="1400630"/>
          </a:xfrm>
          <a:prstGeom prst="roundRect">
            <a:avLst>
              <a:gd name="adj" fmla="val 16667"/>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000"/>
              <a:buFont typeface="Noto Sans Symbols"/>
              <a:buChar char="🏵"/>
            </a:pPr>
            <a:r>
              <a:rPr lang="en-US" sz="2000"/>
              <a:t>It models a </a:t>
            </a:r>
            <a:r>
              <a:rPr lang="en-US" sz="2000">
                <a:solidFill>
                  <a:srgbClr val="FFFF00"/>
                </a:solidFill>
              </a:rPr>
              <a:t>whole/part</a:t>
            </a:r>
            <a:r>
              <a:rPr lang="en-US" sz="2000"/>
              <a:t> relationship with a strong ownership; when the whole dies, the part does so as well</a:t>
            </a:r>
            <a:endParaRPr/>
          </a:p>
          <a:p>
            <a:pPr marL="742950" lvl="1" indent="-285750" algn="l" rtl="0">
              <a:spcBef>
                <a:spcPts val="320"/>
              </a:spcBef>
              <a:spcAft>
                <a:spcPts val="0"/>
              </a:spcAft>
              <a:buClr>
                <a:schemeClr val="lt1"/>
              </a:buClr>
              <a:buSzPts val="1600"/>
              <a:buChar char="◆"/>
            </a:pPr>
            <a:r>
              <a:rPr lang="en-US" sz="1600"/>
              <a:t>enclosing objects(whole) </a:t>
            </a:r>
            <a:r>
              <a:rPr lang="en-US" sz="1600" b="1">
                <a:solidFill>
                  <a:srgbClr val="FFFF00"/>
                </a:solidFill>
              </a:rPr>
              <a:t>‘has / contains/ consists of’</a:t>
            </a:r>
            <a:r>
              <a:rPr lang="en-US" sz="1600"/>
              <a:t> enclosed objects (parts)</a:t>
            </a:r>
            <a:endParaRPr/>
          </a:p>
          <a:p>
            <a:pPr marL="742950" lvl="1" indent="-285750" algn="l" rtl="0">
              <a:spcBef>
                <a:spcPts val="280"/>
              </a:spcBef>
              <a:spcAft>
                <a:spcPts val="0"/>
              </a:spcAft>
              <a:buClr>
                <a:schemeClr val="lt1"/>
              </a:buClr>
              <a:buSzPts val="1400"/>
              <a:buChar char="◆"/>
            </a:pPr>
            <a:r>
              <a:rPr lang="en-US" sz="1400">
                <a:latin typeface="Trebuchet MS"/>
                <a:ea typeface="Trebuchet MS"/>
                <a:cs typeface="Trebuchet MS"/>
                <a:sym typeface="Trebuchet MS"/>
              </a:rPr>
              <a:t>Alternatively: the enclosed object is </a:t>
            </a:r>
            <a:r>
              <a:rPr lang="en-US" sz="1400">
                <a:solidFill>
                  <a:srgbClr val="FFFF00"/>
                </a:solidFill>
                <a:latin typeface="Trebuchet MS"/>
                <a:ea typeface="Trebuchet MS"/>
                <a:cs typeface="Trebuchet MS"/>
                <a:sym typeface="Trebuchet MS"/>
              </a:rPr>
              <a:t>“part of”</a:t>
            </a:r>
            <a:r>
              <a:rPr lang="en-US" sz="1400">
                <a:latin typeface="Trebuchet MS"/>
                <a:ea typeface="Trebuchet MS"/>
                <a:cs typeface="Trebuchet MS"/>
                <a:sym typeface="Trebuchet MS"/>
              </a:rPr>
              <a:t> the enclosing object.</a:t>
            </a:r>
            <a:endParaRPr sz="1400"/>
          </a:p>
        </p:txBody>
      </p:sp>
      <p:sp>
        <p:nvSpPr>
          <p:cNvPr id="231" name="Google Shape;231;p13"/>
          <p:cNvSpPr/>
          <p:nvPr/>
        </p:nvSpPr>
        <p:spPr>
          <a:xfrm>
            <a:off x="524854" y="5067616"/>
            <a:ext cx="8229600" cy="838200"/>
          </a:xfrm>
          <a:prstGeom prst="roundRect">
            <a:avLst>
              <a:gd name="adj" fmla="val 16667"/>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marR="0" lvl="0" indent="-342900" algn="l" rtl="0">
              <a:spcBef>
                <a:spcPts val="0"/>
              </a:spcBef>
              <a:spcAft>
                <a:spcPts val="0"/>
              </a:spcAft>
              <a:buClr>
                <a:schemeClr val="lt1"/>
              </a:buClr>
              <a:buSzPts val="2000"/>
              <a:buFont typeface="Noto Sans Symbols"/>
              <a:buChar char="🏵"/>
            </a:pPr>
            <a:r>
              <a:rPr lang="en-US" sz="2000" b="0" i="0" u="none" strike="noStrike" cap="none">
                <a:solidFill>
                  <a:schemeClr val="lt1"/>
                </a:solidFill>
                <a:latin typeface="Calibri"/>
                <a:ea typeface="Calibri"/>
                <a:cs typeface="Calibri"/>
                <a:sym typeface="Calibri"/>
              </a:rPr>
              <a:t>An object can be only part of one whole object</a:t>
            </a:r>
            <a:endParaRPr/>
          </a:p>
          <a:p>
            <a:pPr marL="342900" marR="0" lvl="0" indent="-342900" algn="l" rtl="0">
              <a:spcBef>
                <a:spcPts val="400"/>
              </a:spcBef>
              <a:spcAft>
                <a:spcPts val="0"/>
              </a:spcAft>
              <a:buClr>
                <a:schemeClr val="lt1"/>
              </a:buClr>
              <a:buSzPts val="2000"/>
              <a:buFont typeface="Noto Sans Symbols"/>
              <a:buChar char="🏵"/>
            </a:pPr>
            <a:r>
              <a:rPr lang="en-US" sz="2000" b="0" i="0" u="none" strike="noStrike" cap="none">
                <a:solidFill>
                  <a:schemeClr val="lt1"/>
                </a:solidFill>
                <a:latin typeface="Calibri"/>
                <a:ea typeface="Calibri"/>
                <a:cs typeface="Calibri"/>
                <a:sym typeface="Calibri"/>
              </a:rPr>
              <a:t>The </a:t>
            </a:r>
            <a:r>
              <a:rPr lang="en-US" sz="2000" b="1" i="0" u="none" strike="noStrike" cap="none">
                <a:solidFill>
                  <a:srgbClr val="FFFF00"/>
                </a:solidFill>
                <a:latin typeface="Calibri"/>
                <a:ea typeface="Calibri"/>
                <a:cs typeface="Calibri"/>
                <a:sym typeface="Calibri"/>
              </a:rPr>
              <a:t>whole </a:t>
            </a:r>
            <a:r>
              <a:rPr lang="en-US" sz="2000" b="0" i="0" u="none" strike="noStrike" cap="none">
                <a:solidFill>
                  <a:schemeClr val="lt1"/>
                </a:solidFill>
                <a:latin typeface="Calibri"/>
                <a:ea typeface="Calibri"/>
                <a:cs typeface="Calibri"/>
                <a:sym typeface="Calibri"/>
              </a:rPr>
              <a:t>object is responsible for creation and destruction of its part(s)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Introduction to Compositions</a:t>
            </a:r>
            <a:endParaRPr/>
          </a:p>
        </p:txBody>
      </p:sp>
      <p:grpSp>
        <p:nvGrpSpPr>
          <p:cNvPr id="237" name="Google Shape;237;p14"/>
          <p:cNvGrpSpPr/>
          <p:nvPr/>
        </p:nvGrpSpPr>
        <p:grpSpPr>
          <a:xfrm>
            <a:off x="2968625" y="1938338"/>
            <a:ext cx="4103688" cy="877887"/>
            <a:chOff x="3203848" y="3126828"/>
            <a:chExt cx="4104456" cy="878236"/>
          </a:xfrm>
        </p:grpSpPr>
        <p:sp>
          <p:nvSpPr>
            <p:cNvPr id="238" name="Google Shape;238;p14"/>
            <p:cNvSpPr/>
            <p:nvPr/>
          </p:nvSpPr>
          <p:spPr>
            <a:xfrm>
              <a:off x="3203848" y="3126828"/>
              <a:ext cx="1224192" cy="287451"/>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Body</a:t>
              </a:r>
              <a:endParaRPr/>
            </a:p>
          </p:txBody>
        </p:sp>
        <p:sp>
          <p:nvSpPr>
            <p:cNvPr id="239" name="Google Shape;239;p14"/>
            <p:cNvSpPr/>
            <p:nvPr/>
          </p:nvSpPr>
          <p:spPr>
            <a:xfrm>
              <a:off x="3203848" y="3423808"/>
              <a:ext cx="1224192" cy="566963"/>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0" name="Google Shape;240;p14"/>
            <p:cNvSpPr/>
            <p:nvPr/>
          </p:nvSpPr>
          <p:spPr>
            <a:xfrm>
              <a:off x="6084112" y="3141121"/>
              <a:ext cx="1224192" cy="287452"/>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dk1"/>
                  </a:solidFill>
                  <a:latin typeface="Calibri"/>
                  <a:ea typeface="Calibri"/>
                  <a:cs typeface="Calibri"/>
                  <a:sym typeface="Calibri"/>
                </a:rPr>
                <a:t>Heart</a:t>
              </a:r>
              <a:endParaRPr/>
            </a:p>
          </p:txBody>
        </p:sp>
        <p:sp>
          <p:nvSpPr>
            <p:cNvPr id="241" name="Google Shape;241;p14"/>
            <p:cNvSpPr/>
            <p:nvPr/>
          </p:nvSpPr>
          <p:spPr>
            <a:xfrm>
              <a:off x="6084112" y="3438102"/>
              <a:ext cx="1224192" cy="566962"/>
            </a:xfrm>
            <a:prstGeom prst="rect">
              <a:avLst/>
            </a:prstGeom>
            <a:no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242" name="Google Shape;242;p14"/>
            <p:cNvCxnSpPr>
              <a:stCxn id="243" idx="3"/>
            </p:cNvCxnSpPr>
            <p:nvPr/>
          </p:nvCxnSpPr>
          <p:spPr>
            <a:xfrm>
              <a:off x="4736073" y="3574681"/>
              <a:ext cx="1347900" cy="0"/>
            </a:xfrm>
            <a:prstGeom prst="straightConnector1">
              <a:avLst/>
            </a:prstGeom>
            <a:noFill/>
            <a:ln w="25400" cap="flat" cmpd="sng">
              <a:solidFill>
                <a:schemeClr val="dk1"/>
              </a:solidFill>
              <a:prstDash val="solid"/>
              <a:round/>
              <a:headEnd type="none" w="sm" len="sm"/>
              <a:tailEnd type="none" w="sm" len="sm"/>
            </a:ln>
            <a:effectLst>
              <a:outerShdw blurRad="40000" dist="20000" dir="5400000" rotWithShape="0">
                <a:srgbClr val="000000">
                  <a:alpha val="37647"/>
                </a:srgbClr>
              </a:outerShdw>
            </a:effectLst>
          </p:spPr>
        </p:cxnSp>
      </p:grpSp>
      <p:sp>
        <p:nvSpPr>
          <p:cNvPr id="244" name="Google Shape;244;p14"/>
          <p:cNvSpPr txBox="1"/>
          <p:nvPr/>
        </p:nvSpPr>
        <p:spPr>
          <a:xfrm>
            <a:off x="1579563" y="1214438"/>
            <a:ext cx="7024687" cy="33496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r>
              <a:rPr lang="en-US" sz="1800" b="0" i="1" u="none" strike="noStrike" cap="none">
                <a:solidFill>
                  <a:schemeClr val="dk1"/>
                </a:solidFill>
                <a:latin typeface="Trebuchet MS"/>
                <a:ea typeface="Trebuchet MS"/>
                <a:cs typeface="Trebuchet MS"/>
                <a:sym typeface="Trebuchet MS"/>
              </a:rPr>
              <a:t>Example:</a:t>
            </a:r>
            <a:endParaRPr/>
          </a:p>
        </p:txBody>
      </p:sp>
      <p:sp>
        <p:nvSpPr>
          <p:cNvPr id="245" name="Google Shape;245;p14"/>
          <p:cNvSpPr txBox="1"/>
          <p:nvPr/>
        </p:nvSpPr>
        <p:spPr>
          <a:xfrm>
            <a:off x="1979613" y="3232150"/>
            <a:ext cx="6624637" cy="2212975"/>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1600"/>
              <a:buFont typeface="Arial"/>
              <a:buChar char="•"/>
            </a:pPr>
            <a:r>
              <a:rPr lang="en-US" sz="1600" b="0" i="0" u="none" strike="noStrike" cap="none">
                <a:solidFill>
                  <a:schemeClr val="dk1"/>
                </a:solidFill>
                <a:latin typeface="Trebuchet MS"/>
                <a:ea typeface="Trebuchet MS"/>
                <a:cs typeface="Trebuchet MS"/>
                <a:sym typeface="Trebuchet MS"/>
              </a:rPr>
              <a:t>A “</a:t>
            </a:r>
            <a:r>
              <a:rPr lang="en-US" sz="1600" b="0" i="0" u="none" strike="noStrike" cap="none">
                <a:solidFill>
                  <a:srgbClr val="FF0000"/>
                </a:solidFill>
                <a:latin typeface="Trebuchet MS"/>
                <a:ea typeface="Trebuchet MS"/>
                <a:cs typeface="Trebuchet MS"/>
                <a:sym typeface="Trebuchet MS"/>
              </a:rPr>
              <a:t>whole-part</a:t>
            </a:r>
            <a:r>
              <a:rPr lang="en-US" sz="1600" b="0" i="0" u="none" strike="noStrike" cap="none">
                <a:solidFill>
                  <a:schemeClr val="dk1"/>
                </a:solidFill>
                <a:latin typeface="Trebuchet MS"/>
                <a:ea typeface="Trebuchet MS"/>
                <a:cs typeface="Trebuchet MS"/>
                <a:sym typeface="Trebuchet MS"/>
              </a:rPr>
              <a:t>” relationship:</a:t>
            </a:r>
            <a:r>
              <a:rPr lang="en-US" sz="1600" b="0" i="1" u="none" strike="noStrike" cap="none">
                <a:solidFill>
                  <a:schemeClr val="dk1"/>
                </a:solidFill>
                <a:latin typeface="Trebuchet MS"/>
                <a:ea typeface="Trebuchet MS"/>
                <a:cs typeface="Trebuchet MS"/>
                <a:sym typeface="Trebuchet MS"/>
              </a:rPr>
              <a:t> human Body “consists of”/”has” Heart, or Heart “is part” of human Body. </a:t>
            </a:r>
            <a:endParaRPr/>
          </a:p>
          <a:p>
            <a:pPr marL="342900" marR="0" lvl="0" indent="-241300" algn="l" rtl="0">
              <a:spcBef>
                <a:spcPts val="320"/>
              </a:spcBef>
              <a:spcAft>
                <a:spcPts val="0"/>
              </a:spcAft>
              <a:buClr>
                <a:schemeClr val="dk1"/>
              </a:buClr>
              <a:buSzPts val="1600"/>
              <a:buFont typeface="Arial"/>
              <a:buNone/>
            </a:pPr>
            <a:endParaRPr sz="1600" b="0" i="0" u="none" strike="noStrike" cap="none">
              <a:solidFill>
                <a:schemeClr val="dk1"/>
              </a:solidFill>
              <a:latin typeface="Trebuchet MS"/>
              <a:ea typeface="Trebuchet MS"/>
              <a:cs typeface="Trebuchet MS"/>
              <a:sym typeface="Trebuchet MS"/>
            </a:endParaRPr>
          </a:p>
          <a:p>
            <a:pPr marL="342900" marR="0" lvl="0" indent="-342900" algn="l" rtl="0">
              <a:spcBef>
                <a:spcPts val="320"/>
              </a:spcBef>
              <a:spcAft>
                <a:spcPts val="0"/>
              </a:spcAft>
              <a:buClr>
                <a:srgbClr val="FF0000"/>
              </a:buClr>
              <a:buSzPts val="1600"/>
              <a:buFont typeface="Arial"/>
              <a:buChar char="•"/>
            </a:pPr>
            <a:r>
              <a:rPr lang="en-US" sz="1600" b="0" i="0" u="none" strike="noStrike" cap="none">
                <a:solidFill>
                  <a:srgbClr val="FF0000"/>
                </a:solidFill>
                <a:latin typeface="Trebuchet MS"/>
                <a:ea typeface="Trebuchet MS"/>
                <a:cs typeface="Trebuchet MS"/>
                <a:sym typeface="Trebuchet MS"/>
              </a:rPr>
              <a:t>Dependence</a:t>
            </a:r>
            <a:r>
              <a:rPr lang="en-US" sz="1600" b="0" i="0" u="none" strike="noStrike" cap="none">
                <a:solidFill>
                  <a:schemeClr val="dk1"/>
                </a:solidFill>
                <a:latin typeface="Trebuchet MS"/>
                <a:ea typeface="Trebuchet MS"/>
                <a:cs typeface="Trebuchet MS"/>
                <a:sym typeface="Trebuchet MS"/>
              </a:rPr>
              <a:t>: A human body needs heart to live and a heart needs a human body to survive. If one dies then another one too.</a:t>
            </a:r>
            <a:endParaRPr/>
          </a:p>
          <a:p>
            <a:pPr marL="342900" marR="0" lvl="0" indent="-342900" algn="l" rtl="0">
              <a:spcBef>
                <a:spcPts val="320"/>
              </a:spcBef>
              <a:spcAft>
                <a:spcPts val="0"/>
              </a:spcAft>
              <a:buClr>
                <a:schemeClr val="dk1"/>
              </a:buClr>
              <a:buSzPts val="1600"/>
              <a:buFont typeface="Arial"/>
              <a:buChar char="•"/>
            </a:pPr>
            <a:r>
              <a:rPr lang="en-US" sz="1600" b="0" i="0" u="none" strike="noStrike" cap="none">
                <a:solidFill>
                  <a:schemeClr val="dk1"/>
                </a:solidFill>
                <a:latin typeface="Trebuchet MS"/>
                <a:ea typeface="Trebuchet MS"/>
                <a:cs typeface="Trebuchet MS"/>
                <a:sym typeface="Trebuchet MS"/>
              </a:rPr>
              <a:t>If the Body object is destroyed then Heart object also will be gone.</a:t>
            </a:r>
            <a:endParaRPr/>
          </a:p>
          <a:p>
            <a:pPr marL="342900" marR="0" lvl="0" indent="-342900" algn="l" rtl="0">
              <a:spcBef>
                <a:spcPts val="320"/>
              </a:spcBef>
              <a:spcAft>
                <a:spcPts val="0"/>
              </a:spcAft>
              <a:buClr>
                <a:schemeClr val="dk1"/>
              </a:buClr>
              <a:buSzPts val="1600"/>
              <a:buFont typeface="Arial"/>
              <a:buChar char="•"/>
            </a:pPr>
            <a:r>
              <a:rPr lang="en-US" sz="1600" b="0" i="0" u="none" strike="noStrike" cap="none">
                <a:solidFill>
                  <a:schemeClr val="dk1"/>
                </a:solidFill>
                <a:latin typeface="Trebuchet MS"/>
                <a:ea typeface="Trebuchet MS"/>
                <a:cs typeface="Trebuchet MS"/>
                <a:sym typeface="Trebuchet MS"/>
              </a:rPr>
              <a:t>When a Body object is created, the Heart object is also created.</a:t>
            </a:r>
            <a:endParaRPr/>
          </a:p>
          <a:p>
            <a:pPr marL="342900" marR="0" lvl="0" indent="-241300" algn="l" rtl="0">
              <a:spcBef>
                <a:spcPts val="320"/>
              </a:spcBef>
              <a:spcAft>
                <a:spcPts val="0"/>
              </a:spcAft>
              <a:buClr>
                <a:schemeClr val="dk1"/>
              </a:buClr>
              <a:buSzPts val="1600"/>
              <a:buFont typeface="Arial"/>
              <a:buNone/>
            </a:pPr>
            <a:endParaRPr sz="1600" b="0" i="0" u="none" strike="noStrike" cap="none">
              <a:solidFill>
                <a:schemeClr val="dk1"/>
              </a:solidFill>
              <a:latin typeface="Trebuchet MS"/>
              <a:ea typeface="Trebuchet MS"/>
              <a:cs typeface="Trebuchet MS"/>
              <a:sym typeface="Trebuchet MS"/>
            </a:endParaRPr>
          </a:p>
        </p:txBody>
      </p:sp>
      <p:sp>
        <p:nvSpPr>
          <p:cNvPr id="243" name="Google Shape;243;p14"/>
          <p:cNvSpPr/>
          <p:nvPr/>
        </p:nvSpPr>
        <p:spPr>
          <a:xfrm>
            <a:off x="4211638" y="2239963"/>
            <a:ext cx="288925" cy="292100"/>
          </a:xfrm>
          <a:prstGeom prst="diamond">
            <a:avLst/>
          </a:prstGeom>
          <a:solidFill>
            <a:schemeClr val="dk1"/>
          </a:solidFill>
          <a:ln w="19050"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Implementations of Compositions</a:t>
            </a:r>
            <a:endParaRPr/>
          </a:p>
        </p:txBody>
      </p:sp>
      <p:sp>
        <p:nvSpPr>
          <p:cNvPr id="251" name="Google Shape;251;p15"/>
          <p:cNvSpPr txBox="1"/>
          <p:nvPr/>
        </p:nvSpPr>
        <p:spPr>
          <a:xfrm>
            <a:off x="609600" y="2880519"/>
            <a:ext cx="1150144" cy="33496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r>
              <a:rPr lang="en-US" sz="1800" b="0" i="1" u="none" strike="noStrike" cap="none">
                <a:solidFill>
                  <a:schemeClr val="dk1"/>
                </a:solidFill>
                <a:latin typeface="Trebuchet MS"/>
                <a:ea typeface="Trebuchet MS"/>
                <a:cs typeface="Trebuchet MS"/>
                <a:sym typeface="Trebuchet MS"/>
              </a:rPr>
              <a:t>Example:</a:t>
            </a:r>
            <a:endParaRPr/>
          </a:p>
        </p:txBody>
      </p:sp>
      <p:pic>
        <p:nvPicPr>
          <p:cNvPr id="252" name="Google Shape;252;p15" descr="lab10b"/>
          <p:cNvPicPr preferRelativeResize="0"/>
          <p:nvPr/>
        </p:nvPicPr>
        <p:blipFill rotWithShape="1">
          <a:blip r:embed="rId3">
            <a:alphaModFix/>
          </a:blip>
          <a:srcRect/>
          <a:stretch/>
        </p:blipFill>
        <p:spPr>
          <a:xfrm>
            <a:off x="2709863" y="3048000"/>
            <a:ext cx="3211068" cy="3276600"/>
          </a:xfrm>
          <a:prstGeom prst="rect">
            <a:avLst/>
          </a:prstGeom>
          <a:noFill/>
          <a:ln>
            <a:noFill/>
          </a:ln>
        </p:spPr>
      </p:pic>
      <p:sp>
        <p:nvSpPr>
          <p:cNvPr id="253" name="Google Shape;253;p15"/>
          <p:cNvSpPr/>
          <p:nvPr/>
        </p:nvSpPr>
        <p:spPr>
          <a:xfrm>
            <a:off x="609600" y="1161128"/>
            <a:ext cx="8229600" cy="1344741"/>
          </a:xfrm>
          <a:prstGeom prst="roundRect">
            <a:avLst>
              <a:gd name="adj" fmla="val 16667"/>
            </a:avLst>
          </a:prstGeom>
          <a:solidFill>
            <a:srgbClr val="76923C"/>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marR="0" lvl="0" indent="-342900" algn="l" rtl="0">
              <a:spcBef>
                <a:spcPts val="0"/>
              </a:spcBef>
              <a:spcAft>
                <a:spcPts val="0"/>
              </a:spcAft>
              <a:buClr>
                <a:schemeClr val="lt1"/>
              </a:buClr>
              <a:buSzPts val="2000"/>
              <a:buFont typeface="Noto Sans Symbols"/>
              <a:buChar char="🏵"/>
            </a:pPr>
            <a:r>
              <a:rPr lang="en-US" sz="2000" b="0" i="0" u="none" strike="noStrike" cap="none">
                <a:solidFill>
                  <a:schemeClr val="lt1"/>
                </a:solidFill>
                <a:latin typeface="Calibri"/>
                <a:ea typeface="Calibri"/>
                <a:cs typeface="Calibri"/>
                <a:sym typeface="Calibri"/>
              </a:rPr>
              <a:t>Composition is implemented by the </a:t>
            </a:r>
            <a:r>
              <a:rPr lang="en-US" sz="2000" b="1" i="0" u="none" strike="noStrike" cap="none">
                <a:solidFill>
                  <a:srgbClr val="FFFF00"/>
                </a:solidFill>
                <a:latin typeface="Calibri"/>
                <a:ea typeface="Calibri"/>
                <a:cs typeface="Calibri"/>
                <a:sym typeface="Calibri"/>
              </a:rPr>
              <a:t>nested objects</a:t>
            </a:r>
            <a:r>
              <a:rPr lang="en-US" sz="2000" b="0" i="0" u="none" strike="noStrike" cap="none">
                <a:solidFill>
                  <a:schemeClr val="lt1"/>
                </a:solidFill>
                <a:latin typeface="Calibri"/>
                <a:ea typeface="Calibri"/>
                <a:cs typeface="Calibri"/>
                <a:sym typeface="Calibri"/>
              </a:rPr>
              <a:t>, i.e., whole objects contain the part objects.</a:t>
            </a:r>
            <a:endParaRPr/>
          </a:p>
          <a:p>
            <a:pPr marL="742950" marR="0" lvl="1" indent="-285750" algn="l" rtl="0">
              <a:spcBef>
                <a:spcPts val="360"/>
              </a:spcBef>
              <a:spcAft>
                <a:spcPts val="0"/>
              </a:spcAft>
              <a:buClr>
                <a:schemeClr val="lt1"/>
              </a:buClr>
              <a:buSzPts val="1800"/>
              <a:buFont typeface="Noto Sans Symbols"/>
              <a:buChar char="◆"/>
            </a:pPr>
            <a:r>
              <a:rPr lang="en-US" sz="1800" b="0" i="0" u="none" strike="noStrike" cap="none">
                <a:solidFill>
                  <a:schemeClr val="lt1"/>
                </a:solidFill>
                <a:latin typeface="Calibri"/>
                <a:ea typeface="Calibri"/>
                <a:cs typeface="Calibri"/>
                <a:sym typeface="Calibri"/>
              </a:rPr>
              <a:t>it is because the </a:t>
            </a:r>
            <a:r>
              <a:rPr lang="en-US" sz="1800" b="0" i="0" u="none" strike="noStrike" cap="none">
                <a:solidFill>
                  <a:srgbClr val="FFFF00"/>
                </a:solidFill>
                <a:latin typeface="Calibri"/>
                <a:ea typeface="Calibri"/>
                <a:cs typeface="Calibri"/>
                <a:sym typeface="Calibri"/>
              </a:rPr>
              <a:t>existence</a:t>
            </a:r>
            <a:r>
              <a:rPr lang="en-US" sz="1800" b="0" i="0" u="none" strike="noStrike" cap="none">
                <a:solidFill>
                  <a:schemeClr val="lt1"/>
                </a:solidFill>
                <a:latin typeface="Calibri"/>
                <a:ea typeface="Calibri"/>
                <a:cs typeface="Calibri"/>
                <a:sym typeface="Calibri"/>
              </a:rPr>
              <a:t> of the whole (enclosing) and part (enclosed) objects are </a:t>
            </a:r>
            <a:r>
              <a:rPr lang="en-US" sz="1800" b="0" i="0" u="none" strike="noStrike" cap="none">
                <a:solidFill>
                  <a:srgbClr val="FFFF00"/>
                </a:solidFill>
                <a:latin typeface="Calibri"/>
                <a:ea typeface="Calibri"/>
                <a:cs typeface="Calibri"/>
                <a:sym typeface="Calibri"/>
              </a:rPr>
              <a:t>dependent</a:t>
            </a:r>
            <a:r>
              <a:rPr lang="en-US" sz="1800" b="0" i="0" u="none" strike="noStrike" cap="none">
                <a:solidFill>
                  <a:schemeClr val="lt1"/>
                </a:solidFill>
                <a:latin typeface="Calibri"/>
                <a:ea typeface="Calibri"/>
                <a:cs typeface="Calibri"/>
                <a:sym typeface="Calibri"/>
              </a:rPr>
              <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6"/>
          <p:cNvSpPr txBox="1">
            <a:spLocks noGrp="1"/>
          </p:cNvSpPr>
          <p:nvPr>
            <p:ph type="title"/>
          </p:nvPr>
        </p:nvSpPr>
        <p:spPr>
          <a:xfrm>
            <a:off x="457200" y="528637"/>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Implementations of Compositions</a:t>
            </a:r>
            <a:endParaRPr/>
          </a:p>
        </p:txBody>
      </p:sp>
      <p:sp>
        <p:nvSpPr>
          <p:cNvPr id="259" name="Google Shape;259;p16"/>
          <p:cNvSpPr txBox="1"/>
          <p:nvPr/>
        </p:nvSpPr>
        <p:spPr>
          <a:xfrm>
            <a:off x="34925" y="1498600"/>
            <a:ext cx="7092950" cy="4830763"/>
          </a:xfrm>
          <a:prstGeom prst="rect">
            <a:avLst/>
          </a:prstGeom>
          <a:solidFill>
            <a:schemeClr val="lt1"/>
          </a:solid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chemeClr val="dk1"/>
              </a:buClr>
              <a:buSzPts val="2400"/>
              <a:buFont typeface="Arial"/>
              <a:buNone/>
            </a:pPr>
            <a:r>
              <a:rPr lang="en-US" sz="2400" b="1" i="0" u="none" strike="noStrike" cap="none">
                <a:solidFill>
                  <a:schemeClr val="dk1"/>
                </a:solidFill>
                <a:latin typeface="Courier New"/>
                <a:ea typeface="Courier New"/>
                <a:cs typeface="Courier New"/>
                <a:sym typeface="Courier New"/>
              </a:rPr>
              <a:t>class Chapter{</a:t>
            </a:r>
            <a:endParaRPr/>
          </a:p>
          <a:p>
            <a:pPr marL="342900" marR="0" lvl="0" indent="-342900" algn="l" rtl="0">
              <a:lnSpc>
                <a:spcPct val="80000"/>
              </a:lnSpc>
              <a:spcBef>
                <a:spcPts val="480"/>
              </a:spcBef>
              <a:spcAft>
                <a:spcPts val="0"/>
              </a:spcAft>
              <a:buClr>
                <a:schemeClr val="dk1"/>
              </a:buClr>
              <a:buSzPts val="2400"/>
              <a:buFont typeface="Arial"/>
              <a:buNone/>
            </a:pPr>
            <a:r>
              <a:rPr lang="en-US" sz="2400" b="1" i="0" u="none" strike="noStrike" cap="none">
                <a:solidFill>
                  <a:schemeClr val="dk1"/>
                </a:solidFill>
                <a:latin typeface="Courier New"/>
                <a:ea typeface="Courier New"/>
                <a:cs typeface="Courier New"/>
                <a:sym typeface="Courier New"/>
              </a:rPr>
              <a:t>	  int nPages;</a:t>
            </a:r>
            <a:endParaRPr/>
          </a:p>
          <a:p>
            <a:pPr marL="342900" marR="0" lvl="0" indent="-342900" algn="l" rtl="0">
              <a:lnSpc>
                <a:spcPct val="80000"/>
              </a:lnSpc>
              <a:spcBef>
                <a:spcPts val="480"/>
              </a:spcBef>
              <a:spcAft>
                <a:spcPts val="0"/>
              </a:spcAft>
              <a:buClr>
                <a:schemeClr val="dk1"/>
              </a:buClr>
              <a:buSzPts val="2400"/>
              <a:buFont typeface="Arial"/>
              <a:buNone/>
            </a:pPr>
            <a:r>
              <a:rPr lang="en-US" sz="2400" b="1" i="0" u="none" strike="noStrike" cap="none">
                <a:solidFill>
                  <a:schemeClr val="dk1"/>
                </a:solidFill>
                <a:latin typeface="Courier New"/>
                <a:ea typeface="Courier New"/>
                <a:cs typeface="Courier New"/>
                <a:sym typeface="Courier New"/>
              </a:rPr>
              <a:t>	public:</a:t>
            </a:r>
            <a:endParaRPr/>
          </a:p>
          <a:p>
            <a:pPr marL="342900" marR="0" lvl="0" indent="-342900" algn="l" rtl="0">
              <a:lnSpc>
                <a:spcPct val="80000"/>
              </a:lnSpc>
              <a:spcBef>
                <a:spcPts val="480"/>
              </a:spcBef>
              <a:spcAft>
                <a:spcPts val="0"/>
              </a:spcAft>
              <a:buClr>
                <a:schemeClr val="dk1"/>
              </a:buClr>
              <a:buSzPts val="2400"/>
              <a:buFont typeface="Arial"/>
              <a:buNone/>
            </a:pPr>
            <a:r>
              <a:rPr lang="en-US" sz="2400" b="1" i="0" u="none" strike="noStrike" cap="none">
                <a:solidFill>
                  <a:schemeClr val="dk1"/>
                </a:solidFill>
                <a:latin typeface="Courier New"/>
                <a:ea typeface="Courier New"/>
                <a:cs typeface="Courier New"/>
                <a:sym typeface="Courier New"/>
              </a:rPr>
              <a:t>	  Chapter(int pages);</a:t>
            </a:r>
            <a:endParaRPr/>
          </a:p>
          <a:p>
            <a:pPr marL="342900" marR="0" lvl="0" indent="-342900" algn="l" rtl="0">
              <a:lnSpc>
                <a:spcPct val="80000"/>
              </a:lnSpc>
              <a:spcBef>
                <a:spcPts val="480"/>
              </a:spcBef>
              <a:spcAft>
                <a:spcPts val="0"/>
              </a:spcAft>
              <a:buClr>
                <a:schemeClr val="dk1"/>
              </a:buClr>
              <a:buSzPts val="2400"/>
              <a:buFont typeface="Arial"/>
              <a:buNone/>
            </a:pPr>
            <a:r>
              <a:rPr lang="en-US" sz="2400" b="1" i="0" u="none" strike="noStrike" cap="none">
                <a:solidFill>
                  <a:schemeClr val="dk1"/>
                </a:solidFill>
                <a:latin typeface="Courier New"/>
                <a:ea typeface="Courier New"/>
                <a:cs typeface="Courier New"/>
                <a:sym typeface="Courier New"/>
              </a:rPr>
              <a:t>	  int getPages();</a:t>
            </a:r>
            <a:endParaRPr/>
          </a:p>
          <a:p>
            <a:pPr marL="342900" marR="0" lvl="0" indent="-342900" algn="l" rtl="0">
              <a:lnSpc>
                <a:spcPct val="80000"/>
              </a:lnSpc>
              <a:spcBef>
                <a:spcPts val="480"/>
              </a:spcBef>
              <a:spcAft>
                <a:spcPts val="0"/>
              </a:spcAft>
              <a:buClr>
                <a:schemeClr val="dk1"/>
              </a:buClr>
              <a:buSzPts val="2400"/>
              <a:buFont typeface="Arial"/>
              <a:buNone/>
            </a:pPr>
            <a:r>
              <a:rPr lang="en-US" sz="2400" b="1" i="0" u="none" strike="noStrike" cap="none">
                <a:solidFill>
                  <a:schemeClr val="dk1"/>
                </a:solidFill>
                <a:latin typeface="Courier New"/>
                <a:ea typeface="Courier New"/>
                <a:cs typeface="Courier New"/>
                <a:sym typeface="Courier New"/>
              </a:rPr>
              <a:t>};</a:t>
            </a:r>
            <a:endParaRPr/>
          </a:p>
          <a:p>
            <a:pPr marL="342900" marR="0" lvl="0" indent="-342900" algn="l" rtl="0">
              <a:lnSpc>
                <a:spcPct val="80000"/>
              </a:lnSpc>
              <a:spcBef>
                <a:spcPts val="480"/>
              </a:spcBef>
              <a:spcAft>
                <a:spcPts val="0"/>
              </a:spcAft>
              <a:buClr>
                <a:schemeClr val="dk1"/>
              </a:buClr>
              <a:buSzPts val="2400"/>
              <a:buFont typeface="Arial"/>
              <a:buNone/>
            </a:pPr>
            <a:r>
              <a:rPr lang="en-US" sz="2400" b="1" i="0" u="none" strike="noStrike" cap="none">
                <a:solidFill>
                  <a:schemeClr val="dk1"/>
                </a:solidFill>
                <a:latin typeface="Courier New"/>
                <a:ea typeface="Courier New"/>
                <a:cs typeface="Courier New"/>
                <a:sym typeface="Courier New"/>
              </a:rPr>
              <a:t>Chapter::Chapter(int pages){</a:t>
            </a:r>
            <a:endParaRPr/>
          </a:p>
          <a:p>
            <a:pPr marL="342900" marR="0" lvl="0" indent="-342900" algn="l" rtl="0">
              <a:lnSpc>
                <a:spcPct val="80000"/>
              </a:lnSpc>
              <a:spcBef>
                <a:spcPts val="480"/>
              </a:spcBef>
              <a:spcAft>
                <a:spcPts val="0"/>
              </a:spcAft>
              <a:buClr>
                <a:schemeClr val="dk1"/>
              </a:buClr>
              <a:buSzPts val="2400"/>
              <a:buFont typeface="Arial"/>
              <a:buNone/>
            </a:pPr>
            <a:r>
              <a:rPr lang="en-US" sz="2400" b="1" i="0" u="none" strike="noStrike" cap="none">
                <a:solidFill>
                  <a:schemeClr val="dk1"/>
                </a:solidFill>
                <a:latin typeface="Courier New"/>
                <a:ea typeface="Courier New"/>
                <a:cs typeface="Courier New"/>
                <a:sym typeface="Courier New"/>
              </a:rPr>
              <a:t>	nPages = pages;</a:t>
            </a:r>
            <a:endParaRPr/>
          </a:p>
          <a:p>
            <a:pPr marL="342900" marR="0" lvl="0" indent="-342900" algn="l" rtl="0">
              <a:lnSpc>
                <a:spcPct val="80000"/>
              </a:lnSpc>
              <a:spcBef>
                <a:spcPts val="480"/>
              </a:spcBef>
              <a:spcAft>
                <a:spcPts val="0"/>
              </a:spcAft>
              <a:buClr>
                <a:schemeClr val="dk1"/>
              </a:buClr>
              <a:buSzPts val="2400"/>
              <a:buFont typeface="Arial"/>
              <a:buNone/>
            </a:pPr>
            <a:r>
              <a:rPr lang="en-US" sz="2400" b="1" i="0" u="none" strike="noStrike" cap="none">
                <a:solidFill>
                  <a:schemeClr val="dk1"/>
                </a:solidFill>
                <a:latin typeface="Courier New"/>
                <a:ea typeface="Courier New"/>
                <a:cs typeface="Courier New"/>
                <a:sym typeface="Courier New"/>
              </a:rPr>
              <a:t>}</a:t>
            </a:r>
            <a:endParaRPr/>
          </a:p>
          <a:p>
            <a:pPr marL="342900" marR="0" lvl="0" indent="-342900" algn="l" rtl="0">
              <a:lnSpc>
                <a:spcPct val="80000"/>
              </a:lnSpc>
              <a:spcBef>
                <a:spcPts val="480"/>
              </a:spcBef>
              <a:spcAft>
                <a:spcPts val="0"/>
              </a:spcAft>
              <a:buClr>
                <a:schemeClr val="dk1"/>
              </a:buClr>
              <a:buSzPts val="2400"/>
              <a:buFont typeface="Arial"/>
              <a:buNone/>
            </a:pPr>
            <a:endParaRPr sz="2400" b="1" i="0" u="none" strike="noStrike" cap="none">
              <a:solidFill>
                <a:schemeClr val="dk1"/>
              </a:solidFill>
              <a:latin typeface="Courier New"/>
              <a:ea typeface="Courier New"/>
              <a:cs typeface="Courier New"/>
              <a:sym typeface="Courier New"/>
            </a:endParaRPr>
          </a:p>
          <a:p>
            <a:pPr marL="342900" marR="0" lvl="0" indent="-342900" algn="l" rtl="0">
              <a:lnSpc>
                <a:spcPct val="80000"/>
              </a:lnSpc>
              <a:spcBef>
                <a:spcPts val="480"/>
              </a:spcBef>
              <a:spcAft>
                <a:spcPts val="0"/>
              </a:spcAft>
              <a:buClr>
                <a:schemeClr val="dk1"/>
              </a:buClr>
              <a:buSzPts val="2400"/>
              <a:buFont typeface="Arial"/>
              <a:buNone/>
            </a:pPr>
            <a:r>
              <a:rPr lang="en-US" sz="2400" b="1" i="0" u="none" strike="noStrike" cap="none">
                <a:solidFill>
                  <a:schemeClr val="dk1"/>
                </a:solidFill>
                <a:latin typeface="Courier New"/>
                <a:ea typeface="Courier New"/>
                <a:cs typeface="Courier New"/>
                <a:sym typeface="Courier New"/>
              </a:rPr>
              <a:t>int Chapter::getPages(){</a:t>
            </a:r>
            <a:endParaRPr/>
          </a:p>
          <a:p>
            <a:pPr marL="342900" marR="0" lvl="0" indent="-342900" algn="l" rtl="0">
              <a:lnSpc>
                <a:spcPct val="80000"/>
              </a:lnSpc>
              <a:spcBef>
                <a:spcPts val="480"/>
              </a:spcBef>
              <a:spcAft>
                <a:spcPts val="0"/>
              </a:spcAft>
              <a:buClr>
                <a:schemeClr val="dk1"/>
              </a:buClr>
              <a:buSzPts val="2400"/>
              <a:buFont typeface="Arial"/>
              <a:buNone/>
            </a:pPr>
            <a:r>
              <a:rPr lang="en-US" sz="2400" b="1" i="0" u="none" strike="noStrike" cap="none">
                <a:solidFill>
                  <a:schemeClr val="dk1"/>
                </a:solidFill>
                <a:latin typeface="Courier New"/>
                <a:ea typeface="Courier New"/>
                <a:cs typeface="Courier New"/>
                <a:sym typeface="Courier New"/>
              </a:rPr>
              <a:t>	return nPages;</a:t>
            </a:r>
            <a:endParaRPr/>
          </a:p>
          <a:p>
            <a:pPr marL="342900" marR="0" lvl="0" indent="-342900" algn="l" rtl="0">
              <a:lnSpc>
                <a:spcPct val="80000"/>
              </a:lnSpc>
              <a:spcBef>
                <a:spcPts val="480"/>
              </a:spcBef>
              <a:spcAft>
                <a:spcPts val="0"/>
              </a:spcAft>
              <a:buClr>
                <a:schemeClr val="dk1"/>
              </a:buClr>
              <a:buSzPts val="2400"/>
              <a:buFont typeface="Arial"/>
              <a:buNone/>
            </a:pPr>
            <a:r>
              <a:rPr lang="en-US" sz="2400" b="1" i="0" u="none" strike="noStrike" cap="none">
                <a:solidFill>
                  <a:schemeClr val="dk1"/>
                </a:solidFill>
                <a:latin typeface="Courier New"/>
                <a:ea typeface="Courier New"/>
                <a:cs typeface="Courier New"/>
                <a:sym typeface="Courier New"/>
              </a:rPr>
              <a:t>}</a:t>
            </a:r>
            <a:endParaRPr/>
          </a:p>
        </p:txBody>
      </p:sp>
      <p:sp>
        <p:nvSpPr>
          <p:cNvPr id="260" name="Google Shape;260;p16"/>
          <p:cNvSpPr txBox="1"/>
          <p:nvPr/>
        </p:nvSpPr>
        <p:spPr>
          <a:xfrm>
            <a:off x="5500688" y="2308225"/>
            <a:ext cx="3606800" cy="1570038"/>
          </a:xfrm>
          <a:prstGeom prst="rect">
            <a:avLst/>
          </a:prstGeom>
          <a:solidFill>
            <a:srgbClr val="FF6600"/>
          </a:solidFill>
          <a:ln>
            <a:noFill/>
          </a:ln>
        </p:spPr>
        <p:txBody>
          <a:bodyPr spcFirstLastPara="1" wrap="square" lIns="91425" tIns="45700" rIns="91425" bIns="45700" anchor="ctr" anchorCtr="0">
            <a:spAutoFit/>
          </a:bodyPr>
          <a:lstStyle/>
          <a:p>
            <a:pPr marL="0" marR="0" lvl="0" indent="0" algn="ctr" rtl="0">
              <a:spcBef>
                <a:spcPts val="0"/>
              </a:spcBef>
              <a:spcAft>
                <a:spcPts val="0"/>
              </a:spcAft>
              <a:buClr>
                <a:schemeClr val="dk1"/>
              </a:buClr>
              <a:buSzPts val="2400"/>
              <a:buFont typeface="Arial"/>
              <a:buNone/>
            </a:pPr>
            <a:r>
              <a:rPr lang="en-US" sz="2400" b="0" i="0" u="none" strike="noStrike" cap="none">
                <a:solidFill>
                  <a:schemeClr val="dk1"/>
                </a:solidFill>
                <a:latin typeface="Tahoma"/>
                <a:ea typeface="Tahoma"/>
                <a:cs typeface="Tahoma"/>
                <a:sym typeface="Tahoma"/>
              </a:rPr>
              <a:t>Constructor for </a:t>
            </a:r>
            <a:r>
              <a:rPr lang="en-US" sz="2400" b="1" i="0" u="none" strike="noStrike" cap="none">
                <a:solidFill>
                  <a:schemeClr val="dk1"/>
                </a:solidFill>
                <a:latin typeface="Courier New"/>
                <a:ea typeface="Courier New"/>
                <a:cs typeface="Courier New"/>
                <a:sym typeface="Courier New"/>
              </a:rPr>
              <a:t>Chapter</a:t>
            </a:r>
            <a:endParaRPr/>
          </a:p>
          <a:p>
            <a:pPr marL="0" marR="0" lvl="0" indent="0" algn="ctr" rtl="0">
              <a:spcBef>
                <a:spcPts val="0"/>
              </a:spcBef>
              <a:spcAft>
                <a:spcPts val="0"/>
              </a:spcAft>
              <a:buClr>
                <a:schemeClr val="dk1"/>
              </a:buClr>
              <a:buSzPts val="2400"/>
              <a:buFont typeface="Arial"/>
              <a:buNone/>
            </a:pPr>
            <a:r>
              <a:rPr lang="en-US" sz="2400" b="0" i="0" u="none" strike="noStrike" cap="none">
                <a:solidFill>
                  <a:schemeClr val="dk1"/>
                </a:solidFill>
                <a:latin typeface="Tahoma"/>
                <a:ea typeface="Tahoma"/>
                <a:cs typeface="Tahoma"/>
                <a:sym typeface="Tahoma"/>
              </a:rPr>
              <a:t>class takes an integer</a:t>
            </a:r>
            <a:endParaRPr/>
          </a:p>
          <a:p>
            <a:pPr marL="0" marR="0" lvl="0" indent="0" algn="ctr" rtl="0">
              <a:spcBef>
                <a:spcPts val="0"/>
              </a:spcBef>
              <a:spcAft>
                <a:spcPts val="0"/>
              </a:spcAft>
              <a:buClr>
                <a:schemeClr val="dk1"/>
              </a:buClr>
              <a:buSzPts val="2400"/>
              <a:buFont typeface="Arial"/>
              <a:buNone/>
            </a:pPr>
            <a:r>
              <a:rPr lang="en-US" sz="2400" b="0" i="0" u="none" strike="noStrike" cap="none">
                <a:solidFill>
                  <a:schemeClr val="dk1"/>
                </a:solidFill>
                <a:latin typeface="Tahoma"/>
                <a:ea typeface="Tahoma"/>
                <a:cs typeface="Tahoma"/>
                <a:sym typeface="Tahoma"/>
              </a:rPr>
              <a:t>argument to define</a:t>
            </a:r>
            <a:endParaRPr/>
          </a:p>
          <a:p>
            <a:pPr marL="0" marR="0" lvl="0" indent="0" algn="ctr" rtl="0">
              <a:spcBef>
                <a:spcPts val="0"/>
              </a:spcBef>
              <a:spcAft>
                <a:spcPts val="0"/>
              </a:spcAft>
              <a:buClr>
                <a:schemeClr val="dk1"/>
              </a:buClr>
              <a:buSzPts val="2400"/>
              <a:buFont typeface="Arial"/>
              <a:buNone/>
            </a:pPr>
            <a:r>
              <a:rPr lang="en-US" sz="2400" b="0" i="0" u="none" strike="noStrike" cap="none">
                <a:solidFill>
                  <a:schemeClr val="dk1"/>
                </a:solidFill>
                <a:latin typeface="Tahoma"/>
                <a:ea typeface="Tahoma"/>
                <a:cs typeface="Tahoma"/>
                <a:sym typeface="Tahoma"/>
              </a:rPr>
              <a:t>its pages</a:t>
            </a:r>
            <a:endParaRPr/>
          </a:p>
        </p:txBody>
      </p:sp>
      <p:cxnSp>
        <p:nvCxnSpPr>
          <p:cNvPr id="261" name="Google Shape;261;p16"/>
          <p:cNvCxnSpPr/>
          <p:nvPr/>
        </p:nvCxnSpPr>
        <p:spPr>
          <a:xfrm rot="10800000">
            <a:off x="4356100" y="2708275"/>
            <a:ext cx="1257300" cy="360363"/>
          </a:xfrm>
          <a:prstGeom prst="straightConnector1">
            <a:avLst/>
          </a:prstGeom>
          <a:noFill/>
          <a:ln w="76200" cap="flat" cmpd="sng">
            <a:solidFill>
              <a:srgbClr val="FF6600"/>
            </a:solidFill>
            <a:prstDash val="solid"/>
            <a:round/>
            <a:headEnd type="none" w="med" len="med"/>
            <a:tailEnd type="triangle" w="med" len="med"/>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139700" algn="l" rtl="0">
              <a:spcBef>
                <a:spcPts val="0"/>
              </a:spcBef>
              <a:spcAft>
                <a:spcPts val="0"/>
              </a:spcAft>
              <a:buClr>
                <a:schemeClr val="dk1"/>
              </a:buClr>
              <a:buSzPts val="3200"/>
              <a:buNone/>
            </a:pPr>
            <a:endParaRPr/>
          </a:p>
        </p:txBody>
      </p:sp>
      <p:sp>
        <p:nvSpPr>
          <p:cNvPr id="267" name="Google Shape;267;p17"/>
          <p:cNvSpPr txBox="1"/>
          <p:nvPr/>
        </p:nvSpPr>
        <p:spPr>
          <a:xfrm>
            <a:off x="0" y="1230313"/>
            <a:ext cx="9144000" cy="5943600"/>
          </a:xfrm>
          <a:prstGeom prst="rect">
            <a:avLst/>
          </a:prstGeom>
          <a:solidFill>
            <a:schemeClr val="lt1"/>
          </a:solid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class Book{</a:t>
            </a:r>
            <a:endParaRPr/>
          </a:p>
          <a:p>
            <a:pPr marL="342900" marR="0" lvl="0" indent="-342900" algn="l" rtl="0">
              <a:lnSpc>
                <a:spcPct val="80000"/>
              </a:lnSpc>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public:</a:t>
            </a:r>
            <a:endParaRPr/>
          </a:p>
          <a:p>
            <a:pPr marL="342900" marR="0" lvl="0" indent="-342900" algn="l" rtl="0">
              <a:lnSpc>
                <a:spcPct val="80000"/>
              </a:lnSpc>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Chapter c1, c2, c3, c4;</a:t>
            </a:r>
            <a:endParaRPr/>
          </a:p>
          <a:p>
            <a:pPr marL="342900" marR="0" lvl="0" indent="-342900" algn="l" rtl="0">
              <a:lnSpc>
                <a:spcPct val="80000"/>
              </a:lnSpc>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Book(int pages1, int pages2, int pages3, </a:t>
            </a:r>
            <a:endParaRPr/>
          </a:p>
          <a:p>
            <a:pPr marL="342900" marR="0" lvl="0" indent="-342900" algn="l" rtl="0">
              <a:lnSpc>
                <a:spcPct val="80000"/>
              </a:lnSpc>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int pages4):c1(pages1), c2(pages2),</a:t>
            </a:r>
            <a:endParaRPr/>
          </a:p>
          <a:p>
            <a:pPr marL="342900" marR="0" lvl="0" indent="-342900" algn="l" rtl="0">
              <a:lnSpc>
                <a:spcPct val="80000"/>
              </a:lnSpc>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c3(pages3),c4(pages4){ }</a:t>
            </a:r>
            <a:endParaRPr/>
          </a:p>
          <a:p>
            <a:pPr marL="342900" marR="0" lvl="0" indent="-342900" algn="l" rtl="0">
              <a:lnSpc>
                <a:spcPct val="80000"/>
              </a:lnSpc>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void showNumberofPages();</a:t>
            </a:r>
            <a:endParaRPr/>
          </a:p>
          <a:p>
            <a:pPr marL="342900" marR="0" lvl="0" indent="-342900" algn="l" rtl="0">
              <a:lnSpc>
                <a:spcPct val="80000"/>
              </a:lnSpc>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a:t>
            </a:r>
            <a:endParaRPr/>
          </a:p>
          <a:p>
            <a:pPr marL="342900" marR="0" lvl="0" indent="-342900" algn="l" rtl="0">
              <a:lnSpc>
                <a:spcPct val="80000"/>
              </a:lnSpc>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void Book:: showNumberofPages(){</a:t>
            </a:r>
            <a:endParaRPr/>
          </a:p>
          <a:p>
            <a:pPr marL="342900" marR="0" lvl="0" indent="-342900" algn="l" rtl="0">
              <a:lnSpc>
                <a:spcPct val="80000"/>
              </a:lnSpc>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cout&lt;&lt;"Total number of pages" &lt;&lt;</a:t>
            </a:r>
            <a:endParaRPr/>
          </a:p>
          <a:p>
            <a:pPr marL="342900" marR="0" lvl="0" indent="-342900" algn="l" rtl="0">
              <a:lnSpc>
                <a:spcPct val="80000"/>
              </a:lnSpc>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(c1.getPages() + c2.getPages()+</a:t>
            </a:r>
            <a:endParaRPr/>
          </a:p>
          <a:p>
            <a:pPr marL="342900" marR="0" lvl="0" indent="-342900" algn="l" rtl="0">
              <a:lnSpc>
                <a:spcPct val="80000"/>
              </a:lnSpc>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c3.getPages() + c4.getPages());</a:t>
            </a:r>
            <a:endParaRPr/>
          </a:p>
          <a:p>
            <a:pPr marL="342900" marR="0" lvl="0" indent="-342900" algn="l" rtl="0">
              <a:lnSpc>
                <a:spcPct val="80000"/>
              </a:lnSpc>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a:t>
            </a:r>
            <a:endParaRPr/>
          </a:p>
          <a:p>
            <a:pPr marL="342900" marR="0" lvl="0" indent="-342900" algn="l" rtl="0">
              <a:lnSpc>
                <a:spcPct val="80000"/>
              </a:lnSpc>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int main(){</a:t>
            </a:r>
            <a:endParaRPr/>
          </a:p>
          <a:p>
            <a:pPr marL="342900" marR="0" lvl="0" indent="-342900" algn="l" rtl="0">
              <a:lnSpc>
                <a:spcPct val="80000"/>
              </a:lnSpc>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Book pt2(200, 190, 50, 100);</a:t>
            </a:r>
            <a:endParaRPr/>
          </a:p>
          <a:p>
            <a:pPr marL="342900" marR="0" lvl="0" indent="-342900" algn="l" rtl="0">
              <a:lnSpc>
                <a:spcPct val="80000"/>
              </a:lnSpc>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   pt2.showNumberofPages();</a:t>
            </a:r>
            <a:endParaRPr/>
          </a:p>
          <a:p>
            <a:pPr marL="342900" marR="0" lvl="0" indent="-342900" algn="l" rtl="0">
              <a:lnSpc>
                <a:spcPct val="80000"/>
              </a:lnSpc>
              <a:spcBef>
                <a:spcPts val="400"/>
              </a:spcBef>
              <a:spcAft>
                <a:spcPts val="0"/>
              </a:spcAft>
              <a:buClr>
                <a:schemeClr val="dk1"/>
              </a:buClr>
              <a:buSzPts val="2000"/>
              <a:buFont typeface="Arial"/>
              <a:buNone/>
            </a:pPr>
            <a:r>
              <a:rPr lang="en-US" sz="2000" b="1" i="0" u="none" strike="noStrike" cap="none">
                <a:solidFill>
                  <a:schemeClr val="dk1"/>
                </a:solidFill>
                <a:latin typeface="Courier New"/>
                <a:ea typeface="Courier New"/>
                <a:cs typeface="Courier New"/>
                <a:sym typeface="Courier New"/>
              </a:rPr>
              <a:t>}</a:t>
            </a:r>
            <a:endParaRPr sz="2000" b="1" i="0" u="none" strike="noStrike" cap="none">
              <a:solidFill>
                <a:schemeClr val="dk1"/>
              </a:solidFill>
              <a:latin typeface="Courier New"/>
              <a:ea typeface="Courier New"/>
              <a:cs typeface="Courier New"/>
              <a:sym typeface="Courier New"/>
            </a:endParaRPr>
          </a:p>
        </p:txBody>
      </p:sp>
      <p:sp>
        <p:nvSpPr>
          <p:cNvPr id="268" name="Google Shape;268;p17"/>
          <p:cNvSpPr txBox="1"/>
          <p:nvPr/>
        </p:nvSpPr>
        <p:spPr>
          <a:xfrm>
            <a:off x="6488113" y="852488"/>
            <a:ext cx="2262187" cy="831850"/>
          </a:xfrm>
          <a:prstGeom prst="rect">
            <a:avLst/>
          </a:prstGeom>
          <a:solidFill>
            <a:srgbClr val="FF6600"/>
          </a:solidFill>
          <a:ln>
            <a:noFill/>
          </a:ln>
        </p:spPr>
        <p:txBody>
          <a:bodyPr spcFirstLastPara="1" wrap="square" lIns="91425" tIns="45700" rIns="91425" bIns="45700" anchor="ctr" anchorCtr="0">
            <a:spAutoFit/>
          </a:bodyPr>
          <a:lstStyle/>
          <a:p>
            <a:pPr marL="0" marR="0" lvl="0" indent="0" algn="ctr" rtl="0">
              <a:spcBef>
                <a:spcPts val="0"/>
              </a:spcBef>
              <a:spcAft>
                <a:spcPts val="0"/>
              </a:spcAft>
              <a:buClr>
                <a:schemeClr val="dk1"/>
              </a:buClr>
              <a:buSzPts val="1600"/>
              <a:buFont typeface="Arial"/>
              <a:buNone/>
            </a:pPr>
            <a:r>
              <a:rPr lang="en-US" sz="1600" b="0" i="0" u="none" strike="noStrike" cap="none">
                <a:solidFill>
                  <a:schemeClr val="dk1"/>
                </a:solidFill>
                <a:latin typeface="Tahoma"/>
                <a:ea typeface="Tahoma"/>
                <a:cs typeface="Tahoma"/>
                <a:sym typeface="Tahoma"/>
              </a:rPr>
              <a:t>Class Book</a:t>
            </a:r>
            <a:endParaRPr/>
          </a:p>
          <a:p>
            <a:pPr marL="0" marR="0" lvl="0" indent="0" algn="ctr" rtl="0">
              <a:spcBef>
                <a:spcPts val="0"/>
              </a:spcBef>
              <a:spcAft>
                <a:spcPts val="0"/>
              </a:spcAft>
              <a:buClr>
                <a:schemeClr val="dk1"/>
              </a:buClr>
              <a:buSzPts val="1600"/>
              <a:buFont typeface="Arial"/>
              <a:buNone/>
            </a:pPr>
            <a:r>
              <a:rPr lang="en-US" sz="1600" b="0" i="0" u="none" strike="noStrike" cap="none">
                <a:solidFill>
                  <a:schemeClr val="dk1"/>
                </a:solidFill>
                <a:latin typeface="Tahoma"/>
                <a:ea typeface="Tahoma"/>
                <a:cs typeface="Tahoma"/>
                <a:sym typeface="Tahoma"/>
              </a:rPr>
              <a:t>includes objects of</a:t>
            </a:r>
            <a:endParaRPr/>
          </a:p>
          <a:p>
            <a:pPr marL="0" marR="0" lvl="0" indent="0" algn="ctr" rtl="0">
              <a:spcBef>
                <a:spcPts val="0"/>
              </a:spcBef>
              <a:spcAft>
                <a:spcPts val="0"/>
              </a:spcAft>
              <a:buClr>
                <a:schemeClr val="dk1"/>
              </a:buClr>
              <a:buSzPts val="1600"/>
              <a:buFont typeface="Arial"/>
              <a:buNone/>
            </a:pPr>
            <a:r>
              <a:rPr lang="en-US" sz="1600" b="0" i="0" u="none" strike="noStrike" cap="none">
                <a:solidFill>
                  <a:schemeClr val="dk1"/>
                </a:solidFill>
                <a:latin typeface="Tahoma"/>
                <a:ea typeface="Tahoma"/>
                <a:cs typeface="Tahoma"/>
                <a:sym typeface="Tahoma"/>
              </a:rPr>
              <a:t>class Chapter</a:t>
            </a:r>
            <a:endParaRPr/>
          </a:p>
        </p:txBody>
      </p:sp>
      <p:cxnSp>
        <p:nvCxnSpPr>
          <p:cNvPr id="269" name="Google Shape;269;p17"/>
          <p:cNvCxnSpPr/>
          <p:nvPr/>
        </p:nvCxnSpPr>
        <p:spPr>
          <a:xfrm flipH="1">
            <a:off x="4211638" y="1230313"/>
            <a:ext cx="2276475" cy="758825"/>
          </a:xfrm>
          <a:prstGeom prst="straightConnector1">
            <a:avLst/>
          </a:prstGeom>
          <a:noFill/>
          <a:ln w="76200" cap="flat" cmpd="sng">
            <a:solidFill>
              <a:srgbClr val="FF6600"/>
            </a:solidFill>
            <a:prstDash val="solid"/>
            <a:round/>
            <a:headEnd type="none" w="med" len="med"/>
            <a:tailEnd type="triangle" w="med" len="med"/>
          </a:ln>
        </p:spPr>
      </p:cxnSp>
      <p:sp>
        <p:nvSpPr>
          <p:cNvPr id="270" name="Google Shape;270;p17"/>
          <p:cNvSpPr txBox="1"/>
          <p:nvPr/>
        </p:nvSpPr>
        <p:spPr>
          <a:xfrm>
            <a:off x="6011863" y="3789363"/>
            <a:ext cx="2952750" cy="1076325"/>
          </a:xfrm>
          <a:prstGeom prst="rect">
            <a:avLst/>
          </a:prstGeom>
          <a:solidFill>
            <a:srgbClr val="FF6600"/>
          </a:solidFill>
          <a:ln>
            <a:noFill/>
          </a:ln>
        </p:spPr>
        <p:txBody>
          <a:bodyPr spcFirstLastPara="1" wrap="square" lIns="91425" tIns="45700" rIns="91425" bIns="45700" anchor="ctr" anchorCtr="0">
            <a:spAutoFit/>
          </a:bodyPr>
          <a:lstStyle/>
          <a:p>
            <a:pPr marL="0" marR="0" lvl="0" indent="0" algn="l" rtl="0">
              <a:spcBef>
                <a:spcPts val="0"/>
              </a:spcBef>
              <a:spcAft>
                <a:spcPts val="0"/>
              </a:spcAft>
              <a:buClr>
                <a:schemeClr val="dk1"/>
              </a:buClr>
              <a:buSzPts val="1600"/>
              <a:buFont typeface="Arial"/>
              <a:buNone/>
            </a:pPr>
            <a:r>
              <a:rPr lang="en-US" sz="1600" b="0" i="0" u="none" strike="noStrike" cap="none">
                <a:solidFill>
                  <a:schemeClr val="dk1"/>
                </a:solidFill>
                <a:latin typeface="Tahoma"/>
                <a:ea typeface="Tahoma"/>
                <a:cs typeface="Tahoma"/>
                <a:sym typeface="Tahoma"/>
              </a:rPr>
              <a:t>Note use of colon(:) operator to initialize the enclosed objects using their constructors</a:t>
            </a:r>
            <a:endParaRPr/>
          </a:p>
        </p:txBody>
      </p:sp>
      <p:cxnSp>
        <p:nvCxnSpPr>
          <p:cNvPr id="271" name="Google Shape;271;p17"/>
          <p:cNvCxnSpPr/>
          <p:nvPr/>
        </p:nvCxnSpPr>
        <p:spPr>
          <a:xfrm rot="10800000">
            <a:off x="3276600" y="2695575"/>
            <a:ext cx="2735263" cy="1525588"/>
          </a:xfrm>
          <a:prstGeom prst="straightConnector1">
            <a:avLst/>
          </a:prstGeom>
          <a:noFill/>
          <a:ln w="76200" cap="flat" cmpd="sng">
            <a:solidFill>
              <a:srgbClr val="FF6600"/>
            </a:solidFill>
            <a:prstDash val="solid"/>
            <a:round/>
            <a:headEnd type="none" w="med" len="med"/>
            <a:tailEnd type="triangle" w="med" len="med"/>
          </a:ln>
        </p:spPr>
      </p:cxnSp>
      <p:sp>
        <p:nvSpPr>
          <p:cNvPr id="272" name="Google Shape;272;p17"/>
          <p:cNvSpPr txBox="1"/>
          <p:nvPr/>
        </p:nvSpPr>
        <p:spPr>
          <a:xfrm>
            <a:off x="5727700" y="5173663"/>
            <a:ext cx="2952750" cy="831850"/>
          </a:xfrm>
          <a:prstGeom prst="rect">
            <a:avLst/>
          </a:prstGeom>
          <a:solidFill>
            <a:srgbClr val="FF6600"/>
          </a:solidFill>
          <a:ln>
            <a:noFill/>
          </a:ln>
        </p:spPr>
        <p:txBody>
          <a:bodyPr spcFirstLastPara="1" wrap="square" lIns="91425" tIns="45700" rIns="91425" bIns="45700" anchor="ctr" anchorCtr="0">
            <a:spAutoFit/>
          </a:bodyPr>
          <a:lstStyle/>
          <a:p>
            <a:pPr marL="0" marR="0" lvl="0" indent="0" algn="l" rtl="0">
              <a:spcBef>
                <a:spcPts val="0"/>
              </a:spcBef>
              <a:spcAft>
                <a:spcPts val="0"/>
              </a:spcAft>
              <a:buClr>
                <a:schemeClr val="dk1"/>
              </a:buClr>
              <a:buSzPts val="1600"/>
              <a:buFont typeface="Arial"/>
              <a:buNone/>
            </a:pPr>
            <a:r>
              <a:rPr lang="en-US" sz="1600" b="0" i="0" u="none" strike="noStrike" cap="none">
                <a:solidFill>
                  <a:schemeClr val="dk1"/>
                </a:solidFill>
                <a:latin typeface="Tahoma"/>
                <a:ea typeface="Tahoma"/>
                <a:cs typeface="Tahoma"/>
                <a:sym typeface="Tahoma"/>
              </a:rPr>
              <a:t>The methods of the enclosed objects can be called to as usual.</a:t>
            </a:r>
            <a:endParaRPr/>
          </a:p>
        </p:txBody>
      </p:sp>
      <p:cxnSp>
        <p:nvCxnSpPr>
          <p:cNvPr id="273" name="Google Shape;273;p17"/>
          <p:cNvCxnSpPr/>
          <p:nvPr/>
        </p:nvCxnSpPr>
        <p:spPr>
          <a:xfrm rot="10800000">
            <a:off x="3635375" y="4865688"/>
            <a:ext cx="2089150" cy="723900"/>
          </a:xfrm>
          <a:prstGeom prst="straightConnector1">
            <a:avLst/>
          </a:prstGeom>
          <a:noFill/>
          <a:ln w="76200" cap="flat" cmpd="sng">
            <a:solidFill>
              <a:srgbClr val="FF6600"/>
            </a:solidFill>
            <a:prstDash val="solid"/>
            <a:round/>
            <a:headEnd type="none" w="med" len="med"/>
            <a:tailEnd type="triangle" w="med" len="med"/>
          </a:ln>
        </p:spPr>
      </p:cxnSp>
      <p:sp>
        <p:nvSpPr>
          <p:cNvPr id="274" name="Google Shape;274;p17"/>
          <p:cNvSpPr txBox="1"/>
          <p:nvPr/>
        </p:nvSpPr>
        <p:spPr>
          <a:xfrm>
            <a:off x="2240280" y="3403265"/>
            <a:ext cx="460248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60778C"/>
                </a:solidFill>
                <a:latin typeface="Consolas"/>
                <a:ea typeface="Consolas"/>
                <a:cs typeface="Consolas"/>
                <a:sym typeface="Consolas"/>
              </a:rPr>
              <a:t>/*__________*/</a:t>
            </a:r>
            <a:endParaRPr sz="1800" b="0">
              <a:solidFill>
                <a:srgbClr val="DFDFDF"/>
              </a:solidFill>
              <a:latin typeface="Consolas"/>
              <a:ea typeface="Consolas"/>
              <a:cs typeface="Consolas"/>
              <a:sym typeface="Consola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41"/>
          <p:cNvSpPr txBox="1">
            <a:spLocks noGrp="1"/>
          </p:cNvSpPr>
          <p:nvPr>
            <p:ph type="title"/>
          </p:nvPr>
        </p:nvSpPr>
        <p:spPr>
          <a:xfrm>
            <a:off x="1295400" y="-1524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sz="2800"/>
              <a:t>Self-test: Introduction to Object Oriented Programming</a:t>
            </a:r>
            <a:endParaRPr/>
          </a:p>
        </p:txBody>
      </p:sp>
      <p:sp>
        <p:nvSpPr>
          <p:cNvPr id="577" name="Google Shape;577;p41"/>
          <p:cNvSpPr>
            <a:spLocks noGrp="1"/>
          </p:cNvSpPr>
          <p:nvPr>
            <p:ph type="body" idx="1"/>
          </p:nvPr>
        </p:nvSpPr>
        <p:spPr>
          <a:xfrm>
            <a:off x="457200" y="1131875"/>
            <a:ext cx="8229600" cy="833046"/>
          </a:xfrm>
          <a:prstGeom prst="roundRect">
            <a:avLst>
              <a:gd name="adj" fmla="val 16667"/>
            </a:avLst>
          </a:prstGeom>
          <a:solidFill>
            <a:schemeClr val="accent2"/>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342900" lvl="0" indent="-342900" algn="l" rtl="0">
              <a:spcBef>
                <a:spcPts val="0"/>
              </a:spcBef>
              <a:spcAft>
                <a:spcPts val="0"/>
              </a:spcAft>
              <a:buClr>
                <a:schemeClr val="lt1"/>
              </a:buClr>
              <a:buSzPts val="2400"/>
              <a:buFont typeface="Noto Sans Symbols"/>
              <a:buChar char="🏵"/>
            </a:pPr>
            <a:r>
              <a:rPr lang="en-US"/>
              <a:t>State the differences between procedural programming and Object Oriented Programming.</a:t>
            </a:r>
            <a:endParaRPr/>
          </a:p>
        </p:txBody>
      </p:sp>
      <p:sp>
        <p:nvSpPr>
          <p:cNvPr id="578" name="Google Shape;578;p41"/>
          <p:cNvSpPr>
            <a:spLocks noGrp="1"/>
          </p:cNvSpPr>
          <p:nvPr>
            <p:ph type="body" idx="2"/>
          </p:nvPr>
        </p:nvSpPr>
        <p:spPr>
          <a:xfrm>
            <a:off x="455645" y="2117321"/>
            <a:ext cx="8229600" cy="702079"/>
          </a:xfrm>
          <a:prstGeom prst="roundRect">
            <a:avLst>
              <a:gd name="adj" fmla="val 16667"/>
            </a:avLst>
          </a:prstGeom>
          <a:solidFill>
            <a:schemeClr val="accent3"/>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lvl="0" indent="-342900" algn="l" rtl="0">
              <a:spcBef>
                <a:spcPts val="0"/>
              </a:spcBef>
              <a:spcAft>
                <a:spcPts val="0"/>
              </a:spcAft>
              <a:buClr>
                <a:schemeClr val="lt1"/>
              </a:buClr>
              <a:buSzPts val="2000"/>
              <a:buFont typeface="Noto Sans Symbols"/>
              <a:buChar char="🏵"/>
            </a:pPr>
            <a:r>
              <a:rPr lang="en-US" sz="2000"/>
              <a:t>What is an Object and what is a Class?  What is the difference between them?</a:t>
            </a:r>
            <a:endParaRPr/>
          </a:p>
        </p:txBody>
      </p:sp>
      <p:sp>
        <p:nvSpPr>
          <p:cNvPr id="579" name="Google Shape;579;p41"/>
          <p:cNvSpPr>
            <a:spLocks noGrp="1"/>
          </p:cNvSpPr>
          <p:nvPr>
            <p:ph type="body" idx="3"/>
          </p:nvPr>
        </p:nvSpPr>
        <p:spPr>
          <a:xfrm>
            <a:off x="455645" y="2892139"/>
            <a:ext cx="8229600" cy="625879"/>
          </a:xfrm>
          <a:prstGeom prst="roundRect">
            <a:avLst>
              <a:gd name="adj" fmla="val 16667"/>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lvl="0" indent="-342900" algn="l" rtl="0">
              <a:spcBef>
                <a:spcPts val="0"/>
              </a:spcBef>
              <a:spcAft>
                <a:spcPts val="0"/>
              </a:spcAft>
              <a:buClr>
                <a:schemeClr val="lt1"/>
              </a:buClr>
              <a:buSzPts val="2400"/>
              <a:buFont typeface="Noto Sans Symbols"/>
              <a:buChar char="🏵"/>
            </a:pPr>
            <a:r>
              <a:rPr lang="en-US"/>
              <a:t>What is an Attribute?</a:t>
            </a:r>
            <a:endParaRPr/>
          </a:p>
          <a:p>
            <a:pPr marL="342900" lvl="0" indent="-190500" algn="l" rtl="0">
              <a:spcBef>
                <a:spcPts val="480"/>
              </a:spcBef>
              <a:spcAft>
                <a:spcPts val="0"/>
              </a:spcAft>
              <a:buClr>
                <a:schemeClr val="lt1"/>
              </a:buClr>
              <a:buSzPts val="2400"/>
              <a:buFont typeface="Noto Sans Symbols"/>
              <a:buNone/>
            </a:pPr>
            <a:endParaRPr/>
          </a:p>
        </p:txBody>
      </p:sp>
      <p:sp>
        <p:nvSpPr>
          <p:cNvPr id="580" name="Google Shape;580;p41"/>
          <p:cNvSpPr>
            <a:spLocks noGrp="1"/>
          </p:cNvSpPr>
          <p:nvPr>
            <p:ph type="body" idx="4"/>
          </p:nvPr>
        </p:nvSpPr>
        <p:spPr>
          <a:xfrm>
            <a:off x="455645" y="3645821"/>
            <a:ext cx="8229600" cy="549679"/>
          </a:xfrm>
          <a:prstGeom prst="roundRect">
            <a:avLst>
              <a:gd name="adj" fmla="val 16667"/>
            </a:avLst>
          </a:prstGeom>
          <a:solidFill>
            <a:schemeClr val="accent5"/>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lvl="0" indent="-342900" algn="l" rtl="0">
              <a:spcBef>
                <a:spcPts val="0"/>
              </a:spcBef>
              <a:spcAft>
                <a:spcPts val="0"/>
              </a:spcAft>
              <a:buClr>
                <a:schemeClr val="lt1"/>
              </a:buClr>
              <a:buSzPts val="2400"/>
              <a:buFont typeface="Noto Sans Symbols"/>
              <a:buChar char="🏵"/>
            </a:pPr>
            <a:r>
              <a:rPr lang="en-US"/>
              <a:t>What is a Method?</a:t>
            </a:r>
            <a:endParaRPr/>
          </a:p>
          <a:p>
            <a:pPr marL="342900" lvl="0" indent="-190500" algn="l" rtl="0">
              <a:spcBef>
                <a:spcPts val="480"/>
              </a:spcBef>
              <a:spcAft>
                <a:spcPts val="0"/>
              </a:spcAft>
              <a:buClr>
                <a:schemeClr val="lt1"/>
              </a:buClr>
              <a:buSzPts val="2400"/>
              <a:buFont typeface="Noto Sans Symbols"/>
              <a:buNone/>
            </a:pPr>
            <a:endParaRPr/>
          </a:p>
        </p:txBody>
      </p:sp>
      <p:sp>
        <p:nvSpPr>
          <p:cNvPr id="581" name="Google Shape;581;p41"/>
          <p:cNvSpPr>
            <a:spLocks noGrp="1"/>
          </p:cNvSpPr>
          <p:nvPr>
            <p:ph type="body" idx="5"/>
          </p:nvPr>
        </p:nvSpPr>
        <p:spPr>
          <a:xfrm>
            <a:off x="455645" y="4327347"/>
            <a:ext cx="8229600" cy="685800"/>
          </a:xfrm>
          <a:prstGeom prst="roundRect">
            <a:avLst>
              <a:gd name="adj" fmla="val 16667"/>
            </a:avLst>
          </a:prstGeom>
          <a:solidFill>
            <a:schemeClr val="accent6"/>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lvl="0" indent="-342900" algn="l" rtl="0">
              <a:spcBef>
                <a:spcPts val="0"/>
              </a:spcBef>
              <a:spcAft>
                <a:spcPts val="0"/>
              </a:spcAft>
              <a:buClr>
                <a:schemeClr val="lt1"/>
              </a:buClr>
              <a:buSzPts val="2400"/>
              <a:buFont typeface="Noto Sans Symbols"/>
              <a:buChar char="🏵"/>
            </a:pPr>
            <a:r>
              <a:rPr lang="en-US"/>
              <a:t>What is encapsulation? How it relates to data hiding?</a:t>
            </a:r>
            <a:endParaRPr/>
          </a:p>
          <a:p>
            <a:pPr marL="0" lvl="0" indent="0" algn="l" rtl="0">
              <a:spcBef>
                <a:spcPts val="480"/>
              </a:spcBef>
              <a:spcAft>
                <a:spcPts val="0"/>
              </a:spcAft>
              <a:buSzPts val="2400"/>
              <a:buNone/>
            </a:pPr>
            <a:endParaRPr/>
          </a:p>
        </p:txBody>
      </p:sp>
      <p:sp>
        <p:nvSpPr>
          <p:cNvPr id="582" name="Google Shape;582;p41"/>
          <p:cNvSpPr/>
          <p:nvPr/>
        </p:nvSpPr>
        <p:spPr>
          <a:xfrm>
            <a:off x="444251" y="5144994"/>
            <a:ext cx="8229600" cy="625879"/>
          </a:xfrm>
          <a:prstGeom prst="roundRect">
            <a:avLst>
              <a:gd name="adj" fmla="val 16667"/>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marR="0" lvl="0" indent="-342900" algn="l" rtl="0">
              <a:spcBef>
                <a:spcPts val="0"/>
              </a:spcBef>
              <a:spcAft>
                <a:spcPts val="0"/>
              </a:spcAft>
              <a:buClr>
                <a:schemeClr val="lt1"/>
              </a:buClr>
              <a:buSzPts val="2400"/>
              <a:buFont typeface="Noto Sans Symbols"/>
              <a:buChar char="🏵"/>
            </a:pPr>
            <a:r>
              <a:rPr lang="en-US" sz="2400">
                <a:solidFill>
                  <a:schemeClr val="lt1"/>
                </a:solidFill>
                <a:latin typeface="Calibri"/>
                <a:ea typeface="Calibri"/>
                <a:cs typeface="Calibri"/>
                <a:sym typeface="Calibri"/>
              </a:rPr>
              <a:t>What is association?</a:t>
            </a:r>
            <a:endParaRPr/>
          </a:p>
        </p:txBody>
      </p:sp>
      <p:sp>
        <p:nvSpPr>
          <p:cNvPr id="583" name="Google Shape;583;p41"/>
          <p:cNvSpPr/>
          <p:nvPr/>
        </p:nvSpPr>
        <p:spPr>
          <a:xfrm>
            <a:off x="455645" y="5843612"/>
            <a:ext cx="8229600" cy="625879"/>
          </a:xfrm>
          <a:prstGeom prst="roundRect">
            <a:avLst>
              <a:gd name="adj" fmla="val 16667"/>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marR="0" lvl="0" indent="-342900" algn="l" rtl="0">
              <a:spcBef>
                <a:spcPts val="0"/>
              </a:spcBef>
              <a:spcAft>
                <a:spcPts val="0"/>
              </a:spcAft>
              <a:buClr>
                <a:schemeClr val="lt1"/>
              </a:buClr>
              <a:buSzPts val="2400"/>
              <a:buFont typeface="Noto Sans Symbols"/>
              <a:buChar char="🏵"/>
            </a:pPr>
            <a:r>
              <a:rPr lang="en-US" sz="2400">
                <a:solidFill>
                  <a:schemeClr val="lt1"/>
                </a:solidFill>
                <a:latin typeface="Calibri"/>
                <a:ea typeface="Calibri"/>
                <a:cs typeface="Calibri"/>
                <a:sym typeface="Calibri"/>
              </a:rPr>
              <a:t>What is inheritance?  How it relates to polymorphism?</a:t>
            </a:r>
            <a:endParaRPr sz="2400">
              <a:solidFill>
                <a:schemeClr val="lt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42"/>
          <p:cNvSpPr txBox="1">
            <a:spLocks noGrp="1"/>
          </p:cNvSpPr>
          <p:nvPr>
            <p:ph type="ctrTitle"/>
          </p:nvPr>
        </p:nvSpPr>
        <p:spPr>
          <a:xfrm>
            <a:off x="609600" y="2506410"/>
            <a:ext cx="7772400" cy="14700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The Unified Modeling Language</a:t>
            </a:r>
            <a:endParaRPr/>
          </a:p>
        </p:txBody>
      </p:sp>
      <p:sp>
        <p:nvSpPr>
          <p:cNvPr id="3" name="Subtitle 2">
            <a:extLst>
              <a:ext uri="{FF2B5EF4-FFF2-40B4-BE49-F238E27FC236}">
                <a16:creationId xmlns:a16="http://schemas.microsoft.com/office/drawing/2014/main" id="{6D267A4D-5494-9639-95A0-454BB9F3A3A3}"/>
              </a:ext>
            </a:extLst>
          </p:cNvPr>
          <p:cNvSpPr>
            <a:spLocks noGrp="1"/>
          </p:cNvSpPr>
          <p:nvPr>
            <p:ph type="subTitle" idx="1"/>
          </p:nvPr>
        </p:nvSpPr>
        <p:spPr/>
        <p:txBody>
          <a:bodyPr/>
          <a:lstStyle/>
          <a:p>
            <a:endParaRPr lang="en-MY"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43"/>
          <p:cNvSpPr txBox="1">
            <a:spLocks noGrp="1"/>
          </p:cNvSpPr>
          <p:nvPr>
            <p:ph type="title"/>
          </p:nvPr>
        </p:nvSpPr>
        <p:spPr>
          <a:xfrm>
            <a:off x="1219200" y="304800"/>
            <a:ext cx="76962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The Unified Modelling Language</a:t>
            </a:r>
            <a:endParaRPr/>
          </a:p>
        </p:txBody>
      </p:sp>
      <p:sp>
        <p:nvSpPr>
          <p:cNvPr id="595" name="Google Shape;595;p43"/>
          <p:cNvSpPr>
            <a:spLocks noGrp="1"/>
          </p:cNvSpPr>
          <p:nvPr>
            <p:ph type="body" idx="3"/>
          </p:nvPr>
        </p:nvSpPr>
        <p:spPr>
          <a:xfrm>
            <a:off x="1021080" y="4038600"/>
            <a:ext cx="7360920" cy="1066800"/>
          </a:xfrm>
          <a:prstGeom prst="roundRect">
            <a:avLst>
              <a:gd name="adj" fmla="val 16667"/>
            </a:avLst>
          </a:prstGeom>
          <a:solidFill>
            <a:schemeClr val="accent4"/>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lvl="0" indent="-342900" algn="l" rtl="0">
              <a:spcBef>
                <a:spcPts val="0"/>
              </a:spcBef>
              <a:spcAft>
                <a:spcPts val="0"/>
              </a:spcAft>
              <a:buClr>
                <a:schemeClr val="lt1"/>
              </a:buClr>
              <a:buSzPts val="2400"/>
              <a:buFont typeface="Noto Sans Symbols"/>
              <a:buChar char="🏵"/>
            </a:pPr>
            <a:r>
              <a:rPr lang="en-US"/>
              <a:t> The UML provides a set of standard diagrams for graphically depicting object-oriented systems</a:t>
            </a:r>
            <a:endParaRPr/>
          </a:p>
        </p:txBody>
      </p:sp>
      <p:sp>
        <p:nvSpPr>
          <p:cNvPr id="596" name="Google Shape;596;p43"/>
          <p:cNvSpPr>
            <a:spLocks noGrp="1"/>
          </p:cNvSpPr>
          <p:nvPr>
            <p:ph type="body" idx="4"/>
          </p:nvPr>
        </p:nvSpPr>
        <p:spPr>
          <a:xfrm>
            <a:off x="1021080" y="2362200"/>
            <a:ext cx="7391400" cy="685800"/>
          </a:xfrm>
          <a:prstGeom prst="roundRect">
            <a:avLst>
              <a:gd name="adj" fmla="val 16667"/>
            </a:avLst>
          </a:prstGeom>
          <a:solidFill>
            <a:schemeClr val="accent5"/>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lvl="0" indent="-342900" algn="l" rtl="0">
              <a:spcBef>
                <a:spcPts val="0"/>
              </a:spcBef>
              <a:spcAft>
                <a:spcPts val="0"/>
              </a:spcAft>
              <a:buClr>
                <a:schemeClr val="lt1"/>
              </a:buClr>
              <a:buSzPts val="2400"/>
              <a:buFont typeface="Noto Sans Symbols"/>
              <a:buChar char="🏵"/>
            </a:pPr>
            <a:r>
              <a:rPr lang="en-US"/>
              <a:t>UML stands for Unified Modelling Language.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44"/>
          <p:cNvSpPr txBox="1">
            <a:spLocks noGrp="1"/>
          </p:cNvSpPr>
          <p:nvPr>
            <p:ph type="title"/>
          </p:nvPr>
        </p:nvSpPr>
        <p:spPr>
          <a:xfrm>
            <a:off x="1219200" y="3048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UML Class Diagram</a:t>
            </a:r>
            <a:endParaRPr/>
          </a:p>
        </p:txBody>
      </p:sp>
      <p:sp>
        <p:nvSpPr>
          <p:cNvPr id="602" name="Google Shape;602;p44"/>
          <p:cNvSpPr>
            <a:spLocks noGrp="1"/>
          </p:cNvSpPr>
          <p:nvPr>
            <p:ph type="body" idx="4"/>
          </p:nvPr>
        </p:nvSpPr>
        <p:spPr>
          <a:xfrm>
            <a:off x="1021080" y="1905000"/>
            <a:ext cx="7391400" cy="914400"/>
          </a:xfrm>
          <a:prstGeom prst="roundRect">
            <a:avLst>
              <a:gd name="adj" fmla="val 16667"/>
            </a:avLst>
          </a:prstGeom>
          <a:solidFill>
            <a:schemeClr val="accent5"/>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lvl="0" indent="-342900" algn="l" rtl="0">
              <a:spcBef>
                <a:spcPts val="0"/>
              </a:spcBef>
              <a:spcAft>
                <a:spcPts val="0"/>
              </a:spcAft>
              <a:buClr>
                <a:schemeClr val="lt1"/>
              </a:buClr>
              <a:buSzPts val="2400"/>
              <a:buFont typeface="Noto Sans Symbols"/>
              <a:buChar char="🏵"/>
            </a:pPr>
            <a:r>
              <a:rPr lang="en-US"/>
              <a:t>A UML diagram for a class has three main sections.</a:t>
            </a:r>
            <a:endParaRPr/>
          </a:p>
        </p:txBody>
      </p:sp>
      <p:pic>
        <p:nvPicPr>
          <p:cNvPr id="603" name="Google Shape;603;p44"/>
          <p:cNvPicPr preferRelativeResize="0"/>
          <p:nvPr/>
        </p:nvPicPr>
        <p:blipFill rotWithShape="1">
          <a:blip r:embed="rId3">
            <a:alphaModFix/>
          </a:blip>
          <a:srcRect/>
          <a:stretch/>
        </p:blipFill>
        <p:spPr>
          <a:xfrm>
            <a:off x="797916" y="3429000"/>
            <a:ext cx="7614564" cy="17558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45"/>
          <p:cNvSpPr txBox="1">
            <a:spLocks noGrp="1"/>
          </p:cNvSpPr>
          <p:nvPr>
            <p:ph type="title"/>
          </p:nvPr>
        </p:nvSpPr>
        <p:spPr>
          <a:xfrm>
            <a:off x="1371600" y="0"/>
            <a:ext cx="8229600" cy="804469"/>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Example: A Rectangle Class</a:t>
            </a:r>
            <a:endParaRPr/>
          </a:p>
        </p:txBody>
      </p:sp>
      <p:sp>
        <p:nvSpPr>
          <p:cNvPr id="609" name="Google Shape;609;p45"/>
          <p:cNvSpPr>
            <a:spLocks noGrp="1"/>
          </p:cNvSpPr>
          <p:nvPr>
            <p:ph type="body" idx="4"/>
          </p:nvPr>
        </p:nvSpPr>
        <p:spPr>
          <a:xfrm>
            <a:off x="1066800" y="762000"/>
            <a:ext cx="7391400" cy="914400"/>
          </a:xfrm>
          <a:prstGeom prst="roundRect">
            <a:avLst>
              <a:gd name="adj" fmla="val 16667"/>
            </a:avLst>
          </a:prstGeom>
          <a:solidFill>
            <a:schemeClr val="accent5"/>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lvl="0" indent="-342900" algn="l" rtl="0">
              <a:spcBef>
                <a:spcPts val="0"/>
              </a:spcBef>
              <a:spcAft>
                <a:spcPts val="0"/>
              </a:spcAft>
              <a:buClr>
                <a:schemeClr val="lt1"/>
              </a:buClr>
              <a:buSzPts val="2400"/>
              <a:buFont typeface="Noto Sans Symbols"/>
              <a:buChar char="🏵"/>
            </a:pPr>
            <a:r>
              <a:rPr lang="en-US"/>
              <a:t>A UML diagram for a class has three main sections.</a:t>
            </a:r>
            <a:endParaRPr/>
          </a:p>
        </p:txBody>
      </p:sp>
      <p:pic>
        <p:nvPicPr>
          <p:cNvPr id="610" name="Google Shape;610;p45"/>
          <p:cNvPicPr preferRelativeResize="0"/>
          <p:nvPr/>
        </p:nvPicPr>
        <p:blipFill rotWithShape="1">
          <a:blip r:embed="rId3">
            <a:alphaModFix/>
          </a:blip>
          <a:srcRect/>
          <a:stretch/>
        </p:blipFill>
        <p:spPr>
          <a:xfrm>
            <a:off x="3120630" y="1752600"/>
            <a:ext cx="6023370" cy="4669941"/>
          </a:xfrm>
          <a:prstGeom prst="rect">
            <a:avLst/>
          </a:prstGeom>
          <a:noFill/>
          <a:ln>
            <a:noFill/>
          </a:ln>
        </p:spPr>
      </p:pic>
      <p:pic>
        <p:nvPicPr>
          <p:cNvPr id="611" name="Google Shape;611;p45"/>
          <p:cNvPicPr preferRelativeResize="0"/>
          <p:nvPr/>
        </p:nvPicPr>
        <p:blipFill rotWithShape="1">
          <a:blip r:embed="rId4">
            <a:alphaModFix/>
          </a:blip>
          <a:srcRect/>
          <a:stretch/>
        </p:blipFill>
        <p:spPr>
          <a:xfrm>
            <a:off x="457200" y="2514600"/>
            <a:ext cx="2371550" cy="23715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46"/>
          <p:cNvSpPr txBox="1">
            <a:spLocks noGrp="1"/>
          </p:cNvSpPr>
          <p:nvPr>
            <p:ph type="title"/>
          </p:nvPr>
        </p:nvSpPr>
        <p:spPr>
          <a:xfrm>
            <a:off x="1219200" y="3048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UML Access Specification Notation</a:t>
            </a:r>
            <a:endParaRPr/>
          </a:p>
        </p:txBody>
      </p:sp>
      <p:sp>
        <p:nvSpPr>
          <p:cNvPr id="617" name="Google Shape;617;p46"/>
          <p:cNvSpPr>
            <a:spLocks noGrp="1"/>
          </p:cNvSpPr>
          <p:nvPr>
            <p:ph type="body" idx="4"/>
          </p:nvPr>
        </p:nvSpPr>
        <p:spPr>
          <a:xfrm>
            <a:off x="1021080" y="1524000"/>
            <a:ext cx="7391400" cy="914400"/>
          </a:xfrm>
          <a:prstGeom prst="roundRect">
            <a:avLst>
              <a:gd name="adj" fmla="val 16667"/>
            </a:avLst>
          </a:prstGeom>
          <a:solidFill>
            <a:schemeClr val="accent5"/>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lvl="0" indent="-342900" algn="l" rtl="0">
              <a:spcBef>
                <a:spcPts val="0"/>
              </a:spcBef>
              <a:spcAft>
                <a:spcPts val="0"/>
              </a:spcAft>
              <a:buClr>
                <a:schemeClr val="lt1"/>
              </a:buClr>
              <a:buSzPts val="2400"/>
              <a:buFont typeface="Noto Sans Symbols"/>
              <a:buChar char="🏵"/>
            </a:pPr>
            <a:r>
              <a:rPr lang="en-US"/>
              <a:t>In UML you indicate a private member with a minus (-) and a public member with a plus(+).</a:t>
            </a:r>
            <a:endParaRPr/>
          </a:p>
        </p:txBody>
      </p:sp>
      <p:pic>
        <p:nvPicPr>
          <p:cNvPr id="618" name="Google Shape;618;p46"/>
          <p:cNvPicPr preferRelativeResize="0"/>
          <p:nvPr/>
        </p:nvPicPr>
        <p:blipFill rotWithShape="1">
          <a:blip r:embed="rId3">
            <a:alphaModFix/>
          </a:blip>
          <a:srcRect/>
          <a:stretch/>
        </p:blipFill>
        <p:spPr>
          <a:xfrm>
            <a:off x="990289" y="2895349"/>
            <a:ext cx="7163421" cy="2895851"/>
          </a:xfrm>
          <a:prstGeom prst="rect">
            <a:avLst/>
          </a:prstGeom>
          <a:noFill/>
          <a:ln>
            <a:noFill/>
          </a:ln>
        </p:spPr>
      </p:pic>
      <p:cxnSp>
        <p:nvCxnSpPr>
          <p:cNvPr id="619" name="Google Shape;619;p46"/>
          <p:cNvCxnSpPr/>
          <p:nvPr/>
        </p:nvCxnSpPr>
        <p:spPr>
          <a:xfrm rot="10800000" flipH="1">
            <a:off x="4495800" y="4452937"/>
            <a:ext cx="533400" cy="533400"/>
          </a:xfrm>
          <a:prstGeom prst="straightConnector1">
            <a:avLst/>
          </a:prstGeom>
          <a:noFill/>
          <a:ln w="9525" cap="flat" cmpd="sng">
            <a:solidFill>
              <a:schemeClr val="dk1"/>
            </a:solidFill>
            <a:prstDash val="solid"/>
            <a:round/>
            <a:headEnd type="none" w="med" len="med"/>
            <a:tailEnd type="triangle" w="med" len="med"/>
          </a:ln>
        </p:spPr>
      </p:cxnSp>
      <p:cxnSp>
        <p:nvCxnSpPr>
          <p:cNvPr id="620" name="Google Shape;620;p46"/>
          <p:cNvCxnSpPr/>
          <p:nvPr/>
        </p:nvCxnSpPr>
        <p:spPr>
          <a:xfrm rot="10800000" flipH="1">
            <a:off x="4495800" y="4681537"/>
            <a:ext cx="609600" cy="304800"/>
          </a:xfrm>
          <a:prstGeom prst="straightConnector1">
            <a:avLst/>
          </a:prstGeom>
          <a:noFill/>
          <a:ln w="9525" cap="flat" cmpd="sng">
            <a:solidFill>
              <a:schemeClr val="dk1"/>
            </a:solidFill>
            <a:prstDash val="solid"/>
            <a:round/>
            <a:headEnd type="none" w="med" len="med"/>
            <a:tailEnd type="triangle" w="med" len="med"/>
          </a:ln>
        </p:spPr>
      </p:cxnSp>
      <p:cxnSp>
        <p:nvCxnSpPr>
          <p:cNvPr id="621" name="Google Shape;621;p46"/>
          <p:cNvCxnSpPr/>
          <p:nvPr/>
        </p:nvCxnSpPr>
        <p:spPr>
          <a:xfrm rot="10800000" flipH="1">
            <a:off x="4495800" y="4943475"/>
            <a:ext cx="598488" cy="42862"/>
          </a:xfrm>
          <a:prstGeom prst="straightConnector1">
            <a:avLst/>
          </a:prstGeom>
          <a:noFill/>
          <a:ln w="9525" cap="flat" cmpd="sng">
            <a:solidFill>
              <a:schemeClr val="dk1"/>
            </a:solidFill>
            <a:prstDash val="solid"/>
            <a:round/>
            <a:headEnd type="none" w="med" len="med"/>
            <a:tailEnd type="triangle" w="med" len="med"/>
          </a:ln>
        </p:spPr>
      </p:cxnSp>
      <p:cxnSp>
        <p:nvCxnSpPr>
          <p:cNvPr id="622" name="Google Shape;622;p46"/>
          <p:cNvCxnSpPr/>
          <p:nvPr/>
        </p:nvCxnSpPr>
        <p:spPr>
          <a:xfrm>
            <a:off x="4495800" y="4986337"/>
            <a:ext cx="598488" cy="217488"/>
          </a:xfrm>
          <a:prstGeom prst="straightConnector1">
            <a:avLst/>
          </a:prstGeom>
          <a:noFill/>
          <a:ln w="9525" cap="flat" cmpd="sng">
            <a:solidFill>
              <a:schemeClr val="dk1"/>
            </a:solidFill>
            <a:prstDash val="solid"/>
            <a:round/>
            <a:headEnd type="none" w="med" len="med"/>
            <a:tailEnd type="triangle" w="med" len="med"/>
          </a:ln>
        </p:spPr>
      </p:cxnSp>
      <p:cxnSp>
        <p:nvCxnSpPr>
          <p:cNvPr id="623" name="Google Shape;623;p46"/>
          <p:cNvCxnSpPr/>
          <p:nvPr/>
        </p:nvCxnSpPr>
        <p:spPr>
          <a:xfrm>
            <a:off x="4495800" y="4986337"/>
            <a:ext cx="598488" cy="508000"/>
          </a:xfrm>
          <a:prstGeom prst="straightConnector1">
            <a:avLst/>
          </a:prstGeom>
          <a:noFill/>
          <a:ln w="9525" cap="flat" cmpd="sng">
            <a:solidFill>
              <a:schemeClr val="dk1"/>
            </a:solidFill>
            <a:prstDash val="solid"/>
            <a:round/>
            <a:headEnd type="none" w="med" len="med"/>
            <a:tailEnd type="triangle" w="med" len="med"/>
          </a:ln>
        </p:spPr>
      </p:cxnSp>
      <p:cxnSp>
        <p:nvCxnSpPr>
          <p:cNvPr id="624" name="Google Shape;624;p46"/>
          <p:cNvCxnSpPr/>
          <p:nvPr/>
        </p:nvCxnSpPr>
        <p:spPr>
          <a:xfrm rot="10800000" flipH="1">
            <a:off x="4343400" y="3657600"/>
            <a:ext cx="750888" cy="47625"/>
          </a:xfrm>
          <a:prstGeom prst="straightConnector1">
            <a:avLst/>
          </a:prstGeom>
          <a:noFill/>
          <a:ln w="9525" cap="flat" cmpd="sng">
            <a:solidFill>
              <a:schemeClr val="dk1"/>
            </a:solidFill>
            <a:prstDash val="solid"/>
            <a:round/>
            <a:headEnd type="none" w="med" len="med"/>
            <a:tailEnd type="triangle" w="med" len="med"/>
          </a:ln>
        </p:spPr>
      </p:cxnSp>
      <p:cxnSp>
        <p:nvCxnSpPr>
          <p:cNvPr id="625" name="Google Shape;625;p46"/>
          <p:cNvCxnSpPr/>
          <p:nvPr/>
        </p:nvCxnSpPr>
        <p:spPr>
          <a:xfrm>
            <a:off x="4343400" y="3705225"/>
            <a:ext cx="795338" cy="214312"/>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29"/>
        <p:cNvGrpSpPr/>
        <p:nvPr/>
      </p:nvGrpSpPr>
      <p:grpSpPr>
        <a:xfrm>
          <a:off x="0" y="0"/>
          <a:ext cx="0" cy="0"/>
          <a:chOff x="0" y="0"/>
          <a:chExt cx="0" cy="0"/>
        </a:xfrm>
      </p:grpSpPr>
      <p:sp>
        <p:nvSpPr>
          <p:cNvPr id="630" name="Google Shape;630;p47"/>
          <p:cNvSpPr txBox="1">
            <a:spLocks noGrp="1"/>
          </p:cNvSpPr>
          <p:nvPr>
            <p:ph type="title"/>
          </p:nvPr>
        </p:nvSpPr>
        <p:spPr>
          <a:xfrm>
            <a:off x="1219200" y="3048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UML Data Type Notation</a:t>
            </a:r>
            <a:endParaRPr/>
          </a:p>
        </p:txBody>
      </p:sp>
      <p:sp>
        <p:nvSpPr>
          <p:cNvPr id="631" name="Google Shape;631;p47"/>
          <p:cNvSpPr>
            <a:spLocks noGrp="1"/>
          </p:cNvSpPr>
          <p:nvPr>
            <p:ph type="body" idx="4"/>
          </p:nvPr>
        </p:nvSpPr>
        <p:spPr>
          <a:xfrm>
            <a:off x="1021080" y="1905000"/>
            <a:ext cx="7391400" cy="1371600"/>
          </a:xfrm>
          <a:prstGeom prst="roundRect">
            <a:avLst>
              <a:gd name="adj" fmla="val 16667"/>
            </a:avLst>
          </a:prstGeom>
          <a:solidFill>
            <a:schemeClr val="accent5"/>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lvl="0" indent="-342900" algn="l" rtl="0">
              <a:spcBef>
                <a:spcPts val="0"/>
              </a:spcBef>
              <a:spcAft>
                <a:spcPts val="0"/>
              </a:spcAft>
              <a:buClr>
                <a:schemeClr val="lt1"/>
              </a:buClr>
              <a:buSzPts val="2400"/>
              <a:buFont typeface="Noto Sans Symbols"/>
              <a:buChar char="🏵"/>
            </a:pPr>
            <a:r>
              <a:rPr lang="en-US"/>
              <a:t>To indicate the data type of a member variable, place a colon followed by the name of the data type after the name of the variable. </a:t>
            </a:r>
            <a:endParaRPr/>
          </a:p>
          <a:p>
            <a:pPr marL="342900" lvl="0" indent="-342900" algn="l" rtl="0">
              <a:spcBef>
                <a:spcPts val="480"/>
              </a:spcBef>
              <a:spcAft>
                <a:spcPts val="0"/>
              </a:spcAft>
              <a:buClr>
                <a:schemeClr val="lt1"/>
              </a:buClr>
              <a:buSzPts val="2400"/>
              <a:buFont typeface="Noto Sans Symbols"/>
              <a:buChar char="🏵"/>
            </a:pPr>
            <a:r>
              <a:rPr lang="en-US"/>
              <a:t>.</a:t>
            </a:r>
            <a:endParaRPr/>
          </a:p>
        </p:txBody>
      </p:sp>
      <p:pic>
        <p:nvPicPr>
          <p:cNvPr id="632" name="Google Shape;632;p47"/>
          <p:cNvPicPr preferRelativeResize="0"/>
          <p:nvPr/>
        </p:nvPicPr>
        <p:blipFill rotWithShape="1">
          <a:blip r:embed="rId3">
            <a:alphaModFix/>
          </a:blip>
          <a:srcRect/>
          <a:stretch/>
        </p:blipFill>
        <p:spPr>
          <a:xfrm>
            <a:off x="2514600" y="3962400"/>
            <a:ext cx="4084674" cy="117663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48"/>
          <p:cNvSpPr txBox="1">
            <a:spLocks noGrp="1"/>
          </p:cNvSpPr>
          <p:nvPr>
            <p:ph type="title"/>
          </p:nvPr>
        </p:nvSpPr>
        <p:spPr>
          <a:xfrm>
            <a:off x="1219200" y="3048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UML Parameter Type Notation</a:t>
            </a:r>
            <a:endParaRPr/>
          </a:p>
        </p:txBody>
      </p:sp>
      <p:sp>
        <p:nvSpPr>
          <p:cNvPr id="638" name="Google Shape;638;p48"/>
          <p:cNvSpPr>
            <a:spLocks noGrp="1"/>
          </p:cNvSpPr>
          <p:nvPr>
            <p:ph type="body" idx="4"/>
          </p:nvPr>
        </p:nvSpPr>
        <p:spPr>
          <a:xfrm>
            <a:off x="1021080" y="1905000"/>
            <a:ext cx="7391400" cy="1371600"/>
          </a:xfrm>
          <a:prstGeom prst="roundRect">
            <a:avLst>
              <a:gd name="adj" fmla="val 16667"/>
            </a:avLst>
          </a:prstGeom>
          <a:solidFill>
            <a:schemeClr val="accent5"/>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lvl="0" indent="-342900" algn="l" rtl="0">
              <a:spcBef>
                <a:spcPts val="0"/>
              </a:spcBef>
              <a:spcAft>
                <a:spcPts val="0"/>
              </a:spcAft>
              <a:buClr>
                <a:schemeClr val="lt1"/>
              </a:buClr>
              <a:buSzPts val="2400"/>
              <a:buFont typeface="Noto Sans Symbols"/>
              <a:buChar char="🏵"/>
            </a:pPr>
            <a:r>
              <a:rPr lang="en-US"/>
              <a:t>To indicate the data type of a function’s parameter variable, place a colon followed by the name of the data type after the name of the variable. </a:t>
            </a:r>
            <a:endParaRPr/>
          </a:p>
          <a:p>
            <a:pPr marL="342900" lvl="0" indent="-342900" algn="l" rtl="0">
              <a:spcBef>
                <a:spcPts val="480"/>
              </a:spcBef>
              <a:spcAft>
                <a:spcPts val="0"/>
              </a:spcAft>
              <a:buClr>
                <a:schemeClr val="lt1"/>
              </a:buClr>
              <a:buSzPts val="2400"/>
              <a:buFont typeface="Noto Sans Symbols"/>
              <a:buChar char="🏵"/>
            </a:pPr>
            <a:r>
              <a:rPr lang="en-US"/>
              <a:t>.</a:t>
            </a:r>
            <a:endParaRPr/>
          </a:p>
        </p:txBody>
      </p:sp>
      <p:pic>
        <p:nvPicPr>
          <p:cNvPr id="639" name="Google Shape;639;p48"/>
          <p:cNvPicPr preferRelativeResize="0"/>
          <p:nvPr/>
        </p:nvPicPr>
        <p:blipFill rotWithShape="1">
          <a:blip r:embed="rId3">
            <a:alphaModFix/>
          </a:blip>
          <a:srcRect/>
          <a:stretch/>
        </p:blipFill>
        <p:spPr>
          <a:xfrm>
            <a:off x="1905000" y="3810000"/>
            <a:ext cx="5383235" cy="74987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49"/>
          <p:cNvSpPr txBox="1">
            <a:spLocks noGrp="1"/>
          </p:cNvSpPr>
          <p:nvPr>
            <p:ph type="title"/>
          </p:nvPr>
        </p:nvSpPr>
        <p:spPr>
          <a:xfrm>
            <a:off x="1219200" y="3048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UML Function Return Type Notation</a:t>
            </a:r>
            <a:endParaRPr/>
          </a:p>
        </p:txBody>
      </p:sp>
      <p:sp>
        <p:nvSpPr>
          <p:cNvPr id="645" name="Google Shape;645;p49"/>
          <p:cNvSpPr>
            <a:spLocks noGrp="1"/>
          </p:cNvSpPr>
          <p:nvPr>
            <p:ph type="body" idx="4"/>
          </p:nvPr>
        </p:nvSpPr>
        <p:spPr>
          <a:xfrm>
            <a:off x="1021080" y="1905000"/>
            <a:ext cx="7391400" cy="1371600"/>
          </a:xfrm>
          <a:prstGeom prst="roundRect">
            <a:avLst>
              <a:gd name="adj" fmla="val 16667"/>
            </a:avLst>
          </a:prstGeom>
          <a:solidFill>
            <a:schemeClr val="accent5"/>
          </a:solidFill>
          <a:ln w="25400" cap="flat" cmpd="sng">
            <a:solidFill>
              <a:schemeClr val="lt1"/>
            </a:solidFill>
            <a:prstDash val="solid"/>
            <a:round/>
            <a:headEnd type="none" w="sm" len="sm"/>
            <a:tailEnd type="none" w="sm" len="sm"/>
          </a:ln>
        </p:spPr>
        <p:txBody>
          <a:bodyPr spcFirstLastPara="1" wrap="square" lIns="91425" tIns="45700" rIns="91425" bIns="45700" anchor="t" anchorCtr="0">
            <a:noAutofit/>
          </a:bodyPr>
          <a:lstStyle/>
          <a:p>
            <a:pPr marL="342900" lvl="0" indent="-342900" algn="l" rtl="0">
              <a:spcBef>
                <a:spcPts val="0"/>
              </a:spcBef>
              <a:spcAft>
                <a:spcPts val="0"/>
              </a:spcAft>
              <a:buClr>
                <a:schemeClr val="lt1"/>
              </a:buClr>
              <a:buSzPts val="2400"/>
              <a:buFont typeface="Noto Sans Symbols"/>
              <a:buChar char="🏵"/>
            </a:pPr>
            <a:r>
              <a:rPr lang="en-US"/>
              <a:t>To indicate the data type of a function’s return value, place a colon followed by the name of the data type after the function’s parameter list. </a:t>
            </a:r>
            <a:endParaRPr/>
          </a:p>
          <a:p>
            <a:pPr marL="342900" lvl="0" indent="-342900" algn="l" rtl="0">
              <a:spcBef>
                <a:spcPts val="480"/>
              </a:spcBef>
              <a:spcAft>
                <a:spcPts val="0"/>
              </a:spcAft>
              <a:buClr>
                <a:schemeClr val="lt1"/>
              </a:buClr>
              <a:buSzPts val="2400"/>
              <a:buFont typeface="Noto Sans Symbols"/>
              <a:buChar char="🏵"/>
            </a:pPr>
            <a:r>
              <a:rPr lang="en-US"/>
              <a:t>. </a:t>
            </a:r>
            <a:endParaRPr/>
          </a:p>
          <a:p>
            <a:pPr marL="342900" lvl="0" indent="-342900" algn="l" rtl="0">
              <a:spcBef>
                <a:spcPts val="480"/>
              </a:spcBef>
              <a:spcAft>
                <a:spcPts val="0"/>
              </a:spcAft>
              <a:buClr>
                <a:schemeClr val="lt1"/>
              </a:buClr>
              <a:buSzPts val="2400"/>
              <a:buFont typeface="Noto Sans Symbols"/>
              <a:buChar char="🏵"/>
            </a:pPr>
            <a:r>
              <a:rPr lang="en-US"/>
              <a:t>.</a:t>
            </a:r>
            <a:endParaRPr/>
          </a:p>
        </p:txBody>
      </p:sp>
      <p:pic>
        <p:nvPicPr>
          <p:cNvPr id="646" name="Google Shape;646;p49"/>
          <p:cNvPicPr preferRelativeResize="0"/>
          <p:nvPr/>
        </p:nvPicPr>
        <p:blipFill rotWithShape="1">
          <a:blip r:embed="rId3">
            <a:alphaModFix/>
          </a:blip>
          <a:srcRect/>
          <a:stretch/>
        </p:blipFill>
        <p:spPr>
          <a:xfrm>
            <a:off x="1203960" y="4038600"/>
            <a:ext cx="6754953" cy="75597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50"/>
          <p:cNvSpPr txBox="1">
            <a:spLocks noGrp="1"/>
          </p:cNvSpPr>
          <p:nvPr>
            <p:ph type="title"/>
          </p:nvPr>
        </p:nvSpPr>
        <p:spPr>
          <a:xfrm>
            <a:off x="1219200" y="3048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The Rectangle Class</a:t>
            </a:r>
            <a:endParaRPr/>
          </a:p>
        </p:txBody>
      </p:sp>
      <p:pic>
        <p:nvPicPr>
          <p:cNvPr id="652" name="Google Shape;652;p50"/>
          <p:cNvPicPr preferRelativeResize="0"/>
          <p:nvPr/>
        </p:nvPicPr>
        <p:blipFill rotWithShape="1">
          <a:blip r:embed="rId3">
            <a:alphaModFix/>
          </a:blip>
          <a:srcRect/>
          <a:stretch/>
        </p:blipFill>
        <p:spPr>
          <a:xfrm>
            <a:off x="2590628" y="1819516"/>
            <a:ext cx="3962743" cy="3218967"/>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51"/>
          <p:cNvSpPr txBox="1">
            <a:spLocks noGrp="1"/>
          </p:cNvSpPr>
          <p:nvPr>
            <p:ph type="title"/>
          </p:nvPr>
        </p:nvSpPr>
        <p:spPr>
          <a:xfrm>
            <a:off x="1219200" y="152400"/>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Showing Constructors and Destructors</a:t>
            </a:r>
            <a:endParaRPr/>
          </a:p>
        </p:txBody>
      </p:sp>
      <p:pic>
        <p:nvPicPr>
          <p:cNvPr id="658" name="Google Shape;658;p51"/>
          <p:cNvPicPr preferRelativeResize="0"/>
          <p:nvPr/>
        </p:nvPicPr>
        <p:blipFill rotWithShape="1">
          <a:blip r:embed="rId3">
            <a:alphaModFix/>
          </a:blip>
          <a:srcRect/>
          <a:stretch/>
        </p:blipFill>
        <p:spPr>
          <a:xfrm>
            <a:off x="1090882" y="1600200"/>
            <a:ext cx="6962235" cy="4663844"/>
          </a:xfrm>
          <a:prstGeom prst="rect">
            <a:avLst/>
          </a:prstGeom>
          <a:noFill/>
          <a:ln>
            <a:noFill/>
          </a:ln>
        </p:spPr>
      </p:pic>
      <p:cxnSp>
        <p:nvCxnSpPr>
          <p:cNvPr id="659" name="Google Shape;659;p51"/>
          <p:cNvCxnSpPr/>
          <p:nvPr/>
        </p:nvCxnSpPr>
        <p:spPr>
          <a:xfrm rot="10800000" flipH="1">
            <a:off x="3810000" y="3743325"/>
            <a:ext cx="1066800" cy="244475"/>
          </a:xfrm>
          <a:prstGeom prst="straightConnector1">
            <a:avLst/>
          </a:prstGeom>
          <a:noFill/>
          <a:ln w="9525" cap="flat" cmpd="sng">
            <a:solidFill>
              <a:srgbClr val="FF6600"/>
            </a:solidFill>
            <a:prstDash val="solid"/>
            <a:round/>
            <a:headEnd type="none" w="med" len="med"/>
            <a:tailEnd type="triangle" w="med" len="med"/>
          </a:ln>
        </p:spPr>
      </p:cxnSp>
      <p:cxnSp>
        <p:nvCxnSpPr>
          <p:cNvPr id="660" name="Google Shape;660;p51"/>
          <p:cNvCxnSpPr/>
          <p:nvPr/>
        </p:nvCxnSpPr>
        <p:spPr>
          <a:xfrm rot="10800000" flipH="1">
            <a:off x="3810000" y="3940175"/>
            <a:ext cx="1109663" cy="47625"/>
          </a:xfrm>
          <a:prstGeom prst="straightConnector1">
            <a:avLst/>
          </a:prstGeom>
          <a:noFill/>
          <a:ln w="9525" cap="flat" cmpd="sng">
            <a:solidFill>
              <a:srgbClr val="FF6600"/>
            </a:solidFill>
            <a:prstDash val="solid"/>
            <a:round/>
            <a:headEnd type="none" w="med" len="med"/>
            <a:tailEnd type="triangle" w="med" len="med"/>
          </a:ln>
        </p:spPr>
      </p:cxnSp>
      <p:cxnSp>
        <p:nvCxnSpPr>
          <p:cNvPr id="661" name="Google Shape;661;p51"/>
          <p:cNvCxnSpPr/>
          <p:nvPr/>
        </p:nvCxnSpPr>
        <p:spPr>
          <a:xfrm>
            <a:off x="3810000" y="3987800"/>
            <a:ext cx="1052513" cy="152400"/>
          </a:xfrm>
          <a:prstGeom prst="straightConnector1">
            <a:avLst/>
          </a:prstGeom>
          <a:noFill/>
          <a:ln w="9525" cap="flat" cmpd="sng">
            <a:solidFill>
              <a:srgbClr val="FF6600"/>
            </a:solidFill>
            <a:prstDash val="solid"/>
            <a:round/>
            <a:headEnd type="none" w="med" len="med"/>
            <a:tailEnd type="triangle" w="med" len="med"/>
          </a:ln>
        </p:spPr>
      </p:cxnSp>
      <p:cxnSp>
        <p:nvCxnSpPr>
          <p:cNvPr id="662" name="Google Shape;662;p51"/>
          <p:cNvCxnSpPr/>
          <p:nvPr/>
        </p:nvCxnSpPr>
        <p:spPr>
          <a:xfrm>
            <a:off x="3657600" y="4648200"/>
            <a:ext cx="1295400" cy="0"/>
          </a:xfrm>
          <a:prstGeom prst="straightConnector1">
            <a:avLst/>
          </a:prstGeom>
          <a:noFill/>
          <a:ln w="19050" cap="flat" cmpd="sng">
            <a:solidFill>
              <a:srgbClr val="FF6600"/>
            </a:solidFill>
            <a:prstDash val="solid"/>
            <a:round/>
            <a:headEnd type="none" w="med" len="med"/>
            <a:tailEnd type="triangle" w="med" len="med"/>
          </a:ln>
        </p:spPr>
      </p:cxnSp>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2126</Words>
  <Application>Microsoft Office PowerPoint</Application>
  <PresentationFormat>On-screen Show (4:3)</PresentationFormat>
  <Paragraphs>325</Paragraphs>
  <Slides>41</Slides>
  <Notes>41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Arial</vt:lpstr>
      <vt:lpstr>Calibri</vt:lpstr>
      <vt:lpstr>Consolas</vt:lpstr>
      <vt:lpstr>Courier New</vt:lpstr>
      <vt:lpstr>Noto Sans Symbols</vt:lpstr>
      <vt:lpstr>Tahoma</vt:lpstr>
      <vt:lpstr>Times New Roman</vt:lpstr>
      <vt:lpstr>Trebuchet MS</vt:lpstr>
      <vt:lpstr>1_Office Theme</vt:lpstr>
      <vt:lpstr>Fundamental Programming SCSE 1013  Semester 1, 2024/2025   Faculty of Computing, UTM</vt:lpstr>
      <vt:lpstr>10: Transformation From Structured To Object-oriented Paradigm</vt:lpstr>
      <vt:lpstr>Contents</vt:lpstr>
      <vt:lpstr>Intro: Types of Programming Languages</vt:lpstr>
      <vt:lpstr>Procedural Programming (PP)</vt:lpstr>
      <vt:lpstr>Procedural Programming</vt:lpstr>
      <vt:lpstr>Functional Programming (FP)</vt:lpstr>
      <vt:lpstr>Object-Oriented Programming</vt:lpstr>
      <vt:lpstr>Object-Oriented Programming</vt:lpstr>
      <vt:lpstr>OOP Principles: Classes</vt:lpstr>
      <vt:lpstr>OOP Principles: Objects</vt:lpstr>
      <vt:lpstr>Classes and Objects</vt:lpstr>
      <vt:lpstr>OOP Principles:  Encapsulation</vt:lpstr>
      <vt:lpstr>OOP Principles:  Data Hiding</vt:lpstr>
      <vt:lpstr>OOP Principles: Associations</vt:lpstr>
      <vt:lpstr>OOP Principles: Inheritance</vt:lpstr>
      <vt:lpstr>OOP Principles: Polymorphism</vt:lpstr>
      <vt:lpstr>Introduction to Associations</vt:lpstr>
      <vt:lpstr>Introduction to Associations</vt:lpstr>
      <vt:lpstr>Introduction to Aggregations</vt:lpstr>
      <vt:lpstr>Introduction to Aggregations</vt:lpstr>
      <vt:lpstr>Implementations of Aggregations</vt:lpstr>
      <vt:lpstr>Implementations of Aggregations</vt:lpstr>
      <vt:lpstr>Implementations of Aggregations</vt:lpstr>
      <vt:lpstr>Implementations of Aggregations</vt:lpstr>
      <vt:lpstr>Introduction to Compositions</vt:lpstr>
      <vt:lpstr>Introduction to Compositions</vt:lpstr>
      <vt:lpstr>Implementations of Compositions</vt:lpstr>
      <vt:lpstr>Implementations of Compositions</vt:lpstr>
      <vt:lpstr>PowerPoint Presentation</vt:lpstr>
      <vt:lpstr>Self-test: Introduction to Object Oriented Programming</vt:lpstr>
      <vt:lpstr>The Unified Modeling Language</vt:lpstr>
      <vt:lpstr>The Unified Modelling Language</vt:lpstr>
      <vt:lpstr>UML Class Diagram</vt:lpstr>
      <vt:lpstr>Example: A Rectangle Class</vt:lpstr>
      <vt:lpstr>UML Access Specification Notation</vt:lpstr>
      <vt:lpstr>UML Data Type Notation</vt:lpstr>
      <vt:lpstr>UML Parameter Type Notation</vt:lpstr>
      <vt:lpstr>UML Function Return Type Notation</vt:lpstr>
      <vt:lpstr>The Rectangle Class</vt:lpstr>
      <vt:lpstr>Showing Constructors and Destructors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Moderator</cp:lastModifiedBy>
  <cp:revision>2</cp:revision>
  <dcterms:created xsi:type="dcterms:W3CDTF">2014-02-24T04:16:52Z</dcterms:created>
  <dcterms:modified xsi:type="dcterms:W3CDTF">2024-09-19T04:47:04Z</dcterms:modified>
</cp:coreProperties>
</file>