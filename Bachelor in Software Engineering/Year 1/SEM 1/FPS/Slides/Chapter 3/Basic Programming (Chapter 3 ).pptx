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5" roundtripDataSignature="AMtx7mg75K6iB4Is8pdPHs8DrgKouhg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AEAA78-FCFD-40C4-9FFE-228432B043EB}">
  <a:tblStyle styleId="{B6AEAA78-FCFD-40C4-9FFE-228432B043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C9884802-4F91-46C7-B67F-BEE34960DB8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5" Type="http://customschemas.google.com/relationships/presentationmetadata" Target="meta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pr2-21.cpp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pr2-01.cpp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pr2-07.cpp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8" name="Google Shape;26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4" name="Google Shape;28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4" name="Google Shape;32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pr2-08.cpp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8" name="Google Shape;34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9" name="Google Shape;35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5" name="Google Shape;36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2" name="Google Shape;38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5" name="Google Shape;405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6" name="Google Shape;40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pr2-02.cpp and pr 2-03.cpp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3" name="Google Shape;413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14" name="Google Shape;41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pr2-04.cpp, pr2-05.cpp, and pr2-06.cpp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52" name="Google Shape;45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0" name="Google Shape;46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8" name="Google Shape;46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pr2-09.cpp and pr2-10.cpp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6" name="Google Shape;47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pr2-15.cpp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84" name="Google Shape;48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1" name="Google Shape;491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92" name="Google Shape;49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9" name="Google Shape;499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00" name="Google Shape;500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pr2-16.cpp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15" name="Google Shape;51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pr2-11.cpp, pr2-12.cpp, and pr2-13.cpp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" name="Google Shape;524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25" name="Google Shape;52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pr2-11.cpp, pr2-12.cpp, and pr2-13.cpp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52" name="Google Shape;552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1" name="Google Shape;571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9" name="Google Shape;579;p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6" name="Google Shape;586;p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7" name="Google Shape;587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pr2-14.cpp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4" name="Google Shape;594;p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5" name="Google Shape;595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pr2-17.cpp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2" name="Google Shape;602;p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03" name="Google Shape;603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0" name="Google Shape;610;p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11" name="Google Shape;611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pr2-18.cpp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8" name="Google Shape;618;p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19" name="Google Shape;61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pr2-19.cpp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2" name="Google Shape;632;p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8" name="Google Shape;638;p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4" name="Google Shape;644;p7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45" name="Google Shape;64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2" name="Google Shape;652;p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53" name="Google Shape;653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See pr2-20.cpp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0" name="Google Shape;660;p7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1" name="Google Shape;661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8" name="Google Shape;668;p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9" name="Google Shape;66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p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83" name="Google Shape;683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8" name="Google Shape;698;p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5" name="Google Shape;705;p8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12" name="Google Shape;712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8" name="Google Shape;718;p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4" name="Google Shape;724;p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0" name="Google Shape;730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6" name="Google Shape;736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2" name="Google Shape;742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9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50" name="Google Shape;750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56" name="Google Shape;756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3" name="Google Shape;763;p9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9" name="Google Shape;769;p9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p9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p9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9" name="Google Shape;789;p9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p9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1" name="Google Shape;801;p9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0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07" name="Google Shape;807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3" name="Google Shape;813;p10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9" name="Google Shape;819;p10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p10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0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31" name="Google Shape;831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0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46" name="Google Shape;846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0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52" name="Google Shape;852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8" name="Google Shape;858;p10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4" name="Google Shape;864;p1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0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6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0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9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7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Basic Programming</a:t>
            </a:r>
            <a:endParaRPr b="1"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Data Type</a:t>
            </a:r>
            <a:endParaRPr/>
          </a:p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Operator</a:t>
            </a:r>
            <a:endParaRPr/>
          </a:p>
          <a:p>
            <a:pPr indent="-43180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Input Output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What a Is a Program Made Of?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1600200"/>
            <a:ext cx="843597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Common elements in programming languages: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Key Words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Programmer-Defined Identifiers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Operators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Punctuation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Syntax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Key Words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6858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Also known as </a:t>
            </a:r>
            <a:r>
              <a:rPr lang="en-US">
                <a:solidFill>
                  <a:schemeClr val="accent2"/>
                </a:solidFill>
              </a:rPr>
              <a:t>reserved words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Have a special meaning in C++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not be used as identifier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Written using lowercase letters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Examples in program </a:t>
            </a:r>
            <a:r>
              <a:rPr lang="en-US" sz="2400"/>
              <a:t>(shown in green)</a:t>
            </a:r>
            <a:r>
              <a:rPr lang="en-US"/>
              <a:t>: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std;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32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int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main()</a:t>
            </a:r>
            <a:endParaRPr/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304800" y="303213"/>
            <a:ext cx="86106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Example Program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685800" y="12954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int main()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 double num1 = 5,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		num2,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num2 = 12;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sum = num1 + num2;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cout &lt;&lt; "The sum is " &lt;&lt;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return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/>
          </a:p>
        </p:txBody>
      </p:sp>
      <p:sp>
        <p:nvSpPr>
          <p:cNvPr id="110" name="Google Shape;110;p4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11189" y="1557338"/>
            <a:ext cx="3427412" cy="8636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68313" y="2349500"/>
            <a:ext cx="1131887" cy="71913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71550" y="3141663"/>
            <a:ext cx="1728788" cy="71913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143000" y="5431631"/>
            <a:ext cx="1728788" cy="71913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Operators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6858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Used to perform operations on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Many types of operators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Arithmetic:  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+, -, *, /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Assignment: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Examples in program</a:t>
            </a:r>
            <a:r>
              <a:rPr lang="en-US" sz="2400"/>
              <a:t> (shown in green)</a:t>
            </a:r>
            <a:r>
              <a:rPr lang="en-US"/>
              <a:t>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32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num2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12;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32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sum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num1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num2;</a:t>
            </a:r>
            <a:endParaRPr/>
          </a:p>
        </p:txBody>
      </p:sp>
      <p:sp>
        <p:nvSpPr>
          <p:cNvPr id="121" name="Google Shape;121;p5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304800" y="303213"/>
            <a:ext cx="86106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Example Program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685800" y="12954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int main()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 double num1 = 5, num2,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num2 = 12;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sum = num1 + num2;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cout &lt;&lt; "The sum is " &lt;&lt;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return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/>
          </a:p>
        </p:txBody>
      </p:sp>
      <p:sp>
        <p:nvSpPr>
          <p:cNvPr id="128" name="Google Shape;128;p6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635375" y="3068638"/>
            <a:ext cx="576263" cy="576262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581400" y="4327524"/>
            <a:ext cx="576262" cy="504825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133600" y="4327524"/>
            <a:ext cx="576262" cy="576262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302668" y="3482260"/>
            <a:ext cx="576263" cy="576262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Punctuation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6858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Characters that mark the end of a statement, or that separate items in a list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 in program </a:t>
            </a:r>
            <a:r>
              <a:rPr lang="en-US" sz="2400"/>
              <a:t>(shown in green)</a:t>
            </a:r>
            <a:r>
              <a:rPr lang="en-US"/>
              <a:t>: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32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	 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double num1 = 5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32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			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num2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32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num2 = 12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139" name="Google Shape;139;p7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304800" y="303213"/>
            <a:ext cx="86106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Example Program</a:t>
            </a:r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685800" y="12954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int main()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 double num1 = 5,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		num2,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num2 = 12;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sum = num1 + num2;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cout &lt;&lt; "The sum is " &lt;&lt;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return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/>
          </a:p>
        </p:txBody>
      </p:sp>
      <p:sp>
        <p:nvSpPr>
          <p:cNvPr id="146" name="Google Shape;146;p8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500563" y="3141663"/>
            <a:ext cx="431800" cy="574675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276600" y="3933825"/>
            <a:ext cx="503238" cy="50323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lang="en-US"/>
              <a:t> Directive</a:t>
            </a:r>
            <a:endParaRPr/>
          </a:p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685800" y="2133600"/>
            <a:ext cx="81534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Inserts the contents of another file into the program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Is a preprocessor directive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Not part of the C++ language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Not seen by compiler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</p:txBody>
      </p:sp>
      <p:sp>
        <p:nvSpPr>
          <p:cNvPr id="156" name="Google Shape;156;p9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7" name="Google Shape;157;p9"/>
          <p:cNvGrpSpPr/>
          <p:nvPr/>
        </p:nvGrpSpPr>
        <p:grpSpPr>
          <a:xfrm>
            <a:off x="7162800" y="3962400"/>
            <a:ext cx="1524000" cy="1066800"/>
            <a:chOff x="4512" y="2496"/>
            <a:chExt cx="960" cy="672"/>
          </a:xfrm>
        </p:grpSpPr>
        <p:sp>
          <p:nvSpPr>
            <p:cNvPr id="158" name="Google Shape;158;p9"/>
            <p:cNvSpPr/>
            <p:nvPr/>
          </p:nvSpPr>
          <p:spPr>
            <a:xfrm>
              <a:off x="4512" y="2496"/>
              <a:ext cx="960" cy="672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9"/>
            <p:cNvSpPr txBox="1"/>
            <p:nvPr/>
          </p:nvSpPr>
          <p:spPr>
            <a:xfrm>
              <a:off x="4560" y="2640"/>
              <a:ext cx="874" cy="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No </a:t>
              </a:r>
              <a:r>
                <a:rPr b="1" i="0" lang="en-US" sz="2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;</a:t>
              </a:r>
              <a:r>
                <a:rPr b="1" i="0" lang="en-US" sz="20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 goes here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0" name="Google Shape;160;p9"/>
          <p:cNvCxnSpPr/>
          <p:nvPr/>
        </p:nvCxnSpPr>
        <p:spPr>
          <a:xfrm flipH="1">
            <a:off x="6248400" y="47244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Comments</a:t>
            </a:r>
            <a:endParaRPr/>
          </a:p>
        </p:txBody>
      </p:sp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685800" y="1981200"/>
            <a:ext cx="8077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Are used to document parts of a program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Are written for persons reading the source code of the program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Indicate the purpose of the program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Describe the use of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Explain complex sections of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Are ignored by the compiler</a:t>
            </a:r>
            <a:endParaRPr/>
          </a:p>
        </p:txBody>
      </p:sp>
      <p:sp>
        <p:nvSpPr>
          <p:cNvPr id="168" name="Google Shape;168;p10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Single-Line Comments</a:t>
            </a:r>
            <a:endParaRPr/>
          </a:p>
        </p:txBody>
      </p:sp>
      <p:sp>
        <p:nvSpPr>
          <p:cNvPr id="175" name="Google Shape;175;p11"/>
          <p:cNvSpPr txBox="1"/>
          <p:nvPr>
            <p:ph idx="1" type="body"/>
          </p:nvPr>
        </p:nvSpPr>
        <p:spPr>
          <a:xfrm>
            <a:off x="304800" y="1981200"/>
            <a:ext cx="8534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Begin with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-US"/>
              <a:t> through to the end of line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int length = 12; // length in inches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int width = 15;  // width in inches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int area;        // calculated area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// Calculate rectangle area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area = length * width;</a:t>
            </a:r>
            <a:r>
              <a:rPr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sp>
        <p:nvSpPr>
          <p:cNvPr id="176" name="Google Shape;176;p11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Multi-Line Comments</a:t>
            </a:r>
            <a:endParaRPr/>
          </a:p>
        </p:txBody>
      </p:sp>
      <p:sp>
        <p:nvSpPr>
          <p:cNvPr id="183" name="Google Shape;183;p12"/>
          <p:cNvSpPr txBox="1"/>
          <p:nvPr>
            <p:ph idx="1" type="body"/>
          </p:nvPr>
        </p:nvSpPr>
        <p:spPr>
          <a:xfrm>
            <a:off x="685800" y="1981200"/>
            <a:ext cx="777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Begin with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/*</a:t>
            </a:r>
            <a:r>
              <a:rPr lang="en-US"/>
              <a:t> and end with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span multiple lines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/*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----------------------------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  Here's a multi-line comment 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 ----------------------------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also be used as single-line comments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int area;  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/*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Calculated area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/>
          </a:p>
        </p:txBody>
      </p:sp>
      <p:sp>
        <p:nvSpPr>
          <p:cNvPr id="184" name="Google Shape;184;p12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The Parts of a C++ Program</a:t>
            </a:r>
            <a:endParaRPr/>
          </a:p>
        </p:txBody>
      </p:sp>
      <p:sp>
        <p:nvSpPr>
          <p:cNvPr id="191" name="Google Shape;191;p13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92" name="Google Shape;192;p13"/>
          <p:cNvGraphicFramePr/>
          <p:nvPr/>
        </p:nvGraphicFramePr>
        <p:xfrm>
          <a:off x="609600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{B6AEAA78-FCFD-40C4-9FFE-228432B043EB}</a:tableStyleId>
              </a:tblPr>
              <a:tblGrid>
                <a:gridCol w="3962400"/>
                <a:gridCol w="3962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Statement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Purpose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 sample C++ program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comment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#include &lt;iostream&gt;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preprocessor directive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using namespace std;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which namespace to use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 main()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beginning of function named </a:t>
                      </a: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beginning of block for </a:t>
                      </a: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cout &lt;&lt; "Hello, there!";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output statement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return 0;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send 0 back to the operating system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end of block for </a:t>
                      </a:r>
                      <a:r>
                        <a:rPr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/>
          <p:nvPr>
            <p:ph type="title"/>
          </p:nvPr>
        </p:nvSpPr>
        <p:spPr>
          <a:xfrm>
            <a:off x="685800" y="228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Special Characters</a:t>
            </a:r>
            <a:endParaRPr/>
          </a:p>
        </p:txBody>
      </p:sp>
      <p:sp>
        <p:nvSpPr>
          <p:cNvPr id="199" name="Google Shape;199;p14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0" name="Google Shape;200;p14"/>
          <p:cNvGraphicFramePr/>
          <p:nvPr/>
        </p:nvGraphicFramePr>
        <p:xfrm>
          <a:off x="2286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{C9884802-4F91-46C7-B67F-BEE34960DB88}</a:tableStyleId>
              </a:tblPr>
              <a:tblGrid>
                <a:gridCol w="1752600"/>
                <a:gridCol w="3124200"/>
                <a:gridCol w="3810000"/>
              </a:tblGrid>
              <a:tr h="45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Character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Double Slash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Begins a comment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Pound Sign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Begins preprocessor directive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 &gt;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Open, Close Brackets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Encloses filename used in </a:t>
                      </a: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#include</a:t>
                      </a: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directive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 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Open, Close Parentheses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Used when naming function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 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Open, Close Braces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Encloses a group of statements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 "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Open, Close Quote Marks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Encloses string of characters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Semicolon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Ends a programming statement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Important Details</a:t>
            </a:r>
            <a:endParaRPr/>
          </a:p>
        </p:txBody>
      </p:sp>
      <p:sp>
        <p:nvSpPr>
          <p:cNvPr id="206" name="Google Shape;206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C++ is </a:t>
            </a:r>
            <a:r>
              <a:rPr lang="en-US" u="sng"/>
              <a:t>case-sensitive</a:t>
            </a:r>
            <a:r>
              <a:rPr lang="en-US"/>
              <a:t>.  Uppercase and lowercase characters are different characters.  ‘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/>
              <a:t>’ is not the same as ‘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/>
              <a:t>’.</a:t>
            </a:r>
            <a:endParaRPr u="sng"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Every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/>
              <a:t> must have a corresponding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/>
              <a:t>, and vice-versa.</a:t>
            </a:r>
            <a:endParaRPr/>
          </a:p>
        </p:txBody>
      </p:sp>
      <p:sp>
        <p:nvSpPr>
          <p:cNvPr id="207" name="Google Shape;207;p15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Variables</a:t>
            </a:r>
            <a:endParaRPr/>
          </a:p>
        </p:txBody>
      </p:sp>
      <p:sp>
        <p:nvSpPr>
          <p:cNvPr id="213" name="Google Shape;21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Variables</a:t>
            </a:r>
            <a:endParaRPr/>
          </a:p>
        </p:txBody>
      </p:sp>
      <p:sp>
        <p:nvSpPr>
          <p:cNvPr id="219" name="Google Shape;219;p17"/>
          <p:cNvSpPr txBox="1"/>
          <p:nvPr>
            <p:ph idx="1" type="body"/>
          </p:nvPr>
        </p:nvSpPr>
        <p:spPr>
          <a:xfrm>
            <a:off x="6858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variable is a named location in computer memory (in RAM)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holds a piece of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must be </a:t>
            </a:r>
            <a:r>
              <a:rPr i="1" lang="en-US"/>
              <a:t>defined</a:t>
            </a:r>
            <a:r>
              <a:rPr lang="en-US"/>
              <a:t> before it can be used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 variable definition: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double num1;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>
            <a:off x="304800" y="303213"/>
            <a:ext cx="86106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Example Program</a:t>
            </a:r>
            <a:endParaRPr/>
          </a:p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>
            <a:off x="685800" y="12954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int main()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 double num1 = 5,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		num2,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num2 = 12;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sum = num1 + num2;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cout &lt;&lt; "The sum is " &lt;&lt;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return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/>
          </a:p>
        </p:txBody>
      </p:sp>
      <p:sp>
        <p:nvSpPr>
          <p:cNvPr id="227" name="Google Shape;227;p18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900113" y="3141663"/>
            <a:ext cx="4176712" cy="93503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 Variables, Constants, and the Assignment Statement</a:t>
            </a:r>
            <a:endParaRPr/>
          </a:p>
        </p:txBody>
      </p:sp>
      <p:sp>
        <p:nvSpPr>
          <p:cNvPr id="235" name="Google Shape;235;p19"/>
          <p:cNvSpPr txBox="1"/>
          <p:nvPr>
            <p:ph idx="1" type="body"/>
          </p:nvPr>
        </p:nvSpPr>
        <p:spPr>
          <a:xfrm>
            <a:off x="609600" y="16002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Variable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Has a name and a type of data it can hold      </a:t>
            </a:r>
            <a:endParaRPr/>
          </a:p>
          <a:p>
            <a:pPr indent="-285750" lvl="1" marL="742950" rtl="0" algn="l">
              <a:lnSpc>
                <a:spcPct val="200000"/>
              </a:lnSpc>
              <a:spcBef>
                <a:spcPts val="240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char letter;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Is used to reference a location in memory where a value can be stored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6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Must be defined before it can be used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value that is stored can be changed, </a:t>
            </a:r>
            <a:r>
              <a:rPr i="1" lang="en-US" sz="2400"/>
              <a:t>i.e.</a:t>
            </a:r>
            <a:r>
              <a:rPr lang="en-US" sz="2400"/>
              <a:t>, it can “vary”</a:t>
            </a:r>
            <a:endParaRPr b="1" sz="2400">
              <a:solidFill>
                <a:srgbClr val="0066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" name="Google Shape;236;p19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7" name="Google Shape;237;p19"/>
          <p:cNvGrpSpPr/>
          <p:nvPr/>
        </p:nvGrpSpPr>
        <p:grpSpPr>
          <a:xfrm>
            <a:off x="6324600" y="2667000"/>
            <a:ext cx="1981200" cy="1066800"/>
            <a:chOff x="3840" y="1968"/>
            <a:chExt cx="1248" cy="672"/>
          </a:xfrm>
        </p:grpSpPr>
        <p:sp>
          <p:nvSpPr>
            <p:cNvPr id="238" name="Google Shape;238;p19"/>
            <p:cNvSpPr txBox="1"/>
            <p:nvPr/>
          </p:nvSpPr>
          <p:spPr>
            <a:xfrm>
              <a:off x="3936" y="2112"/>
              <a:ext cx="1056" cy="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variable name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3840" y="1968"/>
              <a:ext cx="1248" cy="672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19"/>
          <p:cNvGrpSpPr/>
          <p:nvPr/>
        </p:nvGrpSpPr>
        <p:grpSpPr>
          <a:xfrm>
            <a:off x="533400" y="2743200"/>
            <a:ext cx="2286000" cy="990600"/>
            <a:chOff x="288" y="1920"/>
            <a:chExt cx="1440" cy="624"/>
          </a:xfrm>
        </p:grpSpPr>
        <p:sp>
          <p:nvSpPr>
            <p:cNvPr id="241" name="Google Shape;241;p19"/>
            <p:cNvSpPr/>
            <p:nvPr/>
          </p:nvSpPr>
          <p:spPr>
            <a:xfrm>
              <a:off x="384" y="1920"/>
              <a:ext cx="1296" cy="624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9"/>
            <p:cNvSpPr txBox="1"/>
            <p:nvPr/>
          </p:nvSpPr>
          <p:spPr>
            <a:xfrm>
              <a:off x="288" y="2112"/>
              <a:ext cx="1440" cy="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 type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3" name="Google Shape;243;p19"/>
          <p:cNvCxnSpPr/>
          <p:nvPr/>
        </p:nvCxnSpPr>
        <p:spPr>
          <a:xfrm flipH="1">
            <a:off x="4648200" y="2971800"/>
            <a:ext cx="1752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p19"/>
          <p:cNvCxnSpPr/>
          <p:nvPr/>
        </p:nvCxnSpPr>
        <p:spPr>
          <a:xfrm>
            <a:off x="2667000" y="3048000"/>
            <a:ext cx="4572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 txBox="1"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Variables</a:t>
            </a:r>
            <a:endParaRPr/>
          </a:p>
        </p:txBody>
      </p:sp>
      <p:sp>
        <p:nvSpPr>
          <p:cNvPr id="251" name="Google Shape;251;p20"/>
          <p:cNvSpPr txBox="1"/>
          <p:nvPr>
            <p:ph idx="1" type="body"/>
          </p:nvPr>
        </p:nvSpPr>
        <p:spPr>
          <a:xfrm>
            <a:off x="609600" y="1676400"/>
            <a:ext cx="8077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If a new value is stored in the variable, it replaces the previous value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 previous value is overwritten and can no longer be retrieved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age;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age = 17;     // age is 17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age;  // Displays 17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age = 18;     // Now age is 18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cout &lt;&lt; age;  // Displays 18 </a:t>
            </a:r>
            <a:endParaRPr/>
          </a:p>
        </p:txBody>
      </p:sp>
      <p:sp>
        <p:nvSpPr>
          <p:cNvPr id="252" name="Google Shape;252;p20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Variables: Example</a:t>
            </a:r>
            <a:endParaRPr/>
          </a:p>
        </p:txBody>
      </p:sp>
      <p:pic>
        <p:nvPicPr>
          <p:cNvPr id="258" name="Google Shape;2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8" y="1557338"/>
            <a:ext cx="7931150" cy="48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Identifiers</a:t>
            </a:r>
            <a:endParaRPr/>
          </a:p>
        </p:txBody>
      </p:sp>
      <p:sp>
        <p:nvSpPr>
          <p:cNvPr id="264" name="Google Shape;264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Identifiers</a:t>
            </a:r>
            <a:endParaRPr/>
          </a:p>
        </p:txBody>
      </p:sp>
      <p:sp>
        <p:nvSpPr>
          <p:cNvPr id="271" name="Google Shape;271;p23"/>
          <p:cNvSpPr txBox="1"/>
          <p:nvPr>
            <p:ph idx="1" type="body"/>
          </p:nvPr>
        </p:nvSpPr>
        <p:spPr>
          <a:xfrm>
            <a:off x="152400" y="1600200"/>
            <a:ext cx="88392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Programmer-chosen names to represent parts of the program, such as variables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Name should indicate the use of the identifier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Cannot use C++ key words as identifiers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Must begin with alphabetic character or _, followed by alphabetic, numeric, or _ .  Alpha may be uppercase or lowercase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Example in program (shown in green):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double </a:t>
            </a:r>
            <a:r>
              <a:rPr b="1" lang="en-US" sz="2800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num1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type="title"/>
          </p:nvPr>
        </p:nvSpPr>
        <p:spPr>
          <a:xfrm>
            <a:off x="304800" y="303213"/>
            <a:ext cx="86106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Example Program</a:t>
            </a:r>
            <a:endParaRPr/>
          </a:p>
        </p:txBody>
      </p:sp>
      <p:sp>
        <p:nvSpPr>
          <p:cNvPr id="277" name="Google Shape;277;p24"/>
          <p:cNvSpPr txBox="1"/>
          <p:nvPr>
            <p:ph idx="1" type="body"/>
          </p:nvPr>
        </p:nvSpPr>
        <p:spPr>
          <a:xfrm>
            <a:off x="685800" y="12954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int main()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 double num1 = 5,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		num2,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num2 = 12;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sum = num1 + num2;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cout &lt;&lt; "The sum is " &lt;&lt; sum;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return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/>
          </a:p>
        </p:txBody>
      </p:sp>
      <p:sp>
        <p:nvSpPr>
          <p:cNvPr id="278" name="Google Shape;278;p24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2555875" y="3644900"/>
            <a:ext cx="2376488" cy="4318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2627313" y="3141663"/>
            <a:ext cx="1152525" cy="574675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Valid and Invalid Identifiers</a:t>
            </a:r>
            <a:endParaRPr/>
          </a:p>
        </p:txBody>
      </p:sp>
      <p:sp>
        <p:nvSpPr>
          <p:cNvPr id="287" name="Google Shape;287;p25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88" name="Google Shape;288;p25"/>
          <p:cNvGraphicFramePr/>
          <p:nvPr/>
        </p:nvGraphicFramePr>
        <p:xfrm>
          <a:off x="7620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{C9884802-4F91-46C7-B67F-BEE34960DB88}</a:tableStyleId>
              </a:tblPr>
              <a:tblGrid>
                <a:gridCol w="2514600"/>
                <a:gridCol w="1371600"/>
                <a:gridCol w="36576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IDENTIFIER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REASON IF INVALID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totalSales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total_Sales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total.Sales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4thQtrSales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totalSale$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1" i="0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>
            <p:ph type="title"/>
          </p:nvPr>
        </p:nvSpPr>
        <p:spPr>
          <a:xfrm>
            <a:off x="304800" y="303213"/>
            <a:ext cx="86106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Lines vs. Statements</a:t>
            </a:r>
            <a:endParaRPr/>
          </a:p>
        </p:txBody>
      </p:sp>
      <p:sp>
        <p:nvSpPr>
          <p:cNvPr id="294" name="Google Shape;294;p26"/>
          <p:cNvSpPr txBox="1"/>
          <p:nvPr>
            <p:ph idx="1" type="body"/>
          </p:nvPr>
        </p:nvSpPr>
        <p:spPr>
          <a:xfrm>
            <a:off x="685800" y="1447800"/>
            <a:ext cx="8153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In a source file,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alibri"/>
              <a:buNone/>
            </a:pPr>
            <a:r>
              <a:rPr lang="en-US">
                <a:solidFill>
                  <a:schemeClr val="accent2"/>
                </a:solidFill>
              </a:rPr>
              <a:t>A line </a:t>
            </a:r>
            <a:r>
              <a:rPr lang="en-US"/>
              <a:t>is all of the characters entered before a carriage return.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Blank lines improve the readability of a program.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Here are four sample lines.  Line 3 is blank: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	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 double num1 = 5, num2, sum;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 num2 = 12;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>
              <a:solidFill>
                <a:srgbClr val="3D896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  sum = num1 + num2;</a:t>
            </a:r>
            <a:endParaRPr/>
          </a:p>
        </p:txBody>
      </p:sp>
      <p:sp>
        <p:nvSpPr>
          <p:cNvPr id="295" name="Google Shape;295;p26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Literals</a:t>
            </a:r>
            <a:endParaRPr/>
          </a:p>
        </p:txBody>
      </p:sp>
      <p:sp>
        <p:nvSpPr>
          <p:cNvPr id="301" name="Google Shape;30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Literal: a value that is written into a program’s code.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"hello, there" (string literal)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12 (integer literal)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 txBox="1"/>
          <p:nvPr>
            <p:ph type="title"/>
          </p:nvPr>
        </p:nvSpPr>
        <p:spPr>
          <a:xfrm>
            <a:off x="304800" y="303213"/>
            <a:ext cx="8610600" cy="839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Lines vs. Statements</a:t>
            </a:r>
            <a:endParaRPr/>
          </a:p>
        </p:txBody>
      </p:sp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685800" y="1295400"/>
            <a:ext cx="8153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In a source file,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alibri"/>
              <a:buNone/>
            </a:pPr>
            <a:r>
              <a:rPr lang="en-US">
                <a:solidFill>
                  <a:schemeClr val="accent2"/>
                </a:solidFill>
              </a:rPr>
              <a:t>A statement </a:t>
            </a:r>
            <a:r>
              <a:rPr lang="en-US"/>
              <a:t>is an instruction to the computer to perform an action.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A statement may contain keywords, operators, programmer-defined identifiers, and punctuation.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A statement may fit on one line, or it may occupy multiple lines.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Here is a single statement that uses two lines: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400">
              <a:solidFill>
                <a:srgbClr val="3D896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double num1 = 5,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			num2, sum;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8" name="Google Shape;308;p27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Literals: Example</a:t>
            </a:r>
            <a:endParaRPr/>
          </a:p>
        </p:txBody>
      </p:sp>
      <p:pic>
        <p:nvPicPr>
          <p:cNvPr id="314" name="Google Shape;3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8" y="1543050"/>
            <a:ext cx="7839075" cy="4694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Literals: Example</a:t>
            </a:r>
            <a:endParaRPr/>
          </a:p>
        </p:txBody>
      </p:sp>
      <p:pic>
        <p:nvPicPr>
          <p:cNvPr id="320" name="Google Shape;3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595438"/>
            <a:ext cx="8642350" cy="4713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1"/>
          <p:cNvSpPr txBox="1"/>
          <p:nvPr>
            <p:ph type="title"/>
          </p:nvPr>
        </p:nvSpPr>
        <p:spPr>
          <a:xfrm>
            <a:off x="611188" y="0"/>
            <a:ext cx="8229600" cy="76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In-Class Exercise</a:t>
            </a:r>
            <a:endParaRPr/>
          </a:p>
        </p:txBody>
      </p:sp>
      <p:sp>
        <p:nvSpPr>
          <p:cNvPr id="327" name="Google Shape;327;p31"/>
          <p:cNvSpPr txBox="1"/>
          <p:nvPr>
            <p:ph idx="1" type="body"/>
          </p:nvPr>
        </p:nvSpPr>
        <p:spPr>
          <a:xfrm>
            <a:off x="358775" y="765175"/>
            <a:ext cx="8785225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Examine the following program. List all the variables and literals that appear in the program.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{   int little;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int big;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little = 2;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big = 2000;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cout&lt;&lt;"The little number is " &lt;&lt;little&lt;&lt;endl;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cout&lt;&lt;"The big number is "&lt;&lt;big&lt;&lt;endl;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/>
          <p:nvPr>
            <p:ph type="title"/>
          </p:nvPr>
        </p:nvSpPr>
        <p:spPr>
          <a:xfrm>
            <a:off x="468313" y="0"/>
            <a:ext cx="8229600" cy="76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In-Class Exercise</a:t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468313" y="76517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What will the following program display on the screen?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int num;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num = 712;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cout&lt;&lt; "The value is " &lt;&lt; num &lt;&lt; 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Input and Output</a:t>
            </a:r>
            <a:endParaRPr/>
          </a:p>
        </p:txBody>
      </p:sp>
      <p:sp>
        <p:nvSpPr>
          <p:cNvPr id="339" name="Google Shape;339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Input using </a:t>
            </a:r>
            <a:r>
              <a:rPr lang="en-US" cap="none"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5" name="Google Shape;345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/>
              <a:t> Object</a:t>
            </a:r>
            <a:endParaRPr/>
          </a:p>
        </p:txBody>
      </p:sp>
      <p:sp>
        <p:nvSpPr>
          <p:cNvPr id="351" name="Google Shape;351;p35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Standard input object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Like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/>
              <a:t>, requires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/>
              <a:t>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Used to read input from keyboard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Information retrieved from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/>
              <a:t> with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&gt;&gt;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Input is stored in one or more variables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685800"/>
            <a:ext cx="6680200" cy="5557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/>
              <a:t> Object</a:t>
            </a:r>
            <a:endParaRPr/>
          </a:p>
        </p:txBody>
      </p:sp>
      <p:sp>
        <p:nvSpPr>
          <p:cNvPr id="362" name="Google Shape;362;p37"/>
          <p:cNvSpPr txBox="1"/>
          <p:nvPr>
            <p:ph idx="4294967295" type="body"/>
          </p:nvPr>
        </p:nvSpPr>
        <p:spPr>
          <a:xfrm>
            <a:off x="457200" y="1978025"/>
            <a:ext cx="8013700" cy="407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/>
              <a:t> converts data to the type that matches the variable:</a:t>
            </a:r>
            <a:br>
              <a:rPr lang="en-US"/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 height;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cout &lt;&lt; "How tall is the room? ";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cin &gt;&gt; height;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/>
              <a:t> Object</a:t>
            </a:r>
            <a:endParaRPr/>
          </a:p>
        </p:txBody>
      </p:sp>
      <p:sp>
        <p:nvSpPr>
          <p:cNvPr id="368" name="Google Shape;368;p38"/>
          <p:cNvSpPr txBox="1"/>
          <p:nvPr>
            <p:ph idx="4294967295" type="body"/>
          </p:nvPr>
        </p:nvSpPr>
        <p:spPr>
          <a:xfrm>
            <a:off x="468086" y="1676400"/>
            <a:ext cx="8013700" cy="407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Can be used to input more than one value: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cin &gt;&gt; height &gt;&gt; width;</a:t>
            </a:r>
            <a:br>
              <a:rPr lang="en-US" sz="2400">
                <a:latin typeface="Courier New"/>
                <a:ea typeface="Courier New"/>
                <a:cs typeface="Courier New"/>
                <a:sym typeface="Courier New"/>
              </a:rPr>
            </a:b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Multiple values from keyboard must be separated by spaces</a:t>
            </a:r>
            <a:br>
              <a:rPr lang="en-US" sz="2800"/>
            </a:b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Order is important: first value entered goes to first variable, etc.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Displaying a Prompt</a:t>
            </a:r>
            <a:endParaRPr/>
          </a:p>
        </p:txBody>
      </p:sp>
      <p:sp>
        <p:nvSpPr>
          <p:cNvPr id="374" name="Google Shape;374;p39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prompt is a message that instructs the user to enter data.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 should always 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/>
              <a:t> to display a prompt before each cin statement.</a:t>
            </a:r>
            <a:br>
              <a:rPr lang="en-US"/>
            </a:br>
            <a:br>
              <a:rPr lang="en-US"/>
            </a:b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cout &lt;&lt; "How high is the room? ";</a:t>
            </a:r>
            <a:br>
              <a:rPr lang="en-US" sz="28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cin &gt;&gt; height;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852488"/>
            <a:ext cx="6629400" cy="5243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Reading Strings with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endParaRPr/>
          </a:p>
        </p:txBody>
      </p:sp>
      <p:sp>
        <p:nvSpPr>
          <p:cNvPr id="385" name="Google Shape;385;p41"/>
          <p:cNvSpPr txBox="1"/>
          <p:nvPr>
            <p:ph idx="4294967295" type="body"/>
          </p:nvPr>
        </p:nvSpPr>
        <p:spPr>
          <a:xfrm>
            <a:off x="457200" y="1978025"/>
            <a:ext cx="8013700" cy="407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Can be used to read in a string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Must first declare an array to hold characters in string: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myName[21];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myName</a:t>
            </a:r>
            <a:r>
              <a:rPr lang="en-US" sz="2800"/>
              <a:t> is a name of an array,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-US" sz="2800"/>
              <a:t> is the number of characters that can be stored (the size of the array), including the NULL character at the end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Can be used with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sz="2800"/>
              <a:t> to assign a value: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cin &gt;&gt; myName;</a:t>
            </a:r>
            <a:endParaRPr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273175"/>
            <a:ext cx="6934200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In-Class Exercise</a:t>
            </a:r>
            <a:endParaRPr/>
          </a:p>
        </p:txBody>
      </p:sp>
      <p:sp>
        <p:nvSpPr>
          <p:cNvPr id="396" name="Google Shape;396;p43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Solve the problem. Add array of characters to the output.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Sample of output: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Enter an integer: 7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Enter a decimal number : 2.25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Enter a single character : R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Enter an array of characters: Programming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Output using </a:t>
            </a:r>
            <a:r>
              <a:rPr lang="en-US" cap="none"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2" name="Google Shape;402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/>
              <a:t> Object</a:t>
            </a:r>
            <a:endParaRPr/>
          </a:p>
        </p:txBody>
      </p:sp>
      <p:sp>
        <p:nvSpPr>
          <p:cNvPr id="409" name="Google Shape;409;p45"/>
          <p:cNvSpPr txBox="1"/>
          <p:nvPr>
            <p:ph idx="1" type="body"/>
          </p:nvPr>
        </p:nvSpPr>
        <p:spPr>
          <a:xfrm>
            <a:off x="457200" y="1981200"/>
            <a:ext cx="8305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Displays information on computer screen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/>
              <a:t> to send information to cout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"Hello, there!";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/>
              <a:t> to send multiple items to cout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"Hello, " &lt;&lt; "there!";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Or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"Hello, ";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"there!";</a:t>
            </a:r>
            <a:endParaRPr/>
          </a:p>
        </p:txBody>
      </p:sp>
      <p:sp>
        <p:nvSpPr>
          <p:cNvPr id="410" name="Google Shape;410;p45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Starting a New Line</a:t>
            </a:r>
            <a:endParaRPr/>
          </a:p>
        </p:txBody>
      </p:sp>
      <p:sp>
        <p:nvSpPr>
          <p:cNvPr id="417" name="Google Shape;417;p46"/>
          <p:cNvSpPr txBox="1"/>
          <p:nvPr>
            <p:ph idx="1" type="body"/>
          </p:nvPr>
        </p:nvSpPr>
        <p:spPr>
          <a:xfrm>
            <a:off x="395288" y="1773238"/>
            <a:ext cx="81534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 get multiple lines of output on screen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-  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endl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"Hello, there!" &lt;&lt; endl;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Use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/>
              <a:t> in an output string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 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"Hello, there!\n";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>
              <a:solidFill>
                <a:srgbClr val="3D8963"/>
              </a:solidFill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		</a:t>
            </a:r>
            <a:r>
              <a:rPr lang="en-US">
                <a:solidFill>
                  <a:srgbClr val="FF0000"/>
                </a:solidFill>
              </a:rPr>
              <a:t>Notice that the \n is INSIDE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>
                <a:solidFill>
                  <a:srgbClr val="FF0000"/>
                </a:solidFill>
              </a:rPr>
              <a:t>				the string.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18" name="Google Shape;418;p46"/>
          <p:cNvCxnSpPr/>
          <p:nvPr/>
        </p:nvCxnSpPr>
        <p:spPr>
          <a:xfrm flipH="1" rot="5400000">
            <a:off x="5939631" y="4653757"/>
            <a:ext cx="720725" cy="287338"/>
          </a:xfrm>
          <a:prstGeom prst="straightConnector1">
            <a:avLst/>
          </a:prstGeom>
          <a:noFill/>
          <a:ln cap="flat" cmpd="sng" w="349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 txBox="1"/>
          <p:nvPr>
            <p:ph type="title"/>
          </p:nvPr>
        </p:nvSpPr>
        <p:spPr>
          <a:xfrm>
            <a:off x="755650" y="0"/>
            <a:ext cx="8229600" cy="76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In-Class Exercise</a:t>
            </a:r>
            <a:endParaRPr/>
          </a:p>
        </p:txBody>
      </p:sp>
      <p:sp>
        <p:nvSpPr>
          <p:cNvPr id="424" name="Google Shape;424;p47"/>
          <p:cNvSpPr txBox="1"/>
          <p:nvPr>
            <p:ph idx="1" type="body"/>
          </p:nvPr>
        </p:nvSpPr>
        <p:spPr>
          <a:xfrm>
            <a:off x="468313" y="76517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Rearrange the following program statements in the correct order.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cout&lt;&lt;"In 1492 Columbus sailed the ocean blue.";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using namespace std;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What is the output of the program when it is properly arranged?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Data type and constant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0" name="Google Shape;430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Number Systems</a:t>
            </a:r>
            <a:endParaRPr/>
          </a:p>
        </p:txBody>
      </p:sp>
      <p:sp>
        <p:nvSpPr>
          <p:cNvPr id="436" name="Google Shape;436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Numbers can be represented in a variety of ways.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representation depends on what is called the BASE.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 write these numbers 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Number </a:t>
            </a:r>
            <a:r>
              <a:rPr b="1" baseline="-25000" lang="en-US"/>
              <a:t>base</a:t>
            </a:r>
            <a:endParaRPr baseline="-25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Number Systems</a:t>
            </a:r>
            <a:endParaRPr/>
          </a:p>
        </p:txBody>
      </p:sp>
      <p:sp>
        <p:nvSpPr>
          <p:cNvPr id="442" name="Google Shape;442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following are the four most common representations.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Decimal (base 10)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Commonly used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Valid digits are from 0 to 9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Example: 12610 (normally written as just 126)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Binary (base 2)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Valid digits are 0 and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Example: 11111102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51"/>
          <p:cNvSpPr txBox="1"/>
          <p:nvPr>
            <p:ph idx="1" type="body"/>
          </p:nvPr>
        </p:nvSpPr>
        <p:spPr>
          <a:xfrm>
            <a:off x="457200" y="1600200"/>
            <a:ext cx="850741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following are the four most common representations.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Octal (base 8)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Valid digits are from 0 to 7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Example: 1768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Hexadecimal (base 16)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Valid digits are from 0 to 9 and A to F (or from a to f)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Example: 7E16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Integer Data Types</a:t>
            </a:r>
            <a:endParaRPr/>
          </a:p>
        </p:txBody>
      </p:sp>
      <p:sp>
        <p:nvSpPr>
          <p:cNvPr id="455" name="Google Shape;455;p52"/>
          <p:cNvSpPr txBox="1"/>
          <p:nvPr>
            <p:ph idx="1" type="body"/>
          </p:nvPr>
        </p:nvSpPr>
        <p:spPr>
          <a:xfrm>
            <a:off x="304800" y="1981200"/>
            <a:ext cx="8305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Designed to hold whole numbers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be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signed</a:t>
            </a:r>
            <a:r>
              <a:rPr lang="en-US"/>
              <a:t> or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unsigned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12     -6     +3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Available in different sizes (</a:t>
            </a:r>
            <a:r>
              <a:rPr i="1" lang="en-US"/>
              <a:t>i.e.</a:t>
            </a:r>
            <a:r>
              <a:rPr lang="en-US"/>
              <a:t>, number of bytes):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short</a:t>
            </a:r>
            <a:r>
              <a:rPr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/>
              <a:t>,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Size of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short</a:t>
            </a:r>
            <a:r>
              <a:rPr lang="en-US"/>
              <a:t> </a:t>
            </a:r>
            <a:r>
              <a:rPr b="1" lang="en-US"/>
              <a:t>≤</a:t>
            </a:r>
            <a:r>
              <a:rPr lang="en-US"/>
              <a:t> size of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/>
              <a:t> </a:t>
            </a:r>
            <a:r>
              <a:rPr b="1" lang="en-US"/>
              <a:t>≤ </a:t>
            </a:r>
            <a:r>
              <a:rPr lang="en-US"/>
              <a:t>size of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56" name="Google Shape;456;p52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Integral Constants</a:t>
            </a:r>
            <a:endParaRPr/>
          </a:p>
        </p:txBody>
      </p:sp>
      <p:sp>
        <p:nvSpPr>
          <p:cNvPr id="463" name="Google Shape;463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 store an integer constant in a long memory location, put ‘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-US"/>
              <a:t>’ at the end of the number: 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1234L</a:t>
            </a:r>
            <a:endParaRPr b="1"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Constants that begin with ‘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/>
              <a:t>’ (zero) are octal, or base 8: 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075</a:t>
            </a:r>
            <a:endParaRPr b="1"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Constants that begin with ‘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0x</a:t>
            </a:r>
            <a:r>
              <a:rPr lang="en-US"/>
              <a:t>’ are hexadecimal, or base 16:  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0x75A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64" name="Google Shape;464;p53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4"/>
          <p:cNvSpPr txBox="1"/>
          <p:nvPr>
            <p:ph type="title"/>
          </p:nvPr>
        </p:nvSpPr>
        <p:spPr>
          <a:xfrm>
            <a:off x="304800" y="303213"/>
            <a:ext cx="8610600" cy="793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Defining Variables</a:t>
            </a:r>
            <a:endParaRPr/>
          </a:p>
        </p:txBody>
      </p:sp>
      <p:sp>
        <p:nvSpPr>
          <p:cNvPr id="471" name="Google Shape;471;p54"/>
          <p:cNvSpPr txBox="1"/>
          <p:nvPr>
            <p:ph idx="1" type="body"/>
          </p:nvPr>
        </p:nvSpPr>
        <p:spPr>
          <a:xfrm>
            <a:off x="381000" y="1676400"/>
            <a:ext cx="8458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Variables of the same type can be defined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- In separate statements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length;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int width;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- In the same statement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length,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width;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Variables of different types must be defined in separate statements</a:t>
            </a:r>
            <a:endParaRPr/>
          </a:p>
        </p:txBody>
      </p:sp>
      <p:sp>
        <p:nvSpPr>
          <p:cNvPr id="472" name="Google Shape;472;p54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type="title"/>
          </p:nvPr>
        </p:nvSpPr>
        <p:spPr>
          <a:xfrm>
            <a:off x="533400" y="3810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Floating-Point Data Types</a:t>
            </a:r>
            <a:endParaRPr/>
          </a:p>
        </p:txBody>
      </p:sp>
      <p:sp>
        <p:nvSpPr>
          <p:cNvPr id="479" name="Google Shape;479;p55"/>
          <p:cNvSpPr txBox="1"/>
          <p:nvPr>
            <p:ph idx="1" type="body"/>
          </p:nvPr>
        </p:nvSpPr>
        <p:spPr>
          <a:xfrm>
            <a:off x="323850" y="1412875"/>
            <a:ext cx="8534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Designed to hold real numbers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12.45      -3.8</a:t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Stored in a form similar to scientific notation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Numbers are all signed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3 data types to represent floating-point numbers: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/>
              <a:t>,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long double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Size of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-US"/>
              <a:t> </a:t>
            </a:r>
            <a:r>
              <a:rPr b="1" lang="en-US"/>
              <a:t>≤</a:t>
            </a:r>
            <a:r>
              <a:rPr lang="en-US"/>
              <a:t> size of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                           </a:t>
            </a:r>
            <a:r>
              <a:rPr b="1" lang="en-US"/>
              <a:t>≤ </a:t>
            </a:r>
            <a:r>
              <a:rPr lang="en-US"/>
              <a:t>size of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long double</a:t>
            </a:r>
            <a:endParaRPr b="1"/>
          </a:p>
        </p:txBody>
      </p:sp>
      <p:sp>
        <p:nvSpPr>
          <p:cNvPr id="480" name="Google Shape;480;p55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Floating-point Constants</a:t>
            </a:r>
            <a:endParaRPr/>
          </a:p>
        </p:txBody>
      </p:sp>
      <p:sp>
        <p:nvSpPr>
          <p:cNvPr id="487" name="Google Shape;487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be represented 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Fixed point (decimal) notation: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31.4159		0.0000625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E notation: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3.14159E1		6.25e-5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Are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/>
              <a:t> by default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be forced to be float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3.14159F</a:t>
            </a:r>
            <a:r>
              <a:rPr lang="en-US"/>
              <a:t>  or long double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0.0000625L</a:t>
            </a:r>
            <a:endParaRPr b="1"/>
          </a:p>
        </p:txBody>
      </p:sp>
      <p:sp>
        <p:nvSpPr>
          <p:cNvPr id="488" name="Google Shape;488;p56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7"/>
          <p:cNvSpPr txBox="1"/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Assigning Floating-point Values to Integer Variables</a:t>
            </a:r>
            <a:endParaRPr/>
          </a:p>
        </p:txBody>
      </p:sp>
      <p:sp>
        <p:nvSpPr>
          <p:cNvPr id="495" name="Google Shape;495;p57"/>
          <p:cNvSpPr txBox="1"/>
          <p:nvPr>
            <p:ph idx="1" type="body"/>
          </p:nvPr>
        </p:nvSpPr>
        <p:spPr>
          <a:xfrm>
            <a:off x="685800" y="2362200"/>
            <a:ext cx="80010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	If a floating-point value is assigned to an integer variable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 fractional part will be truncated (</a:t>
            </a:r>
            <a:r>
              <a:rPr i="1" lang="en-US"/>
              <a:t>i.e.</a:t>
            </a:r>
            <a:r>
              <a:rPr lang="en-US"/>
              <a:t>, “chopped off” and discarded)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 value is not rounded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rainfall = 3.88;  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rainfall;  // Displays 3</a:t>
            </a:r>
            <a:endParaRPr/>
          </a:p>
        </p:txBody>
      </p:sp>
      <p:sp>
        <p:nvSpPr>
          <p:cNvPr id="496" name="Google Shape;496;p57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-US"/>
              <a:t> Data Type</a:t>
            </a:r>
            <a:endParaRPr/>
          </a:p>
        </p:txBody>
      </p:sp>
      <p:sp>
        <p:nvSpPr>
          <p:cNvPr id="503" name="Google Shape;503;p58"/>
          <p:cNvSpPr txBox="1"/>
          <p:nvPr>
            <p:ph idx="1" type="body"/>
          </p:nvPr>
        </p:nvSpPr>
        <p:spPr>
          <a:xfrm>
            <a:off x="457200" y="1981200"/>
            <a:ext cx="8382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Represents values that are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/>
              <a:t> or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-US"/>
              <a:t> values are stored as small integers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/>
              <a:t>is represented by 0,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/>
              <a:t> by 1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bool allDone = true;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bool finished = false;</a:t>
            </a:r>
            <a:endParaRPr b="1"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>
              <a:solidFill>
                <a:srgbClr val="3D896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4" name="Google Shape;504;p58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58"/>
          <p:cNvSpPr txBox="1"/>
          <p:nvPr/>
        </p:nvSpPr>
        <p:spPr>
          <a:xfrm>
            <a:off x="7924800" y="4419600"/>
            <a:ext cx="184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6" name="Google Shape;506;p58"/>
          <p:cNvGrpSpPr/>
          <p:nvPr/>
        </p:nvGrpSpPr>
        <p:grpSpPr>
          <a:xfrm>
            <a:off x="5715000" y="4191000"/>
            <a:ext cx="3124200" cy="1066800"/>
            <a:chOff x="3600" y="2640"/>
            <a:chExt cx="1968" cy="672"/>
          </a:xfrm>
        </p:grpSpPr>
        <p:sp>
          <p:nvSpPr>
            <p:cNvPr id="507" name="Google Shape;507;p58"/>
            <p:cNvSpPr/>
            <p:nvPr/>
          </p:nvSpPr>
          <p:spPr>
            <a:xfrm>
              <a:off x="3840" y="2832"/>
              <a:ext cx="528" cy="48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58"/>
            <p:cNvSpPr txBox="1"/>
            <p:nvPr/>
          </p:nvSpPr>
          <p:spPr>
            <a:xfrm>
              <a:off x="3600" y="2640"/>
              <a:ext cx="1968" cy="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allDone  finished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8"/>
            <p:cNvSpPr txBox="1"/>
            <p:nvPr/>
          </p:nvSpPr>
          <p:spPr>
            <a:xfrm>
              <a:off x="3984" y="2976"/>
              <a:ext cx="231" cy="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8"/>
            <p:cNvSpPr/>
            <p:nvPr/>
          </p:nvSpPr>
          <p:spPr>
            <a:xfrm>
              <a:off x="4848" y="2832"/>
              <a:ext cx="480" cy="48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58"/>
            <p:cNvSpPr txBox="1"/>
            <p:nvPr/>
          </p:nvSpPr>
          <p:spPr>
            <a:xfrm>
              <a:off x="4992" y="2976"/>
              <a:ext cx="231" cy="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/>
              <a:t> Data Type</a:t>
            </a:r>
            <a:endParaRPr/>
          </a:p>
        </p:txBody>
      </p:sp>
      <p:sp>
        <p:nvSpPr>
          <p:cNvPr id="518" name="Google Shape;518;p59"/>
          <p:cNvSpPr txBox="1"/>
          <p:nvPr>
            <p:ph idx="1" type="body"/>
          </p:nvPr>
        </p:nvSpPr>
        <p:spPr>
          <a:xfrm>
            <a:off x="381000" y="1905000"/>
            <a:ext cx="8458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Used to hold single characters or very small integer values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Usually occupies 1 byte of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numeric code representing the character is stored in memory </a:t>
            </a:r>
            <a:endParaRPr/>
          </a:p>
        </p:txBody>
      </p:sp>
      <p:sp>
        <p:nvSpPr>
          <p:cNvPr id="519" name="Google Shape;519;p59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0" name="Google Shape;520;p59"/>
          <p:cNvSpPr txBox="1"/>
          <p:nvPr/>
        </p:nvSpPr>
        <p:spPr>
          <a:xfrm>
            <a:off x="1295400" y="4648200"/>
            <a:ext cx="647700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CODE                        MEMORY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3D896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char letter = 'C';</a:t>
            </a:r>
            <a:r>
              <a:rPr b="1" i="0" lang="en-US" sz="2800" u="none" cap="none" strike="noStrike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59"/>
          <p:cNvSpPr/>
          <p:nvPr/>
        </p:nvSpPr>
        <p:spPr>
          <a:xfrm>
            <a:off x="6019800" y="5943600"/>
            <a:ext cx="574675" cy="53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/>
              <a:t> Data Type</a:t>
            </a:r>
            <a:endParaRPr/>
          </a:p>
        </p:txBody>
      </p:sp>
      <p:sp>
        <p:nvSpPr>
          <p:cNvPr id="528" name="Google Shape;528;p60"/>
          <p:cNvSpPr txBox="1"/>
          <p:nvPr>
            <p:ph idx="1" type="body"/>
          </p:nvPr>
        </p:nvSpPr>
        <p:spPr>
          <a:xfrm>
            <a:off x="381000" y="1905000"/>
            <a:ext cx="8458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Used to hold single characters or very small integer values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Usually occupies 1 byte of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numeric code representing the character is stored in memory </a:t>
            </a:r>
            <a:endParaRPr/>
          </a:p>
        </p:txBody>
      </p:sp>
      <p:sp>
        <p:nvSpPr>
          <p:cNvPr id="529" name="Google Shape;529;p60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0" name="Google Shape;530;p60"/>
          <p:cNvSpPr txBox="1"/>
          <p:nvPr/>
        </p:nvSpPr>
        <p:spPr>
          <a:xfrm>
            <a:off x="1295400" y="4648200"/>
            <a:ext cx="647700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CODE                        MEMORY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3D896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char letter = 'C';</a:t>
            </a:r>
            <a:r>
              <a:rPr b="1" i="0" lang="en-US" sz="2800" u="none" cap="none" strike="noStrike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60"/>
          <p:cNvSpPr/>
          <p:nvPr/>
        </p:nvSpPr>
        <p:spPr>
          <a:xfrm>
            <a:off x="6019800" y="5943600"/>
            <a:ext cx="574675" cy="53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1"/>
          <p:cNvSpPr txBox="1"/>
          <p:nvPr>
            <p:ph type="title"/>
          </p:nvPr>
        </p:nvSpPr>
        <p:spPr>
          <a:xfrm>
            <a:off x="609600" y="152400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In-Class Exercise</a:t>
            </a:r>
            <a:endParaRPr/>
          </a:p>
        </p:txBody>
      </p:sp>
      <p:sp>
        <p:nvSpPr>
          <p:cNvPr id="537" name="Google Shape;537;p61"/>
          <p:cNvSpPr txBox="1"/>
          <p:nvPr>
            <p:ph idx="1" type="body"/>
          </p:nvPr>
        </p:nvSpPr>
        <p:spPr>
          <a:xfrm>
            <a:off x="468313" y="98107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is wrong with the following program?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    char letter;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letter = "Z";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cout&lt;&lt;letter&lt;&lt;endl;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2"/>
          <p:cNvSpPr txBox="1"/>
          <p:nvPr>
            <p:ph type="title"/>
          </p:nvPr>
        </p:nvSpPr>
        <p:spPr>
          <a:xfrm>
            <a:off x="539750" y="0"/>
            <a:ext cx="8229600" cy="76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Summary of data types</a:t>
            </a:r>
            <a:endParaRPr/>
          </a:p>
        </p:txBody>
      </p:sp>
      <p:graphicFrame>
        <p:nvGraphicFramePr>
          <p:cNvPr id="543" name="Google Shape;543;p62"/>
          <p:cNvGraphicFramePr/>
          <p:nvPr/>
        </p:nvGraphicFramePr>
        <p:xfrm>
          <a:off x="0" y="8207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{B6AEAA78-FCFD-40C4-9FFE-228432B043EB}</a:tableStyleId>
              </a:tblPr>
              <a:tblGrid>
                <a:gridCol w="1763700"/>
                <a:gridCol w="2808300"/>
                <a:gridCol w="1512175"/>
                <a:gridCol w="3059825"/>
              </a:tblGrid>
              <a:tr h="21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Size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Range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68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char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Character or small integer.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1byte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signed: -128 to 127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unsigned: 0 to 255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</a:tr>
              <a:tr h="5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short int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(short)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Short Integer.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2bytes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signed: -32768 to 32767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unsigned: 0 to 65535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</a:tr>
              <a:tr h="684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int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Integer.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4bytes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signed: -2147483648 to 2147483647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unsigned: 0 to 4294967295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</a:tr>
              <a:tr h="684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long int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(long)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Long integer.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4bytes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signed: -2147483648 to 2147483647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unsigned: 0 to 4294967295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</a:tr>
              <a:tr h="5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bool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Boolean value. It can take one of two values: true or false.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1byte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true or false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</a:tr>
              <a:tr h="368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float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Floating point number.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4bytes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+/- 3.4e +/- 38 (~7 digits)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</a:tr>
              <a:tr h="368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double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Double precision floating point number.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8bytes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+/- 1.7e +/- 308 (~15 digits)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</a:tr>
              <a:tr h="368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long double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Long double precision floating point number.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8bytes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+/- 1.7e +/- 308 (~15 digits)</a:t>
                      </a:r>
                      <a:endParaRPr sz="1400" u="none" cap="none" strike="noStrike"/>
                    </a:p>
                  </a:txBody>
                  <a:tcPr marT="45725" marB="45725" marR="82300" marL="823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Naming Constant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9" name="Google Shape;549;p6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Named Constants</a:t>
            </a:r>
            <a:endParaRPr/>
          </a:p>
        </p:txBody>
      </p:sp>
      <p:sp>
        <p:nvSpPr>
          <p:cNvPr id="555" name="Google Shape;555;p64"/>
          <p:cNvSpPr txBox="1"/>
          <p:nvPr>
            <p:ph idx="4294967295" type="body"/>
          </p:nvPr>
        </p:nvSpPr>
        <p:spPr>
          <a:xfrm>
            <a:off x="304800" y="1417638"/>
            <a:ext cx="829468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Named constant</a:t>
            </a:r>
            <a:r>
              <a:rPr lang="en-US"/>
              <a:t> (</a:t>
            </a:r>
            <a:r>
              <a:rPr lang="en-US" u="sng"/>
              <a:t>constant variable</a:t>
            </a:r>
            <a:r>
              <a:rPr lang="en-US"/>
              <a:t>): variable whose content cannot be changed during program execution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Used for representing constant values with descriptive names: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const double TAX_RATE = 0.0675;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const int NUM_STATES = 50;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Often named in uppercase letters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5"/>
          <p:cNvSpPr txBox="1"/>
          <p:nvPr>
            <p:ph type="title"/>
          </p:nvPr>
        </p:nvSpPr>
        <p:spPr>
          <a:xfrm>
            <a:off x="914400" y="0"/>
            <a:ext cx="8229600" cy="76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Defining constants</a:t>
            </a:r>
            <a:endParaRPr/>
          </a:p>
        </p:txBody>
      </p:sp>
      <p:sp>
        <p:nvSpPr>
          <p:cNvPr id="561" name="Google Shape;561;p65"/>
          <p:cNvSpPr txBox="1"/>
          <p:nvPr>
            <p:ph idx="1" type="body"/>
          </p:nvPr>
        </p:nvSpPr>
        <p:spPr>
          <a:xfrm>
            <a:off x="0" y="836613"/>
            <a:ext cx="9144000" cy="6021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You can define your own names for constants that you use very often without having to resort to memory-consuming variables, simply by using the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#define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preprocessor directive.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Its format: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#define identifier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#define PI 3.14159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#define NEWLINE '\n‘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int main 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{ double r=5.0;           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double circle;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circle = 2 * PI * r;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cout &lt;&lt; circle;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cout &lt;&lt; NEWLINE;  return 0;}</a:t>
            </a:r>
            <a:br>
              <a:rPr lang="en-US" sz="2400"/>
            </a:b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6"/>
          <p:cNvSpPr txBox="1"/>
          <p:nvPr>
            <p:ph type="title"/>
          </p:nvPr>
        </p:nvSpPr>
        <p:spPr>
          <a:xfrm>
            <a:off x="755650" y="0"/>
            <a:ext cx="8229600" cy="836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Declared constants (const)</a:t>
            </a:r>
            <a:endParaRPr/>
          </a:p>
        </p:txBody>
      </p:sp>
      <p:sp>
        <p:nvSpPr>
          <p:cNvPr id="567" name="Google Shape;567;p66"/>
          <p:cNvSpPr txBox="1"/>
          <p:nvPr>
            <p:ph idx="1" type="body"/>
          </p:nvPr>
        </p:nvSpPr>
        <p:spPr>
          <a:xfrm>
            <a:off x="0" y="908050"/>
            <a:ext cx="9144000" cy="59499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With the const prefix you can declare constants with a specific type in the same way as you would do with a variable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main 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 double r=5.0,circle;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const double PI = 3.14159;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const char NEWLINE = '\n';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circle = 2 * PI * r;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cout &lt;&lt; circle;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cout &lt;&lt; NEWLINE; return 0;}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String Constant</a:t>
            </a:r>
            <a:endParaRPr/>
          </a:p>
        </p:txBody>
      </p:sp>
      <p:sp>
        <p:nvSpPr>
          <p:cNvPr id="574" name="Google Shape;574;p67"/>
          <p:cNvSpPr txBox="1"/>
          <p:nvPr>
            <p:ph idx="1" type="body"/>
          </p:nvPr>
        </p:nvSpPr>
        <p:spPr>
          <a:xfrm>
            <a:off x="381000" y="1981200"/>
            <a:ext cx="8382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be stored a series of characters in consecutive memory locations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solidFill>
                  <a:srgbClr val="FF0000"/>
                </a:solidFill>
              </a:rPr>
              <a:t>                     </a:t>
            </a: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endParaRPr b="1" sz="3200"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Stored with the </a:t>
            </a:r>
            <a:r>
              <a:rPr lang="en-US">
                <a:solidFill>
                  <a:schemeClr val="accent2"/>
                </a:solidFill>
              </a:rPr>
              <a:t>null terminator</a:t>
            </a:r>
            <a:r>
              <a:rPr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\0</a:t>
            </a:r>
            <a:r>
              <a:rPr lang="en-US"/>
              <a:t>, at end</a:t>
            </a:r>
            <a:endParaRPr sz="2800"/>
          </a:p>
          <a:p>
            <a:pPr indent="-1651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Is comprised of characters between 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endParaRPr b="1"/>
          </a:p>
        </p:txBody>
      </p:sp>
      <p:sp>
        <p:nvSpPr>
          <p:cNvPr id="575" name="Google Shape;575;p67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576" name="Google Shape;576;p67"/>
          <p:cNvGraphicFramePr/>
          <p:nvPr/>
        </p:nvGraphicFramePr>
        <p:xfrm>
          <a:off x="1752600" y="419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{C9884802-4F91-46C7-B67F-BEE34960DB88}</a:tableStyleId>
              </a:tblPr>
              <a:tblGrid>
                <a:gridCol w="749300"/>
                <a:gridCol w="749300"/>
                <a:gridCol w="749300"/>
                <a:gridCol w="749300"/>
                <a:gridCol w="749300"/>
                <a:gridCol w="7493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8963"/>
                        </a:buClr>
                        <a:buSzPts val="2800"/>
                        <a:buFont typeface="Courier New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3D896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8963"/>
                        </a:buClr>
                        <a:buSzPts val="2800"/>
                        <a:buFont typeface="Courier New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3D896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8963"/>
                        </a:buClr>
                        <a:buSzPts val="2800"/>
                        <a:buFont typeface="Courier New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3D896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8963"/>
                        </a:buClr>
                        <a:buSzPts val="2800"/>
                        <a:buFont typeface="Courier New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3D896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8963"/>
                        </a:buClr>
                        <a:buSzPts val="2800"/>
                        <a:buFont typeface="Courier New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3D896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8963"/>
                        </a:buClr>
                        <a:buSzPts val="2800"/>
                        <a:buFont typeface="Courier New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3D896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\0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A character or a string constant?</a:t>
            </a:r>
            <a:endParaRPr/>
          </a:p>
        </p:txBody>
      </p:sp>
      <p:sp>
        <p:nvSpPr>
          <p:cNvPr id="582" name="Google Shape;582;p6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character constant is a single character, enclosed in single quotes: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'C'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string constant is a sequence of characters enclosed in double quotes: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"Hello, there!"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single character in double quotes is a string constant, not a character constant: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"C"</a:t>
            </a:r>
            <a:endParaRPr/>
          </a:p>
        </p:txBody>
      </p:sp>
      <p:sp>
        <p:nvSpPr>
          <p:cNvPr id="583" name="Google Shape;583;p68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9"/>
          <p:cNvSpPr txBox="1"/>
          <p:nvPr>
            <p:ph type="title"/>
          </p:nvPr>
        </p:nvSpPr>
        <p:spPr>
          <a:xfrm>
            <a:off x="304800" y="303213"/>
            <a:ext cx="8610600" cy="727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C++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 Class</a:t>
            </a:r>
            <a:endParaRPr/>
          </a:p>
        </p:txBody>
      </p:sp>
      <p:sp>
        <p:nvSpPr>
          <p:cNvPr id="590" name="Google Shape;590;p69"/>
          <p:cNvSpPr txBox="1"/>
          <p:nvPr>
            <p:ph idx="1" type="body"/>
          </p:nvPr>
        </p:nvSpPr>
        <p:spPr>
          <a:xfrm>
            <a:off x="228600" y="1676400"/>
            <a:ext cx="8763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Must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#include &lt;string&gt;</a:t>
            </a:r>
            <a:r>
              <a:rPr lang="en-US"/>
              <a:t> to create and use string objects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define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 variables in programs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2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string name;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assign values to string variables with the assignment operator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name = "George";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Can display them with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name;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91" name="Google Shape;591;p69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Determining the Size of </a:t>
            </a:r>
            <a:br>
              <a:rPr b="1" lang="en-US"/>
            </a:br>
            <a:r>
              <a:rPr b="1" lang="en-US"/>
              <a:t>a Data Type</a:t>
            </a:r>
            <a:endParaRPr/>
          </a:p>
        </p:txBody>
      </p:sp>
      <p:sp>
        <p:nvSpPr>
          <p:cNvPr id="598" name="Google Shape;598;p70"/>
          <p:cNvSpPr txBox="1"/>
          <p:nvPr>
            <p:ph idx="1" type="body"/>
          </p:nvPr>
        </p:nvSpPr>
        <p:spPr>
          <a:xfrm>
            <a:off x="228600" y="2209800"/>
            <a:ext cx="8686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	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n-US"/>
              <a:t> operator gives the size of any data type or variable</a:t>
            </a:r>
            <a:r>
              <a:rPr lang="en-US" sz="2800"/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double amount;</a:t>
            </a:r>
            <a:endParaRPr b="1" sz="2800"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"A float is stored in "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&lt;&lt; sizeof(float) &lt;&lt; " bytes\n";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cout &lt;&lt; "Variable amount is stored in "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&lt;&lt; sizeof(amount)</a:t>
            </a:r>
            <a:r>
              <a:rPr b="1" lang="en-US" sz="2800">
                <a:solidFill>
                  <a:srgbClr val="FF0000"/>
                </a:solidFill>
              </a:rPr>
              <a:t>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&lt;&lt; " bytes\n";</a:t>
            </a:r>
            <a:endParaRPr/>
          </a:p>
        </p:txBody>
      </p:sp>
      <p:sp>
        <p:nvSpPr>
          <p:cNvPr id="599" name="Google Shape;599;p70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1"/>
          <p:cNvSpPr txBox="1"/>
          <p:nvPr>
            <p:ph type="title"/>
          </p:nvPr>
        </p:nvSpPr>
        <p:spPr>
          <a:xfrm>
            <a:off x="304800" y="457200"/>
            <a:ext cx="8610600" cy="99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More on Variable Assignments </a:t>
            </a:r>
            <a:br>
              <a:rPr b="1" lang="en-US"/>
            </a:br>
            <a:r>
              <a:rPr b="1" lang="en-US"/>
              <a:t>and Initialization</a:t>
            </a:r>
            <a:endParaRPr/>
          </a:p>
        </p:txBody>
      </p:sp>
      <p:sp>
        <p:nvSpPr>
          <p:cNvPr id="606" name="Google Shape;606;p71"/>
          <p:cNvSpPr txBox="1"/>
          <p:nvPr>
            <p:ph idx="1" type="body"/>
          </p:nvPr>
        </p:nvSpPr>
        <p:spPr>
          <a:xfrm>
            <a:off x="304800" y="2438400"/>
            <a:ext cx="8534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Assigning a value to a variable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Assigns a value to a previously created variable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single variable name must appear on left side of the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/>
              <a:t> symbol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	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size;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	size = 5;    // legal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	5 = size;    // not legal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>
              <a:solidFill>
                <a:srgbClr val="3D896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7" name="Google Shape;607;p71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Variable Assignment vs. Initialization</a:t>
            </a:r>
            <a:endParaRPr/>
          </a:p>
        </p:txBody>
      </p:sp>
      <p:sp>
        <p:nvSpPr>
          <p:cNvPr id="614" name="Google Shape;614;p72"/>
          <p:cNvSpPr txBox="1"/>
          <p:nvPr>
            <p:ph idx="1" type="body"/>
          </p:nvPr>
        </p:nvSpPr>
        <p:spPr>
          <a:xfrm>
            <a:off x="381000" y="2438400"/>
            <a:ext cx="8077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Initializing a variable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Gives an initial value to a variable at the time it is created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Can initialize some or all variables of definition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</a:t>
            </a: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int length = 12;</a:t>
            </a:r>
            <a:endParaRPr b="1">
              <a:solidFill>
                <a:srgbClr val="3D8963"/>
              </a:solidFill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963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3D8963"/>
                </a:solidFill>
                <a:latin typeface="Courier New"/>
                <a:ea typeface="Courier New"/>
                <a:cs typeface="Courier New"/>
                <a:sym typeface="Courier New"/>
              </a:rPr>
              <a:t>	int width = 7, height = 5, area;</a:t>
            </a:r>
            <a:endParaRPr/>
          </a:p>
        </p:txBody>
      </p:sp>
      <p:sp>
        <p:nvSpPr>
          <p:cNvPr id="615" name="Google Shape;615;p72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Scope</a:t>
            </a:r>
            <a:endParaRPr/>
          </a:p>
        </p:txBody>
      </p:sp>
      <p:sp>
        <p:nvSpPr>
          <p:cNvPr id="622" name="Google Shape;622;p73"/>
          <p:cNvSpPr txBox="1"/>
          <p:nvPr>
            <p:ph idx="1" type="body"/>
          </p:nvPr>
        </p:nvSpPr>
        <p:spPr>
          <a:xfrm>
            <a:off x="457200" y="1981200"/>
            <a:ext cx="815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</a:t>
            </a:r>
            <a:r>
              <a:rPr lang="en-US" sz="2800">
                <a:solidFill>
                  <a:srgbClr val="FF0000"/>
                </a:solidFill>
              </a:rPr>
              <a:t>scope</a:t>
            </a:r>
            <a:r>
              <a:rPr lang="en-US" sz="2800"/>
              <a:t> of a variable is that part of the program where the variable may be used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variable cannot be used before it is defined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	</a:t>
            </a: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a;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	cin &gt;&gt; a;   // legal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	cin &gt;&gt; b;   // illegal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	int b;</a:t>
            </a:r>
            <a:r>
              <a:rPr lang="en-US" sz="2400">
                <a:solidFill>
                  <a:srgbClr val="FF0000"/>
                </a:solidFill>
              </a:rPr>
              <a:t> </a:t>
            </a:r>
            <a:endParaRPr/>
          </a:p>
        </p:txBody>
      </p:sp>
      <p:sp>
        <p:nvSpPr>
          <p:cNvPr id="623" name="Google Shape;623;p73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4"/>
          <p:cNvSpPr txBox="1"/>
          <p:nvPr>
            <p:ph type="title"/>
          </p:nvPr>
        </p:nvSpPr>
        <p:spPr>
          <a:xfrm>
            <a:off x="539750" y="0"/>
            <a:ext cx="8229600" cy="836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In-Class Exercise</a:t>
            </a:r>
            <a:endParaRPr/>
          </a:p>
        </p:txBody>
      </p:sp>
      <p:sp>
        <p:nvSpPr>
          <p:cNvPr id="629" name="Google Shape;629;p74"/>
          <p:cNvSpPr txBox="1"/>
          <p:nvPr>
            <p:ph idx="1" type="body"/>
          </p:nvPr>
        </p:nvSpPr>
        <p:spPr>
          <a:xfrm>
            <a:off x="539750" y="1052513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Trace the following program. Can it be compiled?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cout&lt;&lt;value;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int value;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Arithmetic Expression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5" name="Google Shape;635;p7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Arithmetic Operators and Expression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1" name="Google Shape;641;p7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Arithmetic Operators</a:t>
            </a:r>
            <a:endParaRPr/>
          </a:p>
        </p:txBody>
      </p:sp>
      <p:sp>
        <p:nvSpPr>
          <p:cNvPr id="648" name="Google Shape;648;p77"/>
          <p:cNvSpPr txBox="1"/>
          <p:nvPr>
            <p:ph idx="1" type="body"/>
          </p:nvPr>
        </p:nvSpPr>
        <p:spPr>
          <a:xfrm>
            <a:off x="381000" y="2133600"/>
            <a:ext cx="83820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Used for performing numeric calculations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C++ has unary, binary, and ternary operators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unary (1 operand)	   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-5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binary (2 operands) 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13 - 7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ternary (3 operands)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exp1 ? exp2 : exp3</a:t>
            </a:r>
            <a:endParaRPr b="1"/>
          </a:p>
        </p:txBody>
      </p:sp>
      <p:sp>
        <p:nvSpPr>
          <p:cNvPr id="649" name="Google Shape;649;p77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Binary Arithmetic Operators</a:t>
            </a:r>
            <a:endParaRPr/>
          </a:p>
        </p:txBody>
      </p:sp>
      <p:sp>
        <p:nvSpPr>
          <p:cNvPr id="656" name="Google Shape;656;p78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57" name="Google Shape;657;p78"/>
          <p:cNvGraphicFramePr/>
          <p:nvPr/>
        </p:nvGraphicFramePr>
        <p:xfrm>
          <a:off x="6096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{C9884802-4F91-46C7-B67F-BEE34960DB88}</a:tableStyleId>
              </a:tblPr>
              <a:tblGrid>
                <a:gridCol w="1371600"/>
                <a:gridCol w="2209800"/>
                <a:gridCol w="2584450"/>
                <a:gridCol w="1835150"/>
              </a:tblGrid>
              <a:tr h="65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SYMBOL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urier New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ans = 7 + 3;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ans = 7 - 3;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ans = 7 * 3;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ans = 7 / 3;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modulus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ans = 7 % 3;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urier New"/>
                        <a:buNone/>
                      </a:pPr>
                      <a:r>
                        <a:rPr b="1" i="0" lang="en-US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1" lang="en-US" sz="4000"/>
              <a:t> Operator</a:t>
            </a:r>
            <a:endParaRPr/>
          </a:p>
        </p:txBody>
      </p:sp>
      <p:sp>
        <p:nvSpPr>
          <p:cNvPr id="664" name="Google Shape;664;p79"/>
          <p:cNvSpPr txBox="1"/>
          <p:nvPr>
            <p:ph idx="1" type="body"/>
          </p:nvPr>
        </p:nvSpPr>
        <p:spPr>
          <a:xfrm>
            <a:off x="381000" y="2209800"/>
            <a:ext cx="8382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C++ division operator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/)</a:t>
            </a:r>
            <a:r>
              <a:rPr lang="en-US"/>
              <a:t>performs integer division if both operands are integers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13 / 5;    // displays 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 2 / 4;    // displays 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either operand is floating-point, the result is floating-point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13 / 5.0;  // displays 2.6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2.0 / 4;   // displays 0.5</a:t>
            </a:r>
            <a:endParaRPr/>
          </a:p>
        </p:txBody>
      </p:sp>
      <p:sp>
        <p:nvSpPr>
          <p:cNvPr id="665" name="Google Shape;665;p79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%</a:t>
            </a:r>
            <a:r>
              <a:rPr b="1" lang="en-US"/>
              <a:t> Operator</a:t>
            </a:r>
            <a:endParaRPr/>
          </a:p>
        </p:txBody>
      </p:sp>
      <p:sp>
        <p:nvSpPr>
          <p:cNvPr id="672" name="Google Shape;672;p80"/>
          <p:cNvSpPr txBox="1"/>
          <p:nvPr>
            <p:ph idx="1" type="body"/>
          </p:nvPr>
        </p:nvSpPr>
        <p:spPr>
          <a:xfrm>
            <a:off x="457200" y="2362200"/>
            <a:ext cx="83820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C++ modulus operator (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-US"/>
              <a:t>) computes the remainder resulting from integer 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9 % 2;   // displays 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-US"/>
              <a:t> requires integers for both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006600"/>
              </a:buClr>
              <a:buSzPts val="2800"/>
              <a:buFont typeface="Courier New"/>
              <a:buNone/>
            </a:pPr>
            <a:r>
              <a:rPr b="1" lang="en-US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9 % 2.0; // error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73" name="Google Shape;673;p80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1"/>
          <p:cNvSpPr txBox="1"/>
          <p:nvPr>
            <p:ph type="title"/>
          </p:nvPr>
        </p:nvSpPr>
        <p:spPr>
          <a:xfrm>
            <a:off x="914400" y="0"/>
            <a:ext cx="8229600" cy="76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In-Class Exercise</a:t>
            </a:r>
            <a:endParaRPr/>
          </a:p>
        </p:txBody>
      </p:sp>
      <p:sp>
        <p:nvSpPr>
          <p:cNvPr id="679" name="Google Shape;679;p81"/>
          <p:cNvSpPr txBox="1"/>
          <p:nvPr>
            <p:ph idx="1" type="body"/>
          </p:nvPr>
        </p:nvSpPr>
        <p:spPr>
          <a:xfrm>
            <a:off x="179388" y="692150"/>
            <a:ext cx="8661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Identify as many syntax errors as you can in the following program</a:t>
            </a:r>
            <a:endParaRPr/>
          </a:p>
        </p:txBody>
      </p:sp>
      <p:sp>
        <p:nvSpPr>
          <p:cNvPr id="680" name="Google Shape;680;p81"/>
          <p:cNvSpPr/>
          <p:nvPr/>
        </p:nvSpPr>
        <p:spPr>
          <a:xfrm>
            <a:off x="684213" y="1700213"/>
            <a:ext cx="7488237" cy="4894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*/ what is wrong with this program?/*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iostream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a, b,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b=4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c=a+b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Cout&lt;"The value of c is "&lt;C;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Order of Operations</a:t>
            </a:r>
            <a:endParaRPr/>
          </a:p>
        </p:txBody>
      </p:sp>
      <p:sp>
        <p:nvSpPr>
          <p:cNvPr id="686" name="Google Shape;686;p82"/>
          <p:cNvSpPr txBox="1"/>
          <p:nvPr>
            <p:ph idx="4294967295" type="body"/>
          </p:nvPr>
        </p:nvSpPr>
        <p:spPr>
          <a:xfrm>
            <a:off x="755650" y="1484313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	In an expression with more than one operator, evaluation is in this order: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		()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-</a:t>
            </a:r>
            <a:r>
              <a:rPr lang="en-US"/>
              <a:t> (unary negation), in order, right to left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* / %</a:t>
            </a:r>
            <a:r>
              <a:rPr lang="en-US"/>
              <a:t>, in order, left to right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+ -</a:t>
            </a:r>
            <a:r>
              <a:rPr lang="en-US"/>
              <a:t>, in order, left to right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/>
              <a:t>In the expression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2 + 2 * 2 – 2 </a:t>
            </a:r>
            <a:endParaRPr/>
          </a:p>
        </p:txBody>
      </p:sp>
      <p:grpSp>
        <p:nvGrpSpPr>
          <p:cNvPr id="687" name="Google Shape;687;p82"/>
          <p:cNvGrpSpPr/>
          <p:nvPr/>
        </p:nvGrpSpPr>
        <p:grpSpPr>
          <a:xfrm>
            <a:off x="5219700" y="5157788"/>
            <a:ext cx="1219200" cy="1098550"/>
            <a:chOff x="3264" y="3120"/>
            <a:chExt cx="768" cy="692"/>
          </a:xfrm>
        </p:grpSpPr>
        <p:sp>
          <p:nvSpPr>
            <p:cNvPr id="688" name="Google Shape;688;p82"/>
            <p:cNvSpPr txBox="1"/>
            <p:nvPr/>
          </p:nvSpPr>
          <p:spPr>
            <a:xfrm>
              <a:off x="3264" y="3446"/>
              <a:ext cx="768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evaluate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first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9" name="Google Shape;689;p82"/>
            <p:cNvCxnSpPr/>
            <p:nvPr/>
          </p:nvCxnSpPr>
          <p:spPr>
            <a:xfrm rot="10800000">
              <a:off x="3552" y="3120"/>
              <a:ext cx="48" cy="240"/>
            </a:xfrm>
            <a:prstGeom prst="straightConnector1">
              <a:avLst/>
            </a:prstGeom>
            <a:noFill/>
            <a:ln cap="flat" cmpd="sng" w="9525">
              <a:solidFill>
                <a:srgbClr val="FF66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90" name="Google Shape;690;p82"/>
          <p:cNvGrpSpPr/>
          <p:nvPr/>
        </p:nvGrpSpPr>
        <p:grpSpPr>
          <a:xfrm>
            <a:off x="3563938" y="5229225"/>
            <a:ext cx="1295400" cy="1114425"/>
            <a:chOff x="2208" y="3120"/>
            <a:chExt cx="816" cy="702"/>
          </a:xfrm>
        </p:grpSpPr>
        <p:sp>
          <p:nvSpPr>
            <p:cNvPr id="691" name="Google Shape;691;p82"/>
            <p:cNvSpPr/>
            <p:nvPr/>
          </p:nvSpPr>
          <p:spPr>
            <a:xfrm>
              <a:off x="2208" y="3456"/>
              <a:ext cx="81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evaluate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second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2" name="Google Shape;692;p82"/>
            <p:cNvCxnSpPr/>
            <p:nvPr/>
          </p:nvCxnSpPr>
          <p:spPr>
            <a:xfrm flipH="1" rot="10800000">
              <a:off x="2640" y="3120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rgbClr val="FF66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93" name="Google Shape;693;p82"/>
          <p:cNvGrpSpPr/>
          <p:nvPr/>
        </p:nvGrpSpPr>
        <p:grpSpPr>
          <a:xfrm>
            <a:off x="6443663" y="5157788"/>
            <a:ext cx="1676400" cy="1038225"/>
            <a:chOff x="4032" y="3120"/>
            <a:chExt cx="1056" cy="654"/>
          </a:xfrm>
        </p:grpSpPr>
        <p:sp>
          <p:nvSpPr>
            <p:cNvPr id="694" name="Google Shape;694;p82"/>
            <p:cNvSpPr/>
            <p:nvPr/>
          </p:nvSpPr>
          <p:spPr>
            <a:xfrm>
              <a:off x="4032" y="3408"/>
              <a:ext cx="1056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evaluate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third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5" name="Google Shape;695;p82"/>
            <p:cNvCxnSpPr/>
            <p:nvPr/>
          </p:nvCxnSpPr>
          <p:spPr>
            <a:xfrm rot="10800000">
              <a:off x="4176" y="3120"/>
              <a:ext cx="384" cy="240"/>
            </a:xfrm>
            <a:prstGeom prst="straightConnector1">
              <a:avLst/>
            </a:prstGeom>
            <a:noFill/>
            <a:ln cap="flat" cmpd="sng" w="9525">
              <a:solidFill>
                <a:srgbClr val="FF66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Example</a:t>
            </a:r>
            <a:endParaRPr/>
          </a:p>
        </p:txBody>
      </p:sp>
      <p:sp>
        <p:nvSpPr>
          <p:cNvPr id="701" name="Google Shape;701;p83"/>
          <p:cNvSpPr txBox="1"/>
          <p:nvPr>
            <p:ph idx="4294967295" type="body"/>
          </p:nvPr>
        </p:nvSpPr>
        <p:spPr>
          <a:xfrm>
            <a:off x="457200" y="1600200"/>
            <a:ext cx="718185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int z, y=-5;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z= 8 - 3 + 9 / 2 + 2 * - y;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z= 8 - (3 + 9 / 2) + 2 * - y;// try this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descr="Pink tissue paper" id="702" name="Google Shape;702;p83"/>
          <p:cNvGraphicFramePr/>
          <p:nvPr/>
        </p:nvGraphicFramePr>
        <p:xfrm>
          <a:off x="2092325" y="3097213"/>
          <a:ext cx="6048375" cy="3028950"/>
        </p:xfrm>
        <a:graphic>
          <a:graphicData uri="http://schemas.openxmlformats.org/presentationml/2006/ole">
            <mc:AlternateContent>
              <mc:Choice Requires="v">
                <p:oleObj r:id="rId4" imgH="3028950" imgW="6048375" progId="" spid="_x0000_s1">
                  <p:embed/>
                </p:oleObj>
              </mc:Choice>
              <mc:Fallback>
                <p:oleObj r:id="rId5" imgH="3028950" imgW="6048375" progId="">
                  <p:embed/>
                  <p:pic>
                    <p:nvPicPr>
                      <p:cNvPr id="702" name="Google Shape;702;p8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092325" y="3097213"/>
                        <a:ext cx="6048375" cy="302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8900" y="2789238"/>
            <a:ext cx="6489700" cy="2468562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8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Order of Operations</a:t>
            </a:r>
            <a:endParaRPr/>
          </a:p>
        </p:txBody>
      </p:sp>
      <p:sp>
        <p:nvSpPr>
          <p:cNvPr id="709" name="Google Shape;709;p84"/>
          <p:cNvSpPr txBox="1"/>
          <p:nvPr/>
        </p:nvSpPr>
        <p:spPr>
          <a:xfrm>
            <a:off x="477838" y="1706563"/>
            <a:ext cx="775176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prove for the following 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Associativity of Operators</a:t>
            </a:r>
            <a:endParaRPr/>
          </a:p>
        </p:txBody>
      </p:sp>
      <p:sp>
        <p:nvSpPr>
          <p:cNvPr id="715" name="Google Shape;715;p85"/>
          <p:cNvSpPr txBox="1"/>
          <p:nvPr>
            <p:ph idx="4294967295" type="body"/>
          </p:nvPr>
        </p:nvSpPr>
        <p:spPr>
          <a:xfrm>
            <a:off x="457200" y="1978025"/>
            <a:ext cx="8013700" cy="407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/>
              <a:t> (unary negation) associates right to left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*, /, %, +, -</a:t>
            </a:r>
            <a:r>
              <a:rPr lang="en-US"/>
              <a:t>  associate left to right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parentheses ( ) can be used to override the order of operations: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2 + 2  *  2 – 2  = 4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(2 + 2) *  2 – 2  = 6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2 + 2  * (2 – 2) = 2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(2 + 2) * (2 – 2) = 0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6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Grouping with Parentheses</a:t>
            </a:r>
            <a:endParaRPr/>
          </a:p>
        </p:txBody>
      </p:sp>
      <p:pic>
        <p:nvPicPr>
          <p:cNvPr id="721" name="Google Shape;721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514600"/>
            <a:ext cx="5943600" cy="23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Type Conversion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7" name="Google Shape;727;p8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8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When You Mix Apples and </a:t>
            </a:r>
            <a:br>
              <a:rPr b="1" lang="en-US" sz="4000"/>
            </a:br>
            <a:r>
              <a:rPr b="1" lang="en-US" sz="4000"/>
              <a:t>Oranges: </a:t>
            </a:r>
            <a:r>
              <a:rPr b="1" i="1" lang="en-US" sz="4000"/>
              <a:t>Type Conversion</a:t>
            </a:r>
            <a:endParaRPr/>
          </a:p>
        </p:txBody>
      </p:sp>
      <p:sp>
        <p:nvSpPr>
          <p:cNvPr id="733" name="Google Shape;733;p88"/>
          <p:cNvSpPr txBox="1"/>
          <p:nvPr>
            <p:ph idx="4294967295" type="body"/>
          </p:nvPr>
        </p:nvSpPr>
        <p:spPr>
          <a:xfrm>
            <a:off x="304800" y="1752600"/>
            <a:ext cx="829468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Operations are performed between operands of the same type.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not of the same type, C++ will convert one to be the type of the other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can impact the results of calculations.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9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 Conversion</a:t>
            </a:r>
            <a:endParaRPr/>
          </a:p>
        </p:txBody>
      </p:sp>
      <p:sp>
        <p:nvSpPr>
          <p:cNvPr id="739" name="Google Shape;739;p89"/>
          <p:cNvSpPr txBox="1"/>
          <p:nvPr>
            <p:ph idx="4294967295" type="body"/>
          </p:nvPr>
        </p:nvSpPr>
        <p:spPr>
          <a:xfrm>
            <a:off x="304800" y="1828800"/>
            <a:ext cx="829468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Type Conversion</a:t>
            </a:r>
            <a:r>
              <a:rPr lang="en-US"/>
              <a:t>: automatic conversion of an operand to another data type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Promotion</a:t>
            </a:r>
            <a:r>
              <a:rPr lang="en-US"/>
              <a:t>: convert to a higher type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/>
              <a:t>Demotion</a:t>
            </a:r>
            <a:r>
              <a:rPr lang="en-US"/>
              <a:t>: convert to a lower type</a:t>
            </a:r>
            <a:endParaRPr u="sng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0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Hierarchy of Types</a:t>
            </a:r>
            <a:endParaRPr/>
          </a:p>
        </p:txBody>
      </p:sp>
      <p:sp>
        <p:nvSpPr>
          <p:cNvPr id="745" name="Google Shape;745;p90"/>
          <p:cNvSpPr txBox="1"/>
          <p:nvPr>
            <p:ph idx="4294967295" type="body"/>
          </p:nvPr>
        </p:nvSpPr>
        <p:spPr>
          <a:xfrm>
            <a:off x="457200" y="1858963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Highest: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Lowest: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Ranked by largest number they can hold</a:t>
            </a:r>
            <a:endParaRPr/>
          </a:p>
        </p:txBody>
      </p:sp>
      <p:sp>
        <p:nvSpPr>
          <p:cNvPr id="746" name="Google Shape;746;p90"/>
          <p:cNvSpPr txBox="1"/>
          <p:nvPr/>
        </p:nvSpPr>
        <p:spPr>
          <a:xfrm>
            <a:off x="2057400" y="1953306"/>
            <a:ext cx="403225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double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long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int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47" name="Google Shape;747;p90"/>
          <p:cNvCxnSpPr/>
          <p:nvPr/>
        </p:nvCxnSpPr>
        <p:spPr>
          <a:xfrm rot="10800000">
            <a:off x="5181600" y="2051051"/>
            <a:ext cx="0" cy="257991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Conversion Rules</a:t>
            </a:r>
            <a:endParaRPr/>
          </a:p>
        </p:txBody>
      </p:sp>
      <p:sp>
        <p:nvSpPr>
          <p:cNvPr id="753" name="Google Shape;753;p91"/>
          <p:cNvSpPr txBox="1"/>
          <p:nvPr>
            <p:ph idx="4294967295" type="body"/>
          </p:nvPr>
        </p:nvSpPr>
        <p:spPr>
          <a:xfrm>
            <a:off x="4572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arenR"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sz="2400"/>
              <a:t>,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short</a:t>
            </a:r>
            <a:r>
              <a:rPr lang="en-US" sz="2400"/>
              <a:t>,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unsigned short</a:t>
            </a:r>
            <a:r>
              <a:rPr lang="en-US" sz="2400"/>
              <a:t> automatically promoted to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533400" lvl="1" marL="990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For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/>
              <a:t>arithmetic operation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char c=‘A’; cout&lt;&lt;6+c;</a:t>
            </a:r>
            <a:r>
              <a:rPr lang="en-US" sz="2400"/>
              <a:t> // int</a:t>
            </a:r>
            <a:endParaRPr sz="2400"/>
          </a:p>
          <a:p>
            <a:pPr indent="-533400" lvl="1" marL="990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US" sz="2400"/>
              <a:t>When operating on values of different data types, the lower one is promoted to the type of the higher one.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i=25; cout&lt;&lt;6.1+i;</a:t>
            </a:r>
            <a:r>
              <a:rPr lang="en-US" sz="2400"/>
              <a:t> // float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 startAt="3"/>
            </a:pPr>
            <a:r>
              <a:rPr lang="en-US" sz="2400"/>
              <a:t>When using the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/>
              <a:t> operator, the type of expression on right will be converted to type of variable on left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x, y =25; float z=2.5;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	x=y+z; //int</a:t>
            </a:r>
            <a:endParaRPr sz="24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9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Algebraic Expressions</a:t>
            </a:r>
            <a:endParaRPr/>
          </a:p>
        </p:txBody>
      </p:sp>
      <p:sp>
        <p:nvSpPr>
          <p:cNvPr id="759" name="Google Shape;759;p92"/>
          <p:cNvSpPr txBox="1"/>
          <p:nvPr>
            <p:ph idx="4294967295" type="body"/>
          </p:nvPr>
        </p:nvSpPr>
        <p:spPr>
          <a:xfrm>
            <a:off x="304800" y="1981200"/>
            <a:ext cx="8458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Multiplication requires an operator: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Area=lw</a:t>
            </a:r>
            <a:r>
              <a:rPr lang="en-US"/>
              <a:t> is written as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Area = l * w;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There is no exponentiation operator: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CC"/>
              </a:buClr>
              <a:buSzPts val="2800"/>
              <a:buFont typeface="Calibri"/>
              <a:buNone/>
            </a:pPr>
            <a:r>
              <a:rPr lang="en-US"/>
              <a:t>	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Area=s</a:t>
            </a:r>
            <a:r>
              <a:rPr baseline="30000" i="1" lang="en-US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/>
              <a:t> is written as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Area = pow(s, 2);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Parentheses may be needed to maintain order of operations: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				is written 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			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 = (y2-y1) /(x2-x1);</a:t>
            </a:r>
            <a:endParaRPr/>
          </a:p>
        </p:txBody>
      </p:sp>
      <p:pic>
        <p:nvPicPr>
          <p:cNvPr id="760" name="Google Shape;76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5181600"/>
            <a:ext cx="2133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75" y="2762250"/>
            <a:ext cx="7121525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9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Algebraic Expressions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Postfix expression</a:t>
            </a:r>
            <a:endParaRPr/>
          </a:p>
        </p:txBody>
      </p:sp>
      <p:pic>
        <p:nvPicPr>
          <p:cNvPr id="772" name="Google Shape;77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8" y="1484313"/>
            <a:ext cx="4249737" cy="23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250" y="3886200"/>
            <a:ext cx="6643688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4438" y="3810000"/>
            <a:ext cx="5861050" cy="2408238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Prefix expression</a:t>
            </a:r>
            <a:endParaRPr/>
          </a:p>
        </p:txBody>
      </p:sp>
      <p:pic>
        <p:nvPicPr>
          <p:cNvPr id="780" name="Google Shape;780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188" y="1341438"/>
            <a:ext cx="3659187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In-Class Exercise</a:t>
            </a:r>
            <a:endParaRPr/>
          </a:p>
        </p:txBody>
      </p:sp>
      <p:sp>
        <p:nvSpPr>
          <p:cNvPr id="786" name="Google Shape;786;p9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What would be the value of nilai_kedua: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int kira = 5;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int nilai_pertama = 10, nilai_kedua;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nilai_kedua= 5* kira-- + nilai_pertama;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nilai_kedua = 5* --kira +nilai+pertama;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9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Overflow and Underflow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2" name="Google Shape;792;p9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Overflow and Underflow</a:t>
            </a:r>
            <a:endParaRPr/>
          </a:p>
        </p:txBody>
      </p:sp>
      <p:sp>
        <p:nvSpPr>
          <p:cNvPr id="798" name="Google Shape;798;p9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Occurs when assigning a value that is too large (overflow) or too small (underflow) to be held in a variable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Variable contains value that is ‘wrapped around’ set of possible values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Different systems may display a warning/error message, stop the program, or continue execution using the incorrect value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9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Type Casting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4" name="Google Shape;804;p9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00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Type Casting</a:t>
            </a:r>
            <a:endParaRPr/>
          </a:p>
        </p:txBody>
      </p:sp>
      <p:sp>
        <p:nvSpPr>
          <p:cNvPr id="810" name="Google Shape;810;p100"/>
          <p:cNvSpPr txBox="1"/>
          <p:nvPr>
            <p:ph idx="4294967295" type="body"/>
          </p:nvPr>
        </p:nvSpPr>
        <p:spPr>
          <a:xfrm>
            <a:off x="304800" y="1981200"/>
            <a:ext cx="8382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Used for manual data type conversion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Useful for floating point division using int: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	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double m;</a:t>
            </a:r>
            <a:br>
              <a:rPr lang="en-US" sz="28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 = static_cast&lt;double&gt;(y2-y1)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                     /(x2-x1);</a:t>
            </a:r>
            <a:endParaRPr sz="2800"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Useful to see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/>
              <a:t> value of a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/>
              <a:t> variable: 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char ch = 'C';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	cout &lt;&lt; ch &lt;&lt; " is "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2800"/>
              <a:t>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&lt;&lt; static_cast&lt;int&gt;(ch);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1"/>
          <p:cNvSpPr txBox="1"/>
          <p:nvPr>
            <p:ph type="title"/>
          </p:nvPr>
        </p:nvSpPr>
        <p:spPr>
          <a:xfrm>
            <a:off x="611188" y="0"/>
            <a:ext cx="8229600" cy="836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Example</a:t>
            </a:r>
            <a:endParaRPr/>
          </a:p>
        </p:txBody>
      </p:sp>
      <p:pic>
        <p:nvPicPr>
          <p:cNvPr id="816" name="Google Shape;81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8" y="981075"/>
            <a:ext cx="8964612" cy="58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C-Style and Prestandard </a:t>
            </a:r>
            <a:br>
              <a:rPr b="1" lang="en-US" sz="4000"/>
            </a:br>
            <a:r>
              <a:rPr b="1" lang="en-US" sz="4000"/>
              <a:t>Type Cast Expressions</a:t>
            </a:r>
            <a:endParaRPr/>
          </a:p>
        </p:txBody>
      </p:sp>
      <p:sp>
        <p:nvSpPr>
          <p:cNvPr id="822" name="Google Shape;822;p102"/>
          <p:cNvSpPr txBox="1"/>
          <p:nvPr>
            <p:ph idx="4294967295" type="body"/>
          </p:nvPr>
        </p:nvSpPr>
        <p:spPr>
          <a:xfrm>
            <a:off x="304800" y="1752600"/>
            <a:ext cx="829468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C-Style cast: data type name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   cout &lt;&lt; ch &lt;&lt; " is " </a:t>
            </a:r>
            <a:r>
              <a:rPr lang="en-US" sz="2800"/>
              <a:t>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&lt;&lt; (int)ch;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Prestandard C++ cast: value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cout &lt;&lt; ch &lt;&lt; " is " </a:t>
            </a:r>
            <a:r>
              <a:rPr lang="en-US" sz="2800"/>
              <a:t>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&lt;&lt; int(ch);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Both are still supported in C++, although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static_cast</a:t>
            </a:r>
            <a:r>
              <a:rPr lang="en-US"/>
              <a:t> is preferred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0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cap="none"/>
              <a:t>Multiple Assignment and Combined Assignment</a:t>
            </a:r>
            <a:endParaRPr cap="non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8" name="Google Shape;828;p10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Multiple Assignment and </a:t>
            </a:r>
            <a:br>
              <a:rPr b="1" lang="en-US" sz="4000"/>
            </a:br>
            <a:r>
              <a:rPr b="1" lang="en-US" sz="4000"/>
              <a:t>Combined Assignment</a:t>
            </a:r>
            <a:endParaRPr/>
          </a:p>
        </p:txBody>
      </p:sp>
      <p:sp>
        <p:nvSpPr>
          <p:cNvPr id="834" name="Google Shape;834;p104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/>
              <a:t> can be used to assign a value to multiple variables: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x = y = z = 5;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Value of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/>
              <a:t> is the value that is assigned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Associates right to left: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	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x = (y = (z = 5));</a:t>
            </a:r>
            <a:endParaRPr/>
          </a:p>
        </p:txBody>
      </p:sp>
      <p:grpSp>
        <p:nvGrpSpPr>
          <p:cNvPr id="835" name="Google Shape;835;p104"/>
          <p:cNvGrpSpPr/>
          <p:nvPr/>
        </p:nvGrpSpPr>
        <p:grpSpPr>
          <a:xfrm>
            <a:off x="4114800" y="4648200"/>
            <a:ext cx="852488" cy="1114425"/>
            <a:chOff x="2736" y="3168"/>
            <a:chExt cx="537" cy="702"/>
          </a:xfrm>
        </p:grpSpPr>
        <p:sp>
          <p:nvSpPr>
            <p:cNvPr id="836" name="Google Shape;836;p104"/>
            <p:cNvSpPr txBox="1"/>
            <p:nvPr/>
          </p:nvSpPr>
          <p:spPr>
            <a:xfrm>
              <a:off x="2774" y="3504"/>
              <a:ext cx="499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is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7" name="Google Shape;837;p104"/>
            <p:cNvCxnSpPr/>
            <p:nvPr/>
          </p:nvCxnSpPr>
          <p:spPr>
            <a:xfrm rot="10800000">
              <a:off x="2736" y="3168"/>
              <a:ext cx="288" cy="288"/>
            </a:xfrm>
            <a:prstGeom prst="straightConnector1">
              <a:avLst/>
            </a:prstGeom>
            <a:noFill/>
            <a:ln cap="flat" cmpd="sng" w="9525">
              <a:solidFill>
                <a:srgbClr val="FF66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838" name="Google Shape;838;p104"/>
          <p:cNvGrpSpPr/>
          <p:nvPr/>
        </p:nvGrpSpPr>
        <p:grpSpPr>
          <a:xfrm>
            <a:off x="2819400" y="4648200"/>
            <a:ext cx="792163" cy="1114425"/>
            <a:chOff x="1910" y="3168"/>
            <a:chExt cx="499" cy="702"/>
          </a:xfrm>
        </p:grpSpPr>
        <p:sp>
          <p:nvSpPr>
            <p:cNvPr id="839" name="Google Shape;839;p104"/>
            <p:cNvSpPr txBox="1"/>
            <p:nvPr/>
          </p:nvSpPr>
          <p:spPr>
            <a:xfrm>
              <a:off x="1910" y="3504"/>
              <a:ext cx="499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is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0" name="Google Shape;840;p104"/>
            <p:cNvCxnSpPr/>
            <p:nvPr/>
          </p:nvCxnSpPr>
          <p:spPr>
            <a:xfrm rot="10800000">
              <a:off x="2016" y="3168"/>
              <a:ext cx="144" cy="288"/>
            </a:xfrm>
            <a:prstGeom prst="straightConnector1">
              <a:avLst/>
            </a:prstGeom>
            <a:noFill/>
            <a:ln cap="flat" cmpd="sng" w="9525">
              <a:solidFill>
                <a:srgbClr val="FF66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841" name="Google Shape;841;p104"/>
          <p:cNvGrpSpPr/>
          <p:nvPr/>
        </p:nvGrpSpPr>
        <p:grpSpPr>
          <a:xfrm>
            <a:off x="1524000" y="4648200"/>
            <a:ext cx="838200" cy="1114425"/>
            <a:chOff x="1104" y="3168"/>
            <a:chExt cx="528" cy="702"/>
          </a:xfrm>
        </p:grpSpPr>
        <p:sp>
          <p:nvSpPr>
            <p:cNvPr id="842" name="Google Shape;842;p104"/>
            <p:cNvSpPr txBox="1"/>
            <p:nvPr/>
          </p:nvSpPr>
          <p:spPr>
            <a:xfrm>
              <a:off x="1104" y="3504"/>
              <a:ext cx="528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6600"/>
                  </a:solidFill>
                  <a:latin typeface="Calibri"/>
                  <a:ea typeface="Calibri"/>
                  <a:cs typeface="Calibri"/>
                  <a:sym typeface="Calibri"/>
                </a:rPr>
                <a:t>is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3" name="Google Shape;843;p104"/>
            <p:cNvCxnSpPr/>
            <p:nvPr/>
          </p:nvCxnSpPr>
          <p:spPr>
            <a:xfrm rot="10800000">
              <a:off x="1344" y="3168"/>
              <a:ext cx="48" cy="288"/>
            </a:xfrm>
            <a:prstGeom prst="straightConnector1">
              <a:avLst/>
            </a:prstGeom>
            <a:noFill/>
            <a:ln cap="flat" cmpd="sng" w="9525">
              <a:solidFill>
                <a:srgbClr val="FF66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0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Combined Assignment</a:t>
            </a:r>
            <a:endParaRPr/>
          </a:p>
        </p:txBody>
      </p:sp>
      <p:sp>
        <p:nvSpPr>
          <p:cNvPr id="849" name="Google Shape;849;p105"/>
          <p:cNvSpPr txBox="1"/>
          <p:nvPr>
            <p:ph idx="4294967295" type="body"/>
          </p:nvPr>
        </p:nvSpPr>
        <p:spPr>
          <a:xfrm>
            <a:off x="457200" y="19812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Look at the following statement:</a:t>
            </a:r>
            <a:br>
              <a:rPr lang="en-US"/>
            </a:br>
            <a:endParaRPr sz="3600"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sum = sum + 1;</a:t>
            </a:r>
            <a:endParaRPr sz="3200"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br>
              <a:rPr lang="en-US" sz="3200"/>
            </a:br>
            <a:r>
              <a:rPr lang="en-US" sz="3200"/>
              <a:t>This adds 1 to the variable </a:t>
            </a:r>
            <a:r>
              <a:rPr b="1" lang="en-US" sz="3200"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3200"/>
              <a:t>. 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06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Combined Assignment</a:t>
            </a:r>
            <a:endParaRPr/>
          </a:p>
        </p:txBody>
      </p:sp>
      <p:sp>
        <p:nvSpPr>
          <p:cNvPr id="855" name="Google Shape;855;p106"/>
          <p:cNvSpPr txBox="1"/>
          <p:nvPr>
            <p:ph idx="4294967295" type="body"/>
          </p:nvPr>
        </p:nvSpPr>
        <p:spPr>
          <a:xfrm>
            <a:off x="457200" y="19812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combined assignment operators provide a shorthand for these types of statements.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statement</a:t>
            </a:r>
            <a:endParaRPr sz="3600"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sum = sum + 1;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is equivalent to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 sum += 1;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7"/>
          <p:cNvSpPr txBox="1"/>
          <p:nvPr>
            <p:ph type="title"/>
          </p:nvPr>
        </p:nvSpPr>
        <p:spPr>
          <a:xfrm>
            <a:off x="75565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Combined Assignment Operator</a:t>
            </a:r>
            <a:r>
              <a:rPr lang="en-US"/>
              <a:t>s</a:t>
            </a:r>
            <a:endParaRPr/>
          </a:p>
        </p:txBody>
      </p:sp>
      <p:graphicFrame>
        <p:nvGraphicFramePr>
          <p:cNvPr id="861" name="Google Shape;861;p107"/>
          <p:cNvGraphicFramePr/>
          <p:nvPr/>
        </p:nvGraphicFramePr>
        <p:xfrm>
          <a:off x="179388" y="10525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{B6AEAA78-FCFD-40C4-9FFE-228432B043EB}</a:tableStyleId>
              </a:tblPr>
              <a:tblGrid>
                <a:gridCol w="2988175"/>
                <a:gridCol w="2988175"/>
                <a:gridCol w="29881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Operator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Example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Equivalent to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+=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i+=3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+= j +3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i+3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 + (j+3)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-=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i-=3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-= j +3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i-3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 - (j+3)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*=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i*=3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*= j +3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i*3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 * (j+3)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/=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i/=3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/= j +3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i/3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 / (j+3)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%=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i%=3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%= j +3</a:t>
                      </a:r>
                      <a:endParaRPr sz="2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i%3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i = i % (j+3)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08"/>
          <p:cNvSpPr txBox="1"/>
          <p:nvPr>
            <p:ph type="title"/>
          </p:nvPr>
        </p:nvSpPr>
        <p:spPr>
          <a:xfrm>
            <a:off x="539750" y="0"/>
            <a:ext cx="8229600" cy="76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In-Class Exercise</a:t>
            </a:r>
            <a:endParaRPr/>
          </a:p>
        </p:txBody>
      </p:sp>
      <p:sp>
        <p:nvSpPr>
          <p:cNvPr id="867" name="Google Shape;867;p108"/>
          <p:cNvSpPr txBox="1"/>
          <p:nvPr>
            <p:ph idx="1" type="body"/>
          </p:nvPr>
        </p:nvSpPr>
        <p:spPr>
          <a:xfrm>
            <a:off x="0" y="1265237"/>
            <a:ext cx="9144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Assume that int a = 1 and double d = 1.0, and that each expression is independent. What are the results of the following expressions?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romanLcParenR"/>
            </a:pPr>
            <a:r>
              <a:rPr lang="en-US"/>
              <a:t>a = 46/9;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romanLcParenR"/>
            </a:pPr>
            <a:r>
              <a:rPr lang="en-US"/>
              <a:t>a = 46 % 9 + 4 * 4 – 2;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romanLcParenR"/>
            </a:pPr>
            <a:r>
              <a:rPr lang="en-US"/>
              <a:t>a = 45 + 43 % 5 * (23 * 3 % 2);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romanLcParenR"/>
            </a:pPr>
            <a:r>
              <a:rPr lang="en-US"/>
              <a:t>a %=3 / a + 3;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romanLcParenR"/>
            </a:pPr>
            <a:r>
              <a:rPr lang="en-US"/>
              <a:t>d += 1.5 * 3 + (++a);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romanLcParenR"/>
            </a:pPr>
            <a:r>
              <a:rPr lang="en-US"/>
              <a:t>d -= 1.5 * 3 + a++;</a:t>
            </a:r>
            <a:endParaRPr/>
          </a:p>
          <a:p>
            <a:pPr indent="-5715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2014-02-24T04:16:52Z</dcterms:created>
  <dc:creator>user</dc:creator>
</cp:coreProperties>
</file>