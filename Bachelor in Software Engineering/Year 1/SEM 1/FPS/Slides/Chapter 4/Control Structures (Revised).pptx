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oleObject" PartName="/ppt/embeddings/oleObject37.bin"/>
  <Override ContentType="application/vnd.openxmlformats-officedocument.oleObject" PartName="/ppt/embeddings/oleObject9.bin"/>
  <Override ContentType="application/vnd.openxmlformats-officedocument.oleObject" PartName="/ppt/embeddings/oleObject32.bin"/>
  <Override ContentType="application/vnd.openxmlformats-officedocument.oleObject" PartName="/ppt/embeddings/oleObject15.bin"/>
  <Override ContentType="application/vnd.openxmlformats-officedocument.oleObject" PartName="/ppt/embeddings/oleObject29.bin"/>
  <Override ContentType="application/vnd.openxmlformats-officedocument.oleObject" PartName="/ppt/embeddings/oleObject40.bin"/>
  <Override ContentType="application/vnd.openxmlformats-officedocument.oleObject" PartName="/ppt/embeddings/oleObject4.bin"/>
  <Override ContentType="application/vnd.openxmlformats-officedocument.oleObject" PartName="/ppt/embeddings/oleObject28.bin"/>
  <Override ContentType="application/vnd.openxmlformats-officedocument.oleObject" PartName="/ppt/embeddings/oleObject41.bin"/>
  <Override ContentType="application/vnd.openxmlformats-officedocument.oleObject" PartName="/ppt/embeddings/oleObject11.bin"/>
  <Override ContentType="application/vnd.openxmlformats-officedocument.oleObject" PartName="/ppt/embeddings/oleObject8.bin"/>
  <Override ContentType="application/vnd.openxmlformats-officedocument.oleObject" PartName="/ppt/embeddings/oleObject33.bin"/>
  <Override ContentType="application/vnd.openxmlformats-officedocument.oleObject" PartName="/ppt/embeddings/oleObject24.bin"/>
  <Override ContentType="application/vnd.openxmlformats-officedocument.oleObject" PartName="/ppt/embeddings/oleObject25.bin"/>
  <Override ContentType="application/vnd.openxmlformats-officedocument.oleObject" PartName="/ppt/embeddings/oleObject20.bin"/>
  <Override ContentType="application/vnd.openxmlformats-officedocument.oleObject" PartName="/ppt/embeddings/oleObject12.bin"/>
  <Override ContentType="application/vnd.openxmlformats-officedocument.oleObject" PartName="/ppt/embeddings/oleObject3.bin"/>
  <Override ContentType="application/vnd.openxmlformats-officedocument.oleObject" PartName="/ppt/embeddings/oleObject17.bin"/>
  <Override ContentType="application/vnd.openxmlformats-officedocument.oleObject" PartName="/ppt/embeddings/oleObject7.bin"/>
  <Override ContentType="application/vnd.openxmlformats-officedocument.oleObject" PartName="/ppt/embeddings/oleObject16.bin"/>
  <Override ContentType="application/vnd.openxmlformats-officedocument.oleObject" PartName="/ppt/embeddings/oleObject2.bin"/>
  <Override ContentType="application/vnd.openxmlformats-officedocument.oleObject" PartName="/ppt/embeddings/oleObject34.bin"/>
  <Override ContentType="application/vnd.openxmlformats-officedocument.oleObject" PartName="/ppt/embeddings/oleObject21.bin"/>
  <Override ContentType="application/vnd.openxmlformats-officedocument.oleObject" PartName="/ppt/embeddings/oleObject38.bin"/>
  <Override ContentType="application/vnd.openxmlformats-officedocument.oleObject" PartName="/ppt/embeddings/oleObject13.bin"/>
  <Override ContentType="application/vnd.openxmlformats-officedocument.oleObject" PartName="/ppt/embeddings/oleObject26.bin"/>
  <Override ContentType="application/vnd.openxmlformats-officedocument.oleObject" PartName="/ppt/embeddings/oleObject6.bin"/>
  <Override ContentType="application/vnd.openxmlformats-officedocument.oleObject" PartName="/ppt/embeddings/oleObject30.bin"/>
  <Override ContentType="application/vnd.openxmlformats-officedocument.oleObject" PartName="/ppt/embeddings/oleObject18.bin"/>
  <Override ContentType="application/vnd.openxmlformats-officedocument.oleObject" PartName="/ppt/embeddings/oleObject1.bin"/>
  <Override ContentType="application/vnd.openxmlformats-officedocument.oleObject" PartName="/ppt/embeddings/oleObject39.bin"/>
  <Override ContentType="application/vnd.openxmlformats-officedocument.oleObject" PartName="/ppt/embeddings/oleObject35.bin"/>
  <Override ContentType="application/vnd.openxmlformats-officedocument.oleObject" PartName="/ppt/embeddings/oleObject22.bin"/>
  <Override ContentType="application/vnd.openxmlformats-officedocument.oleObject" PartName="/ppt/embeddings/oleObject19.bin"/>
  <Override ContentType="application/vnd.openxmlformats-officedocument.oleObject" PartName="/ppt/embeddings/oleObject14.bin"/>
  <Override ContentType="application/vnd.openxmlformats-officedocument.oleObject" PartName="/ppt/embeddings/oleObject31.bin"/>
  <Override ContentType="application/vnd.openxmlformats-officedocument.oleObject" PartName="/ppt/embeddings/oleObject5.bin"/>
  <Override ContentType="application/vnd.openxmlformats-officedocument.oleObject" PartName="/ppt/embeddings/oleObject10.bin"/>
  <Override ContentType="application/vnd.openxmlformats-officedocument.oleObject" PartName="/ppt/embeddings/oleObject27.bin"/>
  <Override ContentType="application/vnd.openxmlformats-officedocument.oleObject" PartName="/ppt/embeddings/oleObject23.bin"/>
  <Override ContentType="application/vnd.openxmlformats-officedocument.oleObject" PartName="/ppt/embeddings/oleObject36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00" roundtripDataSignature="AMtx7mhCLO8jxWV03Nbx25pq3LGK4dfq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0" Type="http://customschemas.google.com/relationships/presentationmetadata" Target="meta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7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23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8.v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8.png"/><Relationship Id="rId3" Type="http://schemas.openxmlformats.org/officeDocument/2006/relationships/image" Target="../media/image11.png"/></Relationships>
</file>

<file path=ppt/drawings/_rels/vmlDrawing9.vml.rels><?xml version="1.0" encoding="UTF-8" standalone="yes"?>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10.vml.rels><?xml version="1.0" encoding="UTF-8" standalone="yes"?>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11.v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12.vml.rels><?xml version="1.0" encoding="UTF-8" standalone="yes"?><Relationships xmlns="http://schemas.openxmlformats.org/package/2006/relationships"><Relationship Id="rId1" Type="http://schemas.openxmlformats.org/officeDocument/2006/relationships/image" Target="../media/image32.png"/></Relationships>
</file>

<file path=ppt/drawings/_rels/vmlDrawing13.vml.rels><?xml version="1.0" encoding="UTF-8" standalone="yes"?><Relationships xmlns="http://schemas.openxmlformats.org/package/2006/relationships"><Relationship Id="rId1" Type="http://schemas.openxmlformats.org/officeDocument/2006/relationships/image" Target="../media/image36.png"/></Relationships>
</file>

<file path=ppt/drawings/_rels/vmlDrawing14.vml.rels><?xml version="1.0" encoding="UTF-8" standalone="yes"?>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15.vml.rels><?xml version="1.0" encoding="UTF-8" standalone="yes"?>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16.vml.rels><?xml version="1.0" encoding="UTF-8" standalone="yes"?><Relationships xmlns="http://schemas.openxmlformats.org/package/2006/relationships"><Relationship Id="rId1" Type="http://schemas.openxmlformats.org/officeDocument/2006/relationships/image" Target="../media/image31.png"/></Relationships>
</file>

<file path=ppt/drawings/_rels/vmlDrawing17.vml.rels><?xml version="1.0" encoding="UTF-8" standalone="yes"?>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18.vml.rels><?xml version="1.0" encoding="UTF-8" standalone="yes"?>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19.vml.rels><?xml version="1.0" encoding="UTF-8" standalone="yes"?>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20.vml.rels><?xml version="1.0" encoding="UTF-8" standalone="yes"?>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4.png"/></Relationships>
</file>

<file path=ppt/drawings/_rels/vmlDrawing21.vml.rels><?xml version="1.0" encoding="UTF-8" standalone="yes"?>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22.vml.rels><?xml version="1.0" encoding="UTF-8" standalone="yes"?>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51.png"/></Relationships>
</file>

<file path=ppt/drawings/_rels/vmlDrawing23.vml.rels><?xml version="1.0" encoding="UTF-8" standalone="yes"?>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24.vml.rels><?xml version="1.0" encoding="UTF-8" standalone="yes"?><Relationships xmlns="http://schemas.openxmlformats.org/package/2006/relationships"><Relationship Id="rId1" Type="http://schemas.openxmlformats.org/officeDocument/2006/relationships/image" Target="../media/image52.png"/></Relationships>
</file>

<file path=ppt/drawings/_rels/vmlDrawing25.vml.rels><?xml version="1.0" encoding="UTF-8" standalone="yes"?><Relationships xmlns="http://schemas.openxmlformats.org/package/2006/relationships"><Relationship Id="rId1" Type="http://schemas.openxmlformats.org/officeDocument/2006/relationships/image" Target="../media/image41.png"/></Relationships>
</file>

<file path=ppt/drawings/_rels/vmlDrawing26.vml.rels><?xml version="1.0" encoding="UTF-8" standalone="yes"?><Relationships xmlns="http://schemas.openxmlformats.org/package/2006/relationships"><Relationship Id="rId1" Type="http://schemas.openxmlformats.org/officeDocument/2006/relationships/image" Target="../media/image38.png"/></Relationships>
</file>

<file path=ppt/drawings/_rels/vmlDrawing27.vml.rels><?xml version="1.0" encoding="UTF-8" standalone="yes"?><Relationships xmlns="http://schemas.openxmlformats.org/package/2006/relationships"><Relationship Id="rId1" Type="http://schemas.openxmlformats.org/officeDocument/2006/relationships/image" Target="../media/image39.png"/></Relationships>
</file>

<file path=ppt/drawings/_rels/vmlDrawing28.vml.rels><?xml version="1.0" encoding="UTF-8" standalone="yes"?><Relationships xmlns="http://schemas.openxmlformats.org/package/2006/relationships"><Relationship Id="rId1" Type="http://schemas.openxmlformats.org/officeDocument/2006/relationships/image" Target="../media/image47.png"/></Relationships>
</file>

<file path=ppt/drawings/_rels/vmlDrawing29.vml.rels><?xml version="1.0" encoding="UTF-8" standalone="yes"?><Relationships xmlns="http://schemas.openxmlformats.org/package/2006/relationships"><Relationship Id="rId1" Type="http://schemas.openxmlformats.org/officeDocument/2006/relationships/image" Target="../media/image53.png"/></Relationships>
</file>

<file path=ppt/drawings/_rels/vmlDrawing30.vml.rels><?xml version="1.0" encoding="UTF-8" standalone="yes"?><Relationships xmlns="http://schemas.openxmlformats.org/package/2006/relationships"><Relationship Id="rId1" Type="http://schemas.openxmlformats.org/officeDocument/2006/relationships/image" Target="../media/image45.png"/></Relationships>
</file>

<file path=ppt/drawings/_rels/vmlDrawing31.vml.rels><?xml version="1.0" encoding="UTF-8" standalone="yes"?><Relationships xmlns="http://schemas.openxmlformats.org/package/2006/relationships"><Relationship Id="rId1" Type="http://schemas.openxmlformats.org/officeDocument/2006/relationships/image" Target="../media/image46.png"/></Relationships>
</file>

<file path=ppt/drawings/_rels/vmlDrawing32.vml.rels><?xml version="1.0" encoding="UTF-8" standalone="yes"?><Relationships xmlns="http://schemas.openxmlformats.org/package/2006/relationships"><Relationship Id="rId1" Type="http://schemas.openxmlformats.org/officeDocument/2006/relationships/image" Target="../media/image43.png"/></Relationships>
</file>

<file path=ppt/drawings/_rels/vmlDrawing33.vml.rels><?xml version="1.0" encoding="UTF-8" standalone="yes"?><Relationships xmlns="http://schemas.openxmlformats.org/package/2006/relationships"><Relationship Id="rId1" Type="http://schemas.openxmlformats.org/officeDocument/2006/relationships/image" Target="../media/image54.png"/></Relationships>
</file>

<file path=ppt/drawings/_rels/vmlDrawing34.vml.rels><?xml version="1.0" encoding="UTF-8" standalone="yes"?><Relationships xmlns="http://schemas.openxmlformats.org/package/2006/relationships"><Relationship Id="rId1" Type="http://schemas.openxmlformats.org/officeDocument/2006/relationships/image" Target="../media/image48.png"/></Relationships>
</file>

<file path=ppt/drawings/_rels/vmlDrawing35.vml.rels><?xml version="1.0" encoding="UTF-8" standalone="yes"?><Relationships xmlns="http://schemas.openxmlformats.org/package/2006/relationships"><Relationship Id="rId1" Type="http://schemas.openxmlformats.org/officeDocument/2006/relationships/image" Target="../media/image40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" name="Google Shape;488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7" name="Google Shape;537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4" name="Google Shape;574;p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p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p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p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p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9" name="Google Shape;639;p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7" name="Google Shape;647;p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9" name="Google Shape;659;p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8" name="Google Shape;668;p5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6" name="Google Shape;676;p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5" name="Google Shape;685;p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3" name="Google Shape;693;p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8" name="Google Shape;708;p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p5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7" name="Google Shape;727;p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8" name="Google Shape;738;p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0" name="Google Shape;750;p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8" name="Google Shape;758;p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8" name="Google Shape;778;p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6" name="Google Shape;786;p6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p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6" name="Google Shape;806;p6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p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p6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2" name="Google Shape;832;p7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p7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1" name="Google Shape;851;p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9" name="Google Shape;859;p7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6" name="Google Shape;866;p7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7" name="Google Shape;867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See pr5-15.cpp</a:t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4" name="Google Shape;874;p7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2" name="Google Shape;882;p7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9" name="Google Shape;889;p7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90" name="Google Shape;890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See pr5-16.cpp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7" name="Google Shape;897;p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5" name="Google Shape;905;p7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3" name="Google Shape;913;p8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2" name="Google Shape;922;p8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9" name="Google Shape;939;p8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9" name="Google Shape;949;p8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" name="Google Shape;958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9" name="Google Shape;959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1" name="Google Shape;971;p8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5" name="Google Shape;985;p8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3" name="Google Shape;993;p8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3" name="Google Shape;1003;p8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1" name="Google Shape;1011;p8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1" name="Google Shape;1021;p9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1" name="Google Shape;1031;p9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7" name="Google Shape;1037;p9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38" name="Google Shape;1038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See pr5-14.cpp</a:t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5" name="Google Shape;1055;p9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56" name="Google Shape;1056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3" name="Google Shape;1063;p9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9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9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9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0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0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0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0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0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10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0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10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10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0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0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9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9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9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1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26.png"/><Relationship Id="rId7" Type="http://schemas.openxmlformats.org/officeDocument/2006/relationships/oleObject" Target="../embeddings/oleObject4.bin"/><Relationship Id="rId8" Type="http://schemas.openxmlformats.org/officeDocument/2006/relationships/oleObject" Target="../embeddings/oleObject4.bin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5.bin"/><Relationship Id="rId5" Type="http://schemas.openxmlformats.org/officeDocument/2006/relationships/oleObject" Target="../embeddings/oleObject5.bin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6.bin"/><Relationship Id="rId5" Type="http://schemas.openxmlformats.org/officeDocument/2006/relationships/oleObject" Target="../embeddings/oleObject6.bin"/><Relationship Id="rId6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7.bin"/><Relationship Id="rId5" Type="http://schemas.openxmlformats.org/officeDocument/2006/relationships/oleObject" Target="../embeddings/oleObject7.bin"/><Relationship Id="rId6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oleObject8.bin"/><Relationship Id="rId5" Type="http://schemas.openxmlformats.org/officeDocument/2006/relationships/oleObject" Target="../embeddings/oleObject8.bin"/><Relationship Id="rId6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vmlDrawing" Target="../drawings/vmlDrawing7.vml"/><Relationship Id="rId4" Type="http://schemas.openxmlformats.org/officeDocument/2006/relationships/oleObject" Target="../embeddings/oleObject9.bin"/><Relationship Id="rId5" Type="http://schemas.openxmlformats.org/officeDocument/2006/relationships/oleObject" Target="../embeddings/oleObject9.bin"/><Relationship Id="rId6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12.bin"/><Relationship Id="rId10" Type="http://schemas.openxmlformats.org/officeDocument/2006/relationships/oleObject" Target="../embeddings/oleObject12.bin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vmlDrawing" Target="../drawings/vmlDrawing8.vml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8.png"/><Relationship Id="rId5" Type="http://schemas.openxmlformats.org/officeDocument/2006/relationships/oleObject" Target="../embeddings/oleObject10.bin"/><Relationship Id="rId6" Type="http://schemas.openxmlformats.org/officeDocument/2006/relationships/image" Target="../media/image12.png"/><Relationship Id="rId7" Type="http://schemas.openxmlformats.org/officeDocument/2006/relationships/oleObject" Target="../embeddings/oleObject11.bin"/><Relationship Id="rId8" Type="http://schemas.openxmlformats.org/officeDocument/2006/relationships/oleObject" Target="../embeddings/oleObject11.bin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vmlDrawing" Target="../drawings/vmlDrawing9.vml"/><Relationship Id="rId4" Type="http://schemas.openxmlformats.org/officeDocument/2006/relationships/oleObject" Target="../embeddings/oleObject13.bin"/><Relationship Id="rId5" Type="http://schemas.openxmlformats.org/officeDocument/2006/relationships/oleObject" Target="../embeddings/oleObject13.bin"/><Relationship Id="rId6" Type="http://schemas.openxmlformats.org/officeDocument/2006/relationships/image" Target="../media/image2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vmlDrawing" Target="../drawings/vmlDrawing10.vml"/><Relationship Id="rId4" Type="http://schemas.openxmlformats.org/officeDocument/2006/relationships/oleObject" Target="../embeddings/oleObject14.bin"/><Relationship Id="rId5" Type="http://schemas.openxmlformats.org/officeDocument/2006/relationships/oleObject" Target="../embeddings/oleObject14.bin"/><Relationship Id="rId6" Type="http://schemas.openxmlformats.org/officeDocument/2006/relationships/image" Target="../media/image1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vmlDrawing" Target="../drawings/vmlDrawing11.vml"/><Relationship Id="rId4" Type="http://schemas.openxmlformats.org/officeDocument/2006/relationships/oleObject" Target="../embeddings/oleObject15.bin"/><Relationship Id="rId5" Type="http://schemas.openxmlformats.org/officeDocument/2006/relationships/oleObject" Target="../embeddings/oleObject15.bin"/><Relationship Id="rId6" Type="http://schemas.openxmlformats.org/officeDocument/2006/relationships/image" Target="../media/image1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vmlDrawing" Target="../drawings/vmlDrawing12.vml"/><Relationship Id="rId4" Type="http://schemas.openxmlformats.org/officeDocument/2006/relationships/oleObject" Target="../embeddings/oleObject16.bin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vmlDrawing" Target="../drawings/vmlDrawing13.vml"/><Relationship Id="rId4" Type="http://schemas.openxmlformats.org/officeDocument/2006/relationships/oleObject" Target="../embeddings/oleObject17.bin"/><Relationship Id="rId5" Type="http://schemas.openxmlformats.org/officeDocument/2006/relationships/oleObject" Target="../embeddings/oleObject17.bin"/><Relationship Id="rId6" Type="http://schemas.openxmlformats.org/officeDocument/2006/relationships/image" Target="../media/image3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vmlDrawing" Target="../drawings/vmlDrawing14.vml"/><Relationship Id="rId4" Type="http://schemas.openxmlformats.org/officeDocument/2006/relationships/oleObject" Target="../embeddings/oleObject18.bin"/><Relationship Id="rId5" Type="http://schemas.openxmlformats.org/officeDocument/2006/relationships/oleObject" Target="../embeddings/oleObject18.bin"/><Relationship Id="rId6" Type="http://schemas.openxmlformats.org/officeDocument/2006/relationships/image" Target="../media/image2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vmlDrawing" Target="../drawings/vmlDrawing15.vml"/><Relationship Id="rId4" Type="http://schemas.openxmlformats.org/officeDocument/2006/relationships/oleObject" Target="../embeddings/oleObject19.bin"/><Relationship Id="rId5" Type="http://schemas.openxmlformats.org/officeDocument/2006/relationships/oleObject" Target="../embeddings/oleObject19.bin"/><Relationship Id="rId6" Type="http://schemas.openxmlformats.org/officeDocument/2006/relationships/image" Target="../media/image2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vmlDrawing" Target="../drawings/vmlDrawing16.vml"/><Relationship Id="rId4" Type="http://schemas.openxmlformats.org/officeDocument/2006/relationships/oleObject" Target="../embeddings/oleObject20.bin"/><Relationship Id="rId5" Type="http://schemas.openxmlformats.org/officeDocument/2006/relationships/oleObject" Target="../embeddings/oleObject20.bin"/><Relationship Id="rId6" Type="http://schemas.openxmlformats.org/officeDocument/2006/relationships/image" Target="../media/image3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vmlDrawing" Target="../drawings/vmlDrawing17.vml"/><Relationship Id="rId4" Type="http://schemas.openxmlformats.org/officeDocument/2006/relationships/oleObject" Target="../embeddings/oleObject21.bin"/><Relationship Id="rId5" Type="http://schemas.openxmlformats.org/officeDocument/2006/relationships/oleObject" Target="../embeddings/oleObject21.bin"/><Relationship Id="rId6" Type="http://schemas.openxmlformats.org/officeDocument/2006/relationships/image" Target="../media/image2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vmlDrawing" Target="../drawings/vmlDrawing18.vml"/><Relationship Id="rId4" Type="http://schemas.openxmlformats.org/officeDocument/2006/relationships/oleObject" Target="../embeddings/oleObject22.bin"/><Relationship Id="rId5" Type="http://schemas.openxmlformats.org/officeDocument/2006/relationships/oleObject" Target="../embeddings/oleObject22.bin"/><Relationship Id="rId6" Type="http://schemas.openxmlformats.org/officeDocument/2006/relationships/image" Target="../media/image2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vmlDrawing" Target="../drawings/vmlDrawing19.vml"/><Relationship Id="rId4" Type="http://schemas.openxmlformats.org/officeDocument/2006/relationships/oleObject" Target="../embeddings/oleObject23.bin"/><Relationship Id="rId5" Type="http://schemas.openxmlformats.org/officeDocument/2006/relationships/oleObject" Target="../embeddings/oleObject23.bin"/><Relationship Id="rId6" Type="http://schemas.openxmlformats.org/officeDocument/2006/relationships/image" Target="../media/image2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vmlDrawing" Target="../drawings/vmlDrawing20.vml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4.png"/><Relationship Id="rId5" Type="http://schemas.openxmlformats.org/officeDocument/2006/relationships/oleObject" Target="../embeddings/oleObject24.bin"/><Relationship Id="rId6" Type="http://schemas.openxmlformats.org/officeDocument/2006/relationships/image" Target="../media/image30.png"/><Relationship Id="rId7" Type="http://schemas.openxmlformats.org/officeDocument/2006/relationships/oleObject" Target="../embeddings/oleObject25.bin"/><Relationship Id="rId8" Type="http://schemas.openxmlformats.org/officeDocument/2006/relationships/oleObject" Target="../embeddings/oleObject25.bin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vmlDrawing" Target="../drawings/vmlDrawing21.vml"/><Relationship Id="rId4" Type="http://schemas.openxmlformats.org/officeDocument/2006/relationships/oleObject" Target="../embeddings/oleObject26.bin"/><Relationship Id="rId5" Type="http://schemas.openxmlformats.org/officeDocument/2006/relationships/oleObject" Target="../embeddings/oleObject26.bin"/><Relationship Id="rId6" Type="http://schemas.openxmlformats.org/officeDocument/2006/relationships/image" Target="../media/image3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vmlDrawing" Target="../drawings/vmlDrawing22.vml"/><Relationship Id="rId4" Type="http://schemas.openxmlformats.org/officeDocument/2006/relationships/oleObject" Target="../embeddings/oleObject27.bin"/><Relationship Id="rId9" Type="http://schemas.openxmlformats.org/officeDocument/2006/relationships/image" Target="../media/image51.png"/><Relationship Id="rId5" Type="http://schemas.openxmlformats.org/officeDocument/2006/relationships/oleObject" Target="../embeddings/oleObject27.bin"/><Relationship Id="rId6" Type="http://schemas.openxmlformats.org/officeDocument/2006/relationships/image" Target="../media/image44.png"/><Relationship Id="rId7" Type="http://schemas.openxmlformats.org/officeDocument/2006/relationships/oleObject" Target="../embeddings/oleObject28.bin"/><Relationship Id="rId8" Type="http://schemas.openxmlformats.org/officeDocument/2006/relationships/oleObject" Target="../embeddings/oleObject28.bin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vmlDrawing" Target="../drawings/vmlDrawing23.vml"/><Relationship Id="rId4" Type="http://schemas.openxmlformats.org/officeDocument/2006/relationships/oleObject" Target="../embeddings/oleObject29.bin"/><Relationship Id="rId5" Type="http://schemas.openxmlformats.org/officeDocument/2006/relationships/oleObject" Target="../embeddings/oleObject29.bin"/><Relationship Id="rId6" Type="http://schemas.openxmlformats.org/officeDocument/2006/relationships/image" Target="../media/image2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vmlDrawing" Target="../drawings/vmlDrawing24.vml"/><Relationship Id="rId4" Type="http://schemas.openxmlformats.org/officeDocument/2006/relationships/oleObject" Target="../embeddings/oleObject30.bin"/><Relationship Id="rId5" Type="http://schemas.openxmlformats.org/officeDocument/2006/relationships/oleObject" Target="../embeddings/oleObject30.bin"/><Relationship Id="rId6" Type="http://schemas.openxmlformats.org/officeDocument/2006/relationships/image" Target="../media/image5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vmlDrawing" Target="../drawings/vmlDrawing25.vml"/><Relationship Id="rId4" Type="http://schemas.openxmlformats.org/officeDocument/2006/relationships/oleObject" Target="../embeddings/oleObject31.bin"/><Relationship Id="rId5" Type="http://schemas.openxmlformats.org/officeDocument/2006/relationships/oleObject" Target="../embeddings/oleObject31.bin"/><Relationship Id="rId6" Type="http://schemas.openxmlformats.org/officeDocument/2006/relationships/image" Target="../media/image4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vmlDrawing" Target="../drawings/vmlDrawing26.vml"/><Relationship Id="rId4" Type="http://schemas.openxmlformats.org/officeDocument/2006/relationships/oleObject" Target="../embeddings/oleObject32.bin"/><Relationship Id="rId5" Type="http://schemas.openxmlformats.org/officeDocument/2006/relationships/oleObject" Target="../embeddings/oleObject32.bin"/><Relationship Id="rId6" Type="http://schemas.openxmlformats.org/officeDocument/2006/relationships/image" Target="../media/image5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vmlDrawing" Target="../drawings/vmlDrawing27.vml"/><Relationship Id="rId4" Type="http://schemas.openxmlformats.org/officeDocument/2006/relationships/oleObject" Target="../embeddings/oleObject33.bin"/><Relationship Id="rId5" Type="http://schemas.openxmlformats.org/officeDocument/2006/relationships/oleObject" Target="../embeddings/oleObject33.bin"/><Relationship Id="rId6" Type="http://schemas.openxmlformats.org/officeDocument/2006/relationships/image" Target="../media/image39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vmlDrawing" Target="../drawings/vmlDrawing28.vml"/><Relationship Id="rId4" Type="http://schemas.openxmlformats.org/officeDocument/2006/relationships/oleObject" Target="../embeddings/oleObject34.bin"/><Relationship Id="rId5" Type="http://schemas.openxmlformats.org/officeDocument/2006/relationships/oleObject" Target="../embeddings/oleObject34.bin"/><Relationship Id="rId6" Type="http://schemas.openxmlformats.org/officeDocument/2006/relationships/image" Target="../media/image47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50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vmlDrawing" Target="../drawings/vmlDrawing29.vml"/><Relationship Id="rId4" Type="http://schemas.openxmlformats.org/officeDocument/2006/relationships/oleObject" Target="../embeddings/oleObject35.bin"/><Relationship Id="rId5" Type="http://schemas.openxmlformats.org/officeDocument/2006/relationships/oleObject" Target="../embeddings/oleObject35.bin"/><Relationship Id="rId6" Type="http://schemas.openxmlformats.org/officeDocument/2006/relationships/image" Target="../media/image53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vmlDrawing" Target="../drawings/vmlDrawing30.vml"/><Relationship Id="rId4" Type="http://schemas.openxmlformats.org/officeDocument/2006/relationships/oleObject" Target="../embeddings/oleObject36.bin"/><Relationship Id="rId5" Type="http://schemas.openxmlformats.org/officeDocument/2006/relationships/oleObject" Target="../embeddings/oleObject36.bin"/><Relationship Id="rId6" Type="http://schemas.openxmlformats.org/officeDocument/2006/relationships/image" Target="../media/image45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vmlDrawing" Target="../drawings/vmlDrawing31.vml"/><Relationship Id="rId4" Type="http://schemas.openxmlformats.org/officeDocument/2006/relationships/oleObject" Target="../embeddings/oleObject37.bin"/><Relationship Id="rId5" Type="http://schemas.openxmlformats.org/officeDocument/2006/relationships/oleObject" Target="../embeddings/oleObject37.bin"/><Relationship Id="rId6" Type="http://schemas.openxmlformats.org/officeDocument/2006/relationships/image" Target="../media/image46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vmlDrawing" Target="../drawings/vmlDrawing32.vml"/><Relationship Id="rId4" Type="http://schemas.openxmlformats.org/officeDocument/2006/relationships/oleObject" Target="../embeddings/oleObject38.bin"/><Relationship Id="rId5" Type="http://schemas.openxmlformats.org/officeDocument/2006/relationships/oleObject" Target="../embeddings/oleObject38.bin"/><Relationship Id="rId6" Type="http://schemas.openxmlformats.org/officeDocument/2006/relationships/image" Target="../media/image43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vmlDrawing" Target="../drawings/vmlDrawing33.vml"/><Relationship Id="rId4" Type="http://schemas.openxmlformats.org/officeDocument/2006/relationships/oleObject" Target="../embeddings/oleObject39.bin"/><Relationship Id="rId5" Type="http://schemas.openxmlformats.org/officeDocument/2006/relationships/oleObject" Target="../embeddings/oleObject39.bin"/><Relationship Id="rId6" Type="http://schemas.openxmlformats.org/officeDocument/2006/relationships/image" Target="../media/image54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vmlDrawing" Target="../drawings/vmlDrawing34.vml"/><Relationship Id="rId4" Type="http://schemas.openxmlformats.org/officeDocument/2006/relationships/oleObject" Target="../embeddings/oleObject40.bin"/><Relationship Id="rId5" Type="http://schemas.openxmlformats.org/officeDocument/2006/relationships/oleObject" Target="../embeddings/oleObject40.bin"/><Relationship Id="rId6" Type="http://schemas.openxmlformats.org/officeDocument/2006/relationships/image" Target="../media/image48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vmlDrawing" Target="../drawings/vmlDrawing35.vml"/><Relationship Id="rId4" Type="http://schemas.openxmlformats.org/officeDocument/2006/relationships/oleObject" Target="../embeddings/oleObject41.bin"/><Relationship Id="rId5" Type="http://schemas.openxmlformats.org/officeDocument/2006/relationships/oleObject" Target="../embeddings/oleObject41.bin"/><Relationship Id="rId6" Type="http://schemas.openxmlformats.org/officeDocument/2006/relationships/image" Target="../media/image40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CONTROL STRUCTURES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1524000" y="685800"/>
            <a:ext cx="624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Boolean and Logical Operator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85800" y="1498600"/>
            <a:ext cx="7467600" cy="36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C++ logical data declared as 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data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e.g.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bool variable_name;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There are only two values: 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Type-casting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to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true =&gt;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false =&gt;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219200" y="4876800"/>
            <a:ext cx="5715000" cy="10160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number;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number = 2 + 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number;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//output:</a:t>
            </a:r>
            <a:r>
              <a:rPr b="0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762000" y="1193800"/>
            <a:ext cx="7924800" cy="116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Type-casting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to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</a:t>
            </a:r>
            <a:r>
              <a:rPr b="0" i="1" lang="en-US" sz="20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Zero value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=&gt;   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</a:t>
            </a:r>
            <a:r>
              <a:rPr b="0" i="1" lang="en-US" sz="20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Non-Zero value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=&gt;  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514600"/>
            <a:ext cx="61722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990600" y="4927600"/>
            <a:ext cx="6553200" cy="13208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bool b = false;  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b initially is 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number = </a:t>
            </a:r>
            <a:r>
              <a:rPr b="1" i="0" lang="en-US" sz="2000" u="none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 = </a:t>
            </a:r>
            <a:r>
              <a:rPr b="1" i="0" lang="en-US" sz="2000" u="none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-10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      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Now, b is true</a:t>
            </a:r>
            <a:endParaRPr b="1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 = </a:t>
            </a:r>
            <a:r>
              <a:rPr b="1" i="0" lang="en-US" sz="2000" u="none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   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Here, b is false again</a:t>
            </a:r>
            <a:endParaRPr b="1" i="0" sz="1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92480" y="4191000"/>
            <a:ext cx="7924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2209800" y="228600"/>
            <a:ext cx="624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Boolean and Logical Operator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609600" y="1422400"/>
            <a:ext cx="524986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What would be printed by this code segment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1219200" y="1955800"/>
            <a:ext cx="6858000" cy="2246769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 b;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q = 5;     </a:t>
            </a:r>
            <a:endParaRPr b="0" i="1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 = q;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 = b;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“The value of p is ” &lt;&lt; p &lt;&lt; endl;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219200" y="4622800"/>
            <a:ext cx="3276600" cy="1168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value of p is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2209800" y="381000"/>
            <a:ext cx="624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Boolean and Logical Operator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150" y="685800"/>
            <a:ext cx="6343650" cy="56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/>
        </p:nvSpPr>
        <p:spPr>
          <a:xfrm>
            <a:off x="2576512" y="104775"/>
            <a:ext cx="50016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Logical operators truth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438400"/>
            <a:ext cx="8458200" cy="277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 txBox="1"/>
          <p:nvPr/>
        </p:nvSpPr>
        <p:spPr>
          <a:xfrm>
            <a:off x="1371600" y="990600"/>
            <a:ext cx="63818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Operations for logical and/or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29308" t="0"/>
          <a:stretch/>
        </p:blipFill>
        <p:spPr>
          <a:xfrm>
            <a:off x="1676400" y="1749425"/>
            <a:ext cx="5207000" cy="33591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31" name="Google Shape;131;p7"/>
          <p:cNvSpPr txBox="1"/>
          <p:nvPr/>
        </p:nvSpPr>
        <p:spPr>
          <a:xfrm>
            <a:off x="2002674" y="533400"/>
            <a:ext cx="455445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Relational operators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304800" y="599282"/>
            <a:ext cx="79248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Logical expression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1676400" y="1981200"/>
            <a:ext cx="5715000" cy="3093154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a=10;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1" i="0" sz="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(a==1);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1" i="0" sz="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(a&gt;1);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1" i="0" sz="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(a=5);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(a != 5);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 &lt;&lt; 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3352800" y="2667000"/>
            <a:ext cx="9144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Prints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4114800" y="3040063"/>
            <a:ext cx="2590800" cy="284162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Prints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0.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Is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10==1 ?  =&gt; false =&gt;0</a:t>
            </a:r>
            <a:endParaRPr b="1" i="0" sz="12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3962400" y="3429000"/>
            <a:ext cx="25908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Prints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Is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10&gt;1 ?  =&gt; true =&gt; 1</a:t>
            </a:r>
            <a:endParaRPr b="1" i="0" sz="12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3962400" y="3810000"/>
            <a:ext cx="2590800" cy="6492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Prints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5.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This is not a logical expression. It is an assignment expression.</a:t>
            </a:r>
            <a:endParaRPr b="0" i="0" sz="12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3225520" y="4692560"/>
            <a:ext cx="2489479" cy="276999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Prints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0.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Is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!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=5 ?  =&gt; false =&gt;0</a:t>
            </a:r>
            <a:endParaRPr b="1" i="0" sz="12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600200"/>
            <a:ext cx="5534506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9"/>
          <p:cNvSpPr txBox="1"/>
          <p:nvPr/>
        </p:nvSpPr>
        <p:spPr>
          <a:xfrm>
            <a:off x="1449083" y="457200"/>
            <a:ext cx="59891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Logical operator complements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62000" y="4876800"/>
            <a:ext cx="7620000" cy="149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Another way to complement an expression is just putting a Not operator (!) in front of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: Complement of n==0 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!(n==0)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381000" y="838200"/>
            <a:ext cx="79248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When to use complement?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5" name="Google Shape;155;p10"/>
          <p:cNvGraphicFramePr/>
          <p:nvPr/>
        </p:nvGraphicFramePr>
        <p:xfrm>
          <a:off x="2209800" y="1447800"/>
          <a:ext cx="2474913" cy="4267200"/>
        </p:xfrm>
        <a:graphic>
          <a:graphicData uri="http://schemas.openxmlformats.org/presentationml/2006/ole">
            <mc:AlternateContent>
              <mc:Choice Requires="v">
                <p:oleObj r:id="rId4" imgH="4267200" imgW="2474913" progId="Visio.Drawing.6" spid="_x0000_s1">
                  <p:embed/>
                </p:oleObj>
              </mc:Choice>
              <mc:Fallback>
                <p:oleObj r:id="rId5" imgH="4267200" imgW="2474913" progId="Visio.Drawing.6">
                  <p:embed/>
                  <p:pic>
                    <p:nvPicPr>
                      <p:cNvPr id="155" name="Google Shape;155;p1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209800" y="1447800"/>
                        <a:ext cx="2474913" cy="426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" name="Google Shape;156;p10"/>
          <p:cNvGraphicFramePr/>
          <p:nvPr/>
        </p:nvGraphicFramePr>
        <p:xfrm>
          <a:off x="6172200" y="1295400"/>
          <a:ext cx="2590800" cy="4572000"/>
        </p:xfrm>
        <a:graphic>
          <a:graphicData uri="http://schemas.openxmlformats.org/presentationml/2006/ole">
            <mc:AlternateContent>
              <mc:Choice Requires="v">
                <p:oleObj r:id="rId7" imgH="4572000" imgW="2590800" progId="Visio.Drawing.6" spid="_x0000_s2">
                  <p:embed/>
                </p:oleObj>
              </mc:Choice>
              <mc:Fallback>
                <p:oleObj r:id="rId8" imgH="4572000" imgW="2590800" progId="Visio.Drawing.6">
                  <p:embed/>
                  <p:pic>
                    <p:nvPicPr>
                      <p:cNvPr id="156" name="Google Shape;156;p10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172200" y="1295400"/>
                        <a:ext cx="2590800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7" name="Google Shape;157;p10"/>
          <p:cNvCxnSpPr/>
          <p:nvPr/>
        </p:nvCxnSpPr>
        <p:spPr>
          <a:xfrm>
            <a:off x="1930400" y="3721100"/>
            <a:ext cx="685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10"/>
          <p:cNvSpPr txBox="1"/>
          <p:nvPr/>
        </p:nvSpPr>
        <p:spPr>
          <a:xfrm>
            <a:off x="393700" y="3251200"/>
            <a:ext cx="1524000" cy="101441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In order to convert the flowchart to C++ code, this part must be a “Yes (True)”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10"/>
          <p:cNvCxnSpPr/>
          <p:nvPr/>
        </p:nvCxnSpPr>
        <p:spPr>
          <a:xfrm>
            <a:off x="4419600" y="3048000"/>
            <a:ext cx="1752600" cy="0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p10"/>
          <p:cNvSpPr txBox="1"/>
          <p:nvPr/>
        </p:nvSpPr>
        <p:spPr>
          <a:xfrm>
            <a:off x="4419600" y="1981200"/>
            <a:ext cx="1524000" cy="8318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Solution: Complement the condition.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!(n==0)  or  n !=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436336"/>
            <a:ext cx="7924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11"/>
          <p:cNvCxnSpPr/>
          <p:nvPr/>
        </p:nvCxnSpPr>
        <p:spPr>
          <a:xfrm>
            <a:off x="4343400" y="5559425"/>
            <a:ext cx="2209800" cy="0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7" name="Google Shape;167;p11"/>
          <p:cNvSpPr txBox="1"/>
          <p:nvPr/>
        </p:nvSpPr>
        <p:spPr>
          <a:xfrm>
            <a:off x="4572000" y="4340225"/>
            <a:ext cx="1524000" cy="101441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Solution: Complement the condition.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!(number&lt;1)  or  (number &gt;=1)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8" name="Google Shape;168;p11"/>
          <p:cNvGraphicFramePr/>
          <p:nvPr/>
        </p:nvGraphicFramePr>
        <p:xfrm>
          <a:off x="1752600" y="987425"/>
          <a:ext cx="3098800" cy="5718175"/>
        </p:xfrm>
        <a:graphic>
          <a:graphicData uri="http://schemas.openxmlformats.org/presentationml/2006/ole">
            <mc:AlternateContent>
              <mc:Choice Requires="v">
                <p:oleObj r:id="rId4" imgH="5718175" imgW="3098800" progId="Visio.Drawing.5" spid="_x0000_s1">
                  <p:embed/>
                </p:oleObj>
              </mc:Choice>
              <mc:Fallback>
                <p:oleObj r:id="rId5" imgH="5718175" imgW="3098800" progId="Visio.Drawing.5">
                  <p:embed/>
                  <p:pic>
                    <p:nvPicPr>
                      <p:cNvPr id="168" name="Google Shape;168;p1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752600" y="987425"/>
                        <a:ext cx="3098800" cy="571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" name="Google Shape;169;p11"/>
          <p:cNvGraphicFramePr/>
          <p:nvPr/>
        </p:nvGraphicFramePr>
        <p:xfrm>
          <a:off x="6248400" y="1063625"/>
          <a:ext cx="2770188" cy="5410200"/>
        </p:xfrm>
        <a:graphic>
          <a:graphicData uri="http://schemas.openxmlformats.org/presentationml/2006/ole">
            <mc:AlternateContent>
              <mc:Choice Requires="v">
                <p:oleObj r:id="rId7" imgH="5410200" imgW="2770188" progId="Visio.Drawing.5" spid="_x0000_s2">
                  <p:embed/>
                </p:oleObj>
              </mc:Choice>
              <mc:Fallback>
                <p:oleObj r:id="rId8" imgH="5410200" imgW="2770188" progId="Visio.Drawing.5">
                  <p:embed/>
                  <p:pic>
                    <p:nvPicPr>
                      <p:cNvPr id="169" name="Google Shape;169;p11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248400" y="1063625"/>
                        <a:ext cx="2770188" cy="541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0" name="Google Shape;170;p11"/>
          <p:cNvCxnSpPr/>
          <p:nvPr/>
        </p:nvCxnSpPr>
        <p:spPr>
          <a:xfrm flipH="1">
            <a:off x="4419600" y="3197225"/>
            <a:ext cx="4572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" name="Google Shape;171;p11"/>
          <p:cNvSpPr txBox="1"/>
          <p:nvPr/>
        </p:nvSpPr>
        <p:spPr>
          <a:xfrm>
            <a:off x="4800600" y="2587625"/>
            <a:ext cx="1295400" cy="6492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iteration part must be a 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2861226" y="165205"/>
            <a:ext cx="477226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to use complement?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/>
          <p:nvPr/>
        </p:nvSpPr>
        <p:spPr>
          <a:xfrm>
            <a:off x="762000" y="1154112"/>
            <a:ext cx="7924800" cy="375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Sometimes your programs need to make logical choices.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IF</a:t>
            </a:r>
            <a:r>
              <a:rPr b="0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score is higher than 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THEN</a:t>
            </a:r>
            <a:r>
              <a:rPr b="0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grade is PASS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ELSE</a:t>
            </a:r>
            <a:r>
              <a:rPr b="0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grade is FAIL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C++, this corresponds to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 with three parts: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8" name="Google Shape;178;p12"/>
          <p:cNvSpPr txBox="1"/>
          <p:nvPr/>
        </p:nvSpPr>
        <p:spPr>
          <a:xfrm>
            <a:off x="2362200" y="3875880"/>
            <a:ext cx="4191000" cy="24018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(score &gt; 50)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grade  = PASS; 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//part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grade = FAIL; 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//part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2057400" y="228600"/>
            <a:ext cx="6324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Selection / Branch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/>
        </p:nvSpPr>
        <p:spPr>
          <a:xfrm>
            <a:off x="685800" y="1700212"/>
            <a:ext cx="807720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Part 1 : the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condition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-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 expression that evaluates to 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or 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762000" y="538162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1955800" y="3179762"/>
            <a:ext cx="3530600" cy="284003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(score &gt; 50)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grade  = PASS;  </a:t>
            </a:r>
            <a:endParaRPr b="1" i="1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grade = FAIL;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87" name="Google Shape;187;p13"/>
          <p:cNvCxnSpPr/>
          <p:nvPr/>
        </p:nvCxnSpPr>
        <p:spPr>
          <a:xfrm>
            <a:off x="3352800" y="2138362"/>
            <a:ext cx="0" cy="137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88" name="Google Shape;188;p13"/>
          <p:cNvGraphicFramePr/>
          <p:nvPr/>
        </p:nvGraphicFramePr>
        <p:xfrm>
          <a:off x="5791200" y="2976562"/>
          <a:ext cx="2970213" cy="2646363"/>
        </p:xfrm>
        <a:graphic>
          <a:graphicData uri="http://schemas.openxmlformats.org/presentationml/2006/ole">
            <mc:AlternateContent>
              <mc:Choice Requires="v">
                <p:oleObj r:id="rId4" imgH="2646363" imgW="2970213" progId="Visio.Drawing.6" spid="_x0000_s1">
                  <p:embed/>
                </p:oleObj>
              </mc:Choice>
              <mc:Fallback>
                <p:oleObj r:id="rId5" imgH="2646363" imgW="2970213" progId="Visio.Drawing.6">
                  <p:embed/>
                  <p:pic>
                    <p:nvPicPr>
                      <p:cNvPr id="188" name="Google Shape;188;p1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791200" y="2976562"/>
                        <a:ext cx="2970213" cy="264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" name="Google Shape;189;p13"/>
          <p:cNvSpPr/>
          <p:nvPr/>
        </p:nvSpPr>
        <p:spPr>
          <a:xfrm>
            <a:off x="3352800" y="2138362"/>
            <a:ext cx="2667000" cy="1600200"/>
          </a:xfrm>
          <a:custGeom>
            <a:rect b="b" l="l" r="r" t="t"/>
            <a:pathLst>
              <a:path extrusionOk="0" h="1008" w="1680">
                <a:moveTo>
                  <a:pt x="0" y="0"/>
                </a:moveTo>
                <a:cubicBezTo>
                  <a:pt x="556" y="108"/>
                  <a:pt x="1112" y="216"/>
                  <a:pt x="1392" y="384"/>
                </a:cubicBezTo>
                <a:cubicBezTo>
                  <a:pt x="1672" y="552"/>
                  <a:pt x="1676" y="780"/>
                  <a:pt x="1680" y="1008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/>
        </p:nvSpPr>
        <p:spPr>
          <a:xfrm>
            <a:off x="1104900" y="3251200"/>
            <a:ext cx="3619500" cy="26955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(score &gt; 50)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grade = FAIL;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0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838200" y="1676400"/>
            <a:ext cx="77724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Part 2 : the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TRUE-PART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- a block of statements that are executed if the condition evaluates to 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14"/>
          <p:cNvCxnSpPr/>
          <p:nvPr/>
        </p:nvCxnSpPr>
        <p:spPr>
          <a:xfrm>
            <a:off x="2667000" y="1981200"/>
            <a:ext cx="0" cy="1752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7" name="Google Shape;197;p14"/>
          <p:cNvSpPr/>
          <p:nvPr/>
        </p:nvSpPr>
        <p:spPr>
          <a:xfrm>
            <a:off x="1219200" y="3632200"/>
            <a:ext cx="3276600" cy="990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grade  = PASS;  </a:t>
            </a:r>
            <a:endParaRPr b="1" i="1" sz="20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1219200" y="533400"/>
            <a:ext cx="7086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9" name="Google Shape;199;p14"/>
          <p:cNvGraphicFramePr/>
          <p:nvPr/>
        </p:nvGraphicFramePr>
        <p:xfrm>
          <a:off x="4953000" y="2971800"/>
          <a:ext cx="3429000" cy="3054350"/>
        </p:xfrm>
        <a:graphic>
          <a:graphicData uri="http://schemas.openxmlformats.org/presentationml/2006/ole">
            <mc:AlternateContent>
              <mc:Choice Requires="v">
                <p:oleObj r:id="rId4" imgH="3054350" imgW="3429000" progId="Visio.Drawing.6" spid="_x0000_s1">
                  <p:embed/>
                </p:oleObj>
              </mc:Choice>
              <mc:Fallback>
                <p:oleObj r:id="rId5" imgH="3054350" imgW="3429000" progId="Visio.Drawing.6">
                  <p:embed/>
                  <p:pic>
                    <p:nvPicPr>
                      <p:cNvPr id="199" name="Google Shape;199;p1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953000" y="2971800"/>
                        <a:ext cx="3429000" cy="305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" name="Google Shape;200;p14"/>
          <p:cNvSpPr/>
          <p:nvPr/>
        </p:nvSpPr>
        <p:spPr>
          <a:xfrm>
            <a:off x="3810000" y="1905000"/>
            <a:ext cx="3276600" cy="1828800"/>
          </a:xfrm>
          <a:custGeom>
            <a:rect b="b" l="l" r="r" t="t"/>
            <a:pathLst>
              <a:path extrusionOk="0" h="1008" w="1680">
                <a:moveTo>
                  <a:pt x="0" y="0"/>
                </a:moveTo>
                <a:cubicBezTo>
                  <a:pt x="556" y="108"/>
                  <a:pt x="1112" y="216"/>
                  <a:pt x="1392" y="384"/>
                </a:cubicBezTo>
                <a:cubicBezTo>
                  <a:pt x="1672" y="552"/>
                  <a:pt x="1676" y="780"/>
                  <a:pt x="1680" y="1008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/>
        </p:nvSpPr>
        <p:spPr>
          <a:xfrm>
            <a:off x="1181100" y="2882900"/>
            <a:ext cx="4191000" cy="26955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(score &gt; 50)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grade = PASS;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914400" y="1308100"/>
            <a:ext cx="77724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Part 3 : the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FALSE-PART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- a block of statements that are executed if the condition evaluates to 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15"/>
          <p:cNvCxnSpPr/>
          <p:nvPr/>
        </p:nvCxnSpPr>
        <p:spPr>
          <a:xfrm>
            <a:off x="3124200" y="1689100"/>
            <a:ext cx="0" cy="2743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p15"/>
          <p:cNvSpPr/>
          <p:nvPr/>
        </p:nvSpPr>
        <p:spPr>
          <a:xfrm>
            <a:off x="1295400" y="4432300"/>
            <a:ext cx="3962400" cy="990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grade  = FAIL;</a:t>
            </a:r>
            <a:endParaRPr b="1" i="1" sz="20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5"/>
          <p:cNvSpPr txBox="1"/>
          <p:nvPr/>
        </p:nvSpPr>
        <p:spPr>
          <a:xfrm>
            <a:off x="1143000" y="5651500"/>
            <a:ext cx="3429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if the condition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evaluates to </a:t>
            </a:r>
            <a:r>
              <a:rPr b="0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TRUE-PART is skipped.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1905000" y="313871"/>
            <a:ext cx="6019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1" name="Google Shape;211;p15"/>
          <p:cNvGraphicFramePr/>
          <p:nvPr/>
        </p:nvGraphicFramePr>
        <p:xfrm>
          <a:off x="5943600" y="2374900"/>
          <a:ext cx="3124200" cy="2782888"/>
        </p:xfrm>
        <a:graphic>
          <a:graphicData uri="http://schemas.openxmlformats.org/presentationml/2006/ole">
            <mc:AlternateContent>
              <mc:Choice Requires="v">
                <p:oleObj r:id="rId4" imgH="2782888" imgW="3124200" progId="Visio.Drawing.6" spid="_x0000_s1">
                  <p:embed/>
                </p:oleObj>
              </mc:Choice>
              <mc:Fallback>
                <p:oleObj r:id="rId5" imgH="2782888" imgW="3124200" progId="Visio.Drawing.6">
                  <p:embed/>
                  <p:pic>
                    <p:nvPicPr>
                      <p:cNvPr id="211" name="Google Shape;211;p1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943600" y="2374900"/>
                        <a:ext cx="3124200" cy="278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" name="Google Shape;212;p15"/>
          <p:cNvSpPr/>
          <p:nvPr/>
        </p:nvSpPr>
        <p:spPr>
          <a:xfrm>
            <a:off x="4114800" y="1536700"/>
            <a:ext cx="1981200" cy="2514600"/>
          </a:xfrm>
          <a:custGeom>
            <a:rect b="b" l="l" r="r" t="t"/>
            <a:pathLst>
              <a:path extrusionOk="0" h="1584" w="1248">
                <a:moveTo>
                  <a:pt x="0" y="0"/>
                </a:moveTo>
                <a:cubicBezTo>
                  <a:pt x="400" y="372"/>
                  <a:pt x="800" y="744"/>
                  <a:pt x="1008" y="1008"/>
                </a:cubicBezTo>
                <a:cubicBezTo>
                  <a:pt x="1216" y="1272"/>
                  <a:pt x="1232" y="1428"/>
                  <a:pt x="1248" y="1584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/>
          <p:nvPr/>
        </p:nvSpPr>
        <p:spPr>
          <a:xfrm>
            <a:off x="685800" y="1981200"/>
            <a:ext cx="77724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Sometimes there is no FALSE-PART.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“else”</a:t>
            </a: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is  omitted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8" name="Google Shape;218;p16"/>
          <p:cNvSpPr txBox="1"/>
          <p:nvPr/>
        </p:nvSpPr>
        <p:spPr>
          <a:xfrm>
            <a:off x="1371600" y="3276600"/>
            <a:ext cx="4343400" cy="15017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 attendance &lt; 0.8 )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exam_grade = FAIL;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000" u="none" cap="none" strike="noStrik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762000" y="838200"/>
            <a:ext cx="7772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0" name="Google Shape;220;p16"/>
          <p:cNvGraphicFramePr/>
          <p:nvPr/>
        </p:nvGraphicFramePr>
        <p:xfrm>
          <a:off x="6248400" y="2590800"/>
          <a:ext cx="2252663" cy="3048000"/>
        </p:xfrm>
        <a:graphic>
          <a:graphicData uri="http://schemas.openxmlformats.org/presentationml/2006/ole">
            <mc:AlternateContent>
              <mc:Choice Requires="v">
                <p:oleObj r:id="rId4" imgH="3048000" imgW="2252663" progId="Visio.Drawing.6" spid="_x0000_s1">
                  <p:embed/>
                </p:oleObj>
              </mc:Choice>
              <mc:Fallback>
                <p:oleObj r:id="rId5" imgH="3048000" imgW="2252663" progId="Visio.Drawing.6">
                  <p:embed/>
                  <p:pic>
                    <p:nvPicPr>
                      <p:cNvPr id="220" name="Google Shape;220;p1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248400" y="2590800"/>
                        <a:ext cx="2252663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 txBox="1"/>
          <p:nvPr/>
        </p:nvSpPr>
        <p:spPr>
          <a:xfrm>
            <a:off x="685800" y="1162050"/>
            <a:ext cx="7772400" cy="2114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the TRUE-PART (or FALSE-PART) consists of only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one statement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then the curly braces may be omitted.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1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 these two statements are equivalent:</a:t>
            </a:r>
            <a:endParaRPr b="0" i="1" sz="20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1130300" y="3348038"/>
            <a:ext cx="2784475" cy="29622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(score &gt; 50)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grade  = PASS;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grade = FAIL;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4648200" y="3581400"/>
            <a:ext cx="4114800" cy="15017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(score &gt; 50)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grade  = PASS;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grade = FAIL;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2743200" y="304800"/>
            <a:ext cx="5791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/>
          <p:nvPr/>
        </p:nvSpPr>
        <p:spPr>
          <a:xfrm>
            <a:off x="609600" y="1066800"/>
            <a:ext cx="7772400" cy="99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Sometimes there are more than two parts. In those cases you may use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nested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if-else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statements:</a:t>
            </a:r>
            <a:endParaRPr b="0" i="0" sz="24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762000" y="2209800"/>
            <a:ext cx="4343400" cy="36925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(score &gt; 90)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letter_grade  = 'A';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if (score &gt; 75)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letter_grade = 'B';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if (score &gt; 60)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letter_grade = 'C';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if (score &gt; 50)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letter_grade = 'D';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letter_grade = 'F';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5" name="Google Shape;235;p18"/>
          <p:cNvGraphicFramePr/>
          <p:nvPr/>
        </p:nvGraphicFramePr>
        <p:xfrm>
          <a:off x="5562600" y="1752600"/>
          <a:ext cx="3155950" cy="4860697"/>
        </p:xfrm>
        <a:graphic>
          <a:graphicData uri="http://schemas.openxmlformats.org/presentationml/2006/ole">
            <mc:AlternateContent>
              <mc:Choice Requires="v">
                <p:oleObj r:id="rId4" imgH="4860697" imgW="3155950" progId="Visio.Drawing.6" spid="_x0000_s1">
                  <p:embed/>
                </p:oleObj>
              </mc:Choice>
              <mc:Fallback>
                <p:oleObj r:id="rId5" imgH="4860697" imgW="3155950" progId="Visio.Drawing.6">
                  <p:embed/>
                  <p:pic>
                    <p:nvPicPr>
                      <p:cNvPr id="235" name="Google Shape;235;p1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562600" y="1752600"/>
                        <a:ext cx="3155950" cy="4860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" name="Google Shape;236;p18"/>
          <p:cNvSpPr txBox="1"/>
          <p:nvPr/>
        </p:nvSpPr>
        <p:spPr>
          <a:xfrm>
            <a:off x="2514600" y="228600"/>
            <a:ext cx="60198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/>
          <p:nvPr/>
        </p:nvSpPr>
        <p:spPr>
          <a:xfrm>
            <a:off x="228600" y="2286000"/>
            <a:ext cx="3429000" cy="3886200"/>
          </a:xfrm>
          <a:prstGeom prst="rect">
            <a:avLst/>
          </a:prstGeom>
          <a:solidFill>
            <a:srgbClr val="EAEAEA"/>
          </a:solidFill>
          <a:ln cap="flat" cmpd="sng" w="254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42" name="Google Shape;242;p19"/>
          <p:cNvGraphicFramePr/>
          <p:nvPr/>
        </p:nvGraphicFramePr>
        <p:xfrm>
          <a:off x="304800" y="762000"/>
          <a:ext cx="3802063" cy="5845175"/>
        </p:xfrm>
        <a:graphic>
          <a:graphicData uri="http://schemas.openxmlformats.org/presentationml/2006/ole">
            <mc:AlternateContent>
              <mc:Choice Requires="v">
                <p:oleObj r:id="rId4" imgH="5845175" imgW="3802063" progId="Visio.Drawing.6" spid="_x0000_s1">
                  <p:embed/>
                </p:oleObj>
              </mc:Choice>
              <mc:Fallback>
                <p:oleObj r:id="rId5" imgH="5845175" imgW="3802063" progId="Visio.Drawing.6">
                  <p:embed/>
                  <p:pic>
                    <p:nvPicPr>
                      <p:cNvPr id="242" name="Google Shape;242;p1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04800" y="762000"/>
                        <a:ext cx="3802063" cy="584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" name="Google Shape;243;p19"/>
          <p:cNvGraphicFramePr/>
          <p:nvPr/>
        </p:nvGraphicFramePr>
        <p:xfrm>
          <a:off x="5257800" y="1600200"/>
          <a:ext cx="3633788" cy="3298825"/>
        </p:xfrm>
        <a:graphic>
          <a:graphicData uri="http://schemas.openxmlformats.org/presentationml/2006/ole">
            <mc:AlternateContent>
              <mc:Choice Requires="v">
                <p:oleObj r:id="rId7" imgH="3298825" imgW="3633788" progId="Visio.Drawing.6" spid="_x0000_s2">
                  <p:embed/>
                </p:oleObj>
              </mc:Choice>
              <mc:Fallback>
                <p:oleObj r:id="rId8" imgH="3298825" imgW="3633788" progId="Visio.Drawing.6">
                  <p:embed/>
                  <p:pic>
                    <p:nvPicPr>
                      <p:cNvPr id="243" name="Google Shape;243;p19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257800" y="1600200"/>
                        <a:ext cx="3633788" cy="329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" name="Google Shape;244;p19"/>
          <p:cNvGraphicFramePr/>
          <p:nvPr/>
        </p:nvGraphicFramePr>
        <p:xfrm>
          <a:off x="6451600" y="2844800"/>
          <a:ext cx="1011238" cy="1270000"/>
        </p:xfrm>
        <a:graphic>
          <a:graphicData uri="http://schemas.openxmlformats.org/presentationml/2006/ole">
            <mc:AlternateContent>
              <mc:Choice Requires="v">
                <p:oleObj r:id="rId10" imgH="1270000" imgW="1011238" progId="Visio.Drawing.6" spid="_x0000_s3">
                  <p:embed/>
                </p:oleObj>
              </mc:Choice>
              <mc:Fallback>
                <p:oleObj r:id="rId11" imgH="1270000" imgW="1011238" progId="Visio.Drawing.6">
                  <p:embed/>
                  <p:pic>
                    <p:nvPicPr>
                      <p:cNvPr id="244" name="Google Shape;244;p19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451600" y="2844800"/>
                        <a:ext cx="1011238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" name="Google Shape;245;p19"/>
          <p:cNvSpPr/>
          <p:nvPr/>
        </p:nvSpPr>
        <p:spPr>
          <a:xfrm>
            <a:off x="3147117" y="393125"/>
            <a:ext cx="334258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Let’s look closer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657600" y="3276600"/>
            <a:ext cx="1600200" cy="381000"/>
          </a:xfrm>
          <a:prstGeom prst="rightArrow">
            <a:avLst>
              <a:gd fmla="val 50000" name="adj1"/>
              <a:gd fmla="val 105000" name="adj2"/>
            </a:avLst>
          </a:prstGeom>
          <a:solidFill>
            <a:srgbClr val="FFFF99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3898900" y="4305300"/>
            <a:ext cx="2590800" cy="9525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It is actually a regular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if-else</a:t>
            </a:r>
            <a:r>
              <a:rPr b="1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with the FALSE-PART is another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if-else</a:t>
            </a:r>
            <a:r>
              <a:rPr b="1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6781800" y="4495800"/>
            <a:ext cx="2209800" cy="210343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(score&gt;50)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letter_grade = ‘A’;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else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……..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…….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"/>
          <p:cNvSpPr/>
          <p:nvPr/>
        </p:nvSpPr>
        <p:spPr>
          <a:xfrm>
            <a:off x="4889500" y="1193800"/>
            <a:ext cx="3873500" cy="5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if(</a:t>
            </a: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statement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	</a:t>
            </a:r>
            <a:b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if (</a:t>
            </a: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statement;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statement;</a:t>
            </a:r>
            <a:endParaRPr b="0" i="1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if (</a:t>
            </a: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statement;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statement;</a:t>
            </a:r>
            <a:endParaRPr b="0" i="1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statement;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statement;</a:t>
            </a:r>
            <a:endParaRPr b="0" i="1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3399"/>
              </a:buClr>
              <a:buSzPts val="1360"/>
              <a:buFont typeface="Noto Sans Symbols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54" name="Google Shape;254;p20"/>
          <p:cNvCxnSpPr/>
          <p:nvPr/>
        </p:nvCxnSpPr>
        <p:spPr>
          <a:xfrm>
            <a:off x="4813300" y="1828800"/>
            <a:ext cx="3506788" cy="1588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20"/>
          <p:cNvCxnSpPr/>
          <p:nvPr/>
        </p:nvCxnSpPr>
        <p:spPr>
          <a:xfrm>
            <a:off x="4813300" y="3470275"/>
            <a:ext cx="3506788" cy="1588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20"/>
          <p:cNvCxnSpPr/>
          <p:nvPr/>
        </p:nvCxnSpPr>
        <p:spPr>
          <a:xfrm>
            <a:off x="4876800" y="6451600"/>
            <a:ext cx="3506788" cy="1588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20"/>
          <p:cNvCxnSpPr/>
          <p:nvPr/>
        </p:nvCxnSpPr>
        <p:spPr>
          <a:xfrm>
            <a:off x="4813300" y="1143000"/>
            <a:ext cx="3506788" cy="1588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20"/>
          <p:cNvCxnSpPr/>
          <p:nvPr/>
        </p:nvCxnSpPr>
        <p:spPr>
          <a:xfrm>
            <a:off x="5715000" y="2540000"/>
            <a:ext cx="0" cy="30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9" name="Google Shape;259;p20"/>
          <p:cNvSpPr/>
          <p:nvPr/>
        </p:nvSpPr>
        <p:spPr>
          <a:xfrm>
            <a:off x="533400" y="990600"/>
            <a:ext cx="3962400" cy="350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Three forms of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statements are shown at the next 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0" i="1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condition must be placed </a:t>
            </a:r>
            <a:r>
              <a:rPr b="0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in parentheses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Statement may exist either as a single statement or as a collection of statements (also called </a:t>
            </a:r>
            <a:r>
              <a:rPr b="0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compound statement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60" name="Google Shape;260;p20"/>
          <p:cNvCxnSpPr/>
          <p:nvPr/>
        </p:nvCxnSpPr>
        <p:spPr>
          <a:xfrm>
            <a:off x="5715000" y="4114800"/>
            <a:ext cx="0" cy="30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61" name="Google Shape;261;p20"/>
          <p:cNvCxnSpPr/>
          <p:nvPr/>
        </p:nvCxnSpPr>
        <p:spPr>
          <a:xfrm>
            <a:off x="5791200" y="5486400"/>
            <a:ext cx="0" cy="30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2" name="Google Shape;262;p20"/>
          <p:cNvSpPr txBox="1"/>
          <p:nvPr/>
        </p:nvSpPr>
        <p:spPr>
          <a:xfrm>
            <a:off x="2590800" y="152400"/>
            <a:ext cx="5943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/>
          <p:nvPr/>
        </p:nvSpPr>
        <p:spPr>
          <a:xfrm>
            <a:off x="381000" y="931862"/>
            <a:ext cx="79248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compound statement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is  one or more statements that are grouped together by enclosing them in brackets , 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2286000" y="2074862"/>
            <a:ext cx="5715000" cy="386873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(value &gt;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value;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 = value * 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(value &gt; 10)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value =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value;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5638800" y="4056062"/>
            <a:ext cx="228600" cy="1828800"/>
          </a:xfrm>
          <a:prstGeom prst="rightBrace">
            <a:avLst>
              <a:gd fmla="val 6666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70" name="Google Shape;270;p21"/>
          <p:cNvCxnSpPr/>
          <p:nvPr/>
        </p:nvCxnSpPr>
        <p:spPr>
          <a:xfrm rot="10800000">
            <a:off x="4927600" y="2608262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1" name="Google Shape;271;p21"/>
          <p:cNvSpPr txBox="1"/>
          <p:nvPr/>
        </p:nvSpPr>
        <p:spPr>
          <a:xfrm>
            <a:off x="5562600" y="2263775"/>
            <a:ext cx="2362200" cy="649287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This is a single statement. The semi-colon belongs to “if” not to “cout”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21"/>
          <p:cNvCxnSpPr/>
          <p:nvPr/>
        </p:nvCxnSpPr>
        <p:spPr>
          <a:xfrm rot="10800000">
            <a:off x="5156200" y="3217862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" name="Google Shape;273;p21"/>
          <p:cNvSpPr txBox="1"/>
          <p:nvPr/>
        </p:nvSpPr>
        <p:spPr>
          <a:xfrm>
            <a:off x="5791200" y="3065462"/>
            <a:ext cx="15113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 single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6019800" y="4741862"/>
            <a:ext cx="1828800" cy="8318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This is a compound statement which consists two single statements.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/>
          <p:nvPr/>
        </p:nvSpPr>
        <p:spPr>
          <a:xfrm>
            <a:off x="533400" y="1743075"/>
            <a:ext cx="54864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condition must be placed in parentheses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685800" y="523875"/>
            <a:ext cx="7772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Related issues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990600" y="2581275"/>
            <a:ext cx="10858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1219200" y="2962275"/>
            <a:ext cx="5715000" cy="7112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(0&lt;x) &amp;&amp; (x&lt;10)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1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//syntax error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1295400" y="4257675"/>
            <a:ext cx="7162800" cy="10763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i="0" lang="en-US" sz="3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(0&lt;x) &amp;&amp; (x&lt;10)</a:t>
            </a:r>
            <a:r>
              <a:rPr b="1" i="0" lang="en-US" sz="3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place both conditions into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//   a parentheses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1203325" y="3876675"/>
            <a:ext cx="12779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Correction: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/>
          <p:nvPr/>
        </p:nvSpPr>
        <p:spPr>
          <a:xfrm>
            <a:off x="990600" y="2413000"/>
            <a:ext cx="33575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 Print x only if (2&lt;x&lt;9)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1066800" y="2946400"/>
            <a:ext cx="3352800" cy="7112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(2 &lt; x &lt; 9)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23"/>
          <p:cNvCxnSpPr/>
          <p:nvPr/>
        </p:nvCxnSpPr>
        <p:spPr>
          <a:xfrm flipH="1">
            <a:off x="3276600" y="2565400"/>
            <a:ext cx="1676400" cy="46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2" name="Google Shape;292;p23"/>
          <p:cNvSpPr/>
          <p:nvPr/>
        </p:nvSpPr>
        <p:spPr>
          <a:xfrm>
            <a:off x="533400" y="1498600"/>
            <a:ext cx="7848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But be careful when converting mathematical comparisons. Some of them are not straight forward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3"/>
          <p:cNvSpPr txBox="1"/>
          <p:nvPr/>
        </p:nvSpPr>
        <p:spPr>
          <a:xfrm>
            <a:off x="2133600" y="393700"/>
            <a:ext cx="56388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Related issues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4953000" y="2184400"/>
            <a:ext cx="3810000" cy="101441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There is no syntax error, but this leads to a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logic error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due to the misinterpretation.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condition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always evaluates to true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, whatever the value of x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4953000" y="3327400"/>
            <a:ext cx="1676400" cy="14747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Let say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x=1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(2&lt;x&lt;9)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⇒"/>
            </a:pPr>
            <a:r>
              <a:rPr b="1" i="0" lang="en-US" sz="14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2&lt;1</a:t>
            </a:r>
            <a:r>
              <a:rPr b="1" i="0" lang="en-US" sz="14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&lt;9)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⇒"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&lt;9)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⇒"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0&lt;9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Noto Sans Symbols"/>
              <a:buChar char="⇒"/>
            </a:pP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3"/>
          <p:cNvSpPr txBox="1"/>
          <p:nvPr/>
        </p:nvSpPr>
        <p:spPr>
          <a:xfrm>
            <a:off x="6781800" y="3327400"/>
            <a:ext cx="1828800" cy="14747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Let say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x=5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(2&lt;x&lt;9)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⇒"/>
            </a:pPr>
            <a:r>
              <a:rPr b="1" i="0" lang="en-US" sz="14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2&lt;5</a:t>
            </a:r>
            <a:r>
              <a:rPr b="1" i="0" lang="en-US" sz="14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&lt;9)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⇒"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&lt;9)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⇒"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1&lt;9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Noto Sans Symbols"/>
              <a:buChar char="⇒"/>
            </a:pP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990600" y="5537200"/>
            <a:ext cx="7162800" cy="7112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(2 &lt; x)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&amp;&amp;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(x &lt; 9)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1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898525" y="5156200"/>
            <a:ext cx="12779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Correction: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/>
          <p:nvPr/>
        </p:nvSpPr>
        <p:spPr>
          <a:xfrm>
            <a:off x="533400" y="1270000"/>
            <a:ext cx="7696200" cy="220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condition must evaluate to a Boolean value (i.e. either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There are only two types of expression that result a Boolean value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o"/>
            </a:pP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Comparison expression (e.g.    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a&gt;2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o"/>
            </a:pP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Boolean expression (e.g.      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 &amp;&amp; false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the result of the condition is not a Boolean, it will be type-casted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2286000" y="355600"/>
            <a:ext cx="6248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Related issues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838200" y="3960813"/>
            <a:ext cx="10858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1219200" y="4394200"/>
            <a:ext cx="3352800" cy="1930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n=0;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(n)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“Yes”;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“No”;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4"/>
          <p:cNvSpPr txBox="1"/>
          <p:nvPr/>
        </p:nvSpPr>
        <p:spPr>
          <a:xfrm>
            <a:off x="4038600" y="3556000"/>
            <a:ext cx="2209800" cy="7413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condition evaluates to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. 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It then is type-casted to Boolean, becomes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6019800" y="5080000"/>
            <a:ext cx="7381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6096000" y="5384800"/>
            <a:ext cx="1295400" cy="406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24"/>
          <p:cNvCxnSpPr/>
          <p:nvPr/>
        </p:nvCxnSpPr>
        <p:spPr>
          <a:xfrm flipH="1">
            <a:off x="2133600" y="3937000"/>
            <a:ext cx="1905000" cy="114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"/>
          <p:cNvSpPr/>
          <p:nvPr/>
        </p:nvSpPr>
        <p:spPr>
          <a:xfrm>
            <a:off x="416701" y="838200"/>
            <a:ext cx="17764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914400" y="2362200"/>
            <a:ext cx="3352800" cy="1930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n=0;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(n + 5)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“Yes”;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“No”;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5"/>
          <p:cNvSpPr txBox="1"/>
          <p:nvPr/>
        </p:nvSpPr>
        <p:spPr>
          <a:xfrm>
            <a:off x="3429000" y="1524000"/>
            <a:ext cx="2209800" cy="7413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condition evaluates to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. 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It then is type-casted to Boolean, becomes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6400800" y="3124200"/>
            <a:ext cx="7381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6477000" y="3429000"/>
            <a:ext cx="1295400" cy="406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25"/>
          <p:cNvCxnSpPr/>
          <p:nvPr/>
        </p:nvCxnSpPr>
        <p:spPr>
          <a:xfrm flipH="1">
            <a:off x="2057400" y="1981200"/>
            <a:ext cx="1371600" cy="106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"/>
          <p:cNvSpPr/>
          <p:nvPr/>
        </p:nvSpPr>
        <p:spPr>
          <a:xfrm>
            <a:off x="378114" y="1422400"/>
            <a:ext cx="15488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914400" y="3098800"/>
            <a:ext cx="3352800" cy="1930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x=0;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(x=0)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“Yes”;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“No”;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6"/>
          <p:cNvSpPr txBox="1"/>
          <p:nvPr/>
        </p:nvSpPr>
        <p:spPr>
          <a:xfrm>
            <a:off x="3657600" y="1498600"/>
            <a:ext cx="3200400" cy="12890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Remember! This is an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assignment expression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, not an equality.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value of the expression is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. 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It then is type-casted to Boolean, becomes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false.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result is always false.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6400800" y="3860800"/>
            <a:ext cx="7381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6"/>
          <p:cNvSpPr txBox="1"/>
          <p:nvPr/>
        </p:nvSpPr>
        <p:spPr>
          <a:xfrm>
            <a:off x="6477000" y="4165600"/>
            <a:ext cx="1295400" cy="406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26"/>
          <p:cNvCxnSpPr/>
          <p:nvPr/>
        </p:nvCxnSpPr>
        <p:spPr>
          <a:xfrm flipH="1">
            <a:off x="1828800" y="2336800"/>
            <a:ext cx="1828800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/>
          <p:nvPr/>
        </p:nvSpPr>
        <p:spPr>
          <a:xfrm>
            <a:off x="301914" y="965200"/>
            <a:ext cx="15488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914400" y="2946400"/>
            <a:ext cx="3352800" cy="1930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y=5;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(y=10)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“Yes”;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“No”;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3657600" y="1346200"/>
            <a:ext cx="3200400" cy="12890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Remember! This is an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assignment expression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, not an equality.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value of the expression is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. 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It then is type-casted to Boolean, becomes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.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result is always true.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6400800" y="3708400"/>
            <a:ext cx="7381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7"/>
          <p:cNvSpPr txBox="1"/>
          <p:nvPr/>
        </p:nvSpPr>
        <p:spPr>
          <a:xfrm>
            <a:off x="6477000" y="4013200"/>
            <a:ext cx="1295400" cy="406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27"/>
          <p:cNvCxnSpPr/>
          <p:nvPr/>
        </p:nvCxnSpPr>
        <p:spPr>
          <a:xfrm flipH="1">
            <a:off x="1828800" y="2184400"/>
            <a:ext cx="1828800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8"/>
          <p:cNvSpPr/>
          <p:nvPr/>
        </p:nvSpPr>
        <p:spPr>
          <a:xfrm>
            <a:off x="301914" y="1498600"/>
            <a:ext cx="15488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8"/>
          <p:cNvSpPr txBox="1"/>
          <p:nvPr/>
        </p:nvSpPr>
        <p:spPr>
          <a:xfrm>
            <a:off x="914400" y="3479800"/>
            <a:ext cx="3352800" cy="13208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y=1;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(y=5)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y;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7" name="Google Shape;347;p28"/>
          <p:cNvSpPr txBox="1"/>
          <p:nvPr/>
        </p:nvSpPr>
        <p:spPr>
          <a:xfrm>
            <a:off x="3657600" y="1879600"/>
            <a:ext cx="3200400" cy="14097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Remember! This is an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assignment expression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condition always evaluates to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.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value of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is changed to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due to the side-effect caused by the assignment operator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6400800" y="4241800"/>
            <a:ext cx="7381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8"/>
          <p:cNvSpPr txBox="1"/>
          <p:nvPr/>
        </p:nvSpPr>
        <p:spPr>
          <a:xfrm>
            <a:off x="6477000" y="4546600"/>
            <a:ext cx="1295400" cy="406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28"/>
          <p:cNvCxnSpPr/>
          <p:nvPr/>
        </p:nvCxnSpPr>
        <p:spPr>
          <a:xfrm flipH="1">
            <a:off x="1828800" y="2717800"/>
            <a:ext cx="1828800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"/>
          <p:cNvSpPr/>
          <p:nvPr/>
        </p:nvSpPr>
        <p:spPr>
          <a:xfrm>
            <a:off x="533400" y="1524000"/>
            <a:ext cx="7696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Be careful when using the Boolean operator NOT  (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 </a:t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6" name="Google Shape;356;p29"/>
          <p:cNvSpPr txBox="1"/>
          <p:nvPr/>
        </p:nvSpPr>
        <p:spPr>
          <a:xfrm>
            <a:off x="2438400" y="609600"/>
            <a:ext cx="6096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Related issues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914400" y="2057400"/>
            <a:ext cx="10858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9"/>
          <p:cNvSpPr txBox="1"/>
          <p:nvPr/>
        </p:nvSpPr>
        <p:spPr>
          <a:xfrm>
            <a:off x="1219200" y="2438400"/>
            <a:ext cx="3352800" cy="1930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n=5;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(!n&gt;9)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“Yes”;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“No”;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4800600" y="2438400"/>
            <a:ext cx="3810000" cy="22621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Operator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has higher precedence then operator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.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So, it is executed first.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Expression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!n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is evaluated as 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!true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where n is type-casted from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integer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5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to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true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. The result is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1" i="0" sz="14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expression is further evaluated as 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(false&gt;9)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false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value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is then type-casted to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, since it will be compared with an integer.  The expression then looks like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(0 &gt; 9)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and the final result is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2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1219200" y="4953000"/>
            <a:ext cx="7381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9"/>
          <p:cNvSpPr txBox="1"/>
          <p:nvPr/>
        </p:nvSpPr>
        <p:spPr>
          <a:xfrm>
            <a:off x="1371600" y="5257800"/>
            <a:ext cx="1295400" cy="406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29"/>
          <p:cNvCxnSpPr/>
          <p:nvPr/>
        </p:nvCxnSpPr>
        <p:spPr>
          <a:xfrm flipH="1">
            <a:off x="2667000" y="2895600"/>
            <a:ext cx="2133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0"/>
          <p:cNvSpPr/>
          <p:nvPr/>
        </p:nvSpPr>
        <p:spPr>
          <a:xfrm>
            <a:off x="762000" y="1219200"/>
            <a:ext cx="10858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0"/>
          <p:cNvSpPr txBox="1"/>
          <p:nvPr/>
        </p:nvSpPr>
        <p:spPr>
          <a:xfrm>
            <a:off x="1066800" y="1600200"/>
            <a:ext cx="3352800" cy="1930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n=5;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(!(n&gt;9))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“Yes”;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“No”;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0"/>
          <p:cNvSpPr txBox="1"/>
          <p:nvPr/>
        </p:nvSpPr>
        <p:spPr>
          <a:xfrm>
            <a:off x="4648200" y="1600200"/>
            <a:ext cx="3810000" cy="15684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(!(n&gt;9))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⇒"/>
            </a:pPr>
            <a:r>
              <a:rPr b="1" i="0" lang="en-US" sz="16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 (!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(n&gt;9)</a:t>
            </a:r>
            <a:r>
              <a:rPr b="1" i="0" lang="en-US" sz="16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⇒"/>
            </a:pPr>
            <a:r>
              <a:rPr b="1" i="0" lang="en-US" sz="16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 (!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5&gt;9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i="0" lang="en-US" sz="16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⇒"/>
            </a:pPr>
            <a:r>
              <a:rPr b="1" i="0" lang="en-US" sz="16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 (!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i="0" lang="en-US" sz="16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⇒"/>
            </a:pPr>
            <a:r>
              <a:rPr b="1" i="0" lang="en-US" sz="16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false)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⇒"/>
            </a:pPr>
            <a:r>
              <a:rPr b="1" i="0" lang="en-US" sz="16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1" i="0" sz="1600" u="none" cap="none" strike="noStrik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1066800" y="4114800"/>
            <a:ext cx="7381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0"/>
          <p:cNvSpPr txBox="1"/>
          <p:nvPr/>
        </p:nvSpPr>
        <p:spPr>
          <a:xfrm>
            <a:off x="1219200" y="4419600"/>
            <a:ext cx="1295400" cy="406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30"/>
          <p:cNvCxnSpPr/>
          <p:nvPr/>
        </p:nvCxnSpPr>
        <p:spPr>
          <a:xfrm flipH="1">
            <a:off x="2743200" y="2057400"/>
            <a:ext cx="1905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"/>
          <p:cNvSpPr/>
          <p:nvPr/>
        </p:nvSpPr>
        <p:spPr>
          <a:xfrm>
            <a:off x="990600" y="1935162"/>
            <a:ext cx="10858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1"/>
          <p:cNvSpPr txBox="1"/>
          <p:nvPr/>
        </p:nvSpPr>
        <p:spPr>
          <a:xfrm>
            <a:off x="1066800" y="2316162"/>
            <a:ext cx="3733800" cy="92551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(x&lt;3)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&lt;&lt;"Yes" 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&lt;&lt;"No" 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533400" y="1401762"/>
            <a:ext cx="7848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Statements should be indented correctly to avoid misinterpretations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1"/>
          <p:cNvSpPr txBox="1"/>
          <p:nvPr/>
        </p:nvSpPr>
        <p:spPr>
          <a:xfrm>
            <a:off x="1977571" y="297655"/>
            <a:ext cx="64579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Related issues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1"/>
          <p:cNvSpPr/>
          <p:nvPr/>
        </p:nvSpPr>
        <p:spPr>
          <a:xfrm>
            <a:off x="5105400" y="2087562"/>
            <a:ext cx="14446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Let say x=1,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Condition =&gt; 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1"/>
          <p:cNvSpPr txBox="1"/>
          <p:nvPr/>
        </p:nvSpPr>
        <p:spPr>
          <a:xfrm>
            <a:off x="5233988" y="2925762"/>
            <a:ext cx="1295400" cy="7112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1"/>
          <p:cNvSpPr/>
          <p:nvPr/>
        </p:nvSpPr>
        <p:spPr>
          <a:xfrm>
            <a:off x="7315200" y="2163762"/>
            <a:ext cx="148790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Let say x=3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Condition =&gt; 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1"/>
          <p:cNvSpPr txBox="1"/>
          <p:nvPr/>
        </p:nvSpPr>
        <p:spPr>
          <a:xfrm>
            <a:off x="7443788" y="3027362"/>
            <a:ext cx="1295400" cy="406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1"/>
          <p:cNvSpPr txBox="1"/>
          <p:nvPr/>
        </p:nvSpPr>
        <p:spPr>
          <a:xfrm>
            <a:off x="1295400" y="3687762"/>
            <a:ext cx="2590800" cy="6492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second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doesn’t belong to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statement.  It is on its own but was indented incorrectly.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" name="Google Shape;386;p31"/>
          <p:cNvCxnSpPr/>
          <p:nvPr/>
        </p:nvCxnSpPr>
        <p:spPr>
          <a:xfrm rot="10800000">
            <a:off x="1981200" y="3154362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7" name="Google Shape;387;p31"/>
          <p:cNvSpPr/>
          <p:nvPr/>
        </p:nvSpPr>
        <p:spPr>
          <a:xfrm>
            <a:off x="990600" y="4591050"/>
            <a:ext cx="12779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Correction: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1"/>
          <p:cNvSpPr txBox="1"/>
          <p:nvPr/>
        </p:nvSpPr>
        <p:spPr>
          <a:xfrm>
            <a:off x="1066800" y="4972050"/>
            <a:ext cx="3733800" cy="12001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(x&lt;3)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&lt;&lt;"Yes" 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&lt;&lt;"No" 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2"/>
          <p:cNvSpPr/>
          <p:nvPr/>
        </p:nvSpPr>
        <p:spPr>
          <a:xfrm>
            <a:off x="914400" y="871537"/>
            <a:ext cx="10858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2"/>
          <p:cNvSpPr txBox="1"/>
          <p:nvPr/>
        </p:nvSpPr>
        <p:spPr>
          <a:xfrm>
            <a:off x="914400" y="1328737"/>
            <a:ext cx="3733800" cy="14747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(x&lt;y)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x = 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2"/>
          <p:cNvSpPr txBox="1"/>
          <p:nvPr/>
        </p:nvSpPr>
        <p:spPr>
          <a:xfrm>
            <a:off x="4876800" y="1404937"/>
            <a:ext cx="2971800" cy="8318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Syntax error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– misplace else.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There must only be a single statement before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. If more than that, use a compound statement.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838200" y="3614737"/>
            <a:ext cx="12779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Correction: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2"/>
          <p:cNvSpPr txBox="1"/>
          <p:nvPr/>
        </p:nvSpPr>
        <p:spPr>
          <a:xfrm>
            <a:off x="914400" y="3995737"/>
            <a:ext cx="3733800" cy="20240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(x&lt;y)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{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x;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x = 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3"/>
          <p:cNvSpPr/>
          <p:nvPr/>
        </p:nvSpPr>
        <p:spPr>
          <a:xfrm>
            <a:off x="1747837" y="457200"/>
            <a:ext cx="7221538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</a:t>
            </a:r>
            <a:r>
              <a:rPr b="1" i="1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Print x only if it is an odd number less than 10, otherwise print “Wrong number”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3"/>
          <p:cNvSpPr txBox="1"/>
          <p:nvPr/>
        </p:nvSpPr>
        <p:spPr>
          <a:xfrm>
            <a:off x="1671637" y="1219200"/>
            <a:ext cx="3886200" cy="14747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(x%2==1)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(x&lt;10)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cout &lt;&lt;x;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“Wrong number”;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1595437" y="4114800"/>
            <a:ext cx="2816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Correction: use brackets {}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3"/>
          <p:cNvSpPr txBox="1"/>
          <p:nvPr/>
        </p:nvSpPr>
        <p:spPr>
          <a:xfrm>
            <a:off x="1595437" y="4495800"/>
            <a:ext cx="4114800" cy="20240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(x%2==1)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{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if (x&lt;10)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cout &lt;&lt; x;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“Wrong number”;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3"/>
          <p:cNvSpPr txBox="1"/>
          <p:nvPr/>
        </p:nvSpPr>
        <p:spPr>
          <a:xfrm>
            <a:off x="1671637" y="2895600"/>
            <a:ext cx="3886200" cy="101441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There is no syntax error, but this leads to a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logic error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due to the misinterpretation.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else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part actually belongs to the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second if  (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if (x&lt;10)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),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not to the first 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3"/>
          <p:cNvSpPr/>
          <p:nvPr/>
        </p:nvSpPr>
        <p:spPr>
          <a:xfrm>
            <a:off x="6015037" y="1219200"/>
            <a:ext cx="10525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Let say x=7,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3"/>
          <p:cNvSpPr txBox="1"/>
          <p:nvPr/>
        </p:nvSpPr>
        <p:spPr>
          <a:xfrm>
            <a:off x="6129337" y="1711325"/>
            <a:ext cx="952500" cy="406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6142037" y="2239963"/>
            <a:ext cx="7747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Correct!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3"/>
          <p:cNvSpPr/>
          <p:nvPr/>
        </p:nvSpPr>
        <p:spPr>
          <a:xfrm>
            <a:off x="7234237" y="1219200"/>
            <a:ext cx="11414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Let say x=11,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3"/>
          <p:cNvSpPr txBox="1"/>
          <p:nvPr/>
        </p:nvSpPr>
        <p:spPr>
          <a:xfrm>
            <a:off x="7348537" y="1711325"/>
            <a:ext cx="13335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Wrong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3"/>
          <p:cNvSpPr/>
          <p:nvPr/>
        </p:nvSpPr>
        <p:spPr>
          <a:xfrm>
            <a:off x="7361237" y="2239963"/>
            <a:ext cx="7747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Correct!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3"/>
          <p:cNvSpPr/>
          <p:nvPr/>
        </p:nvSpPr>
        <p:spPr>
          <a:xfrm>
            <a:off x="6091237" y="2743200"/>
            <a:ext cx="2976563" cy="6492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But, when x=12,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There is no output. This is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incorrect</a:t>
            </a: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It suppose to print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“Wrong number”</a:t>
            </a: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4"/>
          <p:cNvSpPr/>
          <p:nvPr/>
        </p:nvSpPr>
        <p:spPr>
          <a:xfrm>
            <a:off x="990600" y="2133600"/>
            <a:ext cx="10858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4"/>
          <p:cNvSpPr txBox="1"/>
          <p:nvPr/>
        </p:nvSpPr>
        <p:spPr>
          <a:xfrm>
            <a:off x="1066800" y="2514600"/>
            <a:ext cx="2514600" cy="6508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(x&lt;3)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&lt;&lt;"Yes";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533400" y="1600200"/>
            <a:ext cx="7848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Null statements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are statements that do nothing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4"/>
          <p:cNvSpPr txBox="1"/>
          <p:nvPr/>
        </p:nvSpPr>
        <p:spPr>
          <a:xfrm>
            <a:off x="762000" y="838200"/>
            <a:ext cx="7772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Related issues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4"/>
          <p:cNvSpPr/>
          <p:nvPr/>
        </p:nvSpPr>
        <p:spPr>
          <a:xfrm>
            <a:off x="914400" y="4114800"/>
            <a:ext cx="17541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output is always: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4"/>
          <p:cNvSpPr txBox="1"/>
          <p:nvPr/>
        </p:nvSpPr>
        <p:spPr>
          <a:xfrm>
            <a:off x="914400" y="4495800"/>
            <a:ext cx="1295400" cy="406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4"/>
          <p:cNvSpPr txBox="1"/>
          <p:nvPr/>
        </p:nvSpPr>
        <p:spPr>
          <a:xfrm>
            <a:off x="4191000" y="2286000"/>
            <a:ext cx="2590800" cy="8318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semi-colon represents a null statement.  Either the condition evaluates to true or false, there is nothing to do.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5" name="Google Shape;425;p34"/>
          <p:cNvCxnSpPr/>
          <p:nvPr/>
        </p:nvCxnSpPr>
        <p:spPr>
          <a:xfrm flipH="1">
            <a:off x="2362200" y="2667000"/>
            <a:ext cx="1828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6" name="Google Shape;426;p34"/>
          <p:cNvSpPr txBox="1"/>
          <p:nvPr/>
        </p:nvSpPr>
        <p:spPr>
          <a:xfrm>
            <a:off x="4191000" y="3276600"/>
            <a:ext cx="2590800" cy="8318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cout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doesn’t belong to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statement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.  The statement has already been ended up with semi-colon previously.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p34"/>
          <p:cNvCxnSpPr/>
          <p:nvPr/>
        </p:nvCxnSpPr>
        <p:spPr>
          <a:xfrm rot="10800000">
            <a:off x="2895600" y="3048000"/>
            <a:ext cx="12954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5"/>
          <p:cNvSpPr/>
          <p:nvPr/>
        </p:nvSpPr>
        <p:spPr>
          <a:xfrm>
            <a:off x="990600" y="1590675"/>
            <a:ext cx="10858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5"/>
          <p:cNvSpPr txBox="1"/>
          <p:nvPr/>
        </p:nvSpPr>
        <p:spPr>
          <a:xfrm>
            <a:off x="1066800" y="2505075"/>
            <a:ext cx="3581400" cy="12001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(x&lt;3)</a:t>
            </a:r>
            <a:endParaRPr b="1" i="0" sz="1800" u="none" cap="none" strike="noStrik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&lt;&lt;"Yes“ &lt;&lt;endl;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&lt;&lt;“No” &lt;&lt;endl;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4" name="Google Shape;434;p35"/>
          <p:cNvGrpSpPr/>
          <p:nvPr/>
        </p:nvGrpSpPr>
        <p:grpSpPr>
          <a:xfrm>
            <a:off x="1828800" y="3114675"/>
            <a:ext cx="5791200" cy="466725"/>
            <a:chOff x="1152" y="1584"/>
            <a:chExt cx="3648" cy="294"/>
          </a:xfrm>
        </p:grpSpPr>
        <p:sp>
          <p:nvSpPr>
            <p:cNvPr id="435" name="Google Shape;435;p35"/>
            <p:cNvSpPr txBox="1"/>
            <p:nvPr/>
          </p:nvSpPr>
          <p:spPr>
            <a:xfrm>
              <a:off x="3168" y="1584"/>
              <a:ext cx="1632" cy="294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The semi-colon represents a null statement.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6" name="Google Shape;436;p35"/>
            <p:cNvCxnSpPr/>
            <p:nvPr/>
          </p:nvCxnSpPr>
          <p:spPr>
            <a:xfrm rot="10800000">
              <a:off x="1152" y="1680"/>
              <a:ext cx="201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37" name="Google Shape;437;p35"/>
          <p:cNvGrpSpPr/>
          <p:nvPr/>
        </p:nvGrpSpPr>
        <p:grpSpPr>
          <a:xfrm>
            <a:off x="1828800" y="3571875"/>
            <a:ext cx="3581400" cy="847725"/>
            <a:chOff x="1152" y="1872"/>
            <a:chExt cx="2256" cy="534"/>
          </a:xfrm>
        </p:grpSpPr>
        <p:sp>
          <p:nvSpPr>
            <p:cNvPr id="438" name="Google Shape;438;p35"/>
            <p:cNvSpPr txBox="1"/>
            <p:nvPr/>
          </p:nvSpPr>
          <p:spPr>
            <a:xfrm>
              <a:off x="1776" y="2112"/>
              <a:ext cx="1632" cy="294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This </a:t>
              </a:r>
              <a:r>
                <a:rPr b="1" i="0" lang="en-US" sz="1200" u="none" cap="none" strike="noStrike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cout </a:t>
              </a:r>
              <a:r>
                <a:rPr b="0" i="0" lang="en-US" sz="1200" u="none" cap="none" strike="noStrik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doesn’t belong to </a:t>
              </a:r>
              <a:r>
                <a:rPr b="1" i="0" lang="en-US" sz="1200" u="none" cap="none" strike="noStrike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  </a:t>
              </a:r>
              <a:r>
                <a:rPr b="0" i="0" lang="en-US" sz="1200" u="none" cap="none" strike="noStrike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part</a:t>
              </a:r>
              <a:r>
                <a:rPr b="0" i="0" lang="en-US" sz="1200" u="none" cap="none" strike="noStrik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9" name="Google Shape;439;p35"/>
            <p:cNvCxnSpPr/>
            <p:nvPr/>
          </p:nvCxnSpPr>
          <p:spPr>
            <a:xfrm rot="10800000">
              <a:off x="1152" y="1872"/>
              <a:ext cx="624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40" name="Google Shape;440;p35"/>
          <p:cNvSpPr/>
          <p:nvPr/>
        </p:nvSpPr>
        <p:spPr>
          <a:xfrm>
            <a:off x="5334000" y="1438275"/>
            <a:ext cx="10525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Let say x=5,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5"/>
          <p:cNvSpPr txBox="1"/>
          <p:nvPr/>
        </p:nvSpPr>
        <p:spPr>
          <a:xfrm>
            <a:off x="5448300" y="1930400"/>
            <a:ext cx="952500" cy="4064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5"/>
          <p:cNvSpPr/>
          <p:nvPr/>
        </p:nvSpPr>
        <p:spPr>
          <a:xfrm>
            <a:off x="7010400" y="1438275"/>
            <a:ext cx="10525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Let say x=1,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5"/>
          <p:cNvSpPr txBox="1"/>
          <p:nvPr/>
        </p:nvSpPr>
        <p:spPr>
          <a:xfrm>
            <a:off x="7124700" y="1930400"/>
            <a:ext cx="952500" cy="7112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6"/>
          <p:cNvSpPr/>
          <p:nvPr/>
        </p:nvSpPr>
        <p:spPr>
          <a:xfrm>
            <a:off x="685800" y="1752600"/>
            <a:ext cx="3962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Simplifying conditions: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9" name="Google Shape;449;p36"/>
          <p:cNvSpPr txBox="1"/>
          <p:nvPr/>
        </p:nvSpPr>
        <p:spPr>
          <a:xfrm>
            <a:off x="2385060" y="457200"/>
            <a:ext cx="6680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Simplifying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6"/>
          <p:cNvSpPr txBox="1"/>
          <p:nvPr/>
        </p:nvSpPr>
        <p:spPr>
          <a:xfrm>
            <a:off x="1143000" y="2590800"/>
            <a:ext cx="2362200" cy="7000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 != 0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statement;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6"/>
          <p:cNvSpPr txBox="1"/>
          <p:nvPr/>
        </p:nvSpPr>
        <p:spPr>
          <a:xfrm>
            <a:off x="1143000" y="3441700"/>
            <a:ext cx="2362200" cy="7000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 &gt; 0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statement;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6"/>
          <p:cNvSpPr txBox="1"/>
          <p:nvPr/>
        </p:nvSpPr>
        <p:spPr>
          <a:xfrm>
            <a:off x="1143000" y="4279900"/>
            <a:ext cx="2362200" cy="7000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 &lt; 0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statement;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6"/>
          <p:cNvSpPr txBox="1"/>
          <p:nvPr/>
        </p:nvSpPr>
        <p:spPr>
          <a:xfrm>
            <a:off x="5105400" y="3200400"/>
            <a:ext cx="2362200" cy="7000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statement;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" name="Google Shape;454;p36"/>
          <p:cNvCxnSpPr/>
          <p:nvPr/>
        </p:nvCxnSpPr>
        <p:spPr>
          <a:xfrm>
            <a:off x="3581400" y="3048000"/>
            <a:ext cx="1524000" cy="38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5" name="Google Shape;455;p36"/>
          <p:cNvCxnSpPr/>
          <p:nvPr/>
        </p:nvCxnSpPr>
        <p:spPr>
          <a:xfrm flipH="1" rot="10800000">
            <a:off x="3505200" y="3505200"/>
            <a:ext cx="1600200" cy="30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6" name="Google Shape;456;p36"/>
          <p:cNvSpPr/>
          <p:nvPr/>
        </p:nvSpPr>
        <p:spPr>
          <a:xfrm>
            <a:off x="1206500" y="2197100"/>
            <a:ext cx="2514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Original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7" name="Google Shape;457;p36"/>
          <p:cNvSpPr/>
          <p:nvPr/>
        </p:nvSpPr>
        <p:spPr>
          <a:xfrm>
            <a:off x="5080000" y="2209800"/>
            <a:ext cx="2514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Simplified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58" name="Google Shape;458;p36"/>
          <p:cNvCxnSpPr/>
          <p:nvPr/>
        </p:nvCxnSpPr>
        <p:spPr>
          <a:xfrm flipH="1" rot="10800000">
            <a:off x="3505200" y="3657600"/>
            <a:ext cx="1600200" cy="914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9" name="Google Shape;459;p36"/>
          <p:cNvSpPr txBox="1"/>
          <p:nvPr/>
        </p:nvSpPr>
        <p:spPr>
          <a:xfrm>
            <a:off x="1219200" y="5727700"/>
            <a:ext cx="2362200" cy="7000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 == 0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statement;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6"/>
          <p:cNvSpPr txBox="1"/>
          <p:nvPr/>
        </p:nvSpPr>
        <p:spPr>
          <a:xfrm>
            <a:off x="5105400" y="5715000"/>
            <a:ext cx="2362200" cy="7000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!a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statement;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" name="Google Shape;461;p36"/>
          <p:cNvCxnSpPr/>
          <p:nvPr/>
        </p:nvCxnSpPr>
        <p:spPr>
          <a:xfrm>
            <a:off x="3581400" y="6019800"/>
            <a:ext cx="1447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7"/>
          <p:cNvSpPr/>
          <p:nvPr/>
        </p:nvSpPr>
        <p:spPr>
          <a:xfrm>
            <a:off x="533400" y="1692275"/>
            <a:ext cx="6629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1 : print a number only if it is an </a:t>
            </a:r>
            <a:r>
              <a:rPr b="0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odd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7" name="Google Shape;467;p37"/>
          <p:cNvSpPr txBox="1"/>
          <p:nvPr/>
        </p:nvSpPr>
        <p:spPr>
          <a:xfrm>
            <a:off x="762000" y="777875"/>
            <a:ext cx="7772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Simplifying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7"/>
          <p:cNvSpPr/>
          <p:nvPr/>
        </p:nvSpPr>
        <p:spPr>
          <a:xfrm>
            <a:off x="1054100" y="2136775"/>
            <a:ext cx="2514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Original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9" name="Google Shape;469;p37"/>
          <p:cNvSpPr/>
          <p:nvPr/>
        </p:nvSpPr>
        <p:spPr>
          <a:xfrm>
            <a:off x="4927600" y="2149475"/>
            <a:ext cx="2514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Simplified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0" name="Google Shape;470;p37"/>
          <p:cNvSpPr txBox="1"/>
          <p:nvPr/>
        </p:nvSpPr>
        <p:spPr>
          <a:xfrm>
            <a:off x="990600" y="3000375"/>
            <a:ext cx="2362200" cy="6318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n%2==1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 &lt;&lt; n;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7"/>
          <p:cNvSpPr txBox="1"/>
          <p:nvPr/>
        </p:nvSpPr>
        <p:spPr>
          <a:xfrm>
            <a:off x="4876800" y="2987675"/>
            <a:ext cx="2362200" cy="6699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n%2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p37"/>
          <p:cNvCxnSpPr/>
          <p:nvPr/>
        </p:nvCxnSpPr>
        <p:spPr>
          <a:xfrm>
            <a:off x="3352800" y="3292475"/>
            <a:ext cx="1447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3" name="Google Shape;473;p37"/>
          <p:cNvSpPr/>
          <p:nvPr/>
        </p:nvSpPr>
        <p:spPr>
          <a:xfrm>
            <a:off x="685800" y="4130675"/>
            <a:ext cx="6629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2: print a number only if it is an </a:t>
            </a:r>
            <a:r>
              <a:rPr b="0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even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4" name="Google Shape;474;p37"/>
          <p:cNvSpPr/>
          <p:nvPr/>
        </p:nvSpPr>
        <p:spPr>
          <a:xfrm>
            <a:off x="1206500" y="4575175"/>
            <a:ext cx="2514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Original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5" name="Google Shape;475;p37"/>
          <p:cNvSpPr/>
          <p:nvPr/>
        </p:nvSpPr>
        <p:spPr>
          <a:xfrm>
            <a:off x="5080000" y="4587875"/>
            <a:ext cx="2514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Simplified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6" name="Google Shape;476;p37"/>
          <p:cNvSpPr txBox="1"/>
          <p:nvPr/>
        </p:nvSpPr>
        <p:spPr>
          <a:xfrm>
            <a:off x="1143000" y="5438775"/>
            <a:ext cx="2362200" cy="6318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n%2==0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cout &lt;&lt; n;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7"/>
          <p:cNvSpPr txBox="1"/>
          <p:nvPr/>
        </p:nvSpPr>
        <p:spPr>
          <a:xfrm>
            <a:off x="5029200" y="5426075"/>
            <a:ext cx="2362200" cy="6699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!(n%2)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p37"/>
          <p:cNvCxnSpPr/>
          <p:nvPr/>
        </p:nvCxnSpPr>
        <p:spPr>
          <a:xfrm>
            <a:off x="3505200" y="5730875"/>
            <a:ext cx="1447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8"/>
          <p:cNvSpPr/>
          <p:nvPr/>
        </p:nvSpPr>
        <p:spPr>
          <a:xfrm>
            <a:off x="762000" y="1652587"/>
            <a:ext cx="3962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Conditional Expressions: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4" name="Google Shape;484;p38"/>
          <p:cNvSpPr txBox="1"/>
          <p:nvPr/>
        </p:nvSpPr>
        <p:spPr>
          <a:xfrm>
            <a:off x="1447800" y="762000"/>
            <a:ext cx="7467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Simplifying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Google Shape;48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414587"/>
            <a:ext cx="7427913" cy="3529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9"/>
          <p:cNvSpPr/>
          <p:nvPr/>
        </p:nvSpPr>
        <p:spPr>
          <a:xfrm>
            <a:off x="762000" y="2822575"/>
            <a:ext cx="1600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1" name="Google Shape;491;p39"/>
          <p:cNvSpPr txBox="1"/>
          <p:nvPr/>
        </p:nvSpPr>
        <p:spPr>
          <a:xfrm>
            <a:off x="762000" y="841375"/>
            <a:ext cx="7772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Simplifying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9"/>
          <p:cNvSpPr txBox="1"/>
          <p:nvPr/>
        </p:nvSpPr>
        <p:spPr>
          <a:xfrm>
            <a:off x="2438400" y="2903538"/>
            <a:ext cx="4191000" cy="376237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 ? value1 : value2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9"/>
          <p:cNvSpPr/>
          <p:nvPr/>
        </p:nvSpPr>
        <p:spPr>
          <a:xfrm>
            <a:off x="914400" y="4346575"/>
            <a:ext cx="1295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4" name="Google Shape;494;p39"/>
          <p:cNvSpPr txBox="1"/>
          <p:nvPr/>
        </p:nvSpPr>
        <p:spPr>
          <a:xfrm>
            <a:off x="914400" y="4879975"/>
            <a:ext cx="3200400" cy="3460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 =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(p&lt;5) ?  q + 1  : 5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9"/>
          <p:cNvSpPr txBox="1"/>
          <p:nvPr/>
        </p:nvSpPr>
        <p:spPr>
          <a:xfrm>
            <a:off x="6172200" y="4422775"/>
            <a:ext cx="2362200" cy="15208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p&lt;5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 =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q + 1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 =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39"/>
          <p:cNvCxnSpPr/>
          <p:nvPr/>
        </p:nvCxnSpPr>
        <p:spPr>
          <a:xfrm>
            <a:off x="4267200" y="2517775"/>
            <a:ext cx="228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7" name="Google Shape;497;p39"/>
          <p:cNvSpPr txBox="1"/>
          <p:nvPr/>
        </p:nvSpPr>
        <p:spPr>
          <a:xfrm>
            <a:off x="3200400" y="2022475"/>
            <a:ext cx="20574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If the condition is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4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, take the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value1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9"/>
          <p:cNvSpPr/>
          <p:nvPr/>
        </p:nvSpPr>
        <p:spPr>
          <a:xfrm>
            <a:off x="685800" y="1679575"/>
            <a:ext cx="279082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Conditional Expressions: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9" name="Google Shape;499;p39"/>
          <p:cNvCxnSpPr/>
          <p:nvPr/>
        </p:nvCxnSpPr>
        <p:spPr>
          <a:xfrm flipH="1">
            <a:off x="6184900" y="2568575"/>
            <a:ext cx="381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0" name="Google Shape;500;p39"/>
          <p:cNvSpPr txBox="1"/>
          <p:nvPr/>
        </p:nvSpPr>
        <p:spPr>
          <a:xfrm>
            <a:off x="5715000" y="2047875"/>
            <a:ext cx="22098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If the condition is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z="14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, take the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value2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501" name="Google Shape;501;p39"/>
          <p:cNvCxnSpPr/>
          <p:nvPr/>
        </p:nvCxnSpPr>
        <p:spPr>
          <a:xfrm>
            <a:off x="4267200" y="5108575"/>
            <a:ext cx="1828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2" name="Google Shape;502;p39"/>
          <p:cNvSpPr txBox="1"/>
          <p:nvPr/>
        </p:nvSpPr>
        <p:spPr>
          <a:xfrm>
            <a:off x="4191000" y="4575175"/>
            <a:ext cx="17526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This statement means</a:t>
            </a:r>
            <a:endParaRPr b="0" i="0" sz="14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0"/>
          <p:cNvSpPr txBox="1"/>
          <p:nvPr/>
        </p:nvSpPr>
        <p:spPr>
          <a:xfrm>
            <a:off x="685800" y="762000"/>
            <a:ext cx="7772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there are many nested if/else statements, you may be able to replace them with a switch statement: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0"/>
          <p:cNvSpPr txBox="1"/>
          <p:nvPr/>
        </p:nvSpPr>
        <p:spPr>
          <a:xfrm>
            <a:off x="254000" y="1946275"/>
            <a:ext cx="3860800" cy="30257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letter_grade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“Excellent!";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if (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letter_grade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'B'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"Very good!";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if (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letter_grade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'C'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"Good";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if (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letter_grade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'D'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"Adequate";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"Fail";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9" name="Google Shape;509;p40"/>
          <p:cNvCxnSpPr/>
          <p:nvPr/>
        </p:nvCxnSpPr>
        <p:spPr>
          <a:xfrm>
            <a:off x="4152900" y="3429000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0" name="Google Shape;510;p40"/>
          <p:cNvSpPr txBox="1"/>
          <p:nvPr/>
        </p:nvSpPr>
        <p:spPr>
          <a:xfrm>
            <a:off x="4649788" y="1447800"/>
            <a:ext cx="4105275" cy="51181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letter_grade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'A‘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 cout &lt;&lt;"Excellent!";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'B'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 cout &lt;&lt;“Very good!";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'C'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 cout &lt;&lt;"Good";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'D'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 cout &lt;&lt;"Adequate";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: cout &lt;&lt;"Fail";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1" name="Google Shape;511;p40"/>
          <p:cNvSpPr txBox="1"/>
          <p:nvPr/>
        </p:nvSpPr>
        <p:spPr>
          <a:xfrm>
            <a:off x="2438400" y="76200"/>
            <a:ext cx="6096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1"/>
          <p:cNvSpPr txBox="1"/>
          <p:nvPr/>
        </p:nvSpPr>
        <p:spPr>
          <a:xfrm>
            <a:off x="381000" y="1454150"/>
            <a:ext cx="4016375" cy="33972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 (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expression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case </a:t>
            </a:r>
            <a:r>
              <a:rPr b="1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value1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statements_1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    </a:t>
            </a:r>
            <a:r>
              <a:rPr b="1" i="0" lang="en-US" sz="18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case </a:t>
            </a:r>
            <a:r>
              <a:rPr b="1" i="0" lang="en-US" sz="1800" u="none" cap="none" strike="noStrike">
                <a:solidFill>
                  <a:srgbClr val="FF3300"/>
                </a:solidFill>
                <a:latin typeface="Courier New"/>
                <a:ea typeface="Courier New"/>
                <a:cs typeface="Courier New"/>
                <a:sym typeface="Courier New"/>
              </a:rPr>
              <a:t>value2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 statements_2;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b="1" i="0" lang="en-US" sz="18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statements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</a:t>
            </a:r>
            <a:r>
              <a:rPr b="1" i="0" lang="en-US" sz="1800" u="none" cap="none" strike="noStrike">
                <a:solidFill>
                  <a:srgbClr val="FF33CC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1"/>
          <p:cNvSpPr txBox="1"/>
          <p:nvPr/>
        </p:nvSpPr>
        <p:spPr>
          <a:xfrm>
            <a:off x="4953000" y="1609725"/>
            <a:ext cx="419100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statement works?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Check the value of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expression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Is it equal to </a:t>
            </a:r>
            <a:r>
              <a:rPr b="1" i="0" lang="en-US" sz="1600" u="none" cap="none" strike="noStrike">
                <a:solidFill>
                  <a:srgbClr val="FF3300"/>
                </a:solidFill>
                <a:latin typeface="Trebuchet MS"/>
                <a:ea typeface="Trebuchet MS"/>
                <a:cs typeface="Trebuchet MS"/>
                <a:sym typeface="Trebuchet MS"/>
              </a:rPr>
              <a:t>value1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?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yes, execute the </a:t>
            </a:r>
            <a:r>
              <a:rPr b="1" i="0" lang="en-US" sz="1600" u="none" cap="none" strike="noStrike">
                <a:solidFill>
                  <a:srgbClr val="FF3300"/>
                </a:solidFill>
                <a:latin typeface="Trebuchet MS"/>
                <a:ea typeface="Trebuchet MS"/>
                <a:cs typeface="Trebuchet MS"/>
                <a:sym typeface="Trebuchet MS"/>
              </a:rPr>
              <a:t>statements_1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b="0" i="0" lang="en-US" sz="1800" u="none" cap="none" strike="noStrike">
                <a:solidFill>
                  <a:srgbClr val="FF33CC"/>
                </a:solidFill>
                <a:latin typeface="Trebuchet MS"/>
                <a:ea typeface="Trebuchet MS"/>
                <a:cs typeface="Trebuchet MS"/>
                <a:sym typeface="Trebuchet MS"/>
              </a:rPr>
              <a:t>break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out  of the switch.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no, is it equal to </a:t>
            </a:r>
            <a:r>
              <a:rPr b="1" i="0" lang="en-US" sz="1600" u="none" cap="none" strike="noStrike">
                <a:solidFill>
                  <a:srgbClr val="FF3300"/>
                </a:solidFill>
                <a:latin typeface="Trebuchet MS"/>
                <a:ea typeface="Trebuchet MS"/>
                <a:cs typeface="Trebuchet MS"/>
                <a:sym typeface="Trebuchet MS"/>
              </a:rPr>
              <a:t>value2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?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it is not equal to any values of the above, execute the </a:t>
            </a:r>
            <a:r>
              <a:rPr b="1" i="0" lang="en-US" sz="1600" u="none" cap="none" strike="noStrike">
                <a:solidFill>
                  <a:srgbClr val="008000"/>
                </a:solidFill>
                <a:latin typeface="Trebuchet MS"/>
                <a:ea typeface="Trebuchet MS"/>
                <a:cs typeface="Trebuchet MS"/>
                <a:sym typeface="Trebuchet MS"/>
              </a:rPr>
              <a:t>default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b="1" i="0" lang="en-US" sz="1600" u="none" cap="none" strike="noStrike">
                <a:solidFill>
                  <a:srgbClr val="008000"/>
                </a:solidFill>
                <a:latin typeface="Trebuchet MS"/>
                <a:ea typeface="Trebuchet MS"/>
                <a:cs typeface="Trebuchet MS"/>
                <a:sym typeface="Trebuchet MS"/>
              </a:rPr>
              <a:t>statements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and then </a:t>
            </a:r>
            <a:r>
              <a:rPr b="0" i="0" lang="en-US" sz="1800" u="none" cap="none" strike="noStrike">
                <a:solidFill>
                  <a:srgbClr val="FF33CC"/>
                </a:solidFill>
                <a:latin typeface="Trebuchet MS"/>
                <a:ea typeface="Trebuchet MS"/>
                <a:cs typeface="Trebuchet MS"/>
                <a:sym typeface="Trebuchet MS"/>
              </a:rPr>
              <a:t>break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out of the  switch.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8" name="Google Shape;518;p41"/>
          <p:cNvSpPr txBox="1"/>
          <p:nvPr/>
        </p:nvSpPr>
        <p:spPr>
          <a:xfrm>
            <a:off x="2590800" y="228600"/>
            <a:ext cx="5943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2"/>
          <p:cNvSpPr txBox="1"/>
          <p:nvPr/>
        </p:nvSpPr>
        <p:spPr>
          <a:xfrm>
            <a:off x="2667000" y="1314450"/>
            <a:ext cx="6019800" cy="36718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value 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 (value)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case 1: cout &lt;&lt; “One”;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case 2: cout &lt;&lt; “Two”;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default : cout &lt;&lt; “Neither One nor Two”;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2"/>
          <p:cNvSpPr txBox="1"/>
          <p:nvPr/>
        </p:nvSpPr>
        <p:spPr>
          <a:xfrm>
            <a:off x="2286000" y="323850"/>
            <a:ext cx="6248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5" name="Google Shape;525;p42"/>
          <p:cNvCxnSpPr/>
          <p:nvPr/>
        </p:nvCxnSpPr>
        <p:spPr>
          <a:xfrm flipH="1">
            <a:off x="4343400" y="1771650"/>
            <a:ext cx="3048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6" name="Google Shape;526;p42"/>
          <p:cNvSpPr txBox="1"/>
          <p:nvPr/>
        </p:nvSpPr>
        <p:spPr>
          <a:xfrm>
            <a:off x="4648200" y="1695450"/>
            <a:ext cx="12192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evaluates to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" name="Google Shape;527;p42"/>
          <p:cNvCxnSpPr/>
          <p:nvPr/>
        </p:nvCxnSpPr>
        <p:spPr>
          <a:xfrm flipH="1" rot="10800000">
            <a:off x="2209800" y="2686050"/>
            <a:ext cx="13716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8" name="Google Shape;528;p42"/>
          <p:cNvSpPr txBox="1"/>
          <p:nvPr/>
        </p:nvSpPr>
        <p:spPr>
          <a:xfrm>
            <a:off x="838200" y="2609850"/>
            <a:ext cx="1447800" cy="11969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it is equal to this case-value (i.e. 1==1).  So, execute the statements of   ‘case 1’.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" name="Google Shape;529;p42"/>
          <p:cNvCxnSpPr/>
          <p:nvPr/>
        </p:nvCxnSpPr>
        <p:spPr>
          <a:xfrm rot="10800000">
            <a:off x="5943600" y="260985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0" name="Google Shape;530;p42"/>
          <p:cNvSpPr txBox="1"/>
          <p:nvPr/>
        </p:nvSpPr>
        <p:spPr>
          <a:xfrm>
            <a:off x="6324600" y="2457450"/>
            <a:ext cx="12192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Prints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One</a:t>
            </a:r>
            <a:endParaRPr b="0" i="0" sz="12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1" name="Google Shape;531;p42"/>
          <p:cNvSpPr/>
          <p:nvPr/>
        </p:nvSpPr>
        <p:spPr>
          <a:xfrm>
            <a:off x="2971800" y="2914650"/>
            <a:ext cx="2362200" cy="1981200"/>
          </a:xfrm>
          <a:custGeom>
            <a:rect b="b" l="l" r="r" t="t"/>
            <a:pathLst>
              <a:path extrusionOk="0" h="1296" w="1504">
                <a:moveTo>
                  <a:pt x="1152" y="0"/>
                </a:moveTo>
                <a:cubicBezTo>
                  <a:pt x="1220" y="36"/>
                  <a:pt x="1288" y="72"/>
                  <a:pt x="1344" y="144"/>
                </a:cubicBezTo>
                <a:cubicBezTo>
                  <a:pt x="1400" y="216"/>
                  <a:pt x="1472" y="344"/>
                  <a:pt x="1488" y="432"/>
                </a:cubicBezTo>
                <a:cubicBezTo>
                  <a:pt x="1504" y="520"/>
                  <a:pt x="1488" y="584"/>
                  <a:pt x="1440" y="672"/>
                </a:cubicBezTo>
                <a:cubicBezTo>
                  <a:pt x="1392" y="760"/>
                  <a:pt x="1304" y="880"/>
                  <a:pt x="1200" y="960"/>
                </a:cubicBezTo>
                <a:cubicBezTo>
                  <a:pt x="1096" y="1040"/>
                  <a:pt x="1016" y="1096"/>
                  <a:pt x="816" y="1152"/>
                </a:cubicBezTo>
                <a:cubicBezTo>
                  <a:pt x="616" y="1208"/>
                  <a:pt x="308" y="1252"/>
                  <a:pt x="0" y="1296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2"/>
          <p:cNvSpPr txBox="1"/>
          <p:nvPr/>
        </p:nvSpPr>
        <p:spPr>
          <a:xfrm>
            <a:off x="2895600" y="5276850"/>
            <a:ext cx="1981200" cy="12001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3" name="Google Shape;533;p42"/>
          <p:cNvSpPr txBox="1"/>
          <p:nvPr/>
        </p:nvSpPr>
        <p:spPr>
          <a:xfrm>
            <a:off x="5029200" y="2914650"/>
            <a:ext cx="19812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break out of the 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2"/>
          <p:cNvSpPr/>
          <p:nvPr/>
        </p:nvSpPr>
        <p:spPr>
          <a:xfrm>
            <a:off x="609600" y="857250"/>
            <a:ext cx="1447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3"/>
          <p:cNvSpPr txBox="1"/>
          <p:nvPr/>
        </p:nvSpPr>
        <p:spPr>
          <a:xfrm>
            <a:off x="2667000" y="1295400"/>
            <a:ext cx="6019800" cy="36718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value 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 (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value + 1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case 1: cout &lt;&lt; “One”;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case 2: cout &lt;&lt; “Two”;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default : cout &lt;&lt; “Neither One nor Two”;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3"/>
          <p:cNvSpPr txBox="1"/>
          <p:nvPr/>
        </p:nvSpPr>
        <p:spPr>
          <a:xfrm>
            <a:off x="2438400" y="304800"/>
            <a:ext cx="6096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1" name="Google Shape;541;p43"/>
          <p:cNvCxnSpPr/>
          <p:nvPr/>
        </p:nvCxnSpPr>
        <p:spPr>
          <a:xfrm flipH="1">
            <a:off x="4724400" y="1676400"/>
            <a:ext cx="4572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2" name="Google Shape;542;p43"/>
          <p:cNvSpPr txBox="1"/>
          <p:nvPr/>
        </p:nvSpPr>
        <p:spPr>
          <a:xfrm>
            <a:off x="5105400" y="1371600"/>
            <a:ext cx="1219200" cy="4667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this expression evaluates to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3" name="Google Shape;543;p43"/>
          <p:cNvCxnSpPr/>
          <p:nvPr/>
        </p:nvCxnSpPr>
        <p:spPr>
          <a:xfrm flipH="1" rot="10800000">
            <a:off x="2133600" y="2667000"/>
            <a:ext cx="14478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4" name="Google Shape;544;p43"/>
          <p:cNvSpPr txBox="1"/>
          <p:nvPr/>
        </p:nvSpPr>
        <p:spPr>
          <a:xfrm>
            <a:off x="533400" y="2057400"/>
            <a:ext cx="1600200" cy="11969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it is not equal to this case-value (i.e. 2!=1).  So, skip the statements of ‘case 1’ and  move to the next case.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5" name="Google Shape;545;p43"/>
          <p:cNvCxnSpPr/>
          <p:nvPr/>
        </p:nvCxnSpPr>
        <p:spPr>
          <a:xfrm rot="10800000">
            <a:off x="5943600" y="34290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6" name="Google Shape;546;p43"/>
          <p:cNvSpPr txBox="1"/>
          <p:nvPr/>
        </p:nvSpPr>
        <p:spPr>
          <a:xfrm>
            <a:off x="6324600" y="3276600"/>
            <a:ext cx="12192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Prints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Two</a:t>
            </a:r>
            <a:endParaRPr b="0" i="0" sz="12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7" name="Google Shape;547;p43"/>
          <p:cNvSpPr/>
          <p:nvPr/>
        </p:nvSpPr>
        <p:spPr>
          <a:xfrm>
            <a:off x="2971800" y="3657600"/>
            <a:ext cx="2590800" cy="1143000"/>
          </a:xfrm>
          <a:custGeom>
            <a:rect b="b" l="l" r="r" t="t"/>
            <a:pathLst>
              <a:path extrusionOk="0" h="1296" w="1504">
                <a:moveTo>
                  <a:pt x="1152" y="0"/>
                </a:moveTo>
                <a:cubicBezTo>
                  <a:pt x="1220" y="36"/>
                  <a:pt x="1288" y="72"/>
                  <a:pt x="1344" y="144"/>
                </a:cubicBezTo>
                <a:cubicBezTo>
                  <a:pt x="1400" y="216"/>
                  <a:pt x="1472" y="344"/>
                  <a:pt x="1488" y="432"/>
                </a:cubicBezTo>
                <a:cubicBezTo>
                  <a:pt x="1504" y="520"/>
                  <a:pt x="1488" y="584"/>
                  <a:pt x="1440" y="672"/>
                </a:cubicBezTo>
                <a:cubicBezTo>
                  <a:pt x="1392" y="760"/>
                  <a:pt x="1304" y="880"/>
                  <a:pt x="1200" y="960"/>
                </a:cubicBezTo>
                <a:cubicBezTo>
                  <a:pt x="1096" y="1040"/>
                  <a:pt x="1016" y="1096"/>
                  <a:pt x="816" y="1152"/>
                </a:cubicBezTo>
                <a:cubicBezTo>
                  <a:pt x="616" y="1208"/>
                  <a:pt x="308" y="1252"/>
                  <a:pt x="0" y="1296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3"/>
          <p:cNvSpPr txBox="1"/>
          <p:nvPr/>
        </p:nvSpPr>
        <p:spPr>
          <a:xfrm>
            <a:off x="2895600" y="5257800"/>
            <a:ext cx="1981200" cy="12001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Two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9" name="Google Shape;549;p43"/>
          <p:cNvSpPr txBox="1"/>
          <p:nvPr/>
        </p:nvSpPr>
        <p:spPr>
          <a:xfrm>
            <a:off x="5562600" y="3733800"/>
            <a:ext cx="19812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break out of the 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43"/>
          <p:cNvCxnSpPr/>
          <p:nvPr/>
        </p:nvCxnSpPr>
        <p:spPr>
          <a:xfrm flipH="1" rot="10800000">
            <a:off x="2070100" y="3505200"/>
            <a:ext cx="151130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1" name="Google Shape;551;p43"/>
          <p:cNvSpPr txBox="1"/>
          <p:nvPr/>
        </p:nvSpPr>
        <p:spPr>
          <a:xfrm>
            <a:off x="698500" y="3594100"/>
            <a:ext cx="1447800" cy="11969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it is equal to this case-value (i.e. 2==2).  So, execute the statements of   ‘case 2‘.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3"/>
          <p:cNvSpPr/>
          <p:nvPr/>
        </p:nvSpPr>
        <p:spPr>
          <a:xfrm>
            <a:off x="609600" y="838200"/>
            <a:ext cx="1447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4"/>
          <p:cNvSpPr txBox="1"/>
          <p:nvPr/>
        </p:nvSpPr>
        <p:spPr>
          <a:xfrm>
            <a:off x="2667000" y="1066800"/>
            <a:ext cx="6019800" cy="36718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value = 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 (value)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case 1: cout &lt;&lt; “One”;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case 2: cout &lt;&lt; “Two”;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default : cout &lt;&lt; “Neither One nor Two”;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4"/>
          <p:cNvSpPr txBox="1"/>
          <p:nvPr/>
        </p:nvSpPr>
        <p:spPr>
          <a:xfrm>
            <a:off x="2667000" y="152400"/>
            <a:ext cx="5867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9" name="Google Shape;559;p44"/>
          <p:cNvCxnSpPr/>
          <p:nvPr/>
        </p:nvCxnSpPr>
        <p:spPr>
          <a:xfrm flipH="1">
            <a:off x="4470400" y="1485900"/>
            <a:ext cx="4572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0" name="Google Shape;560;p44"/>
          <p:cNvSpPr txBox="1"/>
          <p:nvPr/>
        </p:nvSpPr>
        <p:spPr>
          <a:xfrm>
            <a:off x="4902200" y="1295400"/>
            <a:ext cx="12192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evaluates to 5</a:t>
            </a:r>
            <a:endParaRPr b="1" i="0" sz="12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561" name="Google Shape;561;p44"/>
          <p:cNvCxnSpPr/>
          <p:nvPr/>
        </p:nvCxnSpPr>
        <p:spPr>
          <a:xfrm flipH="1" rot="10800000">
            <a:off x="2133600" y="2438400"/>
            <a:ext cx="1447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2" name="Google Shape;562;p44"/>
          <p:cNvSpPr txBox="1"/>
          <p:nvPr/>
        </p:nvSpPr>
        <p:spPr>
          <a:xfrm>
            <a:off x="673100" y="2247900"/>
            <a:ext cx="1447800" cy="15621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switch expression (i.e. 5) is not equal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both cases (i.e 5!=1 and 5!=2). So, their statements are skipped.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3" name="Google Shape;563;p44"/>
          <p:cNvCxnSpPr/>
          <p:nvPr/>
        </p:nvCxnSpPr>
        <p:spPr>
          <a:xfrm rot="10800000">
            <a:off x="6477000" y="41148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4" name="Google Shape;564;p44"/>
          <p:cNvSpPr txBox="1"/>
          <p:nvPr/>
        </p:nvSpPr>
        <p:spPr>
          <a:xfrm>
            <a:off x="7239000" y="4191000"/>
            <a:ext cx="1371600" cy="4667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Prints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Neither One nor Two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4"/>
          <p:cNvSpPr txBox="1"/>
          <p:nvPr/>
        </p:nvSpPr>
        <p:spPr>
          <a:xfrm>
            <a:off x="2895600" y="5029200"/>
            <a:ext cx="3657600" cy="12001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Neither One nor Two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6" name="Google Shape;566;p44"/>
          <p:cNvSpPr txBox="1"/>
          <p:nvPr/>
        </p:nvSpPr>
        <p:spPr>
          <a:xfrm>
            <a:off x="4876800" y="4381500"/>
            <a:ext cx="19812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break out of the 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7" name="Google Shape;567;p44"/>
          <p:cNvCxnSpPr/>
          <p:nvPr/>
        </p:nvCxnSpPr>
        <p:spPr>
          <a:xfrm>
            <a:off x="2133600" y="2819400"/>
            <a:ext cx="1447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8" name="Google Shape;568;p44"/>
          <p:cNvSpPr txBox="1"/>
          <p:nvPr/>
        </p:nvSpPr>
        <p:spPr>
          <a:xfrm>
            <a:off x="609600" y="4038600"/>
            <a:ext cx="1447800" cy="8318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When the ‘default case’ is reached, its statements are always executed.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4"/>
          <p:cNvSpPr/>
          <p:nvPr/>
        </p:nvSpPr>
        <p:spPr>
          <a:xfrm>
            <a:off x="2971800" y="4419600"/>
            <a:ext cx="1676400" cy="241300"/>
          </a:xfrm>
          <a:custGeom>
            <a:rect b="b" l="l" r="r" t="t"/>
            <a:pathLst>
              <a:path extrusionOk="0" h="152" w="1056">
                <a:moveTo>
                  <a:pt x="1056" y="0"/>
                </a:moveTo>
                <a:cubicBezTo>
                  <a:pt x="1032" y="36"/>
                  <a:pt x="1008" y="72"/>
                  <a:pt x="960" y="96"/>
                </a:cubicBezTo>
                <a:cubicBezTo>
                  <a:pt x="912" y="120"/>
                  <a:pt x="928" y="136"/>
                  <a:pt x="768" y="144"/>
                </a:cubicBezTo>
                <a:cubicBezTo>
                  <a:pt x="608" y="152"/>
                  <a:pt x="304" y="148"/>
                  <a:pt x="0" y="144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0" name="Google Shape;570;p44"/>
          <p:cNvCxnSpPr/>
          <p:nvPr/>
        </p:nvCxnSpPr>
        <p:spPr>
          <a:xfrm flipH="1" rot="10800000">
            <a:off x="2057400" y="4114800"/>
            <a:ext cx="8382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1" name="Google Shape;571;p44"/>
          <p:cNvSpPr/>
          <p:nvPr/>
        </p:nvSpPr>
        <p:spPr>
          <a:xfrm>
            <a:off x="609600" y="990600"/>
            <a:ext cx="1447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5"/>
          <p:cNvSpPr txBox="1"/>
          <p:nvPr/>
        </p:nvSpPr>
        <p:spPr>
          <a:xfrm>
            <a:off x="2667000" y="1285875"/>
            <a:ext cx="6172200" cy="39465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value 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 (value)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case 1: cout &lt;&lt; “One\n”;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case 2: cout &lt;&lt; “Two\n”;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default : cout &lt;&lt; “Neither One nor Two\n”;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5"/>
          <p:cNvSpPr txBox="1"/>
          <p:nvPr/>
        </p:nvSpPr>
        <p:spPr>
          <a:xfrm>
            <a:off x="2438400" y="295275"/>
            <a:ext cx="6096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8" name="Google Shape;578;p45"/>
          <p:cNvCxnSpPr/>
          <p:nvPr/>
        </p:nvCxnSpPr>
        <p:spPr>
          <a:xfrm flipH="1">
            <a:off x="4470400" y="1704975"/>
            <a:ext cx="4572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9" name="Google Shape;579;p45"/>
          <p:cNvSpPr txBox="1"/>
          <p:nvPr/>
        </p:nvSpPr>
        <p:spPr>
          <a:xfrm>
            <a:off x="4902200" y="1514475"/>
            <a:ext cx="12192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evaluates to 1</a:t>
            </a:r>
            <a:endParaRPr b="1" i="0" sz="12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580" name="Google Shape;580;p45"/>
          <p:cNvCxnSpPr/>
          <p:nvPr/>
        </p:nvCxnSpPr>
        <p:spPr>
          <a:xfrm flipH="1" rot="10800000">
            <a:off x="2133600" y="2657475"/>
            <a:ext cx="1447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1" name="Google Shape;581;p45"/>
          <p:cNvSpPr txBox="1"/>
          <p:nvPr/>
        </p:nvSpPr>
        <p:spPr>
          <a:xfrm>
            <a:off x="673100" y="2466975"/>
            <a:ext cx="1447800" cy="137953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it is equal to this case-value (i.e. 1==1).  So, execute the statements of the  ‘case 1’.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582" name="Google Shape;582;p45"/>
          <p:cNvCxnSpPr/>
          <p:nvPr/>
        </p:nvCxnSpPr>
        <p:spPr>
          <a:xfrm rot="10800000">
            <a:off x="5943600" y="2581275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3" name="Google Shape;583;p45"/>
          <p:cNvSpPr txBox="1"/>
          <p:nvPr/>
        </p:nvSpPr>
        <p:spPr>
          <a:xfrm>
            <a:off x="6705600" y="2428875"/>
            <a:ext cx="13716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Prints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5"/>
          <p:cNvSpPr txBox="1"/>
          <p:nvPr/>
        </p:nvSpPr>
        <p:spPr>
          <a:xfrm>
            <a:off x="2895600" y="5400675"/>
            <a:ext cx="2209800" cy="1076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Two</a:t>
            </a:r>
            <a:endParaRPr b="0" i="0" sz="18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5" name="Google Shape;585;p45"/>
          <p:cNvSpPr txBox="1"/>
          <p:nvPr/>
        </p:nvSpPr>
        <p:spPr>
          <a:xfrm>
            <a:off x="4648200" y="3800475"/>
            <a:ext cx="18288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break out of the 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5"/>
          <p:cNvSpPr/>
          <p:nvPr/>
        </p:nvSpPr>
        <p:spPr>
          <a:xfrm>
            <a:off x="2971800" y="3800475"/>
            <a:ext cx="1524000" cy="1295400"/>
          </a:xfrm>
          <a:custGeom>
            <a:rect b="b" l="l" r="r" t="t"/>
            <a:pathLst>
              <a:path extrusionOk="0" h="152" w="1056">
                <a:moveTo>
                  <a:pt x="1056" y="0"/>
                </a:moveTo>
                <a:cubicBezTo>
                  <a:pt x="1032" y="36"/>
                  <a:pt x="1008" y="72"/>
                  <a:pt x="960" y="96"/>
                </a:cubicBezTo>
                <a:cubicBezTo>
                  <a:pt x="912" y="120"/>
                  <a:pt x="928" y="136"/>
                  <a:pt x="768" y="144"/>
                </a:cubicBezTo>
                <a:cubicBezTo>
                  <a:pt x="608" y="152"/>
                  <a:pt x="304" y="148"/>
                  <a:pt x="0" y="144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5"/>
          <p:cNvSpPr/>
          <p:nvPr/>
        </p:nvSpPr>
        <p:spPr>
          <a:xfrm>
            <a:off x="190500" y="993775"/>
            <a:ext cx="2476500" cy="99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What if the </a:t>
            </a:r>
            <a:r>
              <a:rPr b="1" i="1" lang="en-US" sz="16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b="0" i="1" lang="en-US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 statement is not written?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8" name="Google Shape;588;p45"/>
          <p:cNvCxnSpPr/>
          <p:nvPr/>
        </p:nvCxnSpPr>
        <p:spPr>
          <a:xfrm rot="10800000">
            <a:off x="4343400" y="2886075"/>
            <a:ext cx="19812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9" name="Google Shape;589;p45"/>
          <p:cNvSpPr txBox="1"/>
          <p:nvPr/>
        </p:nvSpPr>
        <p:spPr>
          <a:xfrm>
            <a:off x="6324600" y="2809875"/>
            <a:ext cx="2286000" cy="6492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No 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statement here. So, no break out and move to the next line.</a:t>
            </a:r>
            <a:endParaRPr b="1" i="0" sz="12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590" name="Google Shape;590;p45"/>
          <p:cNvCxnSpPr/>
          <p:nvPr/>
        </p:nvCxnSpPr>
        <p:spPr>
          <a:xfrm rot="10800000">
            <a:off x="5943600" y="3495675"/>
            <a:ext cx="6858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1" name="Google Shape;591;p45"/>
          <p:cNvSpPr txBox="1"/>
          <p:nvPr/>
        </p:nvSpPr>
        <p:spPr>
          <a:xfrm>
            <a:off x="6629400" y="3571875"/>
            <a:ext cx="13716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Prints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Two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6"/>
          <p:cNvSpPr txBox="1"/>
          <p:nvPr/>
        </p:nvSpPr>
        <p:spPr>
          <a:xfrm>
            <a:off x="2286000" y="319722"/>
            <a:ext cx="6096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6"/>
          <p:cNvSpPr txBox="1"/>
          <p:nvPr/>
        </p:nvSpPr>
        <p:spPr>
          <a:xfrm>
            <a:off x="685800" y="1358900"/>
            <a:ext cx="8077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switch expression must be of integral type (i.e.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int,char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following examples would be an error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6"/>
          <p:cNvSpPr txBox="1"/>
          <p:nvPr/>
        </p:nvSpPr>
        <p:spPr>
          <a:xfrm>
            <a:off x="762000" y="2286000"/>
            <a:ext cx="3657600" cy="400843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float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point=4.0;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int mark;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switch (</a:t>
            </a: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point</a:t>
            </a: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4   : mark = 100;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3.7 : mark = 80;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default  : mark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6"/>
          <p:cNvSpPr txBox="1"/>
          <p:nvPr/>
        </p:nvSpPr>
        <p:spPr>
          <a:xfrm>
            <a:off x="2438400" y="2819400"/>
            <a:ext cx="1524000" cy="649288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Error!</a:t>
            </a:r>
            <a:r>
              <a:rPr b="0" i="0" lang="en-US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The switch</a:t>
            </a:r>
            <a: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expression cannot be a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0" i="0" lang="en-US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value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0" name="Google Shape;600;p46"/>
          <p:cNvCxnSpPr/>
          <p:nvPr/>
        </p:nvCxnSpPr>
        <p:spPr>
          <a:xfrm flipH="1">
            <a:off x="1981200" y="3200400"/>
            <a:ext cx="4572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1" name="Google Shape;601;p46"/>
          <p:cNvSpPr txBox="1"/>
          <p:nvPr/>
        </p:nvSpPr>
        <p:spPr>
          <a:xfrm>
            <a:off x="4800600" y="2298700"/>
            <a:ext cx="3657600" cy="37893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char name[]</a:t>
            </a: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="Ali";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int mark;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switch (</a:t>
            </a: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"Ali"   : mark=95;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"Aminah": mark=90;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default     : mark=50;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46"/>
          <p:cNvSpPr txBox="1"/>
          <p:nvPr/>
        </p:nvSpPr>
        <p:spPr>
          <a:xfrm>
            <a:off x="6477000" y="3060700"/>
            <a:ext cx="1524000" cy="649288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Error!</a:t>
            </a:r>
            <a:r>
              <a:rPr b="0" i="0" lang="en-US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The switch</a:t>
            </a:r>
            <a: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expression cannot be a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value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3" name="Google Shape;603;p46"/>
          <p:cNvCxnSpPr/>
          <p:nvPr/>
        </p:nvCxnSpPr>
        <p:spPr>
          <a:xfrm flipH="1">
            <a:off x="6019800" y="3238500"/>
            <a:ext cx="4572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7"/>
          <p:cNvSpPr txBox="1"/>
          <p:nvPr/>
        </p:nvSpPr>
        <p:spPr>
          <a:xfrm>
            <a:off x="2590800" y="76200"/>
            <a:ext cx="5943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b="0" i="0" lang="en-US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7"/>
          <p:cNvSpPr txBox="1"/>
          <p:nvPr/>
        </p:nvSpPr>
        <p:spPr>
          <a:xfrm>
            <a:off x="685800" y="825500"/>
            <a:ext cx="8153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case-value must be a constant (literal, memory or defined constant)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following example would be an error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7"/>
          <p:cNvSpPr txBox="1"/>
          <p:nvPr/>
        </p:nvSpPr>
        <p:spPr>
          <a:xfrm>
            <a:off x="3937000" y="1778000"/>
            <a:ext cx="4419600" cy="465931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#define DEFINE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const int const2=2;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int var3 = 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int value;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switch (value)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 case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0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: cout &lt;&lt; "Four";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DEFINE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: cout &lt;&lt; "One";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</a:t>
            </a:r>
            <a:r>
              <a:rPr b="1" i="0" lang="en-US" sz="1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const2 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 cout &lt;&lt; "Two";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var3   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 cout &lt;&lt; "Three";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" name="Google Shape;611;p47"/>
          <p:cNvCxnSpPr/>
          <p:nvPr/>
        </p:nvCxnSpPr>
        <p:spPr>
          <a:xfrm flipH="1" rot="10800000">
            <a:off x="3733800" y="4051300"/>
            <a:ext cx="11430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2" name="Google Shape;612;p47"/>
          <p:cNvCxnSpPr/>
          <p:nvPr/>
        </p:nvCxnSpPr>
        <p:spPr>
          <a:xfrm flipH="1" rot="10800000">
            <a:off x="3733800" y="4572000"/>
            <a:ext cx="1143000" cy="39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3" name="Google Shape;613;p47"/>
          <p:cNvCxnSpPr/>
          <p:nvPr/>
        </p:nvCxnSpPr>
        <p:spPr>
          <a:xfrm flipH="1" rot="10800000">
            <a:off x="3733800" y="5105400"/>
            <a:ext cx="1295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4" name="Google Shape;614;p47"/>
          <p:cNvCxnSpPr/>
          <p:nvPr/>
        </p:nvCxnSpPr>
        <p:spPr>
          <a:xfrm flipH="1" rot="10800000">
            <a:off x="3721100" y="5638800"/>
            <a:ext cx="1231900" cy="4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5" name="Google Shape;615;p47"/>
          <p:cNvSpPr txBox="1"/>
          <p:nvPr/>
        </p:nvSpPr>
        <p:spPr>
          <a:xfrm>
            <a:off x="2374900" y="4140200"/>
            <a:ext cx="13716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literal is 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7"/>
          <p:cNvSpPr txBox="1"/>
          <p:nvPr/>
        </p:nvSpPr>
        <p:spPr>
          <a:xfrm>
            <a:off x="2374900" y="4660900"/>
            <a:ext cx="1371600" cy="4667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defined constant is 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7"/>
          <p:cNvSpPr txBox="1"/>
          <p:nvPr/>
        </p:nvSpPr>
        <p:spPr>
          <a:xfrm>
            <a:off x="2374900" y="5308600"/>
            <a:ext cx="1371600" cy="4667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memory constant is 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7"/>
          <p:cNvSpPr txBox="1"/>
          <p:nvPr/>
        </p:nvSpPr>
        <p:spPr>
          <a:xfrm>
            <a:off x="1905000" y="5943600"/>
            <a:ext cx="1828800" cy="466725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Error!</a:t>
            </a:r>
            <a:r>
              <a:rPr b="0" i="0" lang="en-US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case-value cannot be a variable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8"/>
          <p:cNvSpPr txBox="1"/>
          <p:nvPr>
            <p:ph idx="1" type="body"/>
          </p:nvPr>
        </p:nvSpPr>
        <p:spPr>
          <a:xfrm>
            <a:off x="533400" y="1295400"/>
            <a:ext cx="1295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Pattern 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rebuchet MS"/>
              <a:buNone/>
            </a:pPr>
            <a:r>
              <a:rPr b="1" i="1" lang="en-US" sz="1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4" name="Google Shape;624;p48"/>
          <p:cNvSpPr txBox="1"/>
          <p:nvPr/>
        </p:nvSpPr>
        <p:spPr>
          <a:xfrm>
            <a:off x="4343400" y="2514600"/>
            <a:ext cx="4191000" cy="181451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(condition)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statement;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5" name="Google Shape;625;p48"/>
          <p:cNvSpPr txBox="1"/>
          <p:nvPr>
            <p:ph type="title"/>
          </p:nvPr>
        </p:nvSpPr>
        <p:spPr>
          <a:xfrm>
            <a:off x="2133600" y="381000"/>
            <a:ext cx="64008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latin typeface="Trebuchet MS"/>
                <a:ea typeface="Trebuchet MS"/>
                <a:cs typeface="Trebuchet MS"/>
                <a:sym typeface="Trebuchet MS"/>
              </a:rPr>
              <a:t>Translating flowchart to C++ code</a:t>
            </a:r>
            <a:endParaRPr/>
          </a:p>
        </p:txBody>
      </p:sp>
      <p:graphicFrame>
        <p:nvGraphicFramePr>
          <p:cNvPr id="626" name="Google Shape;626;p48"/>
          <p:cNvGraphicFramePr/>
          <p:nvPr/>
        </p:nvGraphicFramePr>
        <p:xfrm>
          <a:off x="1371600" y="1524000"/>
          <a:ext cx="2651125" cy="4724400"/>
        </p:xfrm>
        <a:graphic>
          <a:graphicData uri="http://schemas.openxmlformats.org/presentationml/2006/ole">
            <mc:AlternateContent>
              <mc:Choice Requires="v">
                <p:oleObj r:id="rId4" imgH="4724400" imgW="2651125" progId="Visio.Drawing.5" spid="_x0000_s1">
                  <p:embed/>
                </p:oleObj>
              </mc:Choice>
              <mc:Fallback>
                <p:oleObj r:id="rId5" imgH="4724400" imgW="2651125" progId="Visio.Drawing.5">
                  <p:embed/>
                  <p:pic>
                    <p:nvPicPr>
                      <p:cNvPr id="626" name="Google Shape;626;p4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371600" y="1524000"/>
                        <a:ext cx="2651125" cy="472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27" name="Google Shape;627;p48"/>
          <p:cNvCxnSpPr/>
          <p:nvPr/>
        </p:nvCxnSpPr>
        <p:spPr>
          <a:xfrm>
            <a:off x="99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8" name="Google Shape;628;p48"/>
          <p:cNvSpPr txBox="1"/>
          <p:nvPr/>
        </p:nvSpPr>
        <p:spPr>
          <a:xfrm>
            <a:off x="152400" y="3429000"/>
            <a:ext cx="1600200" cy="2841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This must be a 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9"/>
          <p:cNvSpPr txBox="1"/>
          <p:nvPr>
            <p:ph idx="1" type="body"/>
          </p:nvPr>
        </p:nvSpPr>
        <p:spPr>
          <a:xfrm>
            <a:off x="304800" y="1219200"/>
            <a:ext cx="7391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Example 1: </a:t>
            </a:r>
            <a:r>
              <a:rPr i="1" lang="en-US" sz="1600">
                <a:latin typeface="Trebuchet MS"/>
                <a:ea typeface="Trebuchet MS"/>
                <a:cs typeface="Trebuchet MS"/>
                <a:sym typeface="Trebuchet MS"/>
              </a:rPr>
              <a:t>Printing a number only if it is a negative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rebuchet MS"/>
              <a:buNone/>
            </a:pPr>
            <a:r>
              <a:rPr b="1" i="1" lang="en-US" sz="1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4" name="Google Shape;634;p49"/>
          <p:cNvSpPr txBox="1"/>
          <p:nvPr/>
        </p:nvSpPr>
        <p:spPr>
          <a:xfrm>
            <a:off x="4419600" y="2362200"/>
            <a:ext cx="4191000" cy="181451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(n&lt;0)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cout &lt;&lt; 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5" name="Google Shape;635;p49"/>
          <p:cNvSpPr txBox="1"/>
          <p:nvPr>
            <p:ph type="title"/>
          </p:nvPr>
        </p:nvSpPr>
        <p:spPr>
          <a:xfrm>
            <a:off x="2514600" y="152400"/>
            <a:ext cx="6477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latin typeface="Trebuchet MS"/>
                <a:ea typeface="Trebuchet MS"/>
                <a:cs typeface="Trebuchet MS"/>
                <a:sym typeface="Trebuchet MS"/>
              </a:rPr>
              <a:t>Translating flowchart to C++ code</a:t>
            </a:r>
            <a:endParaRPr/>
          </a:p>
        </p:txBody>
      </p:sp>
      <p:graphicFrame>
        <p:nvGraphicFramePr>
          <p:cNvPr id="636" name="Google Shape;636;p49"/>
          <p:cNvGraphicFramePr/>
          <p:nvPr/>
        </p:nvGraphicFramePr>
        <p:xfrm>
          <a:off x="914400" y="1524000"/>
          <a:ext cx="3040063" cy="4648200"/>
        </p:xfrm>
        <a:graphic>
          <a:graphicData uri="http://schemas.openxmlformats.org/presentationml/2006/ole">
            <mc:AlternateContent>
              <mc:Choice Requires="v">
                <p:oleObj r:id="rId4" imgH="4648200" imgW="3040063" progId="Visio.Drawing.5" spid="_x0000_s1">
                  <p:embed/>
                </p:oleObj>
              </mc:Choice>
              <mc:Fallback>
                <p:oleObj r:id="rId5" imgH="4648200" imgW="3040063" progId="Visio.Drawing.5">
                  <p:embed/>
                  <p:pic>
                    <p:nvPicPr>
                      <p:cNvPr id="636" name="Google Shape;636;p4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1524000"/>
                        <a:ext cx="3040063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0"/>
          <p:cNvSpPr txBox="1"/>
          <p:nvPr>
            <p:ph idx="1" type="body"/>
          </p:nvPr>
        </p:nvSpPr>
        <p:spPr>
          <a:xfrm>
            <a:off x="304800" y="1447800"/>
            <a:ext cx="1295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Pattern 2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rebuchet MS"/>
              <a:buNone/>
            </a:pPr>
            <a:r>
              <a:rPr b="1" i="1" lang="en-US" sz="1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2" name="Google Shape;642;p50"/>
          <p:cNvSpPr txBox="1"/>
          <p:nvPr/>
        </p:nvSpPr>
        <p:spPr>
          <a:xfrm>
            <a:off x="5105400" y="2362200"/>
            <a:ext cx="3810000" cy="298926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(condition)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statement_1;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statement_2;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50"/>
          <p:cNvSpPr txBox="1"/>
          <p:nvPr>
            <p:ph type="title"/>
          </p:nvPr>
        </p:nvSpPr>
        <p:spPr>
          <a:xfrm>
            <a:off x="2209800" y="457200"/>
            <a:ext cx="6324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Translating flowchart to C++ code</a:t>
            </a:r>
            <a:endParaRPr/>
          </a:p>
        </p:txBody>
      </p:sp>
      <p:graphicFrame>
        <p:nvGraphicFramePr>
          <p:cNvPr id="644" name="Google Shape;644;p50"/>
          <p:cNvGraphicFramePr/>
          <p:nvPr/>
        </p:nvGraphicFramePr>
        <p:xfrm>
          <a:off x="914400" y="1828800"/>
          <a:ext cx="3709988" cy="4114800"/>
        </p:xfrm>
        <a:graphic>
          <a:graphicData uri="http://schemas.openxmlformats.org/presentationml/2006/ole">
            <mc:AlternateContent>
              <mc:Choice Requires="v">
                <p:oleObj r:id="rId4" imgH="4114800" imgW="3709988" progId="Visio.Drawing.5" spid="_x0000_s1">
                  <p:embed/>
                </p:oleObj>
              </mc:Choice>
              <mc:Fallback>
                <p:oleObj r:id="rId5" imgH="4114800" imgW="3709988" progId="Visio.Drawing.5">
                  <p:embed/>
                  <p:pic>
                    <p:nvPicPr>
                      <p:cNvPr id="644" name="Google Shape;644;p5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1828800"/>
                        <a:ext cx="3709988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51"/>
          <p:cNvSpPr txBox="1"/>
          <p:nvPr>
            <p:ph idx="1" type="body"/>
          </p:nvPr>
        </p:nvSpPr>
        <p:spPr>
          <a:xfrm>
            <a:off x="228600" y="990600"/>
            <a:ext cx="7391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Example 2: </a:t>
            </a:r>
            <a:r>
              <a:rPr i="1" lang="en-US" sz="1600">
                <a:latin typeface="Trebuchet MS"/>
                <a:ea typeface="Trebuchet MS"/>
                <a:cs typeface="Trebuchet MS"/>
                <a:sym typeface="Trebuchet MS"/>
              </a:rPr>
              <a:t>If two numbers (p and q) are equivalent reset them to zero, otherwise  exchange or swap their value each other and then print the new values.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rebuchet MS"/>
              <a:buNone/>
            </a:pPr>
            <a:r>
              <a:rPr b="1" i="1" lang="en-US" sz="1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0" name="Google Shape;650;p51"/>
          <p:cNvSpPr txBox="1"/>
          <p:nvPr/>
        </p:nvSpPr>
        <p:spPr>
          <a:xfrm>
            <a:off x="4343400" y="2057400"/>
            <a:ext cx="4191000" cy="357663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(p==q)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q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exchange(&amp;p,&amp;q);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p &lt;&lt; q;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1" name="Google Shape;651;p51"/>
          <p:cNvSpPr txBox="1"/>
          <p:nvPr>
            <p:ph type="title"/>
          </p:nvPr>
        </p:nvSpPr>
        <p:spPr>
          <a:xfrm>
            <a:off x="2438400" y="101600"/>
            <a:ext cx="6096000" cy="5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Translating flowchart to C++ code</a:t>
            </a:r>
            <a:endParaRPr/>
          </a:p>
        </p:txBody>
      </p:sp>
      <p:graphicFrame>
        <p:nvGraphicFramePr>
          <p:cNvPr id="652" name="Google Shape;652;p51"/>
          <p:cNvGraphicFramePr/>
          <p:nvPr/>
        </p:nvGraphicFramePr>
        <p:xfrm>
          <a:off x="533400" y="1828800"/>
          <a:ext cx="2870200" cy="3556000"/>
        </p:xfrm>
        <a:graphic>
          <a:graphicData uri="http://schemas.openxmlformats.org/presentationml/2006/ole">
            <mc:AlternateContent>
              <mc:Choice Requires="v">
                <p:oleObj r:id="rId4" imgH="3556000" imgW="2870200" progId="Visio.Drawing.5" spid="_x0000_s1">
                  <p:embed/>
                </p:oleObj>
              </mc:Choice>
              <mc:Fallback>
                <p:oleObj r:id="rId5" imgH="3556000" imgW="2870200" progId="Visio.Drawing.5">
                  <p:embed/>
                  <p:pic>
                    <p:nvPicPr>
                      <p:cNvPr id="652" name="Google Shape;652;p5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33400" y="1828800"/>
                        <a:ext cx="2870200" cy="355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3" name="Google Shape;653;p51"/>
          <p:cNvSpPr/>
          <p:nvPr/>
        </p:nvSpPr>
        <p:spPr>
          <a:xfrm>
            <a:off x="2438400" y="2743200"/>
            <a:ext cx="1143000" cy="11430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4" name="Google Shape;654;p51"/>
          <p:cNvSpPr/>
          <p:nvPr/>
        </p:nvSpPr>
        <p:spPr>
          <a:xfrm>
            <a:off x="457200" y="3429000"/>
            <a:ext cx="1447800" cy="15240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55" name="Google Shape;655;p51"/>
          <p:cNvCxnSpPr/>
          <p:nvPr/>
        </p:nvCxnSpPr>
        <p:spPr>
          <a:xfrm>
            <a:off x="3657600" y="32766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656" name="Google Shape;656;p51"/>
          <p:cNvCxnSpPr/>
          <p:nvPr/>
        </p:nvCxnSpPr>
        <p:spPr>
          <a:xfrm>
            <a:off x="1981200" y="4495800"/>
            <a:ext cx="259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2"/>
          <p:cNvSpPr txBox="1"/>
          <p:nvPr>
            <p:ph idx="1" type="body"/>
          </p:nvPr>
        </p:nvSpPr>
        <p:spPr>
          <a:xfrm>
            <a:off x="838200" y="838200"/>
            <a:ext cx="1295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Pattern 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rebuchet MS"/>
              <a:buNone/>
            </a:pPr>
            <a:r>
              <a:rPr b="1" i="1" lang="en-US" sz="1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2" name="Google Shape;662;p52"/>
          <p:cNvSpPr txBox="1"/>
          <p:nvPr/>
        </p:nvSpPr>
        <p:spPr>
          <a:xfrm>
            <a:off x="4660900" y="685800"/>
            <a:ext cx="4191000" cy="56324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(condition_1)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statement_1;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if (condition_2)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statement_2;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if (condition_n)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statement_n;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statement_m;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3" name="Google Shape;663;p52"/>
          <p:cNvSpPr txBox="1"/>
          <p:nvPr>
            <p:ph type="title"/>
          </p:nvPr>
        </p:nvSpPr>
        <p:spPr>
          <a:xfrm>
            <a:off x="2590800" y="101600"/>
            <a:ext cx="5943600" cy="5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Translating flowchart to C++ code</a:t>
            </a:r>
            <a:endParaRPr/>
          </a:p>
        </p:txBody>
      </p:sp>
      <p:graphicFrame>
        <p:nvGraphicFramePr>
          <p:cNvPr id="664" name="Google Shape;664;p52"/>
          <p:cNvGraphicFramePr/>
          <p:nvPr/>
        </p:nvGraphicFramePr>
        <p:xfrm>
          <a:off x="552450" y="1273175"/>
          <a:ext cx="3638550" cy="5127625"/>
        </p:xfrm>
        <a:graphic>
          <a:graphicData uri="http://schemas.openxmlformats.org/presentationml/2006/ole">
            <mc:AlternateContent>
              <mc:Choice Requires="v">
                <p:oleObj r:id="rId4" imgH="5127625" imgW="3638550" progId="Visio.Drawing.5" spid="_x0000_s1">
                  <p:embed/>
                </p:oleObj>
              </mc:Choice>
              <mc:Fallback>
                <p:oleObj r:id="rId5" imgH="5127625" imgW="3638550" progId="Visio.Drawing.5">
                  <p:embed/>
                  <p:pic>
                    <p:nvPicPr>
                      <p:cNvPr id="664" name="Google Shape;664;p5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52450" y="1273175"/>
                        <a:ext cx="3638550" cy="512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65" name="Google Shape;665;p52"/>
          <p:cNvCxnSpPr/>
          <p:nvPr/>
        </p:nvCxnSpPr>
        <p:spPr>
          <a:xfrm>
            <a:off x="5334000" y="3124200"/>
            <a:ext cx="0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3"/>
          <p:cNvSpPr txBox="1"/>
          <p:nvPr>
            <p:ph idx="1" type="body"/>
          </p:nvPr>
        </p:nvSpPr>
        <p:spPr>
          <a:xfrm>
            <a:off x="228600" y="609600"/>
            <a:ext cx="7391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rPr b="1" i="1" lang="en-US" sz="1400">
                <a:latin typeface="Trebuchet MS"/>
                <a:ea typeface="Trebuchet MS"/>
                <a:cs typeface="Trebuchet MS"/>
                <a:sym typeface="Trebuchet MS"/>
              </a:rPr>
              <a:t>Example 3: </a:t>
            </a:r>
            <a:r>
              <a:rPr i="1" lang="en-US" sz="1400">
                <a:latin typeface="Trebuchet MS"/>
                <a:ea typeface="Trebuchet MS"/>
                <a:cs typeface="Trebuchet MS"/>
                <a:sym typeface="Trebuchet MS"/>
              </a:rPr>
              <a:t>Identifying the grade of a score</a:t>
            </a:r>
            <a:endParaRPr b="1" i="1"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Trebuchet MS"/>
              <a:buNone/>
            </a:pPr>
            <a:r>
              <a:rPr b="1" i="1" lang="en-US" sz="12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i="1"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1" name="Google Shape;671;p53"/>
          <p:cNvSpPr txBox="1"/>
          <p:nvPr/>
        </p:nvSpPr>
        <p:spPr>
          <a:xfrm>
            <a:off x="4648200" y="1143000"/>
            <a:ext cx="4191000" cy="51704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(score &gt; 90)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grade  = 'A';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if (score &gt; 75)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grade = 'B';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if (score &gt; 60)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grade = 'C';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if (score &gt; 50)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grade = 'D';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grade = 'F';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53"/>
          <p:cNvSpPr txBox="1"/>
          <p:nvPr>
            <p:ph type="title"/>
          </p:nvPr>
        </p:nvSpPr>
        <p:spPr>
          <a:xfrm>
            <a:off x="2514600" y="101600"/>
            <a:ext cx="6248400" cy="43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Translating flowchart to C++ code</a:t>
            </a:r>
            <a:endParaRPr/>
          </a:p>
        </p:txBody>
      </p:sp>
      <p:graphicFrame>
        <p:nvGraphicFramePr>
          <p:cNvPr id="673" name="Google Shape;673;p53"/>
          <p:cNvGraphicFramePr/>
          <p:nvPr/>
        </p:nvGraphicFramePr>
        <p:xfrm>
          <a:off x="457200" y="914400"/>
          <a:ext cx="3200400" cy="5737225"/>
        </p:xfrm>
        <a:graphic>
          <a:graphicData uri="http://schemas.openxmlformats.org/presentationml/2006/ole">
            <mc:AlternateContent>
              <mc:Choice Requires="v">
                <p:oleObj r:id="rId4" imgH="5737225" imgW="3200400" progId="Visio.Drawing.5" spid="_x0000_s1">
                  <p:embed/>
                </p:oleObj>
              </mc:Choice>
              <mc:Fallback>
                <p:oleObj r:id="rId5" imgH="5737225" imgW="3200400" progId="Visio.Drawing.5">
                  <p:embed/>
                  <p:pic>
                    <p:nvPicPr>
                      <p:cNvPr id="673" name="Google Shape;673;p5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57200" y="914400"/>
                        <a:ext cx="3200400" cy="573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4"/>
          <p:cNvSpPr txBox="1"/>
          <p:nvPr>
            <p:ph idx="1" type="body"/>
          </p:nvPr>
        </p:nvSpPr>
        <p:spPr>
          <a:xfrm>
            <a:off x="228600" y="685800"/>
            <a:ext cx="4267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Pattern 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b="1" i="1" lang="en-US" sz="1200">
                <a:latin typeface="Trebuchet MS"/>
                <a:ea typeface="Trebuchet MS"/>
                <a:cs typeface="Trebuchet MS"/>
                <a:sym typeface="Trebuchet MS"/>
              </a:rPr>
              <a:t>The conditions must be in this form: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b="1" i="1" lang="en-US" sz="1200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expression</a:t>
            </a:r>
            <a:r>
              <a:rPr b="1" i="1" lang="en-US" sz="16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1" lang="en-US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==</a:t>
            </a: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 value</a:t>
            </a:r>
            <a:r>
              <a:rPr b="1" i="1" lang="en-US" sz="1200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rebuchet MS"/>
              <a:buNone/>
            </a:pPr>
            <a:r>
              <a:rPr b="1" i="1" lang="en-US" sz="1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9" name="Google Shape;679;p54"/>
          <p:cNvSpPr txBox="1"/>
          <p:nvPr/>
        </p:nvSpPr>
        <p:spPr>
          <a:xfrm>
            <a:off x="4699000" y="1384300"/>
            <a:ext cx="4191000" cy="47513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 (expr)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case val_1 :  statement_1;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case val_2 :  statement_2;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case val_n :  statement_n;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default:      statement_m;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0" name="Google Shape;680;p54"/>
          <p:cNvSpPr txBox="1"/>
          <p:nvPr>
            <p:ph type="title"/>
          </p:nvPr>
        </p:nvSpPr>
        <p:spPr>
          <a:xfrm>
            <a:off x="2438400" y="101600"/>
            <a:ext cx="6096000" cy="50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Translating flowchart to C++ code</a:t>
            </a:r>
            <a:endParaRPr/>
          </a:p>
        </p:txBody>
      </p:sp>
      <p:graphicFrame>
        <p:nvGraphicFramePr>
          <p:cNvPr id="681" name="Google Shape;681;p54"/>
          <p:cNvGraphicFramePr/>
          <p:nvPr/>
        </p:nvGraphicFramePr>
        <p:xfrm>
          <a:off x="381000" y="1295400"/>
          <a:ext cx="3867150" cy="5127625"/>
        </p:xfrm>
        <a:graphic>
          <a:graphicData uri="http://schemas.openxmlformats.org/presentationml/2006/ole">
            <mc:AlternateContent>
              <mc:Choice Requires="v">
                <p:oleObj r:id="rId4" imgH="5127625" imgW="3867150" progId="Visio.Drawing.5" spid="_x0000_s1">
                  <p:embed/>
                </p:oleObj>
              </mc:Choice>
              <mc:Fallback>
                <p:oleObj r:id="rId5" imgH="5127625" imgW="3867150" progId="Visio.Drawing.5">
                  <p:embed/>
                  <p:pic>
                    <p:nvPicPr>
                      <p:cNvPr id="681" name="Google Shape;681;p5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81000" y="1295400"/>
                        <a:ext cx="3867150" cy="512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82" name="Google Shape;682;p54"/>
          <p:cNvCxnSpPr/>
          <p:nvPr/>
        </p:nvCxnSpPr>
        <p:spPr>
          <a:xfrm>
            <a:off x="5384800" y="3289300"/>
            <a:ext cx="0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5"/>
          <p:cNvSpPr txBox="1"/>
          <p:nvPr>
            <p:ph idx="1" type="body"/>
          </p:nvPr>
        </p:nvSpPr>
        <p:spPr>
          <a:xfrm>
            <a:off x="228600" y="609600"/>
            <a:ext cx="7391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rPr b="1" i="1" lang="en-US" sz="1400">
                <a:latin typeface="Trebuchet MS"/>
                <a:ea typeface="Trebuchet MS"/>
                <a:cs typeface="Trebuchet MS"/>
                <a:sym typeface="Trebuchet MS"/>
              </a:rPr>
              <a:t>Example 4: </a:t>
            </a:r>
            <a:r>
              <a:rPr i="1" lang="en-US" sz="1400">
                <a:latin typeface="Trebuchet MS"/>
                <a:ea typeface="Trebuchet MS"/>
                <a:cs typeface="Trebuchet MS"/>
                <a:sym typeface="Trebuchet MS"/>
              </a:rPr>
              <a:t>Printing the description of a grade.</a:t>
            </a:r>
            <a:endParaRPr b="1" i="1"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Trebuchet MS"/>
              <a:buNone/>
            </a:pPr>
            <a:r>
              <a:rPr b="1" i="1" lang="en-US" sz="12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i="1"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8" name="Google Shape;688;p55"/>
          <p:cNvSpPr txBox="1"/>
          <p:nvPr/>
        </p:nvSpPr>
        <p:spPr>
          <a:xfrm>
            <a:off x="4648200" y="1219200"/>
            <a:ext cx="4191000" cy="49149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switch (grade)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case 'A‘ : cout &lt;&lt; "Excellent!";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case 'B' : cout &lt;&lt; "Very good!";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case 'C' : cout &lt;&lt; "Good";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case 'D' : cout &lt;&lt; "Adequate";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default  : cout &lt;&lt; "Fail";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9" name="Google Shape;689;p55"/>
          <p:cNvSpPr txBox="1"/>
          <p:nvPr>
            <p:ph type="title"/>
          </p:nvPr>
        </p:nvSpPr>
        <p:spPr>
          <a:xfrm>
            <a:off x="2514600" y="165100"/>
            <a:ext cx="6096000" cy="43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Translating flowchart to C++ code</a:t>
            </a:r>
            <a:endParaRPr/>
          </a:p>
        </p:txBody>
      </p:sp>
      <p:graphicFrame>
        <p:nvGraphicFramePr>
          <p:cNvPr id="690" name="Google Shape;690;p55"/>
          <p:cNvGraphicFramePr/>
          <p:nvPr/>
        </p:nvGraphicFramePr>
        <p:xfrm>
          <a:off x="533400" y="914400"/>
          <a:ext cx="3475038" cy="5661025"/>
        </p:xfrm>
        <a:graphic>
          <a:graphicData uri="http://schemas.openxmlformats.org/presentationml/2006/ole">
            <mc:AlternateContent>
              <mc:Choice Requires="v">
                <p:oleObj r:id="rId4" imgH="5661025" imgW="3475038" progId="Visio.Drawing.5" spid="_x0000_s1">
                  <p:embed/>
                </p:oleObj>
              </mc:Choice>
              <mc:Fallback>
                <p:oleObj r:id="rId5" imgH="5661025" imgW="3475038" progId="Visio.Drawing.5">
                  <p:embed/>
                  <p:pic>
                    <p:nvPicPr>
                      <p:cNvPr id="690" name="Google Shape;690;p5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33400" y="914400"/>
                        <a:ext cx="3475038" cy="566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Loop / Repetition</a:t>
            </a:r>
            <a:endParaRPr/>
          </a:p>
        </p:txBody>
      </p:sp>
      <p:sp>
        <p:nvSpPr>
          <p:cNvPr id="696" name="Google Shape;696;p56"/>
          <p:cNvSpPr txBox="1"/>
          <p:nvPr/>
        </p:nvSpPr>
        <p:spPr>
          <a:xfrm>
            <a:off x="3505200" y="5486400"/>
            <a:ext cx="22606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concept of a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6"/>
          <p:cNvSpPr/>
          <p:nvPr/>
        </p:nvSpPr>
        <p:spPr>
          <a:xfrm>
            <a:off x="762000" y="1295400"/>
            <a:ext cx="7924800" cy="193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main idea of a loop is to </a:t>
            </a:r>
            <a:r>
              <a:rPr b="0" i="0" lang="en-US" sz="20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repeat an action or a series of actions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98" name="Google Shape;69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0" y="2286000"/>
            <a:ext cx="3962400" cy="2922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7"/>
          <p:cNvSpPr/>
          <p:nvPr/>
        </p:nvSpPr>
        <p:spPr>
          <a:xfrm>
            <a:off x="762000" y="101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Loops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7"/>
          <p:cNvSpPr/>
          <p:nvPr/>
        </p:nvSpPr>
        <p:spPr>
          <a:xfrm>
            <a:off x="762000" y="1066800"/>
            <a:ext cx="7924800" cy="193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But, when to stop looping?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the following flowchart, the action is executed over and over again. It never stop – This is called an </a:t>
            </a:r>
            <a:r>
              <a:rPr b="0" i="0" lang="en-US" sz="20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infinite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 – put a </a:t>
            </a:r>
            <a:r>
              <a:rPr b="0" i="0" lang="en-US" sz="20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condition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to tell the loop either continue looping or stop.</a:t>
            </a:r>
            <a:endParaRPr b="0" i="0" sz="20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05" name="Google Shape;70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400" y="2819400"/>
            <a:ext cx="3962400" cy="2922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8"/>
          <p:cNvSpPr/>
          <p:nvPr/>
        </p:nvSpPr>
        <p:spPr>
          <a:xfrm>
            <a:off x="4953000" y="1066800"/>
            <a:ext cx="3962400" cy="51816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8"/>
          <p:cNvSpPr txBox="1"/>
          <p:nvPr>
            <p:ph idx="1" type="body"/>
          </p:nvPr>
        </p:nvSpPr>
        <p:spPr>
          <a:xfrm>
            <a:off x="762000" y="1143000"/>
            <a:ext cx="4191000" cy="375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A loop has two parts – </a:t>
            </a: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body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  and </a:t>
            </a: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condition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•"/>
            </a:pP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Body – 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a statement or a block of statements that will be repeated.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•"/>
            </a:pP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Condition – 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is used to control the iteration – either to continue or stop iterating.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2" name="Google Shape;712;p58"/>
          <p:cNvSpPr txBox="1"/>
          <p:nvPr>
            <p:ph type="title"/>
          </p:nvPr>
        </p:nvSpPr>
        <p:spPr>
          <a:xfrm>
            <a:off x="2590800" y="76200"/>
            <a:ext cx="5943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Loops </a:t>
            </a:r>
            <a:endParaRPr/>
          </a:p>
        </p:txBody>
      </p:sp>
      <p:graphicFrame>
        <p:nvGraphicFramePr>
          <p:cNvPr id="713" name="Google Shape;713;p58"/>
          <p:cNvGraphicFramePr/>
          <p:nvPr/>
        </p:nvGraphicFramePr>
        <p:xfrm>
          <a:off x="5029200" y="1219200"/>
          <a:ext cx="3144838" cy="4548188"/>
        </p:xfrm>
        <a:graphic>
          <a:graphicData uri="http://schemas.openxmlformats.org/presentationml/2006/ole">
            <mc:AlternateContent>
              <mc:Choice Requires="v">
                <p:oleObj r:id="rId4" imgH="4548188" imgW="3144838" progId="Visio.Drawing.6" spid="_x0000_s1">
                  <p:embed/>
                </p:oleObj>
              </mc:Choice>
              <mc:Fallback>
                <p:oleObj r:id="rId5" imgH="4548188" imgW="3144838" progId="Visio.Drawing.6">
                  <p:embed/>
                  <p:pic>
                    <p:nvPicPr>
                      <p:cNvPr id="713" name="Google Shape;713;p5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029200" y="1219200"/>
                        <a:ext cx="3144838" cy="454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9"/>
          <p:cNvSpPr/>
          <p:nvPr/>
        </p:nvSpPr>
        <p:spPr>
          <a:xfrm>
            <a:off x="4953000" y="1066800"/>
            <a:ext cx="3962400" cy="51816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59"/>
          <p:cNvSpPr txBox="1"/>
          <p:nvPr>
            <p:ph idx="1" type="body"/>
          </p:nvPr>
        </p:nvSpPr>
        <p:spPr>
          <a:xfrm>
            <a:off x="685800" y="838200"/>
            <a:ext cx="411480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Two forms of loop – </a:t>
            </a: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pretest 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loop  and </a:t>
            </a: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post-test 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loop.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•"/>
            </a:pP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Pretest loop 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lang="en-US" sz="18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condition is tested  first,</a:t>
            </a: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  before we start executing the body.</a:t>
            </a:r>
            <a:endParaRPr/>
          </a:p>
          <a:p>
            <a:pPr indent="-1714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The body is executed if the condition is true.</a:t>
            </a:r>
            <a:endParaRPr/>
          </a:p>
          <a:p>
            <a:pPr indent="-1714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After executing the body, the loop repeats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0" name="Google Shape;720;p59"/>
          <p:cNvSpPr txBox="1"/>
          <p:nvPr>
            <p:ph type="title"/>
          </p:nvPr>
        </p:nvSpPr>
        <p:spPr>
          <a:xfrm>
            <a:off x="2514600" y="76200"/>
            <a:ext cx="60198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Types of loop </a:t>
            </a:r>
            <a:endParaRPr/>
          </a:p>
        </p:txBody>
      </p:sp>
      <p:sp>
        <p:nvSpPr>
          <p:cNvPr id="721" name="Google Shape;721;p59"/>
          <p:cNvSpPr txBox="1"/>
          <p:nvPr/>
        </p:nvSpPr>
        <p:spPr>
          <a:xfrm>
            <a:off x="5029200" y="1143000"/>
            <a:ext cx="13716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Pretest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22" name="Google Shape;722;p59"/>
          <p:cNvGraphicFramePr/>
          <p:nvPr/>
        </p:nvGraphicFramePr>
        <p:xfrm>
          <a:off x="5181600" y="1524000"/>
          <a:ext cx="3575050" cy="4419600"/>
        </p:xfrm>
        <a:graphic>
          <a:graphicData uri="http://schemas.openxmlformats.org/presentationml/2006/ole">
            <mc:AlternateContent>
              <mc:Choice Requires="v">
                <p:oleObj r:id="rId4" imgH="4419600" imgW="3575050" progId="Visio.Drawing.6" spid="_x0000_s1">
                  <p:embed/>
                </p:oleObj>
              </mc:Choice>
              <mc:Fallback>
                <p:oleObj r:id="rId5" imgH="4419600" imgW="3575050" progId="Visio.Drawing.6">
                  <p:embed/>
                  <p:pic>
                    <p:nvPicPr>
                      <p:cNvPr id="722" name="Google Shape;722;p5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181600" y="1524000"/>
                        <a:ext cx="3575050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23" name="Google Shape;723;p59"/>
          <p:cNvCxnSpPr/>
          <p:nvPr/>
        </p:nvCxnSpPr>
        <p:spPr>
          <a:xfrm flipH="1">
            <a:off x="7010400" y="3429000"/>
            <a:ext cx="381000" cy="76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4" name="Google Shape;724;p59"/>
          <p:cNvSpPr txBox="1"/>
          <p:nvPr/>
        </p:nvSpPr>
        <p:spPr>
          <a:xfrm>
            <a:off x="7391400" y="32004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Here must be a “True”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0"/>
          <p:cNvSpPr/>
          <p:nvPr/>
        </p:nvSpPr>
        <p:spPr>
          <a:xfrm>
            <a:off x="4953000" y="1066800"/>
            <a:ext cx="3962400" cy="51816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60"/>
          <p:cNvSpPr txBox="1"/>
          <p:nvPr>
            <p:ph idx="1" type="body"/>
          </p:nvPr>
        </p:nvSpPr>
        <p:spPr>
          <a:xfrm>
            <a:off x="685800" y="838200"/>
            <a:ext cx="411480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•"/>
            </a:pP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Post-test loop 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lang="en-US" sz="18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condition is tested  later,</a:t>
            </a: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  after executing the body.</a:t>
            </a:r>
            <a:endParaRPr/>
          </a:p>
          <a:p>
            <a:pPr indent="-1714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If the condition is true, the loop repeats, otherwise it terminates.</a:t>
            </a:r>
            <a:endParaRPr/>
          </a:p>
          <a:p>
            <a:pPr indent="-1714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The body is always executed </a:t>
            </a:r>
            <a:r>
              <a:rPr lang="en-US" sz="18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at least once</a:t>
            </a: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1" name="Google Shape;731;p60"/>
          <p:cNvSpPr txBox="1"/>
          <p:nvPr>
            <p:ph type="title"/>
          </p:nvPr>
        </p:nvSpPr>
        <p:spPr>
          <a:xfrm>
            <a:off x="2590800" y="76200"/>
            <a:ext cx="5943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Types of loop</a:t>
            </a:r>
            <a:endParaRPr/>
          </a:p>
        </p:txBody>
      </p:sp>
      <p:sp>
        <p:nvSpPr>
          <p:cNvPr id="732" name="Google Shape;732;p60"/>
          <p:cNvSpPr txBox="1"/>
          <p:nvPr/>
        </p:nvSpPr>
        <p:spPr>
          <a:xfrm>
            <a:off x="5029200" y="1143000"/>
            <a:ext cx="15414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Post-test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3" name="Google Shape;733;p60"/>
          <p:cNvGraphicFramePr/>
          <p:nvPr/>
        </p:nvGraphicFramePr>
        <p:xfrm>
          <a:off x="5067300" y="1395413"/>
          <a:ext cx="3144838" cy="4548187"/>
        </p:xfrm>
        <a:graphic>
          <a:graphicData uri="http://schemas.openxmlformats.org/presentationml/2006/ole">
            <mc:AlternateContent>
              <mc:Choice Requires="v">
                <p:oleObj r:id="rId4" imgH="4548187" imgW="3144838" progId="Visio.Drawing.6" spid="_x0000_s1">
                  <p:embed/>
                </p:oleObj>
              </mc:Choice>
              <mc:Fallback>
                <p:oleObj r:id="rId5" imgH="4548187" imgW="3144838" progId="Visio.Drawing.6">
                  <p:embed/>
                  <p:pic>
                    <p:nvPicPr>
                      <p:cNvPr id="733" name="Google Shape;733;p6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067300" y="1395413"/>
                        <a:ext cx="3144838" cy="454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34" name="Google Shape;734;p60"/>
          <p:cNvCxnSpPr/>
          <p:nvPr/>
        </p:nvCxnSpPr>
        <p:spPr>
          <a:xfrm flipH="1" rot="10800000">
            <a:off x="5943600" y="4419600"/>
            <a:ext cx="76200" cy="304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5" name="Google Shape;735;p60"/>
          <p:cNvSpPr txBox="1"/>
          <p:nvPr/>
        </p:nvSpPr>
        <p:spPr>
          <a:xfrm>
            <a:off x="5257800" y="4724400"/>
            <a:ext cx="1371600" cy="639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iterating part must be a “True”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1"/>
          <p:cNvSpPr/>
          <p:nvPr/>
        </p:nvSpPr>
        <p:spPr>
          <a:xfrm>
            <a:off x="4953000" y="1600200"/>
            <a:ext cx="3962400" cy="46482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61"/>
          <p:cNvSpPr txBox="1"/>
          <p:nvPr>
            <p:ph idx="1" type="body"/>
          </p:nvPr>
        </p:nvSpPr>
        <p:spPr>
          <a:xfrm>
            <a:off x="685800" y="838200"/>
            <a:ext cx="81534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Beside the body and condition, a loop may have two other parts – </a:t>
            </a: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Initialization 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Updating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2" name="Google Shape;742;p61"/>
          <p:cNvSpPr txBox="1"/>
          <p:nvPr>
            <p:ph type="title"/>
          </p:nvPr>
        </p:nvSpPr>
        <p:spPr>
          <a:xfrm>
            <a:off x="2743200" y="76200"/>
            <a:ext cx="5791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Parts of a loop</a:t>
            </a:r>
            <a:endParaRPr/>
          </a:p>
        </p:txBody>
      </p:sp>
      <p:sp>
        <p:nvSpPr>
          <p:cNvPr id="743" name="Google Shape;743;p61"/>
          <p:cNvSpPr txBox="1"/>
          <p:nvPr/>
        </p:nvSpPr>
        <p:spPr>
          <a:xfrm>
            <a:off x="4953000" y="1676400"/>
            <a:ext cx="1368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Post-test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61"/>
          <p:cNvSpPr/>
          <p:nvPr/>
        </p:nvSpPr>
        <p:spPr>
          <a:xfrm>
            <a:off x="762000" y="1676400"/>
            <a:ext cx="3962400" cy="46482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61"/>
          <p:cNvSpPr txBox="1"/>
          <p:nvPr/>
        </p:nvSpPr>
        <p:spPr>
          <a:xfrm>
            <a:off x="762000" y="1752600"/>
            <a:ext cx="122078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Pretest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46" name="Google Shape;746;p61"/>
          <p:cNvGraphicFramePr/>
          <p:nvPr/>
        </p:nvGraphicFramePr>
        <p:xfrm>
          <a:off x="1371600" y="1828800"/>
          <a:ext cx="2895600" cy="4419600"/>
        </p:xfrm>
        <a:graphic>
          <a:graphicData uri="http://schemas.openxmlformats.org/presentationml/2006/ole">
            <mc:AlternateContent>
              <mc:Choice Requires="v">
                <p:oleObj r:id="rId4" imgH="4419600" imgW="2895600" progId="Visio.Drawing.6" spid="_x0000_s1">
                  <p:embed/>
                </p:oleObj>
              </mc:Choice>
              <mc:Fallback>
                <p:oleObj r:id="rId5" imgH="4419600" imgW="2895600" progId="Visio.Drawing.6">
                  <p:embed/>
                  <p:pic>
                    <p:nvPicPr>
                      <p:cNvPr id="746" name="Google Shape;746;p6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371600" y="1828800"/>
                        <a:ext cx="2895600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" name="Google Shape;747;p61"/>
          <p:cNvGraphicFramePr/>
          <p:nvPr/>
        </p:nvGraphicFramePr>
        <p:xfrm>
          <a:off x="5715000" y="1752600"/>
          <a:ext cx="2362200" cy="4343400"/>
        </p:xfrm>
        <a:graphic>
          <a:graphicData uri="http://schemas.openxmlformats.org/presentationml/2006/ole">
            <mc:AlternateContent>
              <mc:Choice Requires="v">
                <p:oleObj r:id="rId7" imgH="4343400" imgW="2362200" progId="Visio.Drawing.6" spid="_x0000_s2">
                  <p:embed/>
                </p:oleObj>
              </mc:Choice>
              <mc:Fallback>
                <p:oleObj r:id="rId8" imgH="4343400" imgW="2362200" progId="Visio.Drawing.6">
                  <p:embed/>
                  <p:pic>
                    <p:nvPicPr>
                      <p:cNvPr id="747" name="Google Shape;747;p61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715000" y="1752600"/>
                        <a:ext cx="2362200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2"/>
          <p:cNvSpPr/>
          <p:nvPr/>
        </p:nvSpPr>
        <p:spPr>
          <a:xfrm>
            <a:off x="5181600" y="1066800"/>
            <a:ext cx="3733800" cy="51816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2"/>
          <p:cNvSpPr txBox="1"/>
          <p:nvPr>
            <p:ph idx="1" type="body"/>
          </p:nvPr>
        </p:nvSpPr>
        <p:spPr>
          <a:xfrm>
            <a:off x="381000" y="787400"/>
            <a:ext cx="480060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 sz="18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Initialization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lang="en-US" sz="1700">
                <a:latin typeface="Trebuchet MS"/>
                <a:ea typeface="Trebuchet MS"/>
                <a:cs typeface="Trebuchet MS"/>
                <a:sym typeface="Trebuchet MS"/>
              </a:rPr>
              <a:t>is used to prepare a loop before it can start –usually, here we </a:t>
            </a:r>
            <a:r>
              <a:rPr lang="en-US" sz="17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initialize the condition</a:t>
            </a:r>
            <a:endParaRPr/>
          </a:p>
          <a:p>
            <a:pPr indent="-177800" lvl="1" marL="74295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lang="en-US" sz="1700">
                <a:latin typeface="Trebuchet MS"/>
                <a:ea typeface="Trebuchet MS"/>
                <a:cs typeface="Trebuchet MS"/>
                <a:sym typeface="Trebuchet MS"/>
              </a:rPr>
              <a:t>The initialization must be written outside of the loop – before the first execution of the body.</a:t>
            </a:r>
            <a:endParaRPr/>
          </a:p>
          <a:p>
            <a:pPr indent="-177800" lvl="1" marL="74295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 sz="18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Updating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lang="en-US" sz="1700">
                <a:latin typeface="Trebuchet MS"/>
                <a:ea typeface="Trebuchet MS"/>
                <a:cs typeface="Trebuchet MS"/>
                <a:sym typeface="Trebuchet MS"/>
              </a:rPr>
              <a:t>is used to </a:t>
            </a:r>
            <a:r>
              <a:rPr lang="en-US" sz="17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update the</a:t>
            </a:r>
            <a:r>
              <a:rPr lang="en-US" sz="1700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7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condition </a:t>
            </a:r>
            <a:endParaRPr/>
          </a:p>
          <a:p>
            <a:pPr indent="-177800" lvl="1" marL="74295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lang="en-US" sz="1700">
                <a:latin typeface="Trebuchet MS"/>
                <a:ea typeface="Trebuchet MS"/>
                <a:cs typeface="Trebuchet MS"/>
                <a:sym typeface="Trebuchet MS"/>
              </a:rPr>
              <a:t>If the condition is not updated, it always true =&gt; the loop always repeats – an </a:t>
            </a:r>
            <a:r>
              <a:rPr lang="en-US" sz="17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infinite loop</a:t>
            </a:r>
            <a:endParaRPr/>
          </a:p>
          <a:p>
            <a:pPr indent="-177800" lvl="1" marL="74295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lang="en-US" sz="1700">
                <a:latin typeface="Trebuchet MS"/>
                <a:ea typeface="Trebuchet MS"/>
                <a:cs typeface="Trebuchet MS"/>
                <a:sym typeface="Trebuchet MS"/>
              </a:rPr>
              <a:t>The updating part is written inside the loop – it is actually a part of the body.</a:t>
            </a:r>
            <a:endParaRPr/>
          </a:p>
        </p:txBody>
      </p:sp>
      <p:sp>
        <p:nvSpPr>
          <p:cNvPr id="754" name="Google Shape;754;p62"/>
          <p:cNvSpPr txBox="1"/>
          <p:nvPr>
            <p:ph type="title"/>
          </p:nvPr>
        </p:nvSpPr>
        <p:spPr>
          <a:xfrm>
            <a:off x="2590800" y="76200"/>
            <a:ext cx="5943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Parts of a loop</a:t>
            </a:r>
            <a:endParaRPr/>
          </a:p>
        </p:txBody>
      </p:sp>
      <p:graphicFrame>
        <p:nvGraphicFramePr>
          <p:cNvPr id="755" name="Google Shape;755;p62"/>
          <p:cNvGraphicFramePr/>
          <p:nvPr/>
        </p:nvGraphicFramePr>
        <p:xfrm>
          <a:off x="5334000" y="990600"/>
          <a:ext cx="2776538" cy="5105400"/>
        </p:xfrm>
        <a:graphic>
          <a:graphicData uri="http://schemas.openxmlformats.org/presentationml/2006/ole">
            <mc:AlternateContent>
              <mc:Choice Requires="v">
                <p:oleObj r:id="rId4" imgH="5105400" imgW="2776538" progId="Visio.Drawing.6" spid="_x0000_s1">
                  <p:embed/>
                </p:oleObj>
              </mc:Choice>
              <mc:Fallback>
                <p:oleObj r:id="rId5" imgH="5105400" imgW="2776538" progId="Visio.Drawing.6">
                  <p:embed/>
                  <p:pic>
                    <p:nvPicPr>
                      <p:cNvPr id="755" name="Google Shape;755;p6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334000" y="990600"/>
                        <a:ext cx="2776538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3"/>
          <p:cNvSpPr/>
          <p:nvPr/>
        </p:nvSpPr>
        <p:spPr>
          <a:xfrm>
            <a:off x="4800600" y="1295400"/>
            <a:ext cx="3962400" cy="46482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63"/>
          <p:cNvSpPr txBox="1"/>
          <p:nvPr>
            <p:ph idx="1" type="body"/>
          </p:nvPr>
        </p:nvSpPr>
        <p:spPr>
          <a:xfrm>
            <a:off x="685800" y="838200"/>
            <a:ext cx="8153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Example: </a:t>
            </a:r>
            <a:r>
              <a:rPr i="1" lang="en-US" sz="1600">
                <a:latin typeface="Trebuchet MS"/>
                <a:ea typeface="Trebuchet MS"/>
                <a:cs typeface="Trebuchet MS"/>
                <a:sym typeface="Trebuchet MS"/>
              </a:rPr>
              <a:t>These flowcharts print numbers 10 down to 1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2" name="Google Shape;762;p63"/>
          <p:cNvSpPr txBox="1"/>
          <p:nvPr>
            <p:ph type="title"/>
          </p:nvPr>
        </p:nvSpPr>
        <p:spPr>
          <a:xfrm>
            <a:off x="2590800" y="76200"/>
            <a:ext cx="5943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Parts of a loop</a:t>
            </a:r>
            <a:endParaRPr/>
          </a:p>
        </p:txBody>
      </p:sp>
      <p:sp>
        <p:nvSpPr>
          <p:cNvPr id="763" name="Google Shape;763;p63"/>
          <p:cNvSpPr txBox="1"/>
          <p:nvPr/>
        </p:nvSpPr>
        <p:spPr>
          <a:xfrm>
            <a:off x="4800600" y="1371600"/>
            <a:ext cx="1368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Post-test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63"/>
          <p:cNvSpPr/>
          <p:nvPr/>
        </p:nvSpPr>
        <p:spPr>
          <a:xfrm>
            <a:off x="609600" y="1371600"/>
            <a:ext cx="3962400" cy="46482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63"/>
          <p:cNvSpPr txBox="1"/>
          <p:nvPr/>
        </p:nvSpPr>
        <p:spPr>
          <a:xfrm>
            <a:off x="609600" y="1447800"/>
            <a:ext cx="122078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Pretest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66" name="Google Shape;766;p63"/>
          <p:cNvGraphicFramePr/>
          <p:nvPr/>
        </p:nvGraphicFramePr>
        <p:xfrm>
          <a:off x="1524000" y="1676400"/>
          <a:ext cx="2452688" cy="4114800"/>
        </p:xfrm>
        <a:graphic>
          <a:graphicData uri="http://schemas.openxmlformats.org/presentationml/2006/ole">
            <mc:AlternateContent>
              <mc:Choice Requires="v">
                <p:oleObj r:id="rId4" imgH="4114800" imgW="2452688" progId="Visio.Drawing.6" spid="_x0000_s1">
                  <p:embed/>
                </p:oleObj>
              </mc:Choice>
              <mc:Fallback>
                <p:oleObj r:id="rId5" imgH="4114800" imgW="2452688" progId="Visio.Drawing.6">
                  <p:embed/>
                  <p:pic>
                    <p:nvPicPr>
                      <p:cNvPr id="766" name="Google Shape;766;p6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24000" y="1676400"/>
                        <a:ext cx="2452688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" name="Google Shape;767;p63"/>
          <p:cNvGraphicFramePr/>
          <p:nvPr/>
        </p:nvGraphicFramePr>
        <p:xfrm>
          <a:off x="5638800" y="1676400"/>
          <a:ext cx="2027238" cy="4191000"/>
        </p:xfrm>
        <a:graphic>
          <a:graphicData uri="http://schemas.openxmlformats.org/presentationml/2006/ole">
            <mc:AlternateContent>
              <mc:Choice Requires="v">
                <p:oleObj r:id="rId7" imgH="4191000" imgW="2027238" progId="Visio.Drawing.6" spid="_x0000_s2">
                  <p:embed/>
                </p:oleObj>
              </mc:Choice>
              <mc:Fallback>
                <p:oleObj r:id="rId8" imgH="4191000" imgW="2027238" progId="Visio.Drawing.6">
                  <p:embed/>
                  <p:pic>
                    <p:nvPicPr>
                      <p:cNvPr id="767" name="Google Shape;767;p6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638800" y="1676400"/>
                        <a:ext cx="2027238" cy="419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68" name="Google Shape;768;p63"/>
          <p:cNvGrpSpPr/>
          <p:nvPr/>
        </p:nvGrpSpPr>
        <p:grpSpPr>
          <a:xfrm>
            <a:off x="3390900" y="2133600"/>
            <a:ext cx="2857500" cy="457200"/>
            <a:chOff x="2136" y="1344"/>
            <a:chExt cx="1800" cy="288"/>
          </a:xfrm>
        </p:grpSpPr>
        <p:cxnSp>
          <p:nvCxnSpPr>
            <p:cNvPr id="769" name="Google Shape;769;p63"/>
            <p:cNvCxnSpPr/>
            <p:nvPr/>
          </p:nvCxnSpPr>
          <p:spPr>
            <a:xfrm flipH="1">
              <a:off x="2136" y="1479"/>
              <a:ext cx="480" cy="1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70" name="Google Shape;770;p63"/>
            <p:cNvSpPr txBox="1"/>
            <p:nvPr/>
          </p:nvSpPr>
          <p:spPr>
            <a:xfrm>
              <a:off x="2552" y="1344"/>
              <a:ext cx="100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Initialize n before start the loop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1" name="Google Shape;771;p63"/>
            <p:cNvCxnSpPr/>
            <p:nvPr/>
          </p:nvCxnSpPr>
          <p:spPr>
            <a:xfrm>
              <a:off x="3456" y="1488"/>
              <a:ext cx="480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772" name="Google Shape;772;p63"/>
          <p:cNvGrpSpPr/>
          <p:nvPr/>
        </p:nvGrpSpPr>
        <p:grpSpPr>
          <a:xfrm>
            <a:off x="3352800" y="4102100"/>
            <a:ext cx="2997200" cy="1109663"/>
            <a:chOff x="2112" y="2584"/>
            <a:chExt cx="1888" cy="699"/>
          </a:xfrm>
        </p:grpSpPr>
        <p:cxnSp>
          <p:nvCxnSpPr>
            <p:cNvPr id="773" name="Google Shape;773;p63"/>
            <p:cNvCxnSpPr/>
            <p:nvPr/>
          </p:nvCxnSpPr>
          <p:spPr>
            <a:xfrm flipH="1">
              <a:off x="2112" y="3024"/>
              <a:ext cx="480" cy="1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74" name="Google Shape;774;p63"/>
            <p:cNvSpPr txBox="1"/>
            <p:nvPr/>
          </p:nvSpPr>
          <p:spPr>
            <a:xfrm>
              <a:off x="2640" y="2880"/>
              <a:ext cx="1008" cy="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Every time the loop repeats, n is updated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5" name="Google Shape;775;p63"/>
            <p:cNvCxnSpPr/>
            <p:nvPr/>
          </p:nvCxnSpPr>
          <p:spPr>
            <a:xfrm flipH="1" rot="10800000">
              <a:off x="3568" y="2584"/>
              <a:ext cx="432" cy="336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685800" y="990600"/>
            <a:ext cx="6781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C++ provides three loop statements: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1" name="Google Shape;781;p64"/>
          <p:cNvSpPr txBox="1"/>
          <p:nvPr>
            <p:ph type="title"/>
          </p:nvPr>
        </p:nvSpPr>
        <p:spPr>
          <a:xfrm>
            <a:off x="2667000" y="76200"/>
            <a:ext cx="5867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Loop statements</a:t>
            </a:r>
            <a:endParaRPr/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752600"/>
            <a:ext cx="7467600" cy="3235325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/>
        </p:nvSpPr>
        <p:spPr>
          <a:xfrm>
            <a:off x="2819400" y="5334000"/>
            <a:ext cx="2066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C++ loop constructs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5"/>
          <p:cNvSpPr/>
          <p:nvPr/>
        </p:nvSpPr>
        <p:spPr>
          <a:xfrm>
            <a:off x="4953000" y="1066800"/>
            <a:ext cx="3962400" cy="51816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65"/>
          <p:cNvSpPr txBox="1"/>
          <p:nvPr>
            <p:ph type="title"/>
          </p:nvPr>
        </p:nvSpPr>
        <p:spPr>
          <a:xfrm>
            <a:off x="3124200" y="76200"/>
            <a:ext cx="5410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790" name="Google Shape;790;p65"/>
          <p:cNvSpPr txBox="1"/>
          <p:nvPr/>
        </p:nvSpPr>
        <p:spPr>
          <a:xfrm>
            <a:off x="5029200" y="1143000"/>
            <a:ext cx="16986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flowchart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65"/>
          <p:cNvSpPr txBox="1"/>
          <p:nvPr/>
        </p:nvSpPr>
        <p:spPr>
          <a:xfrm>
            <a:off x="533400" y="2209800"/>
            <a:ext cx="4191000" cy="26574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while (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Repeated_Actions;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92" name="Google Shape;792;p65"/>
          <p:cNvGraphicFramePr/>
          <p:nvPr/>
        </p:nvGraphicFramePr>
        <p:xfrm>
          <a:off x="5181600" y="1524000"/>
          <a:ext cx="3638550" cy="4495800"/>
        </p:xfrm>
        <a:graphic>
          <a:graphicData uri="http://schemas.openxmlformats.org/presentationml/2006/ole">
            <mc:AlternateContent>
              <mc:Choice Requires="v">
                <p:oleObj r:id="rId4" imgH="4495800" imgW="3638550" progId="Visio.Drawing.6" spid="_x0000_s1">
                  <p:embed/>
                </p:oleObj>
              </mc:Choice>
              <mc:Fallback>
                <p:oleObj r:id="rId5" imgH="4495800" imgW="3638550" progId="Visio.Drawing.6">
                  <p:embed/>
                  <p:pic>
                    <p:nvPicPr>
                      <p:cNvPr id="792" name="Google Shape;792;p6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181600" y="1524000"/>
                        <a:ext cx="3638550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685800" y="838200"/>
            <a:ext cx="8153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rPr b="1" i="1" lang="en-US" sz="1400">
                <a:latin typeface="Trebuchet MS"/>
                <a:ea typeface="Trebuchet MS"/>
                <a:cs typeface="Trebuchet MS"/>
                <a:sym typeface="Trebuchet MS"/>
              </a:rPr>
              <a:t>Example: </a:t>
            </a:r>
            <a:r>
              <a:rPr i="1" lang="en-US" sz="1400">
                <a:latin typeface="Trebuchet MS"/>
                <a:ea typeface="Trebuchet MS"/>
                <a:cs typeface="Trebuchet MS"/>
                <a:sym typeface="Trebuchet MS"/>
              </a:rPr>
              <a:t>This</a:t>
            </a:r>
            <a:r>
              <a:rPr i="1" lang="en-US" sz="1400">
                <a:latin typeface="Courier New"/>
                <a:ea typeface="Courier New"/>
                <a:cs typeface="Courier New"/>
                <a:sym typeface="Courier New"/>
              </a:rPr>
              <a:t> while</a:t>
            </a:r>
            <a:r>
              <a:rPr i="1" lang="en-US" sz="1400">
                <a:latin typeface="Trebuchet MS"/>
                <a:ea typeface="Trebuchet MS"/>
                <a:cs typeface="Trebuchet MS"/>
                <a:sym typeface="Trebuchet MS"/>
              </a:rPr>
              <a:t> statement prints numbers 10 down to 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lang="en-US" sz="1600">
                <a:latin typeface="Trebuchet MS"/>
                <a:ea typeface="Trebuchet MS"/>
                <a:cs typeface="Trebuchet MS"/>
                <a:sym typeface="Trebuchet MS"/>
              </a:rPr>
              <a:t>Note that, the first line (</a:t>
            </a: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n=10</a:t>
            </a:r>
            <a:r>
              <a:rPr b="1" lang="en-US" sz="1600">
                <a:latin typeface="Trebuchet MS"/>
                <a:ea typeface="Trebuchet MS"/>
                <a:cs typeface="Trebuchet MS"/>
                <a:sym typeface="Trebuchet MS"/>
              </a:rPr>
              <a:t>) is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lang="en-US" sz="1600">
                <a:latin typeface="Trebuchet MS"/>
                <a:ea typeface="Trebuchet MS"/>
                <a:cs typeface="Trebuchet MS"/>
                <a:sym typeface="Trebuchet MS"/>
              </a:rPr>
              <a:t>actually not a part of the loop statement.</a:t>
            </a:r>
            <a:endParaRPr/>
          </a:p>
        </p:txBody>
      </p:sp>
      <p:sp>
        <p:nvSpPr>
          <p:cNvPr id="798" name="Google Shape;798;p66"/>
          <p:cNvSpPr/>
          <p:nvPr/>
        </p:nvSpPr>
        <p:spPr>
          <a:xfrm>
            <a:off x="4953000" y="1371600"/>
            <a:ext cx="3962400" cy="51054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66"/>
          <p:cNvSpPr txBox="1"/>
          <p:nvPr>
            <p:ph type="title"/>
          </p:nvPr>
        </p:nvSpPr>
        <p:spPr>
          <a:xfrm>
            <a:off x="2743200" y="76200"/>
            <a:ext cx="5791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800" name="Google Shape;800;p66"/>
          <p:cNvSpPr txBox="1"/>
          <p:nvPr/>
        </p:nvSpPr>
        <p:spPr>
          <a:xfrm>
            <a:off x="533400" y="2133600"/>
            <a:ext cx="4191000" cy="30956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n=10;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(n&gt;0)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n &lt;&lt;“ “;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n=n-1;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01" name="Google Shape;801;p66"/>
          <p:cNvGraphicFramePr/>
          <p:nvPr/>
        </p:nvGraphicFramePr>
        <p:xfrm>
          <a:off x="5486400" y="1447800"/>
          <a:ext cx="2860675" cy="4800600"/>
        </p:xfrm>
        <a:graphic>
          <a:graphicData uri="http://schemas.openxmlformats.org/presentationml/2006/ole">
            <mc:AlternateContent>
              <mc:Choice Requires="v">
                <p:oleObj r:id="rId4" imgH="4800600" imgW="2860675" progId="Visio.Drawing.6" spid="_x0000_s1">
                  <p:embed/>
                </p:oleObj>
              </mc:Choice>
              <mc:Fallback>
                <p:oleObj r:id="rId5" imgH="4800600" imgW="2860675" progId="Visio.Drawing.6">
                  <p:embed/>
                  <p:pic>
                    <p:nvPicPr>
                      <p:cNvPr id="801" name="Google Shape;801;p6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486400" y="1447800"/>
                        <a:ext cx="2860675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2" name="Google Shape;802;p66"/>
          <p:cNvSpPr/>
          <p:nvPr/>
        </p:nvSpPr>
        <p:spPr>
          <a:xfrm>
            <a:off x="5486400" y="2590800"/>
            <a:ext cx="3048000" cy="3505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66"/>
          <p:cNvSpPr txBox="1"/>
          <p:nvPr/>
        </p:nvSpPr>
        <p:spPr>
          <a:xfrm>
            <a:off x="533400" y="5334000"/>
            <a:ext cx="4114800" cy="11366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10 9 8 7 6 5 4 3 2 1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67"/>
          <p:cNvSpPr/>
          <p:nvPr/>
        </p:nvSpPr>
        <p:spPr>
          <a:xfrm>
            <a:off x="4953000" y="1066800"/>
            <a:ext cx="3962400" cy="51816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67"/>
          <p:cNvSpPr txBox="1"/>
          <p:nvPr>
            <p:ph type="title"/>
          </p:nvPr>
        </p:nvSpPr>
        <p:spPr>
          <a:xfrm>
            <a:off x="2667000" y="76200"/>
            <a:ext cx="5867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810" name="Google Shape;810;p67"/>
          <p:cNvSpPr txBox="1"/>
          <p:nvPr/>
        </p:nvSpPr>
        <p:spPr>
          <a:xfrm>
            <a:off x="5029200" y="1143000"/>
            <a:ext cx="14732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flowchart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67"/>
          <p:cNvSpPr txBox="1"/>
          <p:nvPr/>
        </p:nvSpPr>
        <p:spPr>
          <a:xfrm>
            <a:off x="304800" y="2209800"/>
            <a:ext cx="4572000" cy="223202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 (</a:t>
            </a: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Initialization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Updating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Repeated_Actions;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12" name="Google Shape;812;p67"/>
          <p:cNvGraphicFramePr/>
          <p:nvPr/>
        </p:nvGraphicFramePr>
        <p:xfrm>
          <a:off x="5562600" y="1371600"/>
          <a:ext cx="2952750" cy="4953000"/>
        </p:xfrm>
        <a:graphic>
          <a:graphicData uri="http://schemas.openxmlformats.org/presentationml/2006/ole">
            <mc:AlternateContent>
              <mc:Choice Requires="v">
                <p:oleObj r:id="rId4" imgH="4953000" imgW="2952750" progId="Visio.Drawing.6" spid="_x0000_s1">
                  <p:embed/>
                </p:oleObj>
              </mc:Choice>
              <mc:Fallback>
                <p:oleObj r:id="rId5" imgH="4953000" imgW="2952750" progId="Visio.Drawing.6">
                  <p:embed/>
                  <p:pic>
                    <p:nvPicPr>
                      <p:cNvPr id="812" name="Google Shape;812;p6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562600" y="1371600"/>
                        <a:ext cx="295275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68"/>
          <p:cNvSpPr/>
          <p:nvPr/>
        </p:nvSpPr>
        <p:spPr>
          <a:xfrm>
            <a:off x="4953000" y="1371600"/>
            <a:ext cx="3962400" cy="51816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68"/>
          <p:cNvSpPr txBox="1"/>
          <p:nvPr>
            <p:ph type="title"/>
          </p:nvPr>
        </p:nvSpPr>
        <p:spPr>
          <a:xfrm>
            <a:off x="2819400" y="76200"/>
            <a:ext cx="5715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819" name="Google Shape;819;p68"/>
          <p:cNvSpPr txBox="1"/>
          <p:nvPr/>
        </p:nvSpPr>
        <p:spPr>
          <a:xfrm>
            <a:off x="533400" y="2133600"/>
            <a:ext cx="4114800" cy="18669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(n=10; n&gt;0; n=n-1)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n &lt;&lt;“ “;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0" name="Google Shape;820;p68"/>
          <p:cNvSpPr txBox="1"/>
          <p:nvPr>
            <p:ph idx="1" type="body"/>
          </p:nvPr>
        </p:nvSpPr>
        <p:spPr>
          <a:xfrm>
            <a:off x="685800" y="838200"/>
            <a:ext cx="8153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Example: </a:t>
            </a:r>
            <a:r>
              <a:rPr i="1" lang="en-US" sz="1600">
                <a:latin typeface="Trebuchet MS"/>
                <a:ea typeface="Trebuchet MS"/>
                <a:cs typeface="Trebuchet MS"/>
                <a:sym typeface="Trebuchet MS"/>
              </a:rPr>
              <a:t>This</a:t>
            </a:r>
            <a:r>
              <a:rPr i="1" lang="en-US" sz="1600">
                <a:latin typeface="Courier New"/>
                <a:ea typeface="Courier New"/>
                <a:cs typeface="Courier New"/>
                <a:sym typeface="Courier New"/>
              </a:rPr>
              <a:t> for</a:t>
            </a:r>
            <a:r>
              <a:rPr i="1" lang="en-US" sz="1600">
                <a:latin typeface="Trebuchet MS"/>
                <a:ea typeface="Trebuchet MS"/>
                <a:cs typeface="Trebuchet MS"/>
                <a:sym typeface="Trebuchet MS"/>
              </a:rPr>
              <a:t> statement prints numbers 10 down to 1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821" name="Google Shape;821;p68"/>
          <p:cNvGraphicFramePr/>
          <p:nvPr/>
        </p:nvGraphicFramePr>
        <p:xfrm>
          <a:off x="5486400" y="1752600"/>
          <a:ext cx="2860675" cy="4800600"/>
        </p:xfrm>
        <a:graphic>
          <a:graphicData uri="http://schemas.openxmlformats.org/presentationml/2006/ole">
            <mc:AlternateContent>
              <mc:Choice Requires="v">
                <p:oleObj r:id="rId4" imgH="4800600" imgW="2860675" progId="Visio.Drawing.6" spid="_x0000_s1">
                  <p:embed/>
                </p:oleObj>
              </mc:Choice>
              <mc:Fallback>
                <p:oleObj r:id="rId5" imgH="4800600" imgW="2860675" progId="Visio.Drawing.6">
                  <p:embed/>
                  <p:pic>
                    <p:nvPicPr>
                      <p:cNvPr id="821" name="Google Shape;821;p6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486400" y="1752600"/>
                        <a:ext cx="2860675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" name="Google Shape;822;p68"/>
          <p:cNvSpPr txBox="1"/>
          <p:nvPr/>
        </p:nvSpPr>
        <p:spPr>
          <a:xfrm>
            <a:off x="533400" y="4267200"/>
            <a:ext cx="4114800" cy="11366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10 9 8 7 6 5 4 3 2 1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9"/>
          <p:cNvSpPr txBox="1"/>
          <p:nvPr>
            <p:ph type="title"/>
          </p:nvPr>
        </p:nvSpPr>
        <p:spPr>
          <a:xfrm>
            <a:off x="2514600" y="76200"/>
            <a:ext cx="60198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vs. </a:t>
            </a: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while </a:t>
            </a:r>
            <a:r>
              <a:rPr b="1" lang="en-US" sz="3600">
                <a:latin typeface="Trebuchet MS"/>
                <a:ea typeface="Trebuchet MS"/>
                <a:cs typeface="Trebuchet MS"/>
                <a:sym typeface="Trebuchet MS"/>
              </a:rPr>
              <a:t>statements</a:t>
            </a:r>
            <a:endParaRPr/>
          </a:p>
        </p:txBody>
      </p:sp>
      <p:pic>
        <p:nvPicPr>
          <p:cNvPr id="828" name="Google Shape;82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914400"/>
            <a:ext cx="7443788" cy="4652963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69"/>
          <p:cNvSpPr txBox="1"/>
          <p:nvPr/>
        </p:nvSpPr>
        <p:spPr>
          <a:xfrm>
            <a:off x="2743200" y="5791200"/>
            <a:ext cx="46482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Comparing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0"/>
          <p:cNvSpPr/>
          <p:nvPr/>
        </p:nvSpPr>
        <p:spPr>
          <a:xfrm>
            <a:off x="4953000" y="1066800"/>
            <a:ext cx="3962400" cy="51816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70"/>
          <p:cNvSpPr txBox="1"/>
          <p:nvPr>
            <p:ph type="title"/>
          </p:nvPr>
        </p:nvSpPr>
        <p:spPr>
          <a:xfrm>
            <a:off x="3048000" y="76200"/>
            <a:ext cx="5486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do…while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836" name="Google Shape;836;p70"/>
          <p:cNvSpPr txBox="1"/>
          <p:nvPr/>
        </p:nvSpPr>
        <p:spPr>
          <a:xfrm>
            <a:off x="533400" y="2209800"/>
            <a:ext cx="4191000" cy="26574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Repeated_Actions;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while (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37" name="Google Shape;837;p70"/>
          <p:cNvGraphicFramePr/>
          <p:nvPr/>
        </p:nvGraphicFramePr>
        <p:xfrm>
          <a:off x="5257800" y="1447800"/>
          <a:ext cx="3054350" cy="4419600"/>
        </p:xfrm>
        <a:graphic>
          <a:graphicData uri="http://schemas.openxmlformats.org/presentationml/2006/ole">
            <mc:AlternateContent>
              <mc:Choice Requires="v">
                <p:oleObj r:id="rId4" imgH="4419600" imgW="3054350" progId="Visio.Drawing.6" spid="_x0000_s1">
                  <p:embed/>
                </p:oleObj>
              </mc:Choice>
              <mc:Fallback>
                <p:oleObj r:id="rId5" imgH="4419600" imgW="3054350" progId="Visio.Drawing.6">
                  <p:embed/>
                  <p:pic>
                    <p:nvPicPr>
                      <p:cNvPr id="837" name="Google Shape;837;p7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257800" y="1447800"/>
                        <a:ext cx="3054350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1"/>
          <p:cNvSpPr txBox="1"/>
          <p:nvPr>
            <p:ph type="title"/>
          </p:nvPr>
        </p:nvSpPr>
        <p:spPr>
          <a:xfrm>
            <a:off x="2743200" y="76200"/>
            <a:ext cx="5791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do…while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843" name="Google Shape;843;p71"/>
          <p:cNvSpPr txBox="1"/>
          <p:nvPr>
            <p:ph idx="1" type="body"/>
          </p:nvPr>
        </p:nvSpPr>
        <p:spPr>
          <a:xfrm>
            <a:off x="685800" y="838200"/>
            <a:ext cx="8153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rPr b="1" i="1" lang="en-US" sz="1400">
                <a:latin typeface="Trebuchet MS"/>
                <a:ea typeface="Trebuchet MS"/>
                <a:cs typeface="Trebuchet MS"/>
                <a:sym typeface="Trebuchet MS"/>
              </a:rPr>
              <a:t>Example: </a:t>
            </a:r>
            <a:r>
              <a:rPr i="1" lang="en-US" sz="1400">
                <a:latin typeface="Trebuchet MS"/>
                <a:ea typeface="Trebuchet MS"/>
                <a:cs typeface="Trebuchet MS"/>
                <a:sym typeface="Trebuchet MS"/>
              </a:rPr>
              <a:t>This</a:t>
            </a:r>
            <a:r>
              <a:rPr i="1" lang="en-US" sz="1400">
                <a:latin typeface="Courier New"/>
                <a:ea typeface="Courier New"/>
                <a:cs typeface="Courier New"/>
                <a:sym typeface="Courier New"/>
              </a:rPr>
              <a:t> do…while </a:t>
            </a:r>
            <a:r>
              <a:rPr i="1" lang="en-US" sz="1400">
                <a:latin typeface="Trebuchet MS"/>
                <a:ea typeface="Trebuchet MS"/>
                <a:cs typeface="Trebuchet MS"/>
                <a:sym typeface="Trebuchet MS"/>
              </a:rPr>
              <a:t>statement prints numbers 10 down to 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lang="en-US" sz="1600">
                <a:latin typeface="Trebuchet MS"/>
                <a:ea typeface="Trebuchet MS"/>
                <a:cs typeface="Trebuchet MS"/>
                <a:sym typeface="Trebuchet MS"/>
              </a:rPr>
              <a:t>Note that, the first line (</a:t>
            </a: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n=10</a:t>
            </a:r>
            <a:r>
              <a:rPr b="1" lang="en-US" sz="1600">
                <a:latin typeface="Trebuchet MS"/>
                <a:ea typeface="Trebuchet MS"/>
                <a:cs typeface="Trebuchet MS"/>
                <a:sym typeface="Trebuchet MS"/>
              </a:rPr>
              <a:t>) is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lang="en-US" sz="1600">
                <a:latin typeface="Trebuchet MS"/>
                <a:ea typeface="Trebuchet MS"/>
                <a:cs typeface="Trebuchet MS"/>
                <a:sym typeface="Trebuchet MS"/>
              </a:rPr>
              <a:t>actually not a part of the loop statement.</a:t>
            </a:r>
            <a:endParaRPr/>
          </a:p>
        </p:txBody>
      </p:sp>
      <p:sp>
        <p:nvSpPr>
          <p:cNvPr id="844" name="Google Shape;844;p71"/>
          <p:cNvSpPr/>
          <p:nvPr/>
        </p:nvSpPr>
        <p:spPr>
          <a:xfrm>
            <a:off x="4953000" y="1371600"/>
            <a:ext cx="3962400" cy="51054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71"/>
          <p:cNvSpPr txBox="1"/>
          <p:nvPr/>
        </p:nvSpPr>
        <p:spPr>
          <a:xfrm>
            <a:off x="609600" y="2362200"/>
            <a:ext cx="4191000" cy="26574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n=10;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n &lt;&lt; “ “;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n=n-1;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while (n&gt;0);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6" name="Google Shape;846;p71"/>
          <p:cNvSpPr/>
          <p:nvPr/>
        </p:nvSpPr>
        <p:spPr>
          <a:xfrm>
            <a:off x="5486400" y="2590800"/>
            <a:ext cx="3048000" cy="3505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7" name="Google Shape;847;p71"/>
          <p:cNvGraphicFramePr/>
          <p:nvPr/>
        </p:nvGraphicFramePr>
        <p:xfrm>
          <a:off x="5334000" y="1447800"/>
          <a:ext cx="2819400" cy="4953000"/>
        </p:xfrm>
        <a:graphic>
          <a:graphicData uri="http://schemas.openxmlformats.org/presentationml/2006/ole">
            <mc:AlternateContent>
              <mc:Choice Requires="v">
                <p:oleObj r:id="rId4" imgH="4953000" imgW="2819400" progId="Visio.Drawing.6" spid="_x0000_s1">
                  <p:embed/>
                </p:oleObj>
              </mc:Choice>
              <mc:Fallback>
                <p:oleObj r:id="rId5" imgH="4953000" imgW="2819400" progId="Visio.Drawing.6">
                  <p:embed/>
                  <p:pic>
                    <p:nvPicPr>
                      <p:cNvPr id="847" name="Google Shape;847;p7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334000" y="1447800"/>
                        <a:ext cx="28194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8" name="Google Shape;848;p71"/>
          <p:cNvSpPr txBox="1"/>
          <p:nvPr/>
        </p:nvSpPr>
        <p:spPr>
          <a:xfrm>
            <a:off x="622300" y="5232400"/>
            <a:ext cx="4114800" cy="11366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10 9 8 7 6 5 4 3 2 1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2"/>
          <p:cNvSpPr txBox="1"/>
          <p:nvPr>
            <p:ph idx="1" type="body"/>
          </p:nvPr>
        </p:nvSpPr>
        <p:spPr>
          <a:xfrm>
            <a:off x="685800" y="990600"/>
            <a:ext cx="80772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If the body part has only </a:t>
            </a: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one statement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, then the bracket symbols, </a:t>
            </a: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{ }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 may be omitted.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Example: These two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 statements are equivalent.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4" name="Google Shape;854;p72"/>
          <p:cNvSpPr txBox="1"/>
          <p:nvPr>
            <p:ph type="title"/>
          </p:nvPr>
        </p:nvSpPr>
        <p:spPr>
          <a:xfrm>
            <a:off x="2895600" y="76200"/>
            <a:ext cx="56388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Loop statements</a:t>
            </a:r>
            <a:endParaRPr/>
          </a:p>
        </p:txBody>
      </p:sp>
      <p:sp>
        <p:nvSpPr>
          <p:cNvPr id="855" name="Google Shape;855;p72"/>
          <p:cNvSpPr txBox="1"/>
          <p:nvPr/>
        </p:nvSpPr>
        <p:spPr>
          <a:xfrm>
            <a:off x="838200" y="2743200"/>
            <a:ext cx="3581400" cy="15017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(n=10; n&gt;0; n=n-1)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cout &lt;&lt; 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72"/>
          <p:cNvSpPr txBox="1"/>
          <p:nvPr/>
        </p:nvSpPr>
        <p:spPr>
          <a:xfrm>
            <a:off x="4876800" y="2743200"/>
            <a:ext cx="3581400" cy="15017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(n=10; n&gt;0; n=n-1)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3"/>
          <p:cNvSpPr txBox="1"/>
          <p:nvPr>
            <p:ph idx="1" type="body"/>
          </p:nvPr>
        </p:nvSpPr>
        <p:spPr>
          <a:xfrm>
            <a:off x="685800" y="990600"/>
            <a:ext cx="8001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You have learn that, the repetition of a loop is controlled by the loop condition.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C++ provides another way to control the loop, by using </a:t>
            </a: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jump statements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There are four jump statements: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2" name="Google Shape;862;p73"/>
          <p:cNvSpPr txBox="1"/>
          <p:nvPr>
            <p:ph type="title"/>
          </p:nvPr>
        </p:nvSpPr>
        <p:spPr>
          <a:xfrm>
            <a:off x="2743200" y="0"/>
            <a:ext cx="5715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Jump statements</a:t>
            </a:r>
            <a:endParaRPr/>
          </a:p>
        </p:txBody>
      </p:sp>
      <p:pic>
        <p:nvPicPr>
          <p:cNvPr id="863" name="Google Shape;86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3505200"/>
            <a:ext cx="8291513" cy="223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Breaking Out of a Loop</a:t>
            </a:r>
            <a:endParaRPr/>
          </a:p>
        </p:txBody>
      </p:sp>
      <p:sp>
        <p:nvSpPr>
          <p:cNvPr id="870" name="Google Shape;870;p74"/>
          <p:cNvSpPr txBox="1"/>
          <p:nvPr>
            <p:ph idx="1" type="body"/>
          </p:nvPr>
        </p:nvSpPr>
        <p:spPr>
          <a:xfrm>
            <a:off x="457200" y="1981200"/>
            <a:ext cx="815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use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n-US"/>
              <a:t> to terminate execution of a loop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 sparingly if at all – makes code harder to understand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When used in an inner loop, terminates that loop only and returns to the outer loop</a:t>
            </a:r>
            <a:endParaRPr/>
          </a:p>
        </p:txBody>
      </p:sp>
      <p:sp>
        <p:nvSpPr>
          <p:cNvPr id="871" name="Google Shape;871;p74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5"/>
          <p:cNvSpPr txBox="1"/>
          <p:nvPr>
            <p:ph idx="1" type="body"/>
          </p:nvPr>
        </p:nvSpPr>
        <p:spPr>
          <a:xfrm>
            <a:off x="685800" y="990600"/>
            <a:ext cx="8001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It causes a loop to </a:t>
            </a: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terminate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</a:pPr>
            <a:r>
              <a:rPr i="1" lang="en-US" sz="2000"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i="1"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7" name="Google Shape;877;p75"/>
          <p:cNvSpPr txBox="1"/>
          <p:nvPr>
            <p:ph type="title"/>
          </p:nvPr>
        </p:nvSpPr>
        <p:spPr>
          <a:xfrm>
            <a:off x="2667000" y="76200"/>
            <a:ext cx="5867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878" name="Google Shape;878;p75"/>
          <p:cNvSpPr txBox="1"/>
          <p:nvPr/>
        </p:nvSpPr>
        <p:spPr>
          <a:xfrm>
            <a:off x="762000" y="2286000"/>
            <a:ext cx="3581400" cy="18669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(n=10; n&gt;0; n=n-1)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(n&lt;8) break;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cout &lt;&lt; n &lt;&lt; “ “;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75"/>
          <p:cNvSpPr txBox="1"/>
          <p:nvPr/>
        </p:nvSpPr>
        <p:spPr>
          <a:xfrm>
            <a:off x="5715000" y="2286000"/>
            <a:ext cx="2819400" cy="11366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10 9 8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6"/>
          <p:cNvSpPr txBox="1"/>
          <p:nvPr>
            <p:ph type="title"/>
          </p:nvPr>
        </p:nvSpPr>
        <p:spPr>
          <a:xfrm>
            <a:off x="2514600" y="76200"/>
            <a:ext cx="60198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885" name="Google Shape;885;p76"/>
          <p:cNvSpPr txBox="1"/>
          <p:nvPr/>
        </p:nvSpPr>
        <p:spPr>
          <a:xfrm>
            <a:off x="2743200" y="5867400"/>
            <a:ext cx="2066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 inner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6" name="Google Shape;88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143000"/>
            <a:ext cx="6818313" cy="436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7"/>
          <p:cNvSpPr txBox="1"/>
          <p:nvPr>
            <p:ph type="title"/>
          </p:nvPr>
        </p:nvSpPr>
        <p:spPr>
          <a:xfrm>
            <a:off x="1676400" y="381000"/>
            <a:ext cx="6934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r>
              <a:rPr lang="en-US"/>
              <a:t> Statement</a:t>
            </a:r>
            <a:endParaRPr/>
          </a:p>
        </p:txBody>
      </p:sp>
      <p:sp>
        <p:nvSpPr>
          <p:cNvPr id="893" name="Google Shape;893;p7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use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r>
              <a:rPr lang="en-US"/>
              <a:t> to go to end of loop and prepare for next repetition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/>
              <a:t> 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do-while</a:t>
            </a:r>
            <a:r>
              <a:rPr lang="en-US"/>
              <a:t> loops go to test and repeat the loop if test condition is true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/>
              <a:t> loop goes to update step, then tests, and repeats loop if test condition is true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 sparingly – like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n-US"/>
              <a:t>, can make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   program logic hard to follow</a:t>
            </a:r>
            <a:endParaRPr/>
          </a:p>
        </p:txBody>
      </p:sp>
      <p:sp>
        <p:nvSpPr>
          <p:cNvPr id="894" name="Google Shape;894;p77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8"/>
          <p:cNvSpPr txBox="1"/>
          <p:nvPr>
            <p:ph idx="1" type="body"/>
          </p:nvPr>
        </p:nvSpPr>
        <p:spPr>
          <a:xfrm>
            <a:off x="762000" y="838200"/>
            <a:ext cx="8153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In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while </a:t>
            </a: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do…while</a:t>
            </a: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 loops, the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 statement </a:t>
            </a:r>
            <a:r>
              <a:rPr lang="en-US" sz="18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transfers the control to the loop condition</a:t>
            </a: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In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loop, the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 statement </a:t>
            </a:r>
            <a:r>
              <a:rPr lang="en-US" sz="18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transfers the control to the updating part</a:t>
            </a: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0" name="Google Shape;900;p78"/>
          <p:cNvSpPr txBox="1"/>
          <p:nvPr>
            <p:ph type="title"/>
          </p:nvPr>
        </p:nvSpPr>
        <p:spPr>
          <a:xfrm>
            <a:off x="2819400" y="76200"/>
            <a:ext cx="5715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901" name="Google Shape;901;p78"/>
          <p:cNvSpPr txBox="1"/>
          <p:nvPr/>
        </p:nvSpPr>
        <p:spPr>
          <a:xfrm>
            <a:off x="3505200" y="6172200"/>
            <a:ext cx="24638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2" name="Google Shape;90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590800"/>
            <a:ext cx="7696200" cy="3230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79"/>
          <p:cNvSpPr txBox="1"/>
          <p:nvPr>
            <p:ph idx="1" type="body"/>
          </p:nvPr>
        </p:nvSpPr>
        <p:spPr>
          <a:xfrm>
            <a:off x="685800" y="990600"/>
            <a:ext cx="8001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</a:pPr>
            <a:r>
              <a:rPr i="1" lang="en-US" sz="2000"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i="1"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8" name="Google Shape;908;p79"/>
          <p:cNvSpPr txBox="1"/>
          <p:nvPr>
            <p:ph type="title"/>
          </p:nvPr>
        </p:nvSpPr>
        <p:spPr>
          <a:xfrm>
            <a:off x="2743200" y="76200"/>
            <a:ext cx="5791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909" name="Google Shape;909;p79"/>
          <p:cNvSpPr txBox="1"/>
          <p:nvPr/>
        </p:nvSpPr>
        <p:spPr>
          <a:xfrm>
            <a:off x="762000" y="2286000"/>
            <a:ext cx="3581400" cy="18669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(n=10; n&gt;0; n=n-1)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(n%2==1) continue;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cout &lt;&lt; n &lt;&lt;“ “;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79"/>
          <p:cNvSpPr txBox="1"/>
          <p:nvPr/>
        </p:nvSpPr>
        <p:spPr>
          <a:xfrm>
            <a:off x="5715000" y="2286000"/>
            <a:ext cx="2819400" cy="11366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10 8 6 4 2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0"/>
          <p:cNvSpPr txBox="1"/>
          <p:nvPr>
            <p:ph idx="1" type="body"/>
          </p:nvPr>
        </p:nvSpPr>
        <p:spPr>
          <a:xfrm>
            <a:off x="685800" y="990600"/>
            <a:ext cx="8001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</a:pPr>
            <a:r>
              <a:rPr i="1" lang="en-US" sz="2000"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i="1"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6" name="Google Shape;916;p80"/>
          <p:cNvSpPr txBox="1"/>
          <p:nvPr>
            <p:ph type="title"/>
          </p:nvPr>
        </p:nvSpPr>
        <p:spPr>
          <a:xfrm>
            <a:off x="2590800" y="76200"/>
            <a:ext cx="5943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917" name="Google Shape;917;p80"/>
          <p:cNvSpPr txBox="1"/>
          <p:nvPr/>
        </p:nvSpPr>
        <p:spPr>
          <a:xfrm>
            <a:off x="762000" y="2286000"/>
            <a:ext cx="3962400" cy="25971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=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(n&gt;0)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cout &lt;&lt; n &lt;&lt; “ “;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(n%2==1) continue;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n = n –1;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80"/>
          <p:cNvSpPr txBox="1"/>
          <p:nvPr/>
        </p:nvSpPr>
        <p:spPr>
          <a:xfrm>
            <a:off x="5715000" y="2286000"/>
            <a:ext cx="2819400" cy="11366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 9 9 9 9 9 …………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80"/>
          <p:cNvSpPr/>
          <p:nvPr/>
        </p:nvSpPr>
        <p:spPr>
          <a:xfrm>
            <a:off x="5486400" y="3657600"/>
            <a:ext cx="32766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loop then prints number 9 over and over again. It never stops.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81"/>
          <p:cNvSpPr txBox="1"/>
          <p:nvPr>
            <p:ph idx="1" type="body"/>
          </p:nvPr>
        </p:nvSpPr>
        <p:spPr>
          <a:xfrm>
            <a:off x="685800" y="990600"/>
            <a:ext cx="8001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You will learn this statement in Chapter 4 – Function.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It causes a </a:t>
            </a: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function to</a:t>
            </a: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0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terminate.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i="1" lang="en-US" sz="1600"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i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5" name="Google Shape;925;p81"/>
          <p:cNvSpPr txBox="1"/>
          <p:nvPr>
            <p:ph type="title"/>
          </p:nvPr>
        </p:nvSpPr>
        <p:spPr>
          <a:xfrm>
            <a:off x="2590800" y="76200"/>
            <a:ext cx="5943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926" name="Google Shape;926;p81"/>
          <p:cNvSpPr txBox="1"/>
          <p:nvPr/>
        </p:nvSpPr>
        <p:spPr>
          <a:xfrm>
            <a:off x="685800" y="2057400"/>
            <a:ext cx="4800600" cy="44465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print_numbers()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int n=10;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(n&gt;0)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for (i=n;i&gt;0; i--)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if (i%2==1) continue;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i="0" lang="en-US" sz="1200" u="none" cap="none" strike="noStrike">
                <a:solidFill>
                  <a:srgbClr val="339933"/>
                </a:solidFill>
                <a:latin typeface="Courier New"/>
                <a:ea typeface="Courier New"/>
                <a:cs typeface="Courier New"/>
                <a:sym typeface="Courier New"/>
              </a:rPr>
              <a:t>if (i%4==0) break</a:t>
            </a:r>
            <a:r>
              <a:rPr b="1" i="0" lang="en-US" sz="12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(n==6) return;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cout &lt;&lt;i &lt;&lt;“ “;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cout &lt;&lt; 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n=n-1;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81"/>
          <p:cNvSpPr txBox="1"/>
          <p:nvPr/>
        </p:nvSpPr>
        <p:spPr>
          <a:xfrm>
            <a:off x="6019800" y="2057400"/>
            <a:ext cx="2819400" cy="2232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8" name="Google Shape;928;p81"/>
          <p:cNvGrpSpPr/>
          <p:nvPr/>
        </p:nvGrpSpPr>
        <p:grpSpPr>
          <a:xfrm>
            <a:off x="2590800" y="3429000"/>
            <a:ext cx="3048000" cy="649288"/>
            <a:chOff x="1632" y="2160"/>
            <a:chExt cx="1920" cy="409"/>
          </a:xfrm>
        </p:grpSpPr>
        <p:sp>
          <p:nvSpPr>
            <p:cNvPr id="929" name="Google Shape;929;p81"/>
            <p:cNvSpPr/>
            <p:nvPr/>
          </p:nvSpPr>
          <p:spPr>
            <a:xfrm>
              <a:off x="1632" y="2256"/>
              <a:ext cx="544" cy="240"/>
            </a:xfrm>
            <a:custGeom>
              <a:rect b="b" l="l" r="r" t="t"/>
              <a:pathLst>
                <a:path extrusionOk="0" h="240" w="544">
                  <a:moveTo>
                    <a:pt x="480" y="240"/>
                  </a:moveTo>
                  <a:cubicBezTo>
                    <a:pt x="512" y="204"/>
                    <a:pt x="544" y="168"/>
                    <a:pt x="528" y="144"/>
                  </a:cubicBezTo>
                  <a:cubicBezTo>
                    <a:pt x="512" y="120"/>
                    <a:pt x="448" y="104"/>
                    <a:pt x="384" y="96"/>
                  </a:cubicBezTo>
                  <a:cubicBezTo>
                    <a:pt x="320" y="88"/>
                    <a:pt x="208" y="112"/>
                    <a:pt x="144" y="96"/>
                  </a:cubicBezTo>
                  <a:cubicBezTo>
                    <a:pt x="80" y="80"/>
                    <a:pt x="40" y="40"/>
                    <a:pt x="0" y="0"/>
                  </a:cubicBezTo>
                </a:path>
              </a:pathLst>
            </a:cu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81"/>
            <p:cNvSpPr txBox="1"/>
            <p:nvPr/>
          </p:nvSpPr>
          <p:spPr>
            <a:xfrm>
              <a:off x="2256" y="2160"/>
              <a:ext cx="1296" cy="409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</a:t>
              </a:r>
              <a:r>
                <a:rPr b="1" i="1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continue</a:t>
              </a:r>
              <a:r>
                <a:rPr b="0" i="1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statement transfers control to the updating part ( i</a:t>
              </a:r>
              <a:r>
                <a:rPr b="1" i="1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-- </a:t>
              </a:r>
              <a:r>
                <a:rPr b="0" i="1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1" name="Google Shape;931;p81"/>
          <p:cNvGrpSpPr/>
          <p:nvPr/>
        </p:nvGrpSpPr>
        <p:grpSpPr>
          <a:xfrm>
            <a:off x="1409700" y="4267200"/>
            <a:ext cx="4140200" cy="1257300"/>
            <a:chOff x="888" y="2688"/>
            <a:chExt cx="2608" cy="792"/>
          </a:xfrm>
        </p:grpSpPr>
        <p:sp>
          <p:nvSpPr>
            <p:cNvPr id="932" name="Google Shape;932;p81"/>
            <p:cNvSpPr/>
            <p:nvPr/>
          </p:nvSpPr>
          <p:spPr>
            <a:xfrm>
              <a:off x="888" y="2760"/>
              <a:ext cx="1680" cy="720"/>
            </a:xfrm>
            <a:custGeom>
              <a:rect b="b" l="l" r="r" t="t"/>
              <a:pathLst>
                <a:path extrusionOk="0" h="720" w="1680">
                  <a:moveTo>
                    <a:pt x="1056" y="0"/>
                  </a:moveTo>
                  <a:cubicBezTo>
                    <a:pt x="1120" y="24"/>
                    <a:pt x="1184" y="48"/>
                    <a:pt x="1248" y="96"/>
                  </a:cubicBezTo>
                  <a:cubicBezTo>
                    <a:pt x="1312" y="144"/>
                    <a:pt x="1408" y="200"/>
                    <a:pt x="1440" y="288"/>
                  </a:cubicBezTo>
                  <a:cubicBezTo>
                    <a:pt x="1472" y="376"/>
                    <a:pt x="1680" y="552"/>
                    <a:pt x="1440" y="624"/>
                  </a:cubicBezTo>
                  <a:cubicBezTo>
                    <a:pt x="1200" y="696"/>
                    <a:pt x="600" y="708"/>
                    <a:pt x="0" y="720"/>
                  </a:cubicBezTo>
                </a:path>
              </a:pathLst>
            </a:custGeom>
            <a:noFill/>
            <a:ln cap="flat" cmpd="sng" w="25400">
              <a:solidFill>
                <a:srgbClr val="3399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81"/>
            <p:cNvSpPr txBox="1"/>
            <p:nvPr/>
          </p:nvSpPr>
          <p:spPr>
            <a:xfrm>
              <a:off x="2304" y="2688"/>
              <a:ext cx="1192" cy="294"/>
            </a:xfrm>
            <a:prstGeom prst="rect">
              <a:avLst/>
            </a:prstGeom>
            <a:solidFill>
              <a:srgbClr val="339933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</a:t>
              </a:r>
              <a:r>
                <a:rPr b="1" i="1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break</a:t>
              </a:r>
              <a:r>
                <a:rPr b="0" i="1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statement terminates the </a:t>
              </a:r>
              <a:r>
                <a:rPr b="1" i="1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</a:t>
              </a:r>
              <a:r>
                <a:rPr b="0" i="1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loop.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4" name="Google Shape;934;p81"/>
          <p:cNvGrpSpPr/>
          <p:nvPr/>
        </p:nvGrpSpPr>
        <p:grpSpPr>
          <a:xfrm>
            <a:off x="914400" y="4876800"/>
            <a:ext cx="4800600" cy="1574800"/>
            <a:chOff x="576" y="3024"/>
            <a:chExt cx="3264" cy="1040"/>
          </a:xfrm>
        </p:grpSpPr>
        <p:sp>
          <p:nvSpPr>
            <p:cNvPr id="935" name="Google Shape;935;p81"/>
            <p:cNvSpPr/>
            <p:nvPr/>
          </p:nvSpPr>
          <p:spPr>
            <a:xfrm>
              <a:off x="576" y="3024"/>
              <a:ext cx="1952" cy="1040"/>
            </a:xfrm>
            <a:custGeom>
              <a:rect b="b" l="l" r="r" t="t"/>
              <a:pathLst>
                <a:path extrusionOk="0" h="1040" w="1952">
                  <a:moveTo>
                    <a:pt x="1440" y="0"/>
                  </a:moveTo>
                  <a:cubicBezTo>
                    <a:pt x="1548" y="52"/>
                    <a:pt x="1656" y="104"/>
                    <a:pt x="1728" y="192"/>
                  </a:cubicBezTo>
                  <a:cubicBezTo>
                    <a:pt x="1800" y="280"/>
                    <a:pt x="1952" y="400"/>
                    <a:pt x="1872" y="528"/>
                  </a:cubicBezTo>
                  <a:cubicBezTo>
                    <a:pt x="1792" y="656"/>
                    <a:pt x="1560" y="880"/>
                    <a:pt x="1248" y="960"/>
                  </a:cubicBezTo>
                  <a:cubicBezTo>
                    <a:pt x="936" y="1040"/>
                    <a:pt x="468" y="1024"/>
                    <a:pt x="0" y="1008"/>
                  </a:cubicBezTo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81"/>
            <p:cNvSpPr txBox="1"/>
            <p:nvPr/>
          </p:nvSpPr>
          <p:spPr>
            <a:xfrm>
              <a:off x="2544" y="3416"/>
              <a:ext cx="1296" cy="549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</a:t>
              </a:r>
              <a:r>
                <a:rPr b="1" i="1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return</a:t>
              </a:r>
              <a:r>
                <a:rPr b="0" i="1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statement terminates the </a:t>
              </a:r>
              <a:r>
                <a:rPr b="1" i="1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function</a:t>
              </a: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and returns to the caller.</a:t>
              </a:r>
              <a:endParaRPr b="1" i="1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82"/>
          <p:cNvSpPr txBox="1"/>
          <p:nvPr>
            <p:ph idx="1" type="body"/>
          </p:nvPr>
        </p:nvSpPr>
        <p:spPr>
          <a:xfrm>
            <a:off x="685800" y="990600"/>
            <a:ext cx="8001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When to use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i="1" lang="en-US" sz="1800"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the following functions are equivalent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i="1"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2" name="Google Shape;942;p82"/>
          <p:cNvSpPr txBox="1"/>
          <p:nvPr>
            <p:ph type="title"/>
          </p:nvPr>
        </p:nvSpPr>
        <p:spPr>
          <a:xfrm>
            <a:off x="2590800" y="76200"/>
            <a:ext cx="59436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943" name="Google Shape;943;p82"/>
          <p:cNvSpPr txBox="1"/>
          <p:nvPr/>
        </p:nvSpPr>
        <p:spPr>
          <a:xfrm>
            <a:off x="838200" y="1676400"/>
            <a:ext cx="4038600" cy="31257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float calc_point(char grade)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float result;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(grade=='A') result = 4.0;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else if (grade=='B') result = 3.0;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else if (grade=='C') result = 2.5;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else if (grade=='D') result = 2.0;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else result = 0.0;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return result;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82"/>
          <p:cNvSpPr txBox="1"/>
          <p:nvPr/>
        </p:nvSpPr>
        <p:spPr>
          <a:xfrm>
            <a:off x="5029200" y="1752600"/>
            <a:ext cx="3886200" cy="210343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float calc_point(char grade)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(grade=='A')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return 4.0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(grade=='B')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return 3.0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(grade=='C')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return 2.5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if (grade=='D')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return 2.0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return 0.0;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82"/>
          <p:cNvSpPr/>
          <p:nvPr/>
        </p:nvSpPr>
        <p:spPr>
          <a:xfrm>
            <a:off x="5257800" y="4114800"/>
            <a:ext cx="32766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0" i="1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else </a:t>
            </a:r>
            <a:r>
              <a:rPr b="0" i="0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part of each </a:t>
            </a:r>
            <a:r>
              <a:rPr b="0" i="1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if</a:t>
            </a:r>
            <a:r>
              <a:rPr b="0" i="0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statement may be omitted. It has never been reached.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46" name="Google Shape;946;p82"/>
          <p:cNvCxnSpPr/>
          <p:nvPr/>
        </p:nvCxnSpPr>
        <p:spPr>
          <a:xfrm flipH="1" rot="10800000">
            <a:off x="6781800" y="3251200"/>
            <a:ext cx="76200" cy="914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83"/>
          <p:cNvSpPr txBox="1"/>
          <p:nvPr>
            <p:ph type="title"/>
          </p:nvPr>
        </p:nvSpPr>
        <p:spPr>
          <a:xfrm>
            <a:off x="2743200" y="76200"/>
            <a:ext cx="5791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36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952" name="Google Shape;952;p83"/>
          <p:cNvSpPr txBox="1"/>
          <p:nvPr/>
        </p:nvSpPr>
        <p:spPr>
          <a:xfrm>
            <a:off x="304800" y="938213"/>
            <a:ext cx="4038600" cy="5538787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float calc_point3(char grade)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float result;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switch (grade)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'A': result = 4.0;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'B': result = 3.0;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'C': result = 2.5;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'D': result = 2.0;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break;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default:  result =0.0;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return result;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83"/>
          <p:cNvSpPr txBox="1"/>
          <p:nvPr/>
        </p:nvSpPr>
        <p:spPr>
          <a:xfrm>
            <a:off x="4800600" y="938213"/>
            <a:ext cx="3886200" cy="389255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float calc_point4(char grade)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switch (grade)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'A':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return 4.0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'B':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return 3.0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'C':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return 2.5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case 'D':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return 2.0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return 0.0</a:t>
            </a: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4" name="Google Shape;954;p83"/>
          <p:cNvSpPr/>
          <p:nvPr/>
        </p:nvSpPr>
        <p:spPr>
          <a:xfrm>
            <a:off x="5029200" y="5029200"/>
            <a:ext cx="32766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0" i="1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break </a:t>
            </a:r>
            <a:r>
              <a:rPr b="0" i="0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statement of each </a:t>
            </a:r>
            <a:r>
              <a:rPr b="0" i="1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case</a:t>
            </a:r>
            <a:r>
              <a:rPr b="0" i="0" lang="en-US" sz="16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 may be omitted. It has never been reached.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55" name="Google Shape;955;p83"/>
          <p:cNvCxnSpPr/>
          <p:nvPr/>
        </p:nvCxnSpPr>
        <p:spPr>
          <a:xfrm flipH="1" rot="10800000">
            <a:off x="6553200" y="3886200"/>
            <a:ext cx="76200" cy="1193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84"/>
          <p:cNvSpPr txBox="1"/>
          <p:nvPr>
            <p:ph idx="1" type="body"/>
          </p:nvPr>
        </p:nvSpPr>
        <p:spPr>
          <a:xfrm>
            <a:off x="762000" y="762000"/>
            <a:ext cx="8001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It is used to translate </a:t>
            </a:r>
            <a:r>
              <a:rPr lang="en-US" sz="16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connector symbols – </a:t>
            </a: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jump to another part inside a program.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But, it is not recommended to use - </a:t>
            </a:r>
            <a:r>
              <a:rPr lang="en-US" sz="16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it may cause</a:t>
            </a: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6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unstructured programs</a:t>
            </a: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6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i="1"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</a:pPr>
            <a:r>
              <a:rPr i="1" lang="en-US" sz="1200"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i="1"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62" name="Google Shape;962;p84"/>
          <p:cNvSpPr txBox="1"/>
          <p:nvPr>
            <p:ph type="title"/>
          </p:nvPr>
        </p:nvSpPr>
        <p:spPr>
          <a:xfrm>
            <a:off x="762000" y="76200"/>
            <a:ext cx="77724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goto</a:t>
            </a:r>
            <a:r>
              <a:rPr lang="en-US" sz="3200">
                <a:latin typeface="Trebuchet MS"/>
                <a:ea typeface="Trebuchet MS"/>
                <a:cs typeface="Trebuchet MS"/>
                <a:sym typeface="Trebuchet MS"/>
              </a:rPr>
              <a:t> statement</a:t>
            </a:r>
            <a:endParaRPr/>
          </a:p>
        </p:txBody>
      </p:sp>
      <p:sp>
        <p:nvSpPr>
          <p:cNvPr id="963" name="Google Shape;963;p84"/>
          <p:cNvSpPr txBox="1"/>
          <p:nvPr/>
        </p:nvSpPr>
        <p:spPr>
          <a:xfrm>
            <a:off x="4800600" y="1828800"/>
            <a:ext cx="4191000" cy="24018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n=10;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&lt;&lt;n &lt;&lt;“ “;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n = n -1;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if (n&gt;0)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goto 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4" name="Google Shape;964;p84"/>
          <p:cNvSpPr txBox="1"/>
          <p:nvPr/>
        </p:nvSpPr>
        <p:spPr>
          <a:xfrm>
            <a:off x="4953000" y="4648200"/>
            <a:ext cx="3352800" cy="11366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Output: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10 9 8 7 6 5 4 3 2 1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84"/>
          <p:cNvSpPr/>
          <p:nvPr/>
        </p:nvSpPr>
        <p:spPr>
          <a:xfrm>
            <a:off x="533400" y="2057400"/>
            <a:ext cx="3962400" cy="4419600"/>
          </a:xfrm>
          <a:prstGeom prst="rect">
            <a:avLst/>
          </a:prstGeom>
          <a:solidFill>
            <a:srgbClr val="FFFF99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6" name="Google Shape;966;p84"/>
          <p:cNvGraphicFramePr/>
          <p:nvPr/>
        </p:nvGraphicFramePr>
        <p:xfrm>
          <a:off x="990600" y="1752600"/>
          <a:ext cx="3375025" cy="4495800"/>
        </p:xfrm>
        <a:graphic>
          <a:graphicData uri="http://schemas.openxmlformats.org/presentationml/2006/ole">
            <mc:AlternateContent>
              <mc:Choice Requires="v">
                <p:oleObj r:id="rId4" imgH="4495800" imgW="3375025" progId="Visio.Drawing.6" spid="_x0000_s1">
                  <p:embed/>
                </p:oleObj>
              </mc:Choice>
              <mc:Fallback>
                <p:oleObj r:id="rId5" imgH="4495800" imgW="3375025" progId="Visio.Drawing.6">
                  <p:embed/>
                  <p:pic>
                    <p:nvPicPr>
                      <p:cNvPr id="966" name="Google Shape;966;p8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90600" y="1752600"/>
                        <a:ext cx="3375025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7" name="Google Shape;967;p84"/>
          <p:cNvSpPr/>
          <p:nvPr/>
        </p:nvSpPr>
        <p:spPr>
          <a:xfrm>
            <a:off x="4038600" y="3886200"/>
            <a:ext cx="2743200" cy="1295400"/>
          </a:xfrm>
          <a:custGeom>
            <a:rect b="b" l="l" r="r" t="t"/>
            <a:pathLst>
              <a:path extrusionOk="0" h="816" w="1680">
                <a:moveTo>
                  <a:pt x="0" y="816"/>
                </a:moveTo>
                <a:cubicBezTo>
                  <a:pt x="40" y="688"/>
                  <a:pt x="80" y="560"/>
                  <a:pt x="192" y="480"/>
                </a:cubicBezTo>
                <a:cubicBezTo>
                  <a:pt x="304" y="400"/>
                  <a:pt x="464" y="368"/>
                  <a:pt x="672" y="336"/>
                </a:cubicBezTo>
                <a:cubicBezTo>
                  <a:pt x="880" y="304"/>
                  <a:pt x="1272" y="344"/>
                  <a:pt x="1440" y="288"/>
                </a:cubicBezTo>
                <a:cubicBezTo>
                  <a:pt x="1608" y="232"/>
                  <a:pt x="1644" y="116"/>
                  <a:pt x="1680" y="0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84"/>
          <p:cNvSpPr/>
          <p:nvPr/>
        </p:nvSpPr>
        <p:spPr>
          <a:xfrm>
            <a:off x="965200" y="2082800"/>
            <a:ext cx="3835400" cy="1041400"/>
          </a:xfrm>
          <a:custGeom>
            <a:rect b="b" l="l" r="r" t="t"/>
            <a:pathLst>
              <a:path extrusionOk="0" h="656" w="2416">
                <a:moveTo>
                  <a:pt x="112" y="656"/>
                </a:moveTo>
                <a:cubicBezTo>
                  <a:pt x="56" y="444"/>
                  <a:pt x="0" y="232"/>
                  <a:pt x="208" y="128"/>
                </a:cubicBezTo>
                <a:cubicBezTo>
                  <a:pt x="416" y="24"/>
                  <a:pt x="992" y="0"/>
                  <a:pt x="1360" y="32"/>
                </a:cubicBezTo>
                <a:cubicBezTo>
                  <a:pt x="1728" y="64"/>
                  <a:pt x="2072" y="192"/>
                  <a:pt x="2416" y="320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85"/>
          <p:cNvSpPr txBox="1"/>
          <p:nvPr>
            <p:ph idx="1" type="body"/>
          </p:nvPr>
        </p:nvSpPr>
        <p:spPr>
          <a:xfrm>
            <a:off x="533400" y="838200"/>
            <a:ext cx="1295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Pattern 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rebuchet MS"/>
              <a:buNone/>
            </a:pPr>
            <a:r>
              <a:rPr b="1" i="1" lang="en-US" sz="1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4" name="Google Shape;974;p85"/>
          <p:cNvSpPr txBox="1"/>
          <p:nvPr/>
        </p:nvSpPr>
        <p:spPr>
          <a:xfrm>
            <a:off x="4343400" y="2057400"/>
            <a:ext cx="3733800" cy="26574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while (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Repeated_Actions;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5" name="Google Shape;975;p85"/>
          <p:cNvSpPr txBox="1"/>
          <p:nvPr>
            <p:ph type="title"/>
          </p:nvPr>
        </p:nvSpPr>
        <p:spPr>
          <a:xfrm>
            <a:off x="2514600" y="101600"/>
            <a:ext cx="60198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latin typeface="Trebuchet MS"/>
                <a:ea typeface="Trebuchet MS"/>
                <a:cs typeface="Trebuchet MS"/>
                <a:sym typeface="Trebuchet MS"/>
              </a:rPr>
              <a:t>Translating flowchart to C++ code</a:t>
            </a:r>
            <a:endParaRPr/>
          </a:p>
        </p:txBody>
      </p:sp>
      <p:graphicFrame>
        <p:nvGraphicFramePr>
          <p:cNvPr id="976" name="Google Shape;976;p85"/>
          <p:cNvGraphicFramePr/>
          <p:nvPr/>
        </p:nvGraphicFramePr>
        <p:xfrm>
          <a:off x="533400" y="1295400"/>
          <a:ext cx="3575050" cy="4419600"/>
        </p:xfrm>
        <a:graphic>
          <a:graphicData uri="http://schemas.openxmlformats.org/presentationml/2006/ole">
            <mc:AlternateContent>
              <mc:Choice Requires="v">
                <p:oleObj r:id="rId4" imgH="4419600" imgW="3575050" progId="Visio.Drawing.6" spid="_x0000_s1">
                  <p:embed/>
                </p:oleObj>
              </mc:Choice>
              <mc:Fallback>
                <p:oleObj r:id="rId5" imgH="4419600" imgW="3575050" progId="Visio.Drawing.6">
                  <p:embed/>
                  <p:pic>
                    <p:nvPicPr>
                      <p:cNvPr id="976" name="Google Shape;976;p8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33400" y="1295400"/>
                        <a:ext cx="3575050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7" name="Google Shape;977;p85"/>
          <p:cNvGrpSpPr/>
          <p:nvPr/>
        </p:nvGrpSpPr>
        <p:grpSpPr>
          <a:xfrm>
            <a:off x="2362200" y="2971800"/>
            <a:ext cx="1600200" cy="457200"/>
            <a:chOff x="1488" y="1872"/>
            <a:chExt cx="1008" cy="288"/>
          </a:xfrm>
        </p:grpSpPr>
        <p:cxnSp>
          <p:nvCxnSpPr>
            <p:cNvPr id="978" name="Google Shape;978;p85"/>
            <p:cNvCxnSpPr/>
            <p:nvPr/>
          </p:nvCxnSpPr>
          <p:spPr>
            <a:xfrm flipH="1">
              <a:off x="1488" y="2016"/>
              <a:ext cx="240" cy="48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79" name="Google Shape;979;p85"/>
            <p:cNvSpPr txBox="1"/>
            <p:nvPr/>
          </p:nvSpPr>
          <p:spPr>
            <a:xfrm>
              <a:off x="1728" y="1872"/>
              <a:ext cx="76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Here must be a “True”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0" name="Google Shape;980;p85"/>
          <p:cNvGrpSpPr/>
          <p:nvPr/>
        </p:nvGrpSpPr>
        <p:grpSpPr>
          <a:xfrm>
            <a:off x="2895600" y="1828800"/>
            <a:ext cx="1143000" cy="838200"/>
            <a:chOff x="1824" y="1152"/>
            <a:chExt cx="720" cy="528"/>
          </a:xfrm>
        </p:grpSpPr>
        <p:cxnSp>
          <p:nvCxnSpPr>
            <p:cNvPr id="981" name="Google Shape;981;p85"/>
            <p:cNvCxnSpPr/>
            <p:nvPr/>
          </p:nvCxnSpPr>
          <p:spPr>
            <a:xfrm>
              <a:off x="2064" y="1440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82" name="Google Shape;982;p85"/>
            <p:cNvSpPr txBox="1"/>
            <p:nvPr/>
          </p:nvSpPr>
          <p:spPr>
            <a:xfrm>
              <a:off x="1824" y="1152"/>
              <a:ext cx="72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Here must be a “False”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6"/>
          <p:cNvSpPr txBox="1"/>
          <p:nvPr>
            <p:ph idx="1" type="body"/>
          </p:nvPr>
        </p:nvSpPr>
        <p:spPr>
          <a:xfrm>
            <a:off x="533400" y="838200"/>
            <a:ext cx="7620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Example: </a:t>
            </a:r>
            <a:r>
              <a:rPr i="1" lang="en-US" sz="1400">
                <a:latin typeface="Trebuchet MS"/>
                <a:ea typeface="Trebuchet MS"/>
                <a:cs typeface="Trebuchet MS"/>
                <a:sym typeface="Trebuchet MS"/>
              </a:rPr>
              <a:t>Calculate the average of odd numbers 1 to  9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rebuchet MS"/>
              <a:buNone/>
            </a:pPr>
            <a:r>
              <a:rPr b="1" i="1" lang="en-US" sz="1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8" name="Google Shape;988;p86"/>
          <p:cNvSpPr txBox="1"/>
          <p:nvPr/>
        </p:nvSpPr>
        <p:spPr>
          <a:xfrm>
            <a:off x="4343400" y="2057400"/>
            <a:ext cx="3733800" cy="32273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sum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i=1;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while (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i&lt;11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sum = sum + 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 = i + 2;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avrg = sum/5.0;</a:t>
            </a:r>
            <a:endParaRPr b="0" i="0" sz="1800" u="none" cap="none" strike="noStrike">
              <a:solidFill>
                <a:schemeClr val="folHlink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9" name="Google Shape;989;p86"/>
          <p:cNvSpPr txBox="1"/>
          <p:nvPr>
            <p:ph type="title"/>
          </p:nvPr>
        </p:nvSpPr>
        <p:spPr>
          <a:xfrm>
            <a:off x="2514600" y="101600"/>
            <a:ext cx="60198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latin typeface="Trebuchet MS"/>
                <a:ea typeface="Trebuchet MS"/>
                <a:cs typeface="Trebuchet MS"/>
                <a:sym typeface="Trebuchet MS"/>
              </a:rPr>
              <a:t>Translating flowchart to C++ code</a:t>
            </a:r>
            <a:endParaRPr/>
          </a:p>
        </p:txBody>
      </p:sp>
      <p:graphicFrame>
        <p:nvGraphicFramePr>
          <p:cNvPr id="990" name="Google Shape;990;p86"/>
          <p:cNvGraphicFramePr/>
          <p:nvPr/>
        </p:nvGraphicFramePr>
        <p:xfrm>
          <a:off x="762000" y="1066800"/>
          <a:ext cx="2887663" cy="5562600"/>
        </p:xfrm>
        <a:graphic>
          <a:graphicData uri="http://schemas.openxmlformats.org/presentationml/2006/ole">
            <mc:AlternateContent>
              <mc:Choice Requires="v">
                <p:oleObj r:id="rId4" imgH="5562600" imgW="2887663" progId="Visio.Drawing.6" spid="_x0000_s1">
                  <p:embed/>
                </p:oleObj>
              </mc:Choice>
              <mc:Fallback>
                <p:oleObj r:id="rId5" imgH="5562600" imgW="2887663" progId="Visio.Drawing.6">
                  <p:embed/>
                  <p:pic>
                    <p:nvPicPr>
                      <p:cNvPr id="990" name="Google Shape;990;p8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62000" y="1066800"/>
                        <a:ext cx="2887663" cy="556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7"/>
          <p:cNvSpPr txBox="1"/>
          <p:nvPr>
            <p:ph idx="1" type="body"/>
          </p:nvPr>
        </p:nvSpPr>
        <p:spPr>
          <a:xfrm>
            <a:off x="533400" y="838200"/>
            <a:ext cx="1295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Pattern 2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rebuchet MS"/>
              <a:buNone/>
            </a:pPr>
            <a:r>
              <a:rPr b="1" i="1" lang="en-US" sz="1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6" name="Google Shape;996;p87"/>
          <p:cNvSpPr txBox="1"/>
          <p:nvPr/>
        </p:nvSpPr>
        <p:spPr>
          <a:xfrm>
            <a:off x="4648200" y="1981200"/>
            <a:ext cx="3886200" cy="2657475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Repeated_Actions;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while(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7" name="Google Shape;997;p87"/>
          <p:cNvSpPr txBox="1"/>
          <p:nvPr>
            <p:ph type="title"/>
          </p:nvPr>
        </p:nvSpPr>
        <p:spPr>
          <a:xfrm>
            <a:off x="2438400" y="101600"/>
            <a:ext cx="6096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latin typeface="Trebuchet MS"/>
                <a:ea typeface="Trebuchet MS"/>
                <a:cs typeface="Trebuchet MS"/>
                <a:sym typeface="Trebuchet MS"/>
              </a:rPr>
              <a:t>Translating flowchart to C++ code</a:t>
            </a:r>
            <a:endParaRPr/>
          </a:p>
        </p:txBody>
      </p:sp>
      <p:graphicFrame>
        <p:nvGraphicFramePr>
          <p:cNvPr id="998" name="Google Shape;998;p87"/>
          <p:cNvGraphicFramePr/>
          <p:nvPr/>
        </p:nvGraphicFramePr>
        <p:xfrm>
          <a:off x="533400" y="1219200"/>
          <a:ext cx="3144838" cy="4548188"/>
        </p:xfrm>
        <a:graphic>
          <a:graphicData uri="http://schemas.openxmlformats.org/presentationml/2006/ole">
            <mc:AlternateContent>
              <mc:Choice Requires="v">
                <p:oleObj r:id="rId4" imgH="4548188" imgW="3144838" progId="Visio.Drawing.6" spid="_x0000_s1">
                  <p:embed/>
                </p:oleObj>
              </mc:Choice>
              <mc:Fallback>
                <p:oleObj r:id="rId5" imgH="4548188" imgW="3144838" progId="Visio.Drawing.6">
                  <p:embed/>
                  <p:pic>
                    <p:nvPicPr>
                      <p:cNvPr id="998" name="Google Shape;998;p8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33400" y="1219200"/>
                        <a:ext cx="3144838" cy="454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99" name="Google Shape;999;p87"/>
          <p:cNvCxnSpPr/>
          <p:nvPr/>
        </p:nvCxnSpPr>
        <p:spPr>
          <a:xfrm flipH="1" rot="10800000">
            <a:off x="1409700" y="4243388"/>
            <a:ext cx="76200" cy="304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0" name="Google Shape;1000;p87"/>
          <p:cNvSpPr txBox="1"/>
          <p:nvPr/>
        </p:nvSpPr>
        <p:spPr>
          <a:xfrm>
            <a:off x="723900" y="4548188"/>
            <a:ext cx="1371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iterating part must be a “True”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88"/>
          <p:cNvSpPr txBox="1"/>
          <p:nvPr>
            <p:ph idx="1" type="body"/>
          </p:nvPr>
        </p:nvSpPr>
        <p:spPr>
          <a:xfrm>
            <a:off x="533400" y="838200"/>
            <a:ext cx="7620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Example: </a:t>
            </a:r>
            <a:r>
              <a:rPr i="1" lang="en-US" sz="1400">
                <a:latin typeface="Trebuchet MS"/>
                <a:ea typeface="Trebuchet MS"/>
                <a:cs typeface="Trebuchet MS"/>
                <a:sym typeface="Trebuchet MS"/>
              </a:rPr>
              <a:t>Prints numbers 1 to 10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rebuchet MS"/>
              <a:buNone/>
            </a:pPr>
            <a:r>
              <a:rPr b="1" i="1" lang="en-US" sz="1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6" name="Google Shape;1006;p88"/>
          <p:cNvSpPr txBox="1"/>
          <p:nvPr/>
        </p:nvSpPr>
        <p:spPr>
          <a:xfrm>
            <a:off x="4343400" y="2057400"/>
            <a:ext cx="3733800" cy="25669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i=1;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cout &lt;&lt;i &lt;&lt;endl;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 = i + 1;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while (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i&lt;11</a:t>
            </a:r>
            <a:r>
              <a:rPr b="1" i="0" lang="en-US" sz="18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7" name="Google Shape;1007;p88"/>
          <p:cNvSpPr txBox="1"/>
          <p:nvPr>
            <p:ph type="title"/>
          </p:nvPr>
        </p:nvSpPr>
        <p:spPr>
          <a:xfrm>
            <a:off x="2286000" y="101600"/>
            <a:ext cx="6248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latin typeface="Trebuchet MS"/>
                <a:ea typeface="Trebuchet MS"/>
                <a:cs typeface="Trebuchet MS"/>
                <a:sym typeface="Trebuchet MS"/>
              </a:rPr>
              <a:t>Translating flowchart to C++ code</a:t>
            </a:r>
            <a:endParaRPr/>
          </a:p>
        </p:txBody>
      </p:sp>
      <p:graphicFrame>
        <p:nvGraphicFramePr>
          <p:cNvPr id="1008" name="Google Shape;1008;p88"/>
          <p:cNvGraphicFramePr/>
          <p:nvPr/>
        </p:nvGraphicFramePr>
        <p:xfrm>
          <a:off x="685800" y="1371600"/>
          <a:ext cx="2627313" cy="5181600"/>
        </p:xfrm>
        <a:graphic>
          <a:graphicData uri="http://schemas.openxmlformats.org/presentationml/2006/ole">
            <mc:AlternateContent>
              <mc:Choice Requires="v">
                <p:oleObj r:id="rId4" imgH="5181600" imgW="2627313" progId="Visio.Drawing.6" spid="_x0000_s1">
                  <p:embed/>
                </p:oleObj>
              </mc:Choice>
              <mc:Fallback>
                <p:oleObj r:id="rId5" imgH="5181600" imgW="2627313" progId="Visio.Drawing.6">
                  <p:embed/>
                  <p:pic>
                    <p:nvPicPr>
                      <p:cNvPr id="1008" name="Google Shape;1008;p8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85800" y="1371600"/>
                        <a:ext cx="2627313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89"/>
          <p:cNvSpPr txBox="1"/>
          <p:nvPr>
            <p:ph idx="1" type="body"/>
          </p:nvPr>
        </p:nvSpPr>
        <p:spPr>
          <a:xfrm>
            <a:off x="533400" y="838200"/>
            <a:ext cx="1295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Pattern 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rebuchet MS"/>
              <a:buNone/>
            </a:pPr>
            <a:r>
              <a:rPr b="1" i="1" lang="en-US" sz="1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14" name="Google Shape;1014;p89"/>
          <p:cNvSpPr txBox="1"/>
          <p:nvPr/>
        </p:nvSpPr>
        <p:spPr>
          <a:xfrm>
            <a:off x="3886200" y="1295400"/>
            <a:ext cx="4648200" cy="181451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initialize; condition; update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Repeated_Actions;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5" name="Google Shape;1015;p89"/>
          <p:cNvSpPr txBox="1"/>
          <p:nvPr>
            <p:ph type="title"/>
          </p:nvPr>
        </p:nvSpPr>
        <p:spPr>
          <a:xfrm>
            <a:off x="2514600" y="101600"/>
            <a:ext cx="60198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latin typeface="Trebuchet MS"/>
                <a:ea typeface="Trebuchet MS"/>
                <a:cs typeface="Trebuchet MS"/>
                <a:sym typeface="Trebuchet MS"/>
              </a:rPr>
              <a:t>Translating flowchart to C++ code</a:t>
            </a:r>
            <a:endParaRPr/>
          </a:p>
        </p:txBody>
      </p:sp>
      <p:graphicFrame>
        <p:nvGraphicFramePr>
          <p:cNvPr id="1016" name="Google Shape;1016;p89"/>
          <p:cNvGraphicFramePr/>
          <p:nvPr/>
        </p:nvGraphicFramePr>
        <p:xfrm>
          <a:off x="533400" y="1219200"/>
          <a:ext cx="3133725" cy="5257800"/>
        </p:xfrm>
        <a:graphic>
          <a:graphicData uri="http://schemas.openxmlformats.org/presentationml/2006/ole">
            <mc:AlternateContent>
              <mc:Choice Requires="v">
                <p:oleObj r:id="rId4" imgH="5257800" imgW="3133725" progId="Visio.Drawing.6" spid="_x0000_s1">
                  <p:embed/>
                </p:oleObj>
              </mc:Choice>
              <mc:Fallback>
                <p:oleObj r:id="rId5" imgH="5257800" imgW="3133725" progId="Visio.Drawing.6">
                  <p:embed/>
                  <p:pic>
                    <p:nvPicPr>
                      <p:cNvPr id="1016" name="Google Shape;1016;p8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33400" y="1219200"/>
                        <a:ext cx="3133725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7" name="Google Shape;1017;p89"/>
          <p:cNvSpPr/>
          <p:nvPr/>
        </p:nvSpPr>
        <p:spPr>
          <a:xfrm>
            <a:off x="3962400" y="3276600"/>
            <a:ext cx="1295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1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18" name="Google Shape;1018;p89"/>
          <p:cNvSpPr txBox="1"/>
          <p:nvPr/>
        </p:nvSpPr>
        <p:spPr>
          <a:xfrm>
            <a:off x="3886200" y="3733800"/>
            <a:ext cx="4648200" cy="24018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initialize;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while (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Repeated_Actions;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update;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0"/>
          <p:cNvSpPr txBox="1"/>
          <p:nvPr/>
        </p:nvSpPr>
        <p:spPr>
          <a:xfrm>
            <a:off x="3886200" y="1295400"/>
            <a:ext cx="4648200" cy="181451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total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i=1; i&lt;11; i++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total = total + 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&lt;&lt;total;</a:t>
            </a:r>
            <a:endParaRPr b="0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4" name="Google Shape;1024;p90"/>
          <p:cNvSpPr txBox="1"/>
          <p:nvPr>
            <p:ph type="title"/>
          </p:nvPr>
        </p:nvSpPr>
        <p:spPr>
          <a:xfrm>
            <a:off x="2362200" y="101600"/>
            <a:ext cx="61722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>
                <a:latin typeface="Trebuchet MS"/>
                <a:ea typeface="Trebuchet MS"/>
                <a:cs typeface="Trebuchet MS"/>
                <a:sym typeface="Trebuchet MS"/>
              </a:rPr>
              <a:t>Translating flowchart to C++ code</a:t>
            </a:r>
            <a:endParaRPr/>
          </a:p>
        </p:txBody>
      </p:sp>
      <p:sp>
        <p:nvSpPr>
          <p:cNvPr id="1025" name="Google Shape;1025;p90"/>
          <p:cNvSpPr/>
          <p:nvPr/>
        </p:nvSpPr>
        <p:spPr>
          <a:xfrm>
            <a:off x="3962400" y="3276600"/>
            <a:ext cx="1295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1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6" name="Google Shape;1026;p90"/>
          <p:cNvSpPr txBox="1"/>
          <p:nvPr/>
        </p:nvSpPr>
        <p:spPr>
          <a:xfrm>
            <a:off x="3886200" y="3733800"/>
            <a:ext cx="4648200" cy="24018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total = 0;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i=1;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while (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i&lt;11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total = total + 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folHlink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&lt;&lt;total;</a:t>
            </a:r>
            <a:endParaRPr b="0" i="0" sz="16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7" name="Google Shape;1027;p90"/>
          <p:cNvSpPr txBox="1"/>
          <p:nvPr>
            <p:ph idx="1" type="body"/>
          </p:nvPr>
        </p:nvSpPr>
        <p:spPr>
          <a:xfrm>
            <a:off x="533400" y="838200"/>
            <a:ext cx="76200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</a:pPr>
            <a:r>
              <a:rPr b="1" i="1" lang="en-US" sz="1600">
                <a:latin typeface="Trebuchet MS"/>
                <a:ea typeface="Trebuchet MS"/>
                <a:cs typeface="Trebuchet MS"/>
                <a:sym typeface="Trebuchet MS"/>
              </a:rPr>
              <a:t>Example: </a:t>
            </a:r>
            <a:r>
              <a:rPr i="1" lang="en-US" sz="1400">
                <a:latin typeface="Trebuchet MS"/>
                <a:ea typeface="Trebuchet MS"/>
                <a:cs typeface="Trebuchet MS"/>
                <a:sym typeface="Trebuchet MS"/>
              </a:rPr>
              <a:t>Print the total of numbers 1 to  10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rebuchet MS"/>
              <a:buNone/>
            </a:pPr>
            <a:r>
              <a:rPr b="1" i="1" lang="en-US" sz="1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		</a:t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1"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028" name="Google Shape;1028;p90"/>
          <p:cNvGraphicFramePr/>
          <p:nvPr/>
        </p:nvGraphicFramePr>
        <p:xfrm>
          <a:off x="533400" y="1219200"/>
          <a:ext cx="2511425" cy="5410200"/>
        </p:xfrm>
        <a:graphic>
          <a:graphicData uri="http://schemas.openxmlformats.org/presentationml/2006/ole">
            <mc:AlternateContent>
              <mc:Choice Requires="v">
                <p:oleObj r:id="rId4" imgH="5410200" imgW="2511425" progId="Visio.Drawing.6" spid="_x0000_s1">
                  <p:embed/>
                </p:oleObj>
              </mc:Choice>
              <mc:Fallback>
                <p:oleObj r:id="rId5" imgH="5410200" imgW="2511425" progId="Visio.Drawing.6">
                  <p:embed/>
                  <p:pic>
                    <p:nvPicPr>
                      <p:cNvPr id="1028" name="Google Shape;1028;p9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33400" y="1219200"/>
                        <a:ext cx="2511425" cy="541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91"/>
          <p:cNvSpPr txBox="1"/>
          <p:nvPr>
            <p:ph type="title"/>
          </p:nvPr>
        </p:nvSpPr>
        <p:spPr>
          <a:xfrm>
            <a:off x="304800" y="685800"/>
            <a:ext cx="853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Deciding Which Loop to Use</a:t>
            </a:r>
            <a:endParaRPr/>
          </a:p>
        </p:txBody>
      </p:sp>
      <p:sp>
        <p:nvSpPr>
          <p:cNvPr id="1034" name="Google Shape;1034;p91"/>
          <p:cNvSpPr txBox="1"/>
          <p:nvPr>
            <p:ph idx="1" type="body"/>
          </p:nvPr>
        </p:nvSpPr>
        <p:spPr>
          <a:xfrm>
            <a:off x="685800" y="1752600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</a:t>
            </a:r>
            <a:r>
              <a:rPr b="1" lang="en-US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/>
              <a:t>: pretest loop (loop body may not be executed at all)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</a:t>
            </a:r>
            <a:r>
              <a:rPr b="1" lang="en-US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do-while</a:t>
            </a:r>
            <a:r>
              <a:rPr lang="en-US"/>
              <a:t>: post test loop (loop body will always be executed at least once)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</a:t>
            </a:r>
            <a:r>
              <a:rPr b="1" lang="en-US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/>
              <a:t>: pretest loop (loop body may not be executed at all); has initialization and update code; is useful with counters or if precise number of repetitions is known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92"/>
          <p:cNvSpPr txBox="1"/>
          <p:nvPr>
            <p:ph type="title"/>
          </p:nvPr>
        </p:nvSpPr>
        <p:spPr>
          <a:xfrm>
            <a:off x="457200" y="427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Nested Loops</a:t>
            </a:r>
            <a:endParaRPr/>
          </a:p>
        </p:txBody>
      </p:sp>
      <p:sp>
        <p:nvSpPr>
          <p:cNvPr id="1041" name="Google Shape;1041;p92"/>
          <p:cNvSpPr txBox="1"/>
          <p:nvPr>
            <p:ph idx="1" type="body"/>
          </p:nvPr>
        </p:nvSpPr>
        <p:spPr>
          <a:xfrm>
            <a:off x="228600" y="1981200"/>
            <a:ext cx="8610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</a:t>
            </a:r>
            <a:r>
              <a:rPr lang="en-US">
                <a:solidFill>
                  <a:schemeClr val="accent2"/>
                </a:solidFill>
              </a:rPr>
              <a:t>nested loop</a:t>
            </a:r>
            <a:r>
              <a:rPr lang="en-US"/>
              <a:t> is a loop inside the body of another loop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for (row</a:t>
            </a:r>
            <a:r>
              <a:rPr b="1" lang="en-US">
                <a:solidFill>
                  <a:srgbClr val="3D8963"/>
                </a:solidFill>
              </a:rPr>
              <a:t>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-US">
                <a:solidFill>
                  <a:srgbClr val="3D8963"/>
                </a:solidFill>
              </a:rPr>
              <a:t>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1; row</a:t>
            </a:r>
            <a:r>
              <a:rPr b="1" lang="en-US">
                <a:solidFill>
                  <a:srgbClr val="3D8963"/>
                </a:solidFill>
              </a:rPr>
              <a:t>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b="1" lang="en-US">
                <a:solidFill>
                  <a:srgbClr val="3D8963"/>
                </a:solidFill>
              </a:rPr>
              <a:t>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3; row++)</a:t>
            </a:r>
            <a:endParaRPr b="1" sz="2400">
              <a:solidFill>
                <a:srgbClr val="3D896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{                         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 	for (col</a:t>
            </a:r>
            <a:r>
              <a:rPr b="1" lang="en-US">
                <a:solidFill>
                  <a:srgbClr val="3D8963"/>
                </a:solidFill>
              </a:rPr>
              <a:t>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-US">
                <a:solidFill>
                  <a:srgbClr val="3D8963"/>
                </a:solidFill>
              </a:rPr>
              <a:t>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1; col</a:t>
            </a:r>
            <a:r>
              <a:rPr b="1" lang="en-US">
                <a:solidFill>
                  <a:srgbClr val="3D8963"/>
                </a:solidFill>
              </a:rPr>
              <a:t>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b="1" lang="en-US">
                <a:solidFill>
                  <a:srgbClr val="3D8963"/>
                </a:solidFill>
              </a:rPr>
              <a:t>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3; col++)</a:t>
            </a:r>
            <a:endParaRPr b="1" sz="2400">
              <a:solidFill>
                <a:srgbClr val="3D896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 {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    cout &lt;&lt; row * col &lt;&lt; endl;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3D8963"/>
              </a:solidFill>
            </a:endParaRPr>
          </a:p>
        </p:txBody>
      </p:sp>
      <p:sp>
        <p:nvSpPr>
          <p:cNvPr id="1042" name="Google Shape;1042;p92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43" name="Google Shape;1043;p92"/>
          <p:cNvGrpSpPr/>
          <p:nvPr/>
        </p:nvGrpSpPr>
        <p:grpSpPr>
          <a:xfrm>
            <a:off x="6400800" y="3276600"/>
            <a:ext cx="2057400" cy="2743200"/>
            <a:chOff x="3744" y="2064"/>
            <a:chExt cx="1344" cy="1728"/>
          </a:xfrm>
        </p:grpSpPr>
        <p:cxnSp>
          <p:nvCxnSpPr>
            <p:cNvPr id="1044" name="Google Shape;1044;p92"/>
            <p:cNvCxnSpPr/>
            <p:nvPr/>
          </p:nvCxnSpPr>
          <p:spPr>
            <a:xfrm>
              <a:off x="3888" y="2304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5" name="Google Shape;1045;p92"/>
            <p:cNvCxnSpPr/>
            <p:nvPr/>
          </p:nvCxnSpPr>
          <p:spPr>
            <a:xfrm>
              <a:off x="3744" y="3792"/>
              <a:ext cx="13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6" name="Google Shape;1046;p92"/>
            <p:cNvCxnSpPr/>
            <p:nvPr/>
          </p:nvCxnSpPr>
          <p:spPr>
            <a:xfrm>
              <a:off x="5088" y="2304"/>
              <a:ext cx="0" cy="14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7" name="Google Shape;1047;p92"/>
            <p:cNvSpPr txBox="1"/>
            <p:nvPr/>
          </p:nvSpPr>
          <p:spPr>
            <a:xfrm>
              <a:off x="3888" y="2064"/>
              <a:ext cx="120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</a:t>
              </a:r>
              <a:r>
                <a:rPr b="1" i="0" lang="en-US" sz="18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outer loop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8" name="Google Shape;1048;p92"/>
          <p:cNvGrpSpPr/>
          <p:nvPr/>
        </p:nvGrpSpPr>
        <p:grpSpPr>
          <a:xfrm>
            <a:off x="7162800" y="4495800"/>
            <a:ext cx="1066800" cy="1143000"/>
            <a:chOff x="4128" y="2832"/>
            <a:chExt cx="672" cy="720"/>
          </a:xfrm>
        </p:grpSpPr>
        <p:cxnSp>
          <p:nvCxnSpPr>
            <p:cNvPr id="1049" name="Google Shape;1049;p92"/>
            <p:cNvCxnSpPr/>
            <p:nvPr/>
          </p:nvCxnSpPr>
          <p:spPr>
            <a:xfrm>
              <a:off x="4128" y="2832"/>
              <a:ext cx="6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0" name="Google Shape;1050;p92"/>
            <p:cNvCxnSpPr/>
            <p:nvPr/>
          </p:nvCxnSpPr>
          <p:spPr>
            <a:xfrm>
              <a:off x="4176" y="3552"/>
              <a:ext cx="62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1" name="Google Shape;1051;p92"/>
            <p:cNvCxnSpPr/>
            <p:nvPr/>
          </p:nvCxnSpPr>
          <p:spPr>
            <a:xfrm>
              <a:off x="4800" y="2832"/>
              <a:ext cx="0" cy="7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52" name="Google Shape;1052;p92"/>
          <p:cNvSpPr txBox="1"/>
          <p:nvPr/>
        </p:nvSpPr>
        <p:spPr>
          <a:xfrm>
            <a:off x="6934200" y="40386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inner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Notes on Nested Loops</a:t>
            </a:r>
            <a:endParaRPr/>
          </a:p>
        </p:txBody>
      </p:sp>
      <p:sp>
        <p:nvSpPr>
          <p:cNvPr id="1059" name="Google Shape;1059;p9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Inner loop goes through all its repetitions for each repetition of outer loop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Inner loop repetitions complete sooner than outer loop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Total number of repetitions for inner loop is product of number of repetitions of the two loops.  In previous example, inner loop repeats 9 times</a:t>
            </a:r>
            <a:endParaRPr/>
          </a:p>
        </p:txBody>
      </p:sp>
      <p:sp>
        <p:nvSpPr>
          <p:cNvPr id="1060" name="Google Shape;1060;p93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94"/>
          <p:cNvSpPr txBox="1"/>
          <p:nvPr>
            <p:ph type="title"/>
          </p:nvPr>
        </p:nvSpPr>
        <p:spPr>
          <a:xfrm>
            <a:off x="9144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In-Class Exercise</a:t>
            </a:r>
            <a:endParaRPr/>
          </a:p>
        </p:txBody>
      </p:sp>
      <p:sp>
        <p:nvSpPr>
          <p:cNvPr id="1066" name="Google Shape;1066;p94"/>
          <p:cNvSpPr txBox="1"/>
          <p:nvPr>
            <p:ph idx="1" type="body"/>
          </p:nvPr>
        </p:nvSpPr>
        <p:spPr>
          <a:xfrm>
            <a:off x="0" y="1052513"/>
            <a:ext cx="91440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How many times the outer loop is executed? How many times the inner loop is executed? What is the output?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#include &lt;iostream&gt;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using namespace std;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int main()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{   int x, y;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	 for(x=1;x&lt;=8;x+=2)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   for(y=x;y&lt;=10;y+=3)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     cout&lt;&lt;"\nx = " &lt;&lt;x &lt;&lt; "  y = "&lt;&lt;y;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	 return 0;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2014-02-24T04:16:52Z</dcterms:created>
  <dc:creator>user</dc:creator>
</cp:coreProperties>
</file>