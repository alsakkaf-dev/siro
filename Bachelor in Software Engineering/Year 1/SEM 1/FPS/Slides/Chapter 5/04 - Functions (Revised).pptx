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1" roundtripDataSignature="AMtx7miYMMxf9HY1mkuVTNLSYJUppwJr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7F6BD8-B183-4A45-9E9C-4D10EFA3AC8C}">
  <a:tblStyle styleId="{587F6BD8-B183-4A45-9E9C-4D10EFA3AC8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2">
              <a:alpha val="40000"/>
            </a:schemeClr>
          </a:solidFill>
        </a:fill>
      </a:tcStyle>
    </a:band1H>
    <a:band2H>
      <a:tcTxStyle b="off" i="off"/>
    </a:band2H>
    <a:band1V>
      <a:tcTxStyle b="off" i="off"/>
      <a:tcStyle>
        <a:tcBdr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TxStyle b="off" i="off"/>
    </a:band2V>
    <a:lastCol>
      <a:tcTxStyle b="on" i="off"/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2"/>
          </a:solidFill>
        </a:fill>
      </a:tcStyle>
    </a:firstRow>
    <a:neCell>
      <a:tcTxStyle b="off" i="off"/>
    </a:neCell>
    <a:nwCell>
      <a:tcTxStyle b="off" i="off"/>
    </a:nwCell>
  </a:tblStyle>
  <a:tblStyle styleId="{57CD7B68-E033-40DC-9DD4-AE2A2A45795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F4E8E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4E8E8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firstRow>
    <a:neCell>
      <a:tcTxStyle b="off" i="off"/>
    </a:neCell>
    <a:nwCell>
      <a:tcTxStyle b="off" i="off"/>
    </a:nwCell>
  </a:tblStyle>
  <a:tblStyle styleId="{2AB2AA51-2BCB-4038-88BD-98FFEAEC0D6B}" styleName="Table_2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1" Type="http://customschemas.google.com/relationships/presentationmetadata" Target="metadata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p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p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p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p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p5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5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5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8" name="Google Shape;468;p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p5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p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5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p5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9" name="Google Shape;499;p5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p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p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7" name="Google Shape;527;p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p6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p6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6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2" name="Google Shape;552;p6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9" name="Google Shape;559;p6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6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2" name="Google Shape;572;p7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p7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4" name="Google Shape;584;p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0" name="Google Shape;590;p7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4" name="Google Shape;604;p7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0" name="Google Shape;610;p7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p7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2" name="Google Shape;622;p7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8" name="Google Shape;628;p7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8" name="Google Shape;638;p7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5" name="Google Shape;645;p8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p8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0" name="Google Shape;660;p8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p8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3" name="Google Shape;673;p8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6" name="Google Shape;686;p8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3" name="Google Shape;693;p8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9" name="Google Shape;699;p8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5" name="Google Shape;705;p8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p8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7" name="Google Shape;717;p9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4" name="Google Shape;724;p9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p9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6" name="Google Shape;736;p9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2" name="Google Shape;742;p9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8" name="Google Shape;748;p9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5" name="Google Shape;755;p9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2" name="Google Shape;762;p9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8" name="Google Shape;768;p9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4" name="Google Shape;774;p9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0" name="Google Shape;780;p10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8" name="Google Shape;788;p10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7" name="Google Shape;797;p10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3" name="Google Shape;803;p10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9" name="Google Shape;809;p10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5" name="Google Shape;815;p10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2" name="Google Shape;822;p10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8" name="Google Shape;828;p10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6" name="Google Shape;836;p10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3" name="Google Shape;843;p10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1" name="Google Shape;851;p1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7" name="Google Shape;857;p1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4" name="Google Shape;864;p1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p1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6" name="Google Shape;876;p1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6" name="Google Shape;886;p1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5" name="Google Shape;895;p1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1" name="Google Shape;901;p1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7" name="Google Shape;907;p1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4" name="Google Shape;914;p1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0" name="Google Shape;920;p1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0" name="Google Shape;930;p1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7" name="Google Shape;937;p1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3" name="Google Shape;943;p1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9" name="Google Shape;949;p1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5" name="Google Shape;955;p1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2" name="Google Shape;962;p1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8" name="Google Shape;968;p1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4" name="Google Shape;974;p1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0" name="Google Shape;980;p1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1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6" name="Google Shape;996;p1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3" name="Google Shape;1003;p1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9" name="Google Shape;1009;p1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5" name="Google Shape;1015;p1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3" name="Google Shape;1023;p1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7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4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1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4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14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4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1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4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1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4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1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4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3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5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7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9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4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8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0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3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26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28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32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30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25.png"/><Relationship Id="rId4" Type="http://schemas.openxmlformats.org/officeDocument/2006/relationships/image" Target="../media/image39.png"/><Relationship Id="rId5" Type="http://schemas.openxmlformats.org/officeDocument/2006/relationships/image" Target="../media/image27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21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24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23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29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38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37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36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34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33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35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31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04: FUNCTION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Modular Programming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Char char="•"/>
            </a:pPr>
            <a:r>
              <a:rPr b="1" lang="en-US">
                <a:solidFill>
                  <a:srgbClr val="00B0F0"/>
                </a:solidFill>
              </a:rPr>
              <a:t>Modular programming</a:t>
            </a:r>
            <a:r>
              <a:rPr lang="en-US"/>
              <a:t>: breaking a program up into smaller, manageable functions or modules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•"/>
            </a:pPr>
            <a:r>
              <a:rPr b="1" lang="en-US">
                <a:solidFill>
                  <a:srgbClr val="00B0F0"/>
                </a:solidFill>
              </a:rPr>
              <a:t>Function</a:t>
            </a:r>
            <a:r>
              <a:rPr lang="en-US"/>
              <a:t>: a collection of statements to perform a task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Motivation for modular programming: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Improves maintainability of programs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Simplifies the process of writing programs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601sowc copy"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1935" y="609600"/>
            <a:ext cx="7168662" cy="5824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Function</a:t>
            </a:r>
            <a:endParaRPr/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</a:t>
            </a:r>
            <a:r>
              <a:rPr b="1" lang="en-US">
                <a:solidFill>
                  <a:srgbClr val="00B0F0"/>
                </a:solidFill>
              </a:rPr>
              <a:t>collection of statements </a:t>
            </a:r>
            <a:r>
              <a:rPr lang="en-US"/>
              <a:t>that performs a specific task.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Commonly used to </a:t>
            </a:r>
            <a:r>
              <a:rPr b="1" lang="en-US">
                <a:solidFill>
                  <a:srgbClr val="00B0F0"/>
                </a:solidFill>
              </a:rPr>
              <a:t>break a problem </a:t>
            </a:r>
            <a:r>
              <a:rPr lang="en-US"/>
              <a:t>down into small manageable pieces.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 C++, there are 2 types of function: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Library functions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User-defined functions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Library Functions</a:t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“Built-in" functions that </a:t>
            </a:r>
            <a:r>
              <a:rPr b="1" lang="en-US">
                <a:solidFill>
                  <a:srgbClr val="00B0F0"/>
                </a:solidFill>
              </a:rPr>
              <a:t>come with the compiler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source code (definition) for library functions does NOT appear in your program.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use a library function, you simply need to </a:t>
            </a:r>
            <a:r>
              <a:rPr b="1" lang="en-US">
                <a:solidFill>
                  <a:srgbClr val="00B0F0"/>
                </a:solidFill>
              </a:rPr>
              <a:t>include the proper header file </a:t>
            </a:r>
            <a:r>
              <a:rPr lang="en-US"/>
              <a:t>and know the name of the function that you wish to use.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en-US"/>
              <a:t>#include </a:t>
            </a:r>
            <a:r>
              <a:rPr i="1" lang="en-US"/>
              <a:t>compiler directive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Library Functions (cont.)</a:t>
            </a:r>
            <a:endParaRPr/>
          </a:p>
        </p:txBody>
      </p:sp>
      <p:sp>
        <p:nvSpPr>
          <p:cNvPr id="119" name="Google Shape;119;p6"/>
          <p:cNvSpPr txBox="1"/>
          <p:nvPr/>
        </p:nvSpPr>
        <p:spPr>
          <a:xfrm>
            <a:off x="457200" y="1600200"/>
            <a:ext cx="7392988" cy="750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Libraries under discussion at this time: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0" name="Google Shape;120;p6"/>
          <p:cNvGraphicFramePr/>
          <p:nvPr/>
        </p:nvGraphicFramePr>
        <p:xfrm>
          <a:off x="533400" y="2351088"/>
          <a:ext cx="3000000" cy="3000000"/>
        </p:xfrm>
        <a:graphic>
          <a:graphicData uri="http://schemas.openxmlformats.org/drawingml/2006/table">
            <a:tbl>
              <a:tblPr firstRow="1">
                <a:gradFill>
                  <a:gsLst>
                    <a:gs pos="0">
                      <a:srgbClr val="FFA09D"/>
                    </a:gs>
                    <a:gs pos="35000">
                      <a:srgbClr val="FFBCBC"/>
                    </a:gs>
                    <a:gs pos="100000">
                      <a:srgbClr val="FFE2E2"/>
                    </a:gs>
                  </a:gsLst>
                  <a:lin ang="16200000" scaled="0"/>
                </a:gradFill>
                <a:tableStyleId>{587F6BD8-B183-4A45-9E9C-4D10EFA3AC8C}</a:tableStyleId>
              </a:tblPr>
              <a:tblGrid>
                <a:gridCol w="2895600"/>
                <a:gridCol w="5257800"/>
              </a:tblGrid>
              <a:tr h="68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Compiler directive</a:t>
                      </a:r>
                      <a:endParaRPr b="1" i="0" sz="2400" u="none" cap="none" strike="noStrike">
                        <a:solidFill>
                          <a:srgbClr val="D6009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Purpose</a:t>
                      </a:r>
                      <a:endParaRPr b="1" i="0" sz="2400" u="none" cap="none" strike="noStrike">
                        <a:solidFill>
                          <a:srgbClr val="D6009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757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&lt;cctype&gt;  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Character classification</a:t>
                      </a:r>
                      <a:br>
                        <a:rPr lang="en-US" sz="2400" u="none" cap="none" strike="noStrike"/>
                      </a:br>
                      <a:r>
                        <a:rPr lang="en-US" sz="2400" u="none" cap="none" strike="noStrike"/>
                        <a:t>and conversion 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68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&lt;cmath&gt; 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Math functions 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690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&lt;cstdlib&gt; 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Data conversion 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68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&lt;ctime&gt; 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Time functions 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Library Functions (cont.)</a:t>
            </a:r>
            <a:endParaRPr/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collection of specialized functions.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C++ promotes code reuse with predefined classes and functions in the standard library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functions work as a black box: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3846286" y="4343400"/>
            <a:ext cx="1752600" cy="1066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sqrt(x)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2169886" y="4343400"/>
            <a:ext cx="1676400" cy="914400"/>
          </a:xfrm>
          <a:prstGeom prst="rightArrow">
            <a:avLst>
              <a:gd fmla="val 50000" name="adj1"/>
              <a:gd fmla="val 458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x=4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598886" y="4419600"/>
            <a:ext cx="1676400" cy="914400"/>
          </a:xfrm>
          <a:prstGeom prst="rightArrow">
            <a:avLst>
              <a:gd fmla="val 50000" name="adj1"/>
              <a:gd fmla="val 458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Math Functions</a:t>
            </a:r>
            <a:endParaRPr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Required header:  #include &lt;cmath&gt;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Example functions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136" name="Google Shape;136;p8"/>
          <p:cNvGraphicFramePr/>
          <p:nvPr/>
        </p:nvGraphicFramePr>
        <p:xfrm>
          <a:off x="457200" y="2775522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{57CD7B68-E033-40DC-9DD4-AE2A2A45795C}</a:tableStyleId>
              </a:tblPr>
              <a:tblGrid>
                <a:gridCol w="1752600"/>
                <a:gridCol w="6477000"/>
              </a:tblGrid>
              <a:tr h="53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Function</a:t>
                      </a:r>
                      <a:endParaRPr b="0" i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40000" marR="80000" marL="80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Purpose</a:t>
                      </a:r>
                      <a:endParaRPr b="0" i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40000" marR="80000" marL="80000" anchor="ctr"/>
                </a:tc>
              </a:tr>
              <a:tr h="54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abs(x) </a:t>
                      </a:r>
                      <a:endParaRPr b="1" i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40000" marR="80000" marL="80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returns the absolute value of an integer. </a:t>
                      </a:r>
                      <a:endParaRPr b="0" i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40000" marR="80000" marL="80000" anchor="ctr"/>
                </a:tc>
              </a:tr>
              <a:tr h="71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pow(x,y) </a:t>
                      </a:r>
                      <a:endParaRPr b="1" i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40000" marR="80000" marL="80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calculates x to the power of y.  If x is negative, y must be an integer.  If x is zero, y must be a positive integer. </a:t>
                      </a:r>
                      <a:endParaRPr b="0" i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40000" marR="80000" marL="80000" anchor="ctr"/>
                </a:tc>
              </a:tr>
              <a:tr h="54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pow10(x) </a:t>
                      </a:r>
                      <a:endParaRPr b="1" i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40000" marR="80000" marL="80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calculates 10 to the power of x. </a:t>
                      </a:r>
                      <a:endParaRPr b="0" i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40000" marR="80000" marL="80000" anchor="ctr"/>
                </a:tc>
              </a:tr>
              <a:tr h="72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sqrt(x) </a:t>
                      </a:r>
                      <a:endParaRPr b="1" i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40000" marR="80000" marL="80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calculates the positive square root of x.</a:t>
                      </a:r>
                      <a:br>
                        <a:rPr lang="en-US" sz="1900" u="none" cap="none" strike="noStrike"/>
                      </a:br>
                      <a:r>
                        <a:rPr lang="en-US" sz="1900" u="none" cap="none" strike="noStrike"/>
                        <a:t>(x is &gt;=0) </a:t>
                      </a:r>
                      <a:endParaRPr b="0" i="0" sz="1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40000" marR="80000" marL="80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Library Functions: Example 1</a:t>
            </a:r>
            <a:endParaRPr/>
          </a:p>
        </p:txBody>
      </p:sp>
      <p:sp>
        <p:nvSpPr>
          <p:cNvPr id="142" name="Google Shape;142;p9"/>
          <p:cNvSpPr txBox="1"/>
          <p:nvPr/>
        </p:nvSpPr>
        <p:spPr>
          <a:xfrm>
            <a:off x="136478" y="1417638"/>
            <a:ext cx="8855122" cy="498316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&lt;cmath&gt;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double area, radius;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cout&lt;&lt; "This program calculates the area of a circle.\n";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cout&lt;&lt;"What is the radius of the circle? 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cin&gt;&gt;radius;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area=3.14159 * </a:t>
            </a:r>
            <a:r>
              <a:rPr b="1" i="0" lang="en-US" sz="2000" u="none" cap="none" strike="noStrike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pow(radius,2.0)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cout&lt;&lt;"The area is " &lt;&lt; area &lt;&lt;endl;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system (“pause”);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return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Library Functions: Example 2</a:t>
            </a:r>
            <a:endParaRPr/>
          </a:p>
        </p:txBody>
      </p:sp>
      <p:sp>
        <p:nvSpPr>
          <p:cNvPr id="148" name="Google Shape;148;p10"/>
          <p:cNvSpPr txBox="1"/>
          <p:nvPr/>
        </p:nvSpPr>
        <p:spPr>
          <a:xfrm>
            <a:off x="135675" y="1417638"/>
            <a:ext cx="8855925" cy="4973769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&lt;cmath&gt;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int nom1,nom2, result;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cout&lt;&lt;"Enter two numbers";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cin&gt;&gt;nom1&gt;&gt;nom2;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if ((nom1&lt;0)||(nom2&lt;0))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{   cout&lt;&lt;“negative number/s";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result= </a:t>
            </a:r>
            <a:r>
              <a:rPr b="1" i="0" lang="en-US" sz="2000" u="none" cap="none" strike="noStrike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sqrt(nom1 + nom2)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cout&lt;&lt;"The square root of "&lt;&lt; nom1+nom2 &lt;&lt; "is"             &lt;&lt; result;}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More Mathematical Functions</a:t>
            </a:r>
            <a:endParaRPr/>
          </a:p>
        </p:txBody>
      </p:sp>
      <p:sp>
        <p:nvSpPr>
          <p:cNvPr id="154" name="Google Shape;154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Require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cmath</a:t>
            </a:r>
            <a:r>
              <a:rPr lang="en-US" sz="2600"/>
              <a:t> header file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Take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2600"/>
              <a:t> as input, return a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Commonly used functions:</a:t>
            </a:r>
            <a:endParaRPr/>
          </a:p>
          <a:p>
            <a:pPr indent="-1778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  <p:graphicFrame>
        <p:nvGraphicFramePr>
          <p:cNvPr id="155" name="Google Shape;155;p11"/>
          <p:cNvGraphicFramePr/>
          <p:nvPr/>
        </p:nvGraphicFramePr>
        <p:xfrm>
          <a:off x="1524000" y="34314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{2AB2AA51-2BCB-4038-88BD-98FFEAEC0D6B}</a:tableStyleId>
              </a:tblPr>
              <a:tblGrid>
                <a:gridCol w="1447800"/>
                <a:gridCol w="4648200"/>
              </a:tblGrid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Sine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Cosine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tan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Tangent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sqrt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Square root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Natural (e) log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abs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Absolute value </a:t>
                      </a: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(takes and returns an int)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More Mathematical Functions</a:t>
            </a:r>
            <a:endParaRPr/>
          </a:p>
        </p:txBody>
      </p:sp>
      <p:pic>
        <p:nvPicPr>
          <p:cNvPr id="161" name="Google Shape;1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191588" y="-286587"/>
            <a:ext cx="4774727" cy="854830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62" name="Google Shape;162;p12"/>
          <p:cNvSpPr txBox="1"/>
          <p:nvPr/>
        </p:nvSpPr>
        <p:spPr>
          <a:xfrm>
            <a:off x="1447800" y="2057400"/>
            <a:ext cx="114300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&lt;cmath&gt;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More Mathematical Functions</a:t>
            </a:r>
            <a:endParaRPr/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243942" y="-360760"/>
            <a:ext cx="4648201" cy="857012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General Purpose Library</a:t>
            </a:r>
            <a:endParaRPr/>
          </a:p>
        </p:txBody>
      </p:sp>
      <p:sp>
        <p:nvSpPr>
          <p:cNvPr id="174" name="Google Shape;174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These require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cstdlib</a:t>
            </a:r>
            <a:r>
              <a:rPr lang="en-US"/>
              <a:t> header file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rand()</a:t>
            </a:r>
            <a:r>
              <a:rPr lang="en-US"/>
              <a:t>: returns a random number (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/>
              <a:t>) between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/>
              <a:t> and the largest int the compute holds. Yields same sequence of numbers each time program is run.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srand(x)</a:t>
            </a:r>
            <a:r>
              <a:rPr lang="en-US"/>
              <a:t>: initializes random number generator with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unsigned int x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Character Manipulation</a:t>
            </a:r>
            <a:endParaRPr/>
          </a:p>
        </p:txBody>
      </p:sp>
      <p:sp>
        <p:nvSpPr>
          <p:cNvPr id="181" name="Google Shape;18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C++ library provides several functions for testing characters.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use these functions, you must include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cctype</a:t>
            </a:r>
            <a:r>
              <a:rPr lang="en-US"/>
              <a:t> header file.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182" name="Google Shape;182;p15"/>
          <p:cNvGraphicFramePr/>
          <p:nvPr/>
        </p:nvGraphicFramePr>
        <p:xfrm>
          <a:off x="457200" y="327660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{587F6BD8-B183-4A45-9E9C-4D10EFA3AC8C}</a:tableStyleId>
              </a:tblPr>
              <a:tblGrid>
                <a:gridCol w="1524000"/>
                <a:gridCol w="6781800"/>
              </a:tblGrid>
              <a:tr h="365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FUNCTION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MEANING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isalpha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true if arg. is a letter, false otherwise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isalnum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true if arg. is a letter or digit, false otherwise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isdigit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true if arg. is a digit 0-9, false otherwise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islower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true if arg. is lowercase letter, false otherwise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isprint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true if arg. is a printable character, false otherwise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ispunct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true if arg. is a punctuation character, false otherwise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isupper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true if arg. is an uppercase letter, false otherwise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isspace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true if arg. is a whitespace character, false otherwise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 – Character Testing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136478" y="1417638"/>
            <a:ext cx="8855122" cy="498316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&lt;cctype&gt;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char input;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cout&lt;&lt;"Enter any character: 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cin.get(input);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if (</a:t>
            </a:r>
            <a:r>
              <a:rPr b="1" i="0" lang="en-US" sz="1700" u="none" cap="none" strike="noStrike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isalpha(input)</a:t>
            </a: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cout.put(input);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	cout&lt;&lt;"It is an alphabet";}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if (</a:t>
            </a:r>
            <a:r>
              <a:rPr b="1" i="0" lang="en-US" sz="1700" u="none" cap="none" strike="noStrike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isdigit(input)</a:t>
            </a: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	cout&lt;&lt;"It is a digit";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if (</a:t>
            </a:r>
            <a:r>
              <a:rPr b="1" i="0" lang="en-US" sz="1700" u="none" cap="none" strike="noStrike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islower(input)</a:t>
            </a: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	cout&lt;&lt;"The letter entered is lowercase";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if (</a:t>
            </a:r>
            <a:r>
              <a:rPr b="1" i="0" lang="en-US" sz="1700" u="none" cap="none" strike="noStrike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isupper(input)</a:t>
            </a: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	cout&lt;&lt;"The letter entered is uppercase";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return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Exercise 01</a:t>
            </a:r>
            <a:endParaRPr/>
          </a:p>
        </p:txBody>
      </p:sp>
      <p:sp>
        <p:nvSpPr>
          <p:cNvPr id="194" name="Google Shape;194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Write a program with if statements that will display the word “digit”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/>
              <a:t> the variable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ch</a:t>
            </a:r>
            <a:r>
              <a:rPr lang="en-US"/>
              <a:t> contains numeric data, or display the word “letter” if the variable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ch</a:t>
            </a:r>
            <a:r>
              <a:rPr lang="en-US"/>
              <a:t> contains alphabet data. Otherwise, it should display “special character”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Character Case Conversion</a:t>
            </a:r>
            <a:endParaRPr/>
          </a:p>
        </p:txBody>
      </p:sp>
      <p:sp>
        <p:nvSpPr>
          <p:cNvPr id="201" name="Google Shape;20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Require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cctype</a:t>
            </a:r>
            <a:r>
              <a:rPr lang="en-US" sz="2800"/>
              <a:t> header file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Functions: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	</a:t>
            </a:r>
            <a:r>
              <a:rPr b="1" lang="en-US" sz="2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toupper</a:t>
            </a:r>
            <a:r>
              <a:rPr lang="en-US" sz="2400"/>
              <a:t>: if 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2400"/>
              <a:t> argument is lowercase letter, return uppercase equivalent; otherwise, return input unchanged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	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char ch1 = 'H';</a:t>
            </a:r>
            <a:br>
              <a:rPr lang="en-US" sz="2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char ch2 = 'e';</a:t>
            </a:r>
            <a:br>
              <a:rPr lang="en-US" sz="2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char ch3 = '!';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cout &lt;&lt; toupper(ch1);  // displays 'H'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cout &lt;&lt; toupper(ch2);  // displays 'E'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cout &lt;&lt; toupper(ch3);  // displays '!'</a:t>
            </a:r>
            <a:endParaRPr sz="2400"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Character Case Conversion</a:t>
            </a:r>
            <a:endParaRPr/>
          </a:p>
        </p:txBody>
      </p:sp>
      <p:sp>
        <p:nvSpPr>
          <p:cNvPr id="207" name="Google Shape;20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Functions: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	</a:t>
            </a:r>
            <a:r>
              <a:rPr b="1" lang="en-US" sz="2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tolower</a:t>
            </a:r>
            <a:r>
              <a:rPr lang="en-US" sz="2400"/>
              <a:t>: if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2400"/>
              <a:t> argument is uppercase letter, return lowercase equivalent; otherwise, return input unchanged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	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char ch1 = 'H';</a:t>
            </a:r>
            <a:br>
              <a:rPr lang="en-US" sz="2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char ch2 = 'e';</a:t>
            </a:r>
            <a:br>
              <a:rPr lang="en-US" sz="2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char ch3 = '!';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cout &lt;&lt; tolower(ch1);  // displays 'h'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cout &lt;&lt; tolower(ch2);  // displays 'e'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cout &lt;&lt; tolower(ch3);  // displays '!'</a:t>
            </a:r>
            <a:endParaRPr sz="2400"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 – Character Case Conversion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136478" y="1417638"/>
            <a:ext cx="8855122" cy="498316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&lt;cctype&gt;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char input[15];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cout&lt;&lt;"Enter a name 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cin&gt;&gt;input;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for(int i=0;input[i] != '\0';i++)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	  input[i]=toupper(input[i]);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cout&lt;&lt;"The name in upper case is:" &lt;&lt; input;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	return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Character Manipulating Functions</a:t>
            </a:r>
            <a:endParaRPr/>
          </a:p>
        </p:txBody>
      </p:sp>
      <p:pic>
        <p:nvPicPr>
          <p:cNvPr descr="D:\gifs\ch09\D09_03.gif" id="219" name="Google Shape;2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752600"/>
            <a:ext cx="8686800" cy="4574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gifs\ch09\D09_03A.gif"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11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Exercise 02</a:t>
            </a:r>
            <a:endParaRPr/>
          </a:p>
        </p:txBody>
      </p:sp>
      <p:sp>
        <p:nvSpPr>
          <p:cNvPr id="230" name="Google Shape;230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Write a program to toggle the contents of a string character from lower to upper case or vice versa. 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Review of the Internal Storage of C-Strings</a:t>
            </a:r>
            <a:endParaRPr/>
          </a:p>
        </p:txBody>
      </p:sp>
      <p:sp>
        <p:nvSpPr>
          <p:cNvPr id="237" name="Google Shape;23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Char char="•"/>
            </a:pPr>
            <a:r>
              <a:rPr b="1" lang="en-US">
                <a:solidFill>
                  <a:srgbClr val="00B0F0"/>
                </a:solidFill>
              </a:rPr>
              <a:t>C-string</a:t>
            </a:r>
            <a:r>
              <a:rPr lang="en-US"/>
              <a:t>: sequence of characters stored in adjacent memory locations and terminated by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-US"/>
              <a:t> character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•"/>
            </a:pPr>
            <a:r>
              <a:rPr b="1" lang="en-US">
                <a:solidFill>
                  <a:srgbClr val="00B0F0"/>
                </a:solidFill>
              </a:rPr>
              <a:t>String literal </a:t>
            </a:r>
            <a:r>
              <a:rPr lang="en-US"/>
              <a:t>(</a:t>
            </a:r>
            <a:r>
              <a:rPr b="1" lang="en-US">
                <a:solidFill>
                  <a:srgbClr val="00B0F0"/>
                </a:solidFill>
              </a:rPr>
              <a:t>string constant</a:t>
            </a:r>
            <a:r>
              <a:rPr lang="en-US"/>
              <a:t>): sequence of characters enclosed in double quotes " " 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"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Hi there!</a:t>
            </a:r>
            <a:r>
              <a:rPr lang="en-US"/>
              <a:t>" 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238" name="Google Shape;238;p24"/>
          <p:cNvGraphicFramePr/>
          <p:nvPr/>
        </p:nvGraphicFramePr>
        <p:xfrm>
          <a:off x="1447800" y="403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{2AB2AA51-2BCB-4038-88BD-98FFEAEC0D6B}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9" name="Google Shape;239;p24"/>
          <p:cNvSpPr txBox="1"/>
          <p:nvPr/>
        </p:nvSpPr>
        <p:spPr>
          <a:xfrm>
            <a:off x="1508125" y="4089400"/>
            <a:ext cx="3667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2193925" y="4089400"/>
            <a:ext cx="3667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3429000" y="4098925"/>
            <a:ext cx="3667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4038600" y="4098925"/>
            <a:ext cx="3667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4572000" y="4098925"/>
            <a:ext cx="3667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5165725" y="4089400"/>
            <a:ext cx="3667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5775325" y="4089400"/>
            <a:ext cx="3667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6384925" y="4089400"/>
            <a:ext cx="3667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6934200" y="4098925"/>
            <a:ext cx="549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\0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Review of the Internal Storage of C-Strings</a:t>
            </a:r>
            <a:endParaRPr/>
          </a:p>
        </p:txBody>
      </p:sp>
      <p:sp>
        <p:nvSpPr>
          <p:cNvPr id="253" name="Google Shape;25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Array of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2800"/>
              <a:t>s can be used to define storage for string:</a:t>
            </a:r>
            <a:br>
              <a:rPr lang="en-US" sz="2800"/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const int SIZE = 20;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char city[SIZE];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Leave room for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-US" sz="2800"/>
              <a:t> at end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Can enter a value using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r>
              <a:rPr lang="en-US" sz="2800"/>
              <a:t> or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&gt;&gt;</a:t>
            </a:r>
            <a:r>
              <a:rPr lang="en-US" sz="2800"/>
              <a:t> 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Input is whitespace-terminated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No check to see if enough space </a:t>
            </a:r>
            <a:endParaRPr sz="2800"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For input containing whitespace, and to control amount of input, use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cin.getline()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C-Strings Manipulation Functions</a:t>
            </a:r>
            <a:endParaRPr/>
          </a:p>
        </p:txBody>
      </p:sp>
      <p:sp>
        <p:nvSpPr>
          <p:cNvPr id="259" name="Google Shape;259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C++ library has numerous functions for handling C-strings.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Requires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cstring</a:t>
            </a:r>
            <a:r>
              <a:rPr lang="en-US"/>
              <a:t> header file be included.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Functions take one or more C-strings as arguments.  Can use: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C-string name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pointer to C-string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literal string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Functions for C-Strings</a:t>
            </a:r>
            <a:endParaRPr/>
          </a:p>
        </p:txBody>
      </p:sp>
      <p:sp>
        <p:nvSpPr>
          <p:cNvPr id="265" name="Google Shape;265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Functions: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strlen(str): </a:t>
            </a:r>
            <a:r>
              <a:rPr lang="en-US"/>
              <a:t>returns length of C-string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str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char city[SIZE] = "Missoula";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cout &lt;&lt; strlen(city); // prints 8</a:t>
            </a:r>
            <a:endParaRPr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strcat(str1, str2): </a:t>
            </a:r>
            <a:r>
              <a:rPr lang="en-US"/>
              <a:t>appends str2 to the end of str1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char location[SIZE] = "Missoula, ";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char state[3] = "MT";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strcat(location, state);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// location now has "Missoula, MT"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Function for C-Strings</a:t>
            </a:r>
            <a:endParaRPr/>
          </a:p>
        </p:txBody>
      </p:sp>
      <p:sp>
        <p:nvSpPr>
          <p:cNvPr id="271" name="Google Shape;271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Char char="•"/>
            </a:pPr>
            <a:r>
              <a:rPr lang="en-US" sz="2800"/>
              <a:t>Functions: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strcpy(str1, str2)</a:t>
            </a:r>
            <a:r>
              <a:rPr lang="en-US"/>
              <a:t>: copies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str2</a:t>
            </a:r>
            <a:r>
              <a:rPr lang="en-US"/>
              <a:t> to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str1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const int SIZE = 20;</a:t>
            </a:r>
            <a:br>
              <a:rPr lang="en-US" sz="2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char fname[SIZE] = "Maureen", name[SIZE];</a:t>
            </a:r>
            <a:br>
              <a:rPr lang="en-US" sz="2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strcpy(name, fname);</a:t>
            </a:r>
            <a:endParaRPr sz="2400"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br>
              <a:rPr lang="en-US"/>
            </a:br>
            <a:r>
              <a:rPr lang="en-US"/>
              <a:t>Note: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strcat</a:t>
            </a:r>
            <a:r>
              <a:rPr lang="en-US"/>
              <a:t>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strcpy</a:t>
            </a:r>
            <a:r>
              <a:rPr lang="en-US"/>
              <a:t> perform no bounds checking to determine if there is enough space in receiving character array to hold the string it is being assigned.  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Function for C-Strings</a:t>
            </a:r>
            <a:endParaRPr/>
          </a:p>
        </p:txBody>
      </p:sp>
      <p:sp>
        <p:nvSpPr>
          <p:cNvPr id="277" name="Google Shape;277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Char char="•"/>
            </a:pPr>
            <a:r>
              <a:rPr lang="en-US" sz="2800"/>
              <a:t>Functions: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strstr(str1, str2)</a:t>
            </a:r>
            <a:r>
              <a:rPr lang="en-US"/>
              <a:t>: finds the first occurrence of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str2</a:t>
            </a:r>
            <a:r>
              <a:rPr lang="en-US"/>
              <a:t> in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str1</a:t>
            </a:r>
            <a:r>
              <a:rPr lang="en-US"/>
              <a:t>. Returns a pointer to match, or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-US"/>
              <a:t> if no match.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char river[] = "Wabash";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char word[] = "aba";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cout &lt;&lt; strstr(state, word);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// displays "abash"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Comparing C-Strings</a:t>
            </a:r>
            <a:endParaRPr/>
          </a:p>
        </p:txBody>
      </p:sp>
      <p:sp>
        <p:nvSpPr>
          <p:cNvPr id="283" name="Google Shape;283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4013" lvl="0" marL="3540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Also cannot use operator ==</a:t>
            </a:r>
            <a:br>
              <a:rPr lang="en-US">
                <a:solidFill>
                  <a:srgbClr val="CC0000"/>
                </a:solidFill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char aString[10] = “Hello”;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char anotherString[10] = “Goodbye”;</a:t>
            </a:r>
            <a:endParaRPr/>
          </a:p>
          <a:p>
            <a:pPr indent="-354013" lvl="1" marL="3540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	aString == anotherString; </a:t>
            </a:r>
            <a:r>
              <a:rPr b="1"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// NOT allowed!</a:t>
            </a:r>
            <a:endParaRPr/>
          </a:p>
          <a:p>
            <a:pPr indent="-354013" lvl="0" marL="3540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Must use library function again:</a:t>
            </a:r>
            <a:br>
              <a:rPr lang="en-US">
                <a:solidFill>
                  <a:srgbClr val="CC0000"/>
                </a:solidFill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if (strcmp(aString, anotherString))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 cout &lt;&lt; “Strings NOT same.”;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 cout &lt;&lt; “Strings are same.”;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Working with C-Strings - Example</a:t>
            </a:r>
            <a:endParaRPr/>
          </a:p>
        </p:txBody>
      </p:sp>
      <p:sp>
        <p:nvSpPr>
          <p:cNvPr id="289" name="Google Shape;289;p31"/>
          <p:cNvSpPr txBox="1"/>
          <p:nvPr/>
        </p:nvSpPr>
        <p:spPr>
          <a:xfrm>
            <a:off x="457200" y="1600200"/>
            <a:ext cx="82296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&lt;cstring&gt;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	char reply;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char garment[]="overcoat";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cout&lt;&lt;"Is it raining outside? Answer y/n\n";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cin&gt;&gt;reply;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if(reply=='y')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strcpy(garment,"raincoat");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cout&lt;&lt;"before you go out today take your "&lt;&lt;garment;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2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Predefined C-String Functions</a:t>
            </a:r>
            <a:endParaRPr/>
          </a:p>
        </p:txBody>
      </p:sp>
      <p:pic>
        <p:nvPicPr>
          <p:cNvPr descr="D:\gifs\ch09\D09_01.gif" id="295" name="Google Shape;29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1295400"/>
            <a:ext cx="7543800" cy="5092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3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Predefined C-String Functions</a:t>
            </a:r>
            <a:endParaRPr/>
          </a:p>
        </p:txBody>
      </p:sp>
      <p:pic>
        <p:nvPicPr>
          <p:cNvPr descr="D:\gifs\ch09\D09_01B.gif" id="301" name="Google Shape;30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951" y="1380767"/>
            <a:ext cx="7638098" cy="5092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4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String/Numeric </a:t>
            </a:r>
            <a:br>
              <a:rPr lang="en-US"/>
            </a:br>
            <a:r>
              <a:rPr lang="en-US"/>
              <a:t>Conversion Functions</a:t>
            </a:r>
            <a:endParaRPr/>
          </a:p>
        </p:txBody>
      </p:sp>
      <p:sp>
        <p:nvSpPr>
          <p:cNvPr id="307" name="Google Shape;307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These functions convert between string and numeric forms of numbers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Need to include </a:t>
            </a:r>
            <a:r>
              <a:rPr b="1" lang="en-US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cstdlib</a:t>
            </a:r>
            <a:r>
              <a:rPr lang="en-US"/>
              <a:t> header file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308" name="Google Shape;308;p34"/>
          <p:cNvGraphicFramePr/>
          <p:nvPr/>
        </p:nvGraphicFramePr>
        <p:xfrm>
          <a:off x="831850" y="3198912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{587F6BD8-B183-4A45-9E9C-4D10EFA3AC8C}</a:tableStyleId>
              </a:tblPr>
              <a:tblGrid>
                <a:gridCol w="1466775"/>
                <a:gridCol w="1729050"/>
                <a:gridCol w="4284475"/>
              </a:tblGrid>
              <a:tr h="46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FUNCTION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900" marB="38900" marR="77800" marL="7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PARAMETER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900" marB="38900" marR="77800" marL="7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ACTION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900" marB="38900" marR="77800" marL="77800"/>
                </a:tc>
              </a:tr>
              <a:tr h="75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atoi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900" marB="38900" marR="77800" marL="7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C-string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900" marB="38900" marR="77800" marL="7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converts C-string to an int value, returns the value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900" marB="38900" marR="77800" marL="77800"/>
                </a:tc>
              </a:tr>
              <a:tr h="75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atoll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Calibri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strtol</a:t>
                      </a:r>
                      <a:endParaRPr b="1" i="0" sz="2000" u="none" cap="none" strike="noStrik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900" marB="38900" marR="77800" marL="7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C-string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900" marB="38900" marR="77800" marL="7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converts C-string to a long value, returns the value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900" marB="38900" marR="77800" marL="77800"/>
                </a:tc>
              </a:tr>
              <a:tr h="75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atof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Calibri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strtod</a:t>
                      </a:r>
                      <a:endParaRPr b="1" i="0" sz="2000" u="none" cap="none" strike="noStrik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900" marB="38900" marR="77800" marL="7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C-string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900" marB="38900" marR="77800" marL="7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converts C-string to a double value, returns the value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900" marB="38900" marR="77800" marL="77800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String/Numeric </a:t>
            </a:r>
            <a:br>
              <a:rPr lang="en-US"/>
            </a:br>
            <a:r>
              <a:rPr lang="en-US"/>
              <a:t>Conversion Functions</a:t>
            </a:r>
            <a:endParaRPr/>
          </a:p>
        </p:txBody>
      </p:sp>
      <p:sp>
        <p:nvSpPr>
          <p:cNvPr id="314" name="Google Shape;314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atoi</a:t>
            </a:r>
            <a:r>
              <a:rPr lang="en-US"/>
              <a:t> converts </a:t>
            </a:r>
            <a:r>
              <a:rPr b="1" lang="en-US">
                <a:solidFill>
                  <a:srgbClr val="00B0F0"/>
                </a:solidFill>
              </a:rPr>
              <a:t>a</a:t>
            </a:r>
            <a:r>
              <a:rPr lang="en-US"/>
              <a:t>lphanumeric </a:t>
            </a:r>
            <a:r>
              <a:rPr b="1" lang="en-US">
                <a:solidFill>
                  <a:srgbClr val="00B0F0"/>
                </a:solidFill>
              </a:rPr>
              <a:t>to</a:t>
            </a:r>
            <a:r>
              <a:rPr lang="en-US"/>
              <a:t> </a:t>
            </a:r>
            <a:r>
              <a:rPr b="1" lang="en-US">
                <a:solidFill>
                  <a:srgbClr val="00B0F0"/>
                </a:solidFill>
              </a:rPr>
              <a:t>i</a:t>
            </a:r>
            <a:r>
              <a:rPr lang="en-US"/>
              <a:t>nt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atol</a:t>
            </a:r>
            <a:r>
              <a:rPr lang="en-US"/>
              <a:t> converts </a:t>
            </a:r>
            <a:r>
              <a:rPr b="1" lang="en-US">
                <a:solidFill>
                  <a:srgbClr val="00B0F0"/>
                </a:solidFill>
              </a:rPr>
              <a:t>a</a:t>
            </a:r>
            <a:r>
              <a:rPr lang="en-US"/>
              <a:t>lphanumeric </a:t>
            </a:r>
            <a:r>
              <a:rPr b="1" lang="en-US">
                <a:solidFill>
                  <a:srgbClr val="00B0F0"/>
                </a:solidFill>
              </a:rPr>
              <a:t>to</a:t>
            </a:r>
            <a:r>
              <a:rPr lang="en-US"/>
              <a:t> </a:t>
            </a:r>
            <a:r>
              <a:rPr b="1" lang="en-US">
                <a:solidFill>
                  <a:srgbClr val="00B0F0"/>
                </a:solidFill>
              </a:rPr>
              <a:t>l</a:t>
            </a:r>
            <a:r>
              <a:rPr lang="en-US"/>
              <a:t>ong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atof</a:t>
            </a:r>
            <a:r>
              <a:rPr lang="en-US"/>
              <a:t> converts a numeric string to a double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C-string being converted contains non-digits, results are undefined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function may return result of conversion up to first non-digit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function may return 0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String/Numeric </a:t>
            </a:r>
            <a:br>
              <a:rPr lang="en-US"/>
            </a:br>
            <a:r>
              <a:rPr lang="en-US"/>
              <a:t>Conversion Functions</a:t>
            </a:r>
            <a:endParaRPr/>
          </a:p>
        </p:txBody>
      </p:sp>
      <p:sp>
        <p:nvSpPr>
          <p:cNvPr id="320" name="Google Shape;320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Examples: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int number;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long lnumber;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double dnumber;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number = atoi("57");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lnumber = atol("50000");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dnumber = atof(“590.55”);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7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User-Defined Functions</a:t>
            </a:r>
            <a:endParaRPr/>
          </a:p>
        </p:txBody>
      </p:sp>
      <p:sp>
        <p:nvSpPr>
          <p:cNvPr id="326" name="Google Shape;326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User-defined functions are created by you, the programmer.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Commonly used to break a problem down into small </a:t>
            </a:r>
            <a:r>
              <a:rPr b="1" lang="en-US">
                <a:solidFill>
                  <a:srgbClr val="00B0F0"/>
                </a:solidFill>
              </a:rPr>
              <a:t>manageable</a:t>
            </a:r>
            <a:r>
              <a:rPr lang="en-US"/>
              <a:t> pieces.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You are already familiar with the one function that every C++ program possesses: </a:t>
            </a:r>
            <a:r>
              <a:rPr b="1" lang="en-US"/>
              <a:t>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 main()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Ideally, your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main() </a:t>
            </a:r>
            <a:r>
              <a:rPr lang="en-US"/>
              <a:t>function should be very short and should consist primarily of function calls.  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27" name="Google Shape;327;p37"/>
          <p:cNvSpPr txBox="1"/>
          <p:nvPr/>
        </p:nvSpPr>
        <p:spPr>
          <a:xfrm>
            <a:off x="3733800" y="4559300"/>
            <a:ext cx="2057400" cy="4699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Main Program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7"/>
          <p:cNvSpPr txBox="1"/>
          <p:nvPr/>
        </p:nvSpPr>
        <p:spPr>
          <a:xfrm>
            <a:off x="1219200" y="5702300"/>
            <a:ext cx="2057400" cy="4699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Function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7"/>
          <p:cNvSpPr txBox="1"/>
          <p:nvPr/>
        </p:nvSpPr>
        <p:spPr>
          <a:xfrm>
            <a:off x="6324600" y="5702300"/>
            <a:ext cx="2057400" cy="4699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Function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7"/>
          <p:cNvSpPr txBox="1"/>
          <p:nvPr/>
        </p:nvSpPr>
        <p:spPr>
          <a:xfrm>
            <a:off x="3733800" y="5702300"/>
            <a:ext cx="2057400" cy="4699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Function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37"/>
          <p:cNvCxnSpPr/>
          <p:nvPr/>
        </p:nvCxnSpPr>
        <p:spPr>
          <a:xfrm>
            <a:off x="4648200" y="5016500"/>
            <a:ext cx="0" cy="304800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332" name="Google Shape;332;p37"/>
          <p:cNvCxnSpPr/>
          <p:nvPr/>
        </p:nvCxnSpPr>
        <p:spPr>
          <a:xfrm>
            <a:off x="2133600" y="5321300"/>
            <a:ext cx="5105400" cy="0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333" name="Google Shape;333;p37"/>
          <p:cNvCxnSpPr/>
          <p:nvPr/>
        </p:nvCxnSpPr>
        <p:spPr>
          <a:xfrm>
            <a:off x="2133600" y="5321300"/>
            <a:ext cx="0" cy="381000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334" name="Google Shape;334;p37"/>
          <p:cNvCxnSpPr/>
          <p:nvPr/>
        </p:nvCxnSpPr>
        <p:spPr>
          <a:xfrm>
            <a:off x="4648200" y="5321300"/>
            <a:ext cx="0" cy="381000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335" name="Google Shape;335;p37"/>
          <p:cNvCxnSpPr/>
          <p:nvPr/>
        </p:nvCxnSpPr>
        <p:spPr>
          <a:xfrm>
            <a:off x="7239000" y="5321300"/>
            <a:ext cx="0" cy="381000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Defining and Calling Functions</a:t>
            </a:r>
            <a:endParaRPr/>
          </a:p>
        </p:txBody>
      </p:sp>
      <p:sp>
        <p:nvSpPr>
          <p:cNvPr id="341" name="Google Shape;341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Every functions must have: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2000"/>
              <a:buChar char="–"/>
            </a:pPr>
            <a:r>
              <a:rPr b="1" lang="en-US">
                <a:solidFill>
                  <a:srgbClr val="00B0F0"/>
                </a:solidFill>
              </a:rPr>
              <a:t>Function call: </a:t>
            </a:r>
            <a:r>
              <a:rPr lang="en-US"/>
              <a:t>statement causes a function to execute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2000"/>
              <a:buChar char="–"/>
            </a:pPr>
            <a:r>
              <a:rPr b="1" lang="en-US">
                <a:solidFill>
                  <a:srgbClr val="00B0F0"/>
                </a:solidFill>
              </a:rPr>
              <a:t>Function definition: </a:t>
            </a:r>
            <a:r>
              <a:rPr lang="en-US"/>
              <a:t>statements that make up a function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funcarrows" id="342" name="Google Shape;34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3151414"/>
            <a:ext cx="48768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8"/>
          <p:cNvSpPr txBox="1"/>
          <p:nvPr/>
        </p:nvSpPr>
        <p:spPr>
          <a:xfrm>
            <a:off x="685799" y="3851048"/>
            <a:ext cx="1455057" cy="369332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 call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8"/>
          <p:cNvSpPr txBox="1"/>
          <p:nvPr/>
        </p:nvSpPr>
        <p:spPr>
          <a:xfrm>
            <a:off x="6814457" y="3151414"/>
            <a:ext cx="1828800" cy="646331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 definition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" name="Google Shape;345;p38"/>
          <p:cNvCxnSpPr>
            <a:stCxn id="343" idx="3"/>
          </p:cNvCxnSpPr>
          <p:nvPr/>
        </p:nvCxnSpPr>
        <p:spPr>
          <a:xfrm>
            <a:off x="2140856" y="4035714"/>
            <a:ext cx="450000" cy="18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6" name="Google Shape;346;p38"/>
          <p:cNvCxnSpPr>
            <a:stCxn id="344" idx="1"/>
          </p:cNvCxnSpPr>
          <p:nvPr/>
        </p:nvCxnSpPr>
        <p:spPr>
          <a:xfrm rot="10800000">
            <a:off x="5867357" y="3474580"/>
            <a:ext cx="947100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9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Function Definition</a:t>
            </a:r>
            <a:endParaRPr/>
          </a:p>
        </p:txBody>
      </p:sp>
      <p:sp>
        <p:nvSpPr>
          <p:cNvPr id="352" name="Google Shape;352;p3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Definition includes: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lang="en-US" sz="2400" u="sng">
                <a:solidFill>
                  <a:srgbClr val="00B0F0"/>
                </a:solidFill>
              </a:rPr>
              <a:t>return type:</a:t>
            </a:r>
            <a:r>
              <a:rPr lang="en-US" sz="2400"/>
              <a:t> data type of the value that function returns to the part of the program that calls 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lang="en-US" sz="2400" u="sng">
                <a:solidFill>
                  <a:srgbClr val="00B0F0"/>
                </a:solidFill>
              </a:rPr>
              <a:t>name:</a:t>
            </a:r>
            <a:r>
              <a:rPr lang="en-US" sz="2400"/>
              <a:t> name of the function.  Function names follow same rules as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lang="en-US" sz="2400" u="sng">
                <a:solidFill>
                  <a:srgbClr val="00B0F0"/>
                </a:solidFill>
              </a:rPr>
              <a:t>parameter list:</a:t>
            </a:r>
            <a:r>
              <a:rPr lang="en-US" sz="2400"/>
              <a:t> variables containing values passed to the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lang="en-US" sz="2400" u="sng">
                <a:solidFill>
                  <a:srgbClr val="00B0F0"/>
                </a:solidFill>
              </a:rPr>
              <a:t>body:</a:t>
            </a:r>
            <a:r>
              <a:rPr lang="en-US" sz="2400"/>
              <a:t> statements that perform the function’s task, enclosed in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{}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0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Function Definition (cont.)</a:t>
            </a:r>
            <a:endParaRPr/>
          </a:p>
        </p:txBody>
      </p:sp>
      <p:sp>
        <p:nvSpPr>
          <p:cNvPr id="358" name="Google Shape;358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general form of a function definition in C++ is as follows: 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59" name="Google Shape;359;p40"/>
          <p:cNvSpPr txBox="1"/>
          <p:nvPr/>
        </p:nvSpPr>
        <p:spPr>
          <a:xfrm>
            <a:off x="457200" y="2209800"/>
            <a:ext cx="8229600" cy="1477328"/>
          </a:xfrm>
          <a:prstGeom prst="rect">
            <a:avLst/>
          </a:prstGeom>
          <a:noFill/>
          <a:ln cap="flat" cmpd="sng" w="28575">
            <a:solidFill>
              <a:srgbClr val="0033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function-returntype function-name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parameter-list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)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local-definitions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function-implementation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602sowc copy" id="360" name="Google Shape;36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3800" y="3992076"/>
            <a:ext cx="6756400" cy="1894453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0"/>
          <p:cNvSpPr txBox="1"/>
          <p:nvPr/>
        </p:nvSpPr>
        <p:spPr>
          <a:xfrm>
            <a:off x="1103086" y="6056811"/>
            <a:ext cx="6858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The line that reads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function header.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1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Function Return Type</a:t>
            </a:r>
            <a:endParaRPr/>
          </a:p>
        </p:txBody>
      </p:sp>
      <p:sp>
        <p:nvSpPr>
          <p:cNvPr id="367" name="Google Shape;367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If a function returns a value, the type of the value must be indicated: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/>
              <a:t>	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If a function does not return a value, its return type is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/>
              <a:t>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	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void printHeading()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{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	cout &lt;&lt; "Monthly Sales\n";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indent="-1778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2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Calling a Function</a:t>
            </a:r>
            <a:endParaRPr/>
          </a:p>
        </p:txBody>
      </p:sp>
      <p:sp>
        <p:nvSpPr>
          <p:cNvPr id="373" name="Google Shape;373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To call a function, use the function name followed by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-US" sz="2600"/>
              <a:t>and 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/>
              <a:t>	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printHeading();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When called, program executes the body of the called function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After the function terminates, execution resumes in the calling function at point of call.</a:t>
            </a:r>
            <a:endParaRPr/>
          </a:p>
          <a:p>
            <a:pPr indent="-1778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3"/>
          <p:cNvSpPr txBox="1"/>
          <p:nvPr>
            <p:ph type="title"/>
          </p:nvPr>
        </p:nvSpPr>
        <p:spPr>
          <a:xfrm>
            <a:off x="1600200" y="22255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Flowchart</a:t>
            </a:r>
            <a:endParaRPr/>
          </a:p>
        </p:txBody>
      </p:sp>
      <p:sp>
        <p:nvSpPr>
          <p:cNvPr id="379" name="Google Shape;379;p43"/>
          <p:cNvSpPr/>
          <p:nvPr/>
        </p:nvSpPr>
        <p:spPr>
          <a:xfrm>
            <a:off x="1600200" y="1600200"/>
            <a:ext cx="1628775" cy="390525"/>
          </a:xfrm>
          <a:prstGeom prst="flowChartTerminator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3"/>
          <p:cNvSpPr/>
          <p:nvPr/>
        </p:nvSpPr>
        <p:spPr>
          <a:xfrm>
            <a:off x="591343" y="2405062"/>
            <a:ext cx="3646488" cy="542925"/>
          </a:xfrm>
          <a:prstGeom prst="flowChartInputOutpu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“Hello from main”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3"/>
          <p:cNvSpPr/>
          <p:nvPr/>
        </p:nvSpPr>
        <p:spPr>
          <a:xfrm>
            <a:off x="769142" y="3460353"/>
            <a:ext cx="3290888" cy="400050"/>
          </a:xfrm>
          <a:prstGeom prst="flowChartPredefinedProcess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displayMessage()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3"/>
          <p:cNvSpPr/>
          <p:nvPr/>
        </p:nvSpPr>
        <p:spPr>
          <a:xfrm>
            <a:off x="598600" y="4372769"/>
            <a:ext cx="3639231" cy="542925"/>
          </a:xfrm>
          <a:prstGeom prst="flowChartInputOutpu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“Back in function main again”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3"/>
          <p:cNvSpPr/>
          <p:nvPr/>
        </p:nvSpPr>
        <p:spPr>
          <a:xfrm>
            <a:off x="1600198" y="5428060"/>
            <a:ext cx="1628775" cy="390525"/>
          </a:xfrm>
          <a:prstGeom prst="flowChartTerminator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4" name="Google Shape;384;p43"/>
          <p:cNvCxnSpPr>
            <a:stCxn id="379" idx="2"/>
            <a:endCxn id="380" idx="1"/>
          </p:cNvCxnSpPr>
          <p:nvPr/>
        </p:nvCxnSpPr>
        <p:spPr>
          <a:xfrm>
            <a:off x="2414588" y="1990725"/>
            <a:ext cx="0" cy="41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5" name="Google Shape;385;p43"/>
          <p:cNvCxnSpPr>
            <a:stCxn id="380" idx="4"/>
            <a:endCxn id="381" idx="0"/>
          </p:cNvCxnSpPr>
          <p:nvPr/>
        </p:nvCxnSpPr>
        <p:spPr>
          <a:xfrm>
            <a:off x="2414587" y="2947987"/>
            <a:ext cx="0" cy="51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6" name="Google Shape;386;p43"/>
          <p:cNvCxnSpPr>
            <a:stCxn id="381" idx="2"/>
            <a:endCxn id="382" idx="1"/>
          </p:cNvCxnSpPr>
          <p:nvPr/>
        </p:nvCxnSpPr>
        <p:spPr>
          <a:xfrm>
            <a:off x="2414586" y="3860403"/>
            <a:ext cx="3600" cy="51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7" name="Google Shape;387;p43"/>
          <p:cNvCxnSpPr>
            <a:stCxn id="382" idx="4"/>
            <a:endCxn id="383" idx="0"/>
          </p:cNvCxnSpPr>
          <p:nvPr/>
        </p:nvCxnSpPr>
        <p:spPr>
          <a:xfrm flipH="1">
            <a:off x="2414616" y="4915694"/>
            <a:ext cx="3600" cy="51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8" name="Google Shape;388;p43"/>
          <p:cNvSpPr/>
          <p:nvPr/>
        </p:nvSpPr>
        <p:spPr>
          <a:xfrm>
            <a:off x="5962261" y="1592992"/>
            <a:ext cx="1787525" cy="397733"/>
          </a:xfrm>
          <a:prstGeom prst="flowChartTerminator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displayMessage()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3"/>
          <p:cNvSpPr/>
          <p:nvPr/>
        </p:nvSpPr>
        <p:spPr>
          <a:xfrm>
            <a:off x="4876800" y="2397854"/>
            <a:ext cx="3962400" cy="542925"/>
          </a:xfrm>
          <a:prstGeom prst="flowChartInputOutpu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“Hello from the function displayMessage”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0" name="Google Shape;390;p43"/>
          <p:cNvCxnSpPr>
            <a:stCxn id="388" idx="2"/>
            <a:endCxn id="389" idx="1"/>
          </p:cNvCxnSpPr>
          <p:nvPr/>
        </p:nvCxnSpPr>
        <p:spPr>
          <a:xfrm>
            <a:off x="6856024" y="1990725"/>
            <a:ext cx="21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1" name="Google Shape;391;p43"/>
          <p:cNvSpPr/>
          <p:nvPr/>
        </p:nvSpPr>
        <p:spPr>
          <a:xfrm>
            <a:off x="6050320" y="3469878"/>
            <a:ext cx="1628775" cy="390525"/>
          </a:xfrm>
          <a:prstGeom prst="flowChartTerminator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p43"/>
          <p:cNvCxnSpPr>
            <a:endCxn id="391" idx="0"/>
          </p:cNvCxnSpPr>
          <p:nvPr/>
        </p:nvCxnSpPr>
        <p:spPr>
          <a:xfrm flipH="1">
            <a:off x="6864708" y="2957478"/>
            <a:ext cx="3600" cy="51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Pseudo Code</a:t>
            </a:r>
            <a:endParaRPr/>
          </a:p>
        </p:txBody>
      </p:sp>
      <p:sp>
        <p:nvSpPr>
          <p:cNvPr id="398" name="Google Shape;398;p4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Start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Print “Hello from main”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Call displayMessage()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Print “Back in function main again”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End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99" name="Google Shape;399;p44"/>
          <p:cNvSpPr txBox="1"/>
          <p:nvPr/>
        </p:nvSpPr>
        <p:spPr>
          <a:xfrm>
            <a:off x="4651829" y="1600199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displayMessage():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“Hello from the function displayMessage”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5"/>
          <p:cNvSpPr txBox="1"/>
          <p:nvPr>
            <p:ph type="title"/>
          </p:nvPr>
        </p:nvSpPr>
        <p:spPr>
          <a:xfrm>
            <a:off x="14478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Structure Chart</a:t>
            </a:r>
            <a:endParaRPr/>
          </a:p>
        </p:txBody>
      </p:sp>
      <p:sp>
        <p:nvSpPr>
          <p:cNvPr id="405" name="Google Shape;405;p45"/>
          <p:cNvSpPr/>
          <p:nvPr/>
        </p:nvSpPr>
        <p:spPr>
          <a:xfrm>
            <a:off x="3239843" y="2209800"/>
            <a:ext cx="2664316" cy="6096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main_program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5"/>
          <p:cNvSpPr/>
          <p:nvPr/>
        </p:nvSpPr>
        <p:spPr>
          <a:xfrm>
            <a:off x="3239842" y="3433762"/>
            <a:ext cx="2664316" cy="6096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displayMessage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45"/>
          <p:cNvCxnSpPr>
            <a:stCxn id="405" idx="2"/>
            <a:endCxn id="406" idx="0"/>
          </p:cNvCxnSpPr>
          <p:nvPr/>
        </p:nvCxnSpPr>
        <p:spPr>
          <a:xfrm>
            <a:off x="4572001" y="2819400"/>
            <a:ext cx="0" cy="614400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Calling a Function - Example</a:t>
            </a:r>
            <a:endParaRPr/>
          </a:p>
        </p:txBody>
      </p:sp>
      <p:pic>
        <p:nvPicPr>
          <p:cNvPr id="413" name="Google Shape;41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600" y="1417638"/>
            <a:ext cx="5410200" cy="494605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6"/>
          <p:cNvSpPr/>
          <p:nvPr/>
        </p:nvSpPr>
        <p:spPr>
          <a:xfrm>
            <a:off x="323850" y="3048000"/>
            <a:ext cx="8153400" cy="762000"/>
          </a:xfrm>
          <a:prstGeom prst="rect">
            <a:avLst/>
          </a:prstGeom>
          <a:noFill/>
          <a:ln cap="flat" cmpd="sng" w="19050">
            <a:solidFill>
              <a:srgbClr val="99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90033"/>
                </a:solidFill>
                <a:latin typeface="Calibri"/>
                <a:ea typeface="Calibri"/>
                <a:cs typeface="Calibri"/>
                <a:sym typeface="Calibri"/>
              </a:rPr>
              <a:t>Function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90033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6"/>
          <p:cNvSpPr/>
          <p:nvPr/>
        </p:nvSpPr>
        <p:spPr>
          <a:xfrm>
            <a:off x="381000" y="4830762"/>
            <a:ext cx="1752600" cy="60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26000" y="16361"/>
                </a:moveTo>
                <a:lnTo>
                  <a:pt x="175128" y="16361"/>
                </a:lnTo>
                <a:lnTo>
                  <a:pt x="243518" y="31044"/>
                </a:lnTo>
              </a:path>
            </a:pathLst>
          </a:custGeom>
          <a:noFill/>
          <a:ln cap="flat" cmpd="sng" w="19050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90033"/>
                </a:solidFill>
                <a:latin typeface="Calibri"/>
                <a:ea typeface="Calibri"/>
                <a:cs typeface="Calibri"/>
                <a:sym typeface="Calibri"/>
              </a:rPr>
              <a:t>Function call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7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Flow of Control in Program 6-1</a:t>
            </a:r>
            <a:endParaRPr/>
          </a:p>
        </p:txBody>
      </p:sp>
      <p:pic>
        <p:nvPicPr>
          <p:cNvPr descr="0603sowc copy" id="421" name="Google Shape;42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1773238"/>
            <a:ext cx="8351838" cy="42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8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User-Defined Functions: </a:t>
            </a:r>
            <a:br>
              <a:rPr lang="en-US"/>
            </a:br>
            <a:r>
              <a:rPr lang="en-US"/>
              <a:t>Example 2</a:t>
            </a:r>
            <a:endParaRPr/>
          </a:p>
        </p:txBody>
      </p:sp>
      <p:sp>
        <p:nvSpPr>
          <p:cNvPr id="427" name="Google Shape;427;p48"/>
          <p:cNvSpPr txBox="1"/>
          <p:nvPr/>
        </p:nvSpPr>
        <p:spPr>
          <a:xfrm>
            <a:off x="136478" y="1417638"/>
            <a:ext cx="8855122" cy="513556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	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02	#include &lt;cmath&gt;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03	using namespace 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05	float distance(float x, float y)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06	{   	float dist;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07     	dist = sqrt(x * x + y * y);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08		return dist;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09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	int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	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    	float x,y,dist;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		cout &lt;&lt; "Testing function distance(x,y)"  &lt;&lt; endl;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15		cout &lt;&lt; "Enter values for x and y: ";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16		cin &gt;&gt; x &gt;&gt; y;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17		dist = distance(x,y);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18		cout &lt;&lt; "Distance of (" &lt;&lt; x &lt;&lt; ',' &lt;&lt; y &lt;&lt; ") from origin is " </a:t>
            </a:r>
            <a:endParaRPr b="0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&lt;&lt; dist &lt;&lt; endl &lt;&lt; "Tested" &lt;&lt; endl;  </a:t>
            </a:r>
            <a:endParaRPr b="0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		return 0;</a:t>
            </a:r>
            <a:endParaRPr b="0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20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9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Calling Functions</a:t>
            </a:r>
            <a:endParaRPr/>
          </a:p>
        </p:txBody>
      </p:sp>
      <p:sp>
        <p:nvSpPr>
          <p:cNvPr id="433" name="Google Shape;433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/>
              <a:t> can call any number of functions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Functions can call other functions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Compiler </a:t>
            </a:r>
            <a:r>
              <a:rPr b="1" lang="en-US">
                <a:solidFill>
                  <a:srgbClr val="00B0F0"/>
                </a:solidFill>
              </a:rPr>
              <a:t>must</a:t>
            </a:r>
            <a:r>
              <a:rPr lang="en-US"/>
              <a:t> know the following about  a function before it is called: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name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return type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number of parameters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data type of each parameter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0"/>
          <p:cNvSpPr txBox="1"/>
          <p:nvPr>
            <p:ph type="title"/>
          </p:nvPr>
        </p:nvSpPr>
        <p:spPr>
          <a:xfrm>
            <a:off x="1828800" y="228600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In-Class Exercise</a:t>
            </a:r>
            <a:endParaRPr/>
          </a:p>
        </p:txBody>
      </p:sp>
      <p:sp>
        <p:nvSpPr>
          <p:cNvPr id="439" name="Google Shape;439;p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Which of the following function headers are valid? If they are invalid, explain why.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one (int a, int b)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int thisone(char x)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char another (int a, b)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double yetanother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1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Function Prototypes</a:t>
            </a:r>
            <a:endParaRPr/>
          </a:p>
        </p:txBody>
      </p:sp>
      <p:sp>
        <p:nvSpPr>
          <p:cNvPr id="445" name="Google Shape;445;p5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Ways to </a:t>
            </a:r>
            <a:r>
              <a:rPr b="1" lang="en-US">
                <a:solidFill>
                  <a:srgbClr val="00B0F0"/>
                </a:solidFill>
              </a:rPr>
              <a:t>notify the compiler </a:t>
            </a:r>
            <a:r>
              <a:rPr lang="en-US"/>
              <a:t>about a function before a call to the function: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Place function definition before calling function’s definition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Use a </a:t>
            </a:r>
            <a:r>
              <a:rPr lang="en-US" sz="2400" u="sng"/>
              <a:t>function prototype</a:t>
            </a:r>
            <a:r>
              <a:rPr lang="en-US" sz="2400"/>
              <a:t> (</a:t>
            </a:r>
            <a:r>
              <a:rPr lang="en-US" sz="2400" u="sng"/>
              <a:t>function declaration</a:t>
            </a:r>
            <a:r>
              <a:rPr lang="en-US" sz="2400"/>
              <a:t>) – like the function definition without the body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Header: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void printHeading()</a:t>
            </a:r>
            <a:endParaRPr sz="2000"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Prototype: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void printHeading();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2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User-Defined Functions:</a:t>
            </a:r>
            <a:br>
              <a:rPr lang="en-US"/>
            </a:br>
            <a:r>
              <a:rPr lang="en-US"/>
              <a:t>Function Prototypes</a:t>
            </a:r>
            <a:endParaRPr/>
          </a:p>
        </p:txBody>
      </p:sp>
      <p:sp>
        <p:nvSpPr>
          <p:cNvPr id="451" name="Google Shape;451;p52"/>
          <p:cNvSpPr txBox="1"/>
          <p:nvPr/>
        </p:nvSpPr>
        <p:spPr>
          <a:xfrm>
            <a:off x="136478" y="1417638"/>
            <a:ext cx="8855122" cy="498316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	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03	void first();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04	void second();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06	int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07	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08		cout&lt;&lt; "Starting in main function \n";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09	   first();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	   second();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	   cout&lt;&lt;"Control back to main\n"; return 0;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	void first()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15	{	cout&lt;&lt;"Inside the first function\n";}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17	void second()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18	{	cout&lt;&lt;"Inside the second function\n";}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52"/>
          <p:cNvSpPr/>
          <p:nvPr/>
        </p:nvSpPr>
        <p:spPr>
          <a:xfrm>
            <a:off x="136478" y="1905000"/>
            <a:ext cx="8855122" cy="655638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52"/>
          <p:cNvSpPr txBox="1"/>
          <p:nvPr/>
        </p:nvSpPr>
        <p:spPr>
          <a:xfrm>
            <a:off x="5415517" y="2048153"/>
            <a:ext cx="2280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Function  prototypes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3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Structured Chart</a:t>
            </a:r>
            <a:endParaRPr/>
          </a:p>
        </p:txBody>
      </p:sp>
      <p:sp>
        <p:nvSpPr>
          <p:cNvPr id="459" name="Google Shape;459;p53"/>
          <p:cNvSpPr txBox="1"/>
          <p:nvPr/>
        </p:nvSpPr>
        <p:spPr>
          <a:xfrm>
            <a:off x="3276600" y="2060575"/>
            <a:ext cx="2057400" cy="4699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Main Program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53"/>
          <p:cNvSpPr txBox="1"/>
          <p:nvPr/>
        </p:nvSpPr>
        <p:spPr>
          <a:xfrm>
            <a:off x="762000" y="3203575"/>
            <a:ext cx="2057400" cy="4699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first()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53"/>
          <p:cNvSpPr txBox="1"/>
          <p:nvPr/>
        </p:nvSpPr>
        <p:spPr>
          <a:xfrm>
            <a:off x="5867400" y="3203575"/>
            <a:ext cx="2057400" cy="4699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second()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" name="Google Shape;462;p53"/>
          <p:cNvCxnSpPr/>
          <p:nvPr/>
        </p:nvCxnSpPr>
        <p:spPr>
          <a:xfrm>
            <a:off x="4191000" y="2517775"/>
            <a:ext cx="0" cy="304800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463" name="Google Shape;463;p53"/>
          <p:cNvCxnSpPr/>
          <p:nvPr/>
        </p:nvCxnSpPr>
        <p:spPr>
          <a:xfrm>
            <a:off x="1676400" y="2822575"/>
            <a:ext cx="5105400" cy="0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464" name="Google Shape;464;p53"/>
          <p:cNvCxnSpPr/>
          <p:nvPr/>
        </p:nvCxnSpPr>
        <p:spPr>
          <a:xfrm>
            <a:off x="1676400" y="2822575"/>
            <a:ext cx="0" cy="381000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465" name="Google Shape;465;p53"/>
          <p:cNvCxnSpPr/>
          <p:nvPr/>
        </p:nvCxnSpPr>
        <p:spPr>
          <a:xfrm>
            <a:off x="6781800" y="2822575"/>
            <a:ext cx="0" cy="381000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4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Prototype Notes</a:t>
            </a:r>
            <a:endParaRPr/>
          </a:p>
        </p:txBody>
      </p:sp>
      <p:sp>
        <p:nvSpPr>
          <p:cNvPr id="471" name="Google Shape;471;p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Place prototypes near </a:t>
            </a:r>
            <a:r>
              <a:rPr b="1" lang="en-US" sz="2800">
                <a:solidFill>
                  <a:srgbClr val="00B0F0"/>
                </a:solidFill>
              </a:rPr>
              <a:t>top</a:t>
            </a:r>
            <a:r>
              <a:rPr lang="en-US" sz="2800"/>
              <a:t> of program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Program must include either prototype </a:t>
            </a:r>
            <a:r>
              <a:rPr b="1" lang="en-US" sz="2800">
                <a:solidFill>
                  <a:srgbClr val="00B0F0"/>
                </a:solidFill>
              </a:rPr>
              <a:t>or</a:t>
            </a:r>
            <a:r>
              <a:rPr lang="en-US" sz="2800"/>
              <a:t> full function definition before any call to the function – compiler error otherwise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When using prototypes, can place function definitions in any order in source file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5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User-Defined Functions:</a:t>
            </a:r>
            <a:br>
              <a:rPr lang="en-US"/>
            </a:br>
            <a:r>
              <a:rPr lang="en-US"/>
              <a:t>Functions with No Parameters</a:t>
            </a:r>
            <a:endParaRPr/>
          </a:p>
        </p:txBody>
      </p:sp>
      <p:sp>
        <p:nvSpPr>
          <p:cNvPr id="477" name="Google Shape;477;p55"/>
          <p:cNvSpPr txBox="1"/>
          <p:nvPr/>
        </p:nvSpPr>
        <p:spPr>
          <a:xfrm>
            <a:off x="139590" y="1676400"/>
            <a:ext cx="8855122" cy="48006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	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02	using namespace 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03	void printhi();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04	int main(){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05		cout &lt;&lt; "Testing function printhi()" &lt;&lt; endl;  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06		printhi();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07		cout &lt;&lt; "Tested" &lt;&lt; endl; return 0; 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08	} // End of 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	// Function Definitions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	void printhi()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	{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		cout &lt;&lt; "Hi \n";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6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Sending Data into a Function</a:t>
            </a:r>
            <a:endParaRPr/>
          </a:p>
        </p:txBody>
      </p:sp>
      <p:sp>
        <p:nvSpPr>
          <p:cNvPr id="483" name="Google Shape;483;p5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Can </a:t>
            </a:r>
            <a:r>
              <a:rPr b="1" lang="en-US" sz="2800">
                <a:solidFill>
                  <a:srgbClr val="00B0F0"/>
                </a:solidFill>
              </a:rPr>
              <a:t>pass values </a:t>
            </a:r>
            <a:r>
              <a:rPr lang="en-US" sz="2800"/>
              <a:t>into a function at time of call: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c = pow(a, b);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Values passed to function are </a:t>
            </a:r>
            <a:r>
              <a:rPr lang="en-US" sz="2800" u="sng"/>
              <a:t>arguments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Variables in a function that </a:t>
            </a:r>
            <a:r>
              <a:rPr b="1" lang="en-US" sz="2800">
                <a:solidFill>
                  <a:srgbClr val="00B0F0"/>
                </a:solidFill>
              </a:rPr>
              <a:t>hold the values passed </a:t>
            </a:r>
            <a:r>
              <a:rPr lang="en-US" sz="2800"/>
              <a:t>as arguments are </a:t>
            </a:r>
            <a:r>
              <a:rPr lang="en-US" sz="2800" u="sng"/>
              <a:t>parameters</a:t>
            </a:r>
            <a:endParaRPr sz="2800"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7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Function with a </a:t>
            </a:r>
            <a:br>
              <a:rPr lang="en-US"/>
            </a:br>
            <a:r>
              <a:rPr lang="en-US"/>
              <a:t>Parameter Variable</a:t>
            </a:r>
            <a:endParaRPr/>
          </a:p>
        </p:txBody>
      </p:sp>
      <p:sp>
        <p:nvSpPr>
          <p:cNvPr id="489" name="Google Shape;489;p57"/>
          <p:cNvSpPr txBox="1"/>
          <p:nvPr/>
        </p:nvSpPr>
        <p:spPr>
          <a:xfrm>
            <a:off x="136478" y="1874838"/>
            <a:ext cx="8855122" cy="193516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01	void displayValue(int num)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02	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03	   cout &lt;&lt; "The value is " &lt;&lt; num 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04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57"/>
          <p:cNvSpPr txBox="1"/>
          <p:nvPr/>
        </p:nvSpPr>
        <p:spPr>
          <a:xfrm>
            <a:off x="258739" y="4114800"/>
            <a:ext cx="86106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integer variable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</a:t>
            </a:r>
            <a:r>
              <a:rPr b="1" i="0" lang="en-US" sz="28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accepts any integer value passed to the function.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8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/>
              <a:t>User-Defined Functions: Functions with Parameter and No Return Values (1)</a:t>
            </a:r>
            <a:endParaRPr sz="3000"/>
          </a:p>
        </p:txBody>
      </p:sp>
      <p:sp>
        <p:nvSpPr>
          <p:cNvPr id="496" name="Google Shape;496;p58"/>
          <p:cNvSpPr txBox="1"/>
          <p:nvPr/>
        </p:nvSpPr>
        <p:spPr>
          <a:xfrm>
            <a:off x="136478" y="1417638"/>
            <a:ext cx="8855122" cy="498316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	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02	using namespace 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03	void printhi(int);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05	int main(){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06		int n;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07		cout &lt;&lt;"Enter a value for n: ";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08		cin &gt;&gt; n;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09		printhi(n);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		cout &lt;&lt; "Tested \n"; return 0; }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	void printhi(int 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	{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		int i;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		for (i = 0; i &lt; n; i++)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15    	cout &lt;&lt; "Hi \n";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16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9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Structure Chart</a:t>
            </a:r>
            <a:endParaRPr/>
          </a:p>
        </p:txBody>
      </p:sp>
      <p:sp>
        <p:nvSpPr>
          <p:cNvPr id="502" name="Google Shape;502;p59"/>
          <p:cNvSpPr/>
          <p:nvPr/>
        </p:nvSpPr>
        <p:spPr>
          <a:xfrm>
            <a:off x="3203575" y="2060574"/>
            <a:ext cx="2587625" cy="835025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main_program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59"/>
          <p:cNvSpPr/>
          <p:nvPr/>
        </p:nvSpPr>
        <p:spPr>
          <a:xfrm>
            <a:off x="3203574" y="4019589"/>
            <a:ext cx="2587625" cy="835025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printHi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4" name="Google Shape;504;p59"/>
          <p:cNvCxnSpPr>
            <a:stCxn id="502" idx="2"/>
            <a:endCxn id="503" idx="0"/>
          </p:cNvCxnSpPr>
          <p:nvPr/>
        </p:nvCxnSpPr>
        <p:spPr>
          <a:xfrm>
            <a:off x="4497388" y="2895599"/>
            <a:ext cx="0" cy="1124100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505" name="Google Shape;505;p59"/>
          <p:cNvCxnSpPr/>
          <p:nvPr/>
        </p:nvCxnSpPr>
        <p:spPr>
          <a:xfrm>
            <a:off x="4191000" y="3008452"/>
            <a:ext cx="0" cy="898284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506" name="Google Shape;506;p59"/>
          <p:cNvSpPr txBox="1"/>
          <p:nvPr/>
        </p:nvSpPr>
        <p:spPr>
          <a:xfrm>
            <a:off x="3293532" y="3165154"/>
            <a:ext cx="591082" cy="58488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0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/>
              <a:t>User-Defined Functions: Functions with Parameter and No Return Values (2)</a:t>
            </a:r>
            <a:endParaRPr sz="3000"/>
          </a:p>
        </p:txBody>
      </p:sp>
      <p:sp>
        <p:nvSpPr>
          <p:cNvPr id="512" name="Google Shape;512;p60"/>
          <p:cNvSpPr txBox="1"/>
          <p:nvPr/>
        </p:nvSpPr>
        <p:spPr>
          <a:xfrm>
            <a:off x="136478" y="1417638"/>
            <a:ext cx="8855122" cy="498316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	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02	using namespace 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04	void displayValue(int);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05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06	int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07	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08		cout&lt;&lt;"Passing number 5 to displayValue\n";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09	   displayValue(5);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	   cout&lt;&lt;"Back in main\n"; return 0;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	void displayValue(int 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	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15		cout&lt;&lt;"The value is " &lt;&lt; n 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16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1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Other Parameter Terminology</a:t>
            </a:r>
            <a:endParaRPr/>
          </a:p>
        </p:txBody>
      </p:sp>
      <p:sp>
        <p:nvSpPr>
          <p:cNvPr id="518" name="Google Shape;518;p6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 parameter can also be called a </a:t>
            </a:r>
            <a:r>
              <a:rPr lang="en-US" sz="2800" u="sng"/>
              <a:t>formal parameter</a:t>
            </a:r>
            <a:r>
              <a:rPr lang="en-US" sz="2800"/>
              <a:t> or a </a:t>
            </a:r>
            <a:r>
              <a:rPr lang="en-US" sz="2800" u="sng"/>
              <a:t>formal argument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An argument can also be called an </a:t>
            </a:r>
            <a:r>
              <a:rPr lang="en-US" sz="2800" u="sng"/>
              <a:t>actual parameter</a:t>
            </a:r>
            <a:r>
              <a:rPr lang="en-US" sz="2800"/>
              <a:t> or an </a:t>
            </a:r>
            <a:r>
              <a:rPr lang="en-US" sz="2800" u="sng"/>
              <a:t>actual argument</a:t>
            </a:r>
            <a:endParaRPr sz="2800"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2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Parameters, Prototypes, and Function Headers</a:t>
            </a:r>
            <a:endParaRPr/>
          </a:p>
        </p:txBody>
      </p:sp>
      <p:sp>
        <p:nvSpPr>
          <p:cNvPr id="524" name="Google Shape;524;p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For each function argument,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</a:t>
            </a:r>
            <a:r>
              <a:rPr b="1" lang="en-US" sz="2400">
                <a:solidFill>
                  <a:srgbClr val="00B0F0"/>
                </a:solidFill>
              </a:rPr>
              <a:t>prototype</a:t>
            </a:r>
            <a:r>
              <a:rPr lang="en-US" sz="2400"/>
              <a:t> must include the </a:t>
            </a:r>
            <a:r>
              <a:rPr b="1" lang="en-US" sz="2400">
                <a:solidFill>
                  <a:srgbClr val="00B0F0"/>
                </a:solidFill>
              </a:rPr>
              <a:t>data type </a:t>
            </a:r>
            <a:r>
              <a:rPr lang="en-US" sz="2400"/>
              <a:t>of each parameter inside its parentheses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</a:t>
            </a:r>
            <a:r>
              <a:rPr b="1" lang="en-US" sz="2400">
                <a:solidFill>
                  <a:srgbClr val="00B0F0"/>
                </a:solidFill>
              </a:rPr>
              <a:t>header</a:t>
            </a:r>
            <a:r>
              <a:rPr lang="en-US" sz="2400"/>
              <a:t> must include a </a:t>
            </a:r>
            <a:r>
              <a:rPr b="1" lang="en-US" sz="2400">
                <a:solidFill>
                  <a:srgbClr val="00B0F0"/>
                </a:solidFill>
              </a:rPr>
              <a:t>declaration</a:t>
            </a:r>
            <a:r>
              <a:rPr lang="en-US" sz="2400"/>
              <a:t> for each parameter in its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2400"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	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void evenOrOdd(int);  //prototype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void evenOrOdd(int num) //header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evenOrOdd(val);       //call</a:t>
            </a:r>
            <a:endParaRPr sz="2400"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3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Function Call Notes</a:t>
            </a:r>
            <a:endParaRPr/>
          </a:p>
        </p:txBody>
      </p:sp>
      <p:sp>
        <p:nvSpPr>
          <p:cNvPr id="530" name="Google Shape;530;p6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Value of argument is </a:t>
            </a:r>
            <a:r>
              <a:rPr b="1" lang="en-US" sz="2600">
                <a:solidFill>
                  <a:srgbClr val="00B0F0"/>
                </a:solidFill>
              </a:rPr>
              <a:t>copied</a:t>
            </a:r>
            <a:r>
              <a:rPr lang="en-US" sz="2600"/>
              <a:t> into parameter when the function is called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A parameter’s scope is the function which uses it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Function can have </a:t>
            </a:r>
            <a:r>
              <a:rPr b="1" lang="en-US" sz="2600">
                <a:solidFill>
                  <a:srgbClr val="00B0F0"/>
                </a:solidFill>
              </a:rPr>
              <a:t>multiple</a:t>
            </a:r>
            <a:r>
              <a:rPr lang="en-US" sz="2600"/>
              <a:t> parameters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There </a:t>
            </a:r>
            <a:r>
              <a:rPr b="1" lang="en-US" sz="2600">
                <a:solidFill>
                  <a:srgbClr val="00B0F0"/>
                </a:solidFill>
              </a:rPr>
              <a:t>must</a:t>
            </a:r>
            <a:r>
              <a:rPr lang="en-US" sz="2600"/>
              <a:t> be a </a:t>
            </a:r>
            <a:r>
              <a:rPr b="1" lang="en-US" sz="2600">
                <a:solidFill>
                  <a:srgbClr val="00B0F0"/>
                </a:solidFill>
              </a:rPr>
              <a:t>data type</a:t>
            </a:r>
            <a:r>
              <a:rPr lang="en-US" sz="2600">
                <a:solidFill>
                  <a:srgbClr val="00B0F0"/>
                </a:solidFill>
              </a:rPr>
              <a:t> </a:t>
            </a:r>
            <a:r>
              <a:rPr lang="en-US" sz="2600"/>
              <a:t>listed in the prototype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600"/>
              <a:t> and an </a:t>
            </a:r>
            <a:r>
              <a:rPr b="1" lang="en-US" sz="2600">
                <a:solidFill>
                  <a:srgbClr val="00B0F0"/>
                </a:solidFill>
              </a:rPr>
              <a:t>argument</a:t>
            </a:r>
            <a:r>
              <a:rPr lang="en-US" sz="2600">
                <a:solidFill>
                  <a:srgbClr val="D60093"/>
                </a:solidFill>
              </a:rPr>
              <a:t> </a:t>
            </a:r>
            <a:r>
              <a:rPr b="1" lang="en-US" sz="2600">
                <a:solidFill>
                  <a:srgbClr val="00B0F0"/>
                </a:solidFill>
              </a:rPr>
              <a:t>declaration</a:t>
            </a:r>
            <a:r>
              <a:rPr lang="en-US" sz="2600"/>
              <a:t> in the function header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600"/>
              <a:t> for each parameter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Arguments will be promoted/demoted as necessary to </a:t>
            </a:r>
            <a:r>
              <a:rPr b="1" lang="en-US" sz="2600">
                <a:solidFill>
                  <a:srgbClr val="00B0F0"/>
                </a:solidFill>
              </a:rPr>
              <a:t>match</a:t>
            </a:r>
            <a:r>
              <a:rPr lang="en-US" sz="2600"/>
              <a:t> parameters</a:t>
            </a:r>
            <a:endParaRPr/>
          </a:p>
          <a:p>
            <a:pPr indent="-1778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4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In-Class Exercise</a:t>
            </a:r>
            <a:endParaRPr/>
          </a:p>
        </p:txBody>
      </p:sp>
      <p:sp>
        <p:nvSpPr>
          <p:cNvPr id="536" name="Google Shape;536;p64"/>
          <p:cNvSpPr txBox="1"/>
          <p:nvPr>
            <p:ph idx="1" type="body"/>
          </p:nvPr>
        </p:nvSpPr>
        <p:spPr>
          <a:xfrm>
            <a:off x="457200" y="1600200"/>
            <a:ext cx="335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/>
              <a:t>What is the output of this program? </a:t>
            </a:r>
            <a:endParaRPr/>
          </a:p>
        </p:txBody>
      </p:sp>
      <p:sp>
        <p:nvSpPr>
          <p:cNvPr id="537" name="Google Shape;537;p64"/>
          <p:cNvSpPr txBox="1"/>
          <p:nvPr/>
        </p:nvSpPr>
        <p:spPr>
          <a:xfrm>
            <a:off x="4114800" y="1600200"/>
            <a:ext cx="4876800" cy="48006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	#</a:t>
            </a: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02	using namespace std;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03	// Function prototype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04	void showDouble(int);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05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06	int main(){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07 		int num;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08		for (num = 0; num &lt; 10; num++)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09		showDouble(num);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		system(“pause”);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11		return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12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14	//Definition of function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15	void showDouble(int value)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16		cout&lt;&lt;value &lt;&lt;"\t“;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17		cout &lt;&lt; (value * 2)&lt;&lt;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18	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5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User Defined Functions: Passing Multiple Arguments</a:t>
            </a:r>
            <a:endParaRPr/>
          </a:p>
        </p:txBody>
      </p:sp>
      <p:sp>
        <p:nvSpPr>
          <p:cNvPr id="543" name="Google Shape;543;p6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When calling a function and passing multiple arguments: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the number of arguments in the call must match the prototype and definition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the first argument will be used to initialize the first parameter, the second argument to initialize the second parameter, etc.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6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User-Defined Functions: Passing Multiple Arguments (cont.)</a:t>
            </a:r>
            <a:endParaRPr/>
          </a:p>
        </p:txBody>
      </p:sp>
      <p:sp>
        <p:nvSpPr>
          <p:cNvPr id="549" name="Google Shape;549;p66"/>
          <p:cNvSpPr txBox="1"/>
          <p:nvPr/>
        </p:nvSpPr>
        <p:spPr>
          <a:xfrm>
            <a:off x="136478" y="1417638"/>
            <a:ext cx="8855122" cy="498316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	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02	using namespace 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03	void showSum(int, int, int);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05	int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06	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07		int value1, value2, value3;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09		cout&lt;&lt;"Enter 3 integers: 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		cin&gt;&gt; value1 &gt;&gt; value2 &gt;&gt; value3;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		showSum(value1, value2, value3);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		return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16	void showSum(int a, int b, int 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17	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18		cout&lt;&lt;"The sum: "&lt;&lt;a+b+c;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0" marL="5334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7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Passing Multiple </a:t>
            </a:r>
            <a:br>
              <a:rPr lang="en-US"/>
            </a:br>
            <a:r>
              <a:rPr lang="en-US"/>
              <a:t>Arguments (cont.)</a:t>
            </a:r>
            <a:endParaRPr/>
          </a:p>
        </p:txBody>
      </p:sp>
      <p:sp>
        <p:nvSpPr>
          <p:cNvPr id="555" name="Google Shape;555;p67"/>
          <p:cNvSpPr txBox="1"/>
          <p:nvPr/>
        </p:nvSpPr>
        <p:spPr>
          <a:xfrm>
            <a:off x="381000" y="4800600"/>
            <a:ext cx="8305800" cy="1348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function call in line 18 passes value1,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value2, and value3 as a arguments to the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607sowc copy" id="556" name="Google Shape;55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1858906"/>
            <a:ext cx="7315200" cy="2557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8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In-Class Exercise</a:t>
            </a:r>
            <a:endParaRPr/>
          </a:p>
        </p:txBody>
      </p:sp>
      <p:sp>
        <p:nvSpPr>
          <p:cNvPr id="562" name="Google Shape;562;p68"/>
          <p:cNvSpPr txBox="1"/>
          <p:nvPr>
            <p:ph idx="1" type="body"/>
          </p:nvPr>
        </p:nvSpPr>
        <p:spPr>
          <a:xfrm>
            <a:off x="457200" y="1600200"/>
            <a:ext cx="335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/>
              <a:t>What is the output of this program? </a:t>
            </a:r>
            <a:endParaRPr/>
          </a:p>
        </p:txBody>
      </p:sp>
      <p:sp>
        <p:nvSpPr>
          <p:cNvPr id="563" name="Google Shape;563;p68"/>
          <p:cNvSpPr txBox="1"/>
          <p:nvPr/>
        </p:nvSpPr>
        <p:spPr>
          <a:xfrm>
            <a:off x="4114800" y="1594884"/>
            <a:ext cx="4876800" cy="488211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	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03	// Function prototype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04	void func1(double, int);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06	int main(){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07		int x = 0; double y = 1.5;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08		cout &lt;&lt; x &lt;&lt; " " &lt;&lt;y&lt;&lt;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09		func1 (y, 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		cout &lt;&lt; x &lt;&lt; " " &lt;&lt;y&lt;&lt;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		system (“pause”);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		return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15	void func1(double a, int b){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16		cout &lt;&lt; a &lt;&lt; " " &lt;&lt;b&lt;&lt;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17		a=0.0; b=10;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18		cout &lt;&lt; a &lt;&lt; " " &lt;&lt;b&lt;&lt;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9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User-Defined Functions: </a:t>
            </a:r>
            <a:br>
              <a:rPr lang="en-US"/>
            </a:br>
            <a:r>
              <a:rPr lang="en-US"/>
              <a:t>Passing Data</a:t>
            </a:r>
            <a:endParaRPr/>
          </a:p>
        </p:txBody>
      </p:sp>
      <p:sp>
        <p:nvSpPr>
          <p:cNvPr id="569" name="Google Shape;569;p6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Passing by Value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Passing by Reference</a:t>
            </a:r>
            <a:endParaRPr/>
          </a:p>
          <a:p>
            <a:pPr indent="-1524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0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Passing Data by Value</a:t>
            </a:r>
            <a:endParaRPr/>
          </a:p>
        </p:txBody>
      </p:sp>
      <p:sp>
        <p:nvSpPr>
          <p:cNvPr id="575" name="Google Shape;575;p7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u="sng"/>
              <a:t>Pass by value</a:t>
            </a:r>
            <a:r>
              <a:rPr lang="en-US" sz="2600"/>
              <a:t>: when an argument is passed to a function, its value is </a:t>
            </a:r>
            <a:r>
              <a:rPr b="1" lang="en-US" sz="2600">
                <a:solidFill>
                  <a:srgbClr val="00B0F0"/>
                </a:solidFill>
              </a:rPr>
              <a:t>copied</a:t>
            </a:r>
            <a:r>
              <a:rPr lang="en-US" sz="2600"/>
              <a:t> into the parameter.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Changes to the parameter in the function do not affect the value of the argument </a:t>
            </a:r>
            <a:endParaRPr sz="2600" u="sng"/>
          </a:p>
          <a:p>
            <a:pPr indent="-1778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1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User-Defined Functions: Passing Data by Value (cont.)</a:t>
            </a:r>
            <a:endParaRPr/>
          </a:p>
        </p:txBody>
      </p:sp>
      <p:sp>
        <p:nvSpPr>
          <p:cNvPr id="581" name="Google Shape;581;p71"/>
          <p:cNvSpPr txBox="1"/>
          <p:nvPr/>
        </p:nvSpPr>
        <p:spPr>
          <a:xfrm>
            <a:off x="136478" y="1417638"/>
            <a:ext cx="8855122" cy="498316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1813" lvl="0" marL="53181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	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1813" lvl="0" marL="531813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02	using namespace 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1813" lvl="0" marL="531813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1813" lvl="0" marL="531813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04	void f( int n 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93763" lvl="0" marL="893763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05		cout &lt;&lt; "Inside f( int ), the value of the parameter is " &lt;&lt; n 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1813" lvl="0" marL="531813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06		n += 37;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93763" lvl="0" marL="893763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07		cout &lt;&lt; "Inside f( int ), the modified parameter is now " &lt;&lt; n &lt;&lt; endl; }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31813" lvl="0" marL="531813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1813" lvl="0" marL="531813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09	int main()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1813" lvl="0" marL="531813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		int m = 612;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1813" lvl="0" marL="531813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1813" lvl="0" marL="531813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		cout &lt;&lt; "The integer m = " &lt;&lt; m 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1813" lvl="0" marL="531813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		cout &lt;&lt; "Calling f( m )..." 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1813" lvl="0" marL="531813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		f( m 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1813" lvl="0" marL="531813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15		cout &lt;&lt; "The integer m = " &lt;&lt; m 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1813" lvl="0" marL="531813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16		return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1813" lvl="0" marL="531813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17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2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User-Defined Functions: Passing Data by Value (cont.)</a:t>
            </a:r>
            <a:endParaRPr/>
          </a:p>
        </p:txBody>
      </p:sp>
      <p:pic>
        <p:nvPicPr>
          <p:cNvPr descr="flow01" id="587" name="Google Shape;587;p7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752600"/>
            <a:ext cx="6477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3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Passing Information to Parameters by Value</a:t>
            </a:r>
            <a:endParaRPr/>
          </a:p>
        </p:txBody>
      </p:sp>
      <p:sp>
        <p:nvSpPr>
          <p:cNvPr id="593" name="Google Shape;593;p7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Example: 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 val=5;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		  evenOrOdd(val);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br>
              <a:rPr lang="en-US"/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evenOrOdd</a:t>
            </a:r>
            <a:r>
              <a:rPr lang="en-US"/>
              <a:t> can change variable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num</a:t>
            </a:r>
            <a:r>
              <a:rPr lang="en-US"/>
              <a:t>, but it will have no effect on variable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pSp>
        <p:nvGrpSpPr>
          <p:cNvPr id="594" name="Google Shape;594;p73"/>
          <p:cNvGrpSpPr/>
          <p:nvPr/>
        </p:nvGrpSpPr>
        <p:grpSpPr>
          <a:xfrm>
            <a:off x="762000" y="2590801"/>
            <a:ext cx="7734300" cy="1811338"/>
            <a:chOff x="504" y="1920"/>
            <a:chExt cx="4872" cy="1141"/>
          </a:xfrm>
        </p:grpSpPr>
        <p:sp>
          <p:nvSpPr>
            <p:cNvPr id="595" name="Google Shape;595;p73"/>
            <p:cNvSpPr/>
            <p:nvPr/>
          </p:nvSpPr>
          <p:spPr>
            <a:xfrm>
              <a:off x="4032" y="2256"/>
              <a:ext cx="768" cy="288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73"/>
            <p:cNvSpPr txBox="1"/>
            <p:nvPr/>
          </p:nvSpPr>
          <p:spPr>
            <a:xfrm>
              <a:off x="912" y="1920"/>
              <a:ext cx="76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73"/>
            <p:cNvSpPr txBox="1"/>
            <p:nvPr/>
          </p:nvSpPr>
          <p:spPr>
            <a:xfrm>
              <a:off x="504" y="2566"/>
              <a:ext cx="1584" cy="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argument 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calling function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73"/>
            <p:cNvSpPr/>
            <p:nvPr/>
          </p:nvSpPr>
          <p:spPr>
            <a:xfrm>
              <a:off x="912" y="2256"/>
              <a:ext cx="768" cy="288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73"/>
            <p:cNvSpPr txBox="1"/>
            <p:nvPr/>
          </p:nvSpPr>
          <p:spPr>
            <a:xfrm>
              <a:off x="4032" y="1920"/>
              <a:ext cx="76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73"/>
            <p:cNvSpPr txBox="1"/>
            <p:nvPr/>
          </p:nvSpPr>
          <p:spPr>
            <a:xfrm>
              <a:off x="3456" y="2593"/>
              <a:ext cx="1920" cy="4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parameter 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7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evenOrOdd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function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1" name="Google Shape;601;p73"/>
            <p:cNvCxnSpPr/>
            <p:nvPr/>
          </p:nvCxnSpPr>
          <p:spPr>
            <a:xfrm>
              <a:off x="1680" y="2400"/>
              <a:ext cx="235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4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Using Functions in </a:t>
            </a:r>
            <a:br>
              <a:rPr lang="en-US"/>
            </a:br>
            <a:r>
              <a:rPr lang="en-US"/>
              <a:t>Menu-Driven Programs</a:t>
            </a:r>
            <a:endParaRPr/>
          </a:p>
        </p:txBody>
      </p:sp>
      <p:sp>
        <p:nvSpPr>
          <p:cNvPr id="607" name="Google Shape;607;p7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Functions can be used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to implement user choices from menu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to implement general-purpose tasks: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Higher-level  functions can call general-purpose functions, minimizing the total number of functions and speeding program development time.</a:t>
            </a:r>
            <a:endParaRPr sz="20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5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</a:t>
            </a:r>
            <a:r>
              <a:rPr b="0" lang="en-US"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/>
              <a:t> Statement</a:t>
            </a:r>
            <a:endParaRPr/>
          </a:p>
        </p:txBody>
      </p:sp>
      <p:sp>
        <p:nvSpPr>
          <p:cNvPr id="613" name="Google Shape;613;p7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Used to end execution of a function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Can be placed anywhere in a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Statements that follow the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400"/>
              <a:t> statement will not be executed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Can be used to prevent abnormal termination of program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In a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2800"/>
              <a:t> function without a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800"/>
              <a:t> statement, the function ends at its last }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6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/>
              <a:t>Returning a Value from a Function</a:t>
            </a:r>
            <a:endParaRPr sz="3400"/>
          </a:p>
        </p:txBody>
      </p:sp>
      <p:sp>
        <p:nvSpPr>
          <p:cNvPr id="619" name="Google Shape;619;p7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A function can return a value back to the statement that called the function.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You've already seen the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pow</a:t>
            </a:r>
            <a:r>
              <a:rPr lang="en-US" sz="2600"/>
              <a:t> function, which returns a value:</a:t>
            </a:r>
            <a:br>
              <a:rPr lang="en-US" sz="2600"/>
            </a:br>
            <a:br>
              <a:rPr lang="en-US" sz="2600"/>
            </a:b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double x;</a:t>
            </a:r>
            <a:br>
              <a:rPr lang="en-US" sz="2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x = pow(2.0, 10.0);</a:t>
            </a:r>
            <a:endParaRPr/>
          </a:p>
          <a:p>
            <a:pPr indent="-1778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7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/>
              <a:t>Returning a Value from a Function</a:t>
            </a:r>
            <a:endParaRPr sz="3400"/>
          </a:p>
        </p:txBody>
      </p:sp>
      <p:sp>
        <p:nvSpPr>
          <p:cNvPr id="625" name="Google Shape;625;p7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 a value-returning function,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/>
              <a:t> statement can be used to return a value from function to the point of call. Example:</a:t>
            </a:r>
            <a:br>
              <a:rPr lang="en-US"/>
            </a:br>
            <a:br>
              <a:rPr lang="en-US"/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 sum(int num1, int num2)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double result;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result = num1 + num2;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return result;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1778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8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Value-Returning Function</a:t>
            </a:r>
            <a:endParaRPr/>
          </a:p>
        </p:txBody>
      </p:sp>
      <p:sp>
        <p:nvSpPr>
          <p:cNvPr id="631" name="Google Shape;631;p78"/>
          <p:cNvSpPr txBox="1"/>
          <p:nvPr/>
        </p:nvSpPr>
        <p:spPr>
          <a:xfrm>
            <a:off x="1600200" y="2819400"/>
            <a:ext cx="6553200" cy="2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sum(int num1, int num2)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double result;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result = num1 + num2;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return result;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78"/>
          <p:cNvSpPr txBox="1"/>
          <p:nvPr/>
        </p:nvSpPr>
        <p:spPr>
          <a:xfrm>
            <a:off x="1134750" y="1674168"/>
            <a:ext cx="16928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Return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3" name="Google Shape;633;p78"/>
          <p:cNvCxnSpPr/>
          <p:nvPr/>
        </p:nvCxnSpPr>
        <p:spPr>
          <a:xfrm>
            <a:off x="1981200" y="2209800"/>
            <a:ext cx="304800" cy="685800"/>
          </a:xfrm>
          <a:prstGeom prst="straightConnector1">
            <a:avLst/>
          </a:prstGeom>
          <a:noFill/>
          <a:ln cap="flat" cmpd="sng" w="38100">
            <a:solidFill>
              <a:srgbClr val="FF66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4" name="Google Shape;634;p78"/>
          <p:cNvSpPr txBox="1"/>
          <p:nvPr/>
        </p:nvSpPr>
        <p:spPr>
          <a:xfrm>
            <a:off x="1600200" y="5621635"/>
            <a:ext cx="441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Value Being Returned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5" name="Google Shape;635;p78"/>
          <p:cNvCxnSpPr/>
          <p:nvPr/>
        </p:nvCxnSpPr>
        <p:spPr>
          <a:xfrm flipH="1" rot="10800000">
            <a:off x="4267200" y="4953000"/>
            <a:ext cx="304800" cy="685800"/>
          </a:xfrm>
          <a:prstGeom prst="straightConnector1">
            <a:avLst/>
          </a:prstGeom>
          <a:noFill/>
          <a:ln cap="flat" cmpd="sng" w="38100">
            <a:solidFill>
              <a:srgbClr val="FF66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9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Value-Returning Function</a:t>
            </a:r>
            <a:endParaRPr/>
          </a:p>
        </p:txBody>
      </p:sp>
      <p:sp>
        <p:nvSpPr>
          <p:cNvPr id="641" name="Google Shape;641;p79"/>
          <p:cNvSpPr txBox="1"/>
          <p:nvPr/>
        </p:nvSpPr>
        <p:spPr>
          <a:xfrm>
            <a:off x="1295400" y="2209800"/>
            <a:ext cx="65532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sum(int num1, int num2)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return num1 + num2;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79"/>
          <p:cNvSpPr txBox="1"/>
          <p:nvPr/>
        </p:nvSpPr>
        <p:spPr>
          <a:xfrm>
            <a:off x="838200" y="4495800"/>
            <a:ext cx="73914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 can return the values of expressions, such as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num1 + num2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80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/>
              <a:t>The </a:t>
            </a:r>
            <a:r>
              <a:rPr b="0" lang="en-US" sz="3400"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3400"/>
              <a:t> Statement - Example</a:t>
            </a:r>
            <a:endParaRPr sz="3400"/>
          </a:p>
        </p:txBody>
      </p:sp>
      <p:pic>
        <p:nvPicPr>
          <p:cNvPr id="648" name="Google Shape;648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288" y="1484313"/>
            <a:ext cx="8064500" cy="4681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81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/>
              <a:t>The </a:t>
            </a:r>
            <a:r>
              <a:rPr b="0" lang="en-US" sz="3400"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3400"/>
              <a:t> Statement - Example</a:t>
            </a:r>
            <a:endParaRPr sz="3400"/>
          </a:p>
        </p:txBody>
      </p:sp>
      <p:pic>
        <p:nvPicPr>
          <p:cNvPr id="654" name="Google Shape;654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360612"/>
            <a:ext cx="6554787" cy="3959225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81"/>
          <p:cNvSpPr txBox="1"/>
          <p:nvPr/>
        </p:nvSpPr>
        <p:spPr>
          <a:xfrm>
            <a:off x="304800" y="1568450"/>
            <a:ext cx="4419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Program 6-11(Continued)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81"/>
          <p:cNvSpPr txBox="1"/>
          <p:nvPr/>
        </p:nvSpPr>
        <p:spPr>
          <a:xfrm>
            <a:off x="152400" y="4038600"/>
            <a:ext cx="115887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to called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7" name="Google Shape;657;p81"/>
          <p:cNvCxnSpPr/>
          <p:nvPr/>
        </p:nvCxnSpPr>
        <p:spPr>
          <a:xfrm rot="10800000">
            <a:off x="1311274" y="4572000"/>
            <a:ext cx="1203324" cy="76200"/>
          </a:xfrm>
          <a:prstGeom prst="straightConnector1">
            <a:avLst/>
          </a:prstGeom>
          <a:noFill/>
          <a:ln cap="flat" cmpd="sng" w="38100">
            <a:solidFill>
              <a:srgbClr val="FF66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82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/>
              <a:t>Returning a Value From a Function</a:t>
            </a:r>
            <a:endParaRPr sz="3400"/>
          </a:p>
        </p:txBody>
      </p:sp>
      <p:pic>
        <p:nvPicPr>
          <p:cNvPr id="663" name="Google Shape;663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693" y="1295400"/>
            <a:ext cx="7694613" cy="50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83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/>
              <a:t>Returning a Value From a Function</a:t>
            </a:r>
            <a:endParaRPr sz="3400"/>
          </a:p>
        </p:txBody>
      </p:sp>
      <p:pic>
        <p:nvPicPr>
          <p:cNvPr id="669" name="Google Shape;669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418" y="2514600"/>
            <a:ext cx="7777163" cy="3744913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83"/>
          <p:cNvSpPr txBox="1"/>
          <p:nvPr/>
        </p:nvSpPr>
        <p:spPr>
          <a:xfrm>
            <a:off x="381000" y="1704509"/>
            <a:ext cx="4114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Program 6-12 (Continued)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4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Structure Chart</a:t>
            </a:r>
            <a:endParaRPr/>
          </a:p>
        </p:txBody>
      </p:sp>
      <p:sp>
        <p:nvSpPr>
          <p:cNvPr id="676" name="Google Shape;676;p84"/>
          <p:cNvSpPr/>
          <p:nvPr/>
        </p:nvSpPr>
        <p:spPr>
          <a:xfrm>
            <a:off x="2967037" y="1706563"/>
            <a:ext cx="3203573" cy="915987"/>
          </a:xfrm>
          <a:prstGeom prst="flowChartProcess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main_program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84"/>
          <p:cNvSpPr/>
          <p:nvPr/>
        </p:nvSpPr>
        <p:spPr>
          <a:xfrm>
            <a:off x="2967037" y="4431788"/>
            <a:ext cx="3203573" cy="915987"/>
          </a:xfrm>
          <a:prstGeom prst="flowChartProcess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8" name="Google Shape;678;p84"/>
          <p:cNvCxnSpPr>
            <a:stCxn id="676" idx="2"/>
            <a:endCxn id="677" idx="0"/>
          </p:cNvCxnSpPr>
          <p:nvPr/>
        </p:nvCxnSpPr>
        <p:spPr>
          <a:xfrm>
            <a:off x="4568824" y="2622550"/>
            <a:ext cx="0" cy="1809300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79" name="Google Shape;679;p84"/>
          <p:cNvSpPr txBox="1"/>
          <p:nvPr/>
        </p:nvSpPr>
        <p:spPr>
          <a:xfrm>
            <a:off x="2754928" y="2971338"/>
            <a:ext cx="1452562" cy="523876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0" name="Google Shape;680;p84"/>
          <p:cNvCxnSpPr/>
          <p:nvPr/>
        </p:nvCxnSpPr>
        <p:spPr>
          <a:xfrm>
            <a:off x="4191000" y="2803423"/>
            <a:ext cx="0" cy="1485900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81" name="Google Shape;681;p84"/>
          <p:cNvSpPr txBox="1"/>
          <p:nvPr/>
        </p:nvSpPr>
        <p:spPr>
          <a:xfrm>
            <a:off x="2754928" y="3495214"/>
            <a:ext cx="1452558" cy="523876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2" name="Google Shape;682;p84"/>
          <p:cNvCxnSpPr/>
          <p:nvPr/>
        </p:nvCxnSpPr>
        <p:spPr>
          <a:xfrm rot="10800000">
            <a:off x="4948237" y="2798097"/>
            <a:ext cx="0" cy="1437354"/>
          </a:xfrm>
          <a:prstGeom prst="straightConnector1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683" name="Google Shape;683;p84"/>
          <p:cNvSpPr txBox="1"/>
          <p:nvPr/>
        </p:nvSpPr>
        <p:spPr>
          <a:xfrm>
            <a:off x="5044460" y="3183757"/>
            <a:ext cx="1165225" cy="490486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5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/>
              <a:t>Returning a Value From a Function</a:t>
            </a:r>
            <a:endParaRPr sz="3400"/>
          </a:p>
        </p:txBody>
      </p:sp>
      <p:pic>
        <p:nvPicPr>
          <p:cNvPr descr="0611sowc copy" id="689" name="Google Shape;689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004" y="1701006"/>
            <a:ext cx="7011992" cy="2386012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85"/>
          <p:cNvSpPr txBox="1"/>
          <p:nvPr/>
        </p:nvSpPr>
        <p:spPr>
          <a:xfrm>
            <a:off x="304800" y="4419600"/>
            <a:ext cx="853440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statement in line 17 calls the sum function, passing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value1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value2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arguments.       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return value is assigned to the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total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86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/>
              <a:t>Returning a Value From a Function</a:t>
            </a:r>
            <a:endParaRPr sz="3400"/>
          </a:p>
        </p:txBody>
      </p:sp>
      <p:sp>
        <p:nvSpPr>
          <p:cNvPr id="696" name="Google Shape;696;p8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prototype and the definition must indicate the data type of return value (not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2800"/>
              <a:t>)</a:t>
            </a:r>
            <a:br>
              <a:rPr lang="en-US" sz="2800"/>
            </a:br>
            <a:endParaRPr sz="2800"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Calling function should use return value: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assign it to a variable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send it to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endParaRPr sz="2400"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use it in an expression</a:t>
            </a:r>
            <a:endParaRPr sz="24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87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Returning a Boolean Value</a:t>
            </a:r>
            <a:endParaRPr/>
          </a:p>
        </p:txBody>
      </p:sp>
      <p:sp>
        <p:nvSpPr>
          <p:cNvPr id="702" name="Google Shape;702;p8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Function can return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2600"/>
              <a:t> or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sz="2600"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Declare return type in function prototype and heading as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-US" sz="2600"/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Function body must contain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600"/>
              <a:t> statement(s) that return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2600"/>
              <a:t> or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sz="2600"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Calling function can use return value in a relational expression</a:t>
            </a:r>
            <a:endParaRPr/>
          </a:p>
          <a:p>
            <a:pPr indent="-1778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88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Returning a Boolean Value</a:t>
            </a:r>
            <a:endParaRPr/>
          </a:p>
        </p:txBody>
      </p:sp>
      <p:pic>
        <p:nvPicPr>
          <p:cNvPr id="708" name="Google Shape;708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37" y="1417638"/>
            <a:ext cx="8137525" cy="4824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89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Returning a Boolean Value</a:t>
            </a:r>
            <a:endParaRPr/>
          </a:p>
        </p:txBody>
      </p:sp>
      <p:pic>
        <p:nvPicPr>
          <p:cNvPr id="714" name="Google Shape;714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319" y="1417638"/>
            <a:ext cx="6837362" cy="4908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90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In-Class Exercise</a:t>
            </a:r>
            <a:endParaRPr/>
          </a:p>
        </p:txBody>
      </p:sp>
      <p:sp>
        <p:nvSpPr>
          <p:cNvPr id="720" name="Google Shape;720;p90"/>
          <p:cNvSpPr txBox="1"/>
          <p:nvPr>
            <p:ph idx="1" type="body"/>
          </p:nvPr>
        </p:nvSpPr>
        <p:spPr>
          <a:xfrm>
            <a:off x="228600" y="1143000"/>
            <a:ext cx="4038600" cy="5272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void try1(int p);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int try3(int r);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{ int a=2;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cout &lt;&lt; a &lt;&lt;endl;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try1(a);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cout &lt;&lt; a &lt;&lt;endl;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int b=3;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cout &lt;&lt; b &lt;&lt;endl;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int c=4;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try3(c);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cout &lt;&lt; c &lt;&lt;endl;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c=try3(c);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cout &lt;&lt; c &lt;&lt;endl;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cout &lt;&lt; try3(5) &lt;&lt;endl;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return 0;}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/>
          </a:p>
        </p:txBody>
      </p:sp>
      <p:sp>
        <p:nvSpPr>
          <p:cNvPr id="721" name="Google Shape;721;p90"/>
          <p:cNvSpPr txBox="1"/>
          <p:nvPr/>
        </p:nvSpPr>
        <p:spPr>
          <a:xfrm>
            <a:off x="3562352" y="1524000"/>
            <a:ext cx="2628900" cy="299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try1(int 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cout &lt;&lt; p &lt;&lt;endl;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try3(int 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r*r;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91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In-Class Exercise</a:t>
            </a:r>
            <a:endParaRPr/>
          </a:p>
        </p:txBody>
      </p:sp>
      <p:sp>
        <p:nvSpPr>
          <p:cNvPr id="727" name="Google Shape;727;p9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/>
              <a:t>Write a function prototype and header for a function named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distance</a:t>
            </a:r>
            <a:r>
              <a:rPr lang="en-US"/>
              <a:t>. The function should return a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/>
              <a:t> and have a two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/>
              <a:t> parameters: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rate</a:t>
            </a:r>
            <a:r>
              <a:rPr lang="en-US"/>
              <a:t>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/>
              <a:t>Write a function prototype and header for a function named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days</a:t>
            </a:r>
            <a:r>
              <a:rPr lang="en-US"/>
              <a:t>. The function should return an integer and have three integer parameters: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years</a:t>
            </a:r>
            <a:r>
              <a:rPr lang="en-US"/>
              <a:t>,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months</a:t>
            </a:r>
            <a:r>
              <a:rPr lang="en-US"/>
              <a:t>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weeks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/>
              <a:t>Examine the following function header, then write an example call to the function.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	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void showValue(int quantity)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92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In-Class Exercise</a:t>
            </a:r>
            <a:endParaRPr/>
          </a:p>
        </p:txBody>
      </p:sp>
      <p:sp>
        <p:nvSpPr>
          <p:cNvPr id="733" name="Google Shape;733;p9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following statement calls a function named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half</a:t>
            </a:r>
            <a:r>
              <a:rPr lang="en-US"/>
              <a:t>.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half</a:t>
            </a:r>
            <a:r>
              <a:rPr lang="en-US"/>
              <a:t> function returns a value that is half that of the argument. Write the function.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result = half(number);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program contains the following function: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 cube (int num)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return num*num*num;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Write a statement that passes the value 4 to this function and assigns its return value to the variable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result.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93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In-Class Exercise</a:t>
            </a:r>
            <a:endParaRPr/>
          </a:p>
        </p:txBody>
      </p:sp>
      <p:sp>
        <p:nvSpPr>
          <p:cNvPr id="739" name="Google Shape;739;p9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Write a C++ program to calculate a rectangle’s area. The program consists of the following functions: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2000"/>
              <a:buChar char="–"/>
            </a:pPr>
            <a:r>
              <a:rPr b="1" lang="en-US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getLength</a:t>
            </a:r>
            <a:r>
              <a:rPr lang="en-US"/>
              <a:t> – This function should ask the user to enter the rectangle’s length, and then returns that value as a double.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2000"/>
              <a:buChar char="–"/>
            </a:pPr>
            <a:r>
              <a:rPr b="1" lang="en-US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getWidth</a:t>
            </a:r>
            <a:r>
              <a:rPr lang="en-US"/>
              <a:t> – This function should ask the user to enter the rectangle’s width, and then returns that value as a double.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2000"/>
              <a:buChar char="–"/>
            </a:pPr>
            <a:r>
              <a:rPr b="1" lang="en-US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getArea</a:t>
            </a:r>
            <a:r>
              <a:rPr lang="en-US"/>
              <a:t> – This function should accept the rectangle’s length and width as arguments and return the rectangle’s area.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2000"/>
              <a:buChar char="–"/>
            </a:pPr>
            <a:r>
              <a:rPr b="1" lang="en-US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displayData</a:t>
            </a:r>
            <a:r>
              <a:rPr lang="en-US"/>
              <a:t> – This function should accept the rectangle’s length, width and area as arguments, and display them in an appropriate message on the screen.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2000"/>
              <a:buChar char="–"/>
            </a:pPr>
            <a:r>
              <a:rPr b="1" lang="en-US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/>
              <a:t> – This function consists of calls to the above functions.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4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Local and Global Variables</a:t>
            </a:r>
            <a:endParaRPr/>
          </a:p>
        </p:txBody>
      </p:sp>
      <p:sp>
        <p:nvSpPr>
          <p:cNvPr id="745" name="Google Shape;745;p9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Variables defined inside a function are </a:t>
            </a:r>
            <a:r>
              <a:rPr i="1" lang="en-US" sz="2600">
                <a:solidFill>
                  <a:srgbClr val="990033"/>
                </a:solidFill>
              </a:rPr>
              <a:t>local</a:t>
            </a:r>
            <a:r>
              <a:rPr i="1" lang="en-US" sz="2600"/>
              <a:t> </a:t>
            </a:r>
            <a:r>
              <a:rPr lang="en-US" sz="2600"/>
              <a:t>to that function. They are hidden from the statements in other functions, which normally cannot access them.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Because the variables defined in a function are hidden, other functions may have separate, distinct variables with the same name.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95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Local and Global Variables - Example</a:t>
            </a:r>
            <a:endParaRPr sz="3200"/>
          </a:p>
        </p:txBody>
      </p:sp>
      <p:pic>
        <p:nvPicPr>
          <p:cNvPr id="751" name="Google Shape;751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936" y="1295400"/>
            <a:ext cx="5174264" cy="5052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95"/>
          <p:cNvPicPr preferRelativeResize="0"/>
          <p:nvPr/>
        </p:nvPicPr>
        <p:blipFill rotWithShape="1">
          <a:blip r:embed="rId4">
            <a:alphaModFix/>
          </a:blip>
          <a:srcRect b="0" l="0" r="36585" t="0"/>
          <a:stretch/>
        </p:blipFill>
        <p:spPr>
          <a:xfrm>
            <a:off x="5402826" y="5060156"/>
            <a:ext cx="3741174" cy="1004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96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Local and Global Variables - Example</a:t>
            </a:r>
            <a:endParaRPr sz="3200"/>
          </a:p>
        </p:txBody>
      </p:sp>
      <p:sp>
        <p:nvSpPr>
          <p:cNvPr id="758" name="Google Shape;758;p9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/>
              <a:t>When the program is executing in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/>
              <a:t>,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num</a:t>
            </a:r>
            <a:r>
              <a:rPr lang="en-US"/>
              <a:t> variable defined in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/>
              <a:t> is visible.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/>
              <a:t>When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anotherFunction</a:t>
            </a:r>
            <a:r>
              <a:rPr lang="en-US"/>
              <a:t> is called, however, only variables defined inside it are visible, so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num</a:t>
            </a:r>
            <a:r>
              <a:rPr lang="en-US"/>
              <a:t> variable in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/>
              <a:t> is hidden.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0613sowc copy" id="759" name="Google Shape;759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6548" y="4017010"/>
            <a:ext cx="4750904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97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Local Variable Lifetime</a:t>
            </a:r>
            <a:endParaRPr/>
          </a:p>
        </p:txBody>
      </p:sp>
      <p:sp>
        <p:nvSpPr>
          <p:cNvPr id="765" name="Google Shape;765;p9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function’s local variables exist only while the </a:t>
            </a:r>
            <a:r>
              <a:rPr b="1" lang="en-US">
                <a:solidFill>
                  <a:srgbClr val="00B0F0"/>
                </a:solidFill>
              </a:rPr>
              <a:t>function is</a:t>
            </a:r>
            <a:r>
              <a:rPr lang="en-US">
                <a:solidFill>
                  <a:srgbClr val="990033"/>
                </a:solidFill>
              </a:rPr>
              <a:t> </a:t>
            </a:r>
            <a:r>
              <a:rPr b="1" lang="en-US">
                <a:solidFill>
                  <a:srgbClr val="00B0F0"/>
                </a:solidFill>
              </a:rPr>
              <a:t>executing</a:t>
            </a:r>
            <a:r>
              <a:rPr lang="en-US"/>
              <a:t>. This is known as the </a:t>
            </a:r>
            <a:r>
              <a:rPr i="1" lang="en-US"/>
              <a:t>lifetime </a:t>
            </a:r>
            <a:r>
              <a:rPr lang="en-US"/>
              <a:t>of a local variable.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When the function begins, its local variables and its parameter variables are </a:t>
            </a:r>
            <a:r>
              <a:rPr b="1" lang="en-US">
                <a:solidFill>
                  <a:srgbClr val="00B0F0"/>
                </a:solidFill>
              </a:rPr>
              <a:t>created</a:t>
            </a:r>
            <a:r>
              <a:rPr lang="en-US"/>
              <a:t> in memory, and when the function ends, the local variables and parameter variables are </a:t>
            </a:r>
            <a:r>
              <a:rPr b="1" lang="en-US">
                <a:solidFill>
                  <a:srgbClr val="00B0F0"/>
                </a:solidFill>
              </a:rPr>
              <a:t>destroyed</a:t>
            </a:r>
            <a:r>
              <a:rPr lang="en-US"/>
              <a:t>.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This means that any value stored in a local variable is lost between calls to the function in which the variable is declared.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98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Global Variables and </a:t>
            </a:r>
            <a:br>
              <a:rPr lang="en-US"/>
            </a:br>
            <a:r>
              <a:rPr lang="en-US"/>
              <a:t>Global Constants</a:t>
            </a:r>
            <a:endParaRPr/>
          </a:p>
        </p:txBody>
      </p:sp>
      <p:sp>
        <p:nvSpPr>
          <p:cNvPr id="771" name="Google Shape;771;p9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A </a:t>
            </a:r>
            <a:r>
              <a:rPr b="1" lang="en-US" sz="2600">
                <a:solidFill>
                  <a:srgbClr val="00B0F0"/>
                </a:solidFill>
              </a:rPr>
              <a:t>global</a:t>
            </a:r>
            <a:r>
              <a:rPr lang="en-US" sz="2600"/>
              <a:t> variable is any variable defined </a:t>
            </a:r>
            <a:r>
              <a:rPr lang="en-US" sz="2600">
                <a:solidFill>
                  <a:srgbClr val="990033"/>
                </a:solidFill>
              </a:rPr>
              <a:t>outside</a:t>
            </a:r>
            <a:r>
              <a:rPr lang="en-US" sz="2600"/>
              <a:t> all the functions in a program. </a:t>
            </a:r>
            <a:endParaRPr/>
          </a:p>
          <a:p>
            <a:pPr indent="-1778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The scope of a global variable is the portion of the program from the variable definition to the end. </a:t>
            </a:r>
            <a:endParaRPr/>
          </a:p>
          <a:p>
            <a:pPr indent="-1778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This means that a global variable can be accessed by </a:t>
            </a:r>
            <a:r>
              <a:rPr b="1" i="1" lang="en-US" sz="2600">
                <a:solidFill>
                  <a:srgbClr val="00B0F0"/>
                </a:solidFill>
              </a:rPr>
              <a:t>all</a:t>
            </a:r>
            <a:r>
              <a:rPr lang="en-US" sz="2600"/>
              <a:t> functions that are defined after the global variable is defined</a:t>
            </a:r>
            <a:endParaRPr sz="26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99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Global Variables and </a:t>
            </a:r>
            <a:br>
              <a:rPr lang="en-US"/>
            </a:br>
            <a:r>
              <a:rPr lang="en-US"/>
              <a:t>Global Constants</a:t>
            </a:r>
            <a:endParaRPr/>
          </a:p>
        </p:txBody>
      </p:sp>
      <p:sp>
        <p:nvSpPr>
          <p:cNvPr id="777" name="Google Shape;777;p9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You should </a:t>
            </a:r>
            <a:r>
              <a:rPr b="1" lang="en-US" sz="2800">
                <a:solidFill>
                  <a:srgbClr val="00B0F0"/>
                </a:solidFill>
              </a:rPr>
              <a:t>avoid</a:t>
            </a:r>
            <a:r>
              <a:rPr lang="en-US" sz="2800"/>
              <a:t> using global variables because they make programs difficult to debug.</a:t>
            </a:r>
            <a:br>
              <a:rPr lang="en-US" sz="2800"/>
            </a:b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Any global that you create should be </a:t>
            </a:r>
            <a:r>
              <a:rPr b="1" i="1" lang="en-US" sz="2800">
                <a:solidFill>
                  <a:srgbClr val="00B0F0"/>
                </a:solidFill>
              </a:rPr>
              <a:t>global constants</a:t>
            </a:r>
            <a:r>
              <a:rPr lang="en-US" sz="2800"/>
              <a:t>.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00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Global Constants – Example </a:t>
            </a:r>
            <a:endParaRPr/>
          </a:p>
        </p:txBody>
      </p:sp>
      <p:pic>
        <p:nvPicPr>
          <p:cNvPr id="783" name="Google Shape;783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441450"/>
            <a:ext cx="6919913" cy="4721225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100"/>
          <p:cNvSpPr txBox="1"/>
          <p:nvPr/>
        </p:nvSpPr>
        <p:spPr>
          <a:xfrm>
            <a:off x="5105400" y="1401661"/>
            <a:ext cx="3429000" cy="144655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Global constants defined for values that do not change throughout the program’s execution.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5" name="Google Shape;785;p100"/>
          <p:cNvCxnSpPr/>
          <p:nvPr/>
        </p:nvCxnSpPr>
        <p:spPr>
          <a:xfrm flipH="1">
            <a:off x="3629025" y="2438400"/>
            <a:ext cx="1476375" cy="673100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01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Global Constants – Example </a:t>
            </a:r>
            <a:endParaRPr/>
          </a:p>
        </p:txBody>
      </p:sp>
      <p:pic>
        <p:nvPicPr>
          <p:cNvPr id="791" name="Google Shape;791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0" y="2667000"/>
            <a:ext cx="4876800" cy="68103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792" name="Google Shape;792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3581400"/>
            <a:ext cx="4594225" cy="11144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793" name="Google Shape;793;p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9800" y="4906963"/>
            <a:ext cx="5715000" cy="11477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794" name="Google Shape;794;p101"/>
          <p:cNvSpPr txBox="1"/>
          <p:nvPr/>
        </p:nvSpPr>
        <p:spPr>
          <a:xfrm>
            <a:off x="304800" y="1524000"/>
            <a:ext cx="3200400" cy="156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The constants are then used for those values throughout the program.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02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Initializing Local and Global Variables</a:t>
            </a:r>
            <a:endParaRPr/>
          </a:p>
        </p:txBody>
      </p:sp>
      <p:sp>
        <p:nvSpPr>
          <p:cNvPr id="800" name="Google Shape;800;p10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Local variables are not automatically initialized. They must be initialized by programmer.</a:t>
            </a:r>
            <a:br>
              <a:rPr lang="en-US"/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Global variables (not constants) are automatically initialized to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/>
              <a:t> (numeric) or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-US"/>
              <a:t> (character) when the variable is defined.</a:t>
            </a:r>
            <a:endParaRPr u="sng"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03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Static Local Variables</a:t>
            </a:r>
            <a:endParaRPr/>
          </a:p>
        </p:txBody>
      </p:sp>
      <p:sp>
        <p:nvSpPr>
          <p:cNvPr id="806" name="Google Shape;806;p10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Local variables only exist while the function is executing.  When the function terminates, the contents of local variables are lost.</a:t>
            </a:r>
            <a:br>
              <a:rPr lang="en-US"/>
            </a:b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/>
              <a:t> local variables retain their contents between function calls.</a:t>
            </a:r>
            <a:br>
              <a:rPr lang="en-US"/>
            </a:b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/>
              <a:t> local variables are defined and initialized only the first time the function is executed. 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/>
              <a:t> is the default initialization value.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04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Local Variables - Example</a:t>
            </a:r>
            <a:endParaRPr/>
          </a:p>
        </p:txBody>
      </p:sp>
      <p:pic>
        <p:nvPicPr>
          <p:cNvPr id="812" name="Google Shape;812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337" y="1600200"/>
            <a:ext cx="8569325" cy="42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05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Local Variables - Example</a:t>
            </a:r>
            <a:endParaRPr/>
          </a:p>
        </p:txBody>
      </p:sp>
      <p:pic>
        <p:nvPicPr>
          <p:cNvPr id="818" name="Google Shape;818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057" y="1355122"/>
            <a:ext cx="7984449" cy="428184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105"/>
          <p:cNvSpPr txBox="1"/>
          <p:nvPr/>
        </p:nvSpPr>
        <p:spPr>
          <a:xfrm>
            <a:off x="566598" y="5707559"/>
            <a:ext cx="80010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program, each time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showLocal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called, the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localNum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variable is re-created and initialized with the value 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06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Different Approach, Using a Static Variable</a:t>
            </a:r>
            <a:endParaRPr/>
          </a:p>
        </p:txBody>
      </p:sp>
      <p:pic>
        <p:nvPicPr>
          <p:cNvPr id="825" name="Google Shape;825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1628775"/>
            <a:ext cx="8064500" cy="4392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07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Using a Static Variable - Example</a:t>
            </a:r>
            <a:endParaRPr/>
          </a:p>
        </p:txBody>
      </p:sp>
      <p:pic>
        <p:nvPicPr>
          <p:cNvPr id="831" name="Google Shape;831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444625"/>
            <a:ext cx="7112000" cy="4575175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107"/>
          <p:cNvSpPr txBox="1"/>
          <p:nvPr/>
        </p:nvSpPr>
        <p:spPr>
          <a:xfrm>
            <a:off x="3200400" y="4832350"/>
            <a:ext cx="5181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statNum</a:t>
            </a:r>
            <a:r>
              <a:rPr b="0" i="0" lang="en-US" sz="24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 is automatically initialized to 0. Notice that it retains its value between function calls.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3" name="Google Shape;833;p107"/>
          <p:cNvCxnSpPr/>
          <p:nvPr/>
        </p:nvCxnSpPr>
        <p:spPr>
          <a:xfrm flipH="1">
            <a:off x="2362200" y="5059363"/>
            <a:ext cx="850900" cy="1587"/>
          </a:xfrm>
          <a:prstGeom prst="straightConnector1">
            <a:avLst/>
          </a:prstGeom>
          <a:noFill/>
          <a:ln cap="flat" cmpd="sng" w="28575">
            <a:solidFill>
              <a:srgbClr val="FF66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08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Using a Static Variable - Example</a:t>
            </a:r>
            <a:endParaRPr/>
          </a:p>
        </p:txBody>
      </p:sp>
      <p:sp>
        <p:nvSpPr>
          <p:cNvPr id="839" name="Google Shape;839;p108"/>
          <p:cNvSpPr txBox="1"/>
          <p:nvPr/>
        </p:nvSpPr>
        <p:spPr>
          <a:xfrm>
            <a:off x="419100" y="1143000"/>
            <a:ext cx="83058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do initialize a local static variable, the initialization only happens once. See Program 6-22…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0" name="Google Shape;840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353" y="2057400"/>
            <a:ext cx="7049294" cy="431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09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In-Class Exercise</a:t>
            </a:r>
            <a:endParaRPr/>
          </a:p>
        </p:txBody>
      </p:sp>
      <p:sp>
        <p:nvSpPr>
          <p:cNvPr id="846" name="Google Shape;846;p10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Given the following programs compare the output and reason the output.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47" name="Google Shape;847;p109"/>
          <p:cNvSpPr txBox="1"/>
          <p:nvPr/>
        </p:nvSpPr>
        <p:spPr>
          <a:xfrm>
            <a:off x="391478" y="2553851"/>
            <a:ext cx="4195762" cy="3754874"/>
          </a:xfrm>
          <a:prstGeom prst="rect">
            <a:avLst/>
          </a:prstGeom>
          <a:solidFill>
            <a:srgbClr val="CC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showVar();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 ( 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 (int count=0;count&lt;10; count++)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showVar();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system(“pause”);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return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showVar()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static int var = 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var 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var++;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109"/>
          <p:cNvSpPr txBox="1"/>
          <p:nvPr/>
        </p:nvSpPr>
        <p:spPr>
          <a:xfrm>
            <a:off x="4739640" y="2553851"/>
            <a:ext cx="4099560" cy="3754874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showVar();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 ( 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for(int count=0;count&lt;10; count++)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showVar();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system(“pause”);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return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showVar()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var = 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cout &lt;&lt; var 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var++;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10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In-Class Exercise</a:t>
            </a:r>
            <a:endParaRPr/>
          </a:p>
        </p:txBody>
      </p:sp>
      <p:sp>
        <p:nvSpPr>
          <p:cNvPr id="854" name="Google Shape;854;p1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Identify global variables &amp; local variables in the following program. What is the output?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int j = 8;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   int i=0;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   cout&lt;&lt;"i: "&lt;&lt;i&lt;&lt;endl;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   cout&lt;&lt;"j: "&lt;&lt;j&lt;&lt;endl;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   system("pause");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11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p1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61" name="Google Shape;861;p11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global variables, local variables and static local variables in the following program. What is the output?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3429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j = 40;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p()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  int i=5;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static int j=5;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i++;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j++;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cout&lt;&lt;"i: "&lt;&lt;i&lt;&lt;endl;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cout&lt;&lt;"j: "&lt;&lt;j&lt;&lt;endl;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 p();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0;}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12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Using Reference Variables as Parameters</a:t>
            </a:r>
            <a:endParaRPr/>
          </a:p>
        </p:txBody>
      </p:sp>
      <p:sp>
        <p:nvSpPr>
          <p:cNvPr id="867" name="Google Shape;867;p1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A mechanism that allows a function to work with the </a:t>
            </a:r>
            <a:r>
              <a:rPr b="1" lang="en-US" sz="2600">
                <a:solidFill>
                  <a:srgbClr val="00B0F0"/>
                </a:solidFill>
              </a:rPr>
              <a:t>original argument </a:t>
            </a:r>
            <a:r>
              <a:rPr lang="en-US" sz="2600"/>
              <a:t>from the function call, not a copy of the argument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Allows the function to </a:t>
            </a:r>
            <a:r>
              <a:rPr b="1" lang="en-US" sz="2600">
                <a:solidFill>
                  <a:srgbClr val="00B0F0"/>
                </a:solidFill>
              </a:rPr>
              <a:t>modify values </a:t>
            </a:r>
            <a:r>
              <a:rPr lang="en-US" sz="2600"/>
              <a:t>stored in the calling environment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Provides a way for the function to ‘return’ more than one value</a:t>
            </a:r>
            <a:endParaRPr/>
          </a:p>
          <a:p>
            <a:pPr indent="-1778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13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Passing by Reference</a:t>
            </a:r>
            <a:endParaRPr/>
          </a:p>
        </p:txBody>
      </p:sp>
      <p:sp>
        <p:nvSpPr>
          <p:cNvPr id="873" name="Google Shape;873;p1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 </a:t>
            </a:r>
            <a:r>
              <a:rPr lang="en-US" sz="2800" u="sng"/>
              <a:t>reference variable</a:t>
            </a:r>
            <a:r>
              <a:rPr lang="en-US" sz="2800"/>
              <a:t> is an alias for another variable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Defined with an ampersand (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800"/>
              <a:t>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	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void getDimensions(int&amp;, int&amp;);</a:t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Changes to a reference variable are made to the variable it refers to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Use reference variables to implement passing parameters </a:t>
            </a:r>
            <a:r>
              <a:rPr i="1" lang="en-US" sz="2800"/>
              <a:t>by reference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14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Passing by Reference – Example</a:t>
            </a:r>
            <a:endParaRPr/>
          </a:p>
        </p:txBody>
      </p:sp>
      <p:pic>
        <p:nvPicPr>
          <p:cNvPr id="879" name="Google Shape;879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1776413"/>
            <a:ext cx="8280401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114"/>
          <p:cNvSpPr txBox="1"/>
          <p:nvPr/>
        </p:nvSpPr>
        <p:spPr>
          <a:xfrm>
            <a:off x="2613025" y="1187414"/>
            <a:ext cx="607377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The &amp; here in the prototype indicates that the parameter is a reference variable.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1" name="Google Shape;881;p114"/>
          <p:cNvCxnSpPr/>
          <p:nvPr/>
        </p:nvCxnSpPr>
        <p:spPr>
          <a:xfrm flipH="1">
            <a:off x="3708399" y="2051050"/>
            <a:ext cx="939800" cy="1454150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2" name="Google Shape;882;p114"/>
          <p:cNvSpPr txBox="1"/>
          <p:nvPr/>
        </p:nvSpPr>
        <p:spPr>
          <a:xfrm>
            <a:off x="4267200" y="3954462"/>
            <a:ext cx="398145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Here we are passing value by reference.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3" name="Google Shape;883;p114"/>
          <p:cNvCxnSpPr/>
          <p:nvPr/>
        </p:nvCxnSpPr>
        <p:spPr>
          <a:xfrm flipH="1">
            <a:off x="3419475" y="4365625"/>
            <a:ext cx="847725" cy="901700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15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Passing by Reference - Example</a:t>
            </a:r>
            <a:endParaRPr/>
          </a:p>
        </p:txBody>
      </p:sp>
      <p:pic>
        <p:nvPicPr>
          <p:cNvPr id="889" name="Google Shape;889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738" y="2362200"/>
            <a:ext cx="7993062" cy="3959225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115"/>
          <p:cNvSpPr txBox="1"/>
          <p:nvPr/>
        </p:nvSpPr>
        <p:spPr>
          <a:xfrm>
            <a:off x="982663" y="178593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The &amp; also appears here in the function header.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1" name="Google Shape;891;p115"/>
          <p:cNvCxnSpPr/>
          <p:nvPr/>
        </p:nvCxnSpPr>
        <p:spPr>
          <a:xfrm>
            <a:off x="2493963" y="2144713"/>
            <a:ext cx="1152525" cy="1728787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92" name="Google Shape;892;p115"/>
          <p:cNvSpPr txBox="1"/>
          <p:nvPr/>
        </p:nvSpPr>
        <p:spPr>
          <a:xfrm>
            <a:off x="304800" y="1314450"/>
            <a:ext cx="708660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Program 6-24</a:t>
            </a:r>
            <a:r>
              <a:rPr b="0" i="1" lang="en-US" sz="24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 (Continued)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16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 Variables Notes</a:t>
            </a:r>
            <a:endParaRPr/>
          </a:p>
        </p:txBody>
      </p:sp>
      <p:sp>
        <p:nvSpPr>
          <p:cNvPr id="898" name="Google Shape;898;p1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Each reference parameter must contain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Space between type and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600"/>
              <a:t> is unimportant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Must use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600"/>
              <a:t> in both prototype and header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Argument passed to reference parameter must be a variable – cannot be an expression or constant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Use when appropriate – don’t use when argument should not be changed by function, or if function needs to return only 1 value</a:t>
            </a:r>
            <a:endParaRPr/>
          </a:p>
          <a:p>
            <a:pPr indent="-1778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17"/>
          <p:cNvSpPr txBox="1"/>
          <p:nvPr>
            <p:ph idx="1" type="body"/>
          </p:nvPr>
        </p:nvSpPr>
        <p:spPr>
          <a:xfrm>
            <a:off x="381000" y="914400"/>
            <a:ext cx="3581400" cy="556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void test(int, int&amp;);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int num;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num=5;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test(24, num);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cout&lt;&lt;num&lt;&lt;endl;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test(num,num);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cout&lt;&lt;num&lt;&lt;endl;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test(num*num, num);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cout&lt;&lt;num&lt;&lt;endl;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test(num+num,num);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cout&lt;&lt;num&lt;&lt;endl;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system("pause");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904" name="Google Shape;904;p117"/>
          <p:cNvSpPr txBox="1"/>
          <p:nvPr/>
        </p:nvSpPr>
        <p:spPr>
          <a:xfrm>
            <a:off x="3733800" y="914400"/>
            <a:ext cx="5292725" cy="4525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test(int first, int&amp; second)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int third;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third=first+second*second+2;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first=second-first;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second=2*second;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cout&lt;&lt;first&lt;&lt;" "&lt;&lt;second&lt;&lt;" "&lt;&lt;third&lt;&lt;endl;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18"/>
          <p:cNvSpPr txBox="1"/>
          <p:nvPr>
            <p:ph idx="1" type="body"/>
          </p:nvPr>
        </p:nvSpPr>
        <p:spPr>
          <a:xfrm>
            <a:off x="228600" y="1143000"/>
            <a:ext cx="4427538" cy="518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void test(int&amp;, int&amp;,int,int&amp;);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{   int a,b,c,d;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a=3;  b=4;  c=20;  d=78;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cout&lt;&lt;a&lt;&lt;" "&lt;&lt;b&lt;&lt;" "&lt;&lt;c&lt;&lt;" "&lt;&lt;d&lt;&lt;endl;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test(a,b,c,d);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cout&lt;&lt;a&lt;&lt;" "&lt;&lt;b&lt;&lt;" "&lt;&lt;c&lt;&lt;" "&lt;&lt;d&lt;&lt;endl;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d=a*b+c-d;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test(a,b,c,d);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cout&lt;&lt;a&lt;&lt;" "&lt;&lt;b&lt;&lt;" "&lt;&lt;c&lt;&lt;" "&lt;&lt;d&lt;&lt;endl;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910" name="Google Shape;910;p118"/>
          <p:cNvSpPr txBox="1"/>
          <p:nvPr/>
        </p:nvSpPr>
        <p:spPr>
          <a:xfrm>
            <a:off x="4427538" y="1143000"/>
            <a:ext cx="4716462" cy="213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test(int&amp; a, int&amp; b, int c, int&amp; 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cin&gt;&gt;a &gt;&gt; b&gt;&gt; c&gt;&gt; 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 = a* b+d-c;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c=2*c;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118"/>
          <p:cNvSpPr txBox="1"/>
          <p:nvPr/>
        </p:nvSpPr>
        <p:spPr>
          <a:xfrm>
            <a:off x="4427538" y="3581401"/>
            <a:ext cx="1933575" cy="157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6 8 12 35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8 9 30 45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19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Default Arguments</a:t>
            </a:r>
            <a:endParaRPr/>
          </a:p>
        </p:txBody>
      </p:sp>
      <p:sp>
        <p:nvSpPr>
          <p:cNvPr id="917" name="Google Shape;917;p1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</a:t>
            </a:r>
            <a:r>
              <a:rPr lang="en-US" u="sng"/>
              <a:t>Default argument</a:t>
            </a:r>
            <a:r>
              <a:rPr lang="en-US"/>
              <a:t>  is an argument that is passed automatically to a parameter if the argument is missing on the function call.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Must be a constant declared in prototype: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Calibri"/>
              <a:buNone/>
            </a:pPr>
            <a:r>
              <a:rPr lang="en-US"/>
              <a:t>	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void evenOrOdd(int = 0);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Can be declared in header if no prototype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Multi-parameter functions may have default arguments for some or all of them: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Calibri"/>
              <a:buNone/>
            </a:pPr>
            <a:r>
              <a:rPr lang="en-US"/>
              <a:t>	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 getSum(int, int=0, int=0);</a:t>
            </a:r>
            <a:endParaRPr sz="180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20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Default Arguments – Example </a:t>
            </a:r>
            <a:endParaRPr/>
          </a:p>
        </p:txBody>
      </p:sp>
      <p:pic>
        <p:nvPicPr>
          <p:cNvPr id="923" name="Google Shape;923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25" y="1982788"/>
            <a:ext cx="7851775" cy="4144962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120"/>
          <p:cNvSpPr txBox="1"/>
          <p:nvPr/>
        </p:nvSpPr>
        <p:spPr>
          <a:xfrm>
            <a:off x="1905000" y="1373188"/>
            <a:ext cx="624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Default arguments specified in the prototype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5" name="Google Shape;925;p120"/>
          <p:cNvCxnSpPr/>
          <p:nvPr/>
        </p:nvCxnSpPr>
        <p:spPr>
          <a:xfrm flipH="1">
            <a:off x="4267200" y="1830388"/>
            <a:ext cx="1065213" cy="1779587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6" name="Google Shape;926;p120"/>
          <p:cNvCxnSpPr/>
          <p:nvPr/>
        </p:nvCxnSpPr>
        <p:spPr>
          <a:xfrm>
            <a:off x="5332413" y="1830388"/>
            <a:ext cx="1587" cy="1779587"/>
          </a:xfrm>
          <a:prstGeom prst="straightConnector1">
            <a:avLst/>
          </a:prstGeom>
          <a:noFill/>
          <a:ln cap="flat" cmpd="sng" w="19050">
            <a:solidFill>
              <a:srgbClr val="FF33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7" name="Google Shape;927;p120"/>
          <p:cNvSpPr txBox="1"/>
          <p:nvPr/>
        </p:nvSpPr>
        <p:spPr>
          <a:xfrm>
            <a:off x="5638800" y="6051550"/>
            <a:ext cx="360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(Program Continues)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21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Default Arguments – Example </a:t>
            </a:r>
            <a:endParaRPr/>
          </a:p>
        </p:txBody>
      </p:sp>
      <p:pic>
        <p:nvPicPr>
          <p:cNvPr id="933" name="Google Shape;933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1860550"/>
            <a:ext cx="7086600" cy="4526224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121"/>
          <p:cNvSpPr txBox="1"/>
          <p:nvPr/>
        </p:nvSpPr>
        <p:spPr>
          <a:xfrm>
            <a:off x="30480" y="1186657"/>
            <a:ext cx="3559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Program 6-23</a:t>
            </a:r>
            <a:r>
              <a:rPr b="0" i="1" lang="en-US" sz="24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 (Continued)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122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Default Arguments</a:t>
            </a:r>
            <a:endParaRPr/>
          </a:p>
        </p:txBody>
      </p:sp>
      <p:sp>
        <p:nvSpPr>
          <p:cNvPr id="940" name="Google Shape;940;p1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If not all parameters to a function have default values, the defaultless ones are declared first in the parameter list: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int getSum(int, int=0, int=0);// OK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int getSum(int, int=0, int);  // NO</a:t>
            </a:r>
            <a:endParaRPr sz="2400"/>
          </a:p>
          <a:p>
            <a:pPr indent="-342900" lvl="0" marL="342900" rtl="0" algn="l">
              <a:lnSpc>
                <a:spcPct val="85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When an argument is omitted from a function call, all arguments after it must also be omitted: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alibri"/>
              <a:buNone/>
            </a:pPr>
            <a:r>
              <a:rPr lang="en-US" sz="2400"/>
              <a:t>	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sum = getSum(num1, num2);    // OK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sum = getSum(num1, , num3);  // NO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123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Default Arguments</a:t>
            </a:r>
            <a:endParaRPr/>
          </a:p>
        </p:txBody>
      </p:sp>
      <p:sp>
        <p:nvSpPr>
          <p:cNvPr id="946" name="Google Shape;946;p1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Consider the following function prototype: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void funcExp(int,int, double=55.5,char=‘A’);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following function calls are legal: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funcExp(3,4,45.5, ‘B’);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funcExp(3,4,45.5);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funcExp(3,4);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following function calls are illegal: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funcExp(3,4, ‘C’);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24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Default Arguments</a:t>
            </a:r>
            <a:endParaRPr/>
          </a:p>
        </p:txBody>
      </p:sp>
      <p:sp>
        <p:nvSpPr>
          <p:cNvPr id="952" name="Google Shape;952;p1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following are illegal function prototypes with default arguments: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void funcOne(int,double=23.45,char, int=45);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int funcTwo(int=1, int, int=1);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void funcThree(int, int&amp;=16,double=34);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25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8" name="Google Shape;958;p1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59" name="Google Shape;959;p125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Consider the following function prototype &amp; function definition: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testDefaultParam(int , int=5, double=3.2);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testDefaultParam(int a, int b, double z)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u;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a=a+static_cast&lt;int&gt;(2*b+z);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u=a+b*z;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cout&lt;&lt;"u = "&lt;&lt;a&lt;&lt;endl;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250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What is the output of the following function calls?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arenR"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testDefaultParam(6);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arenR"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testDefaultParam(3,4);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arenR"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testDefaultParam(3,4.5);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arenR"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testDefaultParam(3,4, 5.5);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arenR"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testDefaultParam(3.4);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26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In-Class Exercise</a:t>
            </a:r>
            <a:endParaRPr/>
          </a:p>
        </p:txBody>
      </p:sp>
      <p:sp>
        <p:nvSpPr>
          <p:cNvPr id="965" name="Google Shape;965;p1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Write a function prototype and function header for a function called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compute</a:t>
            </a:r>
            <a:r>
              <a:rPr lang="en-US" sz="2200"/>
              <a:t>. The function should have 3 parameters: an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/>
              <a:t>, a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2200"/>
              <a:t> and a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-US" sz="2200"/>
              <a:t>. The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/>
              <a:t> parameter should have a default argument of 5, and the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-US" sz="2200"/>
              <a:t> parameter should have a default argument of 65536. The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2200"/>
              <a:t> parameter should have no default arguments. The parameters no necessarily in the order.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Write a function prototype and function header for a function called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calculate</a:t>
            </a:r>
            <a:r>
              <a:rPr lang="en-US" sz="2200"/>
              <a:t>. The function should have 3 parameters: an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/>
              <a:t>, a reference to a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2200"/>
              <a:t> and a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-US" sz="2200"/>
              <a:t>. Only the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200"/>
              <a:t> parameter should have a default argument, which is 47. The parameters no necessarily in the order.</a:t>
            </a:r>
            <a:endParaRPr/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127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Overloading Functions</a:t>
            </a:r>
            <a:endParaRPr/>
          </a:p>
        </p:txBody>
      </p:sp>
      <p:sp>
        <p:nvSpPr>
          <p:cNvPr id="971" name="Google Shape;971;p1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/>
              <a:t>Overloaded functions</a:t>
            </a:r>
            <a:r>
              <a:rPr lang="en-US"/>
              <a:t> have the same name but different parameter lists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Can be used to create functions that perform the same task but take </a:t>
            </a:r>
            <a:r>
              <a:rPr b="1" lang="en-US">
                <a:solidFill>
                  <a:srgbClr val="00B0F0"/>
                </a:solidFill>
              </a:rPr>
              <a:t>different parameter types or different number of  parameters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Compiler will determine which version of function to call by argument and parameter lists</a:t>
            </a:r>
            <a:endParaRPr u="sng"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28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Function Overloading Examples</a:t>
            </a:r>
            <a:endParaRPr/>
          </a:p>
        </p:txBody>
      </p:sp>
      <p:sp>
        <p:nvSpPr>
          <p:cNvPr id="977" name="Google Shape;977;p1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Using these overloaded functions,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void getDimensions(int);           // 1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void getDimensions(int, int);      // 2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void getDimensions(int, double);   // 3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void getDimensions(double, double);// 4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compiler will use them as follows: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int length, width;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double base, height;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getDimensions(length);           // 1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getDimensions(length, width);    // 2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getDimensions(length, height);   // 3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getDimensions(height, base);     // 4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29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Function Overloading – Example </a:t>
            </a:r>
            <a:endParaRPr/>
          </a:p>
        </p:txBody>
      </p:sp>
      <p:pic>
        <p:nvPicPr>
          <p:cNvPr id="983" name="Google Shape;983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9760" y="1425668"/>
            <a:ext cx="5864225" cy="4700312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129"/>
          <p:cNvSpPr txBox="1"/>
          <p:nvPr/>
        </p:nvSpPr>
        <p:spPr>
          <a:xfrm>
            <a:off x="5821362" y="6027219"/>
            <a:ext cx="33226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(Program Continues)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5" name="Google Shape;985;p129"/>
          <p:cNvGrpSpPr/>
          <p:nvPr/>
        </p:nvGrpSpPr>
        <p:grpSpPr>
          <a:xfrm>
            <a:off x="3399631" y="2560638"/>
            <a:ext cx="4645025" cy="1552575"/>
            <a:chOff x="1920" y="1152"/>
            <a:chExt cx="3360" cy="1163"/>
          </a:xfrm>
        </p:grpSpPr>
        <p:sp>
          <p:nvSpPr>
            <p:cNvPr id="986" name="Google Shape;986;p129"/>
            <p:cNvSpPr txBox="1"/>
            <p:nvPr/>
          </p:nvSpPr>
          <p:spPr>
            <a:xfrm>
              <a:off x="2968" y="1152"/>
              <a:ext cx="2312" cy="1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3300"/>
                  </a:solidFill>
                  <a:latin typeface="Calibri"/>
                  <a:ea typeface="Calibri"/>
                  <a:cs typeface="Calibri"/>
                  <a:sym typeface="Calibri"/>
                </a:rPr>
                <a:t>The overloaded functions have different parameter lists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87" name="Google Shape;987;p129"/>
            <p:cNvCxnSpPr/>
            <p:nvPr/>
          </p:nvCxnSpPr>
          <p:spPr>
            <a:xfrm rot="10800000">
              <a:off x="1920" y="1440"/>
              <a:ext cx="1056" cy="0"/>
            </a:xfrm>
            <a:prstGeom prst="straightConnector1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88" name="Google Shape;988;p129"/>
            <p:cNvCxnSpPr/>
            <p:nvPr/>
          </p:nvCxnSpPr>
          <p:spPr>
            <a:xfrm rot="10800000">
              <a:off x="2304" y="1584"/>
              <a:ext cx="672" cy="0"/>
            </a:xfrm>
            <a:prstGeom prst="straightConnector1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989" name="Google Shape;989;p129"/>
          <p:cNvGrpSpPr/>
          <p:nvPr/>
        </p:nvGrpSpPr>
        <p:grpSpPr>
          <a:xfrm>
            <a:off x="2920591" y="5751422"/>
            <a:ext cx="2189163" cy="765175"/>
            <a:chOff x="1680" y="3696"/>
            <a:chExt cx="1584" cy="573"/>
          </a:xfrm>
        </p:grpSpPr>
        <p:sp>
          <p:nvSpPr>
            <p:cNvPr id="990" name="Google Shape;990;p129"/>
            <p:cNvSpPr txBox="1"/>
            <p:nvPr/>
          </p:nvSpPr>
          <p:spPr>
            <a:xfrm>
              <a:off x="1680" y="3926"/>
              <a:ext cx="1584" cy="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3300"/>
                  </a:solidFill>
                  <a:latin typeface="Calibri"/>
                  <a:ea typeface="Calibri"/>
                  <a:cs typeface="Calibri"/>
                  <a:sym typeface="Calibri"/>
                </a:rPr>
                <a:t>Passing an int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91" name="Google Shape;991;p129"/>
            <p:cNvCxnSpPr/>
            <p:nvPr/>
          </p:nvCxnSpPr>
          <p:spPr>
            <a:xfrm rot="10800000">
              <a:off x="2304" y="3696"/>
              <a:ext cx="0" cy="240"/>
            </a:xfrm>
            <a:prstGeom prst="straightConnector1">
              <a:avLst/>
            </a:prstGeom>
            <a:noFill/>
            <a:ln cap="flat" cmpd="sng" w="28575">
              <a:solidFill>
                <a:srgbClr val="FF33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992" name="Google Shape;992;p129"/>
          <p:cNvSpPr txBox="1"/>
          <p:nvPr/>
        </p:nvSpPr>
        <p:spPr>
          <a:xfrm>
            <a:off x="6289675" y="4884319"/>
            <a:ext cx="2624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Passing a double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3" name="Google Shape;993;p129"/>
          <p:cNvCxnSpPr/>
          <p:nvPr/>
        </p:nvCxnSpPr>
        <p:spPr>
          <a:xfrm flipH="1">
            <a:off x="6781800" y="5248183"/>
            <a:ext cx="201613" cy="381000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30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Function Overloading – Example </a:t>
            </a:r>
            <a:endParaRPr/>
          </a:p>
        </p:txBody>
      </p:sp>
      <p:pic>
        <p:nvPicPr>
          <p:cNvPr id="999" name="Google Shape;999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075" y="1752600"/>
            <a:ext cx="7169849" cy="4627563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130"/>
          <p:cNvSpPr txBox="1"/>
          <p:nvPr/>
        </p:nvSpPr>
        <p:spPr>
          <a:xfrm>
            <a:off x="60960" y="1156028"/>
            <a:ext cx="42062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Program 6-26</a:t>
            </a:r>
            <a:r>
              <a:rPr b="0" i="1" lang="en-US" sz="28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 (Continued)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31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</a:t>
            </a:r>
            <a:r>
              <a:rPr b="0" lang="en-US">
                <a:latin typeface="Courier New"/>
                <a:ea typeface="Courier New"/>
                <a:cs typeface="Courier New"/>
                <a:sym typeface="Courier New"/>
              </a:rPr>
              <a:t>exit() </a:t>
            </a:r>
            <a:r>
              <a:rPr lang="en-US"/>
              <a:t>Function</a:t>
            </a:r>
            <a:endParaRPr/>
          </a:p>
        </p:txBody>
      </p:sp>
      <p:sp>
        <p:nvSpPr>
          <p:cNvPr id="1006" name="Google Shape;1006;p1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Char char="•"/>
            </a:pPr>
            <a:r>
              <a:rPr b="1" lang="en-US">
                <a:solidFill>
                  <a:srgbClr val="00B0F0"/>
                </a:solidFill>
              </a:rPr>
              <a:t>Terminates</a:t>
            </a:r>
            <a:r>
              <a:rPr lang="en-US"/>
              <a:t> the execution of a program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Can be called from any function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Can pass an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/>
              <a:t> value to operating system to indicate status of program termination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Usually used for </a:t>
            </a:r>
            <a:r>
              <a:rPr b="1" lang="en-US">
                <a:solidFill>
                  <a:srgbClr val="00B0F0"/>
                </a:solidFill>
              </a:rPr>
              <a:t>abnormal termination </a:t>
            </a:r>
            <a:r>
              <a:rPr lang="en-US"/>
              <a:t>of program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Requires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cstdlib</a:t>
            </a:r>
            <a:r>
              <a:rPr lang="en-US"/>
              <a:t> header file (Borland)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32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</a:t>
            </a:r>
            <a:r>
              <a:rPr b="0" lang="en-US">
                <a:latin typeface="Courier New"/>
                <a:ea typeface="Courier New"/>
                <a:cs typeface="Courier New"/>
                <a:sym typeface="Courier New"/>
              </a:rPr>
              <a:t>exit() </a:t>
            </a:r>
            <a:r>
              <a:rPr lang="en-US"/>
              <a:t>Function</a:t>
            </a:r>
            <a:endParaRPr/>
          </a:p>
        </p:txBody>
      </p:sp>
      <p:sp>
        <p:nvSpPr>
          <p:cNvPr id="1012" name="Google Shape;1012;p1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Example:</a:t>
            </a:r>
            <a:br>
              <a:rPr lang="en-US"/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exit(0);</a:t>
            </a:r>
            <a:br>
              <a:rPr lang="en-US"/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cstdlib</a:t>
            </a:r>
            <a:r>
              <a:rPr lang="en-US"/>
              <a:t> header defines two constants that are commonly passed, to indicate success or failure:</a:t>
            </a:r>
            <a:br>
              <a:rPr lang="en-US"/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exit(EXIT_SUCCESS);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exit(EXIT_FAILURE);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33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In-Class Exercise</a:t>
            </a:r>
            <a:endParaRPr/>
          </a:p>
        </p:txBody>
      </p:sp>
      <p:sp>
        <p:nvSpPr>
          <p:cNvPr id="1018" name="Google Shape;1018;p1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What is the output for the following programs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19" name="Google Shape;1019;p133"/>
          <p:cNvSpPr txBox="1"/>
          <p:nvPr/>
        </p:nvSpPr>
        <p:spPr>
          <a:xfrm>
            <a:off x="297426" y="2211807"/>
            <a:ext cx="4045974" cy="3785652"/>
          </a:xfrm>
          <a:prstGeom prst="rect">
            <a:avLst/>
          </a:prstGeom>
          <a:solidFill>
            <a:srgbClr val="CC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function();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function();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"Bye from main.\n";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system (“pause”);   return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function(){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"Bye! from function before exit\n";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exit(0);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"Bye! from function before exit\n";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133"/>
          <p:cNvSpPr txBox="1"/>
          <p:nvPr/>
        </p:nvSpPr>
        <p:spPr>
          <a:xfrm>
            <a:off x="4535129" y="2209800"/>
            <a:ext cx="4343400" cy="4016484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function();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function();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"Bye from main.\n";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system (“pause”); return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function(){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"Bye! from function before return\n";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return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"Bye! from function before return\n”;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134"/>
          <p:cNvSpPr txBox="1"/>
          <p:nvPr>
            <p:ph type="title"/>
          </p:nvPr>
        </p:nvSpPr>
        <p:spPr>
          <a:xfrm>
            <a:off x="2133600" y="274638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In-Class Exercise</a:t>
            </a:r>
            <a:endParaRPr/>
          </a:p>
        </p:txBody>
      </p:sp>
      <p:sp>
        <p:nvSpPr>
          <p:cNvPr id="1026" name="Google Shape;1026;p1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Write a program that calculates the average of a group of test scores, where the lowest score in the group is dropped. It should use the following functions: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getScore</a:t>
            </a:r>
            <a:r>
              <a:rPr lang="en-US"/>
              <a:t> – This function ask the user for a test score, store it in a reference parameter variable, and validate it. For input validation, do not accept test scores lower than 0 or higher than 100. This function should be called by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main() </a:t>
            </a:r>
            <a:r>
              <a:rPr lang="en-US"/>
              <a:t>once for each of the five scores to be entered.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calcAverage </a:t>
            </a:r>
            <a:r>
              <a:rPr lang="en-US"/>
              <a:t>– This function calculates and display the average of the four highest score. This function should be called just once by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main()</a:t>
            </a:r>
            <a:r>
              <a:rPr lang="en-US"/>
              <a:t>, by should be passed the five scores.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findLowest</a:t>
            </a:r>
            <a:r>
              <a:rPr lang="en-US"/>
              <a:t> – This function finds and returns the lowest of the five scores passed to it. It should be called by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calcAverage</a:t>
            </a:r>
            <a:r>
              <a:rPr lang="en-US"/>
              <a:t> function, which uses the function to determine which of the five scores to drop.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2014-02-24T04:16:52Z</dcterms:created>
  <dc:creator>user</dc:creator>
</cp:coreProperties>
</file>