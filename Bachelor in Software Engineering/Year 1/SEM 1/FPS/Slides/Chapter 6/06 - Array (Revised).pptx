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8" roundtripDataSignature="AMtx7miKrOnS69196LqXx2Zf3FYVEgMW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9FBDB6-4886-4F12-A256-0C17B0B87562}">
  <a:tblStyle styleId="{8A9FBDB6-4886-4F12-A256-0C17B0B8756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A70198F-9F40-407C-B196-5E6CE528C599}"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customschemas.google.com/relationships/presentationmetadata" Target="metadata"/><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4" name="Google Shape;104;p4: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7" name="Google Shape;117;p5: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3" name="Google Shape;123;p6: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5" name="Google Shape;135;p8: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4" name="Google Shape;144;p9: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10: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4" name="Google Shape;174;p13: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3" name="Google Shape;193;p16: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4" name="Google Shape;224;p21: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3" name="Google Shape;243;p24: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0" name="Google Shape;250;p25: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9" name="Google Shape;269;p28: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p32: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4" name="Google Shape;344;p40: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0" name="Google Shape;350;p41: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1" name="Google Shape;391;p47: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7" name="Google Shape;397;p48: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7" name="Google Shape;417;p51: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8" name="Google Shape;468;p59: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4" name="Google Shape;474;p60: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1" name="Google Shape;501;p64: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8" name="Google Shape;508;p65: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3" name="Google Shape;583;p77:notes"/>
          <p:cNvSpPr txBox="1"/>
          <p:nvPr>
            <p:ph idx="1" type="body"/>
          </p:nvPr>
        </p:nvSpPr>
        <p:spPr>
          <a:xfrm>
            <a:off x="914191" y="4342777"/>
            <a:ext cx="5029618" cy="41151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8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 name="Google Shape;18;p8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 name="Google Shape;24;p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8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8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8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8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8" name="Google Shape;38;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 name="Google Shape;43;p8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4" name="Google Shape;44;p8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5" name="Google Shape;45;p8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8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9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2" name="Google Shape;62;p9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9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91"/>
          <p:cNvSpPr/>
          <p:nvPr>
            <p:ph idx="2" type="pic"/>
          </p:nvPr>
        </p:nvSpPr>
        <p:spPr>
          <a:xfrm>
            <a:off x="1792288" y="612775"/>
            <a:ext cx="5486400" cy="4114800"/>
          </a:xfrm>
          <a:prstGeom prst="rect">
            <a:avLst/>
          </a:prstGeom>
          <a:noFill/>
          <a:ln>
            <a:noFill/>
          </a:ln>
        </p:spPr>
      </p:sp>
      <p:sp>
        <p:nvSpPr>
          <p:cNvPr id="69" name="Google Shape;69;p9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0" name="Google Shape;70;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9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9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9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82"/>
          <p:cNvPicPr preferRelativeResize="0"/>
          <p:nvPr/>
        </p:nvPicPr>
        <p:blipFill rotWithShape="1">
          <a:blip r:embed="rId1">
            <a:alphaModFix/>
          </a:blip>
          <a:srcRect b="0" l="0" r="0" t="0"/>
          <a:stretch/>
        </p:blipFill>
        <p:spPr>
          <a:xfrm>
            <a:off x="1588" y="0"/>
            <a:ext cx="9140825"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1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06: ARRAY</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Introduction</a:t>
            </a:r>
            <a:endParaRPr/>
          </a:p>
        </p:txBody>
      </p:sp>
      <p:sp>
        <p:nvSpPr>
          <p:cNvPr id="95" name="Google Shape;95;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u="sng"/>
              <a:t>Array</a:t>
            </a:r>
            <a:r>
              <a:rPr lang="en-US"/>
              <a:t>: variable that can store a collection of data of the </a:t>
            </a:r>
            <a:r>
              <a:rPr b="1" lang="en-US" u="sng"/>
              <a:t>same</a:t>
            </a:r>
            <a:r>
              <a:rPr lang="en-US"/>
              <a:t> type</a:t>
            </a:r>
            <a:endParaRPr/>
          </a:p>
          <a:p>
            <a:pPr indent="-285750" lvl="1" marL="742950" rtl="0" algn="l">
              <a:lnSpc>
                <a:spcPct val="100000"/>
              </a:lnSpc>
              <a:spcBef>
                <a:spcPts val="560"/>
              </a:spcBef>
              <a:spcAft>
                <a:spcPts val="0"/>
              </a:spcAft>
              <a:buClr>
                <a:schemeClr val="dk1"/>
              </a:buClr>
              <a:buSzPts val="2800"/>
              <a:buChar char="–"/>
            </a:pPr>
            <a:r>
              <a:rPr lang="en-US"/>
              <a:t>Examples: A list of names, A list of temperatures</a:t>
            </a:r>
            <a:endParaRPr/>
          </a:p>
          <a:p>
            <a:pPr indent="-342900" lvl="0" marL="342900" rtl="0" algn="l">
              <a:lnSpc>
                <a:spcPct val="100000"/>
              </a:lnSpc>
              <a:spcBef>
                <a:spcPts val="640"/>
              </a:spcBef>
              <a:spcAft>
                <a:spcPts val="0"/>
              </a:spcAft>
              <a:buClr>
                <a:schemeClr val="dk1"/>
              </a:buClr>
              <a:buSzPts val="3200"/>
              <a:buChar char="•"/>
            </a:pPr>
            <a:r>
              <a:rPr lang="en-US"/>
              <a:t>Why do we need arrays?</a:t>
            </a:r>
            <a:endParaRPr/>
          </a:p>
          <a:p>
            <a:pPr indent="-285750" lvl="1" marL="742950" rtl="0" algn="l">
              <a:lnSpc>
                <a:spcPct val="100000"/>
              </a:lnSpc>
              <a:spcBef>
                <a:spcPts val="560"/>
              </a:spcBef>
              <a:spcAft>
                <a:spcPts val="0"/>
              </a:spcAft>
              <a:buClr>
                <a:schemeClr val="dk1"/>
              </a:buClr>
              <a:buSzPts val="2800"/>
              <a:buChar char="–"/>
            </a:pPr>
            <a:r>
              <a:rPr lang="en-US"/>
              <a:t>Imagine keeping track of 5 test scores, or 100, or 1000 in memory </a:t>
            </a:r>
            <a:endParaRPr/>
          </a:p>
          <a:p>
            <a:pPr indent="-228600" lvl="2" marL="1143000" rtl="0" algn="l">
              <a:lnSpc>
                <a:spcPct val="100000"/>
              </a:lnSpc>
              <a:spcBef>
                <a:spcPts val="480"/>
              </a:spcBef>
              <a:spcAft>
                <a:spcPts val="0"/>
              </a:spcAft>
              <a:buClr>
                <a:schemeClr val="dk1"/>
              </a:buClr>
              <a:buSzPts val="2400"/>
              <a:buChar char="•"/>
            </a:pPr>
            <a:r>
              <a:rPr lang="en-US"/>
              <a:t>How would you name all the variables?</a:t>
            </a:r>
            <a:endParaRPr/>
          </a:p>
          <a:p>
            <a:pPr indent="-228600" lvl="2" marL="1143000" rtl="0" algn="l">
              <a:lnSpc>
                <a:spcPct val="100000"/>
              </a:lnSpc>
              <a:spcBef>
                <a:spcPts val="480"/>
              </a:spcBef>
              <a:spcAft>
                <a:spcPts val="0"/>
              </a:spcAft>
              <a:buClr>
                <a:schemeClr val="dk1"/>
              </a:buClr>
              <a:buSzPts val="2400"/>
              <a:buChar char="•"/>
            </a:pPr>
            <a:r>
              <a:rPr lang="en-US"/>
              <a:t>How would you process each of the variables?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Declaring an Array</a:t>
            </a:r>
            <a:endParaRPr/>
          </a:p>
        </p:txBody>
      </p:sp>
      <p:sp>
        <p:nvSpPr>
          <p:cNvPr id="101" name="Google Shape;101;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An array, named </a:t>
            </a:r>
            <a:r>
              <a:rPr b="1" lang="en-US">
                <a:latin typeface="Courier New"/>
                <a:ea typeface="Courier New"/>
                <a:cs typeface="Courier New"/>
                <a:sym typeface="Courier New"/>
              </a:rPr>
              <a:t>test</a:t>
            </a:r>
            <a:r>
              <a:rPr lang="en-US"/>
              <a:t>, containing five variables of type </a:t>
            </a:r>
            <a:r>
              <a:rPr b="1" lang="en-US">
                <a:latin typeface="Courier New"/>
                <a:ea typeface="Courier New"/>
                <a:cs typeface="Courier New"/>
                <a:sym typeface="Courier New"/>
              </a:rPr>
              <a:t>int</a:t>
            </a:r>
            <a:r>
              <a:rPr lang="en-US"/>
              <a:t> can be declared as </a:t>
            </a:r>
            <a:endParaRPr/>
          </a:p>
          <a:p>
            <a:pPr indent="-285750" lvl="1" marL="742950" rtl="0" algn="l">
              <a:lnSpc>
                <a:spcPct val="10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a:t>
            </a:r>
            <a:r>
              <a:rPr b="1" lang="en-US">
                <a:solidFill>
                  <a:srgbClr val="00B0F0"/>
                </a:solidFill>
                <a:latin typeface="Courier New"/>
                <a:ea typeface="Courier New"/>
                <a:cs typeface="Courier New"/>
                <a:sym typeface="Courier New"/>
              </a:rPr>
              <a:t>int tests[5];</a:t>
            </a:r>
            <a:endParaRPr/>
          </a:p>
          <a:p>
            <a:pPr indent="-342900" lvl="0" marL="342900" rtl="0" algn="l">
              <a:lnSpc>
                <a:spcPct val="100000"/>
              </a:lnSpc>
              <a:spcBef>
                <a:spcPts val="640"/>
              </a:spcBef>
              <a:spcAft>
                <a:spcPts val="0"/>
              </a:spcAft>
              <a:buClr>
                <a:schemeClr val="dk1"/>
              </a:buClr>
              <a:buSzPts val="3200"/>
              <a:buChar char="•"/>
            </a:pPr>
            <a:r>
              <a:rPr lang="en-US"/>
              <a:t>The value in brackets is called</a:t>
            </a:r>
            <a:endParaRPr/>
          </a:p>
          <a:p>
            <a:pPr indent="-285750" lvl="1" marL="742950" rtl="0" algn="l">
              <a:lnSpc>
                <a:spcPct val="100000"/>
              </a:lnSpc>
              <a:spcBef>
                <a:spcPts val="560"/>
              </a:spcBef>
              <a:spcAft>
                <a:spcPts val="0"/>
              </a:spcAft>
              <a:buClr>
                <a:schemeClr val="dk1"/>
              </a:buClr>
              <a:buSzPts val="2800"/>
              <a:buChar char="–"/>
            </a:pPr>
            <a:r>
              <a:rPr lang="en-US"/>
              <a:t>A subscript</a:t>
            </a:r>
            <a:endParaRPr/>
          </a:p>
          <a:p>
            <a:pPr indent="-285750" lvl="1" marL="742950" rtl="0" algn="l">
              <a:lnSpc>
                <a:spcPct val="100000"/>
              </a:lnSpc>
              <a:spcBef>
                <a:spcPts val="560"/>
              </a:spcBef>
              <a:spcAft>
                <a:spcPts val="0"/>
              </a:spcAft>
              <a:buClr>
                <a:schemeClr val="dk1"/>
              </a:buClr>
              <a:buSzPts val="2800"/>
              <a:buChar char="–"/>
            </a:pPr>
            <a:r>
              <a:rPr lang="en-US"/>
              <a:t>An index</a:t>
            </a:r>
            <a:endParaRPr/>
          </a:p>
          <a:p>
            <a:pPr indent="-139700" lvl="0" marL="342900" rtl="0" algn="l">
              <a:lnSpc>
                <a:spcPct val="100000"/>
              </a:lnSpc>
              <a:spcBef>
                <a:spcPts val="640"/>
              </a:spcBef>
              <a:spcAft>
                <a:spcPts val="0"/>
              </a:spcAft>
              <a:buClr>
                <a:schemeClr val="dk1"/>
              </a:buClr>
              <a:buSzPts val="3200"/>
              <a:buNone/>
            </a:pPr>
            <a:r>
              <a:t/>
            </a:r>
            <a:endParaRPr>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 Memory Layout</a:t>
            </a:r>
            <a:endParaRPr/>
          </a:p>
        </p:txBody>
      </p:sp>
      <p:sp>
        <p:nvSpPr>
          <p:cNvPr id="107" name="Google Shape;10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The definition:</a:t>
            </a:r>
            <a:endParaRPr/>
          </a:p>
          <a:p>
            <a:pPr indent="-285750" lvl="1" marL="742950" rtl="0" algn="l">
              <a:lnSpc>
                <a:spcPct val="100000"/>
              </a:lnSpc>
              <a:spcBef>
                <a:spcPts val="560"/>
              </a:spcBef>
              <a:spcAft>
                <a:spcPts val="0"/>
              </a:spcAft>
              <a:buClr>
                <a:schemeClr val="dk1"/>
              </a:buClr>
              <a:buSzPts val="2800"/>
              <a:buFont typeface="Calibri"/>
              <a:buNone/>
            </a:pPr>
            <a:r>
              <a:rPr lang="en-US"/>
              <a:t>	 </a:t>
            </a:r>
            <a:r>
              <a:rPr b="1" lang="en-US">
                <a:solidFill>
                  <a:srgbClr val="00B0F0"/>
                </a:solidFill>
                <a:latin typeface="Courier New"/>
                <a:ea typeface="Courier New"/>
                <a:cs typeface="Courier New"/>
                <a:sym typeface="Courier New"/>
              </a:rPr>
              <a:t>int tests[5];</a:t>
            </a:r>
            <a:endParaRPr/>
          </a:p>
          <a:p>
            <a:pPr indent="-342900" lvl="0" marL="342900" rtl="0" algn="l">
              <a:lnSpc>
                <a:spcPct val="100000"/>
              </a:lnSpc>
              <a:spcBef>
                <a:spcPts val="640"/>
              </a:spcBef>
              <a:spcAft>
                <a:spcPts val="0"/>
              </a:spcAft>
              <a:buClr>
                <a:schemeClr val="dk1"/>
              </a:buClr>
              <a:buSzPts val="3200"/>
              <a:buFont typeface="Courier New"/>
              <a:buNone/>
            </a:pPr>
            <a:r>
              <a:rPr lang="en-US">
                <a:latin typeface="Courier New"/>
                <a:ea typeface="Courier New"/>
                <a:cs typeface="Courier New"/>
                <a:sym typeface="Courier New"/>
              </a:rPr>
              <a:t>	</a:t>
            </a:r>
            <a:r>
              <a:rPr lang="en-US"/>
              <a:t>allocates the following memory:</a:t>
            </a:r>
            <a:endParaRPr>
              <a:latin typeface="Courier New"/>
              <a:ea typeface="Courier New"/>
              <a:cs typeface="Courier New"/>
              <a:sym typeface="Courier New"/>
            </a:endParaRPr>
          </a:p>
        </p:txBody>
      </p:sp>
      <p:graphicFrame>
        <p:nvGraphicFramePr>
          <p:cNvPr id="108" name="Google Shape;108;p4"/>
          <p:cNvGraphicFramePr/>
          <p:nvPr/>
        </p:nvGraphicFramePr>
        <p:xfrm>
          <a:off x="1524000" y="3886200"/>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441325">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09" name="Google Shape;109;p4"/>
          <p:cNvGraphicFramePr/>
          <p:nvPr/>
        </p:nvGraphicFramePr>
        <p:xfrm>
          <a:off x="1524000" y="4876800"/>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838200">
                <a:tc>
                  <a:txBody>
                    <a:bodyPr/>
                    <a:lstStyle/>
                    <a:p>
                      <a:pPr indent="0" lvl="0" marL="0" marR="0" rtl="0" algn="l">
                        <a:lnSpc>
                          <a:spcPct val="85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first element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second element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third element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fourth element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fifth element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110" name="Google Shape;110;p4"/>
          <p:cNvCxnSpPr/>
          <p:nvPr/>
        </p:nvCxnSpPr>
        <p:spPr>
          <a:xfrm rot="10800000">
            <a:off x="2133600" y="4419600"/>
            <a:ext cx="0" cy="457200"/>
          </a:xfrm>
          <a:prstGeom prst="straightConnector1">
            <a:avLst/>
          </a:prstGeom>
          <a:noFill/>
          <a:ln cap="flat" cmpd="sng" w="9525">
            <a:solidFill>
              <a:schemeClr val="dk1"/>
            </a:solidFill>
            <a:prstDash val="solid"/>
            <a:round/>
            <a:headEnd len="sm" w="sm" type="none"/>
            <a:tailEnd len="med" w="med" type="triangle"/>
          </a:ln>
        </p:spPr>
      </p:cxnSp>
      <p:cxnSp>
        <p:nvCxnSpPr>
          <p:cNvPr id="111" name="Google Shape;111;p4"/>
          <p:cNvCxnSpPr/>
          <p:nvPr/>
        </p:nvCxnSpPr>
        <p:spPr>
          <a:xfrm rot="10800000">
            <a:off x="3352800" y="4419600"/>
            <a:ext cx="0" cy="457200"/>
          </a:xfrm>
          <a:prstGeom prst="straightConnector1">
            <a:avLst/>
          </a:prstGeom>
          <a:noFill/>
          <a:ln cap="flat" cmpd="sng" w="9525">
            <a:solidFill>
              <a:schemeClr val="dk1"/>
            </a:solidFill>
            <a:prstDash val="solid"/>
            <a:round/>
            <a:headEnd len="sm" w="sm" type="none"/>
            <a:tailEnd len="med" w="med" type="triangle"/>
          </a:ln>
        </p:spPr>
      </p:cxnSp>
      <p:cxnSp>
        <p:nvCxnSpPr>
          <p:cNvPr id="112" name="Google Shape;112;p4"/>
          <p:cNvCxnSpPr/>
          <p:nvPr/>
        </p:nvCxnSpPr>
        <p:spPr>
          <a:xfrm rot="10800000">
            <a:off x="4572000" y="4419600"/>
            <a:ext cx="0" cy="457200"/>
          </a:xfrm>
          <a:prstGeom prst="straightConnector1">
            <a:avLst/>
          </a:prstGeom>
          <a:noFill/>
          <a:ln cap="flat" cmpd="sng" w="9525">
            <a:solidFill>
              <a:schemeClr val="dk1"/>
            </a:solidFill>
            <a:prstDash val="solid"/>
            <a:round/>
            <a:headEnd len="sm" w="sm" type="none"/>
            <a:tailEnd len="med" w="med" type="triangle"/>
          </a:ln>
        </p:spPr>
      </p:cxnSp>
      <p:cxnSp>
        <p:nvCxnSpPr>
          <p:cNvPr id="113" name="Google Shape;113;p4"/>
          <p:cNvCxnSpPr/>
          <p:nvPr/>
        </p:nvCxnSpPr>
        <p:spPr>
          <a:xfrm rot="10800000">
            <a:off x="5791200" y="4419600"/>
            <a:ext cx="0" cy="457200"/>
          </a:xfrm>
          <a:prstGeom prst="straightConnector1">
            <a:avLst/>
          </a:prstGeom>
          <a:noFill/>
          <a:ln cap="flat" cmpd="sng" w="9525">
            <a:solidFill>
              <a:schemeClr val="dk1"/>
            </a:solidFill>
            <a:prstDash val="solid"/>
            <a:round/>
            <a:headEnd len="sm" w="sm" type="none"/>
            <a:tailEnd len="med" w="med" type="triangle"/>
          </a:ln>
        </p:spPr>
      </p:cxnSp>
      <p:cxnSp>
        <p:nvCxnSpPr>
          <p:cNvPr id="114" name="Google Shape;114;p4"/>
          <p:cNvCxnSpPr/>
          <p:nvPr/>
        </p:nvCxnSpPr>
        <p:spPr>
          <a:xfrm rot="10800000">
            <a:off x="7010400" y="4419600"/>
            <a:ext cx="0" cy="45720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Terminology</a:t>
            </a:r>
            <a:endParaRPr/>
          </a:p>
        </p:txBody>
      </p:sp>
      <p:sp>
        <p:nvSpPr>
          <p:cNvPr id="120" name="Google Shape;120;p5"/>
          <p:cNvSpPr txBox="1"/>
          <p:nvPr>
            <p:ph idx="1" type="body"/>
          </p:nvPr>
        </p:nvSpPr>
        <p:spPr>
          <a:xfrm>
            <a:off x="457200" y="1981200"/>
            <a:ext cx="815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Calibri"/>
              <a:buNone/>
            </a:pPr>
            <a:r>
              <a:rPr lang="en-US"/>
              <a:t>In the definition </a:t>
            </a:r>
            <a:r>
              <a:rPr b="1" lang="en-US">
                <a:solidFill>
                  <a:srgbClr val="00B0F0"/>
                </a:solidFill>
                <a:latin typeface="Courier New"/>
                <a:ea typeface="Courier New"/>
                <a:cs typeface="Courier New"/>
                <a:sym typeface="Courier New"/>
              </a:rPr>
              <a:t>int tests[5];</a:t>
            </a:r>
            <a:endParaRPr b="1">
              <a:solidFill>
                <a:srgbClr val="00B0F0"/>
              </a:solidFill>
            </a:endParaRPr>
          </a:p>
          <a:p>
            <a:pPr indent="-342900" lvl="0" marL="342900" rtl="0" algn="l">
              <a:lnSpc>
                <a:spcPct val="90000"/>
              </a:lnSpc>
              <a:spcBef>
                <a:spcPts val="640"/>
              </a:spcBef>
              <a:spcAft>
                <a:spcPts val="0"/>
              </a:spcAft>
              <a:buClr>
                <a:schemeClr val="dk1"/>
              </a:buClr>
              <a:buSzPts val="3200"/>
              <a:buChar char="•"/>
            </a:pPr>
            <a:r>
              <a:rPr lang="en-US">
                <a:latin typeface="Courier New"/>
                <a:ea typeface="Courier New"/>
                <a:cs typeface="Courier New"/>
                <a:sym typeface="Courier New"/>
              </a:rPr>
              <a:t>int</a:t>
            </a:r>
            <a:r>
              <a:rPr lang="en-US"/>
              <a:t> is the data type of the array elements</a:t>
            </a:r>
            <a:endParaRPr>
              <a:latin typeface="Courier New"/>
              <a:ea typeface="Courier New"/>
              <a:cs typeface="Courier New"/>
              <a:sym typeface="Courier New"/>
            </a:endParaRPr>
          </a:p>
          <a:p>
            <a:pPr indent="-342900" lvl="0" marL="342900" rtl="0" algn="l">
              <a:lnSpc>
                <a:spcPct val="90000"/>
              </a:lnSpc>
              <a:spcBef>
                <a:spcPts val="640"/>
              </a:spcBef>
              <a:spcAft>
                <a:spcPts val="0"/>
              </a:spcAft>
              <a:buClr>
                <a:schemeClr val="dk1"/>
              </a:buClr>
              <a:buSzPts val="3200"/>
              <a:buChar char="•"/>
            </a:pPr>
            <a:r>
              <a:rPr lang="en-US">
                <a:latin typeface="Courier New"/>
                <a:ea typeface="Courier New"/>
                <a:cs typeface="Courier New"/>
                <a:sym typeface="Courier New"/>
              </a:rPr>
              <a:t>tests</a:t>
            </a:r>
            <a:r>
              <a:rPr lang="en-US"/>
              <a:t> is the </a:t>
            </a:r>
            <a:r>
              <a:rPr lang="en-US" u="sng"/>
              <a:t>name</a:t>
            </a:r>
            <a:r>
              <a:rPr lang="en-US"/>
              <a:t> of the array</a:t>
            </a:r>
            <a:endParaRPr/>
          </a:p>
          <a:p>
            <a:pPr indent="-342900" lvl="0" marL="342900" rtl="0" algn="l">
              <a:lnSpc>
                <a:spcPct val="90000"/>
              </a:lnSpc>
              <a:spcBef>
                <a:spcPts val="640"/>
              </a:spcBef>
              <a:spcAft>
                <a:spcPts val="0"/>
              </a:spcAft>
              <a:buClr>
                <a:schemeClr val="dk1"/>
              </a:buClr>
              <a:buSzPts val="3200"/>
              <a:buChar char="•"/>
            </a:pPr>
            <a:r>
              <a:rPr lang="en-US">
                <a:latin typeface="Courier New"/>
                <a:ea typeface="Courier New"/>
                <a:cs typeface="Courier New"/>
                <a:sym typeface="Courier New"/>
              </a:rPr>
              <a:t>5,</a:t>
            </a:r>
            <a:r>
              <a:rPr lang="en-US"/>
              <a:t> in </a:t>
            </a:r>
            <a:r>
              <a:rPr lang="en-US">
                <a:latin typeface="Courier New"/>
                <a:ea typeface="Courier New"/>
                <a:cs typeface="Courier New"/>
                <a:sym typeface="Courier New"/>
              </a:rPr>
              <a:t>[5],</a:t>
            </a:r>
            <a:r>
              <a:rPr lang="en-US"/>
              <a:t> is the </a:t>
            </a:r>
            <a:r>
              <a:rPr lang="en-US" u="sng"/>
              <a:t>size declarator</a:t>
            </a:r>
            <a:r>
              <a:rPr lang="en-US"/>
              <a:t>.  It shows the number of elements in the array.</a:t>
            </a:r>
            <a:endParaRPr/>
          </a:p>
          <a:p>
            <a:pPr indent="-342900" lvl="0" marL="342900" rtl="0" algn="l">
              <a:lnSpc>
                <a:spcPct val="90000"/>
              </a:lnSpc>
              <a:spcBef>
                <a:spcPts val="640"/>
              </a:spcBef>
              <a:spcAft>
                <a:spcPts val="0"/>
              </a:spcAft>
              <a:buClr>
                <a:schemeClr val="dk1"/>
              </a:buClr>
              <a:buSzPts val="3200"/>
              <a:buChar char="•"/>
            </a:pPr>
            <a:r>
              <a:rPr lang="en-US"/>
              <a:t>The </a:t>
            </a:r>
            <a:r>
              <a:rPr lang="en-US" u="sng"/>
              <a:t>size</a:t>
            </a:r>
            <a:r>
              <a:rPr lang="en-US"/>
              <a:t> of an array is (number of elements) * (size of each element)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Terminology</a:t>
            </a:r>
            <a:endParaRPr/>
          </a:p>
        </p:txBody>
      </p:sp>
      <p:sp>
        <p:nvSpPr>
          <p:cNvPr id="126" name="Google Shape;126;p6"/>
          <p:cNvSpPr txBox="1"/>
          <p:nvPr>
            <p:ph idx="1" type="body"/>
          </p:nvPr>
        </p:nvSpPr>
        <p:spPr>
          <a:xfrm>
            <a:off x="304800" y="1676400"/>
            <a:ext cx="8534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Char char="•"/>
            </a:pPr>
            <a:r>
              <a:rPr lang="en-US"/>
              <a:t>The </a:t>
            </a:r>
            <a:r>
              <a:rPr lang="en-US" u="sng"/>
              <a:t>size</a:t>
            </a:r>
            <a:r>
              <a:rPr lang="en-US"/>
              <a:t> of an array is:</a:t>
            </a:r>
            <a:endParaRPr/>
          </a:p>
          <a:p>
            <a:pPr indent="-285750" lvl="1" marL="742950" rtl="0" algn="l">
              <a:lnSpc>
                <a:spcPct val="90000"/>
              </a:lnSpc>
              <a:spcBef>
                <a:spcPts val="560"/>
              </a:spcBef>
              <a:spcAft>
                <a:spcPts val="0"/>
              </a:spcAft>
              <a:buClr>
                <a:schemeClr val="dk1"/>
              </a:buClr>
              <a:buSzPts val="2800"/>
              <a:buChar char="–"/>
            </a:pPr>
            <a:r>
              <a:rPr lang="en-US"/>
              <a:t>the total number of bytes allocated for it</a:t>
            </a:r>
            <a:endParaRPr/>
          </a:p>
          <a:p>
            <a:pPr indent="-285750" lvl="1" marL="742950" rtl="0" algn="l">
              <a:lnSpc>
                <a:spcPct val="90000"/>
              </a:lnSpc>
              <a:spcBef>
                <a:spcPts val="560"/>
              </a:spcBef>
              <a:spcAft>
                <a:spcPts val="0"/>
              </a:spcAft>
              <a:buClr>
                <a:schemeClr val="dk1"/>
              </a:buClr>
              <a:buSzPts val="2800"/>
              <a:buChar char="–"/>
            </a:pPr>
            <a:r>
              <a:rPr lang="en-US"/>
              <a:t> (number of elements) * (number of bytes for each element)</a:t>
            </a:r>
            <a:endParaRPr/>
          </a:p>
          <a:p>
            <a:pPr indent="-342900" lvl="0" marL="342900" rtl="0" algn="l">
              <a:lnSpc>
                <a:spcPct val="90000"/>
              </a:lnSpc>
              <a:spcBef>
                <a:spcPts val="640"/>
              </a:spcBef>
              <a:spcAft>
                <a:spcPts val="0"/>
              </a:spcAft>
              <a:buClr>
                <a:schemeClr val="dk1"/>
              </a:buClr>
              <a:buSzPts val="3200"/>
              <a:buChar char="•"/>
            </a:pPr>
            <a:r>
              <a:rPr lang="en-US"/>
              <a:t>Examples:</a:t>
            </a:r>
            <a:endParaRPr/>
          </a:p>
          <a:p>
            <a:pPr indent="-285750" lvl="1" marL="742950" rtl="0" algn="l">
              <a:lnSpc>
                <a:spcPct val="90000"/>
              </a:lnSpc>
              <a:spcBef>
                <a:spcPts val="560"/>
              </a:spcBef>
              <a:spcAft>
                <a:spcPts val="0"/>
              </a:spcAft>
              <a:buClr>
                <a:schemeClr val="dk1"/>
              </a:buClr>
              <a:buSzPts val="2800"/>
              <a:buFont typeface="Calibri"/>
              <a:buNone/>
            </a:pPr>
            <a:r>
              <a:rPr lang="en-US"/>
              <a:t>	</a:t>
            </a:r>
            <a:r>
              <a:rPr b="1" lang="en-US">
                <a:solidFill>
                  <a:srgbClr val="00B0F0"/>
                </a:solidFill>
                <a:latin typeface="Courier New"/>
                <a:ea typeface="Courier New"/>
                <a:cs typeface="Courier New"/>
                <a:sym typeface="Courier New"/>
              </a:rPr>
              <a:t>int tests[5]</a:t>
            </a:r>
            <a:r>
              <a:rPr b="1" lang="en-US">
                <a:solidFill>
                  <a:srgbClr val="00B0F0"/>
                </a:solidFill>
              </a:rPr>
              <a:t> </a:t>
            </a:r>
            <a:r>
              <a:rPr lang="en-US"/>
              <a:t>is an array of 20 bytes, assuming 4 bytes for an </a:t>
            </a:r>
            <a:r>
              <a:rPr lang="en-US">
                <a:latin typeface="Courier New"/>
                <a:ea typeface="Courier New"/>
                <a:cs typeface="Courier New"/>
                <a:sym typeface="Courier New"/>
              </a:rPr>
              <a:t>int</a:t>
            </a:r>
            <a:endParaRPr>
              <a:latin typeface="Courier New"/>
              <a:ea typeface="Courier New"/>
              <a:cs typeface="Courier New"/>
              <a:sym typeface="Courier New"/>
            </a:endParaRPr>
          </a:p>
          <a:p>
            <a:pPr indent="-285750" lvl="1" marL="742950" rtl="0" algn="l">
              <a:lnSpc>
                <a:spcPct val="9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long double measures[10]</a:t>
            </a:r>
            <a:r>
              <a:rPr lang="en-US"/>
              <a:t>is an array of 80 bytes, assuming 8 bytes for a </a:t>
            </a:r>
            <a:r>
              <a:rPr lang="en-US">
                <a:latin typeface="Courier New"/>
                <a:ea typeface="Courier New"/>
                <a:cs typeface="Courier New"/>
                <a:sym typeface="Courier New"/>
              </a:rPr>
              <a:t>long double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Size Declarators</a:t>
            </a:r>
            <a:endParaRPr b="1"/>
          </a:p>
        </p:txBody>
      </p:sp>
      <p:sp>
        <p:nvSpPr>
          <p:cNvPr id="132" name="Google Shape;13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Named </a:t>
            </a:r>
            <a:r>
              <a:rPr lang="en-US" u="sng"/>
              <a:t>constants</a:t>
            </a:r>
            <a:r>
              <a:rPr lang="en-US"/>
              <a:t> are commonly used as </a:t>
            </a:r>
            <a:r>
              <a:rPr lang="en-US" u="sng"/>
              <a:t>size declarators</a:t>
            </a:r>
            <a:r>
              <a:rPr lang="en-US"/>
              <a:t>.</a:t>
            </a:r>
            <a:br>
              <a:rPr lang="en-US"/>
            </a:br>
            <a:r>
              <a:rPr lang="en-US">
                <a:latin typeface="Courier New"/>
                <a:ea typeface="Courier New"/>
                <a:cs typeface="Courier New"/>
                <a:sym typeface="Courier New"/>
              </a:rPr>
              <a:t>const int SIZE = 5;</a:t>
            </a:r>
            <a:br>
              <a:rPr lang="en-US"/>
            </a:br>
            <a:r>
              <a:rPr lang="en-US">
                <a:latin typeface="Courier New"/>
                <a:ea typeface="Courier New"/>
                <a:cs typeface="Courier New"/>
                <a:sym typeface="Courier New"/>
              </a:rPr>
              <a:t>int tests[SIZE];</a:t>
            </a:r>
            <a:endParaRPr/>
          </a:p>
          <a:p>
            <a:pPr indent="-139700" lvl="0" marL="342900" rtl="0" algn="l">
              <a:lnSpc>
                <a:spcPct val="100000"/>
              </a:lnSpc>
              <a:spcBef>
                <a:spcPts val="640"/>
              </a:spcBef>
              <a:spcAft>
                <a:spcPts val="0"/>
              </a:spcAft>
              <a:buClr>
                <a:schemeClr val="dk1"/>
              </a:buClr>
              <a:buSzPts val="3200"/>
              <a:buNone/>
            </a:pPr>
            <a:r>
              <a:t/>
            </a:r>
            <a:endParaRPr>
              <a:latin typeface="Courier New"/>
              <a:ea typeface="Courier New"/>
              <a:cs typeface="Courier New"/>
              <a:sym typeface="Courier New"/>
            </a:endParaRPr>
          </a:p>
          <a:p>
            <a:pPr indent="-342900" lvl="0" marL="342900" rtl="0" algn="l">
              <a:lnSpc>
                <a:spcPct val="100000"/>
              </a:lnSpc>
              <a:spcBef>
                <a:spcPts val="640"/>
              </a:spcBef>
              <a:spcAft>
                <a:spcPts val="0"/>
              </a:spcAft>
              <a:buClr>
                <a:schemeClr val="dk1"/>
              </a:buClr>
              <a:buSzPts val="3200"/>
              <a:buChar char="•"/>
            </a:pPr>
            <a:r>
              <a:rPr lang="en-US"/>
              <a:t>This eases </a:t>
            </a:r>
            <a:r>
              <a:rPr lang="en-US" u="sng"/>
              <a:t>program maintenance </a:t>
            </a:r>
            <a:r>
              <a:rPr lang="en-US"/>
              <a:t>when the size of the array needs to be changed.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685800" y="457200"/>
            <a:ext cx="7848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Accessing Array Elements</a:t>
            </a:r>
            <a:endParaRPr/>
          </a:p>
        </p:txBody>
      </p:sp>
      <p:sp>
        <p:nvSpPr>
          <p:cNvPr id="138" name="Google Shape;138;p8"/>
          <p:cNvSpPr txBox="1"/>
          <p:nvPr>
            <p:ph idx="1" type="body"/>
          </p:nvPr>
        </p:nvSpPr>
        <p:spPr>
          <a:xfrm>
            <a:off x="304800" y="1752600"/>
            <a:ext cx="8294688"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Each element in an array is assigned a unique </a:t>
            </a:r>
            <a:r>
              <a:rPr i="1" lang="en-US"/>
              <a:t>subscript</a:t>
            </a:r>
            <a:r>
              <a:rPr lang="en-US"/>
              <a:t>.</a:t>
            </a:r>
            <a:endParaRPr/>
          </a:p>
          <a:p>
            <a:pPr indent="-342900" lvl="0" marL="342900" rtl="0" algn="l">
              <a:lnSpc>
                <a:spcPct val="100000"/>
              </a:lnSpc>
              <a:spcBef>
                <a:spcPts val="640"/>
              </a:spcBef>
              <a:spcAft>
                <a:spcPts val="0"/>
              </a:spcAft>
              <a:buClr>
                <a:schemeClr val="dk1"/>
              </a:buClr>
              <a:buSzPts val="3200"/>
              <a:buChar char="•"/>
            </a:pPr>
            <a:r>
              <a:rPr lang="en-US"/>
              <a:t>Subscripts start at 0</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graphicFrame>
        <p:nvGraphicFramePr>
          <p:cNvPr id="139" name="Google Shape;139;p8"/>
          <p:cNvGraphicFramePr/>
          <p:nvPr/>
        </p:nvGraphicFramePr>
        <p:xfrm>
          <a:off x="1524000" y="4633913"/>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30480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40" name="Google Shape;140;p8"/>
          <p:cNvGraphicFramePr/>
          <p:nvPr/>
        </p:nvGraphicFramePr>
        <p:xfrm>
          <a:off x="1524000" y="5014913"/>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381000">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1" name="Google Shape;141;p8"/>
          <p:cNvSpPr txBox="1"/>
          <p:nvPr/>
        </p:nvSpPr>
        <p:spPr>
          <a:xfrm>
            <a:off x="1447800" y="4267200"/>
            <a:ext cx="1397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subscripts: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Accessing Array Elements</a:t>
            </a:r>
            <a:endParaRPr/>
          </a:p>
        </p:txBody>
      </p:sp>
      <p:sp>
        <p:nvSpPr>
          <p:cNvPr id="147" name="Google Shape;147;p9"/>
          <p:cNvSpPr txBox="1"/>
          <p:nvPr>
            <p:ph idx="1" type="body"/>
          </p:nvPr>
        </p:nvSpPr>
        <p:spPr>
          <a:xfrm>
            <a:off x="304800" y="1752600"/>
            <a:ext cx="8294688"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The last element’s subscript is </a:t>
            </a:r>
            <a:r>
              <a:rPr i="1" lang="en-US"/>
              <a:t>n</a:t>
            </a:r>
            <a:r>
              <a:rPr lang="en-US"/>
              <a:t>-1 where </a:t>
            </a:r>
            <a:r>
              <a:rPr i="1" lang="en-US"/>
              <a:t>n</a:t>
            </a:r>
            <a:r>
              <a:rPr lang="en-US"/>
              <a:t> is the number of elements in the array.</a:t>
            </a:r>
            <a:endParaRPr/>
          </a:p>
        </p:txBody>
      </p:sp>
      <p:graphicFrame>
        <p:nvGraphicFramePr>
          <p:cNvPr id="148" name="Google Shape;148;p9"/>
          <p:cNvGraphicFramePr/>
          <p:nvPr/>
        </p:nvGraphicFramePr>
        <p:xfrm>
          <a:off x="1447800" y="4405313"/>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39530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49" name="Google Shape;149;p9"/>
          <p:cNvGraphicFramePr/>
          <p:nvPr/>
        </p:nvGraphicFramePr>
        <p:xfrm>
          <a:off x="1447800" y="4786313"/>
          <a:ext cx="3000000" cy="3000000"/>
        </p:xfrm>
        <a:graphic>
          <a:graphicData uri="http://schemas.openxmlformats.org/drawingml/2006/table">
            <a:tbl>
              <a:tblPr>
                <a:noFill/>
                <a:tableStyleId>{8A9FBDB6-4886-4F12-A256-0C17B0B87562}</a:tableStyleId>
              </a:tblPr>
              <a:tblGrid>
                <a:gridCol w="1219200"/>
                <a:gridCol w="1219200"/>
                <a:gridCol w="1219200"/>
                <a:gridCol w="1219200"/>
                <a:gridCol w="1219200"/>
              </a:tblGrid>
              <a:tr h="395300">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0" name="Google Shape;150;p9"/>
          <p:cNvSpPr txBox="1"/>
          <p:nvPr/>
        </p:nvSpPr>
        <p:spPr>
          <a:xfrm>
            <a:off x="1371600" y="4038600"/>
            <a:ext cx="1397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subscripts: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Accessing Array Elements</a:t>
            </a:r>
            <a:endParaRPr/>
          </a:p>
        </p:txBody>
      </p:sp>
      <p:sp>
        <p:nvSpPr>
          <p:cNvPr id="156" name="Google Shape;156;p10"/>
          <p:cNvSpPr txBox="1"/>
          <p:nvPr>
            <p:ph idx="1" type="body"/>
          </p:nvPr>
        </p:nvSpPr>
        <p:spPr>
          <a:xfrm>
            <a:off x="304800" y="1752600"/>
            <a:ext cx="8294688"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Char char="•"/>
            </a:pPr>
            <a:r>
              <a:rPr lang="en-US" sz="2800"/>
              <a:t>Array elements can be used as regular variables:  </a:t>
            </a:r>
            <a:endParaRPr/>
          </a:p>
          <a:p>
            <a:pPr indent="-285750" lvl="1" marL="742950" rtl="0" algn="l">
              <a:lnSpc>
                <a:spcPct val="100000"/>
              </a:lnSpc>
              <a:spcBef>
                <a:spcPts val="480"/>
              </a:spcBef>
              <a:spcAft>
                <a:spcPts val="0"/>
              </a:spcAft>
              <a:buClr>
                <a:schemeClr val="dk1"/>
              </a:buClr>
              <a:buSzPts val="2000"/>
              <a:buFont typeface="Courier New"/>
              <a:buNone/>
            </a:pPr>
            <a:r>
              <a:rPr lang="en-US" sz="2000">
                <a:latin typeface="Courier New"/>
                <a:ea typeface="Courier New"/>
                <a:cs typeface="Courier New"/>
                <a:sym typeface="Courier New"/>
              </a:rPr>
              <a:t>	</a:t>
            </a:r>
            <a:r>
              <a:rPr lang="en-US" sz="2400">
                <a:latin typeface="Courier New"/>
                <a:ea typeface="Courier New"/>
                <a:cs typeface="Courier New"/>
                <a:sym typeface="Courier New"/>
              </a:rPr>
              <a:t>tests[0] = 79;</a:t>
            </a:r>
            <a:endParaRPr/>
          </a:p>
          <a:p>
            <a:pPr indent="-285750" lvl="1" marL="742950" rtl="0" algn="l">
              <a:lnSpc>
                <a:spcPct val="100000"/>
              </a:lnSpc>
              <a:spcBef>
                <a:spcPts val="480"/>
              </a:spcBef>
              <a:spcAft>
                <a:spcPts val="0"/>
              </a:spcAft>
              <a:buClr>
                <a:schemeClr val="dk1"/>
              </a:buClr>
              <a:buSzPts val="2400"/>
              <a:buFont typeface="Courier New"/>
              <a:buNone/>
            </a:pPr>
            <a:r>
              <a:rPr lang="en-US" sz="2400">
                <a:latin typeface="Courier New"/>
                <a:ea typeface="Courier New"/>
                <a:cs typeface="Courier New"/>
                <a:sym typeface="Courier New"/>
              </a:rPr>
              <a:t>	cout &lt;&lt; tests[0];</a:t>
            </a:r>
            <a:endParaRPr/>
          </a:p>
          <a:p>
            <a:pPr indent="-285750" lvl="1" marL="742950" rtl="0" algn="l">
              <a:lnSpc>
                <a:spcPct val="100000"/>
              </a:lnSpc>
              <a:spcBef>
                <a:spcPts val="480"/>
              </a:spcBef>
              <a:spcAft>
                <a:spcPts val="0"/>
              </a:spcAft>
              <a:buClr>
                <a:schemeClr val="dk1"/>
              </a:buClr>
              <a:buSzPts val="2400"/>
              <a:buFont typeface="Courier New"/>
              <a:buNone/>
            </a:pPr>
            <a:r>
              <a:rPr lang="en-US" sz="2400">
                <a:latin typeface="Courier New"/>
                <a:ea typeface="Courier New"/>
                <a:cs typeface="Courier New"/>
                <a:sym typeface="Courier New"/>
              </a:rPr>
              <a:t>	cin &gt;&gt; tests[1];</a:t>
            </a:r>
            <a:endParaRPr/>
          </a:p>
          <a:p>
            <a:pPr indent="-285750" lvl="1" marL="742950" rtl="0" algn="l">
              <a:lnSpc>
                <a:spcPct val="100000"/>
              </a:lnSpc>
              <a:spcBef>
                <a:spcPts val="480"/>
              </a:spcBef>
              <a:spcAft>
                <a:spcPts val="0"/>
              </a:spcAft>
              <a:buClr>
                <a:schemeClr val="dk1"/>
              </a:buClr>
              <a:buSzPts val="2400"/>
              <a:buFont typeface="Courier New"/>
              <a:buNone/>
            </a:pPr>
            <a:r>
              <a:rPr lang="en-US" sz="2400">
                <a:latin typeface="Courier New"/>
                <a:ea typeface="Courier New"/>
                <a:cs typeface="Courier New"/>
                <a:sym typeface="Courier New"/>
              </a:rPr>
              <a:t>	tests[4] = tests[0] + tests[1];</a:t>
            </a:r>
            <a:endParaRPr/>
          </a:p>
          <a:p>
            <a:pPr indent="-342900" lvl="0" marL="342900" rtl="0" algn="l">
              <a:lnSpc>
                <a:spcPct val="100000"/>
              </a:lnSpc>
              <a:spcBef>
                <a:spcPts val="560"/>
              </a:spcBef>
              <a:spcAft>
                <a:spcPts val="0"/>
              </a:spcAft>
              <a:buClr>
                <a:schemeClr val="dk1"/>
              </a:buClr>
              <a:buSzPts val="2800"/>
              <a:buChar char="•"/>
            </a:pPr>
            <a:r>
              <a:rPr lang="en-US" sz="2800"/>
              <a:t>Arrays must be accessed via individual elements:</a:t>
            </a:r>
            <a:endParaRPr/>
          </a:p>
          <a:p>
            <a:pPr indent="-285750" lvl="1" marL="742950" rtl="0" algn="l">
              <a:lnSpc>
                <a:spcPct val="100000"/>
              </a:lnSpc>
              <a:spcBef>
                <a:spcPts val="480"/>
              </a:spcBef>
              <a:spcAft>
                <a:spcPts val="0"/>
              </a:spcAft>
              <a:buClr>
                <a:schemeClr val="dk1"/>
              </a:buClr>
              <a:buSzPts val="2400"/>
              <a:buFont typeface="Calibri"/>
              <a:buNone/>
            </a:pPr>
            <a:r>
              <a:rPr lang="en-US" sz="2400"/>
              <a:t>	</a:t>
            </a:r>
            <a:r>
              <a:rPr lang="en-US" sz="2400">
                <a:latin typeface="Courier New"/>
                <a:ea typeface="Courier New"/>
                <a:cs typeface="Courier New"/>
                <a:sym typeface="Courier New"/>
              </a:rPr>
              <a:t>cout &lt;&lt; tests; // </a:t>
            </a:r>
            <a:r>
              <a:rPr lang="en-US" sz="2400">
                <a:solidFill>
                  <a:srgbClr val="FF0000"/>
                </a:solidFill>
                <a:latin typeface="Courier New"/>
                <a:ea typeface="Courier New"/>
                <a:cs typeface="Courier New"/>
                <a:sym typeface="Courier New"/>
              </a:rPr>
              <a:t>not legal</a:t>
            </a:r>
            <a:endParaRPr sz="240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1"/>
          <p:cNvPicPr preferRelativeResize="0"/>
          <p:nvPr/>
        </p:nvPicPr>
        <p:blipFill rotWithShape="1">
          <a:blip r:embed="rId3">
            <a:alphaModFix/>
          </a:blip>
          <a:srcRect b="0" l="0" r="0" t="0"/>
          <a:stretch/>
        </p:blipFill>
        <p:spPr>
          <a:xfrm>
            <a:off x="0" y="981075"/>
            <a:ext cx="9144000" cy="5111750"/>
          </a:xfrm>
          <a:prstGeom prst="rect">
            <a:avLst/>
          </a:prstGeom>
          <a:noFill/>
          <a:ln>
            <a:noFill/>
          </a:ln>
        </p:spPr>
      </p:pic>
      <p:sp>
        <p:nvSpPr>
          <p:cNvPr id="162" name="Google Shape;162;p11"/>
          <p:cNvSpPr txBox="1"/>
          <p:nvPr/>
        </p:nvSpPr>
        <p:spPr>
          <a:xfrm>
            <a:off x="6127750" y="6237288"/>
            <a:ext cx="30162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libri"/>
                <a:ea typeface="Calibri"/>
                <a:cs typeface="Calibri"/>
                <a:sym typeface="Calibri"/>
              </a:rPr>
              <a:t>(Program Continues)</a:t>
            </a:r>
            <a:endParaRPr b="0" i="0" sz="1400" u="none" cap="none" strike="noStrike">
              <a:solidFill>
                <a:srgbClr val="000000"/>
              </a:solidFill>
              <a:latin typeface="Arial"/>
              <a:ea typeface="Arial"/>
              <a:cs typeface="Arial"/>
              <a:sym typeface="Arial"/>
            </a:endParaRPr>
          </a:p>
        </p:txBody>
      </p:sp>
      <p:sp>
        <p:nvSpPr>
          <p:cNvPr id="163" name="Google Shape;163;p11"/>
          <p:cNvSpPr/>
          <p:nvPr/>
        </p:nvSpPr>
        <p:spPr>
          <a:xfrm>
            <a:off x="0" y="228600"/>
            <a:ext cx="9144000" cy="908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Accessing Array Elements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2"/>
          <p:cNvPicPr preferRelativeResize="0"/>
          <p:nvPr/>
        </p:nvPicPr>
        <p:blipFill rotWithShape="1">
          <a:blip r:embed="rId3">
            <a:alphaModFix/>
          </a:blip>
          <a:srcRect b="0" l="0" r="0" t="0"/>
          <a:stretch/>
        </p:blipFill>
        <p:spPr>
          <a:xfrm>
            <a:off x="395288" y="908050"/>
            <a:ext cx="8424862" cy="3600450"/>
          </a:xfrm>
          <a:prstGeom prst="rect">
            <a:avLst/>
          </a:prstGeom>
          <a:noFill/>
          <a:ln>
            <a:noFill/>
          </a:ln>
        </p:spPr>
      </p:pic>
      <p:sp>
        <p:nvSpPr>
          <p:cNvPr id="169" name="Google Shape;169;p12"/>
          <p:cNvSpPr txBox="1"/>
          <p:nvPr/>
        </p:nvSpPr>
        <p:spPr>
          <a:xfrm>
            <a:off x="304800" y="4419600"/>
            <a:ext cx="7924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Here are the contents of the </a:t>
            </a:r>
            <a:r>
              <a:rPr b="0" i="0" lang="en-US" sz="2400" u="none" cap="none" strike="noStrike">
                <a:solidFill>
                  <a:schemeClr val="dk1"/>
                </a:solidFill>
                <a:latin typeface="Courier New"/>
                <a:ea typeface="Courier New"/>
                <a:cs typeface="Courier New"/>
                <a:sym typeface="Courier New"/>
              </a:rPr>
              <a:t>hours</a:t>
            </a:r>
            <a:r>
              <a:rPr b="0" i="0" lang="en-US" sz="2400" u="none" cap="none" strike="noStrike">
                <a:solidFill>
                  <a:schemeClr val="dk1"/>
                </a:solidFill>
                <a:latin typeface="Calibri"/>
                <a:ea typeface="Calibri"/>
                <a:cs typeface="Calibri"/>
                <a:sym typeface="Calibri"/>
              </a:rPr>
              <a:t> array, with the values entered by the user in the example output:</a:t>
            </a:r>
            <a:endParaRPr b="0" i="0" sz="1400" u="none" cap="none" strike="noStrike">
              <a:solidFill>
                <a:srgbClr val="000000"/>
              </a:solidFill>
              <a:latin typeface="Arial"/>
              <a:ea typeface="Arial"/>
              <a:cs typeface="Arial"/>
              <a:sym typeface="Arial"/>
            </a:endParaRPr>
          </a:p>
        </p:txBody>
      </p:sp>
      <p:pic>
        <p:nvPicPr>
          <p:cNvPr descr="0707sowc copy" id="170" name="Google Shape;170;p12"/>
          <p:cNvPicPr preferRelativeResize="0"/>
          <p:nvPr/>
        </p:nvPicPr>
        <p:blipFill rotWithShape="1">
          <a:blip r:embed="rId4">
            <a:alphaModFix/>
          </a:blip>
          <a:srcRect b="0" l="0" r="0" t="0"/>
          <a:stretch/>
        </p:blipFill>
        <p:spPr>
          <a:xfrm>
            <a:off x="1143000" y="5486400"/>
            <a:ext cx="6188075" cy="1216025"/>
          </a:xfrm>
          <a:prstGeom prst="rect">
            <a:avLst/>
          </a:prstGeom>
          <a:noFill/>
          <a:ln>
            <a:noFill/>
          </a:ln>
        </p:spPr>
      </p:pic>
      <p:sp>
        <p:nvSpPr>
          <p:cNvPr id="171" name="Google Shape;171;p12"/>
          <p:cNvSpPr/>
          <p:nvPr/>
        </p:nvSpPr>
        <p:spPr>
          <a:xfrm>
            <a:off x="0" y="0"/>
            <a:ext cx="9144000" cy="908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Accessing Array Elements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Accessing Array Contents</a:t>
            </a:r>
            <a:endParaRPr/>
          </a:p>
        </p:txBody>
      </p:sp>
      <p:sp>
        <p:nvSpPr>
          <p:cNvPr id="177" name="Google Shape;177;p13"/>
          <p:cNvSpPr txBox="1"/>
          <p:nvPr>
            <p:ph idx="1" type="body"/>
          </p:nvPr>
        </p:nvSpPr>
        <p:spPr>
          <a:xfrm>
            <a:off x="457200" y="1981200"/>
            <a:ext cx="8078788"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Can access element with a constant or literal subscript:</a:t>
            </a:r>
            <a:endParaRPr/>
          </a:p>
          <a:p>
            <a:pPr indent="-285750" lvl="1" marL="742950" rtl="0" algn="l">
              <a:lnSpc>
                <a:spcPct val="10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cout &lt;&lt; tests[3] &lt;&lt; endl;</a:t>
            </a:r>
            <a:br>
              <a:rPr lang="en-US">
                <a:latin typeface="Courier New"/>
                <a:ea typeface="Courier New"/>
                <a:cs typeface="Courier New"/>
                <a:sym typeface="Courier New"/>
              </a:rPr>
            </a:br>
            <a:endParaRPr>
              <a:latin typeface="Courier New"/>
              <a:ea typeface="Courier New"/>
              <a:cs typeface="Courier New"/>
              <a:sym typeface="Courier New"/>
            </a:endParaRPr>
          </a:p>
          <a:p>
            <a:pPr indent="-342900" lvl="0" marL="342900" rtl="0" algn="l">
              <a:lnSpc>
                <a:spcPct val="100000"/>
              </a:lnSpc>
              <a:spcBef>
                <a:spcPts val="640"/>
              </a:spcBef>
              <a:spcAft>
                <a:spcPts val="0"/>
              </a:spcAft>
              <a:buClr>
                <a:schemeClr val="dk1"/>
              </a:buClr>
              <a:buSzPts val="3200"/>
              <a:buChar char="•"/>
            </a:pPr>
            <a:r>
              <a:rPr lang="en-US"/>
              <a:t>Can use integer expression as subscript:</a:t>
            </a:r>
            <a:endParaRPr/>
          </a:p>
          <a:p>
            <a:pPr indent="-285750" lvl="1" marL="742950" rtl="0" algn="l">
              <a:lnSpc>
                <a:spcPct val="10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int i = 5;</a:t>
            </a:r>
            <a:endParaRPr/>
          </a:p>
          <a:p>
            <a:pPr indent="-285750" lvl="1" marL="742950" rtl="0" algn="l">
              <a:lnSpc>
                <a:spcPct val="10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cout &lt;&lt; tests[i] &lt;&lt; endl;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type="title"/>
          </p:nvPr>
        </p:nvSpPr>
        <p:spPr>
          <a:xfrm>
            <a:off x="457200" y="6096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35353"/>
              <a:buNone/>
            </a:pPr>
            <a:r>
              <a:rPr b="1" lang="en-US"/>
              <a:t>Using a Loop to Step Through </a:t>
            </a:r>
            <a:br>
              <a:rPr b="1" lang="en-US"/>
            </a:br>
            <a:r>
              <a:rPr b="1" lang="en-US"/>
              <a:t>an Array</a:t>
            </a:r>
            <a:endParaRPr/>
          </a:p>
        </p:txBody>
      </p:sp>
      <p:sp>
        <p:nvSpPr>
          <p:cNvPr id="183" name="Google Shape;183;p14"/>
          <p:cNvSpPr txBox="1"/>
          <p:nvPr>
            <p:ph idx="1" type="body"/>
          </p:nvPr>
        </p:nvSpPr>
        <p:spPr>
          <a:xfrm>
            <a:off x="533400" y="1981200"/>
            <a:ext cx="8229600" cy="1600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None/>
            </a:pPr>
            <a:r>
              <a:rPr lang="en-US"/>
              <a:t>Example – The following code defines an array, </a:t>
            </a:r>
            <a:r>
              <a:rPr lang="en-US">
                <a:latin typeface="Courier New"/>
                <a:ea typeface="Courier New"/>
                <a:cs typeface="Courier New"/>
                <a:sym typeface="Courier New"/>
              </a:rPr>
              <a:t>numbers</a:t>
            </a:r>
            <a:r>
              <a:rPr lang="en-US"/>
              <a:t>, and assigns 99 to each element:</a:t>
            </a:r>
            <a:endParaRPr/>
          </a:p>
        </p:txBody>
      </p:sp>
      <p:sp>
        <p:nvSpPr>
          <p:cNvPr id="184" name="Google Shape;184;p14"/>
          <p:cNvSpPr txBox="1"/>
          <p:nvPr/>
        </p:nvSpPr>
        <p:spPr>
          <a:xfrm>
            <a:off x="609600" y="3505200"/>
            <a:ext cx="8534400" cy="1766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const int ARRAY_SIZE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int numbers[ARRAY_SIZE];</a:t>
            </a:r>
            <a:br>
              <a:rPr b="0" i="0" lang="en-US" sz="2200" u="none" cap="none" strike="noStrike">
                <a:solidFill>
                  <a:schemeClr val="dk1"/>
                </a:solidFill>
                <a:latin typeface="Courier New"/>
                <a:ea typeface="Courier New"/>
                <a:cs typeface="Courier New"/>
                <a:sym typeface="Courier New"/>
              </a:rPr>
            </a:br>
            <a:endParaRPr b="0" i="0" sz="22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for (int count = 0; count &lt; ARRAY_SIZE;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numbers[count] = 99;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 Closer Look At the Loop</a:t>
            </a:r>
            <a:endParaRPr/>
          </a:p>
        </p:txBody>
      </p:sp>
      <p:pic>
        <p:nvPicPr>
          <p:cNvPr descr="0708sowc copy" id="190" name="Google Shape;190;p15"/>
          <p:cNvPicPr preferRelativeResize="0"/>
          <p:nvPr/>
        </p:nvPicPr>
        <p:blipFill rotWithShape="1">
          <a:blip r:embed="rId3">
            <a:alphaModFix/>
          </a:blip>
          <a:srcRect b="0" l="0" r="0" t="0"/>
          <a:stretch/>
        </p:blipFill>
        <p:spPr>
          <a:xfrm>
            <a:off x="228600" y="1524000"/>
            <a:ext cx="8640762" cy="410368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Default Initialization</a:t>
            </a:r>
            <a:endParaRPr/>
          </a:p>
        </p:txBody>
      </p:sp>
      <p:sp>
        <p:nvSpPr>
          <p:cNvPr id="196" name="Google Shape;196;p16"/>
          <p:cNvSpPr txBox="1"/>
          <p:nvPr>
            <p:ph idx="1" type="body"/>
          </p:nvPr>
        </p:nvSpPr>
        <p:spPr>
          <a:xfrm>
            <a:off x="457200" y="1600200"/>
            <a:ext cx="8148638"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Global array 🡪 all elements initialized to </a:t>
            </a:r>
            <a:r>
              <a:rPr lang="en-US">
                <a:latin typeface="Courier New"/>
                <a:ea typeface="Courier New"/>
                <a:cs typeface="Courier New"/>
                <a:sym typeface="Courier New"/>
              </a:rPr>
              <a:t>0</a:t>
            </a:r>
            <a:r>
              <a:rPr lang="en-US"/>
              <a:t> by default</a:t>
            </a:r>
            <a:br>
              <a:rPr lang="en-US"/>
            </a:br>
            <a:endParaRPr/>
          </a:p>
          <a:p>
            <a:pPr indent="-342900" lvl="0" marL="342900" rtl="0" algn="l">
              <a:lnSpc>
                <a:spcPct val="100000"/>
              </a:lnSpc>
              <a:spcBef>
                <a:spcPts val="640"/>
              </a:spcBef>
              <a:spcAft>
                <a:spcPts val="0"/>
              </a:spcAft>
              <a:buClr>
                <a:schemeClr val="dk1"/>
              </a:buClr>
              <a:buSzPts val="3200"/>
              <a:buChar char="•"/>
            </a:pPr>
            <a:r>
              <a:rPr lang="en-US"/>
              <a:t>Local array 🡪 all elements </a:t>
            </a:r>
            <a:r>
              <a:rPr i="1" lang="en-US"/>
              <a:t>uninitialized</a:t>
            </a:r>
            <a:r>
              <a:rPr lang="en-US"/>
              <a:t> by default</a:t>
            </a:r>
            <a:endParaRPr>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ph type="title"/>
          </p:nvPr>
        </p:nvSpPr>
        <p:spPr>
          <a:xfrm>
            <a:off x="4572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No Bounds Checking in C++</a:t>
            </a:r>
            <a:endParaRPr/>
          </a:p>
        </p:txBody>
      </p:sp>
      <p:sp>
        <p:nvSpPr>
          <p:cNvPr id="202" name="Google Shape;202;p17"/>
          <p:cNvSpPr txBox="1"/>
          <p:nvPr>
            <p:ph idx="1" type="body"/>
          </p:nvPr>
        </p:nvSpPr>
        <p:spPr>
          <a:xfrm>
            <a:off x="457200" y="1981200"/>
            <a:ext cx="815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When you use a value as an array subscript, C++ does not check it to make sure it is a </a:t>
            </a:r>
            <a:r>
              <a:rPr i="1" lang="en-US"/>
              <a:t>valid</a:t>
            </a:r>
            <a:r>
              <a:rPr lang="en-US"/>
              <a:t> subscript.</a:t>
            </a:r>
            <a:br>
              <a:rPr lang="en-US"/>
            </a:br>
            <a:endParaRPr/>
          </a:p>
          <a:p>
            <a:pPr indent="-342900" lvl="0" marL="342900" rtl="0" algn="l">
              <a:lnSpc>
                <a:spcPct val="100000"/>
              </a:lnSpc>
              <a:spcBef>
                <a:spcPts val="640"/>
              </a:spcBef>
              <a:spcAft>
                <a:spcPts val="0"/>
              </a:spcAft>
              <a:buClr>
                <a:schemeClr val="dk1"/>
              </a:buClr>
              <a:buSzPts val="3200"/>
              <a:buChar char="•"/>
            </a:pPr>
            <a:r>
              <a:rPr lang="en-US"/>
              <a:t>In other words, you can use subscripts that are beyond the bounds of the array.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Example</a:t>
            </a:r>
            <a:endParaRPr/>
          </a:p>
        </p:txBody>
      </p:sp>
      <p:sp>
        <p:nvSpPr>
          <p:cNvPr id="208" name="Google Shape;208;p18"/>
          <p:cNvSpPr txBox="1"/>
          <p:nvPr>
            <p:ph idx="1" type="body"/>
          </p:nvPr>
        </p:nvSpPr>
        <p:spPr>
          <a:xfrm>
            <a:off x="457200" y="1600200"/>
            <a:ext cx="8229600" cy="1752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The following code defines a three-element array, and then writes five values to it!</a:t>
            </a:r>
            <a:endParaRPr/>
          </a:p>
        </p:txBody>
      </p:sp>
      <p:pic>
        <p:nvPicPr>
          <p:cNvPr id="209" name="Google Shape;209;p18"/>
          <p:cNvPicPr preferRelativeResize="0"/>
          <p:nvPr/>
        </p:nvPicPr>
        <p:blipFill rotWithShape="1">
          <a:blip r:embed="rId3">
            <a:alphaModFix/>
          </a:blip>
          <a:srcRect b="0" l="0" r="0" t="0"/>
          <a:stretch/>
        </p:blipFill>
        <p:spPr>
          <a:xfrm>
            <a:off x="739775" y="3352800"/>
            <a:ext cx="7185025" cy="17097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What the Code Does</a:t>
            </a:r>
            <a:endParaRPr/>
          </a:p>
        </p:txBody>
      </p:sp>
      <p:pic>
        <p:nvPicPr>
          <p:cNvPr descr="0709sowc copy" id="215" name="Google Shape;215;p19"/>
          <p:cNvPicPr preferRelativeResize="0"/>
          <p:nvPr/>
        </p:nvPicPr>
        <p:blipFill rotWithShape="1">
          <a:blip r:embed="rId3">
            <a:alphaModFix/>
          </a:blip>
          <a:srcRect b="0" l="0" r="0" t="0"/>
          <a:stretch/>
        </p:blipFill>
        <p:spPr>
          <a:xfrm>
            <a:off x="1066800" y="1905000"/>
            <a:ext cx="6929438" cy="4114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4572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No Bounds Checking in C++</a:t>
            </a:r>
            <a:endParaRPr/>
          </a:p>
        </p:txBody>
      </p:sp>
      <p:sp>
        <p:nvSpPr>
          <p:cNvPr id="221" name="Google Shape;221;p20"/>
          <p:cNvSpPr txBox="1"/>
          <p:nvPr>
            <p:ph idx="1" type="body"/>
          </p:nvPr>
        </p:nvSpPr>
        <p:spPr>
          <a:xfrm>
            <a:off x="457200" y="1981200"/>
            <a:ext cx="815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Be careful not to use invalid subscripts.</a:t>
            </a:r>
            <a:endParaRPr/>
          </a:p>
          <a:p>
            <a:pPr indent="-342900" lvl="0" marL="342900" rtl="0" algn="l">
              <a:lnSpc>
                <a:spcPct val="100000"/>
              </a:lnSpc>
              <a:spcBef>
                <a:spcPts val="640"/>
              </a:spcBef>
              <a:spcAft>
                <a:spcPts val="0"/>
              </a:spcAft>
              <a:buClr>
                <a:schemeClr val="dk1"/>
              </a:buClr>
              <a:buSzPts val="3200"/>
              <a:buChar char="•"/>
            </a:pPr>
            <a:r>
              <a:rPr lang="en-US"/>
              <a:t>Doing so can corrupt other memory locations, crash program, or lock up computer, and cause elusive bugs.</a:t>
            </a:r>
            <a:endParaRPr/>
          </a:p>
          <a:p>
            <a:pPr indent="-342900" lvl="0" marL="342900" rtl="0" algn="l">
              <a:lnSpc>
                <a:spcPct val="100000"/>
              </a:lnSpc>
              <a:spcBef>
                <a:spcPts val="640"/>
              </a:spcBef>
              <a:spcAft>
                <a:spcPts val="0"/>
              </a:spcAft>
              <a:buClr>
                <a:schemeClr val="dk1"/>
              </a:buClr>
              <a:buSzPts val="3200"/>
              <a:buFont typeface="Calibri"/>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type="title"/>
          </p:nvPr>
        </p:nvSpPr>
        <p:spPr>
          <a:xfrm>
            <a:off x="0" y="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Initialization</a:t>
            </a:r>
            <a:endParaRPr/>
          </a:p>
        </p:txBody>
      </p:sp>
      <p:sp>
        <p:nvSpPr>
          <p:cNvPr id="227" name="Google Shape;227;p21"/>
          <p:cNvSpPr txBox="1"/>
          <p:nvPr>
            <p:ph idx="1" type="body"/>
          </p:nvPr>
        </p:nvSpPr>
        <p:spPr>
          <a:xfrm>
            <a:off x="304800" y="1524000"/>
            <a:ext cx="8001000" cy="5181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Arrays can be initialized with an </a:t>
            </a:r>
            <a:r>
              <a:rPr lang="en-US" u="sng"/>
              <a:t>initialization list</a:t>
            </a:r>
            <a:r>
              <a:rPr lang="en-US"/>
              <a:t>:</a:t>
            </a:r>
            <a:br>
              <a:rPr lang="en-US"/>
            </a:br>
            <a:br>
              <a:rPr lang="en-US"/>
            </a:br>
            <a:r>
              <a:rPr lang="en-US" sz="2600">
                <a:latin typeface="Courier New"/>
                <a:ea typeface="Courier New"/>
                <a:cs typeface="Courier New"/>
                <a:sym typeface="Courier New"/>
              </a:rPr>
              <a:t>const int SIZE = 5;</a:t>
            </a:r>
            <a:br>
              <a:rPr lang="en-US" sz="2600">
                <a:latin typeface="Courier New"/>
                <a:ea typeface="Courier New"/>
                <a:cs typeface="Courier New"/>
                <a:sym typeface="Courier New"/>
              </a:rPr>
            </a:br>
            <a:r>
              <a:rPr lang="en-US" sz="2600">
                <a:latin typeface="Courier New"/>
                <a:ea typeface="Courier New"/>
                <a:cs typeface="Courier New"/>
                <a:sym typeface="Courier New"/>
              </a:rPr>
              <a:t>int tests[SIZE] = {79,82,91,77,84};</a:t>
            </a:r>
            <a:br>
              <a:rPr lang="en-US" sz="2600">
                <a:latin typeface="Courier New"/>
                <a:ea typeface="Courier New"/>
                <a:cs typeface="Courier New"/>
                <a:sym typeface="Courier New"/>
              </a:rPr>
            </a:br>
            <a:endParaRPr sz="2600"/>
          </a:p>
          <a:p>
            <a:pPr indent="-342900" lvl="0" marL="342900" rtl="0" algn="l">
              <a:lnSpc>
                <a:spcPct val="100000"/>
              </a:lnSpc>
              <a:spcBef>
                <a:spcPts val="640"/>
              </a:spcBef>
              <a:spcAft>
                <a:spcPts val="0"/>
              </a:spcAft>
              <a:buClr>
                <a:schemeClr val="dk1"/>
              </a:buClr>
              <a:buSzPts val="3200"/>
              <a:buChar char="•"/>
            </a:pPr>
            <a:r>
              <a:rPr lang="en-US"/>
              <a:t>The values are stored in the array in the order in which they appear in the list.</a:t>
            </a:r>
            <a:endParaRPr/>
          </a:p>
          <a:p>
            <a:pPr indent="-342900" lvl="0" marL="342900" rtl="0" algn="l">
              <a:lnSpc>
                <a:spcPct val="100000"/>
              </a:lnSpc>
              <a:spcBef>
                <a:spcPts val="640"/>
              </a:spcBef>
              <a:spcAft>
                <a:spcPts val="0"/>
              </a:spcAft>
              <a:buClr>
                <a:schemeClr val="dk1"/>
              </a:buClr>
              <a:buSzPts val="3200"/>
              <a:buChar char="•"/>
            </a:pPr>
            <a:r>
              <a:rPr lang="en-US"/>
              <a:t>The initialization list cannot exceed the array size.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type="title"/>
          </p:nvPr>
        </p:nvSpPr>
        <p:spPr>
          <a:xfrm>
            <a:off x="0" y="0"/>
            <a:ext cx="9144000" cy="908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Example</a:t>
            </a:r>
            <a:endParaRPr/>
          </a:p>
        </p:txBody>
      </p:sp>
      <p:pic>
        <p:nvPicPr>
          <p:cNvPr id="233" name="Google Shape;233;p22"/>
          <p:cNvPicPr preferRelativeResize="0"/>
          <p:nvPr/>
        </p:nvPicPr>
        <p:blipFill rotWithShape="1">
          <a:blip r:embed="rId3">
            <a:alphaModFix/>
          </a:blip>
          <a:srcRect b="0" l="0" r="0" t="0"/>
          <a:stretch/>
        </p:blipFill>
        <p:spPr>
          <a:xfrm>
            <a:off x="539750" y="1052513"/>
            <a:ext cx="8393113" cy="2286000"/>
          </a:xfrm>
          <a:prstGeom prst="rect">
            <a:avLst/>
          </a:prstGeom>
          <a:noFill/>
          <a:ln>
            <a:noFill/>
          </a:ln>
        </p:spPr>
      </p:pic>
      <p:pic>
        <p:nvPicPr>
          <p:cNvPr id="234" name="Google Shape;234;p22"/>
          <p:cNvPicPr preferRelativeResize="0"/>
          <p:nvPr/>
        </p:nvPicPr>
        <p:blipFill rotWithShape="1">
          <a:blip r:embed="rId4">
            <a:alphaModFix/>
          </a:blip>
          <a:srcRect b="0" l="0" r="0" t="0"/>
          <a:stretch/>
        </p:blipFill>
        <p:spPr>
          <a:xfrm>
            <a:off x="539750" y="3429000"/>
            <a:ext cx="4808538" cy="260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Initialization</a:t>
            </a:r>
            <a:endParaRPr/>
          </a:p>
        </p:txBody>
      </p:sp>
      <p:sp>
        <p:nvSpPr>
          <p:cNvPr id="240" name="Google Shape;240;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Valid</a:t>
            </a:r>
            <a:endParaRPr/>
          </a:p>
          <a:p>
            <a:pPr indent="-285750" lvl="1" marL="742950" rtl="0" algn="l">
              <a:lnSpc>
                <a:spcPct val="10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int tests[3] = { 3, 5, 11 };</a:t>
            </a:r>
            <a:endParaRPr/>
          </a:p>
          <a:p>
            <a:pPr indent="-139700" lvl="0" marL="342900" rtl="0" algn="l">
              <a:lnSpc>
                <a:spcPct val="100000"/>
              </a:lnSpc>
              <a:spcBef>
                <a:spcPts val="640"/>
              </a:spcBef>
              <a:spcAft>
                <a:spcPts val="0"/>
              </a:spcAft>
              <a:buClr>
                <a:schemeClr val="dk1"/>
              </a:buClr>
              <a:buSzPts val="3200"/>
              <a:buNone/>
            </a:pPr>
            <a:r>
              <a:t/>
            </a:r>
            <a:endParaRPr>
              <a:latin typeface="Courier New"/>
              <a:ea typeface="Courier New"/>
              <a:cs typeface="Courier New"/>
              <a:sym typeface="Courier New"/>
            </a:endParaRPr>
          </a:p>
          <a:p>
            <a:pPr indent="-342900" lvl="0" marL="342900" rtl="0" algn="l">
              <a:lnSpc>
                <a:spcPct val="100000"/>
              </a:lnSpc>
              <a:spcBef>
                <a:spcPts val="640"/>
              </a:spcBef>
              <a:spcAft>
                <a:spcPts val="0"/>
              </a:spcAft>
              <a:buClr>
                <a:schemeClr val="dk1"/>
              </a:buClr>
              <a:buSzPts val="3200"/>
              <a:buChar char="•"/>
            </a:pPr>
            <a:r>
              <a:rPr lang="en-US"/>
              <a:t>Invalid</a:t>
            </a:r>
            <a:endParaRPr/>
          </a:p>
          <a:p>
            <a:pPr indent="-285750" lvl="1" marL="742950" rtl="0" algn="l">
              <a:lnSpc>
                <a:spcPct val="10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int tests[3] = {};</a:t>
            </a:r>
            <a:endParaRPr/>
          </a:p>
          <a:p>
            <a:pPr indent="-285750" lvl="1" marL="742950" rtl="0" algn="l">
              <a:lnSpc>
                <a:spcPct val="10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a:t>
            </a:r>
            <a:r>
              <a:rPr lang="en-US">
                <a:solidFill>
                  <a:srgbClr val="FF0000"/>
                </a:solidFill>
                <a:latin typeface="Courier New"/>
                <a:ea typeface="Courier New"/>
                <a:cs typeface="Courier New"/>
                <a:sym typeface="Courier New"/>
              </a:rPr>
              <a:t>tests= { 3, 5, 11 };</a:t>
            </a:r>
            <a:endParaRPr>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0" y="38100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Partial Array Initialization</a:t>
            </a:r>
            <a:endParaRPr/>
          </a:p>
        </p:txBody>
      </p:sp>
      <p:sp>
        <p:nvSpPr>
          <p:cNvPr id="246" name="Google Shape;246;p24"/>
          <p:cNvSpPr txBox="1"/>
          <p:nvPr>
            <p:ph idx="1" type="body"/>
          </p:nvPr>
        </p:nvSpPr>
        <p:spPr>
          <a:xfrm>
            <a:off x="304800" y="1752600"/>
            <a:ext cx="79248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If array is initialized with fewer initial values than the size declarator, the remaining elements will be set to </a:t>
            </a:r>
            <a:r>
              <a:rPr lang="en-US">
                <a:latin typeface="Courier New"/>
                <a:ea typeface="Courier New"/>
                <a:cs typeface="Courier New"/>
                <a:sym typeface="Courier New"/>
              </a:rPr>
              <a:t>0:</a:t>
            </a:r>
            <a:endParaRPr/>
          </a:p>
          <a:p>
            <a:pPr indent="-285750" lvl="1" marL="742950" rtl="0" algn="l">
              <a:lnSpc>
                <a:spcPct val="100000"/>
              </a:lnSpc>
              <a:spcBef>
                <a:spcPts val="560"/>
              </a:spcBef>
              <a:spcAft>
                <a:spcPts val="0"/>
              </a:spcAft>
              <a:buClr>
                <a:schemeClr val="dk1"/>
              </a:buClr>
              <a:buSzPts val="2800"/>
              <a:buFont typeface="Courier New"/>
              <a:buNone/>
            </a:pPr>
            <a:br>
              <a:rPr lang="en-US">
                <a:latin typeface="Courier New"/>
                <a:ea typeface="Courier New"/>
                <a:cs typeface="Courier New"/>
                <a:sym typeface="Courier New"/>
              </a:rPr>
            </a:br>
            <a:br>
              <a:rPr lang="en-US">
                <a:latin typeface="Courier New"/>
                <a:ea typeface="Courier New"/>
                <a:cs typeface="Courier New"/>
                <a:sym typeface="Courier New"/>
              </a:rPr>
            </a:br>
            <a:endParaRPr>
              <a:latin typeface="Courier New"/>
              <a:ea typeface="Courier New"/>
              <a:cs typeface="Courier New"/>
              <a:sym typeface="Courier New"/>
            </a:endParaRPr>
          </a:p>
        </p:txBody>
      </p:sp>
      <p:pic>
        <p:nvPicPr>
          <p:cNvPr descr="0711sowc copy" id="247" name="Google Shape;247;p24"/>
          <p:cNvPicPr preferRelativeResize="0"/>
          <p:nvPr/>
        </p:nvPicPr>
        <p:blipFill rotWithShape="1">
          <a:blip r:embed="rId3">
            <a:alphaModFix/>
          </a:blip>
          <a:srcRect b="0" l="0" r="0" t="0"/>
          <a:stretch/>
        </p:blipFill>
        <p:spPr>
          <a:xfrm>
            <a:off x="935038" y="3740150"/>
            <a:ext cx="6837362" cy="1746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Implicit Array Sizing</a:t>
            </a:r>
            <a:endParaRPr/>
          </a:p>
        </p:txBody>
      </p:sp>
      <p:sp>
        <p:nvSpPr>
          <p:cNvPr id="253" name="Google Shape;25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Can determine array size by the size of the initialization list:</a:t>
            </a:r>
            <a:endParaRPr/>
          </a:p>
          <a:p>
            <a:pPr indent="-285750" lvl="1" marL="742950" rtl="0" algn="l">
              <a:lnSpc>
                <a:spcPct val="10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int quizzes[]={12,17,15,11};</a:t>
            </a:r>
            <a:endParaRPr/>
          </a:p>
          <a:p>
            <a:pPr indent="-285750" lvl="1" marL="742950" rtl="0" algn="l">
              <a:lnSpc>
                <a:spcPct val="100000"/>
              </a:lnSpc>
              <a:spcBef>
                <a:spcPts val="560"/>
              </a:spcBef>
              <a:spcAft>
                <a:spcPts val="0"/>
              </a:spcAft>
              <a:buClr>
                <a:schemeClr val="dk1"/>
              </a:buClr>
              <a:buSzPts val="2800"/>
              <a:buFont typeface="Calibri"/>
              <a:buNone/>
            </a:pPr>
            <a:r>
              <a:t/>
            </a:r>
            <a:endParaRPr/>
          </a:p>
          <a:p>
            <a:pPr indent="-285750" lvl="1" marL="742950" rtl="0" algn="l">
              <a:lnSpc>
                <a:spcPct val="100000"/>
              </a:lnSpc>
              <a:spcBef>
                <a:spcPts val="560"/>
              </a:spcBef>
              <a:spcAft>
                <a:spcPts val="0"/>
              </a:spcAft>
              <a:buClr>
                <a:schemeClr val="dk1"/>
              </a:buClr>
              <a:buSzPts val="2800"/>
              <a:buFont typeface="Calibri"/>
              <a:buNone/>
            </a:pPr>
            <a:r>
              <a:t/>
            </a:r>
            <a:endParaRPr/>
          </a:p>
          <a:p>
            <a:pPr indent="-342900" lvl="0" marL="342900" rtl="0" algn="l">
              <a:lnSpc>
                <a:spcPct val="100000"/>
              </a:lnSpc>
              <a:spcBef>
                <a:spcPts val="640"/>
              </a:spcBef>
              <a:spcAft>
                <a:spcPts val="0"/>
              </a:spcAft>
              <a:buClr>
                <a:schemeClr val="dk1"/>
              </a:buClr>
              <a:buSzPts val="3200"/>
              <a:buChar char="•"/>
            </a:pPr>
            <a:r>
              <a:rPr lang="en-US"/>
              <a:t>Must use either array size declarator or initialization list at array definition</a:t>
            </a:r>
            <a:endParaRPr/>
          </a:p>
        </p:txBody>
      </p:sp>
      <p:graphicFrame>
        <p:nvGraphicFramePr>
          <p:cNvPr id="254" name="Google Shape;254;p25"/>
          <p:cNvGraphicFramePr/>
          <p:nvPr/>
        </p:nvGraphicFramePr>
        <p:xfrm>
          <a:off x="1524000" y="3657600"/>
          <a:ext cx="3000000" cy="3000000"/>
        </p:xfrm>
        <a:graphic>
          <a:graphicData uri="http://schemas.openxmlformats.org/drawingml/2006/table">
            <a:tbl>
              <a:tblPr>
                <a:noFill/>
                <a:tableStyleId>{8A9FBDB6-4886-4F12-A256-0C17B0B87562}</a:tableStyleId>
              </a:tblPr>
              <a:tblGrid>
                <a:gridCol w="1524000"/>
                <a:gridCol w="1524000"/>
                <a:gridCol w="1524000"/>
                <a:gridCol w="1524000"/>
              </a:tblGrid>
              <a:tr h="381000">
                <a:tc>
                  <a:txBody>
                    <a:bodyPr/>
                    <a:lstStyle/>
                    <a:p>
                      <a:pPr indent="0" lvl="0" marL="0" marR="0" rtl="0" algn="ctr">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12</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17</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11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ph type="title"/>
          </p:nvPr>
        </p:nvSpPr>
        <p:spPr>
          <a:xfrm>
            <a:off x="0" y="22860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Initializing With a String</a:t>
            </a:r>
            <a:endParaRPr/>
          </a:p>
        </p:txBody>
      </p:sp>
      <p:sp>
        <p:nvSpPr>
          <p:cNvPr id="260" name="Google Shape;260;p26"/>
          <p:cNvSpPr txBox="1"/>
          <p:nvPr>
            <p:ph idx="1" type="body"/>
          </p:nvPr>
        </p:nvSpPr>
        <p:spPr>
          <a:xfrm>
            <a:off x="304800" y="1524000"/>
            <a:ext cx="83820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Character array can be initialized by enclosing string in " ":</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const int SIZE = 6;</a:t>
            </a:r>
            <a:br>
              <a:rPr lang="en-US">
                <a:latin typeface="Courier New"/>
                <a:ea typeface="Courier New"/>
                <a:cs typeface="Courier New"/>
                <a:sym typeface="Courier New"/>
              </a:rPr>
            </a:br>
            <a:r>
              <a:rPr lang="en-US">
                <a:latin typeface="Courier New"/>
                <a:ea typeface="Courier New"/>
                <a:cs typeface="Courier New"/>
                <a:sym typeface="Courier New"/>
              </a:rPr>
              <a:t>char fName[SIZE] = "Henry";</a:t>
            </a:r>
            <a:endParaRPr/>
          </a:p>
          <a:p>
            <a:pPr indent="-342900" lvl="0" marL="342900" rtl="0" algn="l">
              <a:lnSpc>
                <a:spcPct val="100000"/>
              </a:lnSpc>
              <a:spcBef>
                <a:spcPts val="640"/>
              </a:spcBef>
              <a:spcAft>
                <a:spcPts val="0"/>
              </a:spcAft>
              <a:buClr>
                <a:schemeClr val="dk1"/>
              </a:buClr>
              <a:buSzPts val="3200"/>
              <a:buChar char="•"/>
            </a:pPr>
            <a:r>
              <a:rPr lang="en-US"/>
              <a:t>Must leave room for </a:t>
            </a:r>
            <a:r>
              <a:rPr lang="en-US">
                <a:latin typeface="Courier New"/>
                <a:ea typeface="Courier New"/>
                <a:cs typeface="Courier New"/>
                <a:sym typeface="Courier New"/>
              </a:rPr>
              <a:t>\0</a:t>
            </a:r>
            <a:r>
              <a:rPr lang="en-US"/>
              <a:t> at end of array</a:t>
            </a:r>
            <a:endParaRPr/>
          </a:p>
          <a:p>
            <a:pPr indent="-342900" lvl="0" marL="342900" rtl="0" algn="l">
              <a:lnSpc>
                <a:spcPct val="100000"/>
              </a:lnSpc>
              <a:spcBef>
                <a:spcPts val="640"/>
              </a:spcBef>
              <a:spcAft>
                <a:spcPts val="0"/>
              </a:spcAft>
              <a:buClr>
                <a:schemeClr val="dk1"/>
              </a:buClr>
              <a:buSzPts val="3200"/>
              <a:buChar char="•"/>
            </a:pPr>
            <a:r>
              <a:rPr lang="en-US"/>
              <a:t>If initializing character-by-character, must add in </a:t>
            </a:r>
            <a:r>
              <a:rPr lang="en-US">
                <a:latin typeface="Courier New"/>
                <a:ea typeface="Courier New"/>
                <a:cs typeface="Courier New"/>
                <a:sym typeface="Courier New"/>
              </a:rPr>
              <a:t>\0</a:t>
            </a:r>
            <a:r>
              <a:rPr lang="en-US"/>
              <a:t> explicitly:</a:t>
            </a: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char fName[SIZE] = </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'H', 'e', 'n', 'r', 'y', '\0'};</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p:nvPr/>
        </p:nvSpPr>
        <p:spPr>
          <a:xfrm>
            <a:off x="0" y="0"/>
            <a:ext cx="9144000" cy="765175"/>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In-Class Exercise</a:t>
            </a:r>
            <a:endParaRPr b="0" i="0" sz="1400" u="none" cap="none" strike="noStrike">
              <a:solidFill>
                <a:srgbClr val="000000"/>
              </a:solidFill>
              <a:latin typeface="Arial"/>
              <a:ea typeface="Arial"/>
              <a:cs typeface="Arial"/>
              <a:sym typeface="Arial"/>
            </a:endParaRPr>
          </a:p>
        </p:txBody>
      </p:sp>
      <p:sp>
        <p:nvSpPr>
          <p:cNvPr id="266" name="Google Shape;266;p27"/>
          <p:cNvSpPr/>
          <p:nvPr/>
        </p:nvSpPr>
        <p:spPr>
          <a:xfrm>
            <a:off x="304800" y="1295400"/>
            <a:ext cx="8294688"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chemeClr val="dk1"/>
              </a:buClr>
              <a:buSzPts val="3000"/>
              <a:buFont typeface="Calibri"/>
              <a:buChar char="•"/>
            </a:pPr>
            <a:r>
              <a:rPr b="0" i="0" lang="en-US" sz="3000" u="none" cap="none" strike="noStrike">
                <a:solidFill>
                  <a:schemeClr val="dk1"/>
                </a:solidFill>
                <a:latin typeface="Calibri"/>
                <a:ea typeface="Calibri"/>
                <a:cs typeface="Calibri"/>
                <a:sym typeface="Calibri"/>
              </a:rPr>
              <a:t>Are each of the following valid or invalid array definitions? (If a definition is invalid, explain why)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int numbers[l0] = {0, 0, 1, 0, 0, 1, 0, 0, 1, 1};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rgbClr val="FF0000"/>
                </a:solidFill>
                <a:latin typeface="Courier New"/>
                <a:ea typeface="Courier New"/>
                <a:cs typeface="Courier New"/>
                <a:sym typeface="Courier New"/>
              </a:rPr>
              <a:t>int matrix[5] = {1, 2, 3, 4, 5, 6, 7}; </a:t>
            </a:r>
            <a:endParaRPr b="0" i="0" sz="1400" u="none" cap="none" strike="noStrike">
              <a:solidFill>
                <a:srgbClr val="FF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double radix[10] = {3.2, 4.7};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rgbClr val="FF0000"/>
                </a:solidFill>
                <a:latin typeface="Courier New"/>
                <a:ea typeface="Courier New"/>
                <a:cs typeface="Courier New"/>
                <a:sym typeface="Courier New"/>
              </a:rPr>
              <a:t>int table[7] = {2, , ,27, ,45,39};</a:t>
            </a:r>
            <a:r>
              <a:rPr b="0" i="0" lang="en-US" sz="1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char codes [] = {‘A', 'X', '1', '2', 's'};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rgbClr val="FF0000"/>
                </a:solidFill>
                <a:latin typeface="Courier New"/>
                <a:ea typeface="Courier New"/>
                <a:cs typeface="Courier New"/>
                <a:sym typeface="Courier New"/>
              </a:rPr>
              <a:t>int blanks[];</a:t>
            </a:r>
            <a:r>
              <a:rPr b="0" i="0" lang="en-US" sz="1800" u="none" cap="none" strike="noStrike">
                <a:solidFill>
                  <a:schemeClr val="dk1"/>
                </a:solidFill>
                <a:latin typeface="Courier New"/>
                <a:ea typeface="Courier New"/>
                <a:cs typeface="Courier New"/>
                <a:sym typeface="Courier New"/>
              </a:rPr>
              <a:t>  int blanks[5]; // int blanks[] = {};</a:t>
            </a:r>
            <a:endParaRPr b="0" i="0" sz="1400" u="none" cap="none" strike="noStrike">
              <a:solidFill>
                <a:srgbClr val="000000"/>
              </a:solidFill>
              <a:latin typeface="Arial"/>
              <a:ea typeface="Arial"/>
              <a:cs typeface="Arial"/>
              <a:sym typeface="Arial"/>
            </a:endParaRPr>
          </a:p>
          <a:p>
            <a:pPr indent="19050" lvl="0" marL="342900" marR="0" rtl="0" algn="l">
              <a:lnSpc>
                <a:spcPct val="100000"/>
              </a:lnSpc>
              <a:spcBef>
                <a:spcPts val="360"/>
              </a:spcBef>
              <a:spcAft>
                <a:spcPts val="0"/>
              </a:spcAft>
              <a:buClr>
                <a:srgbClr val="000000"/>
              </a:buClr>
              <a:buSzPts val="1800"/>
              <a:buFont typeface="Arial"/>
              <a:buNone/>
            </a:pPr>
            <a:r>
              <a:rPr b="0" i="0" lang="en-US" sz="1800" u="none" cap="none" strike="noStrike">
                <a:solidFill>
                  <a:srgbClr val="FF0000"/>
                </a:solidFill>
                <a:latin typeface="Courier New"/>
                <a:ea typeface="Courier New"/>
                <a:cs typeface="Courier New"/>
                <a:sym typeface="Courier New"/>
              </a:rPr>
              <a:t>char name[6] = "Joanne";</a:t>
            </a:r>
            <a:r>
              <a:rPr b="0" i="0" lang="en-US" sz="1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Processing Array Contents</a:t>
            </a:r>
            <a:endParaRPr/>
          </a:p>
        </p:txBody>
      </p:sp>
      <p:sp>
        <p:nvSpPr>
          <p:cNvPr id="272" name="Google Shape;272;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Char char="•"/>
            </a:pPr>
            <a:r>
              <a:rPr lang="en-US"/>
              <a:t>Array elements can be treated as ordinary variables of the same type as the array</a:t>
            </a:r>
            <a:br>
              <a:rPr lang="en-US"/>
            </a:br>
            <a:endParaRPr/>
          </a:p>
          <a:p>
            <a:pPr indent="-342900" lvl="0" marL="342900" rtl="0" algn="l">
              <a:lnSpc>
                <a:spcPct val="90000"/>
              </a:lnSpc>
              <a:spcBef>
                <a:spcPts val="640"/>
              </a:spcBef>
              <a:spcAft>
                <a:spcPts val="0"/>
              </a:spcAft>
              <a:buClr>
                <a:schemeClr val="dk1"/>
              </a:buClr>
              <a:buSzPts val="3200"/>
              <a:buChar char="•"/>
            </a:pPr>
            <a:r>
              <a:rPr lang="en-US"/>
              <a:t>When using </a:t>
            </a:r>
            <a:r>
              <a:rPr lang="en-US">
                <a:latin typeface="Courier New"/>
                <a:ea typeface="Courier New"/>
                <a:cs typeface="Courier New"/>
                <a:sym typeface="Courier New"/>
              </a:rPr>
              <a:t>++</a:t>
            </a:r>
            <a:r>
              <a:rPr lang="en-US"/>
              <a:t>, </a:t>
            </a:r>
            <a:r>
              <a:rPr lang="en-US">
                <a:latin typeface="Courier New"/>
                <a:ea typeface="Courier New"/>
                <a:cs typeface="Courier New"/>
                <a:sym typeface="Courier New"/>
              </a:rPr>
              <a:t>--</a:t>
            </a:r>
            <a:r>
              <a:rPr lang="en-US"/>
              <a:t> operators, don’t confuse the element with the subscript:</a:t>
            </a:r>
            <a:endParaRPr/>
          </a:p>
          <a:p>
            <a:pPr indent="-285750" lvl="1" marL="742950" rtl="0" algn="l">
              <a:lnSpc>
                <a:spcPct val="90000"/>
              </a:lnSpc>
              <a:spcBef>
                <a:spcPts val="560"/>
              </a:spcBef>
              <a:spcAft>
                <a:spcPts val="0"/>
              </a:spcAft>
              <a:buClr>
                <a:schemeClr val="dk1"/>
              </a:buClr>
              <a:buSzPts val="2800"/>
              <a:buFont typeface="Calibri"/>
              <a:buNone/>
            </a:pPr>
            <a:r>
              <a:rPr lang="en-US"/>
              <a:t>	</a:t>
            </a:r>
            <a:r>
              <a:rPr lang="en-US">
                <a:latin typeface="Courier New"/>
                <a:ea typeface="Courier New"/>
                <a:cs typeface="Courier New"/>
                <a:sym typeface="Courier New"/>
              </a:rPr>
              <a:t>tests[i]++; // add 1 to tests[i]</a:t>
            </a:r>
            <a:endParaRPr/>
          </a:p>
          <a:p>
            <a:pPr indent="-285750" lvl="1" marL="742950" rtl="0" algn="l">
              <a:lnSpc>
                <a:spcPct val="9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tests[i++]; // increment i, no</a:t>
            </a:r>
            <a:endParaRPr/>
          </a:p>
          <a:p>
            <a:pPr indent="-285750" lvl="1" marL="742950" rtl="0" algn="l">
              <a:lnSpc>
                <a:spcPct val="9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a:t>
            </a:r>
            <a:r>
              <a:rPr lang="en-US"/>
              <a:t>     </a:t>
            </a:r>
            <a:r>
              <a:rPr lang="en-US">
                <a:latin typeface="Courier New"/>
                <a:ea typeface="Courier New"/>
                <a:cs typeface="Courier New"/>
                <a:sym typeface="Courier New"/>
              </a:rPr>
              <a:t>// effect on tests</a:t>
            </a: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Assignment</a:t>
            </a:r>
            <a:endParaRPr/>
          </a:p>
        </p:txBody>
      </p:sp>
      <p:sp>
        <p:nvSpPr>
          <p:cNvPr id="278" name="Google Shape;278;p29"/>
          <p:cNvSpPr txBox="1"/>
          <p:nvPr>
            <p:ph idx="1" type="body"/>
          </p:nvPr>
        </p:nvSpPr>
        <p:spPr>
          <a:xfrm>
            <a:off x="457200" y="1751013"/>
            <a:ext cx="7926388" cy="41163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Calibri"/>
              <a:buNone/>
            </a:pPr>
            <a:r>
              <a:rPr lang="en-US"/>
              <a:t>To copy one array to another,</a:t>
            </a:r>
            <a:endParaRPr/>
          </a:p>
          <a:p>
            <a:pPr indent="-342900" lvl="0" marL="342900" rtl="0" algn="l">
              <a:lnSpc>
                <a:spcPct val="100000"/>
              </a:lnSpc>
              <a:spcBef>
                <a:spcPts val="640"/>
              </a:spcBef>
              <a:spcAft>
                <a:spcPts val="0"/>
              </a:spcAft>
              <a:buClr>
                <a:schemeClr val="dk1"/>
              </a:buClr>
              <a:buSzPts val="3200"/>
              <a:buChar char="•"/>
            </a:pPr>
            <a:r>
              <a:rPr lang="en-US"/>
              <a:t>Don’t try to assign one array to the other:</a:t>
            </a: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newTests = tests;  // Won't work</a:t>
            </a:r>
            <a:br>
              <a:rPr lang="en-US">
                <a:latin typeface="Courier New"/>
                <a:ea typeface="Courier New"/>
                <a:cs typeface="Courier New"/>
                <a:sym typeface="Courier New"/>
              </a:rPr>
            </a:br>
            <a:endParaRPr>
              <a:latin typeface="Courier New"/>
              <a:ea typeface="Courier New"/>
              <a:cs typeface="Courier New"/>
              <a:sym typeface="Courier New"/>
            </a:endParaRPr>
          </a:p>
          <a:p>
            <a:pPr indent="-342900" lvl="0" marL="342900" rtl="0" algn="l">
              <a:lnSpc>
                <a:spcPct val="100000"/>
              </a:lnSpc>
              <a:spcBef>
                <a:spcPts val="640"/>
              </a:spcBef>
              <a:spcAft>
                <a:spcPts val="0"/>
              </a:spcAft>
              <a:buClr>
                <a:schemeClr val="dk1"/>
              </a:buClr>
              <a:buSzPts val="3200"/>
              <a:buChar char="•"/>
            </a:pPr>
            <a:r>
              <a:rPr lang="en-US"/>
              <a:t>Instead, assign element-by-element:</a:t>
            </a: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for (i = 0; i &lt; ARRAY_SIZE; i++)</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newTests[i] = tests[i];</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0"/>
          <p:cNvSpPr txBox="1"/>
          <p:nvPr>
            <p:ph type="title"/>
          </p:nvPr>
        </p:nvSpPr>
        <p:spPr>
          <a:xfrm>
            <a:off x="457200" y="685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Printing the Contents of an Array</a:t>
            </a:r>
            <a:endParaRPr/>
          </a:p>
        </p:txBody>
      </p:sp>
      <p:sp>
        <p:nvSpPr>
          <p:cNvPr id="284" name="Google Shape;284;p30"/>
          <p:cNvSpPr txBox="1"/>
          <p:nvPr>
            <p:ph idx="1" type="body"/>
          </p:nvPr>
        </p:nvSpPr>
        <p:spPr>
          <a:xfrm>
            <a:off x="457200" y="1981200"/>
            <a:ext cx="7926388"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You can display the contents of a </a:t>
            </a:r>
            <a:r>
              <a:rPr i="1" lang="en-US"/>
              <a:t>character</a:t>
            </a:r>
            <a:r>
              <a:rPr lang="en-US"/>
              <a:t> array by sending its name to cout:</a:t>
            </a:r>
            <a:br>
              <a:rPr lang="en-US"/>
            </a:br>
            <a:br>
              <a:rPr lang="en-US"/>
            </a:br>
            <a:r>
              <a:rPr lang="en-US"/>
              <a:t> </a:t>
            </a:r>
            <a:r>
              <a:rPr lang="en-US">
                <a:latin typeface="Courier New"/>
                <a:ea typeface="Courier New"/>
                <a:cs typeface="Courier New"/>
                <a:sym typeface="Courier New"/>
              </a:rPr>
              <a:t>char fName[] = "Henry";</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cout &lt;&lt; fName &lt;&lt; endl;</a:t>
            </a:r>
            <a:endParaRPr/>
          </a:p>
          <a:p>
            <a:pPr indent="-285750" lvl="1" marL="742950" rtl="0" algn="l">
              <a:lnSpc>
                <a:spcPct val="100000"/>
              </a:lnSpc>
              <a:spcBef>
                <a:spcPts val="560"/>
              </a:spcBef>
              <a:spcAft>
                <a:spcPts val="0"/>
              </a:spcAft>
              <a:buClr>
                <a:srgbClr val="3333CC"/>
              </a:buClr>
              <a:buSzPts val="2800"/>
              <a:buFont typeface="Calibri"/>
              <a:buNone/>
            </a:pPr>
            <a:r>
              <a:t/>
            </a:r>
            <a:endParaRPr>
              <a:latin typeface="Courier New"/>
              <a:ea typeface="Courier New"/>
              <a:cs typeface="Courier New"/>
              <a:sym typeface="Courier New"/>
            </a:endParaRPr>
          </a:p>
          <a:p>
            <a:pPr indent="-285750" lvl="1" marL="742950" rtl="0" algn="l">
              <a:lnSpc>
                <a:spcPct val="100000"/>
              </a:lnSpc>
              <a:spcBef>
                <a:spcPts val="560"/>
              </a:spcBef>
              <a:spcAft>
                <a:spcPts val="0"/>
              </a:spcAft>
              <a:buClr>
                <a:srgbClr val="3333CC"/>
              </a:buClr>
              <a:buSzPts val="2800"/>
              <a:buFont typeface="Calibri"/>
              <a:buNone/>
            </a:pPr>
            <a:r>
              <a:rPr lang="en-US"/>
              <a:t>But, this ONLY works with character arrays!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txBox="1"/>
          <p:nvPr>
            <p:ph type="title"/>
          </p:nvPr>
        </p:nvSpPr>
        <p:spPr>
          <a:xfrm>
            <a:off x="3810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Printing the Contents of an Array</a:t>
            </a:r>
            <a:endParaRPr/>
          </a:p>
        </p:txBody>
      </p:sp>
      <p:sp>
        <p:nvSpPr>
          <p:cNvPr id="290" name="Google Shape;290;p31"/>
          <p:cNvSpPr txBox="1"/>
          <p:nvPr>
            <p:ph idx="1" type="body"/>
          </p:nvPr>
        </p:nvSpPr>
        <p:spPr>
          <a:xfrm>
            <a:off x="457200" y="1981200"/>
            <a:ext cx="7926388"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For other types of arrays, you must print element-by-element:</a:t>
            </a:r>
            <a:br>
              <a:rPr lang="en-US"/>
            </a:b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for (i = 0; i &lt; ARRAY_SIZE; i++)</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cout &lt;&lt; tests[i] &lt;&lt; endl;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type="title"/>
          </p:nvPr>
        </p:nvSpPr>
        <p:spPr>
          <a:xfrm>
            <a:off x="457200" y="6858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35353"/>
              <a:buNone/>
            </a:pPr>
            <a:r>
              <a:rPr b="1" lang="en-US"/>
              <a:t>Summing and Averaging Array Elements</a:t>
            </a:r>
            <a:endParaRPr/>
          </a:p>
        </p:txBody>
      </p:sp>
      <p:sp>
        <p:nvSpPr>
          <p:cNvPr id="296" name="Google Shape;296;p32"/>
          <p:cNvSpPr txBox="1"/>
          <p:nvPr>
            <p:ph idx="1" type="body"/>
          </p:nvPr>
        </p:nvSpPr>
        <p:spPr>
          <a:xfrm>
            <a:off x="304800" y="1981200"/>
            <a:ext cx="8610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Char char="•"/>
            </a:pPr>
            <a:r>
              <a:rPr lang="en-US"/>
              <a:t>Use a simple loop to add together array elements:</a:t>
            </a:r>
            <a:endParaRPr/>
          </a:p>
          <a:p>
            <a:pPr indent="-285750" lvl="1" marL="742950" rtl="0" algn="l">
              <a:lnSpc>
                <a:spcPct val="9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int tnum;</a:t>
            </a:r>
            <a:endParaRPr/>
          </a:p>
          <a:p>
            <a:pPr indent="-285750" lvl="1" marL="742950" rtl="0" algn="l">
              <a:lnSpc>
                <a:spcPct val="9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double average, sum = 0;</a:t>
            </a:r>
            <a:endParaRPr/>
          </a:p>
          <a:p>
            <a:pPr indent="-285750" lvl="1" marL="742950" rtl="0" algn="l">
              <a:lnSpc>
                <a:spcPct val="9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for(tnum = 0; tnum &lt; SIZE; tnum++)</a:t>
            </a:r>
            <a:endParaRPr/>
          </a:p>
          <a:p>
            <a:pPr indent="-285750" lvl="1" marL="742950" rtl="0" algn="l">
              <a:lnSpc>
                <a:spcPct val="9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sum += tests[tnum];</a:t>
            </a:r>
            <a:endParaRPr/>
          </a:p>
          <a:p>
            <a:pPr indent="-342900" lvl="0" marL="342900" rtl="0" algn="l">
              <a:lnSpc>
                <a:spcPct val="90000"/>
              </a:lnSpc>
              <a:spcBef>
                <a:spcPts val="640"/>
              </a:spcBef>
              <a:spcAft>
                <a:spcPts val="0"/>
              </a:spcAft>
              <a:buClr>
                <a:schemeClr val="dk1"/>
              </a:buClr>
              <a:buSzPts val="3200"/>
              <a:buChar char="•"/>
            </a:pPr>
            <a:r>
              <a:rPr lang="en-US"/>
              <a:t>Once summed, can compute average:</a:t>
            </a:r>
            <a:endParaRPr/>
          </a:p>
          <a:p>
            <a:pPr indent="-285750" lvl="1" marL="742950" rtl="0" algn="l">
              <a:lnSpc>
                <a:spcPct val="9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average = sum / SIZE;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ph type="title"/>
          </p:nvPr>
        </p:nvSpPr>
        <p:spPr>
          <a:xfrm>
            <a:off x="457200" y="4572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35353"/>
              <a:buNone/>
            </a:pPr>
            <a:r>
              <a:rPr b="1" lang="en-US"/>
              <a:t>Finding the Highest Value in an Array</a:t>
            </a:r>
            <a:endParaRPr/>
          </a:p>
        </p:txBody>
      </p:sp>
      <p:sp>
        <p:nvSpPr>
          <p:cNvPr id="302" name="Google Shape;302;p33"/>
          <p:cNvSpPr txBox="1"/>
          <p:nvPr/>
        </p:nvSpPr>
        <p:spPr>
          <a:xfrm>
            <a:off x="457200" y="1600200"/>
            <a:ext cx="8229600" cy="3013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highest;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highest = numbers[0];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for (count = 1; count &lt; SIZE;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if (numbers[count] &gt; highest)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highest = numbers[count];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303" name="Google Shape;303;p33"/>
          <p:cNvSpPr txBox="1"/>
          <p:nvPr/>
        </p:nvSpPr>
        <p:spPr>
          <a:xfrm>
            <a:off x="304800" y="4953000"/>
            <a:ext cx="8458200"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When this code is finished, the </a:t>
            </a:r>
            <a:r>
              <a:rPr b="0" i="0" lang="en-US" sz="2400" u="none" cap="none" strike="noStrike">
                <a:solidFill>
                  <a:schemeClr val="dk1"/>
                </a:solidFill>
                <a:latin typeface="Courier New"/>
                <a:ea typeface="Courier New"/>
                <a:cs typeface="Courier New"/>
                <a:sym typeface="Courier New"/>
              </a:rPr>
              <a:t>highest</a:t>
            </a:r>
            <a:r>
              <a:rPr b="0" i="0" lang="en-US" sz="2400" u="none" cap="none" strike="noStrike">
                <a:solidFill>
                  <a:schemeClr val="dk1"/>
                </a:solidFill>
                <a:latin typeface="Calibri"/>
                <a:ea typeface="Calibri"/>
                <a:cs typeface="Calibri"/>
                <a:sym typeface="Calibri"/>
              </a:rPr>
              <a:t> variable will contain the highest value in the </a:t>
            </a:r>
            <a:r>
              <a:rPr b="0" i="0" lang="en-US" sz="2400" u="none" cap="none" strike="noStrike">
                <a:solidFill>
                  <a:schemeClr val="dk1"/>
                </a:solidFill>
                <a:latin typeface="Courier New"/>
                <a:ea typeface="Courier New"/>
                <a:cs typeface="Courier New"/>
                <a:sym typeface="Courier New"/>
              </a:rPr>
              <a:t>numbers</a:t>
            </a:r>
            <a:r>
              <a:rPr b="0" i="0" lang="en-US" sz="2400" u="none" cap="none" strike="noStrike">
                <a:solidFill>
                  <a:schemeClr val="dk1"/>
                </a:solidFill>
                <a:latin typeface="Calibri"/>
                <a:ea typeface="Calibri"/>
                <a:cs typeface="Calibri"/>
                <a:sym typeface="Calibri"/>
              </a:rPr>
              <a:t> array.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ph type="title"/>
          </p:nvPr>
        </p:nvSpPr>
        <p:spPr>
          <a:xfrm>
            <a:off x="533400" y="4572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35353"/>
              <a:buNone/>
            </a:pPr>
            <a:r>
              <a:rPr b="1" lang="en-US"/>
              <a:t>Finding the Lowest Value in an Array</a:t>
            </a:r>
            <a:endParaRPr/>
          </a:p>
        </p:txBody>
      </p:sp>
      <p:sp>
        <p:nvSpPr>
          <p:cNvPr id="309" name="Google Shape;309;p34"/>
          <p:cNvSpPr txBox="1"/>
          <p:nvPr/>
        </p:nvSpPr>
        <p:spPr>
          <a:xfrm>
            <a:off x="533400" y="1981200"/>
            <a:ext cx="8229600" cy="3013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lowest;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lowest = numbers[0];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for (count = 1; count &lt; SIZE;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if (numbers[count] &lt; lowest)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lowest = numbers[count];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310" name="Google Shape;310;p34"/>
          <p:cNvSpPr txBox="1"/>
          <p:nvPr/>
        </p:nvSpPr>
        <p:spPr>
          <a:xfrm>
            <a:off x="381000" y="5334000"/>
            <a:ext cx="8458200"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When this code is finished, the </a:t>
            </a:r>
            <a:r>
              <a:rPr b="0" i="0" lang="en-US" sz="2400" u="none" cap="none" strike="noStrike">
                <a:solidFill>
                  <a:schemeClr val="dk1"/>
                </a:solidFill>
                <a:latin typeface="Courier New"/>
                <a:ea typeface="Courier New"/>
                <a:cs typeface="Courier New"/>
                <a:sym typeface="Courier New"/>
              </a:rPr>
              <a:t>lowest</a:t>
            </a:r>
            <a:r>
              <a:rPr b="0" i="0" lang="en-US" sz="2400" u="none" cap="none" strike="noStrike">
                <a:solidFill>
                  <a:schemeClr val="dk1"/>
                </a:solidFill>
                <a:latin typeface="Calibri"/>
                <a:ea typeface="Calibri"/>
                <a:cs typeface="Calibri"/>
                <a:sym typeface="Calibri"/>
              </a:rPr>
              <a:t> variable will contain the lowest value in the </a:t>
            </a:r>
            <a:r>
              <a:rPr b="0" i="0" lang="en-US" sz="2400" u="none" cap="none" strike="noStrike">
                <a:solidFill>
                  <a:schemeClr val="dk1"/>
                </a:solidFill>
                <a:latin typeface="Courier New"/>
                <a:ea typeface="Courier New"/>
                <a:cs typeface="Courier New"/>
                <a:sym typeface="Courier New"/>
              </a:rPr>
              <a:t>numbers</a:t>
            </a:r>
            <a:r>
              <a:rPr b="0" i="0" lang="en-US" sz="2400" u="none" cap="none" strike="noStrike">
                <a:solidFill>
                  <a:schemeClr val="dk1"/>
                </a:solidFill>
                <a:latin typeface="Calibri"/>
                <a:ea typeface="Calibri"/>
                <a:cs typeface="Calibri"/>
                <a:sym typeface="Calibri"/>
              </a:rPr>
              <a:t> array.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Partially-Filled Arrays</a:t>
            </a:r>
            <a:endParaRPr/>
          </a:p>
        </p:txBody>
      </p:sp>
      <p:sp>
        <p:nvSpPr>
          <p:cNvPr id="316" name="Google Shape;316;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600"/>
              <a:buChar char="•"/>
            </a:pPr>
            <a:r>
              <a:rPr lang="en-US" sz="3600"/>
              <a:t>If it is unknown how much data an array will be holding:</a:t>
            </a:r>
            <a:endParaRPr/>
          </a:p>
          <a:p>
            <a:pPr indent="-285750" lvl="1" marL="742950" rtl="0" algn="l">
              <a:lnSpc>
                <a:spcPct val="100000"/>
              </a:lnSpc>
              <a:spcBef>
                <a:spcPts val="640"/>
              </a:spcBef>
              <a:spcAft>
                <a:spcPts val="0"/>
              </a:spcAft>
              <a:buClr>
                <a:schemeClr val="dk1"/>
              </a:buClr>
              <a:buSzPts val="3200"/>
              <a:buChar char="–"/>
            </a:pPr>
            <a:r>
              <a:rPr lang="en-US" sz="3200"/>
              <a:t>Make the array large enough to hold the largest expected number of elements.</a:t>
            </a:r>
            <a:endParaRPr/>
          </a:p>
          <a:p>
            <a:pPr indent="-285750" lvl="1" marL="742950" rtl="0" algn="l">
              <a:lnSpc>
                <a:spcPct val="100000"/>
              </a:lnSpc>
              <a:spcBef>
                <a:spcPts val="640"/>
              </a:spcBef>
              <a:spcAft>
                <a:spcPts val="0"/>
              </a:spcAft>
              <a:buClr>
                <a:schemeClr val="dk1"/>
              </a:buClr>
              <a:buSzPts val="3200"/>
              <a:buChar char="–"/>
            </a:pPr>
            <a:r>
              <a:rPr lang="en-US" sz="3200"/>
              <a:t>Use a counter variable to keep track of the number of items stored in the array.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0" y="0"/>
            <a:ext cx="9144000" cy="765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Comparing</a:t>
            </a:r>
            <a:r>
              <a:rPr lang="en-US"/>
              <a:t> </a:t>
            </a:r>
            <a:r>
              <a:rPr b="1" lang="en-US"/>
              <a:t>Arrays</a:t>
            </a:r>
            <a:endParaRPr/>
          </a:p>
        </p:txBody>
      </p:sp>
      <p:sp>
        <p:nvSpPr>
          <p:cNvPr id="322" name="Google Shape;322;p36"/>
          <p:cNvSpPr txBox="1"/>
          <p:nvPr>
            <p:ph idx="1" type="body"/>
          </p:nvPr>
        </p:nvSpPr>
        <p:spPr>
          <a:xfrm>
            <a:off x="395288" y="836613"/>
            <a:ext cx="8229600" cy="1371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To compare two arrays, you must compare element-by-element:</a:t>
            </a:r>
            <a:endParaRPr/>
          </a:p>
        </p:txBody>
      </p:sp>
      <p:sp>
        <p:nvSpPr>
          <p:cNvPr id="323" name="Google Shape;323;p36"/>
          <p:cNvSpPr txBox="1"/>
          <p:nvPr/>
        </p:nvSpPr>
        <p:spPr>
          <a:xfrm>
            <a:off x="611188" y="1916113"/>
            <a:ext cx="8153400" cy="4486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const int SIZE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int firstArray[SIZE] = { 5, 10, 15, 20, 25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int secondArray[SIZE] = { 5, 10, 15, 20, 25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bool arraysEqual = true; // Flag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int count = 0;           // Loop counter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Compare the two arrays.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while (arraysEqual &amp;&amp; count &lt;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if (firstArray[count] != secondArray[count])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arraysEqual =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if (arraysEqual)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cout &lt;&lt; "The arrays are equal.\n";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cout &lt;&lt; "The arrays are not equal.\n";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914400" y="0"/>
            <a:ext cx="8229600" cy="8366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329" name="Google Shape;329;p37"/>
          <p:cNvSpPr txBox="1"/>
          <p:nvPr>
            <p:ph idx="1" type="body"/>
          </p:nvPr>
        </p:nvSpPr>
        <p:spPr>
          <a:xfrm>
            <a:off x="230187" y="1143000"/>
            <a:ext cx="89139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2800"/>
              <a:buNone/>
            </a:pPr>
            <a:r>
              <a:rPr lang="en-US" sz="2800"/>
              <a:t>Given the following array definition:</a:t>
            </a:r>
            <a:endParaRPr/>
          </a:p>
          <a:p>
            <a:pPr indent="-342900" lvl="0" marL="342900" rtl="0" algn="l">
              <a:lnSpc>
                <a:spcPct val="100000"/>
              </a:lnSpc>
              <a:spcBef>
                <a:spcPts val="560"/>
              </a:spcBef>
              <a:spcAft>
                <a:spcPts val="0"/>
              </a:spcAft>
              <a:buClr>
                <a:schemeClr val="dk1"/>
              </a:buClr>
              <a:buSzPts val="2800"/>
              <a:buFont typeface="Arial"/>
              <a:buNone/>
            </a:pPr>
            <a:r>
              <a:rPr lang="en-US" sz="2800"/>
              <a:t>		</a:t>
            </a:r>
            <a:r>
              <a:rPr lang="en-US" sz="2800">
                <a:latin typeface="Courier New"/>
                <a:ea typeface="Courier New"/>
                <a:cs typeface="Courier New"/>
                <a:sym typeface="Courier New"/>
              </a:rPr>
              <a:t>int values[] = {2,6,10,14};</a:t>
            </a:r>
            <a:endParaRPr/>
          </a:p>
          <a:p>
            <a:pPr indent="-342900" lvl="0" marL="342900" rtl="0" algn="l">
              <a:lnSpc>
                <a:spcPct val="100000"/>
              </a:lnSpc>
              <a:spcBef>
                <a:spcPts val="560"/>
              </a:spcBef>
              <a:spcAft>
                <a:spcPts val="0"/>
              </a:spcAft>
              <a:buClr>
                <a:schemeClr val="dk1"/>
              </a:buClr>
              <a:buSzPts val="2800"/>
              <a:buFont typeface="Arial"/>
              <a:buNone/>
            </a:pPr>
            <a:r>
              <a:t/>
            </a:r>
            <a:endParaRPr sz="2800">
              <a:latin typeface="Courier New"/>
              <a:ea typeface="Courier New"/>
              <a:cs typeface="Courier New"/>
              <a:sym typeface="Courier New"/>
            </a:endParaRPr>
          </a:p>
          <a:p>
            <a:pPr indent="-342900" lvl="0" marL="342900" rtl="0" algn="l">
              <a:lnSpc>
                <a:spcPct val="100000"/>
              </a:lnSpc>
              <a:spcBef>
                <a:spcPts val="560"/>
              </a:spcBef>
              <a:spcAft>
                <a:spcPts val="0"/>
              </a:spcAft>
              <a:buClr>
                <a:schemeClr val="dk1"/>
              </a:buClr>
              <a:buSzPts val="2800"/>
              <a:buFont typeface="Arial"/>
              <a:buNone/>
            </a:pPr>
            <a:r>
              <a:rPr lang="en-US" sz="2800"/>
              <a:t>What does each of the following display?</a:t>
            </a:r>
            <a:endParaRPr/>
          </a:p>
          <a:p>
            <a:pPr indent="-514350" lvl="0" marL="514350" rtl="0" algn="l">
              <a:lnSpc>
                <a:spcPct val="100000"/>
              </a:lnSpc>
              <a:spcBef>
                <a:spcPts val="560"/>
              </a:spcBef>
              <a:spcAft>
                <a:spcPts val="0"/>
              </a:spcAft>
              <a:buClr>
                <a:schemeClr val="dk1"/>
              </a:buClr>
              <a:buSzPts val="2800"/>
              <a:buFont typeface="Arial"/>
              <a:buAutoNum type="alphaLcParenR"/>
            </a:pPr>
            <a:r>
              <a:rPr lang="en-US" sz="2800">
                <a:latin typeface="Courier New"/>
                <a:ea typeface="Courier New"/>
                <a:cs typeface="Courier New"/>
                <a:sym typeface="Courier New"/>
              </a:rPr>
              <a:t>cout&lt;&lt;values[2];</a:t>
            </a:r>
            <a:endParaRPr/>
          </a:p>
          <a:p>
            <a:pPr indent="-514350" lvl="0" marL="514350" rtl="0" algn="l">
              <a:lnSpc>
                <a:spcPct val="100000"/>
              </a:lnSpc>
              <a:spcBef>
                <a:spcPts val="560"/>
              </a:spcBef>
              <a:spcAft>
                <a:spcPts val="0"/>
              </a:spcAft>
              <a:buClr>
                <a:schemeClr val="dk1"/>
              </a:buClr>
              <a:buSzPts val="2800"/>
              <a:buFont typeface="Arial"/>
              <a:buAutoNum type="alphaLcParenR"/>
            </a:pPr>
            <a:r>
              <a:rPr lang="en-US" sz="2800">
                <a:latin typeface="Courier New"/>
                <a:ea typeface="Courier New"/>
                <a:cs typeface="Courier New"/>
                <a:sym typeface="Courier New"/>
              </a:rPr>
              <a:t>cout&lt;&lt;++values[0];</a:t>
            </a:r>
            <a:endParaRPr/>
          </a:p>
          <a:p>
            <a:pPr indent="-514350" lvl="0" marL="514350" rtl="0" algn="l">
              <a:lnSpc>
                <a:spcPct val="100000"/>
              </a:lnSpc>
              <a:spcBef>
                <a:spcPts val="560"/>
              </a:spcBef>
              <a:spcAft>
                <a:spcPts val="0"/>
              </a:spcAft>
              <a:buClr>
                <a:schemeClr val="dk1"/>
              </a:buClr>
              <a:buSzPts val="2800"/>
              <a:buFont typeface="Arial"/>
              <a:buAutoNum type="alphaLcParenR"/>
            </a:pPr>
            <a:r>
              <a:rPr lang="en-US" sz="2800">
                <a:latin typeface="Courier New"/>
                <a:ea typeface="Courier New"/>
                <a:cs typeface="Courier New"/>
                <a:sym typeface="Courier New"/>
              </a:rPr>
              <a:t>cout&lt;&lt; values[1]++;</a:t>
            </a:r>
            <a:endParaRPr/>
          </a:p>
          <a:p>
            <a:pPr indent="-514350" lvl="0" marL="514350" rtl="0" algn="l">
              <a:lnSpc>
                <a:spcPct val="100000"/>
              </a:lnSpc>
              <a:spcBef>
                <a:spcPts val="560"/>
              </a:spcBef>
              <a:spcAft>
                <a:spcPts val="0"/>
              </a:spcAft>
              <a:buClr>
                <a:schemeClr val="dk1"/>
              </a:buClr>
              <a:buSzPts val="2800"/>
              <a:buFont typeface="Arial"/>
              <a:buAutoNum type="alphaLcParenR"/>
            </a:pPr>
            <a:r>
              <a:rPr lang="en-US" sz="2800">
                <a:latin typeface="Courier New"/>
                <a:ea typeface="Courier New"/>
                <a:cs typeface="Courier New"/>
                <a:sym typeface="Courier New"/>
              </a:rPr>
              <a:t>x = 2;</a:t>
            </a:r>
            <a:endParaRPr/>
          </a:p>
          <a:p>
            <a:pPr indent="-514350" lvl="0" marL="514350" rtl="0" algn="l">
              <a:lnSpc>
                <a:spcPct val="100000"/>
              </a:lnSpc>
              <a:spcBef>
                <a:spcPts val="560"/>
              </a:spcBef>
              <a:spcAft>
                <a:spcPts val="0"/>
              </a:spcAft>
              <a:buClr>
                <a:schemeClr val="dk1"/>
              </a:buClr>
              <a:buSzPts val="2800"/>
              <a:buFont typeface="Arial"/>
              <a:buNone/>
            </a:pPr>
            <a:r>
              <a:rPr lang="en-US" sz="2800">
                <a:latin typeface="Courier New"/>
                <a:ea typeface="Courier New"/>
                <a:cs typeface="Courier New"/>
                <a:sym typeface="Courier New"/>
              </a:rPr>
              <a:t>	cout&lt;&lt;values[++x];</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8"/>
          <p:cNvSpPr txBox="1"/>
          <p:nvPr>
            <p:ph type="title"/>
          </p:nvPr>
        </p:nvSpPr>
        <p:spPr>
          <a:xfrm>
            <a:off x="914400" y="0"/>
            <a:ext cx="8229600" cy="765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335" name="Google Shape;335;p38"/>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Declare an integer array named </a:t>
            </a:r>
            <a:r>
              <a:rPr lang="en-US">
                <a:latin typeface="Courier New"/>
                <a:ea typeface="Courier New"/>
                <a:cs typeface="Courier New"/>
                <a:sym typeface="Courier New"/>
              </a:rPr>
              <a:t>names</a:t>
            </a:r>
            <a:r>
              <a:rPr lang="en-US"/>
              <a:t> with 20 elements. Write a loop that prints each element of the array.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anim calcmode="lin" valueType="num">
                                      <p:cBhvr additive="base">
                                        <p:cTn dur="500"/>
                                        <p:tgtEl>
                                          <p:spTgt spid="3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9"/>
          <p:cNvSpPr txBox="1"/>
          <p:nvPr>
            <p:ph type="title"/>
          </p:nvPr>
        </p:nvSpPr>
        <p:spPr>
          <a:xfrm>
            <a:off x="914400" y="0"/>
            <a:ext cx="8229600" cy="908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341" name="Google Shape;341;p39"/>
          <p:cNvSpPr txBox="1"/>
          <p:nvPr>
            <p:ph idx="1" type="body"/>
          </p:nvPr>
        </p:nvSpPr>
        <p:spPr>
          <a:xfrm>
            <a:off x="0" y="1143000"/>
            <a:ext cx="91440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Char char="•"/>
            </a:pPr>
            <a:r>
              <a:rPr lang="en-US" sz="2800"/>
              <a:t>Write a program that lets the user enter 10 values into an array. The program should then display the largest and smallest values stored in the array.</a:t>
            </a:r>
            <a:endParaRPr/>
          </a:p>
          <a:p>
            <a:pPr indent="-342900" lvl="0" marL="342900" rtl="0" algn="l">
              <a:lnSpc>
                <a:spcPct val="100000"/>
              </a:lnSpc>
              <a:spcBef>
                <a:spcPts val="560"/>
              </a:spcBef>
              <a:spcAft>
                <a:spcPts val="0"/>
              </a:spcAft>
              <a:buClr>
                <a:schemeClr val="dk1"/>
              </a:buClr>
              <a:buSzPts val="2800"/>
              <a:buChar char="•"/>
            </a:pPr>
            <a:r>
              <a:rPr lang="en-US" sz="2800"/>
              <a:t>Write a program that lets the user enter the total rainfall for each of 12 months into an array of doubles. The program should then calculate and display the total rainfall for the year, the average monthly rainfall, and the months with the highest and lowest amounts.</a:t>
            </a:r>
            <a:endParaRPr/>
          </a:p>
          <a:p>
            <a:pPr indent="-342900" lvl="0" marL="342900" rtl="0" algn="l">
              <a:lnSpc>
                <a:spcPct val="100000"/>
              </a:lnSpc>
              <a:spcBef>
                <a:spcPts val="560"/>
              </a:spcBef>
              <a:spcAft>
                <a:spcPts val="0"/>
              </a:spcAft>
              <a:buClr>
                <a:schemeClr val="dk1"/>
              </a:buClr>
              <a:buSzPts val="2800"/>
              <a:buFont typeface="Arial"/>
              <a:buNone/>
            </a:pPr>
            <a:r>
              <a:rPr lang="en-US" sz="2800"/>
              <a:t>	</a:t>
            </a:r>
            <a:r>
              <a:rPr i="1" lang="en-US" sz="2800"/>
              <a:t>Input Validation: Do not accept negative numbers for monthly rainfall figures.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341">
                                            <p:txEl>
                                              <p:pRg end="0" st="0"/>
                                            </p:txEl>
                                          </p:spTgt>
                                        </p:tgtEl>
                                      </p:cBhvr>
                                    </p:animEffect>
                                    <p:set>
                                      <p:cBhvr>
                                        <p:cTn dur="1" fill="hold">
                                          <p:stCondLst>
                                            <p:cond delay="2000"/>
                                          </p:stCondLst>
                                        </p:cTn>
                                        <p:tgtEl>
                                          <p:spTgt spid="341">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341">
                                            <p:txEl>
                                              <p:pRg end="1" st="1"/>
                                            </p:txEl>
                                          </p:spTgt>
                                        </p:tgtEl>
                                      </p:cBhvr>
                                    </p:animEffect>
                                    <p:set>
                                      <p:cBhvr>
                                        <p:cTn dur="1" fill="hold">
                                          <p:stCondLst>
                                            <p:cond delay="2000"/>
                                          </p:stCondLst>
                                        </p:cTn>
                                        <p:tgtEl>
                                          <p:spTgt spid="341">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341">
                                            <p:txEl>
                                              <p:pRg end="2" st="2"/>
                                            </p:txEl>
                                          </p:spTgt>
                                        </p:tgtEl>
                                      </p:cBhvr>
                                    </p:animEffect>
                                    <p:set>
                                      <p:cBhvr>
                                        <p:cTn dur="1" fill="hold">
                                          <p:stCondLst>
                                            <p:cond delay="2000"/>
                                          </p:stCondLst>
                                        </p:cTn>
                                        <p:tgtEl>
                                          <p:spTgt spid="341">
                                            <p:txEl>
                                              <p:pRg end="2" st="2"/>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Using Parallel Arrays</a:t>
            </a:r>
            <a:endParaRPr/>
          </a:p>
        </p:txBody>
      </p:sp>
      <p:sp>
        <p:nvSpPr>
          <p:cNvPr id="347" name="Google Shape;347;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u="sng"/>
              <a:t>Parallel arrays</a:t>
            </a:r>
            <a:r>
              <a:rPr lang="en-US"/>
              <a:t>: two or more arrays that contain related data</a:t>
            </a:r>
            <a:endParaRPr/>
          </a:p>
          <a:p>
            <a:pPr indent="-342900" lvl="0" marL="342900" rtl="0" algn="l">
              <a:lnSpc>
                <a:spcPct val="100000"/>
              </a:lnSpc>
              <a:spcBef>
                <a:spcPts val="640"/>
              </a:spcBef>
              <a:spcAft>
                <a:spcPts val="0"/>
              </a:spcAft>
              <a:buClr>
                <a:schemeClr val="dk1"/>
              </a:buClr>
              <a:buSzPts val="3200"/>
              <a:buChar char="•"/>
            </a:pPr>
            <a:r>
              <a:rPr lang="en-US"/>
              <a:t>A subscript is used to relate arrays: elements at same subscript are related</a:t>
            </a:r>
            <a:endParaRPr/>
          </a:p>
          <a:p>
            <a:pPr indent="-342900" lvl="0" marL="342900" rtl="0" algn="l">
              <a:lnSpc>
                <a:spcPct val="100000"/>
              </a:lnSpc>
              <a:spcBef>
                <a:spcPts val="640"/>
              </a:spcBef>
              <a:spcAft>
                <a:spcPts val="0"/>
              </a:spcAft>
              <a:buClr>
                <a:schemeClr val="dk1"/>
              </a:buClr>
              <a:buSzPts val="3200"/>
              <a:buChar char="•"/>
            </a:pPr>
            <a:r>
              <a:rPr lang="en-US"/>
              <a:t>Arrays may be of different types</a:t>
            </a:r>
            <a:endParaRPr u="sng"/>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0" y="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Parallel Array Example</a:t>
            </a:r>
            <a:endParaRPr/>
          </a:p>
        </p:txBody>
      </p:sp>
      <p:sp>
        <p:nvSpPr>
          <p:cNvPr id="353" name="Google Shape;353;p41"/>
          <p:cNvSpPr txBox="1"/>
          <p:nvPr>
            <p:ph idx="1" type="body"/>
          </p:nvPr>
        </p:nvSpPr>
        <p:spPr>
          <a:xfrm>
            <a:off x="152400" y="1447800"/>
            <a:ext cx="86868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Courier New"/>
              <a:buNone/>
            </a:pPr>
            <a:r>
              <a:rPr b="1" lang="en-US" sz="2400">
                <a:latin typeface="Courier New"/>
                <a:ea typeface="Courier New"/>
                <a:cs typeface="Courier New"/>
                <a:sym typeface="Courier New"/>
              </a:rPr>
              <a:t>	const int SIZE = 5;   // Array size</a:t>
            </a:r>
            <a:endParaRPr/>
          </a:p>
          <a:p>
            <a:pPr indent="-342900" lvl="0" marL="342900" rtl="0" algn="l">
              <a:lnSpc>
                <a:spcPct val="80000"/>
              </a:lnSpc>
              <a:spcBef>
                <a:spcPts val="480"/>
              </a:spcBef>
              <a:spcAft>
                <a:spcPts val="0"/>
              </a:spcAft>
              <a:buClr>
                <a:schemeClr val="dk1"/>
              </a:buClr>
              <a:buSzPts val="2400"/>
              <a:buFont typeface="Calibri"/>
              <a:buNone/>
            </a:pPr>
            <a:r>
              <a:rPr b="1" lang="en-US" sz="2400"/>
              <a:t>	</a:t>
            </a:r>
            <a:r>
              <a:rPr b="1" lang="en-US" sz="2400">
                <a:latin typeface="Courier New"/>
                <a:ea typeface="Courier New"/>
                <a:cs typeface="Courier New"/>
                <a:sym typeface="Courier New"/>
              </a:rPr>
              <a:t>int id[SIZE];         // student ID</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double average[SIZE]; // course average</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char grade[SIZE];     // course grade</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for(int i = 0; i &lt; SIZE; i++)</a:t>
            </a:r>
            <a:br>
              <a:rPr b="1" lang="en-US" sz="2400">
                <a:latin typeface="Courier New"/>
                <a:ea typeface="Courier New"/>
                <a:cs typeface="Courier New"/>
                <a:sym typeface="Courier New"/>
              </a:rPr>
            </a:br>
            <a:r>
              <a:rPr b="1" lang="en-US" sz="2400">
                <a:latin typeface="Courier New"/>
                <a:ea typeface="Courier New"/>
                <a:cs typeface="Courier New"/>
                <a:sym typeface="Courier New"/>
              </a:rPr>
              <a:t>{</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cout &lt;&lt; "Student ID: " &lt;&lt; id[i]</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&lt;&lt; " average: " &lt;&lt; average[i]</a:t>
            </a:r>
            <a:endParaRPr/>
          </a:p>
          <a:p>
            <a:pPr indent="-342900" lvl="0" marL="342900" rtl="0" algn="l">
              <a:lnSpc>
                <a:spcPct val="80000"/>
              </a:lnSpc>
              <a:spcBef>
                <a:spcPts val="480"/>
              </a:spcBef>
              <a:spcAft>
                <a:spcPts val="0"/>
              </a:spcAft>
              <a:buClr>
                <a:schemeClr val="dk1"/>
              </a:buClr>
              <a:buSzPts val="2400"/>
              <a:buFont typeface="Courier New"/>
              <a:buNone/>
            </a:pPr>
            <a:r>
              <a:rPr b="1" lang="en-US" sz="2400">
                <a:latin typeface="Courier New"/>
                <a:ea typeface="Courier New"/>
                <a:cs typeface="Courier New"/>
                <a:sym typeface="Courier New"/>
              </a:rPr>
              <a:t>			&lt;&lt; " grade: " &lt;&lt; grade[i]</a:t>
            </a:r>
            <a:endParaRPr/>
          </a:p>
          <a:p>
            <a:pPr indent="-342900" lvl="0" marL="342900" rtl="0" algn="l">
              <a:lnSpc>
                <a:spcPct val="80000"/>
              </a:lnSpc>
              <a:spcBef>
                <a:spcPts val="480"/>
              </a:spcBef>
              <a:spcAft>
                <a:spcPts val="0"/>
              </a:spcAft>
              <a:buClr>
                <a:schemeClr val="dk1"/>
              </a:buClr>
              <a:buSzPts val="2400"/>
              <a:buFont typeface="Calibri"/>
              <a:buNone/>
            </a:pPr>
            <a:r>
              <a:rPr b="1" lang="en-US" sz="2400"/>
              <a:t>	</a:t>
            </a:r>
            <a:r>
              <a:rPr b="1" lang="en-US" sz="2400">
                <a:latin typeface="Courier New"/>
                <a:ea typeface="Courier New"/>
                <a:cs typeface="Courier New"/>
                <a:sym typeface="Courier New"/>
              </a:rPr>
              <a:t>		&lt;&lt; endl;</a:t>
            </a:r>
            <a:br>
              <a:rPr b="1" lang="en-US" sz="2400">
                <a:latin typeface="Courier New"/>
                <a:ea typeface="Courier New"/>
                <a:cs typeface="Courier New"/>
                <a:sym typeface="Courier New"/>
              </a:rPr>
            </a:br>
            <a:r>
              <a:rPr b="1" lang="en-US" sz="2400">
                <a:latin typeface="Courier New"/>
                <a:ea typeface="Courier New"/>
                <a:cs typeface="Courier New"/>
                <a:sym typeface="Courier New"/>
              </a:rPr>
              <a:t>}</a:t>
            </a:r>
            <a:endParaRPr b="1" sz="24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2"/>
          <p:cNvPicPr preferRelativeResize="0"/>
          <p:nvPr/>
        </p:nvPicPr>
        <p:blipFill rotWithShape="1">
          <a:blip r:embed="rId3">
            <a:alphaModFix/>
          </a:blip>
          <a:srcRect b="0" l="0" r="0" t="0"/>
          <a:stretch/>
        </p:blipFill>
        <p:spPr>
          <a:xfrm>
            <a:off x="0" y="836613"/>
            <a:ext cx="9144000" cy="5688012"/>
          </a:xfrm>
          <a:prstGeom prst="rect">
            <a:avLst/>
          </a:prstGeom>
          <a:noFill/>
          <a:ln>
            <a:noFill/>
          </a:ln>
        </p:spPr>
      </p:pic>
      <p:sp>
        <p:nvSpPr>
          <p:cNvPr id="359" name="Google Shape;359;p42"/>
          <p:cNvSpPr txBox="1"/>
          <p:nvPr/>
        </p:nvSpPr>
        <p:spPr>
          <a:xfrm>
            <a:off x="5746750" y="6400800"/>
            <a:ext cx="30162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libri"/>
                <a:ea typeface="Calibri"/>
                <a:cs typeface="Calibri"/>
                <a:sym typeface="Calibri"/>
              </a:rPr>
              <a:t>(Program Continues)</a:t>
            </a:r>
            <a:endParaRPr b="0" i="0" sz="1400" u="none" cap="none" strike="noStrike">
              <a:solidFill>
                <a:srgbClr val="000000"/>
              </a:solidFill>
              <a:latin typeface="Arial"/>
              <a:ea typeface="Arial"/>
              <a:cs typeface="Arial"/>
              <a:sym typeface="Arial"/>
            </a:endParaRPr>
          </a:p>
        </p:txBody>
      </p:sp>
      <p:sp>
        <p:nvSpPr>
          <p:cNvPr id="360" name="Google Shape;360;p42"/>
          <p:cNvSpPr/>
          <p:nvPr/>
        </p:nvSpPr>
        <p:spPr>
          <a:xfrm>
            <a:off x="0" y="0"/>
            <a:ext cx="9144000" cy="7651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Parallel Array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3"/>
          <p:cNvPicPr preferRelativeResize="0"/>
          <p:nvPr/>
        </p:nvPicPr>
        <p:blipFill rotWithShape="1">
          <a:blip r:embed="rId3">
            <a:alphaModFix/>
          </a:blip>
          <a:srcRect b="0" l="0" r="0" t="0"/>
          <a:stretch/>
        </p:blipFill>
        <p:spPr>
          <a:xfrm>
            <a:off x="0" y="1268413"/>
            <a:ext cx="9144000" cy="5589587"/>
          </a:xfrm>
          <a:prstGeom prst="rect">
            <a:avLst/>
          </a:prstGeom>
          <a:noFill/>
          <a:ln>
            <a:noFill/>
          </a:ln>
        </p:spPr>
      </p:pic>
      <p:sp>
        <p:nvSpPr>
          <p:cNvPr id="366" name="Google Shape;366;p43"/>
          <p:cNvSpPr txBox="1"/>
          <p:nvPr/>
        </p:nvSpPr>
        <p:spPr>
          <a:xfrm>
            <a:off x="0" y="692150"/>
            <a:ext cx="7165975"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3333CC"/>
                </a:solidFill>
                <a:latin typeface="Calibri"/>
                <a:ea typeface="Calibri"/>
                <a:cs typeface="Calibri"/>
                <a:sym typeface="Calibri"/>
              </a:rPr>
              <a:t>Program 7-12</a:t>
            </a:r>
            <a:r>
              <a:rPr b="0" i="1" lang="en-US" sz="3600" u="none" cap="none" strike="noStrike">
                <a:solidFill>
                  <a:srgbClr val="3333CC"/>
                </a:solidFill>
                <a:latin typeface="Calibri"/>
                <a:ea typeface="Calibri"/>
                <a:cs typeface="Calibri"/>
                <a:sym typeface="Calibri"/>
              </a:rPr>
              <a:t> (Continued)</a:t>
            </a:r>
            <a:endParaRPr b="0" i="0" sz="1400" u="none" cap="none" strike="noStrike">
              <a:solidFill>
                <a:srgbClr val="000000"/>
              </a:solidFill>
              <a:latin typeface="Arial"/>
              <a:ea typeface="Arial"/>
              <a:cs typeface="Arial"/>
              <a:sym typeface="Arial"/>
            </a:endParaRPr>
          </a:p>
        </p:txBody>
      </p:sp>
      <p:sp>
        <p:nvSpPr>
          <p:cNvPr id="367" name="Google Shape;367;p43"/>
          <p:cNvSpPr/>
          <p:nvPr/>
        </p:nvSpPr>
        <p:spPr>
          <a:xfrm>
            <a:off x="0" y="0"/>
            <a:ext cx="9144000" cy="5492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Parallel Array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44"/>
          <p:cNvPicPr preferRelativeResize="0"/>
          <p:nvPr/>
        </p:nvPicPr>
        <p:blipFill rotWithShape="1">
          <a:blip r:embed="rId3">
            <a:alphaModFix/>
          </a:blip>
          <a:srcRect b="0" l="0" r="0" t="0"/>
          <a:stretch/>
        </p:blipFill>
        <p:spPr>
          <a:xfrm>
            <a:off x="1187450" y="692150"/>
            <a:ext cx="5813425" cy="1571625"/>
          </a:xfrm>
          <a:prstGeom prst="rect">
            <a:avLst/>
          </a:prstGeom>
          <a:noFill/>
          <a:ln>
            <a:noFill/>
          </a:ln>
        </p:spPr>
      </p:pic>
      <p:pic>
        <p:nvPicPr>
          <p:cNvPr descr="0714sowc copy" id="373" name="Google Shape;373;p44"/>
          <p:cNvPicPr preferRelativeResize="0"/>
          <p:nvPr/>
        </p:nvPicPr>
        <p:blipFill rotWithShape="1">
          <a:blip r:embed="rId4">
            <a:alphaModFix/>
          </a:blip>
          <a:srcRect b="0" l="0" r="0" t="0"/>
          <a:stretch/>
        </p:blipFill>
        <p:spPr>
          <a:xfrm>
            <a:off x="1187450" y="3284538"/>
            <a:ext cx="5943600" cy="2744787"/>
          </a:xfrm>
          <a:prstGeom prst="rect">
            <a:avLst/>
          </a:prstGeom>
          <a:noFill/>
          <a:ln>
            <a:noFill/>
          </a:ln>
        </p:spPr>
      </p:pic>
      <p:sp>
        <p:nvSpPr>
          <p:cNvPr id="374" name="Google Shape;374;p44"/>
          <p:cNvSpPr txBox="1"/>
          <p:nvPr/>
        </p:nvSpPr>
        <p:spPr>
          <a:xfrm>
            <a:off x="0" y="2420938"/>
            <a:ext cx="80010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The </a:t>
            </a:r>
            <a:r>
              <a:rPr b="0" i="0" lang="en-US" sz="2400" u="none" cap="none" strike="noStrike">
                <a:solidFill>
                  <a:schemeClr val="dk1"/>
                </a:solidFill>
                <a:latin typeface="Courier New"/>
                <a:ea typeface="Courier New"/>
                <a:cs typeface="Courier New"/>
                <a:sym typeface="Courier New"/>
              </a:rPr>
              <a:t>hours</a:t>
            </a:r>
            <a:r>
              <a:rPr b="0" i="0" lang="en-US" sz="2400" u="none" cap="none" strike="noStrike">
                <a:solidFill>
                  <a:schemeClr val="dk1"/>
                </a:solidFill>
                <a:latin typeface="Calibri"/>
                <a:ea typeface="Calibri"/>
                <a:cs typeface="Calibri"/>
                <a:sym typeface="Calibri"/>
              </a:rPr>
              <a:t> and </a:t>
            </a:r>
            <a:r>
              <a:rPr b="0" i="0" lang="en-US" sz="2400" u="none" cap="none" strike="noStrike">
                <a:solidFill>
                  <a:schemeClr val="dk1"/>
                </a:solidFill>
                <a:latin typeface="Courier New"/>
                <a:ea typeface="Courier New"/>
                <a:cs typeface="Courier New"/>
                <a:sym typeface="Courier New"/>
              </a:rPr>
              <a:t>payRate</a:t>
            </a:r>
            <a:r>
              <a:rPr b="0" i="0" lang="en-US" sz="2400" u="none" cap="none" strike="noStrike">
                <a:solidFill>
                  <a:schemeClr val="dk1"/>
                </a:solidFill>
                <a:latin typeface="Calibri"/>
                <a:ea typeface="Calibri"/>
                <a:cs typeface="Calibri"/>
                <a:sym typeface="Calibri"/>
              </a:rPr>
              <a:t> arrays are related through their subscripts:</a:t>
            </a:r>
            <a:endParaRPr b="0" i="0" sz="1400" u="none" cap="none" strike="noStrike">
              <a:solidFill>
                <a:srgbClr val="000000"/>
              </a:solidFill>
              <a:latin typeface="Arial"/>
              <a:ea typeface="Arial"/>
              <a:cs typeface="Arial"/>
              <a:sym typeface="Arial"/>
            </a:endParaRPr>
          </a:p>
        </p:txBody>
      </p:sp>
      <p:sp>
        <p:nvSpPr>
          <p:cNvPr id="375" name="Google Shape;375;p44"/>
          <p:cNvSpPr/>
          <p:nvPr/>
        </p:nvSpPr>
        <p:spPr>
          <a:xfrm>
            <a:off x="0" y="0"/>
            <a:ext cx="9144000" cy="7651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Parallel Array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5"/>
          <p:cNvSpPr/>
          <p:nvPr/>
        </p:nvSpPr>
        <p:spPr>
          <a:xfrm>
            <a:off x="0" y="146050"/>
            <a:ext cx="9144000" cy="6921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In-Class Exercise</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179388" y="1214437"/>
            <a:ext cx="8294687" cy="9906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What is the output of the following code? </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(You may need to use a calculator.) </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36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36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28600" lvl="0" marL="342900" marR="0" rtl="0" algn="l">
              <a:lnSpc>
                <a:spcPct val="100000"/>
              </a:lnSpc>
              <a:spcBef>
                <a:spcPts val="36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28600" lvl="0" marL="342900" marR="0" rtl="0" algn="l">
              <a:lnSpc>
                <a:spcPct val="100000"/>
              </a:lnSpc>
              <a:spcBef>
                <a:spcPts val="36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2" name="Google Shape;382;p45"/>
          <p:cNvSpPr txBox="1"/>
          <p:nvPr/>
        </p:nvSpPr>
        <p:spPr>
          <a:xfrm>
            <a:off x="611188" y="2222500"/>
            <a:ext cx="7743825" cy="34163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const int SIZE = 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int time[SIZE] = {1, 2, 3, 4,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speed[SIZE] = {18, 4, 27, 52, 100},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dist[SIZE];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for (int count = 0; count &lt; SIZE; count++)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dist[count] = time[count] * speed[count];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for (int count = 0; count &lt; SIZE; count++)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cout &lt;&lt; time[count] &lt;&lt;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cout &lt;&lt; speed[count] &lt;&lt;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cout « dist[count] &lt;&lt; endl;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388" name="Google Shape;388;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Write a program that store the populations of 5 countries. Define 2 arrays that may be used in parallel to store the names of the countries and their populations. Write a loop that uses these arrays to print each country’s name and its population.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7"/>
          <p:cNvSpPr txBox="1"/>
          <p:nvPr>
            <p:ph type="title"/>
          </p:nvPr>
        </p:nvSpPr>
        <p:spPr>
          <a:xfrm>
            <a:off x="4572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Arrays as Function Arguments</a:t>
            </a:r>
            <a:endParaRPr/>
          </a:p>
        </p:txBody>
      </p:sp>
      <p:sp>
        <p:nvSpPr>
          <p:cNvPr id="394" name="Google Shape;394;p47"/>
          <p:cNvSpPr txBox="1"/>
          <p:nvPr>
            <p:ph idx="1" type="body"/>
          </p:nvPr>
        </p:nvSpPr>
        <p:spPr>
          <a:xfrm>
            <a:off x="0" y="1828800"/>
            <a:ext cx="9144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3200"/>
              <a:buChar char="•"/>
            </a:pPr>
            <a:r>
              <a:rPr lang="en-US"/>
              <a:t>To pass an array to a function, just use the array name:</a:t>
            </a:r>
            <a:endParaRPr/>
          </a:p>
          <a:p>
            <a:pPr indent="-285750" lvl="1" marL="742950" rtl="0" algn="l">
              <a:lnSpc>
                <a:spcPct val="80000"/>
              </a:lnSpc>
              <a:spcBef>
                <a:spcPts val="560"/>
              </a:spcBef>
              <a:spcAft>
                <a:spcPts val="0"/>
              </a:spcAft>
              <a:buClr>
                <a:schemeClr val="dk1"/>
              </a:buClr>
              <a:buSzPts val="2400"/>
              <a:buFont typeface="Calibri"/>
              <a:buNone/>
            </a:pPr>
            <a:r>
              <a:rPr lang="en-US" sz="2400"/>
              <a:t>	</a:t>
            </a:r>
            <a:r>
              <a:rPr lang="en-US">
                <a:latin typeface="Courier New"/>
                <a:ea typeface="Courier New"/>
                <a:cs typeface="Courier New"/>
                <a:sym typeface="Courier New"/>
              </a:rPr>
              <a:t>showScores(tests);</a:t>
            </a:r>
            <a:endParaRPr/>
          </a:p>
          <a:p>
            <a:pPr indent="-285750" lvl="1" marL="742950" rtl="0" algn="l">
              <a:lnSpc>
                <a:spcPct val="80000"/>
              </a:lnSpc>
              <a:spcBef>
                <a:spcPts val="560"/>
              </a:spcBef>
              <a:spcAft>
                <a:spcPts val="0"/>
              </a:spcAft>
              <a:buClr>
                <a:schemeClr val="dk1"/>
              </a:buClr>
              <a:buSzPts val="2800"/>
              <a:buFont typeface="Calibri"/>
              <a:buNone/>
            </a:pPr>
            <a:r>
              <a:t/>
            </a:r>
            <a:endParaRPr/>
          </a:p>
          <a:p>
            <a:pPr indent="-342900" lvl="0" marL="342900" rtl="0" algn="l">
              <a:lnSpc>
                <a:spcPct val="80000"/>
              </a:lnSpc>
              <a:spcBef>
                <a:spcPts val="640"/>
              </a:spcBef>
              <a:spcAft>
                <a:spcPts val="0"/>
              </a:spcAft>
              <a:buClr>
                <a:schemeClr val="dk1"/>
              </a:buClr>
              <a:buSzPts val="3200"/>
              <a:buChar char="•"/>
            </a:pPr>
            <a:r>
              <a:rPr lang="en-US"/>
              <a:t>To define a function that takes an array parameter, use empty </a:t>
            </a:r>
            <a:r>
              <a:rPr lang="en-US">
                <a:latin typeface="Courier New"/>
                <a:ea typeface="Courier New"/>
                <a:cs typeface="Courier New"/>
                <a:sym typeface="Courier New"/>
              </a:rPr>
              <a:t>[]</a:t>
            </a:r>
            <a:r>
              <a:rPr lang="en-US"/>
              <a:t> for array argument:</a:t>
            </a:r>
            <a:endParaRPr/>
          </a:p>
          <a:p>
            <a:pPr indent="-285750" lvl="1" marL="742950" rtl="0" algn="l">
              <a:lnSpc>
                <a:spcPct val="80000"/>
              </a:lnSpc>
              <a:spcBef>
                <a:spcPts val="480"/>
              </a:spcBef>
              <a:spcAft>
                <a:spcPts val="0"/>
              </a:spcAft>
              <a:buClr>
                <a:schemeClr val="dk1"/>
              </a:buClr>
              <a:buSzPts val="2400"/>
              <a:buFont typeface="Courier New"/>
              <a:buNone/>
            </a:pPr>
            <a:r>
              <a:rPr lang="en-US" sz="2400">
                <a:latin typeface="Courier New"/>
                <a:ea typeface="Courier New"/>
                <a:cs typeface="Courier New"/>
                <a:sym typeface="Courier New"/>
              </a:rPr>
              <a:t>void showScores(int []); // function prototype</a:t>
            </a:r>
            <a:endParaRPr/>
          </a:p>
          <a:p>
            <a:pPr indent="-285750" lvl="1" marL="742950" rtl="0" algn="l">
              <a:lnSpc>
                <a:spcPct val="80000"/>
              </a:lnSpc>
              <a:spcBef>
                <a:spcPts val="480"/>
              </a:spcBef>
              <a:spcAft>
                <a:spcPts val="0"/>
              </a:spcAft>
              <a:buClr>
                <a:schemeClr val="dk1"/>
              </a:buClr>
              <a:buSzPts val="2400"/>
              <a:buFont typeface="Courier New"/>
              <a:buNone/>
            </a:pPr>
            <a:r>
              <a:rPr lang="en-US" sz="2400">
                <a:latin typeface="Courier New"/>
                <a:ea typeface="Courier New"/>
                <a:cs typeface="Courier New"/>
                <a:sym typeface="Courier New"/>
              </a:rPr>
              <a:t>void showScores(int tests[])// function header</a:t>
            </a:r>
            <a:endParaRPr sz="24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8"/>
          <p:cNvSpPr txBox="1"/>
          <p:nvPr>
            <p:ph type="title"/>
          </p:nvPr>
        </p:nvSpPr>
        <p:spPr>
          <a:xfrm>
            <a:off x="533400" y="457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Arrays as Function Arguments</a:t>
            </a:r>
            <a:endParaRPr/>
          </a:p>
        </p:txBody>
      </p:sp>
      <p:sp>
        <p:nvSpPr>
          <p:cNvPr id="400" name="Google Shape;400;p48"/>
          <p:cNvSpPr txBox="1"/>
          <p:nvPr>
            <p:ph idx="1" type="body"/>
          </p:nvPr>
        </p:nvSpPr>
        <p:spPr>
          <a:xfrm>
            <a:off x="304800" y="1752600"/>
            <a:ext cx="8915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0000"/>
              </a:lnSpc>
              <a:spcBef>
                <a:spcPts val="0"/>
              </a:spcBef>
              <a:spcAft>
                <a:spcPts val="0"/>
              </a:spcAft>
              <a:buClr>
                <a:schemeClr val="dk1"/>
              </a:buClr>
              <a:buSzPts val="3200"/>
              <a:buChar char="•"/>
            </a:pPr>
            <a:r>
              <a:rPr lang="en-US"/>
              <a:t>When passing an array to a function, it is common to pass array size so that function knows how many elements to process:</a:t>
            </a:r>
            <a:endParaRPr/>
          </a:p>
          <a:p>
            <a:pPr indent="-285750" lvl="1" marL="742950" rtl="0" algn="l">
              <a:lnSpc>
                <a:spcPct val="80000"/>
              </a:lnSpc>
              <a:spcBef>
                <a:spcPts val="560"/>
              </a:spcBef>
              <a:spcAft>
                <a:spcPts val="0"/>
              </a:spcAft>
              <a:buClr>
                <a:schemeClr val="dk1"/>
              </a:buClr>
              <a:buSzPts val="2400"/>
              <a:buFont typeface="Calibri"/>
              <a:buNone/>
            </a:pPr>
            <a:r>
              <a:rPr lang="en-US" sz="2400"/>
              <a:t>	</a:t>
            </a:r>
            <a:r>
              <a:rPr lang="en-US">
                <a:latin typeface="Courier New"/>
                <a:ea typeface="Courier New"/>
                <a:cs typeface="Courier New"/>
                <a:sym typeface="Courier New"/>
              </a:rPr>
              <a:t>showScores(tests, ARRAY_SIZE);</a:t>
            </a:r>
            <a:endParaRPr/>
          </a:p>
          <a:p>
            <a:pPr indent="-342900" lvl="0" marL="342900" rtl="0" algn="l">
              <a:lnSpc>
                <a:spcPct val="80000"/>
              </a:lnSpc>
              <a:spcBef>
                <a:spcPts val="640"/>
              </a:spcBef>
              <a:spcAft>
                <a:spcPts val="0"/>
              </a:spcAft>
              <a:buClr>
                <a:schemeClr val="dk1"/>
              </a:buClr>
              <a:buSzPts val="3200"/>
              <a:buChar char="•"/>
            </a:pPr>
            <a:r>
              <a:rPr lang="en-US"/>
              <a:t>Array size must also be reflected in prototype, header:</a:t>
            </a:r>
            <a:endParaRPr/>
          </a:p>
          <a:p>
            <a:pPr indent="-285750" lvl="1" marL="742950" rtl="0" algn="l">
              <a:lnSpc>
                <a:spcPct val="8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void showScores(int [], int); </a:t>
            </a:r>
            <a:endParaRPr/>
          </a:p>
          <a:p>
            <a:pPr indent="-285750" lvl="1" marL="742950" rtl="0" algn="l">
              <a:lnSpc>
                <a:spcPct val="8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 function prototype</a:t>
            </a:r>
            <a:endParaRPr/>
          </a:p>
          <a:p>
            <a:pPr indent="-285750" lvl="1" marL="742950" rtl="0" algn="l">
              <a:lnSpc>
                <a:spcPct val="8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void showScores(int tests[], int size) </a:t>
            </a:r>
            <a:endParaRPr/>
          </a:p>
          <a:p>
            <a:pPr indent="-285750" lvl="1" marL="742950" rtl="0" algn="l">
              <a:lnSpc>
                <a:spcPct val="80000"/>
              </a:lnSpc>
              <a:spcBef>
                <a:spcPts val="560"/>
              </a:spcBef>
              <a:spcAft>
                <a:spcPts val="0"/>
              </a:spcAft>
              <a:buClr>
                <a:schemeClr val="dk1"/>
              </a:buClr>
              <a:buSzPts val="2800"/>
              <a:buFont typeface="Courier New"/>
              <a:buNone/>
            </a:pPr>
            <a:r>
              <a:rPr lang="en-US">
                <a:latin typeface="Courier New"/>
                <a:ea typeface="Courier New"/>
                <a:cs typeface="Courier New"/>
                <a:sym typeface="Courier New"/>
              </a:rPr>
              <a:t>				// function header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49"/>
          <p:cNvPicPr preferRelativeResize="0"/>
          <p:nvPr/>
        </p:nvPicPr>
        <p:blipFill rotWithShape="1">
          <a:blip r:embed="rId3">
            <a:alphaModFix/>
          </a:blip>
          <a:srcRect b="0" l="0" r="0" t="0"/>
          <a:stretch/>
        </p:blipFill>
        <p:spPr>
          <a:xfrm>
            <a:off x="179388" y="1196975"/>
            <a:ext cx="8785225" cy="5327650"/>
          </a:xfrm>
          <a:prstGeom prst="rect">
            <a:avLst/>
          </a:prstGeom>
          <a:noFill/>
          <a:ln>
            <a:noFill/>
          </a:ln>
        </p:spPr>
      </p:pic>
      <p:sp>
        <p:nvSpPr>
          <p:cNvPr id="406" name="Google Shape;406;p49"/>
          <p:cNvSpPr txBox="1"/>
          <p:nvPr/>
        </p:nvSpPr>
        <p:spPr>
          <a:xfrm>
            <a:off x="5746750" y="5943600"/>
            <a:ext cx="30162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libri"/>
                <a:ea typeface="Calibri"/>
                <a:cs typeface="Calibri"/>
                <a:sym typeface="Calibri"/>
              </a:rPr>
              <a:t>(Program Continues)</a:t>
            </a:r>
            <a:endParaRPr b="0" i="0" sz="1400" u="none" cap="none" strike="noStrike">
              <a:solidFill>
                <a:srgbClr val="000000"/>
              </a:solidFill>
              <a:latin typeface="Arial"/>
              <a:ea typeface="Arial"/>
              <a:cs typeface="Arial"/>
              <a:sym typeface="Arial"/>
            </a:endParaRPr>
          </a:p>
        </p:txBody>
      </p:sp>
      <p:sp>
        <p:nvSpPr>
          <p:cNvPr id="407" name="Google Shape;407;p49"/>
          <p:cNvSpPr/>
          <p:nvPr/>
        </p:nvSpPr>
        <p:spPr>
          <a:xfrm>
            <a:off x="0" y="304800"/>
            <a:ext cx="9144000" cy="105251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Arrays as Function Arguments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50"/>
          <p:cNvPicPr preferRelativeResize="0"/>
          <p:nvPr/>
        </p:nvPicPr>
        <p:blipFill rotWithShape="1">
          <a:blip r:embed="rId3">
            <a:alphaModFix/>
          </a:blip>
          <a:srcRect b="0" l="0" r="0" t="0"/>
          <a:stretch/>
        </p:blipFill>
        <p:spPr>
          <a:xfrm>
            <a:off x="250825" y="1700213"/>
            <a:ext cx="8569325" cy="4608512"/>
          </a:xfrm>
          <a:prstGeom prst="rect">
            <a:avLst/>
          </a:prstGeom>
          <a:noFill/>
          <a:ln>
            <a:noFill/>
          </a:ln>
        </p:spPr>
      </p:pic>
      <p:sp>
        <p:nvSpPr>
          <p:cNvPr id="413" name="Google Shape;413;p50"/>
          <p:cNvSpPr txBox="1"/>
          <p:nvPr/>
        </p:nvSpPr>
        <p:spPr>
          <a:xfrm>
            <a:off x="0" y="836613"/>
            <a:ext cx="7165975"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3333CC"/>
                </a:solidFill>
                <a:latin typeface="Calibri"/>
                <a:ea typeface="Calibri"/>
                <a:cs typeface="Calibri"/>
                <a:sym typeface="Calibri"/>
              </a:rPr>
              <a:t>Program 7-14</a:t>
            </a:r>
            <a:r>
              <a:rPr b="0" i="1" lang="en-US" sz="3600" u="none" cap="none" strike="noStrike">
                <a:solidFill>
                  <a:srgbClr val="3333CC"/>
                </a:solidFill>
                <a:latin typeface="Calibri"/>
                <a:ea typeface="Calibri"/>
                <a:cs typeface="Calibri"/>
                <a:sym typeface="Calibri"/>
              </a:rPr>
              <a:t> (Continued)</a:t>
            </a:r>
            <a:endParaRPr b="0" i="0" sz="1400" u="none" cap="none" strike="noStrike">
              <a:solidFill>
                <a:srgbClr val="000000"/>
              </a:solidFill>
              <a:latin typeface="Arial"/>
              <a:ea typeface="Arial"/>
              <a:cs typeface="Arial"/>
              <a:sym typeface="Arial"/>
            </a:endParaRPr>
          </a:p>
        </p:txBody>
      </p:sp>
      <p:sp>
        <p:nvSpPr>
          <p:cNvPr id="414" name="Google Shape;414;p50"/>
          <p:cNvSpPr/>
          <p:nvPr/>
        </p:nvSpPr>
        <p:spPr>
          <a:xfrm>
            <a:off x="1600200" y="228600"/>
            <a:ext cx="6858000" cy="908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Arrays as Function Arguments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ph type="title"/>
          </p:nvPr>
        </p:nvSpPr>
        <p:spPr>
          <a:xfrm>
            <a:off x="457200" y="533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Modifying Arrays in Functions</a:t>
            </a:r>
            <a:endParaRPr/>
          </a:p>
        </p:txBody>
      </p:sp>
      <p:sp>
        <p:nvSpPr>
          <p:cNvPr id="420" name="Google Shape;420;p51"/>
          <p:cNvSpPr txBox="1"/>
          <p:nvPr>
            <p:ph idx="1" type="body"/>
          </p:nvPr>
        </p:nvSpPr>
        <p:spPr>
          <a:xfrm>
            <a:off x="304800" y="1752600"/>
            <a:ext cx="8294688"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Array names in functions are like  reference variables – changes made to array in a function are reflected in actual array in calling function</a:t>
            </a:r>
            <a:br>
              <a:rPr lang="en-US"/>
            </a:br>
            <a:endParaRPr/>
          </a:p>
          <a:p>
            <a:pPr indent="-342900" lvl="0" marL="342900" rtl="0" algn="l">
              <a:lnSpc>
                <a:spcPct val="100000"/>
              </a:lnSpc>
              <a:spcBef>
                <a:spcPts val="640"/>
              </a:spcBef>
              <a:spcAft>
                <a:spcPts val="0"/>
              </a:spcAft>
              <a:buClr>
                <a:schemeClr val="dk1"/>
              </a:buClr>
              <a:buSzPts val="3200"/>
              <a:buChar char="•"/>
            </a:pPr>
            <a:r>
              <a:rPr lang="en-US"/>
              <a:t>Need to exercise caution that array is not inadvertently changed by a function</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p:nvPr/>
        </p:nvSpPr>
        <p:spPr>
          <a:xfrm>
            <a:off x="0" y="146050"/>
            <a:ext cx="9144000" cy="6921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In-Class Exercise</a:t>
            </a:r>
            <a:endParaRPr b="0" i="0" sz="1400" u="none" cap="none" strike="noStrike">
              <a:solidFill>
                <a:srgbClr val="000000"/>
              </a:solidFill>
              <a:latin typeface="Arial"/>
              <a:ea typeface="Arial"/>
              <a:cs typeface="Arial"/>
              <a:sym typeface="Arial"/>
            </a:endParaRPr>
          </a:p>
        </p:txBody>
      </p:sp>
      <p:sp>
        <p:nvSpPr>
          <p:cNvPr id="426" name="Google Shape;426;p52"/>
          <p:cNvSpPr/>
          <p:nvPr/>
        </p:nvSpPr>
        <p:spPr>
          <a:xfrm>
            <a:off x="250825" y="908050"/>
            <a:ext cx="8294688" cy="9906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The following program skeleton, when completed, will ask the user to enter 10 integers which are stored in an array. The function </a:t>
            </a:r>
            <a:r>
              <a:rPr b="0" i="0" lang="en-US" sz="2400" u="none" cap="none" strike="noStrike">
                <a:solidFill>
                  <a:schemeClr val="dk1"/>
                </a:solidFill>
                <a:latin typeface="Courier New"/>
                <a:ea typeface="Courier New"/>
                <a:cs typeface="Courier New"/>
                <a:sym typeface="Courier New"/>
              </a:rPr>
              <a:t>avgArray</a:t>
            </a:r>
            <a:r>
              <a:rPr b="0" i="0" lang="en-US" sz="2400" u="none" cap="none" strike="noStrike">
                <a:solidFill>
                  <a:schemeClr val="dk1"/>
                </a:solidFill>
                <a:latin typeface="Calibri"/>
                <a:ea typeface="Calibri"/>
                <a:cs typeface="Calibri"/>
                <a:sym typeface="Calibri"/>
              </a:rPr>
              <a:t>, which you must write, is to calculate and return the average of the numbers entered. </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427" name="Google Shape;427;p52"/>
          <p:cNvSpPr txBox="1"/>
          <p:nvPr/>
        </p:nvSpPr>
        <p:spPr>
          <a:xfrm>
            <a:off x="395288" y="2492375"/>
            <a:ext cx="8294687" cy="3768725"/>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#include &lt;iostream&gt;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//Write your function prototype here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int main()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const int SIZE =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int userNums[SIZE];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cout &lt;&lt; "Enter 10 numbers: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for (int count = 0; count &lt; SIZE; count++){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cout &lt;&lt; "#" « (count + 1) &lt;&lt;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cin &gt;&gt; userNums[count];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cout &lt;&lt;  "The average of those numbers is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cout &lt;&lt; avgArray(userNUms, SIZE) &lt;&lt; endl;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return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urier New"/>
                <a:ea typeface="Courier New"/>
                <a:cs typeface="Courier New"/>
                <a:sym typeface="Courier New"/>
              </a:rPr>
              <a:t>//Write the function avgArray here.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3"/>
          <p:cNvSpPr txBox="1"/>
          <p:nvPr>
            <p:ph type="title"/>
          </p:nvPr>
        </p:nvSpPr>
        <p:spPr>
          <a:xfrm>
            <a:off x="914400" y="0"/>
            <a:ext cx="8229600" cy="8366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433" name="Google Shape;433;p53"/>
          <p:cNvSpPr txBox="1"/>
          <p:nvPr>
            <p:ph idx="1" type="body"/>
          </p:nvPr>
        </p:nvSpPr>
        <p:spPr>
          <a:xfrm>
            <a:off x="381000" y="990600"/>
            <a:ext cx="4433888"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Font typeface="Arial"/>
              <a:buNone/>
            </a:pPr>
            <a:r>
              <a:rPr lang="en-US" sz="2000">
                <a:latin typeface="Courier New"/>
                <a:ea typeface="Courier New"/>
                <a:cs typeface="Courier New"/>
                <a:sym typeface="Courier New"/>
              </a:rPr>
              <a:t>#include &lt;iostream&gt;</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using namespace std;</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void Test(int []);</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int main()</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a:t>
            </a:r>
            <a:endParaRPr/>
          </a:p>
          <a:p>
            <a:pPr indent="-342900" lvl="0" marL="342900" rtl="0" algn="l">
              <a:lnSpc>
                <a:spcPct val="100000"/>
              </a:lnSpc>
              <a:spcBef>
                <a:spcPts val="370"/>
              </a:spcBef>
              <a:spcAft>
                <a:spcPts val="0"/>
              </a:spcAft>
              <a:buClr>
                <a:schemeClr val="dk1"/>
              </a:buClr>
              <a:buSzPct val="100000"/>
              <a:buFont typeface="Arial"/>
              <a:buNone/>
            </a:pPr>
            <a:r>
              <a:rPr b="1" lang="en-US" sz="2000">
                <a:latin typeface="Courier New"/>
                <a:ea typeface="Courier New"/>
                <a:cs typeface="Courier New"/>
                <a:sym typeface="Courier New"/>
              </a:rPr>
              <a:t>int myArr [4]={3,4,5,6};</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for(int i=0;i&lt;4;i++)</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cout&lt;&lt;myArr[i]&lt;&lt;" ";</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cout&lt;&lt;endl;</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Test(myArr);</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cout&lt;&lt;endl;</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for(int i=0;i&lt;4;i++)</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cout&lt;&lt;myArr[i]&lt;&lt;" ";</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system("pause");</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return 0;}</a:t>
            </a:r>
            <a:endParaRPr/>
          </a:p>
          <a:p>
            <a:pPr indent="-342900" lvl="0" marL="342900" rtl="0" algn="l">
              <a:lnSpc>
                <a:spcPct val="100000"/>
              </a:lnSpc>
              <a:spcBef>
                <a:spcPts val="518"/>
              </a:spcBef>
              <a:spcAft>
                <a:spcPts val="0"/>
              </a:spcAft>
              <a:buClr>
                <a:schemeClr val="dk1"/>
              </a:buClr>
              <a:buSzPct val="100000"/>
              <a:buFont typeface="Arial"/>
              <a:buNone/>
            </a:pPr>
            <a:r>
              <a:t/>
            </a:r>
            <a:endParaRPr/>
          </a:p>
          <a:p>
            <a:pPr indent="-342900" lvl="0" marL="342900" rtl="0" algn="l">
              <a:lnSpc>
                <a:spcPct val="100000"/>
              </a:lnSpc>
              <a:spcBef>
                <a:spcPts val="518"/>
              </a:spcBef>
              <a:spcAft>
                <a:spcPts val="0"/>
              </a:spcAft>
              <a:buClr>
                <a:schemeClr val="dk1"/>
              </a:buClr>
              <a:buSzPct val="100000"/>
              <a:buFont typeface="Arial"/>
              <a:buNone/>
            </a:pPr>
            <a:r>
              <a:t/>
            </a:r>
            <a:endParaRPr/>
          </a:p>
        </p:txBody>
      </p:sp>
      <p:sp>
        <p:nvSpPr>
          <p:cNvPr id="434" name="Google Shape;434;p53"/>
          <p:cNvSpPr txBox="1"/>
          <p:nvPr>
            <p:ph idx="2" type="body"/>
          </p:nvPr>
        </p:nvSpPr>
        <p:spPr>
          <a:xfrm>
            <a:off x="4648200" y="990600"/>
            <a:ext cx="4038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Font typeface="Arial"/>
              <a:buNone/>
            </a:pPr>
            <a:r>
              <a:rPr lang="en-US" sz="2400">
                <a:latin typeface="Courier New"/>
                <a:ea typeface="Courier New"/>
                <a:cs typeface="Courier New"/>
                <a:sym typeface="Courier New"/>
              </a:rPr>
              <a:t>void Test(int z[])</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	</a:t>
            </a:r>
            <a:r>
              <a:rPr b="1" lang="en-US" sz="2400">
                <a:latin typeface="Courier New"/>
                <a:ea typeface="Courier New"/>
                <a:cs typeface="Courier New"/>
                <a:sym typeface="Courier New"/>
              </a:rPr>
              <a:t>int temp=z[3];</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   z[3]=z[0];</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   z[0]=temp;</a:t>
            </a:r>
            <a:endParaRPr/>
          </a:p>
          <a:p>
            <a:pPr indent="-342900" lvl="0" marL="342900" rtl="0" algn="l">
              <a:lnSpc>
                <a:spcPct val="100000"/>
              </a:lnSpc>
              <a:spcBef>
                <a:spcPts val="444"/>
              </a:spcBef>
              <a:spcAft>
                <a:spcPts val="0"/>
              </a:spcAft>
              <a:buClr>
                <a:schemeClr val="dk1"/>
              </a:buClr>
              <a:buSzPct val="100000"/>
              <a:buFont typeface="Arial"/>
              <a:buNone/>
            </a:pPr>
            <a:r>
              <a:t/>
            </a:r>
            <a:endParaRPr sz="2400">
              <a:latin typeface="Courier New"/>
              <a:ea typeface="Courier New"/>
              <a:cs typeface="Courier New"/>
              <a:sym typeface="Courier New"/>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   for(int j=0;j&lt;4;j++)</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   	cout&lt;&lt;z[j]&lt;&lt;"  ";</a:t>
            </a:r>
            <a:endParaRPr/>
          </a:p>
          <a:p>
            <a:pPr indent="-342900" lvl="0" marL="342900" rtl="0" algn="l">
              <a:lnSpc>
                <a:spcPct val="100000"/>
              </a:lnSpc>
              <a:spcBef>
                <a:spcPts val="444"/>
              </a:spcBef>
              <a:spcAft>
                <a:spcPts val="0"/>
              </a:spcAft>
              <a:buClr>
                <a:schemeClr val="dk1"/>
              </a:buClr>
              <a:buSzPct val="100000"/>
              <a:buFont typeface="Arial"/>
              <a:buNone/>
            </a:pPr>
            <a:r>
              <a:rPr lang="en-US" sz="2400">
                <a:latin typeface="Courier New"/>
                <a:ea typeface="Courier New"/>
                <a:cs typeface="Courier New"/>
                <a:sym typeface="Courier New"/>
              </a:rPr>
              <a: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4"/>
          <p:cNvSpPr txBox="1"/>
          <p:nvPr>
            <p:ph type="title"/>
          </p:nvPr>
        </p:nvSpPr>
        <p:spPr>
          <a:xfrm>
            <a:off x="914400" y="0"/>
            <a:ext cx="8229600" cy="765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440" name="Google Shape;440;p54"/>
          <p:cNvSpPr txBox="1"/>
          <p:nvPr>
            <p:ph idx="1" type="body"/>
          </p:nvPr>
        </p:nvSpPr>
        <p:spPr>
          <a:xfrm>
            <a:off x="304800" y="1066800"/>
            <a:ext cx="457835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Font typeface="Arial"/>
              <a:buNone/>
            </a:pPr>
            <a:r>
              <a:rPr lang="en-US" sz="2000">
                <a:latin typeface="Courier New"/>
                <a:ea typeface="Courier New"/>
                <a:cs typeface="Courier New"/>
                <a:sym typeface="Courier New"/>
              </a:rPr>
              <a:t>#include &lt;iostream&gt;</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using namespace std;</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void Test(int , int,int[]);</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int main()</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int x = 1;</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int y[3];</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y[0]=1;</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Test(x,y[0],y);</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cout&lt;&lt;"x is: " &lt;&lt; x&lt;&lt; endl;</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cout&lt;&lt;"y[0] is: " &lt;&lt;y[0] &lt;&lt; endl;</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for(int i=0;i&lt;3;i++)</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cout&lt;&lt;y[i]&lt;&lt;endl;</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system("pause");</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return 0;}</a:t>
            </a:r>
            <a:endParaRPr/>
          </a:p>
        </p:txBody>
      </p:sp>
      <p:sp>
        <p:nvSpPr>
          <p:cNvPr id="441" name="Google Shape;441;p54"/>
          <p:cNvSpPr txBox="1"/>
          <p:nvPr>
            <p:ph idx="2" type="body"/>
          </p:nvPr>
        </p:nvSpPr>
        <p:spPr>
          <a:xfrm>
            <a:off x="4572000" y="1066800"/>
            <a:ext cx="45720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Font typeface="Arial"/>
              <a:buNone/>
            </a:pPr>
            <a:r>
              <a:rPr lang="en-US" sz="2000">
                <a:latin typeface="Courier New"/>
                <a:ea typeface="Courier New"/>
                <a:cs typeface="Courier New"/>
                <a:sym typeface="Courier New"/>
              </a:rPr>
              <a:t>void Test(int num, int num1, int z[])</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num=1001;</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num1=290;</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z[1]=34;</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	z[2]=35;</a:t>
            </a:r>
            <a:endParaRPr/>
          </a:p>
          <a:p>
            <a:pPr indent="-342900" lvl="0" marL="342900" rtl="0" algn="l">
              <a:lnSpc>
                <a:spcPct val="100000"/>
              </a:lnSpc>
              <a:spcBef>
                <a:spcPts val="370"/>
              </a:spcBef>
              <a:spcAft>
                <a:spcPts val="0"/>
              </a:spcAft>
              <a:buClr>
                <a:schemeClr val="dk1"/>
              </a:buClr>
              <a:buSzPct val="100000"/>
              <a:buFont typeface="Arial"/>
              <a:buNone/>
            </a:pPr>
            <a:r>
              <a:rPr lang="en-US" sz="2000">
                <a:latin typeface="Courier New"/>
                <a:ea typeface="Courier New"/>
                <a:cs typeface="Courier New"/>
                <a:sym typeface="Courier New"/>
              </a:rPr>
              <a:t>}</a:t>
            </a:r>
            <a:endParaRPr/>
          </a:p>
          <a:p>
            <a:pPr indent="-342900" lvl="0" marL="342900" rtl="0" algn="l">
              <a:lnSpc>
                <a:spcPct val="100000"/>
              </a:lnSpc>
              <a:spcBef>
                <a:spcPts val="518"/>
              </a:spcBef>
              <a:spcAft>
                <a:spcPts val="0"/>
              </a:spcAft>
              <a:buClr>
                <a:schemeClr val="dk1"/>
              </a:buClr>
              <a:buSzPct val="100000"/>
              <a:buFont typeface="Arial"/>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914400" y="0"/>
            <a:ext cx="8229600" cy="8366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447" name="Google Shape;447;p55"/>
          <p:cNvSpPr txBox="1"/>
          <p:nvPr>
            <p:ph idx="1" type="body"/>
          </p:nvPr>
        </p:nvSpPr>
        <p:spPr>
          <a:xfrm>
            <a:off x="457200" y="9906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None/>
            </a:pPr>
            <a:r>
              <a:rPr lang="en-US"/>
              <a:t>    Each of the following definitions and program segments has errors. Locate as many as you can and correct the errors.</a:t>
            </a:r>
            <a:endParaRPr/>
          </a:p>
          <a:p>
            <a:pPr indent="-342900" lvl="0" marL="342900" rtl="0" algn="l">
              <a:lnSpc>
                <a:spcPct val="100000"/>
              </a:lnSpc>
              <a:spcBef>
                <a:spcPts val="544"/>
              </a:spcBef>
              <a:spcAft>
                <a:spcPts val="0"/>
              </a:spcAft>
              <a:buClr>
                <a:schemeClr val="dk1"/>
              </a:buClr>
              <a:buSzPct val="100000"/>
              <a:buNone/>
            </a:pPr>
            <a:r>
              <a:t/>
            </a:r>
            <a:endParaRPr/>
          </a:p>
          <a:p>
            <a:pPr indent="-514350" lvl="0" marL="514350" rtl="0" algn="l">
              <a:lnSpc>
                <a:spcPct val="100000"/>
              </a:lnSpc>
              <a:spcBef>
                <a:spcPts val="340"/>
              </a:spcBef>
              <a:spcAft>
                <a:spcPts val="0"/>
              </a:spcAft>
              <a:buClr>
                <a:schemeClr val="dk1"/>
              </a:buClr>
              <a:buSzPct val="100000"/>
              <a:buFont typeface="Arial"/>
              <a:buAutoNum type="alphaLcParenR"/>
            </a:pPr>
            <a:r>
              <a:rPr lang="en-US" sz="2000">
                <a:latin typeface="Courier New"/>
                <a:ea typeface="Courier New"/>
                <a:cs typeface="Courier New"/>
                <a:sym typeface="Courier New"/>
              </a:rPr>
              <a:t>void showValues(int nums)</a:t>
            </a:r>
            <a:endParaRPr/>
          </a:p>
          <a:p>
            <a:pPr indent="0" lvl="0" marL="0" rtl="0" algn="l">
              <a:lnSpc>
                <a:spcPct val="100000"/>
              </a:lnSpc>
              <a:spcBef>
                <a:spcPts val="340"/>
              </a:spcBef>
              <a:spcAft>
                <a:spcPts val="0"/>
              </a:spcAft>
              <a:buClr>
                <a:schemeClr val="dk1"/>
              </a:buClr>
              <a:buSzPct val="100000"/>
              <a:buNone/>
            </a:pPr>
            <a:r>
              <a:rPr lang="en-US" sz="2000">
                <a:latin typeface="Courier New"/>
                <a:ea typeface="Courier New"/>
                <a:cs typeface="Courier New"/>
                <a:sym typeface="Courier New"/>
              </a:rPr>
              <a:t>    {</a:t>
            </a:r>
            <a:endParaRPr/>
          </a:p>
          <a:p>
            <a:pPr indent="-514350" lvl="2" marL="13144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for(int i = 0; i&lt;8; i++)</a:t>
            </a:r>
            <a:endParaRPr/>
          </a:p>
          <a:p>
            <a:pPr indent="-514350" lvl="2" marL="13144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cout&lt;&lt;nums[i];</a:t>
            </a:r>
            <a:endParaRPr/>
          </a:p>
          <a:p>
            <a:pPr indent="-771525" lvl="2" marL="13144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a:t>
            </a:r>
            <a:endParaRPr/>
          </a:p>
          <a:p>
            <a:pPr indent="-771525" lvl="2" marL="1314450" rtl="0" algn="l">
              <a:lnSpc>
                <a:spcPct val="100000"/>
              </a:lnSpc>
              <a:spcBef>
                <a:spcPts val="340"/>
              </a:spcBef>
              <a:spcAft>
                <a:spcPts val="0"/>
              </a:spcAft>
              <a:buClr>
                <a:schemeClr val="dk1"/>
              </a:buClr>
              <a:buSzPct val="100000"/>
              <a:buFont typeface="Arial"/>
              <a:buNone/>
            </a:pPr>
            <a:r>
              <a:t/>
            </a:r>
            <a:endParaRPr sz="2000">
              <a:latin typeface="Courier New"/>
              <a:ea typeface="Courier New"/>
              <a:cs typeface="Courier New"/>
              <a:sym typeface="Courier New"/>
            </a:endParaRPr>
          </a:p>
          <a:p>
            <a:pPr indent="-514350" lvl="0" marL="514350" rtl="0" algn="l">
              <a:lnSpc>
                <a:spcPct val="100000"/>
              </a:lnSpc>
              <a:spcBef>
                <a:spcPts val="408"/>
              </a:spcBef>
              <a:spcAft>
                <a:spcPts val="0"/>
              </a:spcAft>
              <a:buClr>
                <a:schemeClr val="dk1"/>
              </a:buClr>
              <a:buSzPct val="100000"/>
              <a:buFont typeface="Arial"/>
              <a:buNone/>
            </a:pPr>
            <a:r>
              <a:rPr lang="en-US" sz="2400">
                <a:latin typeface="Courier New"/>
                <a:ea typeface="Courier New"/>
                <a:cs typeface="Courier New"/>
                <a:sym typeface="Courier New"/>
              </a:rPr>
              <a:t>b) </a:t>
            </a:r>
            <a:r>
              <a:rPr lang="en-US" sz="2000">
                <a:latin typeface="Courier New"/>
                <a:ea typeface="Courier New"/>
                <a:cs typeface="Courier New"/>
                <a:sym typeface="Courier New"/>
              </a:rPr>
              <a:t>void showValues(int nums [4])</a:t>
            </a:r>
            <a:endParaRPr/>
          </a:p>
          <a:p>
            <a:pPr indent="-514350" lvl="0" marL="5143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a:t>
            </a:r>
            <a:endParaRPr/>
          </a:p>
          <a:p>
            <a:pPr indent="-514350" lvl="0" marL="5143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for(int i = 0; i&lt;8; i++)</a:t>
            </a:r>
            <a:endParaRPr/>
          </a:p>
          <a:p>
            <a:pPr indent="-514350" lvl="0" marL="5143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cout&lt;&lt;nums[i];</a:t>
            </a:r>
            <a:endParaRPr/>
          </a:p>
          <a:p>
            <a:pPr indent="-514350" lvl="0" marL="514350" rtl="0" algn="l">
              <a:lnSpc>
                <a:spcPct val="100000"/>
              </a:lnSpc>
              <a:spcBef>
                <a:spcPts val="340"/>
              </a:spcBef>
              <a:spcAft>
                <a:spcPts val="0"/>
              </a:spcAft>
              <a:buClr>
                <a:schemeClr val="dk1"/>
              </a:buClr>
              <a:buSzPct val="100000"/>
              <a:buFont typeface="Arial"/>
              <a:buNone/>
            </a:pPr>
            <a:r>
              <a:rPr lang="en-US" sz="2000">
                <a:latin typeface="Courier New"/>
                <a:ea typeface="Courier New"/>
                <a:cs typeface="Courier New"/>
                <a:sym typeface="Courier New"/>
              </a:rPr>
              <a:t>   }</a:t>
            </a:r>
            <a:endParaRPr sz="2000">
              <a:latin typeface="Courier New"/>
              <a:ea typeface="Courier New"/>
              <a:cs typeface="Courier New"/>
              <a:sym typeface="Courier New"/>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6"/>
          <p:cNvSpPr txBox="1"/>
          <p:nvPr>
            <p:ph type="title"/>
          </p:nvPr>
        </p:nvSpPr>
        <p:spPr>
          <a:xfrm>
            <a:off x="914400" y="0"/>
            <a:ext cx="8229600" cy="8493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200"/>
              <a:t>In-Class Exercise</a:t>
            </a:r>
            <a:endParaRPr/>
          </a:p>
        </p:txBody>
      </p:sp>
      <p:sp>
        <p:nvSpPr>
          <p:cNvPr id="453" name="Google Shape;453;p56"/>
          <p:cNvSpPr txBox="1"/>
          <p:nvPr>
            <p:ph idx="1" type="body"/>
          </p:nvPr>
        </p:nvSpPr>
        <p:spPr>
          <a:xfrm>
            <a:off x="0" y="765175"/>
            <a:ext cx="9144000"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lang="en-US" sz="2400"/>
              <a:t>Consider the following function prototypes:</a:t>
            </a:r>
            <a:endParaRPr/>
          </a:p>
          <a:p>
            <a:pPr indent="-342900" lvl="0" marL="342900" rtl="0" algn="l">
              <a:lnSpc>
                <a:spcPct val="100000"/>
              </a:lnSpc>
              <a:spcBef>
                <a:spcPts val="480"/>
              </a:spcBef>
              <a:spcAft>
                <a:spcPts val="0"/>
              </a:spcAft>
              <a:buClr>
                <a:schemeClr val="dk1"/>
              </a:buClr>
              <a:buSzPts val="2400"/>
              <a:buFont typeface="Arial"/>
              <a:buNone/>
            </a:pPr>
            <a:r>
              <a:rPr lang="en-US" sz="2400"/>
              <a:t>	</a:t>
            </a:r>
            <a:r>
              <a:rPr lang="en-US" sz="2400">
                <a:latin typeface="Courier New"/>
                <a:ea typeface="Courier New"/>
                <a:cs typeface="Courier New"/>
                <a:sym typeface="Courier New"/>
              </a:rPr>
              <a:t>void funcOne(int [], int);</a:t>
            </a:r>
            <a:endParaRPr/>
          </a:p>
          <a:p>
            <a:pPr indent="-342900" lvl="0" marL="342900" rtl="0" algn="l">
              <a:lnSpc>
                <a:spcPct val="100000"/>
              </a:lnSpc>
              <a:spcBef>
                <a:spcPts val="480"/>
              </a:spcBef>
              <a:spcAft>
                <a:spcPts val="0"/>
              </a:spcAft>
              <a:buClr>
                <a:schemeClr val="dk1"/>
              </a:buClr>
              <a:buSzPts val="2400"/>
              <a:buFont typeface="Arial"/>
              <a:buNone/>
            </a:pPr>
            <a:r>
              <a:rPr lang="en-US" sz="2400">
                <a:latin typeface="Courier New"/>
                <a:ea typeface="Courier New"/>
                <a:cs typeface="Courier New"/>
                <a:sym typeface="Courier New"/>
              </a:rPr>
              <a:t>	int findSum(int, int);</a:t>
            </a:r>
            <a:endParaRPr/>
          </a:p>
          <a:p>
            <a:pPr indent="-342900" lvl="0" marL="342900" rtl="0" algn="l">
              <a:lnSpc>
                <a:spcPct val="100000"/>
              </a:lnSpc>
              <a:spcBef>
                <a:spcPts val="480"/>
              </a:spcBef>
              <a:spcAft>
                <a:spcPts val="0"/>
              </a:spcAft>
              <a:buClr>
                <a:schemeClr val="dk1"/>
              </a:buClr>
              <a:buSzPts val="2400"/>
              <a:buFont typeface="Arial"/>
              <a:buNone/>
            </a:pPr>
            <a:r>
              <a:rPr lang="en-US" sz="2400"/>
              <a:t>And the declarations:</a:t>
            </a:r>
            <a:endParaRPr/>
          </a:p>
          <a:p>
            <a:pPr indent="-342900" lvl="0" marL="342900" rtl="0" algn="l">
              <a:lnSpc>
                <a:spcPct val="100000"/>
              </a:lnSpc>
              <a:spcBef>
                <a:spcPts val="480"/>
              </a:spcBef>
              <a:spcAft>
                <a:spcPts val="0"/>
              </a:spcAft>
              <a:buClr>
                <a:schemeClr val="dk1"/>
              </a:buClr>
              <a:buSzPts val="2400"/>
              <a:buFont typeface="Arial"/>
              <a:buNone/>
            </a:pPr>
            <a:r>
              <a:rPr lang="en-US" sz="2400"/>
              <a:t>	</a:t>
            </a:r>
            <a:r>
              <a:rPr lang="en-US" sz="2400">
                <a:latin typeface="Courier New"/>
                <a:ea typeface="Courier New"/>
                <a:cs typeface="Courier New"/>
                <a:sym typeface="Courier New"/>
              </a:rPr>
              <a:t>int list[50];</a:t>
            </a:r>
            <a:endParaRPr/>
          </a:p>
          <a:p>
            <a:pPr indent="-342900" lvl="0" marL="342900" rtl="0" algn="l">
              <a:lnSpc>
                <a:spcPct val="100000"/>
              </a:lnSpc>
              <a:spcBef>
                <a:spcPts val="480"/>
              </a:spcBef>
              <a:spcAft>
                <a:spcPts val="0"/>
              </a:spcAft>
              <a:buClr>
                <a:schemeClr val="dk1"/>
              </a:buClr>
              <a:buSzPts val="2400"/>
              <a:buFont typeface="Arial"/>
              <a:buNone/>
            </a:pPr>
            <a:r>
              <a:rPr lang="en-US" sz="2400">
                <a:latin typeface="Courier New"/>
                <a:ea typeface="Courier New"/>
                <a:cs typeface="Courier New"/>
                <a:sym typeface="Courier New"/>
              </a:rPr>
              <a:t>	int num;</a:t>
            </a:r>
            <a:endParaRPr/>
          </a:p>
          <a:p>
            <a:pPr indent="-342900" lvl="0" marL="342900" rtl="0" algn="l">
              <a:lnSpc>
                <a:spcPct val="100000"/>
              </a:lnSpc>
              <a:spcBef>
                <a:spcPts val="480"/>
              </a:spcBef>
              <a:spcAft>
                <a:spcPts val="0"/>
              </a:spcAft>
              <a:buClr>
                <a:schemeClr val="dk1"/>
              </a:buClr>
              <a:buSzPts val="2400"/>
              <a:buFont typeface="Arial"/>
              <a:buNone/>
            </a:pPr>
            <a:r>
              <a:rPr lang="en-US" sz="2400"/>
              <a:t>Write a C++ statements that:</a:t>
            </a:r>
            <a:endParaRPr/>
          </a:p>
          <a:p>
            <a:pPr indent="-514350" lvl="0" marL="514350" rtl="0" algn="l">
              <a:lnSpc>
                <a:spcPct val="100000"/>
              </a:lnSpc>
              <a:spcBef>
                <a:spcPts val="480"/>
              </a:spcBef>
              <a:spcAft>
                <a:spcPts val="0"/>
              </a:spcAft>
              <a:buClr>
                <a:schemeClr val="dk1"/>
              </a:buClr>
              <a:buSzPts val="2400"/>
              <a:buFont typeface="Arial"/>
              <a:buAutoNum type="alphaLcParenR"/>
            </a:pPr>
            <a:r>
              <a:rPr lang="en-US" sz="2400"/>
              <a:t>Call the function </a:t>
            </a:r>
            <a:r>
              <a:rPr lang="en-US" sz="2400">
                <a:latin typeface="Courier New"/>
                <a:ea typeface="Courier New"/>
                <a:cs typeface="Courier New"/>
                <a:sym typeface="Courier New"/>
              </a:rPr>
              <a:t>funcOne</a:t>
            </a:r>
            <a:r>
              <a:rPr lang="en-US" sz="2400"/>
              <a:t> with the actual parameters, </a:t>
            </a:r>
            <a:r>
              <a:rPr lang="en-US" sz="2400">
                <a:latin typeface="Courier New"/>
                <a:ea typeface="Courier New"/>
                <a:cs typeface="Courier New"/>
                <a:sym typeface="Courier New"/>
              </a:rPr>
              <a:t>list </a:t>
            </a:r>
            <a:r>
              <a:rPr lang="en-US" sz="2400"/>
              <a:t>and 50 respectively.</a:t>
            </a:r>
            <a:endParaRPr/>
          </a:p>
          <a:p>
            <a:pPr indent="-514350" lvl="0" marL="514350" rtl="0" algn="l">
              <a:lnSpc>
                <a:spcPct val="100000"/>
              </a:lnSpc>
              <a:spcBef>
                <a:spcPts val="480"/>
              </a:spcBef>
              <a:spcAft>
                <a:spcPts val="0"/>
              </a:spcAft>
              <a:buClr>
                <a:schemeClr val="dk1"/>
              </a:buClr>
              <a:buSzPts val="2400"/>
              <a:buFont typeface="Arial"/>
              <a:buAutoNum type="alphaLcParenR"/>
            </a:pPr>
            <a:r>
              <a:rPr lang="en-US" sz="2400"/>
              <a:t>Print the value returned by the function </a:t>
            </a:r>
            <a:r>
              <a:rPr lang="en-US" sz="2400">
                <a:latin typeface="Courier New"/>
                <a:ea typeface="Courier New"/>
                <a:cs typeface="Courier New"/>
                <a:sym typeface="Courier New"/>
              </a:rPr>
              <a:t>funcSum</a:t>
            </a:r>
            <a:r>
              <a:rPr lang="en-US" sz="2400"/>
              <a:t> with the actual parameters, 50, and the fourth element of </a:t>
            </a:r>
            <a:r>
              <a:rPr lang="en-US" sz="2400">
                <a:latin typeface="Courier New"/>
                <a:ea typeface="Courier New"/>
                <a:cs typeface="Courier New"/>
                <a:sym typeface="Courier New"/>
              </a:rPr>
              <a:t>list</a:t>
            </a:r>
            <a:r>
              <a:rPr lang="en-US" sz="2400"/>
              <a:t> respectively.</a:t>
            </a:r>
            <a:endParaRPr/>
          </a:p>
          <a:p>
            <a:pPr indent="-514350" lvl="0" marL="514350" rtl="0" algn="l">
              <a:lnSpc>
                <a:spcPct val="100000"/>
              </a:lnSpc>
              <a:spcBef>
                <a:spcPts val="480"/>
              </a:spcBef>
              <a:spcAft>
                <a:spcPts val="0"/>
              </a:spcAft>
              <a:buClr>
                <a:schemeClr val="dk1"/>
              </a:buClr>
              <a:buSzPts val="2400"/>
              <a:buFont typeface="Arial"/>
              <a:buAutoNum type="alphaLcParenR"/>
            </a:pPr>
            <a:r>
              <a:rPr lang="en-US" sz="2400"/>
              <a:t>Print the value returned by the function </a:t>
            </a:r>
            <a:r>
              <a:rPr lang="en-US" sz="2400">
                <a:latin typeface="Courier New"/>
                <a:ea typeface="Courier New"/>
                <a:cs typeface="Courier New"/>
                <a:sym typeface="Courier New"/>
              </a:rPr>
              <a:t>funcSum</a:t>
            </a:r>
            <a:r>
              <a:rPr lang="en-US" sz="2400"/>
              <a:t> with the actual parameters, the thirtieth and tenth elements of </a:t>
            </a:r>
            <a:r>
              <a:rPr lang="en-US" sz="2400">
                <a:latin typeface="Courier New"/>
                <a:ea typeface="Courier New"/>
                <a:cs typeface="Courier New"/>
                <a:sym typeface="Courier New"/>
              </a:rPr>
              <a:t>list</a:t>
            </a:r>
            <a:r>
              <a:rPr lang="en-US" sz="2400"/>
              <a:t>, respectively.</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7"/>
          <p:cNvSpPr txBox="1"/>
          <p:nvPr>
            <p:ph type="title"/>
          </p:nvPr>
        </p:nvSpPr>
        <p:spPr>
          <a:xfrm>
            <a:off x="762000" y="304800"/>
            <a:ext cx="8229600" cy="8366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459" name="Google Shape;459;p57"/>
          <p:cNvSpPr txBox="1"/>
          <p:nvPr>
            <p:ph idx="1" type="body"/>
          </p:nvPr>
        </p:nvSpPr>
        <p:spPr>
          <a:xfrm>
            <a:off x="539750" y="1052513"/>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Write a program that has two overloaded functions that return the average of an array with the following headers:</a:t>
            </a:r>
            <a:endParaRPr/>
          </a:p>
          <a:p>
            <a:pPr indent="-342900" lvl="0" marL="342900" rtl="0" algn="l">
              <a:lnSpc>
                <a:spcPct val="100000"/>
              </a:lnSpc>
              <a:spcBef>
                <a:spcPts val="640"/>
              </a:spcBef>
              <a:spcAft>
                <a:spcPts val="0"/>
              </a:spcAft>
              <a:buClr>
                <a:schemeClr val="dk1"/>
              </a:buClr>
              <a:buSzPts val="3200"/>
              <a:buFont typeface="Arial"/>
              <a:buNone/>
            </a:pPr>
            <a:r>
              <a:rPr lang="en-US"/>
              <a:t>	</a:t>
            </a:r>
            <a:r>
              <a:rPr lang="en-US" sz="2400">
                <a:latin typeface="Courier New"/>
                <a:ea typeface="Courier New"/>
                <a:cs typeface="Courier New"/>
                <a:sym typeface="Courier New"/>
              </a:rPr>
              <a:t>int average(int array[], int size)</a:t>
            </a:r>
            <a:endParaRPr/>
          </a:p>
          <a:p>
            <a:pPr indent="-342900" lvl="0" marL="342900" rtl="0" algn="l">
              <a:lnSpc>
                <a:spcPct val="100000"/>
              </a:lnSpc>
              <a:spcBef>
                <a:spcPts val="480"/>
              </a:spcBef>
              <a:spcAft>
                <a:spcPts val="0"/>
              </a:spcAft>
              <a:buClr>
                <a:schemeClr val="dk1"/>
              </a:buClr>
              <a:buSzPts val="2400"/>
              <a:buFont typeface="Arial"/>
              <a:buNone/>
            </a:pPr>
            <a:r>
              <a:rPr lang="en-US" sz="2400">
                <a:latin typeface="Courier New"/>
                <a:ea typeface="Courier New"/>
                <a:cs typeface="Courier New"/>
                <a:sym typeface="Courier New"/>
              </a:rPr>
              <a:t>	double average(int array[], int size</a:t>
            </a:r>
            <a:endParaRPr/>
          </a:p>
          <a:p>
            <a:pPr indent="-342900" lvl="0" marL="342900" rtl="0" algn="l">
              <a:lnSpc>
                <a:spcPct val="100000"/>
              </a:lnSpc>
              <a:spcBef>
                <a:spcPts val="480"/>
              </a:spcBef>
              <a:spcAft>
                <a:spcPts val="0"/>
              </a:spcAft>
              <a:buClr>
                <a:schemeClr val="dk1"/>
              </a:buClr>
              <a:buSzPts val="2400"/>
              <a:buFont typeface="Arial"/>
              <a:buNone/>
            </a:pPr>
            <a:r>
              <a:t/>
            </a:r>
            <a:endParaRPr sz="2400">
              <a:latin typeface="Courier New"/>
              <a:ea typeface="Courier New"/>
              <a:cs typeface="Courier New"/>
              <a:sym typeface="Courier New"/>
            </a:endParaRPr>
          </a:p>
          <a:p>
            <a:pPr indent="-342900" lvl="0" marL="342900" rtl="0" algn="l">
              <a:lnSpc>
                <a:spcPct val="100000"/>
              </a:lnSpc>
              <a:spcBef>
                <a:spcPts val="480"/>
              </a:spcBef>
              <a:spcAft>
                <a:spcPts val="0"/>
              </a:spcAft>
              <a:buClr>
                <a:schemeClr val="dk1"/>
              </a:buClr>
              <a:buSzPts val="2400"/>
              <a:buFont typeface="Arial"/>
              <a:buNone/>
            </a:pPr>
            <a:r>
              <a:rPr lang="en-US" sz="2400">
                <a:latin typeface="Arial"/>
                <a:ea typeface="Arial"/>
                <a:cs typeface="Arial"/>
                <a:sym typeface="Arial"/>
              </a:rPr>
              <a:t>Use </a:t>
            </a:r>
            <a:r>
              <a:rPr lang="en-US" sz="2400">
                <a:latin typeface="Courier New"/>
                <a:ea typeface="Courier New"/>
                <a:cs typeface="Courier New"/>
                <a:sym typeface="Courier New"/>
              </a:rPr>
              <a:t>{1,2,3,4,5,6} </a:t>
            </a:r>
            <a:r>
              <a:rPr lang="en-US" sz="2400">
                <a:latin typeface="Arial"/>
                <a:ea typeface="Arial"/>
                <a:cs typeface="Arial"/>
                <a:sym typeface="Arial"/>
              </a:rPr>
              <a:t>and </a:t>
            </a:r>
            <a:r>
              <a:rPr lang="en-US" sz="2400">
                <a:latin typeface="Courier New"/>
                <a:ea typeface="Courier New"/>
                <a:cs typeface="Courier New"/>
                <a:sym typeface="Courier New"/>
              </a:rPr>
              <a:t>{6.0,4.4,1.9,2.9,3.4,3.5} </a:t>
            </a:r>
            <a:r>
              <a:rPr lang="en-US" sz="2400">
                <a:latin typeface="Arial"/>
                <a:ea typeface="Arial"/>
                <a:cs typeface="Arial"/>
                <a:sym typeface="Arial"/>
              </a:rPr>
              <a:t>to test the functions.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8"/>
          <p:cNvSpPr txBox="1"/>
          <p:nvPr>
            <p:ph type="title"/>
          </p:nvPr>
        </p:nvSpPr>
        <p:spPr>
          <a:xfrm>
            <a:off x="914400" y="152400"/>
            <a:ext cx="8229600" cy="83661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In-Class Exercise</a:t>
            </a:r>
            <a:endParaRPr/>
          </a:p>
        </p:txBody>
      </p:sp>
      <p:sp>
        <p:nvSpPr>
          <p:cNvPr id="465" name="Google Shape;465;p58"/>
          <p:cNvSpPr txBox="1"/>
          <p:nvPr>
            <p:ph idx="1" type="body"/>
          </p:nvPr>
        </p:nvSpPr>
        <p:spPr>
          <a:xfrm>
            <a:off x="179388" y="1125538"/>
            <a:ext cx="8589962"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Char char="•"/>
            </a:pPr>
            <a:r>
              <a:rPr lang="en-US"/>
              <a:t>Write a program that has a function that returns the index of the smallest element in an array of integers. If there are more than one such elements, return the smallest index. Use </a:t>
            </a:r>
            <a:r>
              <a:rPr lang="en-US">
                <a:latin typeface="Courier New"/>
                <a:ea typeface="Courier New"/>
                <a:cs typeface="Courier New"/>
                <a:sym typeface="Courier New"/>
              </a:rPr>
              <a:t>{1,2,4,5,10,100,2,-22} </a:t>
            </a:r>
            <a:r>
              <a:rPr lang="en-US"/>
              <a:t>to test the function.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9"/>
          <p:cNvSpPr txBox="1"/>
          <p:nvPr>
            <p:ph type="title"/>
          </p:nvPr>
        </p:nvSpPr>
        <p:spPr>
          <a:xfrm>
            <a:off x="0" y="30480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Two-Dimensional Arrays</a:t>
            </a:r>
            <a:endParaRPr/>
          </a:p>
        </p:txBody>
      </p:sp>
      <p:sp>
        <p:nvSpPr>
          <p:cNvPr id="471" name="Google Shape;471;p59"/>
          <p:cNvSpPr txBox="1"/>
          <p:nvPr>
            <p:ph idx="1" type="body"/>
          </p:nvPr>
        </p:nvSpPr>
        <p:spPr>
          <a:xfrm>
            <a:off x="304800" y="1600200"/>
            <a:ext cx="77724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Char char="•"/>
            </a:pPr>
            <a:r>
              <a:rPr lang="en-US"/>
              <a:t>Can define one array for multiple sets of data</a:t>
            </a:r>
            <a:endParaRPr/>
          </a:p>
          <a:p>
            <a:pPr indent="-342900" lvl="0" marL="342900" rtl="0" algn="l">
              <a:lnSpc>
                <a:spcPct val="90000"/>
              </a:lnSpc>
              <a:spcBef>
                <a:spcPts val="640"/>
              </a:spcBef>
              <a:spcAft>
                <a:spcPts val="0"/>
              </a:spcAft>
              <a:buClr>
                <a:schemeClr val="dk1"/>
              </a:buClr>
              <a:buSzPts val="3200"/>
              <a:buChar char="•"/>
            </a:pPr>
            <a:r>
              <a:rPr lang="en-US"/>
              <a:t>Like a table in a spreadsheet</a:t>
            </a:r>
            <a:endParaRPr/>
          </a:p>
          <a:p>
            <a:pPr indent="-342900" lvl="0" marL="342900" rtl="0" algn="l">
              <a:lnSpc>
                <a:spcPct val="90000"/>
              </a:lnSpc>
              <a:spcBef>
                <a:spcPts val="640"/>
              </a:spcBef>
              <a:spcAft>
                <a:spcPts val="0"/>
              </a:spcAft>
              <a:buClr>
                <a:schemeClr val="dk1"/>
              </a:buClr>
              <a:buSzPts val="3200"/>
              <a:buChar char="•"/>
            </a:pPr>
            <a:r>
              <a:rPr lang="en-US"/>
              <a:t>Use two size declarators in definition:</a:t>
            </a:r>
            <a:br>
              <a:rPr lang="en-US"/>
            </a:br>
            <a:endParaRPr/>
          </a:p>
          <a:p>
            <a:pPr indent="-285750" lvl="1" marL="742950" rtl="0" algn="l">
              <a:lnSpc>
                <a:spcPct val="9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const int ROWS = 4, COLS = 3;</a:t>
            </a:r>
            <a:br>
              <a:rPr lang="en-US"/>
            </a:br>
            <a:r>
              <a:rPr lang="en-US">
                <a:latin typeface="Courier New"/>
                <a:ea typeface="Courier New"/>
                <a:cs typeface="Courier New"/>
                <a:sym typeface="Courier New"/>
              </a:rPr>
              <a:t>int exams[ROWS][COLS];</a:t>
            </a:r>
            <a:br>
              <a:rPr lang="en-US">
                <a:latin typeface="Courier New"/>
                <a:ea typeface="Courier New"/>
                <a:cs typeface="Courier New"/>
                <a:sym typeface="Courier New"/>
              </a:rPr>
            </a:br>
            <a:endParaRPr>
              <a:latin typeface="Courier New"/>
              <a:ea typeface="Courier New"/>
              <a:cs typeface="Courier New"/>
              <a:sym typeface="Courier New"/>
            </a:endParaRPr>
          </a:p>
          <a:p>
            <a:pPr indent="-342900" lvl="0" marL="342900" rtl="0" algn="l">
              <a:lnSpc>
                <a:spcPct val="90000"/>
              </a:lnSpc>
              <a:spcBef>
                <a:spcPts val="640"/>
              </a:spcBef>
              <a:spcAft>
                <a:spcPts val="0"/>
              </a:spcAft>
              <a:buClr>
                <a:schemeClr val="dk1"/>
              </a:buClr>
              <a:buSzPts val="3200"/>
              <a:buChar char="•"/>
            </a:pPr>
            <a:r>
              <a:rPr lang="en-US"/>
              <a:t>First declarator is number of rows; second is number of columns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0"/>
          <p:cNvSpPr txBox="1"/>
          <p:nvPr>
            <p:ph type="title"/>
          </p:nvPr>
        </p:nvSpPr>
        <p:spPr>
          <a:xfrm>
            <a:off x="228600" y="533400"/>
            <a:ext cx="86868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sz="4000"/>
              <a:t>Two-Dimensional Array Representation</a:t>
            </a:r>
            <a:endParaRPr/>
          </a:p>
        </p:txBody>
      </p:sp>
      <p:sp>
        <p:nvSpPr>
          <p:cNvPr id="477" name="Google Shape;477;p60"/>
          <p:cNvSpPr txBox="1"/>
          <p:nvPr>
            <p:ph idx="1" type="body"/>
          </p:nvPr>
        </p:nvSpPr>
        <p:spPr>
          <a:xfrm>
            <a:off x="304800" y="1295400"/>
            <a:ext cx="77724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Calibri"/>
              <a:buNone/>
            </a:pPr>
            <a:br>
              <a:rPr lang="en-US"/>
            </a:br>
            <a:r>
              <a:rPr lang="en-US" sz="2800">
                <a:latin typeface="Courier New"/>
                <a:ea typeface="Courier New"/>
                <a:cs typeface="Courier New"/>
                <a:sym typeface="Courier New"/>
              </a:rPr>
              <a:t>const int ROWS = 4, COLS = 3;</a:t>
            </a:r>
            <a:r>
              <a:rPr lang="en-US" sz="2800"/>
              <a:t>  </a:t>
            </a:r>
            <a:endParaRPr/>
          </a:p>
          <a:p>
            <a:pPr indent="-342900" lvl="0" marL="342900" rtl="0" algn="l">
              <a:lnSpc>
                <a:spcPct val="90000"/>
              </a:lnSpc>
              <a:spcBef>
                <a:spcPts val="560"/>
              </a:spcBef>
              <a:spcAft>
                <a:spcPts val="0"/>
              </a:spcAft>
              <a:buClr>
                <a:schemeClr val="dk1"/>
              </a:buClr>
              <a:buSzPts val="2800"/>
              <a:buFont typeface="Courier New"/>
              <a:buNone/>
            </a:pPr>
            <a:r>
              <a:rPr lang="en-US" sz="2800">
                <a:latin typeface="Courier New"/>
                <a:ea typeface="Courier New"/>
                <a:cs typeface="Courier New"/>
                <a:sym typeface="Courier New"/>
              </a:rPr>
              <a:t>  int exams[ROWS][COLS];</a:t>
            </a:r>
            <a:endParaRPr/>
          </a:p>
          <a:p>
            <a:pPr indent="-342900" lvl="0" marL="342900" rtl="0" algn="l">
              <a:lnSpc>
                <a:spcPct val="90000"/>
              </a:lnSpc>
              <a:spcBef>
                <a:spcPts val="640"/>
              </a:spcBef>
              <a:spcAft>
                <a:spcPts val="0"/>
              </a:spcAft>
              <a:buClr>
                <a:schemeClr val="dk1"/>
              </a:buClr>
              <a:buSzPts val="3200"/>
              <a:buFont typeface="Calibri"/>
              <a:buNone/>
            </a:pPr>
            <a:r>
              <a:t/>
            </a:r>
            <a:endParaRPr/>
          </a:p>
          <a:p>
            <a:pPr indent="-342900" lvl="0" marL="342900" rtl="0" algn="l">
              <a:lnSpc>
                <a:spcPct val="90000"/>
              </a:lnSpc>
              <a:spcBef>
                <a:spcPts val="640"/>
              </a:spcBef>
              <a:spcAft>
                <a:spcPts val="0"/>
              </a:spcAft>
              <a:buClr>
                <a:schemeClr val="dk1"/>
              </a:buClr>
              <a:buSzPts val="3200"/>
              <a:buFont typeface="Calibri"/>
              <a:buNone/>
            </a:pPr>
            <a:r>
              <a:t/>
            </a:r>
            <a:endParaRPr/>
          </a:p>
          <a:p>
            <a:pPr indent="-342900" lvl="0" marL="342900" rtl="0" algn="l">
              <a:lnSpc>
                <a:spcPct val="90000"/>
              </a:lnSpc>
              <a:spcBef>
                <a:spcPts val="640"/>
              </a:spcBef>
              <a:spcAft>
                <a:spcPts val="0"/>
              </a:spcAft>
              <a:buClr>
                <a:schemeClr val="dk1"/>
              </a:buClr>
              <a:buSzPts val="3200"/>
              <a:buFont typeface="Calibri"/>
              <a:buNone/>
            </a:pPr>
            <a:r>
              <a:t/>
            </a:r>
            <a:endParaRPr/>
          </a:p>
          <a:p>
            <a:pPr indent="-342900" lvl="0" marL="342900" rtl="0" algn="l">
              <a:lnSpc>
                <a:spcPct val="90000"/>
              </a:lnSpc>
              <a:spcBef>
                <a:spcPts val="640"/>
              </a:spcBef>
              <a:spcAft>
                <a:spcPts val="0"/>
              </a:spcAft>
              <a:buClr>
                <a:schemeClr val="dk1"/>
              </a:buClr>
              <a:buSzPts val="3200"/>
              <a:buFont typeface="Calibri"/>
              <a:buNone/>
            </a:pPr>
            <a:r>
              <a:t/>
            </a:r>
            <a:endParaRPr/>
          </a:p>
          <a:p>
            <a:pPr indent="-139700" lvl="0" marL="342900" rtl="0" algn="l">
              <a:lnSpc>
                <a:spcPct val="90000"/>
              </a:lnSpc>
              <a:spcBef>
                <a:spcPts val="640"/>
              </a:spcBef>
              <a:spcAft>
                <a:spcPts val="0"/>
              </a:spcAft>
              <a:buClr>
                <a:schemeClr val="dk1"/>
              </a:buClr>
              <a:buSzPts val="3200"/>
              <a:buNone/>
            </a:pPr>
            <a:r>
              <a:t/>
            </a:r>
            <a:endParaRPr/>
          </a:p>
          <a:p>
            <a:pPr indent="-342900" lvl="0" marL="342900" rtl="0" algn="l">
              <a:lnSpc>
                <a:spcPct val="90000"/>
              </a:lnSpc>
              <a:spcBef>
                <a:spcPts val="640"/>
              </a:spcBef>
              <a:spcAft>
                <a:spcPts val="0"/>
              </a:spcAft>
              <a:buClr>
                <a:schemeClr val="dk1"/>
              </a:buClr>
              <a:buSzPts val="3200"/>
              <a:buChar char="•"/>
            </a:pPr>
            <a:r>
              <a:rPr lang="en-US"/>
              <a:t>Use </a:t>
            </a:r>
            <a:r>
              <a:rPr lang="en-US" u="sng"/>
              <a:t>two subscripts </a:t>
            </a:r>
            <a:r>
              <a:rPr lang="en-US"/>
              <a:t>to access element:</a:t>
            </a:r>
            <a:endParaRPr/>
          </a:p>
          <a:p>
            <a:pPr indent="-285750" lvl="1" marL="742950" rtl="0" algn="l">
              <a:lnSpc>
                <a:spcPct val="9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exams[2][2] = 86;</a:t>
            </a:r>
            <a:endParaRPr/>
          </a:p>
        </p:txBody>
      </p:sp>
      <p:graphicFrame>
        <p:nvGraphicFramePr>
          <p:cNvPr id="478" name="Google Shape;478;p60"/>
          <p:cNvGraphicFramePr/>
          <p:nvPr/>
        </p:nvGraphicFramePr>
        <p:xfrm>
          <a:off x="1981200" y="2895600"/>
          <a:ext cx="3000000" cy="3000000"/>
        </p:xfrm>
        <a:graphic>
          <a:graphicData uri="http://schemas.openxmlformats.org/drawingml/2006/table">
            <a:tbl>
              <a:tblPr>
                <a:noFill/>
                <a:tableStyleId>{8A9FBDB6-4886-4F12-A256-0C17B0B87562}</a:tableStyleId>
              </a:tblPr>
              <a:tblGrid>
                <a:gridCol w="1905000"/>
                <a:gridCol w="1905000"/>
                <a:gridCol w="1905000"/>
              </a:tblGrid>
              <a:tr h="47150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exams[0][1]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exams[0][2]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515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exams[1][1]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exams[1][2]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20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exams[2][0]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exams[2][1]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exams[2][2]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6875">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exams[3][0]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exams[3][1]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exams[3][2]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79" name="Google Shape;479;p60"/>
          <p:cNvSpPr txBox="1"/>
          <p:nvPr/>
        </p:nvSpPr>
        <p:spPr>
          <a:xfrm>
            <a:off x="4343400" y="2514600"/>
            <a:ext cx="11303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columns</a:t>
            </a:r>
            <a:endParaRPr b="0" i="0" sz="1400" u="none" cap="none" strike="noStrike">
              <a:solidFill>
                <a:srgbClr val="000000"/>
              </a:solidFill>
              <a:latin typeface="Arial"/>
              <a:ea typeface="Arial"/>
              <a:cs typeface="Arial"/>
              <a:sym typeface="Arial"/>
            </a:endParaRPr>
          </a:p>
        </p:txBody>
      </p:sp>
      <p:sp>
        <p:nvSpPr>
          <p:cNvPr id="480" name="Google Shape;480;p60"/>
          <p:cNvSpPr txBox="1"/>
          <p:nvPr/>
        </p:nvSpPr>
        <p:spPr>
          <a:xfrm>
            <a:off x="1447800" y="3276600"/>
            <a:ext cx="368300" cy="10699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r</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o</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w</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61"/>
          <p:cNvPicPr preferRelativeResize="0"/>
          <p:nvPr/>
        </p:nvPicPr>
        <p:blipFill rotWithShape="1">
          <a:blip r:embed="rId3">
            <a:alphaModFix/>
          </a:blip>
          <a:srcRect b="0" l="0" r="0" t="0"/>
          <a:stretch/>
        </p:blipFill>
        <p:spPr>
          <a:xfrm>
            <a:off x="0" y="1066800"/>
            <a:ext cx="9144000" cy="6021387"/>
          </a:xfrm>
          <a:prstGeom prst="rect">
            <a:avLst/>
          </a:prstGeom>
          <a:noFill/>
          <a:ln>
            <a:noFill/>
          </a:ln>
        </p:spPr>
      </p:pic>
      <p:sp>
        <p:nvSpPr>
          <p:cNvPr id="486" name="Google Shape;486;p61"/>
          <p:cNvSpPr/>
          <p:nvPr/>
        </p:nvSpPr>
        <p:spPr>
          <a:xfrm>
            <a:off x="304800" y="228600"/>
            <a:ext cx="9144000" cy="908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Two-Dimensional Array Representation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62"/>
          <p:cNvPicPr preferRelativeResize="0"/>
          <p:nvPr/>
        </p:nvPicPr>
        <p:blipFill rotWithShape="1">
          <a:blip r:embed="rId3">
            <a:alphaModFix/>
          </a:blip>
          <a:srcRect b="0" l="0" r="0" t="0"/>
          <a:stretch/>
        </p:blipFill>
        <p:spPr>
          <a:xfrm>
            <a:off x="0" y="765175"/>
            <a:ext cx="9144000" cy="6092825"/>
          </a:xfrm>
          <a:prstGeom prst="rect">
            <a:avLst/>
          </a:prstGeom>
          <a:noFill/>
          <a:ln>
            <a:noFill/>
          </a:ln>
        </p:spPr>
      </p:pic>
      <p:sp>
        <p:nvSpPr>
          <p:cNvPr id="492" name="Google Shape;492;p62"/>
          <p:cNvSpPr/>
          <p:nvPr/>
        </p:nvSpPr>
        <p:spPr>
          <a:xfrm>
            <a:off x="0" y="0"/>
            <a:ext cx="9144000" cy="83661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Two-Dimensional Array Representation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63"/>
          <p:cNvPicPr preferRelativeResize="0"/>
          <p:nvPr/>
        </p:nvPicPr>
        <p:blipFill rotWithShape="1">
          <a:blip r:embed="rId3">
            <a:alphaModFix/>
          </a:blip>
          <a:srcRect b="0" l="0" r="0" t="0"/>
          <a:stretch/>
        </p:blipFill>
        <p:spPr>
          <a:xfrm>
            <a:off x="539750" y="765175"/>
            <a:ext cx="8064500" cy="5327650"/>
          </a:xfrm>
          <a:prstGeom prst="rect">
            <a:avLst/>
          </a:prstGeom>
          <a:noFill/>
          <a:ln>
            <a:noFill/>
          </a:ln>
        </p:spPr>
      </p:pic>
      <p:sp>
        <p:nvSpPr>
          <p:cNvPr id="498" name="Google Shape;498;p63"/>
          <p:cNvSpPr/>
          <p:nvPr/>
        </p:nvSpPr>
        <p:spPr>
          <a:xfrm>
            <a:off x="0" y="0"/>
            <a:ext cx="9144000" cy="7651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Two-Dimensional Array Representation -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4"/>
          <p:cNvSpPr txBox="1"/>
          <p:nvPr>
            <p:ph type="title"/>
          </p:nvPr>
        </p:nvSpPr>
        <p:spPr>
          <a:xfrm>
            <a:off x="0" y="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2D Array Initialization</a:t>
            </a:r>
            <a:endParaRPr/>
          </a:p>
        </p:txBody>
      </p:sp>
      <p:sp>
        <p:nvSpPr>
          <p:cNvPr id="504" name="Google Shape;504;p64"/>
          <p:cNvSpPr txBox="1"/>
          <p:nvPr>
            <p:ph idx="1" type="body"/>
          </p:nvPr>
        </p:nvSpPr>
        <p:spPr>
          <a:xfrm>
            <a:off x="457200" y="1125538"/>
            <a:ext cx="8686800" cy="5257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Two-dimensional arrays are initialized row-by-row:</a:t>
            </a:r>
            <a:br>
              <a:rPr lang="en-US"/>
            </a:br>
            <a:r>
              <a:rPr lang="en-US" sz="2600">
                <a:latin typeface="Courier New"/>
                <a:ea typeface="Courier New"/>
                <a:cs typeface="Courier New"/>
                <a:sym typeface="Courier New"/>
              </a:rPr>
              <a:t>const int ROWS = 2, COLS = 2;</a:t>
            </a:r>
            <a:br>
              <a:rPr lang="en-US" sz="2600"/>
            </a:br>
            <a:r>
              <a:rPr lang="en-US" sz="2600">
                <a:latin typeface="Courier New"/>
                <a:ea typeface="Courier New"/>
                <a:cs typeface="Courier New"/>
                <a:sym typeface="Courier New"/>
              </a:rPr>
              <a:t>int exams[ROWS][COLS] = { {84, 78},</a:t>
            </a:r>
            <a:endParaRPr/>
          </a:p>
          <a:p>
            <a:pPr indent="-285750" lvl="1" marL="742950" rtl="0" algn="l">
              <a:lnSpc>
                <a:spcPct val="100000"/>
              </a:lnSpc>
              <a:spcBef>
                <a:spcPts val="520"/>
              </a:spcBef>
              <a:spcAft>
                <a:spcPts val="0"/>
              </a:spcAft>
              <a:buClr>
                <a:srgbClr val="3333CC"/>
              </a:buClr>
              <a:buSzPts val="2600"/>
              <a:buFont typeface="Courier New"/>
              <a:buNone/>
            </a:pPr>
            <a:r>
              <a:rPr lang="en-US" sz="2600">
                <a:latin typeface="Courier New"/>
                <a:ea typeface="Courier New"/>
                <a:cs typeface="Courier New"/>
                <a:sym typeface="Courier New"/>
              </a:rPr>
              <a:t>						     {92, 97} };</a:t>
            </a:r>
            <a:br>
              <a:rPr lang="en-US" sz="2600">
                <a:latin typeface="Courier New"/>
                <a:ea typeface="Courier New"/>
                <a:cs typeface="Courier New"/>
                <a:sym typeface="Courier New"/>
              </a:rPr>
            </a:br>
            <a:br>
              <a:rPr lang="en-US" sz="2600">
                <a:latin typeface="Courier New"/>
                <a:ea typeface="Courier New"/>
                <a:cs typeface="Courier New"/>
                <a:sym typeface="Courier New"/>
              </a:rPr>
            </a:br>
            <a:endParaRPr sz="2600"/>
          </a:p>
          <a:p>
            <a:pPr indent="-285750" lvl="1" marL="742950" rtl="0" algn="l">
              <a:lnSpc>
                <a:spcPct val="100000"/>
              </a:lnSpc>
              <a:spcBef>
                <a:spcPts val="560"/>
              </a:spcBef>
              <a:spcAft>
                <a:spcPts val="0"/>
              </a:spcAft>
              <a:buClr>
                <a:srgbClr val="3333CC"/>
              </a:buClr>
              <a:buSzPts val="2800"/>
              <a:buFont typeface="Calibri"/>
              <a:buNone/>
            </a:pPr>
            <a:r>
              <a:t/>
            </a:r>
            <a:endParaRPr/>
          </a:p>
          <a:p>
            <a:pPr indent="-342900" lvl="0" marL="342900" rtl="0" algn="l">
              <a:lnSpc>
                <a:spcPct val="100000"/>
              </a:lnSpc>
              <a:spcBef>
                <a:spcPts val="640"/>
              </a:spcBef>
              <a:spcAft>
                <a:spcPts val="0"/>
              </a:spcAft>
              <a:buClr>
                <a:schemeClr val="dk1"/>
              </a:buClr>
              <a:buSzPts val="3200"/>
              <a:buChar char="•"/>
            </a:pPr>
            <a:r>
              <a:rPr lang="en-US"/>
              <a:t>Can omit inner </a:t>
            </a:r>
            <a:r>
              <a:rPr lang="en-US">
                <a:latin typeface="Courier New"/>
                <a:ea typeface="Courier New"/>
                <a:cs typeface="Courier New"/>
                <a:sym typeface="Courier New"/>
              </a:rPr>
              <a:t>{ }</a:t>
            </a:r>
            <a:r>
              <a:rPr lang="en-US"/>
              <a:t>, some initial values in a row –  array elements without initial values will be set to </a:t>
            </a:r>
            <a:r>
              <a:rPr lang="en-US">
                <a:latin typeface="Courier New"/>
                <a:ea typeface="Courier New"/>
                <a:cs typeface="Courier New"/>
                <a:sym typeface="Courier New"/>
              </a:rPr>
              <a:t>0</a:t>
            </a:r>
            <a:r>
              <a:rPr lang="en-US"/>
              <a:t> or </a:t>
            </a:r>
            <a:r>
              <a:rPr lang="en-US">
                <a:latin typeface="Courier New"/>
                <a:ea typeface="Courier New"/>
                <a:cs typeface="Courier New"/>
                <a:sym typeface="Courier New"/>
              </a:rPr>
              <a:t>NULL</a:t>
            </a:r>
            <a:endParaRPr/>
          </a:p>
        </p:txBody>
      </p:sp>
      <p:graphicFrame>
        <p:nvGraphicFramePr>
          <p:cNvPr id="505" name="Google Shape;505;p64"/>
          <p:cNvGraphicFramePr/>
          <p:nvPr/>
        </p:nvGraphicFramePr>
        <p:xfrm>
          <a:off x="2743200" y="3733800"/>
          <a:ext cx="3000000" cy="3000000"/>
        </p:xfrm>
        <a:graphic>
          <a:graphicData uri="http://schemas.openxmlformats.org/drawingml/2006/table">
            <a:tbl>
              <a:tblPr>
                <a:noFill/>
                <a:tableStyleId>{8A9FBDB6-4886-4F12-A256-0C17B0B87562}</a:tableStyleId>
              </a:tblPr>
              <a:tblGrid>
                <a:gridCol w="533400"/>
                <a:gridCol w="533400"/>
              </a:tblGrid>
              <a:tr h="45085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84</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78</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3550">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92</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97</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5"/>
          <p:cNvSpPr txBox="1"/>
          <p:nvPr>
            <p:ph type="title"/>
          </p:nvPr>
        </p:nvSpPr>
        <p:spPr>
          <a:xfrm>
            <a:off x="0" y="533400"/>
            <a:ext cx="9144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Two-Dimensional Array as Parameter, Argument</a:t>
            </a:r>
            <a:endParaRPr/>
          </a:p>
        </p:txBody>
      </p:sp>
      <p:sp>
        <p:nvSpPr>
          <p:cNvPr id="511" name="Google Shape;511;p65"/>
          <p:cNvSpPr txBox="1"/>
          <p:nvPr>
            <p:ph idx="1" type="body"/>
          </p:nvPr>
        </p:nvSpPr>
        <p:spPr>
          <a:xfrm>
            <a:off x="304800" y="1676400"/>
            <a:ext cx="84582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Char char="•"/>
            </a:pPr>
            <a:r>
              <a:rPr lang="en-US" sz="2800"/>
              <a:t>Use array name as argument in function call:</a:t>
            </a:r>
            <a:endParaRPr/>
          </a:p>
          <a:p>
            <a:pPr indent="-285750" lvl="1" marL="742950" rtl="0" algn="l">
              <a:lnSpc>
                <a:spcPct val="100000"/>
              </a:lnSpc>
              <a:spcBef>
                <a:spcPts val="560"/>
              </a:spcBef>
              <a:spcAft>
                <a:spcPts val="0"/>
              </a:spcAft>
              <a:buClr>
                <a:schemeClr val="dk1"/>
              </a:buClr>
              <a:buSzPts val="2400"/>
              <a:buFont typeface="Courier New"/>
              <a:buNone/>
            </a:pPr>
            <a:r>
              <a:rPr lang="en-US" sz="2400">
                <a:latin typeface="Courier New"/>
                <a:ea typeface="Courier New"/>
                <a:cs typeface="Courier New"/>
                <a:sym typeface="Courier New"/>
              </a:rPr>
              <a:t>	</a:t>
            </a:r>
            <a:r>
              <a:rPr lang="en-US">
                <a:latin typeface="Courier New"/>
                <a:ea typeface="Courier New"/>
                <a:cs typeface="Courier New"/>
                <a:sym typeface="Courier New"/>
              </a:rPr>
              <a:t>getExams(exams, 2);</a:t>
            </a:r>
            <a:endParaRPr/>
          </a:p>
          <a:p>
            <a:pPr indent="-342900" lvl="0" marL="342900" rtl="0" algn="l">
              <a:lnSpc>
                <a:spcPct val="100000"/>
              </a:lnSpc>
              <a:spcBef>
                <a:spcPts val="560"/>
              </a:spcBef>
              <a:spcAft>
                <a:spcPts val="0"/>
              </a:spcAft>
              <a:buClr>
                <a:schemeClr val="dk1"/>
              </a:buClr>
              <a:buSzPts val="2800"/>
              <a:buChar char="•"/>
            </a:pPr>
            <a:r>
              <a:rPr lang="en-US" sz="2800"/>
              <a:t>Use empty </a:t>
            </a:r>
            <a:r>
              <a:rPr lang="en-US" sz="2800">
                <a:latin typeface="Courier New"/>
                <a:ea typeface="Courier New"/>
                <a:cs typeface="Courier New"/>
                <a:sym typeface="Courier New"/>
              </a:rPr>
              <a:t>[]</a:t>
            </a:r>
            <a:r>
              <a:rPr lang="en-US" sz="2800"/>
              <a:t> for row, size declarator for column in prototype, header:</a:t>
            </a:r>
            <a:br>
              <a:rPr lang="en-US" sz="2800"/>
            </a:br>
            <a:r>
              <a:rPr lang="en-US" sz="2800">
                <a:latin typeface="Courier New"/>
                <a:ea typeface="Courier New"/>
                <a:cs typeface="Courier New"/>
                <a:sym typeface="Courier New"/>
              </a:rPr>
              <a:t>const int COLS = 2;</a:t>
            </a:r>
            <a:br>
              <a:rPr lang="en-US" sz="2800">
                <a:latin typeface="Courier New"/>
                <a:ea typeface="Courier New"/>
                <a:cs typeface="Courier New"/>
                <a:sym typeface="Courier New"/>
              </a:rPr>
            </a:br>
            <a:r>
              <a:rPr lang="en-US" sz="2400">
                <a:latin typeface="Courier New"/>
                <a:ea typeface="Courier New"/>
                <a:cs typeface="Courier New"/>
                <a:sym typeface="Courier New"/>
              </a:rPr>
              <a:t>// </a:t>
            </a:r>
            <a:r>
              <a:rPr i="1" lang="en-US" sz="2400">
                <a:latin typeface="Courier New"/>
                <a:ea typeface="Courier New"/>
                <a:cs typeface="Courier New"/>
                <a:sym typeface="Courier New"/>
              </a:rPr>
              <a:t>Prototype</a:t>
            </a:r>
            <a:br>
              <a:rPr lang="en-US" sz="2400">
                <a:latin typeface="Courier New"/>
                <a:ea typeface="Courier New"/>
                <a:cs typeface="Courier New"/>
                <a:sym typeface="Courier New"/>
              </a:rPr>
            </a:br>
            <a:r>
              <a:rPr lang="en-US" sz="2400">
                <a:latin typeface="Courier New"/>
                <a:ea typeface="Courier New"/>
                <a:cs typeface="Courier New"/>
                <a:sym typeface="Courier New"/>
              </a:rPr>
              <a:t>void getExams(int [][COLS], int);</a:t>
            </a:r>
            <a:br>
              <a:rPr lang="en-US" sz="2800">
                <a:latin typeface="Courier New"/>
                <a:ea typeface="Courier New"/>
                <a:cs typeface="Courier New"/>
                <a:sym typeface="Courier New"/>
              </a:rPr>
            </a:br>
            <a:br>
              <a:rPr lang="en-US" sz="2800">
                <a:latin typeface="Courier New"/>
                <a:ea typeface="Courier New"/>
                <a:cs typeface="Courier New"/>
                <a:sym typeface="Courier New"/>
              </a:rPr>
            </a:br>
            <a:r>
              <a:rPr lang="en-US" sz="2800">
                <a:latin typeface="Courier New"/>
                <a:ea typeface="Courier New"/>
                <a:cs typeface="Courier New"/>
                <a:sym typeface="Courier New"/>
              </a:rPr>
              <a:t>// </a:t>
            </a:r>
            <a:r>
              <a:rPr i="1" lang="en-US" sz="2800">
                <a:latin typeface="Courier New"/>
                <a:ea typeface="Courier New"/>
                <a:cs typeface="Courier New"/>
                <a:sym typeface="Courier New"/>
              </a:rPr>
              <a:t>Header</a:t>
            </a:r>
            <a:br>
              <a:rPr lang="en-US" sz="2800">
                <a:latin typeface="Courier New"/>
                <a:ea typeface="Courier New"/>
                <a:cs typeface="Courier New"/>
                <a:sym typeface="Courier New"/>
              </a:rPr>
            </a:br>
            <a:r>
              <a:rPr lang="en-US" sz="2400">
                <a:latin typeface="Courier New"/>
                <a:ea typeface="Courier New"/>
                <a:cs typeface="Courier New"/>
                <a:sym typeface="Courier New"/>
              </a:rPr>
              <a:t>void getExams(int exams[][COLS], int rows)</a:t>
            </a:r>
            <a:endParaRPr sz="24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6"/>
          <p:cNvSpPr txBox="1"/>
          <p:nvPr>
            <p:ph type="title"/>
          </p:nvPr>
        </p:nvSpPr>
        <p:spPr>
          <a:xfrm>
            <a:off x="533400" y="685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sz="4000"/>
              <a:t>Example – The </a:t>
            </a:r>
            <a:r>
              <a:rPr lang="en-US" sz="4000">
                <a:latin typeface="Courier New"/>
                <a:ea typeface="Courier New"/>
                <a:cs typeface="Courier New"/>
                <a:sym typeface="Courier New"/>
              </a:rPr>
              <a:t>showArray</a:t>
            </a:r>
            <a:r>
              <a:rPr lang="en-US" sz="4000"/>
              <a:t> Function</a:t>
            </a:r>
            <a:endParaRPr sz="4000"/>
          </a:p>
        </p:txBody>
      </p:sp>
      <p:pic>
        <p:nvPicPr>
          <p:cNvPr id="517" name="Google Shape;517;p66"/>
          <p:cNvPicPr preferRelativeResize="0"/>
          <p:nvPr/>
        </p:nvPicPr>
        <p:blipFill rotWithShape="1">
          <a:blip r:embed="rId3">
            <a:alphaModFix/>
          </a:blip>
          <a:srcRect b="0" l="0" r="0" t="0"/>
          <a:stretch/>
        </p:blipFill>
        <p:spPr>
          <a:xfrm>
            <a:off x="323850" y="1814513"/>
            <a:ext cx="8351838" cy="456723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How </a:t>
            </a:r>
            <a:r>
              <a:rPr lang="en-US">
                <a:latin typeface="Courier New"/>
                <a:ea typeface="Courier New"/>
                <a:cs typeface="Courier New"/>
                <a:sym typeface="Courier New"/>
              </a:rPr>
              <a:t>showArray</a:t>
            </a:r>
            <a:r>
              <a:rPr lang="en-US"/>
              <a:t> is Called</a:t>
            </a:r>
            <a:endParaRPr/>
          </a:p>
        </p:txBody>
      </p:sp>
      <p:pic>
        <p:nvPicPr>
          <p:cNvPr id="523" name="Google Shape;523;p67"/>
          <p:cNvPicPr preferRelativeResize="0"/>
          <p:nvPr/>
        </p:nvPicPr>
        <p:blipFill rotWithShape="1">
          <a:blip r:embed="rId3">
            <a:alphaModFix/>
          </a:blip>
          <a:srcRect b="0" l="0" r="0" t="0"/>
          <a:stretch/>
        </p:blipFill>
        <p:spPr>
          <a:xfrm>
            <a:off x="0" y="1700213"/>
            <a:ext cx="8820150" cy="39846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8"/>
          <p:cNvSpPr txBox="1"/>
          <p:nvPr>
            <p:ph type="title"/>
          </p:nvPr>
        </p:nvSpPr>
        <p:spPr>
          <a:xfrm>
            <a:off x="381000" y="7620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Summing All the Elements in a Two-Dimensional Array</a:t>
            </a:r>
            <a:endParaRPr/>
          </a:p>
        </p:txBody>
      </p:sp>
      <p:sp>
        <p:nvSpPr>
          <p:cNvPr id="529" name="Google Shape;529;p68"/>
          <p:cNvSpPr txBox="1"/>
          <p:nvPr>
            <p:ph idx="1" type="body"/>
          </p:nvPr>
        </p:nvSpPr>
        <p:spPr>
          <a:xfrm>
            <a:off x="457200" y="1981200"/>
            <a:ext cx="8229600" cy="76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None/>
            </a:pPr>
            <a:r>
              <a:rPr lang="en-US"/>
              <a:t>Given the following definitions:</a:t>
            </a:r>
            <a:endParaRPr/>
          </a:p>
        </p:txBody>
      </p:sp>
      <p:sp>
        <p:nvSpPr>
          <p:cNvPr id="530" name="Google Shape;530;p68"/>
          <p:cNvSpPr txBox="1"/>
          <p:nvPr/>
        </p:nvSpPr>
        <p:spPr>
          <a:xfrm>
            <a:off x="381000" y="2895600"/>
            <a:ext cx="8458200" cy="337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NUM_ROWS = 5; // Number of rows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NUM_COLS = 5; // Number of columns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total = 0;          // Accumulator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int numbers[NUM_ROWS][NUM_COLS]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{{2, 7, 9, 6,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{6, 1, 8, 9,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{4, 3, 7, 2,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{9, 9, 0, 3,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{6, 2, 7, 4,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9"/>
          <p:cNvSpPr txBox="1"/>
          <p:nvPr>
            <p:ph type="title"/>
          </p:nvPr>
        </p:nvSpPr>
        <p:spPr>
          <a:xfrm>
            <a:off x="381000" y="685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Summing All the Elements in a Two-Dimensional Array</a:t>
            </a:r>
            <a:endParaRPr/>
          </a:p>
        </p:txBody>
      </p:sp>
      <p:sp>
        <p:nvSpPr>
          <p:cNvPr id="536" name="Google Shape;536;p69"/>
          <p:cNvSpPr txBox="1"/>
          <p:nvPr/>
        </p:nvSpPr>
        <p:spPr>
          <a:xfrm>
            <a:off x="304800" y="1905000"/>
            <a:ext cx="8229600" cy="337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Sum the array elements.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for (int row = 0; row &lt; NUM_ROWS; 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for (int col = 0; col &lt; NUM_COLS; 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total += numbers[row][col];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a:t>
            </a:r>
            <a:br>
              <a:rPr b="0" i="0" lang="en-US" sz="2400" u="none" cap="none" strike="noStrike">
                <a:solidFill>
                  <a:schemeClr val="dk1"/>
                </a:solidFill>
                <a:latin typeface="Courier New"/>
                <a:ea typeface="Courier New"/>
                <a:cs typeface="Courier New"/>
                <a:sym typeface="Courier New"/>
              </a:rPr>
            </a:br>
            <a:endParaRPr b="0" i="0" sz="2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Display the sum.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cout &lt;&lt; "The total is " &lt;&lt; total &lt;&lt; endl;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0"/>
          <p:cNvSpPr txBox="1"/>
          <p:nvPr>
            <p:ph type="title"/>
          </p:nvPr>
        </p:nvSpPr>
        <p:spPr>
          <a:xfrm>
            <a:off x="457200" y="533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Summing the Rows of a Two-Dimensional Array</a:t>
            </a:r>
            <a:endParaRPr/>
          </a:p>
        </p:txBody>
      </p:sp>
      <p:sp>
        <p:nvSpPr>
          <p:cNvPr id="542" name="Google Shape;542;p70"/>
          <p:cNvSpPr txBox="1"/>
          <p:nvPr>
            <p:ph idx="1" type="body"/>
          </p:nvPr>
        </p:nvSpPr>
        <p:spPr>
          <a:xfrm>
            <a:off x="457200" y="2057400"/>
            <a:ext cx="8229600" cy="76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None/>
            </a:pPr>
            <a:r>
              <a:rPr lang="en-US"/>
              <a:t>Given the following definitions:</a:t>
            </a:r>
            <a:endParaRPr/>
          </a:p>
        </p:txBody>
      </p:sp>
      <p:sp>
        <p:nvSpPr>
          <p:cNvPr id="543" name="Google Shape;543;p70"/>
          <p:cNvSpPr txBox="1"/>
          <p:nvPr/>
        </p:nvSpPr>
        <p:spPr>
          <a:xfrm>
            <a:off x="304800" y="3048000"/>
            <a:ext cx="8458200" cy="3013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NUM_STUDENTS =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NUM_SCORES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total;   // Accumulator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average; // To hold average scores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scores[NUM_STUDENTS][NUM_SCORES]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{{88, 97, 79, 86, 94},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{86, 91, 78, 79, 84},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{82, 73, 77, 82, 89}};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1"/>
          <p:cNvSpPr txBox="1"/>
          <p:nvPr>
            <p:ph type="title"/>
          </p:nvPr>
        </p:nvSpPr>
        <p:spPr>
          <a:xfrm>
            <a:off x="4572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Summing the Rows of a Two-Dimensional Array</a:t>
            </a:r>
            <a:endParaRPr/>
          </a:p>
        </p:txBody>
      </p:sp>
      <p:sp>
        <p:nvSpPr>
          <p:cNvPr id="549" name="Google Shape;549;p71"/>
          <p:cNvSpPr txBox="1"/>
          <p:nvPr/>
        </p:nvSpPr>
        <p:spPr>
          <a:xfrm>
            <a:off x="304800" y="1676400"/>
            <a:ext cx="8610600" cy="4781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Get each student's average score.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for (int row = 0; row &lt; NUM_STUDENTS; 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Set the accumulator.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Sum a 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for (int col = 0; col &lt; NUM_SCORES; 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total += scores[row][col];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Get the average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average = total / NUM_SCORES;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Display the average.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cout &lt;&lt; "Score average for student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&lt;&lt; (row + 1) &lt;&lt; " is " &lt;&lt; average &lt;&lt;endl;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2"/>
          <p:cNvSpPr txBox="1"/>
          <p:nvPr>
            <p:ph type="title"/>
          </p:nvPr>
        </p:nvSpPr>
        <p:spPr>
          <a:xfrm>
            <a:off x="457200" y="838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Summing the Columns of a Two-Dimensional Array</a:t>
            </a:r>
            <a:endParaRPr/>
          </a:p>
        </p:txBody>
      </p:sp>
      <p:sp>
        <p:nvSpPr>
          <p:cNvPr id="555" name="Google Shape;555;p72"/>
          <p:cNvSpPr txBox="1"/>
          <p:nvPr>
            <p:ph idx="1" type="body"/>
          </p:nvPr>
        </p:nvSpPr>
        <p:spPr>
          <a:xfrm>
            <a:off x="304800" y="2209800"/>
            <a:ext cx="8229600" cy="76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None/>
            </a:pPr>
            <a:r>
              <a:rPr lang="en-US"/>
              <a:t>Given the following definitions:</a:t>
            </a:r>
            <a:endParaRPr/>
          </a:p>
        </p:txBody>
      </p:sp>
      <p:sp>
        <p:nvSpPr>
          <p:cNvPr id="556" name="Google Shape;556;p72"/>
          <p:cNvSpPr txBox="1"/>
          <p:nvPr/>
        </p:nvSpPr>
        <p:spPr>
          <a:xfrm>
            <a:off x="304800" y="3124200"/>
            <a:ext cx="8458200" cy="3013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NUM_STUDENTS =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const int NUM_SCORES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total;   // Accumulator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average; // To hold average scores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scores[NUM_STUDENTS][NUM_SCORES]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{{88, 97, 79, 86, 94},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{86, 91, 78, 79, 84},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      {82, 73, 77, 82, 89}};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3"/>
          <p:cNvSpPr txBox="1"/>
          <p:nvPr>
            <p:ph type="title"/>
          </p:nvPr>
        </p:nvSpPr>
        <p:spPr>
          <a:xfrm>
            <a:off x="495300"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4000"/>
              <a:t>Summing the Columns of a Two-Dimensional Array</a:t>
            </a:r>
            <a:endParaRPr/>
          </a:p>
        </p:txBody>
      </p:sp>
      <p:sp>
        <p:nvSpPr>
          <p:cNvPr id="562" name="Google Shape;562;p73"/>
          <p:cNvSpPr txBox="1"/>
          <p:nvPr/>
        </p:nvSpPr>
        <p:spPr>
          <a:xfrm>
            <a:off x="304800" y="1752600"/>
            <a:ext cx="8610600" cy="4781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Get the class average for each score.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for (int col = 0; col &lt; NUM_SCORES; 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Reset the accumulator.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Sum a column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for (int row = 0; row &lt; NUM_STUDENTS; 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total += scores[row][col];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Get the average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average = total / NUM_STUDENTS;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 Display the class average.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cout &lt;&lt; "Class average for test " &lt;&lt; (col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        &lt;&lt; " is " &lt;&lt; average &lt;&lt; endl;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4"/>
          <p:cNvSpPr txBox="1"/>
          <p:nvPr>
            <p:ph type="title"/>
          </p:nvPr>
        </p:nvSpPr>
        <p:spPr>
          <a:xfrm>
            <a:off x="0" y="0"/>
            <a:ext cx="9144000"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 of Strings</a:t>
            </a:r>
            <a:endParaRPr/>
          </a:p>
        </p:txBody>
      </p:sp>
      <p:sp>
        <p:nvSpPr>
          <p:cNvPr id="568" name="Google Shape;568;p74"/>
          <p:cNvSpPr txBox="1"/>
          <p:nvPr>
            <p:ph idx="1" type="body"/>
          </p:nvPr>
        </p:nvSpPr>
        <p:spPr>
          <a:xfrm>
            <a:off x="323850" y="1052513"/>
            <a:ext cx="8610600" cy="4953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Char char="•"/>
            </a:pPr>
            <a:r>
              <a:rPr lang="en-US"/>
              <a:t>Use a two-dimensional array of characters as an array of strings:</a:t>
            </a:r>
            <a:br>
              <a:rPr lang="en-US"/>
            </a:br>
            <a:r>
              <a:rPr b="1" lang="en-US" sz="2400">
                <a:latin typeface="Courier New"/>
                <a:ea typeface="Courier New"/>
                <a:cs typeface="Courier New"/>
                <a:sym typeface="Courier New"/>
              </a:rPr>
              <a:t>const int NAMES = 3, SIZE = 10;</a:t>
            </a:r>
            <a:br>
              <a:rPr b="1" lang="en-US" sz="2400">
                <a:latin typeface="Courier New"/>
                <a:ea typeface="Courier New"/>
                <a:cs typeface="Courier New"/>
                <a:sym typeface="Courier New"/>
              </a:rPr>
            </a:br>
            <a:r>
              <a:rPr b="1" lang="en-US" sz="2400">
                <a:latin typeface="Courier New"/>
                <a:ea typeface="Courier New"/>
                <a:cs typeface="Courier New"/>
                <a:sym typeface="Courier New"/>
              </a:rPr>
              <a:t>char students[NAMES][SIZE] = </a:t>
            </a:r>
            <a:endParaRPr/>
          </a:p>
          <a:p>
            <a:pPr indent="-285750" lvl="1" marL="742950" rtl="0" algn="l">
              <a:lnSpc>
                <a:spcPct val="90000"/>
              </a:lnSpc>
              <a:spcBef>
                <a:spcPts val="480"/>
              </a:spcBef>
              <a:spcAft>
                <a:spcPts val="0"/>
              </a:spcAft>
              <a:buClr>
                <a:srgbClr val="3333CC"/>
              </a:buClr>
              <a:buSzPts val="2400"/>
              <a:buFont typeface="Courier New"/>
              <a:buNone/>
            </a:pPr>
            <a:r>
              <a:rPr b="1" lang="en-US" sz="2400">
                <a:latin typeface="Courier New"/>
                <a:ea typeface="Courier New"/>
                <a:cs typeface="Courier New"/>
                <a:sym typeface="Courier New"/>
              </a:rPr>
              <a:t>{ "Ann", "Bill", "Cindy" };</a:t>
            </a:r>
            <a:br>
              <a:rPr b="1" lang="en-US" sz="2400">
                <a:latin typeface="Courier New"/>
                <a:ea typeface="Courier New"/>
                <a:cs typeface="Courier New"/>
                <a:sym typeface="Courier New"/>
              </a:rPr>
            </a:br>
            <a:endParaRPr b="1" sz="2400">
              <a:latin typeface="Courier New"/>
              <a:ea typeface="Courier New"/>
              <a:cs typeface="Courier New"/>
              <a:sym typeface="Courier New"/>
            </a:endParaRPr>
          </a:p>
          <a:p>
            <a:pPr indent="-342900" lvl="0" marL="342900" rtl="0" algn="l">
              <a:lnSpc>
                <a:spcPct val="90000"/>
              </a:lnSpc>
              <a:spcBef>
                <a:spcPts val="640"/>
              </a:spcBef>
              <a:spcAft>
                <a:spcPts val="0"/>
              </a:spcAft>
              <a:buClr>
                <a:schemeClr val="dk1"/>
              </a:buClr>
              <a:buSzPts val="3200"/>
              <a:buChar char="•"/>
            </a:pPr>
            <a:r>
              <a:rPr lang="en-US"/>
              <a:t>Each row contains one string</a:t>
            </a:r>
            <a:br>
              <a:rPr lang="en-US"/>
            </a:br>
            <a:endParaRPr/>
          </a:p>
          <a:p>
            <a:pPr indent="-342900" lvl="0" marL="342900" rtl="0" algn="l">
              <a:lnSpc>
                <a:spcPct val="90000"/>
              </a:lnSpc>
              <a:spcBef>
                <a:spcPts val="640"/>
              </a:spcBef>
              <a:spcAft>
                <a:spcPts val="0"/>
              </a:spcAft>
              <a:buClr>
                <a:schemeClr val="dk1"/>
              </a:buClr>
              <a:buSzPts val="3200"/>
              <a:buChar char="•"/>
            </a:pPr>
            <a:r>
              <a:rPr lang="en-US"/>
              <a:t>Can use row subscript to reference the string in a particular row:</a:t>
            </a:r>
            <a:endParaRPr/>
          </a:p>
          <a:p>
            <a:pPr indent="-285750" lvl="1" marL="742950" rtl="0" algn="l">
              <a:lnSpc>
                <a:spcPct val="9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cout &lt;&lt; students[i];</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5"/>
          <p:cNvSpPr/>
          <p:nvPr/>
        </p:nvSpPr>
        <p:spPr>
          <a:xfrm>
            <a:off x="0" y="0"/>
            <a:ext cx="9144000" cy="908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Array of Strings - example</a:t>
            </a:r>
            <a:endParaRPr b="0" i="0" sz="1400" u="none" cap="none" strike="noStrike">
              <a:solidFill>
                <a:srgbClr val="000000"/>
              </a:solidFill>
              <a:latin typeface="Arial"/>
              <a:ea typeface="Arial"/>
              <a:cs typeface="Arial"/>
              <a:sym typeface="Arial"/>
            </a:endParaRPr>
          </a:p>
        </p:txBody>
      </p:sp>
      <p:pic>
        <p:nvPicPr>
          <p:cNvPr id="574" name="Google Shape;574;p75"/>
          <p:cNvPicPr preferRelativeResize="0"/>
          <p:nvPr/>
        </p:nvPicPr>
        <p:blipFill rotWithShape="1">
          <a:blip r:embed="rId3">
            <a:alphaModFix/>
          </a:blip>
          <a:srcRect b="0" l="0" r="0" t="0"/>
          <a:stretch/>
        </p:blipFill>
        <p:spPr>
          <a:xfrm>
            <a:off x="250825" y="692150"/>
            <a:ext cx="8713788" cy="57721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76"/>
          <p:cNvPicPr preferRelativeResize="0"/>
          <p:nvPr/>
        </p:nvPicPr>
        <p:blipFill rotWithShape="1">
          <a:blip r:embed="rId3">
            <a:alphaModFix/>
          </a:blip>
          <a:srcRect b="0" l="0" r="0" t="0"/>
          <a:stretch/>
        </p:blipFill>
        <p:spPr>
          <a:xfrm>
            <a:off x="1371600" y="1714500"/>
            <a:ext cx="5667375" cy="2933700"/>
          </a:xfrm>
          <a:prstGeom prst="rect">
            <a:avLst/>
          </a:prstGeom>
          <a:noFill/>
          <a:ln>
            <a:noFill/>
          </a:ln>
        </p:spPr>
      </p:pic>
      <p:sp>
        <p:nvSpPr>
          <p:cNvPr id="580" name="Google Shape;580;p76"/>
          <p:cNvSpPr/>
          <p:nvPr/>
        </p:nvSpPr>
        <p:spPr>
          <a:xfrm>
            <a:off x="0" y="0"/>
            <a:ext cx="9144000" cy="105251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Array of Strings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7"/>
          <p:cNvSpPr txBox="1"/>
          <p:nvPr>
            <p:ph type="title"/>
          </p:nvPr>
        </p:nvSpPr>
        <p:spPr>
          <a:xfrm>
            <a:off x="392113" y="60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Arrays with Three or More</a:t>
            </a:r>
            <a:br>
              <a:rPr b="1" lang="en-US"/>
            </a:br>
            <a:r>
              <a:rPr b="1" lang="en-US"/>
              <a:t>Dimensions</a:t>
            </a:r>
            <a:endParaRPr/>
          </a:p>
        </p:txBody>
      </p:sp>
      <p:sp>
        <p:nvSpPr>
          <p:cNvPr id="586" name="Google Shape;586;p77"/>
          <p:cNvSpPr txBox="1"/>
          <p:nvPr>
            <p:ph idx="1" type="body"/>
          </p:nvPr>
        </p:nvSpPr>
        <p:spPr>
          <a:xfrm>
            <a:off x="457200" y="1901825"/>
            <a:ext cx="8164513" cy="40735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Can define arrays with any number of dimensions:</a:t>
            </a: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short rectSolid[2][3][5];</a:t>
            </a:r>
            <a:endParaRPr/>
          </a:p>
          <a:p>
            <a:pPr indent="-285750" lvl="1" marL="742950" rtl="0" algn="l">
              <a:lnSpc>
                <a:spcPct val="100000"/>
              </a:lnSpc>
              <a:spcBef>
                <a:spcPts val="560"/>
              </a:spcBef>
              <a:spcAft>
                <a:spcPts val="0"/>
              </a:spcAft>
              <a:buClr>
                <a:srgbClr val="3333CC"/>
              </a:buClr>
              <a:buSzPts val="2800"/>
              <a:buFont typeface="Courier New"/>
              <a:buNone/>
            </a:pPr>
            <a:r>
              <a:rPr lang="en-US">
                <a:latin typeface="Courier New"/>
                <a:ea typeface="Courier New"/>
                <a:cs typeface="Courier New"/>
                <a:sym typeface="Courier New"/>
              </a:rPr>
              <a:t>	double timeGrid[3][4][3][4];</a:t>
            </a:r>
            <a:endParaRPr/>
          </a:p>
          <a:p>
            <a:pPr indent="-342900" lvl="0" marL="342900" rtl="0" algn="l">
              <a:lnSpc>
                <a:spcPct val="100000"/>
              </a:lnSpc>
              <a:spcBef>
                <a:spcPts val="640"/>
              </a:spcBef>
              <a:spcAft>
                <a:spcPts val="0"/>
              </a:spcAft>
              <a:buClr>
                <a:schemeClr val="dk1"/>
              </a:buClr>
              <a:buSzPts val="3200"/>
              <a:buChar char="•"/>
            </a:pPr>
            <a:r>
              <a:rPr lang="en-US"/>
              <a:t>When used as parameter, specify all except 1</a:t>
            </a:r>
            <a:r>
              <a:rPr baseline="30000" lang="en-US"/>
              <a:t>st</a:t>
            </a:r>
            <a:r>
              <a:rPr lang="en-US"/>
              <a:t> dimension in prototype, heading:</a:t>
            </a:r>
            <a:endParaRPr/>
          </a:p>
          <a:p>
            <a:pPr indent="-285750" lvl="1" marL="742950" rtl="0" algn="l">
              <a:lnSpc>
                <a:spcPct val="100000"/>
              </a:lnSpc>
              <a:spcBef>
                <a:spcPts val="560"/>
              </a:spcBef>
              <a:spcAft>
                <a:spcPts val="0"/>
              </a:spcAft>
              <a:buClr>
                <a:srgbClr val="3333CC"/>
              </a:buClr>
              <a:buSzPts val="2800"/>
              <a:buFont typeface="Calibri"/>
              <a:buNone/>
            </a:pPr>
            <a:r>
              <a:rPr lang="en-US"/>
              <a:t>	</a:t>
            </a:r>
            <a:r>
              <a:rPr lang="en-US">
                <a:latin typeface="Courier New"/>
                <a:ea typeface="Courier New"/>
                <a:cs typeface="Courier New"/>
                <a:sym typeface="Courier New"/>
              </a:rPr>
              <a:t>void getRectSolid(short [][3][5]);</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8"/>
          <p:cNvSpPr/>
          <p:nvPr/>
        </p:nvSpPr>
        <p:spPr>
          <a:xfrm>
            <a:off x="0" y="228600"/>
            <a:ext cx="9144000" cy="620713"/>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In-Class Exercise</a:t>
            </a:r>
            <a:endParaRPr b="0" i="0" sz="1400" u="none" cap="none" strike="noStrike">
              <a:solidFill>
                <a:srgbClr val="000000"/>
              </a:solidFill>
              <a:latin typeface="Arial"/>
              <a:ea typeface="Arial"/>
              <a:cs typeface="Arial"/>
              <a:sym typeface="Arial"/>
            </a:endParaRPr>
          </a:p>
        </p:txBody>
      </p:sp>
      <p:sp>
        <p:nvSpPr>
          <p:cNvPr id="592" name="Google Shape;592;p78"/>
          <p:cNvSpPr/>
          <p:nvPr/>
        </p:nvSpPr>
        <p:spPr>
          <a:xfrm>
            <a:off x="304800" y="1295400"/>
            <a:ext cx="8294688" cy="4572000"/>
          </a:xfrm>
          <a:prstGeom prst="rect">
            <a:avLst/>
          </a:prstGeom>
          <a:noFill/>
          <a:ln>
            <a:noFill/>
          </a:ln>
        </p:spPr>
        <p:txBody>
          <a:bodyPr anchorCtr="0" anchor="t" bIns="45700" lIns="91425" spcFirstLastPara="1" rIns="0" wrap="square" tIns="45700">
            <a:noAutofit/>
          </a:bodyPr>
          <a:lstStyle/>
          <a:p>
            <a:pPr indent="-533400" lvl="0" marL="5334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Define a two-dimensional array of </a:t>
            </a:r>
            <a:r>
              <a:rPr b="0" i="0" lang="en-US" sz="2400" u="none" cap="none" strike="noStrike">
                <a:solidFill>
                  <a:schemeClr val="dk1"/>
                </a:solidFill>
                <a:latin typeface="Courier New"/>
                <a:ea typeface="Courier New"/>
                <a:cs typeface="Courier New"/>
                <a:sym typeface="Courier New"/>
              </a:rPr>
              <a:t>int</a:t>
            </a:r>
            <a:r>
              <a:rPr b="0" i="0" lang="en-US" sz="2400" u="none" cap="none" strike="noStrike">
                <a:solidFill>
                  <a:schemeClr val="dk1"/>
                </a:solidFill>
                <a:latin typeface="Calibri"/>
                <a:ea typeface="Calibri"/>
                <a:cs typeface="Calibri"/>
                <a:sym typeface="Calibri"/>
              </a:rPr>
              <a:t> named </a:t>
            </a:r>
            <a:r>
              <a:rPr b="0" i="0" lang="en-US" sz="2400" u="none" cap="none" strike="noStrike">
                <a:solidFill>
                  <a:schemeClr val="dk1"/>
                </a:solidFill>
                <a:latin typeface="Courier New"/>
                <a:ea typeface="Courier New"/>
                <a:cs typeface="Courier New"/>
                <a:sym typeface="Courier New"/>
              </a:rPr>
              <a:t>grades</a:t>
            </a:r>
            <a:r>
              <a:rPr b="0" i="0" lang="en-US" sz="2400" u="none" cap="none" strike="noStrike">
                <a:solidFill>
                  <a:schemeClr val="dk1"/>
                </a:solidFill>
                <a:latin typeface="Calibri"/>
                <a:ea typeface="Calibri"/>
                <a:cs typeface="Calibri"/>
                <a:sym typeface="Calibri"/>
              </a:rPr>
              <a:t>. It should have 30 rows and 10 columns.</a:t>
            </a:r>
            <a:endParaRPr b="0" i="0" sz="1400" u="none" cap="none" strike="noStrike">
              <a:solidFill>
                <a:srgbClr val="000000"/>
              </a:solidFill>
              <a:latin typeface="Arial"/>
              <a:ea typeface="Arial"/>
              <a:cs typeface="Arial"/>
              <a:sym typeface="Arial"/>
            </a:endParaRPr>
          </a:p>
          <a:p>
            <a:pPr indent="-533400" lvl="0" marL="533400" marR="0" rtl="0" algn="l">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How many elements are in the following array?</a:t>
            </a:r>
            <a:endParaRPr b="0" i="0" sz="1400" u="none" cap="none" strike="noStrike">
              <a:solidFill>
                <a:srgbClr val="000000"/>
              </a:solidFill>
              <a:latin typeface="Arial"/>
              <a:ea typeface="Arial"/>
              <a:cs typeface="Arial"/>
              <a:sym typeface="Arial"/>
            </a:endParaRPr>
          </a:p>
          <a:p>
            <a:pPr indent="-533400" lvl="1" marL="990600" marR="0" rtl="0" algn="l">
              <a:lnSpc>
                <a:spcPct val="100000"/>
              </a:lnSpc>
              <a:spcBef>
                <a:spcPts val="480"/>
              </a:spcBef>
              <a:spcAft>
                <a:spcPts val="0"/>
              </a:spcAft>
              <a:buClr>
                <a:srgbClr val="000000"/>
              </a:buClr>
              <a:buSzPts val="2400"/>
              <a:buFont typeface="Arial"/>
              <a:buNone/>
            </a:pPr>
            <a:r>
              <a:rPr b="0" i="0" lang="en-US" sz="2400" u="none" cap="none" strike="noStrike">
                <a:solidFill>
                  <a:schemeClr val="dk1"/>
                </a:solidFill>
                <a:latin typeface="Courier New"/>
                <a:ea typeface="Courier New"/>
                <a:cs typeface="Courier New"/>
                <a:sym typeface="Courier New"/>
              </a:rPr>
              <a:t>double sales[6][5];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2">
                                            <p:txEl>
                                              <p:pRg end="0" st="0"/>
                                            </p:txEl>
                                          </p:spTgt>
                                        </p:tgtEl>
                                        <p:attrNameLst>
                                          <p:attrName>style.visibility</p:attrName>
                                        </p:attrNameLst>
                                      </p:cBhvr>
                                      <p:to>
                                        <p:strVal val="visible"/>
                                      </p:to>
                                    </p:set>
                                    <p:anim calcmode="lin" valueType="num">
                                      <p:cBhvr additive="base">
                                        <p:cTn dur="500"/>
                                        <p:tgtEl>
                                          <p:spTgt spid="5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2">
                                            <p:txEl>
                                              <p:pRg end="1" st="1"/>
                                            </p:txEl>
                                          </p:spTgt>
                                        </p:tgtEl>
                                        <p:attrNameLst>
                                          <p:attrName>style.visibility</p:attrName>
                                        </p:attrNameLst>
                                      </p:cBhvr>
                                      <p:to>
                                        <p:strVal val="visible"/>
                                      </p:to>
                                    </p:set>
                                    <p:anim calcmode="lin" valueType="num">
                                      <p:cBhvr additive="base">
                                        <p:cTn dur="500"/>
                                        <p:tgtEl>
                                          <p:spTgt spid="5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2">
                                            <p:txEl>
                                              <p:pRg end="2" st="2"/>
                                            </p:txEl>
                                          </p:spTgt>
                                        </p:tgtEl>
                                        <p:attrNameLst>
                                          <p:attrName>style.visibility</p:attrName>
                                        </p:attrNameLst>
                                      </p:cBhvr>
                                      <p:to>
                                        <p:strVal val="visible"/>
                                      </p:to>
                                    </p:set>
                                    <p:anim calcmode="lin" valueType="num">
                                      <p:cBhvr additive="base">
                                        <p:cTn dur="500"/>
                                        <p:tgtEl>
                                          <p:spTgt spid="5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9"/>
          <p:cNvSpPr/>
          <p:nvPr/>
        </p:nvSpPr>
        <p:spPr>
          <a:xfrm>
            <a:off x="23446" y="152400"/>
            <a:ext cx="9144000" cy="765175"/>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In-Class Exercise</a:t>
            </a:r>
            <a:endParaRPr b="0" i="0" sz="1400" u="none" cap="none" strike="noStrike">
              <a:solidFill>
                <a:srgbClr val="000000"/>
              </a:solidFill>
              <a:latin typeface="Arial"/>
              <a:ea typeface="Arial"/>
              <a:cs typeface="Arial"/>
              <a:sym typeface="Arial"/>
            </a:endParaRPr>
          </a:p>
        </p:txBody>
      </p:sp>
      <p:sp>
        <p:nvSpPr>
          <p:cNvPr id="598" name="Google Shape;598;p79"/>
          <p:cNvSpPr/>
          <p:nvPr/>
        </p:nvSpPr>
        <p:spPr>
          <a:xfrm>
            <a:off x="304800" y="1600200"/>
            <a:ext cx="8294688" cy="1676400"/>
          </a:xfrm>
          <a:prstGeom prst="rect">
            <a:avLst/>
          </a:prstGeom>
          <a:noFill/>
          <a:ln>
            <a:noFill/>
          </a:ln>
        </p:spPr>
        <p:txBody>
          <a:bodyPr anchorCtr="0" anchor="t" bIns="45700" lIns="91425" spcFirstLastPara="1" rIns="0" wrap="square" tIns="45700">
            <a:noAutofit/>
          </a:bodyPr>
          <a:lstStyle/>
          <a:p>
            <a:pPr indent="-533400" lvl="0" marL="5334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Define an array of strings to store the name of your friends in this class.</a:t>
            </a:r>
            <a:endParaRPr b="0" i="0" sz="1400" u="none" cap="none" strike="noStrike">
              <a:solidFill>
                <a:srgbClr val="000000"/>
              </a:solidFill>
              <a:latin typeface="Arial"/>
              <a:ea typeface="Arial"/>
              <a:cs typeface="Arial"/>
              <a:sym typeface="Arial"/>
            </a:endParaRPr>
          </a:p>
          <a:p>
            <a:pPr indent="-533400" lvl="0" marL="533400" marR="0" rtl="0" algn="l">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Initialize the array with 5 names.</a:t>
            </a:r>
            <a:endParaRPr b="0" i="0" sz="1400" u="none" cap="none" strike="noStrike">
              <a:solidFill>
                <a:srgbClr val="000000"/>
              </a:solidFill>
              <a:latin typeface="Arial"/>
              <a:ea typeface="Arial"/>
              <a:cs typeface="Arial"/>
              <a:sym typeface="Arial"/>
            </a:endParaRPr>
          </a:p>
          <a:p>
            <a:pPr indent="-533400" lvl="0" marL="533400" marR="0" rtl="0" algn="l">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Print the names.</a:t>
            </a:r>
            <a:endParaRPr b="0" i="0" sz="1400" u="none" cap="none" strike="noStrike">
              <a:solidFill>
                <a:srgbClr val="000000"/>
              </a:solidFill>
              <a:latin typeface="Arial"/>
              <a:ea typeface="Arial"/>
              <a:cs typeface="Arial"/>
              <a:sym typeface="Arial"/>
            </a:endParaRPr>
          </a:p>
          <a:p>
            <a:pPr indent="-533400" lvl="0" marL="533400" marR="0" rtl="0" algn="l">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Write a function to change the names in the array.</a:t>
            </a:r>
            <a:endParaRPr b="0" i="0" sz="1400" u="none" cap="none" strike="noStrike">
              <a:solidFill>
                <a:srgbClr val="000000"/>
              </a:solidFill>
              <a:latin typeface="Arial"/>
              <a:ea typeface="Arial"/>
              <a:cs typeface="Arial"/>
              <a:sym typeface="Arial"/>
            </a:endParaRPr>
          </a:p>
          <a:p>
            <a:pPr indent="-533400" lvl="0" marL="533400" marR="0" rtl="0" algn="l">
              <a:lnSpc>
                <a:spcPct val="100000"/>
              </a:lnSpc>
              <a:spcBef>
                <a:spcPts val="48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ourier New"/>
                <a:ea typeface="Courier New"/>
                <a:cs typeface="Courier New"/>
                <a:sym typeface="Courier New"/>
              </a:rPr>
              <a:t>void changeName(char [][25], int size);</a:t>
            </a:r>
            <a:endParaRPr b="0" i="0" sz="2400" u="none" cap="none" strike="noStrike">
              <a:solidFill>
                <a:schemeClr val="dk1"/>
              </a:solidFill>
              <a:latin typeface="Calibri"/>
              <a:ea typeface="Calibri"/>
              <a:cs typeface="Calibri"/>
              <a:sym typeface="Calibri"/>
            </a:endParaRPr>
          </a:p>
          <a:p>
            <a:pPr indent="-533400" lvl="0" marL="533400" marR="0" rtl="0" algn="l">
              <a:lnSpc>
                <a:spcPct val="100000"/>
              </a:lnSpc>
              <a:spcBef>
                <a:spcPts val="48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80"/>
          <p:cNvSpPr txBox="1"/>
          <p:nvPr>
            <p:ph type="title"/>
          </p:nvPr>
        </p:nvSpPr>
        <p:spPr>
          <a:xfrm>
            <a:off x="685800" y="152400"/>
            <a:ext cx="8229600" cy="765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3600"/>
              <a:t>In-Class Exercise</a:t>
            </a:r>
            <a:endParaRPr/>
          </a:p>
        </p:txBody>
      </p:sp>
      <p:sp>
        <p:nvSpPr>
          <p:cNvPr id="604" name="Google Shape;604;p80"/>
          <p:cNvSpPr txBox="1"/>
          <p:nvPr>
            <p:ph idx="1" type="body"/>
          </p:nvPr>
        </p:nvSpPr>
        <p:spPr>
          <a:xfrm>
            <a:off x="457200" y="1166018"/>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lang="en-US" sz="2400"/>
              <a:t>Consider the following declarations:</a:t>
            </a:r>
            <a:endParaRPr/>
          </a:p>
          <a:p>
            <a:pPr indent="-285750" lvl="1" marL="742950" rtl="0" algn="l">
              <a:lnSpc>
                <a:spcPct val="100000"/>
              </a:lnSpc>
              <a:spcBef>
                <a:spcPts val="400"/>
              </a:spcBef>
              <a:spcAft>
                <a:spcPts val="0"/>
              </a:spcAft>
              <a:buClr>
                <a:schemeClr val="dk1"/>
              </a:buClr>
              <a:buSzPts val="2000"/>
              <a:buFont typeface="Arial"/>
              <a:buNone/>
            </a:pPr>
            <a:r>
              <a:rPr lang="en-US" sz="2000">
                <a:latin typeface="Courier New"/>
                <a:ea typeface="Courier New"/>
                <a:cs typeface="Courier New"/>
                <a:sym typeface="Courier New"/>
              </a:rPr>
              <a:t>const int CAR_TYPES = 5;</a:t>
            </a:r>
            <a:endParaRPr/>
          </a:p>
          <a:p>
            <a:pPr indent="-285750" lvl="1" marL="742950" rtl="0" algn="l">
              <a:lnSpc>
                <a:spcPct val="100000"/>
              </a:lnSpc>
              <a:spcBef>
                <a:spcPts val="400"/>
              </a:spcBef>
              <a:spcAft>
                <a:spcPts val="0"/>
              </a:spcAft>
              <a:buClr>
                <a:schemeClr val="dk1"/>
              </a:buClr>
              <a:buSzPts val="2000"/>
              <a:buFont typeface="Arial"/>
              <a:buNone/>
            </a:pPr>
            <a:r>
              <a:rPr lang="en-US" sz="2000">
                <a:latin typeface="Courier New"/>
                <a:ea typeface="Courier New"/>
                <a:cs typeface="Courier New"/>
                <a:sym typeface="Courier New"/>
              </a:rPr>
              <a:t>const int COLOR_TYPES = 6;</a:t>
            </a:r>
            <a:endParaRPr/>
          </a:p>
          <a:p>
            <a:pPr indent="-285750" lvl="1" marL="742950" rtl="0" algn="l">
              <a:lnSpc>
                <a:spcPct val="100000"/>
              </a:lnSpc>
              <a:spcBef>
                <a:spcPts val="400"/>
              </a:spcBef>
              <a:spcAft>
                <a:spcPts val="0"/>
              </a:spcAft>
              <a:buClr>
                <a:schemeClr val="dk1"/>
              </a:buClr>
              <a:buSzPts val="2000"/>
              <a:buFont typeface="Arial"/>
              <a:buNone/>
            </a:pPr>
            <a:r>
              <a:rPr lang="en-US" sz="2000">
                <a:latin typeface="Courier New"/>
                <a:ea typeface="Courier New"/>
                <a:cs typeface="Courier New"/>
                <a:sym typeface="Courier New"/>
              </a:rPr>
              <a:t>double sales[CAR_TYPES][COLOR_TYPES];</a:t>
            </a:r>
            <a:endParaRPr/>
          </a:p>
          <a:p>
            <a:pPr indent="-285750" lvl="1" marL="742950" rtl="0" algn="l">
              <a:lnSpc>
                <a:spcPct val="100000"/>
              </a:lnSpc>
              <a:spcBef>
                <a:spcPts val="400"/>
              </a:spcBef>
              <a:spcAft>
                <a:spcPts val="0"/>
              </a:spcAft>
              <a:buClr>
                <a:schemeClr val="dk1"/>
              </a:buClr>
              <a:buSzPts val="2000"/>
              <a:buFont typeface="Arial"/>
              <a:buNone/>
            </a:pPr>
            <a:r>
              <a:t/>
            </a:r>
            <a:endParaRPr sz="2000">
              <a:latin typeface="Courier New"/>
              <a:ea typeface="Courier New"/>
              <a:cs typeface="Courier New"/>
              <a:sym typeface="Courier New"/>
            </a:endParaRPr>
          </a:p>
          <a:p>
            <a:pPr indent="-457200" lvl="0" marL="457200" rtl="0" algn="l">
              <a:lnSpc>
                <a:spcPct val="100000"/>
              </a:lnSpc>
              <a:spcBef>
                <a:spcPts val="480"/>
              </a:spcBef>
              <a:spcAft>
                <a:spcPts val="0"/>
              </a:spcAft>
              <a:buClr>
                <a:schemeClr val="dk1"/>
              </a:buClr>
              <a:buSzPts val="2400"/>
              <a:buFont typeface="Arial"/>
              <a:buAutoNum type="alphaLcParenR"/>
            </a:pPr>
            <a:r>
              <a:rPr lang="en-US" sz="2400">
                <a:latin typeface="Arial"/>
                <a:ea typeface="Arial"/>
                <a:cs typeface="Arial"/>
                <a:sym typeface="Arial"/>
              </a:rPr>
              <a:t>How many elements does the array sales have?</a:t>
            </a:r>
            <a:endParaRPr/>
          </a:p>
          <a:p>
            <a:pPr indent="-457200" lvl="0" marL="457200" rtl="0" algn="l">
              <a:lnSpc>
                <a:spcPct val="100000"/>
              </a:lnSpc>
              <a:spcBef>
                <a:spcPts val="480"/>
              </a:spcBef>
              <a:spcAft>
                <a:spcPts val="0"/>
              </a:spcAft>
              <a:buClr>
                <a:schemeClr val="dk1"/>
              </a:buClr>
              <a:buSzPts val="2400"/>
              <a:buFont typeface="Arial"/>
              <a:buAutoNum type="alphaLcParenR"/>
            </a:pPr>
            <a:r>
              <a:rPr lang="en-US" sz="2400">
                <a:latin typeface="Arial"/>
                <a:ea typeface="Arial"/>
                <a:cs typeface="Arial"/>
                <a:sym typeface="Arial"/>
              </a:rPr>
              <a:t>What is the number of rows in the array sales?</a:t>
            </a:r>
            <a:endParaRPr/>
          </a:p>
          <a:p>
            <a:pPr indent="-457200" lvl="0" marL="457200" rtl="0" algn="l">
              <a:lnSpc>
                <a:spcPct val="100000"/>
              </a:lnSpc>
              <a:spcBef>
                <a:spcPts val="480"/>
              </a:spcBef>
              <a:spcAft>
                <a:spcPts val="0"/>
              </a:spcAft>
              <a:buClr>
                <a:schemeClr val="dk1"/>
              </a:buClr>
              <a:buSzPts val="2400"/>
              <a:buFont typeface="Arial"/>
              <a:buAutoNum type="alphaLcParenR"/>
            </a:pPr>
            <a:r>
              <a:rPr lang="en-US" sz="2400">
                <a:latin typeface="Arial"/>
                <a:ea typeface="Arial"/>
                <a:cs typeface="Arial"/>
                <a:sym typeface="Arial"/>
              </a:rPr>
              <a:t>What is the number of columns in the array sales?</a:t>
            </a:r>
            <a:endParaRPr/>
          </a:p>
          <a:p>
            <a:pPr indent="-457200" lvl="0" marL="457200" rtl="0" algn="l">
              <a:lnSpc>
                <a:spcPct val="100000"/>
              </a:lnSpc>
              <a:spcBef>
                <a:spcPts val="480"/>
              </a:spcBef>
              <a:spcAft>
                <a:spcPts val="0"/>
              </a:spcAft>
              <a:buClr>
                <a:schemeClr val="dk1"/>
              </a:buClr>
              <a:buSzPts val="2400"/>
              <a:buFont typeface="Arial"/>
              <a:buAutoNum type="alphaLcParenR"/>
            </a:pPr>
            <a:r>
              <a:rPr lang="en-US" sz="2400">
                <a:latin typeface="Arial"/>
                <a:ea typeface="Arial"/>
                <a:cs typeface="Arial"/>
                <a:sym typeface="Arial"/>
              </a:rPr>
              <a:t>Write a complete code to sum the sales by </a:t>
            </a:r>
            <a:r>
              <a:rPr lang="en-US" sz="2400">
                <a:latin typeface="Courier New"/>
                <a:ea typeface="Courier New"/>
                <a:cs typeface="Courier New"/>
                <a:sym typeface="Courier New"/>
              </a:rPr>
              <a:t>CAR_TYPES</a:t>
            </a:r>
            <a:r>
              <a:rPr lang="en-US" sz="2400">
                <a:latin typeface="Arial"/>
                <a:ea typeface="Arial"/>
                <a:cs typeface="Arial"/>
                <a:sym typeface="Arial"/>
              </a:rPr>
              <a:t>.</a:t>
            </a:r>
            <a:endParaRPr/>
          </a:p>
          <a:p>
            <a:pPr indent="-457200" lvl="0" marL="457200" rtl="0" algn="l">
              <a:lnSpc>
                <a:spcPct val="100000"/>
              </a:lnSpc>
              <a:spcBef>
                <a:spcPts val="480"/>
              </a:spcBef>
              <a:spcAft>
                <a:spcPts val="0"/>
              </a:spcAft>
              <a:buClr>
                <a:schemeClr val="dk1"/>
              </a:buClr>
              <a:buSzPts val="2400"/>
              <a:buFont typeface="Arial"/>
              <a:buAutoNum type="alphaLcParenR"/>
            </a:pPr>
            <a:r>
              <a:rPr lang="en-US" sz="2400">
                <a:latin typeface="Arial"/>
                <a:ea typeface="Arial"/>
                <a:cs typeface="Arial"/>
                <a:sym typeface="Arial"/>
              </a:rPr>
              <a:t>Write a complete code to sum the sales by </a:t>
            </a:r>
            <a:r>
              <a:rPr lang="en-US" sz="2400">
                <a:latin typeface="Courier New"/>
                <a:ea typeface="Courier New"/>
                <a:cs typeface="Courier New"/>
                <a:sym typeface="Courier New"/>
              </a:rPr>
              <a:t>COLOR_TYPES</a:t>
            </a:r>
            <a:r>
              <a:rPr lang="en-US" sz="2400">
                <a:latin typeface="Arial"/>
                <a:ea typeface="Arial"/>
                <a:cs typeface="Arial"/>
                <a:sym typeface="Arial"/>
              </a:rPr>
              <a:t>.</a:t>
            </a:r>
            <a:endParaRPr sz="24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81"/>
          <p:cNvSpPr txBox="1"/>
          <p:nvPr>
            <p:ph idx="1" type="body"/>
          </p:nvPr>
        </p:nvSpPr>
        <p:spPr>
          <a:xfrm>
            <a:off x="0" y="0"/>
            <a:ext cx="9144000" cy="6858000"/>
          </a:xfrm>
          <a:prstGeom prst="rect">
            <a:avLst/>
          </a:prstGeom>
          <a:solidFill>
            <a:schemeClr val="lt1"/>
          </a:solid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lang="en-US" sz="2400"/>
              <a:t>Write a complete program that stores the following number of medal collection for 5 countries into the 2-D array called medals.</a:t>
            </a:r>
            <a:endParaRPr/>
          </a:p>
          <a:p>
            <a:pPr indent="-342900" lvl="0" marL="342900" rtl="0" algn="l">
              <a:lnSpc>
                <a:spcPct val="100000"/>
              </a:lnSpc>
              <a:spcBef>
                <a:spcPts val="480"/>
              </a:spcBef>
              <a:spcAft>
                <a:spcPts val="0"/>
              </a:spcAft>
              <a:buClr>
                <a:schemeClr val="dk1"/>
              </a:buClr>
              <a:buSzPts val="2400"/>
              <a:buFont typeface="Arial"/>
              <a:buNone/>
            </a:pPr>
            <a:r>
              <a:t/>
            </a:r>
            <a:endParaRPr sz="2400"/>
          </a:p>
          <a:p>
            <a:pPr indent="-3429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Char char="•"/>
            </a:pPr>
            <a:r>
              <a:rPr lang="en-US" sz="2400"/>
              <a:t>Your program must have the following functions that do the following:</a:t>
            </a:r>
            <a:endParaRPr/>
          </a:p>
          <a:p>
            <a:pPr indent="-285750" lvl="1" marL="742950" rtl="0" algn="l">
              <a:lnSpc>
                <a:spcPct val="100000"/>
              </a:lnSpc>
              <a:spcBef>
                <a:spcPts val="480"/>
              </a:spcBef>
              <a:spcAft>
                <a:spcPts val="0"/>
              </a:spcAft>
              <a:buClr>
                <a:schemeClr val="dk1"/>
              </a:buClr>
              <a:buSzPts val="2400"/>
              <a:buChar char="–"/>
            </a:pPr>
            <a:r>
              <a:rPr lang="en-US" sz="2400"/>
              <a:t>Read the number of medal for each country from a keyboard and store them inside the medals array.</a:t>
            </a:r>
            <a:endParaRPr/>
          </a:p>
          <a:p>
            <a:pPr indent="-285750" lvl="1" marL="742950" rtl="0" algn="l">
              <a:lnSpc>
                <a:spcPct val="100000"/>
              </a:lnSpc>
              <a:spcBef>
                <a:spcPts val="480"/>
              </a:spcBef>
              <a:spcAft>
                <a:spcPts val="0"/>
              </a:spcAft>
              <a:buClr>
                <a:schemeClr val="dk1"/>
              </a:buClr>
              <a:buSzPts val="2400"/>
              <a:buChar char="–"/>
            </a:pPr>
            <a:r>
              <a:rPr lang="en-US" sz="2400"/>
              <a:t>Return total number of medals won by country 3.</a:t>
            </a:r>
            <a:endParaRPr/>
          </a:p>
          <a:p>
            <a:pPr indent="-285750" lvl="1" marL="742950" rtl="0" algn="l">
              <a:lnSpc>
                <a:spcPct val="100000"/>
              </a:lnSpc>
              <a:spcBef>
                <a:spcPts val="480"/>
              </a:spcBef>
              <a:spcAft>
                <a:spcPts val="0"/>
              </a:spcAft>
              <a:buClr>
                <a:schemeClr val="dk1"/>
              </a:buClr>
              <a:buSzPts val="2400"/>
              <a:buChar char="–"/>
            </a:pPr>
            <a:r>
              <a:rPr lang="en-US" sz="2400"/>
              <a:t>Return the largest number of medals won.</a:t>
            </a:r>
            <a:endParaRPr/>
          </a:p>
          <a:p>
            <a:pPr indent="-285750" lvl="1" marL="742950" rtl="0" algn="l">
              <a:lnSpc>
                <a:spcPct val="100000"/>
              </a:lnSpc>
              <a:spcBef>
                <a:spcPts val="480"/>
              </a:spcBef>
              <a:spcAft>
                <a:spcPts val="0"/>
              </a:spcAft>
              <a:buClr>
                <a:schemeClr val="dk1"/>
              </a:buClr>
              <a:buSzPts val="2400"/>
              <a:buChar char="–"/>
            </a:pPr>
            <a:r>
              <a:rPr lang="en-US" sz="2400"/>
              <a:t>Return the smallest number of medals won.</a:t>
            </a:r>
            <a:endParaRPr/>
          </a:p>
          <a:p>
            <a:pPr indent="-285750" lvl="1" marL="742950" rtl="0" algn="l">
              <a:lnSpc>
                <a:spcPct val="100000"/>
              </a:lnSpc>
              <a:spcBef>
                <a:spcPts val="480"/>
              </a:spcBef>
              <a:spcAft>
                <a:spcPts val="0"/>
              </a:spcAft>
              <a:buClr>
                <a:schemeClr val="dk1"/>
              </a:buClr>
              <a:buSzPts val="2400"/>
              <a:buChar char="–"/>
            </a:pPr>
            <a:r>
              <a:rPr lang="en-US" sz="2400"/>
              <a:t>Return the highest number of gold medal won.</a:t>
            </a:r>
            <a:endParaRPr/>
          </a:p>
          <a:p>
            <a:pPr indent="-285750" lvl="1" marL="742950" rtl="0" algn="l">
              <a:lnSpc>
                <a:spcPct val="100000"/>
              </a:lnSpc>
              <a:spcBef>
                <a:spcPts val="480"/>
              </a:spcBef>
              <a:spcAft>
                <a:spcPts val="0"/>
              </a:spcAft>
              <a:buClr>
                <a:schemeClr val="dk1"/>
              </a:buClr>
              <a:buSzPts val="2400"/>
              <a:buChar char="–"/>
            </a:pPr>
            <a:r>
              <a:rPr lang="en-US" sz="2400"/>
              <a:t>Return the total number of bronze medal won.</a:t>
            </a:r>
            <a:endParaRPr/>
          </a:p>
          <a:p>
            <a:pPr indent="-133350" lvl="1" marL="742950" rtl="0" algn="l">
              <a:lnSpc>
                <a:spcPct val="100000"/>
              </a:lnSpc>
              <a:spcBef>
                <a:spcPts val="480"/>
              </a:spcBef>
              <a:spcAft>
                <a:spcPts val="0"/>
              </a:spcAft>
              <a:buClr>
                <a:schemeClr val="dk1"/>
              </a:buClr>
              <a:buSzPts val="2400"/>
              <a:buNone/>
            </a:pPr>
            <a:r>
              <a:t/>
            </a:r>
            <a:endParaRPr sz="2400"/>
          </a:p>
          <a:p>
            <a:pPr indent="-165100" lvl="0" marL="342900" rtl="0" algn="l">
              <a:lnSpc>
                <a:spcPct val="100000"/>
              </a:lnSpc>
              <a:spcBef>
                <a:spcPts val="560"/>
              </a:spcBef>
              <a:spcAft>
                <a:spcPts val="0"/>
              </a:spcAft>
              <a:buClr>
                <a:schemeClr val="dk1"/>
              </a:buClr>
              <a:buSzPts val="2800"/>
              <a:buNone/>
            </a:pPr>
            <a:r>
              <a:t/>
            </a:r>
            <a:endParaRPr sz="2800"/>
          </a:p>
          <a:p>
            <a:pPr indent="-165100" lvl="0" marL="342900" rtl="0" algn="l">
              <a:lnSpc>
                <a:spcPct val="100000"/>
              </a:lnSpc>
              <a:spcBef>
                <a:spcPts val="560"/>
              </a:spcBef>
              <a:spcAft>
                <a:spcPts val="0"/>
              </a:spcAft>
              <a:buClr>
                <a:schemeClr val="dk1"/>
              </a:buClr>
              <a:buSzPts val="2800"/>
              <a:buNone/>
            </a:pPr>
            <a:r>
              <a:t/>
            </a:r>
            <a:endParaRPr sz="2800"/>
          </a:p>
          <a:p>
            <a:pPr indent="-165100" lvl="0" marL="342900" rtl="0" algn="l">
              <a:lnSpc>
                <a:spcPct val="100000"/>
              </a:lnSpc>
              <a:spcBef>
                <a:spcPts val="560"/>
              </a:spcBef>
              <a:spcAft>
                <a:spcPts val="0"/>
              </a:spcAft>
              <a:buClr>
                <a:schemeClr val="dk1"/>
              </a:buClr>
              <a:buSzPts val="2800"/>
              <a:buNone/>
            </a:pPr>
            <a:r>
              <a:t/>
            </a:r>
            <a:endParaRPr sz="2800"/>
          </a:p>
          <a:p>
            <a:pPr indent="-165100" lvl="0" marL="342900" rtl="0" algn="l">
              <a:lnSpc>
                <a:spcPct val="100000"/>
              </a:lnSpc>
              <a:spcBef>
                <a:spcPts val="560"/>
              </a:spcBef>
              <a:spcAft>
                <a:spcPts val="0"/>
              </a:spcAft>
              <a:buClr>
                <a:schemeClr val="dk1"/>
              </a:buClr>
              <a:buSzPts val="2800"/>
              <a:buNone/>
            </a:pPr>
            <a:r>
              <a:t/>
            </a:r>
            <a:endParaRPr sz="2800"/>
          </a:p>
        </p:txBody>
      </p:sp>
      <p:graphicFrame>
        <p:nvGraphicFramePr>
          <p:cNvPr id="610" name="Google Shape;610;p81"/>
          <p:cNvGraphicFramePr/>
          <p:nvPr/>
        </p:nvGraphicFramePr>
        <p:xfrm>
          <a:off x="1258888" y="836613"/>
          <a:ext cx="3000000" cy="3000000"/>
        </p:xfrm>
        <a:graphic>
          <a:graphicData uri="http://schemas.openxmlformats.org/drawingml/2006/table">
            <a:tbl>
              <a:tblPr bandRow="1" firstRow="1">
                <a:noFill/>
                <a:tableStyleId>{7A70198F-9F40-407C-B196-5E6CE528C599}</a:tableStyleId>
              </a:tblPr>
              <a:tblGrid>
                <a:gridCol w="1524000"/>
                <a:gridCol w="1524000"/>
                <a:gridCol w="1524000"/>
                <a:gridCol w="1524000"/>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rPr>
                        <a:t>Gold</a:t>
                      </a:r>
                      <a:endParaRPr sz="18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rPr>
                        <a:t>Silver</a:t>
                      </a:r>
                      <a:endParaRPr sz="18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rPr>
                        <a:t>Bronze</a:t>
                      </a:r>
                      <a:endParaRPr sz="1800" u="none" cap="none" strike="noStrike">
                        <a:solidFill>
                          <a:schemeClr val="dk1"/>
                        </a:solidFill>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Country 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590</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Country 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279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394</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Country 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115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290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123</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Country 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98</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209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112</a:t>
                      </a:r>
                      <a:endParaRPr sz="1800" u="none" cap="none" strike="noStrike"/>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2014-02-24T04:16:52Z</dcterms:created>
  <dc:creator>user</dc:creator>
</cp:coreProperties>
</file>