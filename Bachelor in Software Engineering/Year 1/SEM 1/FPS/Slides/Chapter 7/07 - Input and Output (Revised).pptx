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jMf3o0Z8o/qtvbsSWo8n2pzlml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3A3E1D-462E-445F-BA98-C4308DC0449D}">
  <a:tblStyle styleId="{103A3E1D-462E-445F-BA98-C4308DC0449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E8E8"/>
          </a:solidFill>
        </a:fill>
      </a:tcStyle>
    </a:wholeTbl>
    <a:band1H>
      <a:tcTxStyle/>
      <a:tcStyle>
        <a:tcBdr/>
        <a:fill>
          <a:solidFill>
            <a:srgbClr val="E8CFC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8CFC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51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" name="Google Shape;33;p48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8"/>
          <p:cNvSpPr>
            <a:spLocks noGrp="1"/>
          </p:cNvSpPr>
          <p:nvPr>
            <p:ph type="body" idx="2"/>
          </p:nvPr>
        </p:nvSpPr>
        <p:spPr>
          <a:xfrm>
            <a:off x="455645" y="25146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48"/>
          <p:cNvSpPr>
            <a:spLocks noGrp="1"/>
          </p:cNvSpPr>
          <p:nvPr>
            <p:ph type="body" idx="3"/>
          </p:nvPr>
        </p:nvSpPr>
        <p:spPr>
          <a:xfrm>
            <a:off x="455645" y="35052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8"/>
          <p:cNvSpPr>
            <a:spLocks noGrp="1"/>
          </p:cNvSpPr>
          <p:nvPr>
            <p:ph type="body" idx="4"/>
          </p:nvPr>
        </p:nvSpPr>
        <p:spPr>
          <a:xfrm>
            <a:off x="455645" y="44958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8"/>
          <p:cNvSpPr>
            <a:spLocks noGrp="1"/>
          </p:cNvSpPr>
          <p:nvPr>
            <p:ph type="body" idx="5"/>
          </p:nvPr>
        </p:nvSpPr>
        <p:spPr>
          <a:xfrm>
            <a:off x="455645" y="5502679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5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" name="Google Shape;57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5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4" name="Google Shape;64;p5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5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6" name="Google Shape;66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2" name="Google Shape;72;p5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5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4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07: INPUT AND OUTPUT</a:t>
            </a:r>
            <a:endParaRPr dirty="0"/>
          </a:p>
        </p:txBody>
      </p:sp>
      <p:sp>
        <p:nvSpPr>
          <p:cNvPr id="100" name="Google Shape;100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cap="none"/>
              <a:t>Formatting Output</a:t>
            </a:r>
            <a:endParaRPr cap="none"/>
          </a:p>
        </p:txBody>
      </p:sp>
      <p:sp>
        <p:nvSpPr>
          <p:cNvPr id="106" name="Google Shape;106;p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Output Formatting</a:t>
            </a:r>
            <a:endParaRPr/>
          </a:p>
        </p:txBody>
      </p:sp>
      <p:sp>
        <p:nvSpPr>
          <p:cNvPr id="112" name="Google Shape;112;p3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205224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</a:t>
            </a:r>
            <a:r>
              <a:rPr lang="en-GB" b="1" u="sng"/>
              <a:t>control how output displays</a:t>
            </a:r>
            <a:r>
              <a:rPr lang="en-GB"/>
              <a:t> for numeric and string data: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size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position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number of digits</a:t>
            </a:r>
            <a:endParaRPr/>
          </a:p>
        </p:txBody>
      </p:sp>
      <p:sp>
        <p:nvSpPr>
          <p:cNvPr id="113" name="Google Shape;113;p3"/>
          <p:cNvSpPr>
            <a:spLocks noGrp="1"/>
          </p:cNvSpPr>
          <p:nvPr>
            <p:ph type="body" idx="2"/>
          </p:nvPr>
        </p:nvSpPr>
        <p:spPr>
          <a:xfrm>
            <a:off x="455645" y="3733800"/>
            <a:ext cx="8229600" cy="9906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Done through the use of manipulators, special variables or objects that are placed on the output stream.</a:t>
            </a:r>
            <a:endParaRPr/>
          </a:p>
        </p:txBody>
      </p:sp>
      <p:sp>
        <p:nvSpPr>
          <p:cNvPr id="114" name="Google Shape;114;p3"/>
          <p:cNvSpPr>
            <a:spLocks noGrp="1"/>
          </p:cNvSpPr>
          <p:nvPr>
            <p:ph type="body" idx="3"/>
          </p:nvPr>
        </p:nvSpPr>
        <p:spPr>
          <a:xfrm>
            <a:off x="455645" y="4953000"/>
            <a:ext cx="8229600" cy="1066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Most of the standard manipulators are found in </a:t>
            </a:r>
            <a:r>
              <a:rPr lang="en-GB" b="1"/>
              <a:t>&lt;iostream&gt;</a:t>
            </a:r>
            <a:r>
              <a:rPr lang="en-GB"/>
              <a:t>, some requires &lt;</a:t>
            </a:r>
            <a:r>
              <a:rPr lang="en-GB" b="1"/>
              <a:t>iomanip&gt;</a:t>
            </a:r>
            <a:r>
              <a:rPr lang="en-GB"/>
              <a:t> header file.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Stream Manipulators</a:t>
            </a:r>
            <a:endParaRPr/>
          </a:p>
        </p:txBody>
      </p:sp>
      <p:graphicFrame>
        <p:nvGraphicFramePr>
          <p:cNvPr id="120" name="Google Shape;120;p4"/>
          <p:cNvGraphicFramePr/>
          <p:nvPr/>
        </p:nvGraphicFramePr>
        <p:xfrm>
          <a:off x="152400" y="1468120"/>
          <a:ext cx="8839200" cy="4551710"/>
        </p:xfrm>
        <a:graphic>
          <a:graphicData uri="http://schemas.openxmlformats.org/drawingml/2006/table">
            <a:tbl>
              <a:tblPr firstRow="1" bandRow="1">
                <a:noFill/>
                <a:tableStyleId>{103A3E1D-462E-445F-BA98-C4308DC0449D}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Stream Manipulator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Description</a:t>
                      </a:r>
                      <a:endParaRPr sz="24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/>
                        <a:t>setw(</a:t>
                      </a:r>
                      <a:r>
                        <a:rPr lang="en-GB" sz="2400" b="1" i="1"/>
                        <a:t>n</a:t>
                      </a:r>
                      <a:r>
                        <a:rPr lang="en-GB" sz="2400" b="1"/>
                        <a:t>)</a:t>
                      </a:r>
                      <a:endParaRPr sz="2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Establishes a print field on </a:t>
                      </a:r>
                      <a:r>
                        <a:rPr lang="en-GB" sz="2400" i="1"/>
                        <a:t>n</a:t>
                      </a:r>
                      <a:r>
                        <a:rPr lang="en-GB" sz="2400"/>
                        <a:t> spaces.</a:t>
                      </a:r>
                      <a:endParaRPr sz="2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/>
                        <a:t>fixed</a:t>
                      </a:r>
                      <a:endParaRPr sz="2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Displays floating-point numbers in fixed point notation.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/>
                        <a:t>showpoint</a:t>
                      </a:r>
                      <a:endParaRPr sz="2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Causes a decimal point and trailing zeros to be displayed, even there is no fractional part.</a:t>
                      </a:r>
                      <a:endParaRPr sz="2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/>
                        <a:t>setprecision(</a:t>
                      </a:r>
                      <a:r>
                        <a:rPr lang="en-GB" sz="2400" b="1" i="1"/>
                        <a:t>n</a:t>
                      </a:r>
                      <a:r>
                        <a:rPr lang="en-GB" sz="2400" b="1"/>
                        <a:t>)</a:t>
                      </a:r>
                      <a:endParaRPr sz="2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Sets the precision of floating-point numbers.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/>
                        <a:t>left</a:t>
                      </a:r>
                      <a:endParaRPr sz="2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Causes subsequent output to be left justified.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b="1"/>
                        <a:t>right</a:t>
                      </a:r>
                      <a:endParaRPr sz="2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Causes subsequent output to be right justified.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Formatting Output: setw()</a:t>
            </a:r>
            <a:endParaRPr/>
          </a:p>
        </p:txBody>
      </p:sp>
      <p:sp>
        <p:nvSpPr>
          <p:cNvPr id="126" name="Google Shape;126;p5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Used to ouput the value of an expression in a </a:t>
            </a:r>
            <a:r>
              <a:rPr lang="en-GB" b="1" u="sng"/>
              <a:t>specific number of columns</a:t>
            </a:r>
            <a:endParaRPr b="1" u="sng"/>
          </a:p>
        </p:txBody>
      </p:sp>
      <p:sp>
        <p:nvSpPr>
          <p:cNvPr id="127" name="Google Shape;127;p5"/>
          <p:cNvSpPr>
            <a:spLocks noGrp="1"/>
          </p:cNvSpPr>
          <p:nvPr>
            <p:ph type="body" idx="2"/>
          </p:nvPr>
        </p:nvSpPr>
        <p:spPr>
          <a:xfrm>
            <a:off x="455645" y="25146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 b="1"/>
              <a:t>setw(x)</a:t>
            </a:r>
            <a:r>
              <a:rPr lang="en-GB"/>
              <a:t> - outputs the value of the next expression in x columns</a:t>
            </a:r>
            <a:endParaRPr/>
          </a:p>
        </p:txBody>
      </p:sp>
      <p:sp>
        <p:nvSpPr>
          <p:cNvPr id="128" name="Google Shape;128;p5"/>
          <p:cNvSpPr>
            <a:spLocks noGrp="1"/>
          </p:cNvSpPr>
          <p:nvPr>
            <p:ph type="body" idx="3"/>
          </p:nvPr>
        </p:nvSpPr>
        <p:spPr>
          <a:xfrm>
            <a:off x="455645" y="3505200"/>
            <a:ext cx="8229600" cy="15240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The output is </a:t>
            </a:r>
            <a:r>
              <a:rPr lang="en-GB" b="1" u="sng"/>
              <a:t>right-justified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Example: if you specify the number of columns to be 8 and the output requires only 4 columns, then the first four columns are left blank</a:t>
            </a:r>
            <a:endParaRPr/>
          </a:p>
        </p:txBody>
      </p:sp>
      <p:sp>
        <p:nvSpPr>
          <p:cNvPr id="129" name="Google Shape;129;p5"/>
          <p:cNvSpPr>
            <a:spLocks noGrp="1"/>
          </p:cNvSpPr>
          <p:nvPr>
            <p:ph type="body" idx="4"/>
          </p:nvPr>
        </p:nvSpPr>
        <p:spPr>
          <a:xfrm>
            <a:off x="455645" y="5105400"/>
            <a:ext cx="8229600" cy="12954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If the number of </a:t>
            </a:r>
            <a:r>
              <a:rPr lang="en-GB" b="1" u="sng"/>
              <a:t>columns specified is less than</a:t>
            </a:r>
            <a:r>
              <a:rPr lang="en-GB"/>
              <a:t> the number of </a:t>
            </a:r>
            <a:r>
              <a:rPr lang="en-GB" b="1" u="sng"/>
              <a:t>columns required</a:t>
            </a:r>
            <a:r>
              <a:rPr lang="en-GB"/>
              <a:t> by the output, the output </a:t>
            </a:r>
            <a:r>
              <a:rPr lang="en-GB" b="1" u="sng"/>
              <a:t>automatically expands</a:t>
            </a:r>
            <a:r>
              <a:rPr lang="en-GB"/>
              <a:t> to the required number of columns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1: setw()</a:t>
            </a:r>
            <a:endParaRPr/>
          </a:p>
        </p:txBody>
      </p:sp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 r="35653"/>
          <a:stretch/>
        </p:blipFill>
        <p:spPr>
          <a:xfrm>
            <a:off x="-1" y="1600201"/>
            <a:ext cx="4500000" cy="4440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6"/>
          <p:cNvPicPr preferRelativeResize="0"/>
          <p:nvPr/>
        </p:nvPicPr>
        <p:blipFill rotWithShape="1">
          <a:blip r:embed="rId4">
            <a:alphaModFix/>
          </a:blip>
          <a:srcRect r="27759"/>
          <a:stretch/>
        </p:blipFill>
        <p:spPr>
          <a:xfrm>
            <a:off x="4644000" y="1577593"/>
            <a:ext cx="4500000" cy="2392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2: setw()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228600" y="1600200"/>
            <a:ext cx="8077200" cy="4801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&lt;iomanip&gt;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"*" &lt;&lt; -17 &lt;&lt; "*"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"*" &lt;&lt; setw(6) &lt;&lt; -17 &lt;&lt; "*" &lt;&lt; endl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"*" &lt;&lt; "Hi there!" &lt;&lt; "*"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"*" &lt;&lt; setw(20) &lt;&lt; "Hi there!" &lt;&lt; "*"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"*" &lt;&lt; setw(3) &lt;&lt; "Hi there!" &lt;&lt; "*"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5029200" y="1600200"/>
            <a:ext cx="3935604" cy="21236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*-17*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   -17*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*Hi there!*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           Hi there!*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*Hi there!*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1: left and right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76200" y="1371600"/>
            <a:ext cx="8991600" cy="50783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&lt;iomanip&gt;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int x = 15;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int y = 7634;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left;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setw(5) &lt;&lt; x &lt;&lt; setw(7) &lt;&lt; y &lt;&lt; setw(8) &lt;&lt; "Warm" 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right;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setw(5) &lt;&lt; x &lt;&lt; setw(7) &lt;&lt; y &lt;&lt; setw(8) &lt;&lt; "Warm" 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5029200" y="1600200"/>
            <a:ext cx="3935604" cy="1015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15   7634   Warm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15   7634    Warm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2: left and right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228600" y="1219200"/>
            <a:ext cx="8077200" cy="53553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&lt;iomanip&gt;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"*" &lt;&lt; -17 &lt;&lt; "*"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"*" &lt;&lt; setw(6) &lt;&lt; -17 &lt;&lt; "*"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left;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"*" &lt;&lt; setw(6) &lt;&lt; -17 &lt;&lt; "*" &lt;&lt; endl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"*" &lt;&lt; "Hi there!" &lt;&lt; "*"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"*" &lt;&lt; setw(20) &lt;&lt; "Hi there!" &lt;&lt; "*"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right;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"*" &lt;&lt; setw(20) &lt;&lt; "Hi there!" &lt;&lt; "*"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5867400" y="1219200"/>
            <a:ext cx="3200400" cy="24006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*-17*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   -17*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*-17   *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*Hi there!*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*Hi there!           *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           Hi there!*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1: fixed</a:t>
            </a:r>
            <a:endParaRPr/>
          </a:p>
        </p:txBody>
      </p:sp>
      <p:sp>
        <p:nvSpPr>
          <p:cNvPr id="163" name="Google Shape;163;p10"/>
          <p:cNvSpPr txBox="1"/>
          <p:nvPr/>
        </p:nvSpPr>
        <p:spPr>
          <a:xfrm>
            <a:off x="76200" y="1371600"/>
            <a:ext cx="8991600" cy="45243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x = 15.674;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y = 235.73;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z = 9525.9874;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fixed;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x &lt;&lt; endl &lt;&lt; y &lt;&lt; endl &lt;&lt; z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5029200" y="1600200"/>
            <a:ext cx="3935604" cy="12926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15.674000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235.730000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9525.987400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2: fixed</a:t>
            </a:r>
            <a:endParaRPr/>
          </a:p>
        </p:txBody>
      </p:sp>
      <p:sp>
        <p:nvSpPr>
          <p:cNvPr id="170" name="Google Shape;170;p11"/>
          <p:cNvSpPr txBox="1"/>
          <p:nvPr/>
        </p:nvSpPr>
        <p:spPr>
          <a:xfrm>
            <a:off x="228600" y="1219200"/>
            <a:ext cx="8077200" cy="532453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float small = 3.1415926535897932384626;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float large = 6.0234567e17;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float whole = 2.000000000;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"Some values in general format"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"small:  " &lt;&lt; small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"large:  " &lt;&lt; large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"whole:  " &lt;&lt; whole &lt;&lt; endl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fixed;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"The same values in fixed format"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"small:  " &lt;&lt; small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"large:  " &lt;&lt; large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"whole:  " &lt;&lt; whole &lt;&lt; endl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71" name="Google Shape;171;p11"/>
          <p:cNvSpPr txBox="1"/>
          <p:nvPr/>
        </p:nvSpPr>
        <p:spPr>
          <a:xfrm>
            <a:off x="4267200" y="1219200"/>
            <a:ext cx="4800600" cy="29546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Some values in general format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small:  3.14159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large:  6.02346e+017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whole:  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The same values in fixed format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small:  3.141593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large:  602345661202956290.000000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whole:  2.000000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1: showpoint</a:t>
            </a:r>
            <a:endParaRPr/>
          </a:p>
        </p:txBody>
      </p:sp>
      <p:sp>
        <p:nvSpPr>
          <p:cNvPr id="177" name="Google Shape;177;p12"/>
          <p:cNvSpPr txBox="1"/>
          <p:nvPr/>
        </p:nvSpPr>
        <p:spPr>
          <a:xfrm>
            <a:off x="228600" y="1600200"/>
            <a:ext cx="8077200" cy="42473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x = 15.674;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y = 235.73;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z = 9525.9874;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showpoint;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x &lt;&lt; endl &lt;&lt; y &lt;&lt; endl &lt;&lt; z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" name="Google Shape;178;p12"/>
          <p:cNvSpPr txBox="1"/>
          <p:nvPr/>
        </p:nvSpPr>
        <p:spPr>
          <a:xfrm>
            <a:off x="6858000" y="1600200"/>
            <a:ext cx="2057400" cy="12926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15.6740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235.730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9525.99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2: showpoint</a:t>
            </a:r>
            <a:endParaRPr/>
          </a:p>
        </p:txBody>
      </p:sp>
      <p:sp>
        <p:nvSpPr>
          <p:cNvPr id="184" name="Google Shape;184;p13"/>
          <p:cNvSpPr txBox="1"/>
          <p:nvPr/>
        </p:nvSpPr>
        <p:spPr>
          <a:xfrm>
            <a:off x="76200" y="1295400"/>
            <a:ext cx="8991600" cy="550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float lots = 3.1415926535, little1 = 2.25;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float little2 = 1.5, whole = 4.00000;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"Some values with noshowpoint (the default)" &lt;&lt; endl;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"lots:    " &lt;&lt; lots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"little1: " &lt;&lt; little1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"little2: " &lt;&lt; little2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"whole:   " &lt;&lt; whole &lt;&lt; endl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"The same values with showpoint"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showpoint;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"lots:    " &lt;&lt; lots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"little1: " &lt;&lt; little1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"little2: " &lt;&lt; little2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"whole:   " &lt;&lt; whole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5132196" y="1295400"/>
            <a:ext cx="3935604" cy="40626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Some values with noshowpoint (the default)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lots:    3.14159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little1: 2.25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little2: 1.5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whole:   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The same values with showpoint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lots:    3.14159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little1: 2.25000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little2: 1.50000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whole:   4.00000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fixed and showpoint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228600" y="1343085"/>
            <a:ext cx="8077200" cy="45243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x = 15.674;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y = 235.73;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z = 9525.9874;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fixed &lt;&lt; showpoint;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x &lt;&lt; endl &lt;&lt; y &lt;&lt; endl &lt;&lt; z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5791200" y="1343085"/>
            <a:ext cx="3200400" cy="12926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15.674000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235.730000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9525.987400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setprecision() Manipulator</a:t>
            </a:r>
            <a:endParaRPr/>
          </a:p>
        </p:txBody>
      </p:sp>
      <p:sp>
        <p:nvSpPr>
          <p:cNvPr id="198" name="Google Shape;198;p15"/>
          <p:cNvSpPr>
            <a:spLocks noGrp="1"/>
          </p:cNvSpPr>
          <p:nvPr>
            <p:ph type="body" idx="1"/>
          </p:nvPr>
        </p:nvSpPr>
        <p:spPr>
          <a:xfrm>
            <a:off x="457200" y="1493838"/>
            <a:ext cx="8229600" cy="124420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To </a:t>
            </a:r>
            <a:r>
              <a:rPr lang="en-GB" b="1" u="sng"/>
              <a:t>control</a:t>
            </a:r>
            <a:r>
              <a:rPr lang="en-GB"/>
              <a:t> the </a:t>
            </a:r>
            <a:r>
              <a:rPr lang="en-GB" b="1" u="sng"/>
              <a:t>number of significant digits (or precision</a:t>
            </a:r>
            <a:r>
              <a:rPr lang="en-GB" b="1"/>
              <a:t>) </a:t>
            </a:r>
            <a:r>
              <a:rPr lang="en-GB"/>
              <a:t>of the output, i.e., the total number of digits before and after the decimal point.</a:t>
            </a:r>
            <a:endParaRPr/>
          </a:p>
        </p:txBody>
      </p:sp>
      <p:sp>
        <p:nvSpPr>
          <p:cNvPr id="199" name="Google Shape;199;p15"/>
          <p:cNvSpPr>
            <a:spLocks noGrp="1"/>
          </p:cNvSpPr>
          <p:nvPr>
            <p:ph type="body" idx="2"/>
          </p:nvPr>
        </p:nvSpPr>
        <p:spPr>
          <a:xfrm>
            <a:off x="455645" y="2819400"/>
            <a:ext cx="8229600" cy="12954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However, when </a:t>
            </a:r>
            <a:r>
              <a:rPr lang="en-GB" b="1" u="sng"/>
              <a:t>used with fixed</a:t>
            </a:r>
            <a:r>
              <a:rPr lang="en-GB"/>
              <a:t>, it specifies the </a:t>
            </a:r>
            <a:r>
              <a:rPr lang="en-GB" b="1" u="sng"/>
              <a:t>number of floating-points</a:t>
            </a:r>
            <a:r>
              <a:rPr lang="en-GB"/>
              <a:t> (i.e., the number of digits after the decimal point).</a:t>
            </a:r>
            <a:endParaRPr/>
          </a:p>
        </p:txBody>
      </p:sp>
      <p:sp>
        <p:nvSpPr>
          <p:cNvPr id="200" name="Google Shape;200;p15"/>
          <p:cNvSpPr>
            <a:spLocks noGrp="1"/>
          </p:cNvSpPr>
          <p:nvPr>
            <p:ph type="body" idx="3"/>
          </p:nvPr>
        </p:nvSpPr>
        <p:spPr>
          <a:xfrm>
            <a:off x="455645" y="4196154"/>
            <a:ext cx="8229600" cy="90924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 b="1" u="sng"/>
              <a:t>Without fixed</a:t>
            </a:r>
            <a:r>
              <a:rPr lang="en-GB"/>
              <a:t>, the setprecision() is </a:t>
            </a:r>
            <a:r>
              <a:rPr lang="en-GB" b="1" u="sng"/>
              <a:t>set to a lower value</a:t>
            </a:r>
            <a:r>
              <a:rPr lang="en-GB"/>
              <a:t>, it will print floating-point value using </a:t>
            </a:r>
            <a:r>
              <a:rPr lang="en-GB" b="1" u="sng"/>
              <a:t>scientific notation</a:t>
            </a:r>
            <a:r>
              <a:rPr lang="en-GB"/>
              <a:t>.</a:t>
            </a:r>
            <a:endParaRPr/>
          </a:p>
        </p:txBody>
      </p:sp>
      <p:sp>
        <p:nvSpPr>
          <p:cNvPr id="201" name="Google Shape;201;p15"/>
          <p:cNvSpPr>
            <a:spLocks noGrp="1"/>
          </p:cNvSpPr>
          <p:nvPr>
            <p:ph type="body" idx="4"/>
          </p:nvPr>
        </p:nvSpPr>
        <p:spPr>
          <a:xfrm>
            <a:off x="455645" y="5181600"/>
            <a:ext cx="8229600" cy="1066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setprecision(</a:t>
            </a:r>
            <a:r>
              <a:rPr lang="en-GB" i="1"/>
              <a:t>n</a:t>
            </a:r>
            <a:r>
              <a:rPr lang="en-GB"/>
              <a:t>) – </a:t>
            </a:r>
            <a:r>
              <a:rPr lang="en-GB" b="1" i="1"/>
              <a:t>n</a:t>
            </a:r>
            <a:r>
              <a:rPr lang="en-GB"/>
              <a:t> is the number of </a:t>
            </a:r>
            <a:r>
              <a:rPr lang="en-GB" b="1" u="sng"/>
              <a:t>significant digits</a:t>
            </a:r>
            <a:r>
              <a:rPr lang="en-GB"/>
              <a:t> or the number of </a:t>
            </a:r>
            <a:r>
              <a:rPr lang="en-GB" b="1" u="sng"/>
              <a:t>floating-point</a:t>
            </a:r>
            <a:r>
              <a:rPr lang="en-GB"/>
              <a:t> (if used with fixed).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1: setprecision()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76200" y="1419285"/>
            <a:ext cx="8991600" cy="45243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&lt;iomanip&gt;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x = 15.674;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y = 235.73;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z = 9525.9874;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setprecision(2);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x &lt;&lt; endl &lt;&lt; y &lt;&lt; endl &lt;&lt; z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5867400" y="1600200"/>
            <a:ext cx="3048000" cy="12926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2.4e+002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9.5e+003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2: setprecision()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228600" y="1371600"/>
            <a:ext cx="8077200" cy="506292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&lt;iomanip&gt;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double x = 156.74, y = 235.765, z = 9525.9874;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setprecision(5) &lt;&lt; x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setprecision(3) &lt;&lt; x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setprecision(2) &lt;&lt; x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setprecision(1) &lt;&lt; x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fixed &lt;&lt; setprecision(2);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x &lt;&lt; endl &lt;&lt; y &lt;&lt; endl &lt;&lt; z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6781800" y="1371600"/>
            <a:ext cx="2286000" cy="240065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GB" sz="16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(VS Code)</a:t>
            </a:r>
            <a:endParaRPr sz="16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156.74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157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1.6e+02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2e+02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156.74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235.76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9525.99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In-Class Exercise</a:t>
            </a:r>
            <a:endParaRPr/>
          </a:p>
        </p:txBody>
      </p:sp>
      <p:sp>
        <p:nvSpPr>
          <p:cNvPr id="221" name="Google Shape;221;p18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60444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What is the output of the following program:</a:t>
            </a:r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body" idx="2"/>
          </p:nvPr>
        </p:nvSpPr>
        <p:spPr>
          <a:xfrm>
            <a:off x="457200" y="1905000"/>
            <a:ext cx="8229600" cy="471924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#include &lt;iomanip&gt;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using namespace std; 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int main( )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{  double val = 10.345;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 cout &lt;&lt; setprecision(5) &lt;&lt; val &lt;&lt; endl;              //(a)    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 cout &lt;&lt; setprecision(4) &lt;&lt; val &lt;&lt; endl;              //(b)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 cout &lt;&lt; setprecision(3) &lt;&lt; val &lt;&lt; endl;              //(c)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 cout &lt;&lt; setprecision(2) &lt;&lt; val &lt;&lt; endl;              //(d)  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 cout &lt;&lt; setprecision(1) &lt;&lt; val &lt;&lt; endl;              //(e)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 cout &lt;&lt; "Apa Khabar \n Semua /n" &lt;&lt; endl;            //(f)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 cout &lt;&lt; static_cast&lt;int&gt;(val)/2 &lt;&lt; endl;             //(g)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 cout &lt;&lt; setw(6) &lt;&lt; val*5 &lt;&lt; endl;                    //(h)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 cout &lt;&lt; showpoint &lt;&lt; fixed &lt;&lt; setw(8) &lt;&lt; val &lt;&lt; endl;//(i)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 return 0;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6475325" y="1905000"/>
            <a:ext cx="2209800" cy="323165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GB" sz="1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(VS Code)</a:t>
            </a:r>
            <a:endParaRPr sz="18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10.345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10.35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10.3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1e+01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Apa Khabar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Semua /n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5e+01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10.3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cap="none"/>
              <a:t>Formatted Input</a:t>
            </a:r>
            <a:endParaRPr cap="none"/>
          </a:p>
        </p:txBody>
      </p:sp>
      <p:sp>
        <p:nvSpPr>
          <p:cNvPr id="229" name="Google Shape;2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Input Formatting</a:t>
            </a:r>
            <a:endParaRPr/>
          </a:p>
        </p:txBody>
      </p:sp>
      <p:sp>
        <p:nvSpPr>
          <p:cNvPr id="235" name="Google Shape;235;p20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75684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format field width for use with </a:t>
            </a:r>
            <a:r>
              <a:rPr lang="en-GB" b="1" u="sng"/>
              <a:t>cin</a:t>
            </a:r>
            <a:r>
              <a:rPr lang="en-GB"/>
              <a:t>.</a:t>
            </a:r>
            <a:endParaRPr/>
          </a:p>
        </p:txBody>
      </p:sp>
      <p:sp>
        <p:nvSpPr>
          <p:cNvPr id="236" name="Google Shape;236;p20"/>
          <p:cNvSpPr txBox="1">
            <a:spLocks noGrp="1"/>
          </p:cNvSpPr>
          <p:nvPr>
            <p:ph type="body" idx="2"/>
          </p:nvPr>
        </p:nvSpPr>
        <p:spPr>
          <a:xfrm>
            <a:off x="455645" y="2397516"/>
            <a:ext cx="8229600" cy="27078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Useful when reading string data to be stored in a character array:</a:t>
            </a:r>
            <a:endParaRPr/>
          </a:p>
          <a:p>
            <a:pPr marL="893763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const int SIZE = 10;</a:t>
            </a:r>
            <a:endParaRPr/>
          </a:p>
          <a:p>
            <a:pPr marL="893763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char firstName[SIZE];</a:t>
            </a:r>
            <a:endParaRPr/>
          </a:p>
          <a:p>
            <a:pPr marL="893763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cout &lt;&lt; "Enter your name: ";</a:t>
            </a:r>
            <a:endParaRPr/>
          </a:p>
          <a:p>
            <a:pPr marL="893763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cin &gt;&gt; setw(SIZE) &gt;&gt; firstName;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7" name="Google Shape;237;p20"/>
          <p:cNvSpPr>
            <a:spLocks noGrp="1"/>
          </p:cNvSpPr>
          <p:nvPr>
            <p:ph type="body" idx="3"/>
          </p:nvPr>
        </p:nvSpPr>
        <p:spPr>
          <a:xfrm>
            <a:off x="455645" y="5257800"/>
            <a:ext cx="8229600" cy="1066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 b="1" u="sng"/>
              <a:t>cin</a:t>
            </a:r>
            <a:r>
              <a:rPr lang="en-GB"/>
              <a:t> reads one less character than specified with the </a:t>
            </a:r>
            <a:r>
              <a:rPr lang="en-GB" b="1" u="sng"/>
              <a:t>setw()</a:t>
            </a:r>
            <a:r>
              <a:rPr lang="en-GB"/>
              <a:t> manipulator.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Input Formatting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76200" y="1295400"/>
            <a:ext cx="8991600" cy="48013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&lt;iomanip&gt;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const int SIZE = 10;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char firstName[SIZE];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"Enter your name: ";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cin &gt;&gt; setw(SIZE) &gt;&gt; firstName;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firstName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876800" y="1295400"/>
            <a:ext cx="4191000" cy="1015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your name: LeeChongWei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LeeChongW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Problem using cin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228600" y="1343085"/>
            <a:ext cx="8077200" cy="36933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name;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"Enter your name: ";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cin &gt;&gt; name;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name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3810000" y="1343085"/>
            <a:ext cx="4724400" cy="10156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1: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your name: LeeChongWei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LeeChongWei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3810000" y="2486085"/>
            <a:ext cx="4724400" cy="10156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2: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your name: Lee Chong Wei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Lee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Input Formatting: getline()</a:t>
            </a:r>
            <a:endParaRPr/>
          </a:p>
        </p:txBody>
      </p:sp>
      <p:sp>
        <p:nvSpPr>
          <p:cNvPr id="258" name="Google Shape;258;p23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75684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To read an entire line of input, use </a:t>
            </a:r>
            <a:r>
              <a:rPr lang="en-GB" b="1" u="sng"/>
              <a:t>getline()</a:t>
            </a:r>
            <a:r>
              <a:rPr lang="en-GB"/>
              <a:t>.</a:t>
            </a:r>
            <a:endParaRPr/>
          </a:p>
        </p:txBody>
      </p:sp>
      <p:sp>
        <p:nvSpPr>
          <p:cNvPr id="259" name="Google Shape;259;p23"/>
          <p:cNvSpPr>
            <a:spLocks noGrp="1"/>
          </p:cNvSpPr>
          <p:nvPr>
            <p:ph type="body" idx="2"/>
          </p:nvPr>
        </p:nvSpPr>
        <p:spPr>
          <a:xfrm>
            <a:off x="455645" y="2397516"/>
            <a:ext cx="8229600" cy="171728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When reading string data to be stored in a </a:t>
            </a:r>
            <a:r>
              <a:rPr lang="en-GB" b="1" u="sng"/>
              <a:t>character array</a:t>
            </a:r>
            <a:r>
              <a:rPr lang="en-GB"/>
              <a:t>, use getline() with two arguments: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Name of array to store string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Size of the array </a:t>
            </a:r>
            <a:endParaRPr/>
          </a:p>
        </p:txBody>
      </p:sp>
      <p:sp>
        <p:nvSpPr>
          <p:cNvPr id="260" name="Google Shape;260;p23"/>
          <p:cNvSpPr>
            <a:spLocks noGrp="1"/>
          </p:cNvSpPr>
          <p:nvPr>
            <p:ph type="body" idx="3"/>
          </p:nvPr>
        </p:nvSpPr>
        <p:spPr>
          <a:xfrm>
            <a:off x="455645" y="4226316"/>
            <a:ext cx="8229600" cy="1869684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When reading string data to be stored as an </a:t>
            </a:r>
            <a:r>
              <a:rPr lang="en-GB" b="1" u="sng"/>
              <a:t>object of string</a:t>
            </a:r>
            <a:r>
              <a:rPr lang="en-GB"/>
              <a:t>, use getline() with two arguments: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istream object, i.e cin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string object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1: getline()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228600" y="1600200"/>
            <a:ext cx="8077200" cy="47089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const int SIZE = 20;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char firstName[SIZE];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"Enter your name: ";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cin.getline (firstName, SIZE);</a:t>
            </a:r>
            <a:endParaRPr sz="2200" b="1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firstName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4572000" y="1600200"/>
            <a:ext cx="4392804" cy="10156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your name: Lee Chong Wei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Lee Chong Wei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2: getline()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228600" y="1439882"/>
            <a:ext cx="8077200" cy="38779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22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 name;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"Enter your name: ";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22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getline (cin, name);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name &lt;&lt; endl;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4267200" y="1439882"/>
            <a:ext cx="4800600" cy="1015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your name: Lee Chong Wei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Lee Chong Wei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In-Class Exercise</a:t>
            </a:r>
            <a:endParaRPr/>
          </a:p>
        </p:txBody>
      </p:sp>
      <p:sp>
        <p:nvSpPr>
          <p:cNvPr id="280" name="Google Shape;280;p26"/>
          <p:cNvSpPr>
            <a:spLocks noGrp="1"/>
          </p:cNvSpPr>
          <p:nvPr>
            <p:ph type="body" idx="1"/>
          </p:nvPr>
        </p:nvSpPr>
        <p:spPr>
          <a:xfrm>
            <a:off x="457200" y="1300554"/>
            <a:ext cx="8229600" cy="60444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Write C++ program to solve the flow chart:</a:t>
            </a:r>
            <a:endParaRPr/>
          </a:p>
        </p:txBody>
      </p:sp>
      <p:graphicFrame>
        <p:nvGraphicFramePr>
          <p:cNvPr id="281" name="Google Shape;281;p26" descr="Pink tissue paper"/>
          <p:cNvGraphicFramePr/>
          <p:nvPr/>
        </p:nvGraphicFramePr>
        <p:xfrm>
          <a:off x="1752600" y="1981200"/>
          <a:ext cx="5353050" cy="454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353050" imgH="4541837" progId="Visio.Drawing.11">
                  <p:embed/>
                </p:oleObj>
              </mc:Choice>
              <mc:Fallback>
                <p:oleObj r:id="rId3" imgW="5353050" imgH="4541837" progId="Visio.Drawing.11">
                  <p:embed/>
                  <p:pic>
                    <p:nvPicPr>
                      <p:cNvPr id="281" name="Google Shape;281;p2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752600" y="1981200"/>
                        <a:ext cx="5353050" cy="454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Input Formatting: get()</a:t>
            </a:r>
            <a:endParaRPr/>
          </a:p>
        </p:txBody>
      </p:sp>
      <p:sp>
        <p:nvSpPr>
          <p:cNvPr id="287" name="Google Shape;287;p27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220464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To read a single character, use </a:t>
            </a:r>
            <a:r>
              <a:rPr lang="en-GB" b="1" u="sng"/>
              <a:t>cin</a:t>
            </a:r>
            <a:r>
              <a:rPr lang="en-GB"/>
              <a:t>.</a:t>
            </a:r>
            <a:endParaRPr/>
          </a:p>
          <a:p>
            <a:pPr marL="712788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char ch;</a:t>
            </a:r>
            <a:endParaRPr/>
          </a:p>
          <a:p>
            <a:pPr marL="712788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cout &lt;&lt; "Strike any key to continue";</a:t>
            </a:r>
            <a:endParaRPr/>
          </a:p>
          <a:p>
            <a:pPr marL="712788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cin &gt;&gt; ch;</a:t>
            </a:r>
            <a:endParaRPr/>
          </a:p>
          <a:p>
            <a:pPr marL="36195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 b="1" u="sng"/>
              <a:t>Problem:</a:t>
            </a:r>
            <a:r>
              <a:rPr lang="en-GB"/>
              <a:t> will </a:t>
            </a:r>
            <a:r>
              <a:rPr lang="en-GB" b="1" u="sng"/>
              <a:t>skip over</a:t>
            </a:r>
            <a:r>
              <a:rPr lang="en-GB"/>
              <a:t> blanks, tabs, &lt;ENTER&gt;</a:t>
            </a:r>
            <a:endParaRPr/>
          </a:p>
        </p:txBody>
      </p:sp>
      <p:sp>
        <p:nvSpPr>
          <p:cNvPr id="288" name="Google Shape;288;p27"/>
          <p:cNvSpPr>
            <a:spLocks noGrp="1"/>
          </p:cNvSpPr>
          <p:nvPr>
            <p:ph type="body" idx="2"/>
          </p:nvPr>
        </p:nvSpPr>
        <p:spPr>
          <a:xfrm>
            <a:off x="457200" y="3845316"/>
            <a:ext cx="8229600" cy="263168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Solution to read a single character, use </a:t>
            </a:r>
            <a:r>
              <a:rPr lang="en-GB" b="1"/>
              <a:t>get()</a:t>
            </a:r>
            <a:r>
              <a:rPr lang="en-GB"/>
              <a:t>.</a:t>
            </a:r>
            <a:endParaRPr/>
          </a:p>
          <a:p>
            <a:pPr marL="712788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char ch;</a:t>
            </a:r>
            <a:endParaRPr/>
          </a:p>
          <a:p>
            <a:pPr marL="712788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cout &lt;&lt; "Strike any key to continue";</a:t>
            </a:r>
            <a:endParaRPr/>
          </a:p>
          <a:p>
            <a:pPr marL="712788" lvl="0" indent="0" algn="l" rtl="0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cin.get(ch);</a:t>
            </a:r>
            <a:endParaRPr sz="2200" b="1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 b="1" u="sng"/>
              <a:t>Advantage:</a:t>
            </a:r>
            <a:r>
              <a:rPr lang="en-GB"/>
              <a:t> Will </a:t>
            </a:r>
            <a:r>
              <a:rPr lang="en-GB" b="1" u="sng"/>
              <a:t>read the next character entered</a:t>
            </a:r>
            <a:r>
              <a:rPr lang="en-GB"/>
              <a:t>, even </a:t>
            </a:r>
            <a:r>
              <a:rPr lang="en-GB" b="1"/>
              <a:t>whitespace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In-Class Exercise</a:t>
            </a:r>
            <a:endParaRPr/>
          </a:p>
        </p:txBody>
      </p:sp>
      <p:sp>
        <p:nvSpPr>
          <p:cNvPr id="294" name="Google Shape;294;p28"/>
          <p:cNvSpPr>
            <a:spLocks noGrp="1"/>
          </p:cNvSpPr>
          <p:nvPr>
            <p:ph type="body" idx="1"/>
          </p:nvPr>
        </p:nvSpPr>
        <p:spPr>
          <a:xfrm>
            <a:off x="457200" y="1300554"/>
            <a:ext cx="8229600" cy="60444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Write C++ program to solve the flow chart:</a:t>
            </a:r>
            <a:endParaRPr/>
          </a:p>
        </p:txBody>
      </p:sp>
      <p:graphicFrame>
        <p:nvGraphicFramePr>
          <p:cNvPr id="295" name="Google Shape;295;p28" descr="Pink tissue paper"/>
          <p:cNvGraphicFramePr/>
          <p:nvPr/>
        </p:nvGraphicFramePr>
        <p:xfrm>
          <a:off x="1752600" y="1981200"/>
          <a:ext cx="5353050" cy="454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353050" imgH="4541837" progId="Visio.Drawing.11">
                  <p:embed/>
                </p:oleObj>
              </mc:Choice>
              <mc:Fallback>
                <p:oleObj r:id="rId3" imgW="5353050" imgH="4541837" progId="Visio.Drawing.11">
                  <p:embed/>
                  <p:pic>
                    <p:nvPicPr>
                      <p:cNvPr id="295" name="Google Shape;295;p2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752600" y="1981200"/>
                        <a:ext cx="5353050" cy="454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Input Formatting: ignore()</a:t>
            </a:r>
            <a:endParaRPr/>
          </a:p>
        </p:txBody>
      </p:sp>
      <p:sp>
        <p:nvSpPr>
          <p:cNvPr id="301" name="Google Shape;301;p29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113784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 b="1" u="sng"/>
              <a:t>Mixing cin &gt;&gt;</a:t>
            </a:r>
            <a:r>
              <a:rPr lang="en-GB"/>
              <a:t> and </a:t>
            </a:r>
            <a:r>
              <a:rPr lang="en-GB" b="1" u="sng"/>
              <a:t>cin.get()</a:t>
            </a:r>
            <a:r>
              <a:rPr lang="en-GB"/>
              <a:t> in the </a:t>
            </a:r>
            <a:r>
              <a:rPr lang="en-GB" b="1" u="sng"/>
              <a:t>same program</a:t>
            </a:r>
            <a:r>
              <a:rPr lang="en-GB"/>
              <a:t> can cause input errors that are hard to detect.</a:t>
            </a:r>
            <a:endParaRPr/>
          </a:p>
        </p:txBody>
      </p:sp>
      <p:sp>
        <p:nvSpPr>
          <p:cNvPr id="302" name="Google Shape;302;p29"/>
          <p:cNvSpPr>
            <a:spLocks noGrp="1"/>
          </p:cNvSpPr>
          <p:nvPr>
            <p:ph type="body" idx="2"/>
          </p:nvPr>
        </p:nvSpPr>
        <p:spPr>
          <a:xfrm>
            <a:off x="457200" y="2778516"/>
            <a:ext cx="8229600" cy="263168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To </a:t>
            </a:r>
            <a:r>
              <a:rPr lang="en-GB" b="1" u="sng"/>
              <a:t>skip over unneeded characters</a:t>
            </a:r>
            <a:r>
              <a:rPr lang="en-GB"/>
              <a:t> that are still in the keyboard buffer, use </a:t>
            </a:r>
            <a:r>
              <a:rPr lang="en-GB" b="1" u="sng"/>
              <a:t>cin.ignore()</a:t>
            </a:r>
            <a:r>
              <a:rPr lang="en-GB"/>
              <a:t>:</a:t>
            </a:r>
            <a:endParaRPr/>
          </a:p>
          <a:p>
            <a:pPr marL="712788" lvl="0" indent="0" algn="l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 sz="1800" b="1">
                <a:latin typeface="Courier New"/>
                <a:ea typeface="Courier New"/>
                <a:cs typeface="Courier New"/>
                <a:sym typeface="Courier New"/>
              </a:rPr>
              <a:t>//skip next char</a:t>
            </a:r>
            <a:endParaRPr/>
          </a:p>
          <a:p>
            <a:pPr marL="712788" lvl="0" indent="0" algn="l" rtl="0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cin.ignore();</a:t>
            </a:r>
            <a:r>
              <a:rPr lang="en-GB" sz="22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712788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//skip the next 10 char. @ until a ‘\n'</a:t>
            </a:r>
            <a:endParaRPr/>
          </a:p>
          <a:p>
            <a:pPr marL="712788" lvl="0" indent="0" algn="l" rtl="0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cin.ignore(10,'\n');</a:t>
            </a:r>
            <a:endParaRPr sz="22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In-Class Exercise</a:t>
            </a:r>
            <a:endParaRPr/>
          </a:p>
        </p:txBody>
      </p:sp>
      <p:sp>
        <p:nvSpPr>
          <p:cNvPr id="308" name="Google Shape;308;p30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12192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What will be displayed if the user enters the following input:</a:t>
            </a:r>
            <a:endParaRPr/>
          </a:p>
          <a:p>
            <a:pPr marL="712788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202</a:t>
            </a:r>
            <a:endParaRPr/>
          </a:p>
          <a:p>
            <a:pPr marL="712788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9" name="Google Shape;309;p30"/>
          <p:cNvSpPr txBox="1">
            <a:spLocks noGrp="1"/>
          </p:cNvSpPr>
          <p:nvPr>
            <p:ph type="body" idx="2"/>
          </p:nvPr>
        </p:nvSpPr>
        <p:spPr>
          <a:xfrm>
            <a:off x="455525" y="2514600"/>
            <a:ext cx="8229600" cy="4114800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int id;   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char code;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cout &lt;&lt; "Enter an integer id: ";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cin &gt;&gt; id;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cout &lt;&lt; "Enter a code: ";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cin.get(code);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cout &lt;&lt; "Output\n" &lt;&lt; id &lt;&lt; "\t" &lt;&lt; code;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  return 0;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GB" sz="16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10" name="Google Shape;310;p30"/>
          <p:cNvSpPr txBox="1"/>
          <p:nvPr/>
        </p:nvSpPr>
        <p:spPr>
          <a:xfrm>
            <a:off x="5029200" y="2514600"/>
            <a:ext cx="3655925" cy="12926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an integer id: 202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code: Output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202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cap="none"/>
              <a:t>Introduction to Files</a:t>
            </a:r>
            <a:endParaRPr cap="none"/>
          </a:p>
        </p:txBody>
      </p:sp>
      <p:sp>
        <p:nvSpPr>
          <p:cNvPr id="316" name="Google Shape;316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File Input and Output</a:t>
            </a:r>
            <a:endParaRPr/>
          </a:p>
        </p:txBody>
      </p:sp>
      <p:sp>
        <p:nvSpPr>
          <p:cNvPr id="322" name="Google Shape;322;p32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use files instead of keyboard and monitor screen for program input and output.</a:t>
            </a:r>
            <a:endParaRPr/>
          </a:p>
        </p:txBody>
      </p:sp>
      <p:sp>
        <p:nvSpPr>
          <p:cNvPr id="323" name="Google Shape;323;p32"/>
          <p:cNvSpPr>
            <a:spLocks noGrp="1"/>
          </p:cNvSpPr>
          <p:nvPr>
            <p:ph type="body" idx="2"/>
          </p:nvPr>
        </p:nvSpPr>
        <p:spPr>
          <a:xfrm>
            <a:off x="455645" y="25146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File: a set of data stored on a computer, often on a disk drive.  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Allows data to be retained between program runs.</a:t>
            </a:r>
            <a:endParaRPr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</p:txBody>
      </p:sp>
      <p:sp>
        <p:nvSpPr>
          <p:cNvPr id="324" name="Google Shape;324;p32"/>
          <p:cNvSpPr>
            <a:spLocks noGrp="1"/>
          </p:cNvSpPr>
          <p:nvPr>
            <p:ph type="body" idx="3"/>
          </p:nvPr>
        </p:nvSpPr>
        <p:spPr>
          <a:xfrm>
            <a:off x="455645" y="35052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Programs can read from and/ or write to files.</a:t>
            </a:r>
            <a:endParaRPr/>
          </a:p>
        </p:txBody>
      </p:sp>
      <p:sp>
        <p:nvSpPr>
          <p:cNvPr id="325" name="Google Shape;325;p32"/>
          <p:cNvSpPr>
            <a:spLocks noGrp="1"/>
          </p:cNvSpPr>
          <p:nvPr>
            <p:ph type="body" idx="4"/>
          </p:nvPr>
        </p:nvSpPr>
        <p:spPr>
          <a:xfrm>
            <a:off x="455645" y="44958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Used in many applications: word processing, databases, spreadsheets, compilers.</a:t>
            </a:r>
            <a:endParaRPr/>
          </a:p>
        </p:txBody>
      </p:sp>
      <p:sp>
        <p:nvSpPr>
          <p:cNvPr id="326" name="Google Shape;326;p32"/>
          <p:cNvSpPr>
            <a:spLocks noGrp="1"/>
          </p:cNvSpPr>
          <p:nvPr>
            <p:ph type="body" idx="5"/>
          </p:nvPr>
        </p:nvSpPr>
        <p:spPr>
          <a:xfrm>
            <a:off x="455645" y="5502679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Steps: (1) Open the file (2) Use the file (read from, write to, or both) (3) Close the file.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File Operations</a:t>
            </a:r>
            <a:endParaRPr/>
          </a:p>
        </p:txBody>
      </p:sp>
      <p:sp>
        <p:nvSpPr>
          <p:cNvPr id="332" name="Google Shape;332;p33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174744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Requires </a:t>
            </a:r>
            <a:r>
              <a:rPr lang="en-GB" b="1">
                <a:solidFill>
                  <a:srgbClr val="FFFF00"/>
                </a:solidFill>
              </a:rPr>
              <a:t>fstream</a:t>
            </a:r>
            <a:r>
              <a:rPr lang="en-GB"/>
              <a:t> header file: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use </a:t>
            </a:r>
            <a:r>
              <a:rPr lang="en-GB" b="1" u="sng"/>
              <a:t>ifstream</a:t>
            </a:r>
            <a:r>
              <a:rPr lang="en-GB"/>
              <a:t> data type for input files.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use </a:t>
            </a:r>
            <a:r>
              <a:rPr lang="en-GB" b="1" u="sng"/>
              <a:t>ofstream</a:t>
            </a:r>
            <a:r>
              <a:rPr lang="en-GB"/>
              <a:t> data type for output files.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use </a:t>
            </a:r>
            <a:r>
              <a:rPr lang="en-GB" b="1" u="sng"/>
              <a:t>fstream</a:t>
            </a:r>
            <a:r>
              <a:rPr lang="en-GB"/>
              <a:t> data type for both input, output files.</a:t>
            </a:r>
            <a:endParaRPr/>
          </a:p>
        </p:txBody>
      </p:sp>
      <p:sp>
        <p:nvSpPr>
          <p:cNvPr id="333" name="Google Shape;333;p33"/>
          <p:cNvSpPr>
            <a:spLocks noGrp="1"/>
          </p:cNvSpPr>
          <p:nvPr>
            <p:ph type="body" idx="2"/>
          </p:nvPr>
        </p:nvSpPr>
        <p:spPr>
          <a:xfrm>
            <a:off x="457200" y="3352800"/>
            <a:ext cx="8229600" cy="12954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 b="1">
                <a:solidFill>
                  <a:srgbClr val="FFFF00"/>
                </a:solidFill>
              </a:rPr>
              <a:t>ifstream</a:t>
            </a:r>
            <a:r>
              <a:rPr lang="en-GB">
                <a:solidFill>
                  <a:srgbClr val="FFFF00"/>
                </a:solidFill>
              </a:rPr>
              <a:t>:</a:t>
            </a:r>
            <a:r>
              <a:rPr lang="en-GB"/>
              <a:t> 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Open for </a:t>
            </a:r>
            <a:r>
              <a:rPr lang="en-GB" b="1" u="sng"/>
              <a:t>input only</a:t>
            </a:r>
            <a:r>
              <a:rPr lang="en-GB"/>
              <a:t> and file </a:t>
            </a:r>
            <a:r>
              <a:rPr lang="en-GB" b="1" u="sng"/>
              <a:t>cannot be written</a:t>
            </a:r>
            <a:r>
              <a:rPr lang="en-GB"/>
              <a:t> to.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Open </a:t>
            </a:r>
            <a:r>
              <a:rPr lang="en-GB" b="1" u="sng"/>
              <a:t>fails</a:t>
            </a:r>
            <a:r>
              <a:rPr lang="en-GB"/>
              <a:t> if file does not exist.</a:t>
            </a:r>
            <a:endParaRPr/>
          </a:p>
        </p:txBody>
      </p:sp>
      <p:sp>
        <p:nvSpPr>
          <p:cNvPr id="334" name="Google Shape;334;p33"/>
          <p:cNvSpPr>
            <a:spLocks noGrp="1"/>
          </p:cNvSpPr>
          <p:nvPr>
            <p:ph type="body" idx="3"/>
          </p:nvPr>
        </p:nvSpPr>
        <p:spPr>
          <a:xfrm>
            <a:off x="455645" y="4724400"/>
            <a:ext cx="8229600" cy="1676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 b="1">
                <a:solidFill>
                  <a:srgbClr val="FFFF00"/>
                </a:solidFill>
              </a:rPr>
              <a:t>ofstream: 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Open for </a:t>
            </a:r>
            <a:r>
              <a:rPr lang="en-GB" b="1" u="sng"/>
              <a:t>output only</a:t>
            </a:r>
            <a:r>
              <a:rPr lang="en-GB"/>
              <a:t> and file </a:t>
            </a:r>
            <a:r>
              <a:rPr lang="en-GB" b="1" u="sng"/>
              <a:t>cannot be read</a:t>
            </a:r>
            <a:r>
              <a:rPr lang="en-GB"/>
              <a:t> from.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File </a:t>
            </a:r>
            <a:r>
              <a:rPr lang="en-GB" b="1" u="sng"/>
              <a:t>created</a:t>
            </a:r>
            <a:r>
              <a:rPr lang="en-GB"/>
              <a:t> if no file exists.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File contents </a:t>
            </a:r>
            <a:r>
              <a:rPr lang="en-GB" b="1" u="sng"/>
              <a:t>erased</a:t>
            </a:r>
            <a:r>
              <a:rPr lang="en-GB"/>
              <a:t> if file exists.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File Operations (cont.)</a:t>
            </a:r>
            <a:endParaRPr/>
          </a:p>
        </p:txBody>
      </p:sp>
      <p:sp>
        <p:nvSpPr>
          <p:cNvPr id="340" name="Google Shape;340;p34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 b="1">
                <a:solidFill>
                  <a:srgbClr val="FFFF00"/>
                </a:solidFill>
              </a:rPr>
              <a:t>fstream</a:t>
            </a:r>
            <a:r>
              <a:rPr lang="en-GB"/>
              <a:t> object can be used for either </a:t>
            </a:r>
            <a:r>
              <a:rPr lang="en-GB" b="1" u="sng"/>
              <a:t>input or output</a:t>
            </a:r>
            <a:r>
              <a:rPr lang="en-GB"/>
              <a:t>.</a:t>
            </a:r>
            <a:endParaRPr/>
          </a:p>
        </p:txBody>
      </p:sp>
      <p:sp>
        <p:nvSpPr>
          <p:cNvPr id="341" name="Google Shape;341;p34"/>
          <p:cNvSpPr txBox="1">
            <a:spLocks noGrp="1"/>
          </p:cNvSpPr>
          <p:nvPr>
            <p:ph type="body" idx="2"/>
          </p:nvPr>
        </p:nvSpPr>
        <p:spPr>
          <a:xfrm>
            <a:off x="464856" y="2566314"/>
            <a:ext cx="8229600" cy="314868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 b="1">
                <a:solidFill>
                  <a:srgbClr val="FFFF00"/>
                </a:solidFill>
              </a:rPr>
              <a:t>fstream: </a:t>
            </a:r>
            <a:r>
              <a:rPr lang="en-GB"/>
              <a:t>must specify mode on the </a:t>
            </a:r>
            <a:r>
              <a:rPr lang="en-GB" b="1" u="sng"/>
              <a:t>open</a:t>
            </a:r>
            <a:r>
              <a:rPr lang="en-GB"/>
              <a:t> statement. Sample modes: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◆"/>
            </a:pPr>
            <a:r>
              <a:rPr lang="en-GB" sz="2200" b="1">
                <a:solidFill>
                  <a:srgbClr val="FFFF00"/>
                </a:solidFill>
              </a:rPr>
              <a:t>ios::in</a:t>
            </a:r>
            <a:r>
              <a:rPr lang="en-GB"/>
              <a:t> for input mode.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◆"/>
            </a:pPr>
            <a:r>
              <a:rPr lang="en-GB" sz="2200" b="1">
                <a:solidFill>
                  <a:srgbClr val="FFFF00"/>
                </a:solidFill>
              </a:rPr>
              <a:t>ios::out</a:t>
            </a:r>
            <a:r>
              <a:rPr lang="en-GB"/>
              <a:t> for output mode.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◆"/>
            </a:pPr>
            <a:r>
              <a:rPr lang="en-GB" sz="2200" b="1">
                <a:solidFill>
                  <a:srgbClr val="FFFF00"/>
                </a:solidFill>
              </a:rPr>
              <a:t>ios::binary </a:t>
            </a:r>
            <a:r>
              <a:rPr lang="en-GB"/>
              <a:t>for binary mode.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◆"/>
            </a:pPr>
            <a:r>
              <a:rPr lang="en-GB" sz="2200" b="1">
                <a:solidFill>
                  <a:srgbClr val="FFFF00"/>
                </a:solidFill>
              </a:rPr>
              <a:t>ios::app</a:t>
            </a:r>
            <a:r>
              <a:rPr lang="en-GB"/>
              <a:t> for append mode. All output operations are performed at the end of the file, appending the content to the current content of the file.</a:t>
            </a:r>
            <a:endParaRPr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Opening Files</a:t>
            </a:r>
            <a:endParaRPr/>
          </a:p>
        </p:txBody>
      </p:sp>
      <p:sp>
        <p:nvSpPr>
          <p:cNvPr id="347" name="Google Shape;347;p35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Create a link between file name (outside the program) and file stream object (inside the program).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348" name="Google Shape;348;p35"/>
          <p:cNvSpPr>
            <a:spLocks noGrp="1"/>
          </p:cNvSpPr>
          <p:nvPr>
            <p:ph type="body" idx="2"/>
          </p:nvPr>
        </p:nvSpPr>
        <p:spPr>
          <a:xfrm>
            <a:off x="464856" y="2490114"/>
            <a:ext cx="8229600" cy="862686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Filename may include drive and/or path info.</a:t>
            </a:r>
            <a:endParaRPr/>
          </a:p>
        </p:txBody>
      </p:sp>
      <p:sp>
        <p:nvSpPr>
          <p:cNvPr id="349" name="Google Shape;349;p35"/>
          <p:cNvSpPr>
            <a:spLocks noGrp="1"/>
          </p:cNvSpPr>
          <p:nvPr>
            <p:ph type="body" idx="3"/>
          </p:nvPr>
        </p:nvSpPr>
        <p:spPr>
          <a:xfrm>
            <a:off x="464856" y="3429000"/>
            <a:ext cx="8229600" cy="14012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 b="1">
                <a:solidFill>
                  <a:srgbClr val="FFFF00"/>
                </a:solidFill>
              </a:rPr>
              <a:t>ifstream</a:t>
            </a:r>
            <a:r>
              <a:rPr lang="en-GB"/>
              <a:t> and </a:t>
            </a:r>
            <a:r>
              <a:rPr lang="en-GB" b="1">
                <a:solidFill>
                  <a:srgbClr val="FFFF00"/>
                </a:solidFill>
              </a:rPr>
              <a:t>ofstream</a:t>
            </a:r>
            <a:r>
              <a:rPr lang="en-GB"/>
              <a:t> - use the </a:t>
            </a:r>
            <a:r>
              <a:rPr lang="en-GB" b="1">
                <a:solidFill>
                  <a:srgbClr val="FFFF00"/>
                </a:solidFill>
              </a:rPr>
              <a:t>open()</a:t>
            </a:r>
            <a:r>
              <a:rPr lang="en-GB"/>
              <a:t> member function:</a:t>
            </a:r>
            <a:endParaRPr/>
          </a:p>
          <a:p>
            <a:pPr marL="803275" lvl="0" indent="0" algn="l" rtl="0">
              <a:spcBef>
                <a:spcPts val="44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infile.</a:t>
            </a: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("inventory.dat");</a:t>
            </a:r>
            <a:endParaRPr/>
          </a:p>
          <a:p>
            <a:pPr marL="803275" lvl="0" indent="0" algn="l" rtl="0">
              <a:spcBef>
                <a:spcPts val="44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outfile.</a:t>
            </a: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("report.txt");</a:t>
            </a:r>
            <a:endParaRPr sz="2000"/>
          </a:p>
        </p:txBody>
      </p:sp>
      <p:sp>
        <p:nvSpPr>
          <p:cNvPr id="350" name="Google Shape;350;p35"/>
          <p:cNvSpPr>
            <a:spLocks noGrp="1"/>
          </p:cNvSpPr>
          <p:nvPr>
            <p:ph type="body" idx="4"/>
          </p:nvPr>
        </p:nvSpPr>
        <p:spPr>
          <a:xfrm>
            <a:off x="457200" y="4906441"/>
            <a:ext cx="8229600" cy="141816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 b="1">
                <a:solidFill>
                  <a:srgbClr val="FFFF00"/>
                </a:solidFill>
              </a:rPr>
              <a:t>fstream</a:t>
            </a:r>
            <a:r>
              <a:rPr lang="en-GB"/>
              <a:t> - use the </a:t>
            </a:r>
            <a:r>
              <a:rPr lang="en-GB" b="1">
                <a:solidFill>
                  <a:srgbClr val="FFFF00"/>
                </a:solidFill>
              </a:rPr>
              <a:t>open()</a:t>
            </a:r>
            <a:r>
              <a:rPr lang="en-GB"/>
              <a:t> member function and </a:t>
            </a:r>
            <a:r>
              <a:rPr lang="en-GB" b="1">
                <a:solidFill>
                  <a:srgbClr val="FFFF00"/>
                </a:solidFill>
              </a:rPr>
              <a:t>mode</a:t>
            </a:r>
            <a:r>
              <a:rPr lang="en-GB"/>
              <a:t>(s):</a:t>
            </a:r>
            <a:endParaRPr/>
          </a:p>
          <a:p>
            <a:pPr marL="803275" lvl="0" indent="0" algn="l" rtl="0">
              <a:spcBef>
                <a:spcPts val="44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infile.</a:t>
            </a: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("inventory.dat", </a:t>
            </a: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ios::in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marL="803275" lvl="0" indent="0" algn="l" rtl="0">
              <a:spcBef>
                <a:spcPts val="44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outfile.</a:t>
            </a: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("report.txt", </a:t>
            </a: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ios::out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00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endParaRPr sz="200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Opening Files (cont.)</a:t>
            </a:r>
            <a:endParaRPr/>
          </a:p>
        </p:txBody>
      </p:sp>
      <p:sp>
        <p:nvSpPr>
          <p:cNvPr id="356" name="Google Shape;356;p36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 b="1">
                <a:solidFill>
                  <a:srgbClr val="FFFF00"/>
                </a:solidFill>
              </a:rPr>
              <a:t>fstream</a:t>
            </a:r>
            <a:r>
              <a:rPr lang="en-GB"/>
              <a:t> - can be combined on open call:</a:t>
            </a:r>
            <a:endParaRPr/>
          </a:p>
          <a:p>
            <a:pPr marL="803275" lvl="0" indent="0" algn="l" rtl="0">
              <a:spcBef>
                <a:spcPts val="44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dFile.</a:t>
            </a: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("class.txt", </a:t>
            </a: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ios::in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| ios::out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7" name="Google Shape;357;p36"/>
          <p:cNvSpPr>
            <a:spLocks noGrp="1"/>
          </p:cNvSpPr>
          <p:nvPr>
            <p:ph type="body" idx="2"/>
          </p:nvPr>
        </p:nvSpPr>
        <p:spPr>
          <a:xfrm>
            <a:off x="455645" y="2514600"/>
            <a:ext cx="8229600" cy="17526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open file at declaration:</a:t>
            </a:r>
            <a:endParaRPr/>
          </a:p>
          <a:p>
            <a:pPr marL="803275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ifstream gradeList("grades.txt");</a:t>
            </a:r>
            <a:endParaRPr/>
          </a:p>
          <a:p>
            <a:pPr marL="803275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fstream infile("inventory.dat", ios::in);</a:t>
            </a:r>
            <a:endParaRPr/>
          </a:p>
          <a:p>
            <a:pPr marL="803275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fstream file("class.txt", ios::in | ios::out);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803275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803275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 b="1"/>
          </a:p>
        </p:txBody>
      </p:sp>
      <p:sp>
        <p:nvSpPr>
          <p:cNvPr id="358" name="Google Shape;358;p36"/>
          <p:cNvSpPr>
            <a:spLocks noGrp="1"/>
          </p:cNvSpPr>
          <p:nvPr>
            <p:ph type="body" idx="3"/>
          </p:nvPr>
        </p:nvSpPr>
        <p:spPr>
          <a:xfrm>
            <a:off x="455645" y="43434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Output file will be created if necessary; existing file will be erased first.</a:t>
            </a:r>
            <a:endParaRPr/>
          </a:p>
        </p:txBody>
      </p:sp>
      <p:sp>
        <p:nvSpPr>
          <p:cNvPr id="359" name="Google Shape;359;p36"/>
          <p:cNvSpPr>
            <a:spLocks noGrp="1"/>
          </p:cNvSpPr>
          <p:nvPr>
            <p:ph type="body" idx="4"/>
          </p:nvPr>
        </p:nvSpPr>
        <p:spPr>
          <a:xfrm>
            <a:off x="455645" y="53340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Input file must exist for open to work.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Opening Files (cont.)</a:t>
            </a:r>
            <a:endParaRPr/>
          </a:p>
        </p:txBody>
      </p:sp>
      <p:sp>
        <p:nvSpPr>
          <p:cNvPr id="365" name="Google Shape;365;p37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159504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File stream object set to </a:t>
            </a:r>
            <a:r>
              <a:rPr lang="en-GB" b="1">
                <a:solidFill>
                  <a:srgbClr val="FFFF00"/>
                </a:solidFill>
              </a:rPr>
              <a:t>0(false)</a:t>
            </a:r>
            <a:r>
              <a:rPr lang="en-GB"/>
              <a:t>, if </a:t>
            </a:r>
            <a:r>
              <a:rPr lang="en-GB" b="1">
                <a:solidFill>
                  <a:srgbClr val="FFFF00"/>
                </a:solidFill>
              </a:rPr>
              <a:t>open failed</a:t>
            </a:r>
            <a:r>
              <a:rPr lang="en-GB"/>
              <a:t>. Example:</a:t>
            </a:r>
            <a:endParaRPr/>
          </a:p>
          <a:p>
            <a:pPr marL="984250" lvl="0" indent="-2714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if (</a:t>
            </a:r>
            <a:r>
              <a:rPr lang="en-GB" sz="20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!input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)	</a:t>
            </a:r>
            <a:endParaRPr/>
          </a:p>
          <a:p>
            <a:pPr marL="984250" lvl="0" indent="-2714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{	cout &lt;&lt; “ERROR: Cannot open file\n”;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984250" lvl="0" indent="-271463" algn="l" rtl="0">
              <a:spcBef>
                <a:spcPts val="48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	exit(1);</a:t>
            </a:r>
            <a:r>
              <a:rPr lang="en-GB"/>
              <a:t> 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6" name="Google Shape;366;p37"/>
          <p:cNvSpPr>
            <a:spLocks noGrp="1"/>
          </p:cNvSpPr>
          <p:nvPr>
            <p:ph type="body" idx="2"/>
          </p:nvPr>
        </p:nvSpPr>
        <p:spPr>
          <a:xfrm>
            <a:off x="457200" y="3200400"/>
            <a:ext cx="8229600" cy="16002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use </a:t>
            </a:r>
            <a:r>
              <a:rPr lang="en-GB" b="1">
                <a:solidFill>
                  <a:srgbClr val="FFFF00"/>
                </a:solidFill>
              </a:rPr>
              <a:t>fail() </a:t>
            </a:r>
            <a:r>
              <a:rPr lang="en-GB"/>
              <a:t>member function to detect file open error:</a:t>
            </a:r>
            <a:endParaRPr/>
          </a:p>
          <a:p>
            <a:pPr marL="984250" lvl="0" indent="-2714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if (</a:t>
            </a:r>
            <a:r>
              <a:rPr lang="en-GB" sz="20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input.fail()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)	</a:t>
            </a:r>
            <a:endParaRPr/>
          </a:p>
          <a:p>
            <a:pPr marL="984250" lvl="0" indent="-2714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{	cout &lt;&lt; “ERROR: Cannot open file\n”;</a:t>
            </a:r>
            <a:endParaRPr/>
          </a:p>
          <a:p>
            <a:pPr marL="984250" lvl="0" indent="-2714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	exit(1);</a:t>
            </a:r>
            <a:r>
              <a:rPr lang="en-GB" sz="2000"/>
              <a:t> 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367" name="Google Shape;367;p37"/>
          <p:cNvSpPr>
            <a:spLocks noGrp="1"/>
          </p:cNvSpPr>
          <p:nvPr>
            <p:ph type="body" idx="3"/>
          </p:nvPr>
        </p:nvSpPr>
        <p:spPr>
          <a:xfrm>
            <a:off x="457200" y="4876800"/>
            <a:ext cx="8229600" cy="16002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use </a:t>
            </a:r>
            <a:r>
              <a:rPr lang="en-GB" b="1">
                <a:solidFill>
                  <a:srgbClr val="FFFF00"/>
                </a:solidFill>
              </a:rPr>
              <a:t>is_open() </a:t>
            </a:r>
            <a:r>
              <a:rPr lang="en-GB"/>
              <a:t>member function to check if a file is open:</a:t>
            </a:r>
            <a:endParaRPr/>
          </a:p>
          <a:p>
            <a:pPr marL="984250" lvl="0" indent="-2714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if (</a:t>
            </a:r>
            <a:r>
              <a:rPr lang="en-GB" sz="20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!input.is_open()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)	</a:t>
            </a:r>
            <a:endParaRPr/>
          </a:p>
          <a:p>
            <a:pPr marL="984250" lvl="0" indent="-2714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{	cout &lt;&lt; “ERROR: Cannot open file\n”;</a:t>
            </a:r>
            <a:endParaRPr/>
          </a:p>
          <a:p>
            <a:pPr marL="984250" lvl="0" indent="-2714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	exit(1);</a:t>
            </a:r>
            <a:r>
              <a:rPr lang="en-GB" sz="2000"/>
              <a:t> 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Files</a:t>
            </a:r>
            <a:endParaRPr/>
          </a:p>
        </p:txBody>
      </p:sp>
      <p:sp>
        <p:nvSpPr>
          <p:cNvPr id="373" name="Google Shape;373;p38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use </a:t>
            </a:r>
            <a:r>
              <a:rPr lang="en-GB" b="1">
                <a:solidFill>
                  <a:srgbClr val="FFFF00"/>
                </a:solidFill>
              </a:rPr>
              <a:t>output file object</a:t>
            </a:r>
            <a:r>
              <a:rPr lang="en-GB"/>
              <a:t> and </a:t>
            </a:r>
            <a:r>
              <a:rPr lang="en-GB" b="1">
                <a:solidFill>
                  <a:srgbClr val="FFFF00"/>
                </a:solidFill>
              </a:rPr>
              <a:t>&lt;&lt;</a:t>
            </a:r>
            <a:r>
              <a:rPr lang="en-GB"/>
              <a:t> to send data to a file: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outfile &lt;&lt; "Inventory report";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4" name="Google Shape;374;p38"/>
          <p:cNvSpPr>
            <a:spLocks noGrp="1"/>
          </p:cNvSpPr>
          <p:nvPr>
            <p:ph type="body" idx="2"/>
          </p:nvPr>
        </p:nvSpPr>
        <p:spPr>
          <a:xfrm>
            <a:off x="455645" y="2514600"/>
            <a:ext cx="8229600" cy="16764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use </a:t>
            </a:r>
            <a:r>
              <a:rPr lang="en-GB" b="1">
                <a:solidFill>
                  <a:srgbClr val="FFFF00"/>
                </a:solidFill>
              </a:rPr>
              <a:t>input file object</a:t>
            </a:r>
            <a:r>
              <a:rPr lang="en-GB"/>
              <a:t> and </a:t>
            </a:r>
            <a:r>
              <a:rPr lang="en-GB" b="1">
                <a:solidFill>
                  <a:srgbClr val="FFFF00"/>
                </a:solidFill>
              </a:rPr>
              <a:t>&gt;&gt;</a:t>
            </a:r>
            <a:r>
              <a:rPr lang="en-GB"/>
              <a:t> to copy data from file to variables:</a:t>
            </a:r>
            <a:endParaRPr/>
          </a:p>
          <a:p>
            <a:pPr marL="712788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infile &gt;&gt; partNum;</a:t>
            </a:r>
            <a:endParaRPr/>
          </a:p>
          <a:p>
            <a:pPr marL="712788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infile &gt;&gt; qtyInStock &gt;&gt; qtyOnOrder;</a:t>
            </a:r>
            <a:endParaRPr sz="2000" b="1"/>
          </a:p>
        </p:txBody>
      </p:sp>
      <p:sp>
        <p:nvSpPr>
          <p:cNvPr id="375" name="Google Shape;375;p38"/>
          <p:cNvSpPr>
            <a:spLocks noGrp="1"/>
          </p:cNvSpPr>
          <p:nvPr>
            <p:ph type="body" idx="3"/>
          </p:nvPr>
        </p:nvSpPr>
        <p:spPr>
          <a:xfrm>
            <a:off x="455645" y="4267200"/>
            <a:ext cx="8229600" cy="914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use </a:t>
            </a:r>
            <a:r>
              <a:rPr lang="en-GB" b="1">
                <a:solidFill>
                  <a:srgbClr val="FFFF00"/>
                </a:solidFill>
              </a:rPr>
              <a:t>eof()</a:t>
            </a:r>
            <a:r>
              <a:rPr lang="en-GB"/>
              <a:t> member function </a:t>
            </a:r>
            <a:r>
              <a:rPr lang="en-GB" b="1">
                <a:solidFill>
                  <a:srgbClr val="FFFF00"/>
                </a:solidFill>
              </a:rPr>
              <a:t>to test for end of input file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Closing Files</a:t>
            </a:r>
            <a:endParaRPr/>
          </a:p>
        </p:txBody>
      </p:sp>
      <p:sp>
        <p:nvSpPr>
          <p:cNvPr id="381" name="Google Shape;381;p39"/>
          <p:cNvSpPr>
            <a:spLocks noGrp="1"/>
          </p:cNvSpPr>
          <p:nvPr>
            <p:ph type="body" idx="1"/>
          </p:nvPr>
        </p:nvSpPr>
        <p:spPr>
          <a:xfrm>
            <a:off x="457200" y="1529154"/>
            <a:ext cx="8229600" cy="144264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Use the </a:t>
            </a:r>
            <a:r>
              <a:rPr lang="en-GB" b="1">
                <a:solidFill>
                  <a:srgbClr val="FFFF00"/>
                </a:solidFill>
              </a:rPr>
              <a:t>close() </a:t>
            </a:r>
            <a:r>
              <a:rPr lang="en-GB"/>
              <a:t>member function: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infile.close();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 b="1">
                <a:latin typeface="Courier New"/>
                <a:ea typeface="Courier New"/>
                <a:cs typeface="Courier New"/>
                <a:sym typeface="Courier New"/>
              </a:rPr>
              <a:t>	outfile.close();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2" name="Google Shape;382;p39"/>
          <p:cNvSpPr>
            <a:spLocks noGrp="1"/>
          </p:cNvSpPr>
          <p:nvPr>
            <p:ph type="body" idx="2"/>
          </p:nvPr>
        </p:nvSpPr>
        <p:spPr>
          <a:xfrm>
            <a:off x="457200" y="3200400"/>
            <a:ext cx="8229600" cy="1281165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Don’t wait for operating system to close files at program end: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may be limit on number of open files.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may be buffered output data waiting to send to file.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"/>
          <p:cNvSpPr txBox="1"/>
          <p:nvPr/>
        </p:nvSpPr>
        <p:spPr>
          <a:xfrm>
            <a:off x="304800" y="1447800"/>
            <a:ext cx="8534400" cy="48013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 //copy 10 numbers between files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&lt;fstream&gt;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714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fstream infile("input.txt", ios::in); // open the files</a:t>
            </a:r>
            <a:endParaRPr/>
          </a:p>
          <a:p>
            <a:pPr marL="2714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fstream outfile("output.txt", ios::out);</a:t>
            </a:r>
            <a:endParaRPr/>
          </a:p>
          <a:p>
            <a:pPr marL="2714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num;</a:t>
            </a:r>
            <a:endParaRPr/>
          </a:p>
          <a:p>
            <a:pPr marL="2714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714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&lt;= 10; i++) {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6223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infile &gt;&gt; num;    // use the files</a:t>
            </a:r>
            <a:endParaRPr/>
          </a:p>
          <a:p>
            <a:pPr marL="6223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outfile &lt;&lt; num; }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714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infile.close();      // close the files</a:t>
            </a:r>
            <a:endParaRPr/>
          </a:p>
          <a:p>
            <a:pPr marL="271463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outfile.close();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88" name="Google Shape;388;p40"/>
          <p:cNvSpPr txBox="1"/>
          <p:nvPr/>
        </p:nvSpPr>
        <p:spPr>
          <a:xfrm>
            <a:off x="457200" y="26458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1: File Operations</a:t>
            </a:r>
            <a:endParaRPr sz="4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41"/>
          <p:cNvPicPr preferRelativeResize="0"/>
          <p:nvPr/>
        </p:nvPicPr>
        <p:blipFill rotWithShape="1">
          <a:blip r:embed="rId3">
            <a:alphaModFix/>
          </a:blip>
          <a:srcRect r="27000" b="6037"/>
          <a:stretch/>
        </p:blipFill>
        <p:spPr>
          <a:xfrm>
            <a:off x="76200" y="1295400"/>
            <a:ext cx="5562600" cy="4953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95" name="Google Shape;395;p41"/>
          <p:cNvSpPr txBox="1"/>
          <p:nvPr/>
        </p:nvSpPr>
        <p:spPr>
          <a:xfrm>
            <a:off x="457200" y="26458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2: File Operations</a:t>
            </a:r>
            <a:endParaRPr sz="4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41"/>
          <p:cNvPicPr preferRelativeResize="0"/>
          <p:nvPr/>
        </p:nvPicPr>
        <p:blipFill rotWithShape="1">
          <a:blip r:embed="rId4">
            <a:alphaModFix/>
          </a:blip>
          <a:srcRect r="43957"/>
          <a:stretch/>
        </p:blipFill>
        <p:spPr>
          <a:xfrm>
            <a:off x="5542503" y="1295400"/>
            <a:ext cx="3489290" cy="411511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/>
        </p:nvSpPr>
        <p:spPr>
          <a:xfrm>
            <a:off x="457200" y="26458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3: File Operations</a:t>
            </a:r>
            <a:endParaRPr sz="4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5400"/>
            <a:ext cx="6019800" cy="306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2"/>
          <p:cNvPicPr preferRelativeResize="0"/>
          <p:nvPr/>
        </p:nvPicPr>
        <p:blipFill rotWithShape="1">
          <a:blip r:embed="rId4">
            <a:alphaModFix/>
          </a:blip>
          <a:srcRect b="39204"/>
          <a:stretch/>
        </p:blipFill>
        <p:spPr>
          <a:xfrm>
            <a:off x="0" y="4114800"/>
            <a:ext cx="5715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2"/>
          <p:cNvPicPr preferRelativeResize="0"/>
          <p:nvPr/>
        </p:nvPicPr>
        <p:blipFill rotWithShape="1">
          <a:blip r:embed="rId5">
            <a:alphaModFix/>
          </a:blip>
          <a:srcRect r="50495"/>
          <a:stretch/>
        </p:blipFill>
        <p:spPr>
          <a:xfrm>
            <a:off x="5763427" y="3864167"/>
            <a:ext cx="3365500" cy="21130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5" name="Google Shape;405;p42"/>
          <p:cNvGrpSpPr/>
          <p:nvPr/>
        </p:nvGrpSpPr>
        <p:grpSpPr>
          <a:xfrm>
            <a:off x="3933472" y="2179968"/>
            <a:ext cx="5195455" cy="1694247"/>
            <a:chOff x="3567545" y="2169920"/>
            <a:chExt cx="5195455" cy="1694247"/>
          </a:xfrm>
        </p:grpSpPr>
        <p:pic>
          <p:nvPicPr>
            <p:cNvPr id="406" name="Google Shape;406;p42"/>
            <p:cNvPicPr preferRelativeResize="0"/>
            <p:nvPr/>
          </p:nvPicPr>
          <p:blipFill rotWithShape="1">
            <a:blip r:embed="rId6">
              <a:alphaModFix/>
            </a:blip>
            <a:srcRect t="-1472" r="42280" b="1471"/>
            <a:stretch/>
          </p:blipFill>
          <p:spPr>
            <a:xfrm>
              <a:off x="3567545" y="2169920"/>
              <a:ext cx="2494503" cy="3567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p42"/>
            <p:cNvPicPr preferRelativeResize="0"/>
            <p:nvPr/>
          </p:nvPicPr>
          <p:blipFill rotWithShape="1">
            <a:blip r:embed="rId4">
              <a:alphaModFix/>
            </a:blip>
            <a:srcRect t="60572"/>
            <a:stretch/>
          </p:blipFill>
          <p:spPr>
            <a:xfrm>
              <a:off x="3567545" y="2516410"/>
              <a:ext cx="5195455" cy="13477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/>
          <p:nvPr/>
        </p:nvSpPr>
        <p:spPr>
          <a:xfrm>
            <a:off x="152400" y="1196400"/>
            <a:ext cx="8839200" cy="5509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&lt;fstream&gt;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 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ifstream input("inputfile.txt");    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char str[80];    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(!input)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	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"While opening a file an error is encountered" &lt;&lt; endl;</a:t>
            </a:r>
            <a:endParaRPr/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return 0;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else        </a:t>
            </a:r>
            <a:endParaRPr/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"File is successfully opened" &lt;&lt; endl;    while(!input.eof())    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	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input.getline(str, 80);	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str &lt;&lt; endl;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	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input.close();    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3" name="Google Shape;413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4: File Operations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4"/>
          <p:cNvSpPr txBox="1"/>
          <p:nvPr/>
        </p:nvSpPr>
        <p:spPr>
          <a:xfrm>
            <a:off x="152400" y="1290221"/>
            <a:ext cx="8839200" cy="526297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&lt;fstream&gt;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main 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num;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ifstream inp("input.txt"); // open the input file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ofstream out("output.txt"); // open the output file	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(!inp.is_open())  // check for successful opening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	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"Input file could not be opened! Terminating!\n;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return 0;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while (inp &gt;&gt; num) 	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out &lt;&lt; num * 2 &lt;&lt; endl;</a:t>
            </a:r>
            <a:endParaRPr/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inp.close();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out.close();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"Done!" &lt;&lt; endl;		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6195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9" name="Google Shape;419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5: File Operations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3535</Words>
  <Application>Microsoft Office PowerPoint</Application>
  <PresentationFormat>On-screen Show (4:3)</PresentationFormat>
  <Paragraphs>586</Paragraphs>
  <Slides>44</Slides>
  <Notes>44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Courier New</vt:lpstr>
      <vt:lpstr>Noto Sans Symbols</vt:lpstr>
      <vt:lpstr>1_Office Theme</vt:lpstr>
      <vt:lpstr>Microsoft Visio 2003-2010 Drawing</vt:lpstr>
      <vt:lpstr>07: INPUT AND OUTPUT</vt:lpstr>
      <vt:lpstr>Formatting Output</vt:lpstr>
      <vt:lpstr>Introduction to Output Formatting</vt:lpstr>
      <vt:lpstr>Stream Manipulators</vt:lpstr>
      <vt:lpstr>Formatting Output: setw()</vt:lpstr>
      <vt:lpstr>Example 1: setw()</vt:lpstr>
      <vt:lpstr>Example 2: setw()</vt:lpstr>
      <vt:lpstr>Example 1: left and right</vt:lpstr>
      <vt:lpstr>Example 2: left and right</vt:lpstr>
      <vt:lpstr>Example 1: fixed</vt:lpstr>
      <vt:lpstr>Example 2: fixed</vt:lpstr>
      <vt:lpstr>Example 1: showpoint</vt:lpstr>
      <vt:lpstr>Example 2: showpoint</vt:lpstr>
      <vt:lpstr>Example: fixed and showpoint</vt:lpstr>
      <vt:lpstr>setprecision() Manipulator</vt:lpstr>
      <vt:lpstr>Example 1: setprecision()</vt:lpstr>
      <vt:lpstr>Example 2: setprecision()</vt:lpstr>
      <vt:lpstr>In-Class Exercise</vt:lpstr>
      <vt:lpstr>Formatted Input</vt:lpstr>
      <vt:lpstr>Introduction to Input Formatting</vt:lpstr>
      <vt:lpstr>Example: Input Formatting</vt:lpstr>
      <vt:lpstr>Example: Problem using cin</vt:lpstr>
      <vt:lpstr>Input Formatting: getline()</vt:lpstr>
      <vt:lpstr>Example 1: getline()</vt:lpstr>
      <vt:lpstr>Example 2: getline()</vt:lpstr>
      <vt:lpstr>In-Class Exercise</vt:lpstr>
      <vt:lpstr>Input Formatting: get()</vt:lpstr>
      <vt:lpstr>In-Class Exercise</vt:lpstr>
      <vt:lpstr>Input Formatting: ignore()</vt:lpstr>
      <vt:lpstr>In-Class Exercise</vt:lpstr>
      <vt:lpstr>Introduction to Files</vt:lpstr>
      <vt:lpstr>File Input and Output</vt:lpstr>
      <vt:lpstr>File Operations</vt:lpstr>
      <vt:lpstr>File Operations (cont.)</vt:lpstr>
      <vt:lpstr>Opening Files</vt:lpstr>
      <vt:lpstr>Opening Files (cont.)</vt:lpstr>
      <vt:lpstr>Opening Files (cont.)</vt:lpstr>
      <vt:lpstr>Using Files</vt:lpstr>
      <vt:lpstr>Closing Files</vt:lpstr>
      <vt:lpstr>PowerPoint Presentation</vt:lpstr>
      <vt:lpstr>PowerPoint Presentation</vt:lpstr>
      <vt:lpstr>PowerPoint Presentation</vt:lpstr>
      <vt:lpstr>Example 4: File Operations</vt:lpstr>
      <vt:lpstr>Example 5: File Operations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07: INPUT AND OUTPUT</dc:title>
  <dc:creator>user</dc:creator>
  <cp:lastModifiedBy>MUHAMMAD KHATIBSYARBINI 16880</cp:lastModifiedBy>
  <cp:revision>1</cp:revision>
  <dcterms:created xsi:type="dcterms:W3CDTF">2014-02-24T04:16:52Z</dcterms:created>
  <dcterms:modified xsi:type="dcterms:W3CDTF">2024-12-09T00:14:01Z</dcterms:modified>
</cp:coreProperties>
</file>