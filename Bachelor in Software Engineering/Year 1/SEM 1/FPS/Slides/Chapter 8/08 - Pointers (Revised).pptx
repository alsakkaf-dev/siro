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6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73" roundtripDataSignature="AMtx7miYxNQqVS1pt2Ee2eZ45Z9AlfbPI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E6D00B1-1935-43DD-9DE2-5457991C3C31}">
  <a:tblStyle styleId="{DE6D00B1-1935-43DD-9DE2-5457991C3C31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FF3E9"/>
          </a:solidFill>
        </a:fill>
      </a:tcStyle>
    </a:wholeTbl>
    <a:band1H>
      <a:tcTxStyle/>
      <a:tcStyle>
        <a:tcBdr/>
        <a:fill>
          <a:solidFill>
            <a:srgbClr val="DEE7D0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DEE7D0"/>
          </a:solidFill>
        </a:fill>
      </a:tcStyle>
    </a:band1V>
    <a:band2V>
      <a:tcTxStyle/>
      <a:tcStyle>
        <a:tcBdr/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254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EFF3E9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/>
      <a:tcStyle>
        <a:tcBdr/>
        <a:fill>
          <a:solidFill>
            <a:srgbClr val="EFF3E9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F98B561D-57C8-45D8-AD2D-940A15946C8B}" styleName="Table_1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4E8E8"/>
          </a:solidFill>
        </a:fill>
      </a:tcStyle>
    </a:wholeTbl>
    <a:band1H>
      <a:tcTxStyle/>
      <a:tcStyle>
        <a:tcBdr/>
        <a:fill>
          <a:solidFill>
            <a:srgbClr val="E8CFCF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E8CFCF"/>
          </a:solidFill>
        </a:fill>
      </a:tcStyle>
    </a:band1V>
    <a:band2V>
      <a:tcTxStyle/>
      <a:tcStyle>
        <a:tcBdr/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254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F4E8E8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/>
      <a:tcStyle>
        <a:tcBdr/>
        <a:fill>
          <a:solidFill>
            <a:srgbClr val="F4E8E8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5BF30A18-4C09-42EB-991E-5DEAE1A9F929}" styleName="Table_2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1794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77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5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theme" Target="theme/theme1.xml"/><Relationship Id="rId7" Type="http://schemas.openxmlformats.org/officeDocument/2006/relationships/slide" Target="slides/slide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" name="Google Shape;205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" name="Google Shape;211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" name="Google Shape;219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2" name="Google Shape;242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5" name="Google Shape;265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1" name="Google Shape;271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8" name="Google Shape;278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4" name="Google Shape;284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2" name="Google Shape;292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8" name="Google Shape;298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2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" name="Google Shape;306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1" name="Google Shape;311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8" name="Google Shape;318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2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8" name="Google Shape;338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4" name="Google Shape;344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2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0" name="Google Shape;350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3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6" name="Google Shape;356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3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1" name="Google Shape;361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3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8" name="Google Shape;368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3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6" name="Google Shape;376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3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2" name="Google Shape;382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3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8" name="Google Shape;388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3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5" name="Google Shape;395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3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3" name="Google Shape;403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3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8" name="Google Shape;408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4" name="Google Shape;414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4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0" name="Google Shape;420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4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5" name="Google Shape;425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4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1" name="Google Shape;431;p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4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8" name="Google Shape;438;p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4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3" name="Google Shape;443;p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4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0" name="Google Shape;450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4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6" name="Google Shape;456;p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4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4" name="Google Shape;464;p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4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2" name="Google Shape;472;p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4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8" name="Google Shape;478;p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5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6" name="Google Shape;486;p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5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2" name="Google Shape;492;p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5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8" name="Google Shape;498;p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5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4" name="Google Shape;504;p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5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0" name="Google Shape;510;p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5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6" name="Google Shape;516;p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5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2" name="Google Shape;522;p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5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7" name="Google Shape;527;p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5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3" name="Google Shape;533;p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5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9" name="Google Shape;539;p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6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5" name="Google Shape;545;p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6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1" name="Google Shape;551;p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6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7" name="Google Shape;557;p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p6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3" name="Google Shape;563;p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p6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0" name="Google Shape;570;p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p6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5" name="Google Shape;575;p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6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1" name="Google Shape;581;p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68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68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 sz="2800"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9" name="Google Shape;19;p6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6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6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9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69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5" name="Google Shape;25;p6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6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Only">
  <p:cSld name="1_Title Only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7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7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3" name="Google Shape;33;p70"/>
          <p:cNvSpPr>
            <a:spLocks noGrp="1"/>
          </p:cNvSpPr>
          <p:nvPr>
            <p:ph type="body" idx="1"/>
          </p:nvPr>
        </p:nvSpPr>
        <p:spPr>
          <a:xfrm>
            <a:off x="457200" y="1529154"/>
            <a:ext cx="8229600" cy="914400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oto Sans Symbols"/>
              <a:buChar char="🏵"/>
              <a:defRPr sz="2400">
                <a:solidFill>
                  <a:schemeClr val="lt1"/>
                </a:solidFill>
              </a:defRPr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oto Sans Symbols"/>
              <a:buChar char="◆"/>
              <a:defRPr sz="2000">
                <a:solidFill>
                  <a:schemeClr val="lt1"/>
                </a:solidFill>
              </a:defRPr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>
                <a:solidFill>
                  <a:schemeClr val="lt1"/>
                </a:solidFill>
              </a:defRPr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Char char="–"/>
              <a:defRPr>
                <a:solidFill>
                  <a:schemeClr val="lt1"/>
                </a:solidFill>
              </a:defRPr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Char char="»"/>
              <a:defRPr>
                <a:solidFill>
                  <a:schemeClr val="lt1"/>
                </a:solidFill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4" name="Google Shape;34;p70"/>
          <p:cNvSpPr>
            <a:spLocks noGrp="1"/>
          </p:cNvSpPr>
          <p:nvPr>
            <p:ph type="body" idx="2"/>
          </p:nvPr>
        </p:nvSpPr>
        <p:spPr>
          <a:xfrm>
            <a:off x="455645" y="2514600"/>
            <a:ext cx="8229600" cy="914400"/>
          </a:xfrm>
          <a:prstGeom prst="roundRect">
            <a:avLst>
              <a:gd name="adj" fmla="val 16667"/>
            </a:avLst>
          </a:prstGeom>
          <a:solidFill>
            <a:schemeClr val="accent3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oto Sans Symbols"/>
              <a:buChar char="🏵"/>
              <a:defRPr sz="2400">
                <a:solidFill>
                  <a:schemeClr val="lt1"/>
                </a:solidFill>
              </a:defRPr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oto Sans Symbols"/>
              <a:buChar char="◆"/>
              <a:defRPr sz="2000">
                <a:solidFill>
                  <a:schemeClr val="lt1"/>
                </a:solidFill>
              </a:defRPr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>
                <a:solidFill>
                  <a:schemeClr val="lt1"/>
                </a:solidFill>
              </a:defRPr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Char char="–"/>
              <a:defRPr>
                <a:solidFill>
                  <a:schemeClr val="lt1"/>
                </a:solidFill>
              </a:defRPr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Char char="»"/>
              <a:defRPr>
                <a:solidFill>
                  <a:schemeClr val="lt1"/>
                </a:solidFill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5" name="Google Shape;35;p70"/>
          <p:cNvSpPr>
            <a:spLocks noGrp="1"/>
          </p:cNvSpPr>
          <p:nvPr>
            <p:ph type="body" idx="3"/>
          </p:nvPr>
        </p:nvSpPr>
        <p:spPr>
          <a:xfrm>
            <a:off x="455645" y="3505200"/>
            <a:ext cx="8229600" cy="914400"/>
          </a:xfrm>
          <a:prstGeom prst="roundRect">
            <a:avLst>
              <a:gd name="adj" fmla="val 16667"/>
            </a:avLst>
          </a:prstGeom>
          <a:solidFill>
            <a:schemeClr val="accent4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oto Sans Symbols"/>
              <a:buChar char="🏵"/>
              <a:defRPr sz="2400">
                <a:solidFill>
                  <a:schemeClr val="lt1"/>
                </a:solidFill>
              </a:defRPr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oto Sans Symbols"/>
              <a:buChar char="◆"/>
              <a:defRPr sz="2000">
                <a:solidFill>
                  <a:schemeClr val="lt1"/>
                </a:solidFill>
              </a:defRPr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>
                <a:solidFill>
                  <a:schemeClr val="lt1"/>
                </a:solidFill>
              </a:defRPr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Char char="–"/>
              <a:defRPr>
                <a:solidFill>
                  <a:schemeClr val="lt1"/>
                </a:solidFill>
              </a:defRPr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Char char="»"/>
              <a:defRPr>
                <a:solidFill>
                  <a:schemeClr val="lt1"/>
                </a:solidFill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70"/>
          <p:cNvSpPr>
            <a:spLocks noGrp="1"/>
          </p:cNvSpPr>
          <p:nvPr>
            <p:ph type="body" idx="4"/>
          </p:nvPr>
        </p:nvSpPr>
        <p:spPr>
          <a:xfrm>
            <a:off x="455645" y="4495800"/>
            <a:ext cx="8229600" cy="914400"/>
          </a:xfrm>
          <a:prstGeom prst="roundRect">
            <a:avLst>
              <a:gd name="adj" fmla="val 16667"/>
            </a:avLst>
          </a:prstGeom>
          <a:solidFill>
            <a:schemeClr val="accent5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oto Sans Symbols"/>
              <a:buChar char="🏵"/>
              <a:defRPr sz="2400">
                <a:solidFill>
                  <a:schemeClr val="lt1"/>
                </a:solidFill>
              </a:defRPr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oto Sans Symbols"/>
              <a:buChar char="◆"/>
              <a:defRPr sz="2000">
                <a:solidFill>
                  <a:schemeClr val="lt1"/>
                </a:solidFill>
              </a:defRPr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>
                <a:solidFill>
                  <a:schemeClr val="lt1"/>
                </a:solidFill>
              </a:defRPr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Char char="–"/>
              <a:defRPr>
                <a:solidFill>
                  <a:schemeClr val="lt1"/>
                </a:solidFill>
              </a:defRPr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Char char="»"/>
              <a:defRPr>
                <a:solidFill>
                  <a:schemeClr val="lt1"/>
                </a:solidFill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70"/>
          <p:cNvSpPr>
            <a:spLocks noGrp="1"/>
          </p:cNvSpPr>
          <p:nvPr>
            <p:ph type="body" idx="5"/>
          </p:nvPr>
        </p:nvSpPr>
        <p:spPr>
          <a:xfrm>
            <a:off x="455645" y="5502679"/>
            <a:ext cx="8229600" cy="914400"/>
          </a:xfrm>
          <a:prstGeom prst="roundRect">
            <a:avLst>
              <a:gd name="adj" fmla="val 16667"/>
            </a:avLst>
          </a:prstGeom>
          <a:solidFill>
            <a:schemeClr val="accent6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oto Sans Symbols"/>
              <a:buChar char="🏵"/>
              <a:defRPr sz="2400">
                <a:solidFill>
                  <a:schemeClr val="lt1"/>
                </a:solidFill>
              </a:defRPr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oto Sans Symbols"/>
              <a:buChar char="◆"/>
              <a:defRPr sz="2000">
                <a:solidFill>
                  <a:schemeClr val="lt1"/>
                </a:solidFill>
              </a:defRPr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>
                <a:solidFill>
                  <a:schemeClr val="lt1"/>
                </a:solidFill>
              </a:defRPr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Char char="–"/>
              <a:defRPr>
                <a:solidFill>
                  <a:schemeClr val="lt1"/>
                </a:solidFill>
              </a:defRPr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Char char="»"/>
              <a:defRPr>
                <a:solidFill>
                  <a:schemeClr val="lt1"/>
                </a:solidFill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7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7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7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7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7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52" name="Google Shape;52;p73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53" name="Google Shape;53;p7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7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7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7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74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9" name="Google Shape;59;p74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60" name="Google Shape;60;p74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1" name="Google Shape;61;p74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62" name="Google Shape;62;p7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7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7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7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7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7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76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76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72" name="Google Shape;72;p76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73" name="Google Shape;73;p7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7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7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77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77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79" name="Google Shape;79;p77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80" name="Google Shape;80;p7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7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7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7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78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6" name="Google Shape;86;p7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7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7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79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79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2" name="Google Shape;92;p7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7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7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" name="Google Shape;11;p67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6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6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6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5" name="Google Shape;15;p67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1588" y="0"/>
            <a:ext cx="9140825" cy="6858000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4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4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4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4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4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4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4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4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4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4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4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4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4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4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08: POINTERS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cap="none"/>
              <a:t>1- Getting the Address of a Variable</a:t>
            </a:r>
            <a:endParaRPr cap="none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Addresses and Pointers</a:t>
            </a:r>
            <a:endParaRPr/>
          </a:p>
        </p:txBody>
      </p:sp>
      <p:sp>
        <p:nvSpPr>
          <p:cNvPr id="111" name="Google Shape;111;p3"/>
          <p:cNvSpPr>
            <a:spLocks noGrp="1"/>
          </p:cNvSpPr>
          <p:nvPr>
            <p:ph type="body" idx="1"/>
          </p:nvPr>
        </p:nvSpPr>
        <p:spPr>
          <a:xfrm>
            <a:off x="685800" y="1371600"/>
            <a:ext cx="7772400" cy="2052246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Noto Sans Symbols"/>
              <a:buChar char="🏵"/>
            </a:pPr>
            <a:r>
              <a:rPr lang="en-US" sz="3600" b="1">
                <a:latin typeface="Arial"/>
                <a:ea typeface="Arial"/>
                <a:cs typeface="Arial"/>
                <a:sym typeface="Arial"/>
              </a:rPr>
              <a:t>Address</a:t>
            </a:r>
            <a:r>
              <a:rPr lang="en-US" sz="3600">
                <a:latin typeface="Arial"/>
                <a:ea typeface="Arial"/>
                <a:cs typeface="Arial"/>
                <a:sym typeface="Arial"/>
              </a:rPr>
              <a:t>: </a:t>
            </a:r>
            <a:endParaRPr/>
          </a:p>
          <a:p>
            <a:pPr marL="742950" lvl="1" indent="-285750" algn="l" rtl="0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Char char="◆"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A uniquely defined memory location which is assigned to a variable. </a:t>
            </a:r>
            <a:endParaRPr/>
          </a:p>
          <a:p>
            <a:pPr marL="742950" lvl="1" indent="-285750" algn="l" rtl="0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Char char="◆"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Example - a positive integer value</a:t>
            </a:r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12" name="Google Shape;112;p3"/>
          <p:cNvGraphicFramePr/>
          <p:nvPr/>
        </p:nvGraphicFramePr>
        <p:xfrm>
          <a:off x="762000" y="4267200"/>
          <a:ext cx="7467600" cy="1645940"/>
        </p:xfrm>
        <a:graphic>
          <a:graphicData uri="http://schemas.openxmlformats.org/drawingml/2006/table">
            <a:tbl>
              <a:tblPr firstRow="1" bandRow="1">
                <a:noFill/>
                <a:tableStyleId>{DE6D00B1-1935-43DD-9DE2-5457991C3C31}</a:tableStyleId>
              </a:tblPr>
              <a:tblGrid>
                <a:gridCol w="3177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4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Post office box number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78</a:t>
                      </a:r>
                      <a:endParaRPr sz="24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Individual name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John Ruiz</a:t>
                      </a:r>
                      <a:endParaRPr sz="24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Contents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Catalog</a:t>
                      </a:r>
                      <a:endParaRPr sz="24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Memory Address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66572</a:t>
                      </a:r>
                      <a:endParaRPr sz="24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Identifier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X</a:t>
                      </a:r>
                      <a:endParaRPr sz="24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Contents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105</a:t>
                      </a:r>
                      <a:endParaRPr sz="24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13" name="Google Shape;113;p3"/>
          <p:cNvSpPr txBox="1"/>
          <p:nvPr/>
        </p:nvSpPr>
        <p:spPr>
          <a:xfrm>
            <a:off x="2286000" y="3581400"/>
            <a:ext cx="4724400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&lt;An analogy with post box&gt;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"/>
          <p:cNvSpPr txBox="1">
            <a:spLocks noGrp="1"/>
          </p:cNvSpPr>
          <p:nvPr>
            <p:ph type="title"/>
          </p:nvPr>
        </p:nvSpPr>
        <p:spPr>
          <a:xfrm>
            <a:off x="762000" y="533400"/>
            <a:ext cx="7924800" cy="884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Notation for Memory Snapshot</a:t>
            </a:r>
            <a:endParaRPr/>
          </a:p>
        </p:txBody>
      </p:sp>
      <p:cxnSp>
        <p:nvCxnSpPr>
          <p:cNvPr id="119" name="Google Shape;119;p4"/>
          <p:cNvCxnSpPr/>
          <p:nvPr/>
        </p:nvCxnSpPr>
        <p:spPr>
          <a:xfrm>
            <a:off x="6324600" y="3733800"/>
            <a:ext cx="838200" cy="8382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stealth" w="lg" len="lg"/>
          </a:ln>
        </p:spPr>
      </p:cxnSp>
      <p:cxnSp>
        <p:nvCxnSpPr>
          <p:cNvPr id="120" name="Google Shape;120;p4"/>
          <p:cNvCxnSpPr/>
          <p:nvPr/>
        </p:nvCxnSpPr>
        <p:spPr>
          <a:xfrm>
            <a:off x="2438400" y="3733800"/>
            <a:ext cx="838200" cy="8382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stealth" w="lg" len="lg"/>
          </a:ln>
        </p:spPr>
      </p:cxnSp>
      <p:graphicFrame>
        <p:nvGraphicFramePr>
          <p:cNvPr id="121" name="Google Shape;121;p4"/>
          <p:cNvGraphicFramePr/>
          <p:nvPr/>
        </p:nvGraphicFramePr>
        <p:xfrm>
          <a:off x="1143000" y="1600200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{F98B561D-57C8-45D8-AD2D-940A15946C8B}</a:tableStyleId>
              </a:tblPr>
              <a:tblGrid>
                <a:gridCol w="2438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35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Memory Address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Identifier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Contents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rPr lang="en-US" sz="2400"/>
                        <a:t>66572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rPr lang="en-US" sz="2400"/>
                        <a:t>X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rPr lang="en-US" sz="2400"/>
                        <a:t>105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22" name="Google Shape;122;p4"/>
          <p:cNvSpPr txBox="1"/>
          <p:nvPr/>
        </p:nvSpPr>
        <p:spPr>
          <a:xfrm>
            <a:off x="1295400" y="3200400"/>
            <a:ext cx="236220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Memory Address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4"/>
          <p:cNvSpPr txBox="1"/>
          <p:nvPr/>
        </p:nvSpPr>
        <p:spPr>
          <a:xfrm>
            <a:off x="5715000" y="3276600"/>
            <a:ext cx="121920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66572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4"/>
          <p:cNvSpPr txBox="1"/>
          <p:nvPr/>
        </p:nvSpPr>
        <p:spPr>
          <a:xfrm>
            <a:off x="2743200" y="4724400"/>
            <a:ext cx="1371600" cy="1200328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Contents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4"/>
          <p:cNvSpPr txBox="1"/>
          <p:nvPr/>
        </p:nvSpPr>
        <p:spPr>
          <a:xfrm>
            <a:off x="990600" y="5105400"/>
            <a:ext cx="137160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Identifier</a:t>
            </a:r>
            <a:endParaRPr sz="24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4"/>
          <p:cNvSpPr txBox="1"/>
          <p:nvPr/>
        </p:nvSpPr>
        <p:spPr>
          <a:xfrm>
            <a:off x="5867400" y="5105400"/>
            <a:ext cx="45720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sz="24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4"/>
          <p:cNvSpPr txBox="1"/>
          <p:nvPr/>
        </p:nvSpPr>
        <p:spPr>
          <a:xfrm>
            <a:off x="6553200" y="4724400"/>
            <a:ext cx="1295400" cy="1200328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105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5"/>
          <p:cNvSpPr txBox="1">
            <a:spLocks noGrp="1"/>
          </p:cNvSpPr>
          <p:nvPr>
            <p:ph type="title"/>
          </p:nvPr>
        </p:nvSpPr>
        <p:spPr>
          <a:xfrm>
            <a:off x="1219200" y="381000"/>
            <a:ext cx="7467600" cy="1036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Getting the Address of a Variable</a:t>
            </a:r>
            <a:endParaRPr/>
          </a:p>
        </p:txBody>
      </p:sp>
      <p:sp>
        <p:nvSpPr>
          <p:cNvPr id="133" name="Google Shape;133;p5"/>
          <p:cNvSpPr>
            <a:spLocks noGrp="1"/>
          </p:cNvSpPr>
          <p:nvPr>
            <p:ph type="body" idx="1"/>
          </p:nvPr>
        </p:nvSpPr>
        <p:spPr>
          <a:xfrm>
            <a:off x="457200" y="1529154"/>
            <a:ext cx="8229600" cy="914400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oto Sans Symbols"/>
              <a:buChar char="🏵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Each  variable in program is stored at a unique address</a:t>
            </a:r>
            <a:endParaRPr/>
          </a:p>
        </p:txBody>
      </p:sp>
      <p:sp>
        <p:nvSpPr>
          <p:cNvPr id="134" name="Google Shape;134;p5"/>
          <p:cNvSpPr>
            <a:spLocks noGrp="1"/>
          </p:cNvSpPr>
          <p:nvPr>
            <p:ph type="body" idx="2"/>
          </p:nvPr>
        </p:nvSpPr>
        <p:spPr>
          <a:xfrm>
            <a:off x="457200" y="2667000"/>
            <a:ext cx="8229600" cy="914400"/>
          </a:xfrm>
          <a:prstGeom prst="roundRect">
            <a:avLst>
              <a:gd name="adj" fmla="val 16667"/>
            </a:avLst>
          </a:prstGeom>
          <a:solidFill>
            <a:schemeClr val="accent3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oto Sans Symbols"/>
              <a:buChar char="🏵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Use address operator </a:t>
            </a:r>
            <a:r>
              <a:rPr lang="en-US" sz="2800" b="1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&amp;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 to get address of a variable:</a:t>
            </a:r>
            <a:endParaRPr/>
          </a:p>
        </p:txBody>
      </p:sp>
      <p:sp>
        <p:nvSpPr>
          <p:cNvPr id="135" name="Google Shape;135;p5"/>
          <p:cNvSpPr>
            <a:spLocks noGrp="1"/>
          </p:cNvSpPr>
          <p:nvPr>
            <p:ph type="body" idx="4"/>
          </p:nvPr>
        </p:nvSpPr>
        <p:spPr>
          <a:xfrm>
            <a:off x="1905000" y="3657600"/>
            <a:ext cx="6780244" cy="1752600"/>
          </a:xfrm>
          <a:prstGeom prst="roundRect">
            <a:avLst>
              <a:gd name="adj" fmla="val 16667"/>
            </a:avLst>
          </a:prstGeom>
          <a:solidFill>
            <a:schemeClr val="accent5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742950" lvl="1" indent="-2857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	</a:t>
            </a:r>
            <a:r>
              <a:rPr lang="en-US" sz="2200">
                <a:latin typeface="Courier New"/>
                <a:ea typeface="Courier New"/>
                <a:cs typeface="Courier New"/>
                <a:sym typeface="Courier New"/>
              </a:rPr>
              <a:t>int num = -99;</a:t>
            </a:r>
            <a:endParaRPr/>
          </a:p>
          <a:p>
            <a:pPr marL="742950" lvl="1" indent="-285750" algn="l" rtl="0">
              <a:spcBef>
                <a:spcPts val="44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Courier New"/>
              <a:buNone/>
            </a:pPr>
            <a:r>
              <a:rPr lang="en-US" sz="2200">
                <a:latin typeface="Courier New"/>
                <a:ea typeface="Courier New"/>
                <a:cs typeface="Courier New"/>
                <a:sym typeface="Courier New"/>
              </a:rPr>
              <a:t>	cout &lt;&lt; </a:t>
            </a:r>
            <a:r>
              <a:rPr lang="en-US" sz="22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&amp;</a:t>
            </a:r>
            <a:r>
              <a:rPr lang="en-US" sz="2200">
                <a:latin typeface="Courier New"/>
                <a:ea typeface="Courier New"/>
                <a:cs typeface="Courier New"/>
                <a:sym typeface="Courier New"/>
              </a:rPr>
              <a:t>num; // prints address</a:t>
            </a:r>
            <a:endParaRPr/>
          </a:p>
          <a:p>
            <a:pPr marL="742950" lvl="1" indent="-285750" algn="l" rtl="0">
              <a:spcBef>
                <a:spcPts val="44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Courier New"/>
              <a:buNone/>
            </a:pPr>
            <a:r>
              <a:rPr lang="en-US" sz="2200">
                <a:latin typeface="Courier New"/>
                <a:ea typeface="Courier New"/>
                <a:cs typeface="Courier New"/>
                <a:sym typeface="Courier New"/>
              </a:rPr>
              <a:t>				// in hexadecimal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oto Sans Symbols"/>
              <a:buNone/>
            </a:pP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Example 1</a:t>
            </a:r>
            <a:endParaRPr/>
          </a:p>
        </p:txBody>
      </p:sp>
      <p:sp>
        <p:nvSpPr>
          <p:cNvPr id="141" name="Google Shape;141;p6"/>
          <p:cNvSpPr txBox="1"/>
          <p:nvPr/>
        </p:nvSpPr>
        <p:spPr>
          <a:xfrm>
            <a:off x="457200" y="1828800"/>
            <a:ext cx="8229600" cy="4297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#include &lt;iostream&gt;</a:t>
            </a:r>
            <a:endParaRPr/>
          </a:p>
          <a:p>
            <a:pPr marL="342900" marR="0" lvl="0" indent="-3429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using namespace std;</a:t>
            </a:r>
            <a:endParaRPr/>
          </a:p>
          <a:p>
            <a:pPr marL="342900" marR="0" lvl="0" indent="-3429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342900" marR="0" lvl="0" indent="-3429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int main()</a:t>
            </a:r>
            <a:endParaRPr/>
          </a:p>
          <a:p>
            <a:pPr marL="342900" marR="0" lvl="0" indent="-3429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/>
          </a:p>
          <a:p>
            <a:pPr marL="342900" marR="0" lvl="0" indent="-3429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int x=25;</a:t>
            </a:r>
            <a:endParaRPr/>
          </a:p>
          <a:p>
            <a:pPr marL="342900" marR="0" lvl="0" indent="-3429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cout&lt;&lt;"The address of x is= "&lt;&lt;&amp;x&lt;&lt;endl;</a:t>
            </a:r>
            <a:endParaRPr/>
          </a:p>
          <a:p>
            <a:pPr marL="342900" marR="0" lvl="0" indent="-3429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cout&lt;&lt;"The value in x is "&lt;&lt; x&lt;&lt;endl;</a:t>
            </a:r>
            <a:endParaRPr/>
          </a:p>
          <a:p>
            <a:pPr marL="342900" marR="0" lvl="0" indent="-3429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2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Result of Example 1</a:t>
            </a:r>
            <a:endParaRPr/>
          </a:p>
        </p:txBody>
      </p:sp>
      <p:sp>
        <p:nvSpPr>
          <p:cNvPr id="147" name="Google Shape;147;p7"/>
          <p:cNvSpPr txBox="1"/>
          <p:nvPr/>
        </p:nvSpPr>
        <p:spPr>
          <a:xfrm>
            <a:off x="990600" y="3810000"/>
            <a:ext cx="7029450" cy="1431925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The address of x is  0x8f05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The value in x is 25;</a:t>
            </a:r>
            <a:r>
              <a:rPr lang="en-US" sz="3200" b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 b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48" name="Google Shape;148;p7"/>
          <p:cNvSpPr/>
          <p:nvPr/>
        </p:nvSpPr>
        <p:spPr>
          <a:xfrm>
            <a:off x="3505199" y="2590800"/>
            <a:ext cx="489857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/>
          </a:p>
        </p:txBody>
      </p:sp>
      <p:sp>
        <p:nvSpPr>
          <p:cNvPr id="149" name="Google Shape;149;p7"/>
          <p:cNvSpPr txBox="1"/>
          <p:nvPr/>
        </p:nvSpPr>
        <p:spPr>
          <a:xfrm>
            <a:off x="4114800" y="2667000"/>
            <a:ext cx="685800" cy="584776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25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Exercise 1</a:t>
            </a:r>
            <a:endParaRPr/>
          </a:p>
        </p:txBody>
      </p:sp>
      <p:sp>
        <p:nvSpPr>
          <p:cNvPr id="155" name="Google Shape;155;p8"/>
          <p:cNvSpPr txBox="1"/>
          <p:nvPr/>
        </p:nvSpPr>
        <p:spPr>
          <a:xfrm>
            <a:off x="457200" y="1523999"/>
            <a:ext cx="8229600" cy="13643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Type &amp; execute the following program</a:t>
            </a:r>
            <a:endParaRPr/>
          </a:p>
          <a:p>
            <a:pPr marL="342900" marR="0" lvl="0" indent="-3429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Check with your friend the address displayed. </a:t>
            </a:r>
            <a:endParaRPr/>
          </a:p>
          <a:p>
            <a:pPr marL="342900" marR="0" lvl="0" indent="-1651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8"/>
          <p:cNvSpPr/>
          <p:nvPr/>
        </p:nvSpPr>
        <p:spPr>
          <a:xfrm>
            <a:off x="457200" y="2667000"/>
            <a:ext cx="8229600" cy="358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#include &lt;iostream&gt;</a:t>
            </a:r>
            <a:endParaRPr/>
          </a:p>
          <a:p>
            <a:pPr marL="342900" marR="0" lvl="0" indent="-3429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 b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using namespace std;</a:t>
            </a:r>
            <a:endParaRPr/>
          </a:p>
          <a:p>
            <a:pPr marL="342900" marR="0" lvl="0" indent="-3429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b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342900" marR="0" lvl="0" indent="-3429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 b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int main()</a:t>
            </a:r>
            <a:endParaRPr/>
          </a:p>
          <a:p>
            <a:pPr marL="342900" marR="0" lvl="0" indent="-3429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 b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/>
          </a:p>
          <a:p>
            <a:pPr marL="342900" marR="0" lvl="0" indent="-3429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 b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int x=25;</a:t>
            </a:r>
            <a:endParaRPr/>
          </a:p>
          <a:p>
            <a:pPr marL="342900" marR="0" lvl="0" indent="-3429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 b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cout&lt;&lt;"The address of x is= "&lt;&lt;&amp;x&lt;&lt;endl;</a:t>
            </a:r>
            <a:endParaRPr/>
          </a:p>
          <a:p>
            <a:pPr marL="342900" marR="0" lvl="0" indent="-3429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 b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cout&lt;&lt;"The value in x is "&lt;&lt; x&lt;&lt;endl;</a:t>
            </a:r>
            <a:endParaRPr/>
          </a:p>
          <a:p>
            <a:pPr marL="342900" marR="0" lvl="0" indent="-3429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 b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9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cap="none"/>
              <a:t>2 - Pointer Variables</a:t>
            </a:r>
            <a:endParaRPr cap="none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Pointer Variables</a:t>
            </a:r>
            <a:endParaRPr/>
          </a:p>
        </p:txBody>
      </p:sp>
      <p:sp>
        <p:nvSpPr>
          <p:cNvPr id="167" name="Google Shape;167;p10"/>
          <p:cNvSpPr txBox="1"/>
          <p:nvPr/>
        </p:nvSpPr>
        <p:spPr>
          <a:xfrm>
            <a:off x="457200" y="1524000"/>
            <a:ext cx="8229600" cy="4602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Pointer variable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: Often just called a pointer, it's a variable that </a:t>
            </a:r>
            <a:r>
              <a:rPr lang="en-US" sz="2400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holds an address</a:t>
            </a:r>
            <a:endParaRPr/>
          </a:p>
          <a:p>
            <a:pPr marL="342900" marR="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>
              <a:solidFill>
                <a:srgbClr val="990033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Because a pointer variable holds the address of another piece of data, it "</a:t>
            </a:r>
            <a:r>
              <a:rPr lang="en-US" sz="2400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points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" to the data</a:t>
            </a:r>
            <a:endParaRPr/>
          </a:p>
          <a:p>
            <a:pPr marL="342900" marR="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Pointer variables are yet another way using a </a:t>
            </a:r>
            <a:r>
              <a:rPr lang="en-US" sz="2400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memory address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to work with a piece of data.</a:t>
            </a:r>
            <a:endParaRPr/>
          </a:p>
          <a:p>
            <a:pPr marL="342900" marR="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This means you are responsible for finding the address you want to store in the pointer and correctly using it.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1"/>
          <p:cNvSpPr txBox="1">
            <a:spLocks noGrp="1"/>
          </p:cNvSpPr>
          <p:nvPr>
            <p:ph type="title"/>
          </p:nvPr>
        </p:nvSpPr>
        <p:spPr>
          <a:xfrm>
            <a:off x="457200" y="3508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Pointer Variables (cont.)</a:t>
            </a:r>
            <a:endParaRPr/>
          </a:p>
        </p:txBody>
      </p:sp>
      <p:sp>
        <p:nvSpPr>
          <p:cNvPr id="173" name="Google Shape;173;p11"/>
          <p:cNvSpPr txBox="1"/>
          <p:nvPr/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Definition:</a:t>
            </a:r>
            <a:endParaRPr/>
          </a:p>
          <a:p>
            <a:pPr marL="742950" marR="0" lvl="1" indent="-285750" algn="l" rtl="0">
              <a:spcBef>
                <a:spcPts val="560"/>
              </a:spcBef>
              <a:spcAft>
                <a:spcPts val="0"/>
              </a:spcAft>
              <a:buClr>
                <a:srgbClr val="3333CC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lang="en-US" sz="28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int  *intptr;</a:t>
            </a:r>
            <a:endParaRPr/>
          </a:p>
          <a:p>
            <a:pPr marL="342900" marR="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Read as:</a:t>
            </a:r>
            <a:endParaRPr/>
          </a:p>
          <a:p>
            <a:pPr marL="342900" marR="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“</a:t>
            </a:r>
            <a:r>
              <a:rPr lang="en-US" sz="3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intptr</a:t>
            </a:r>
            <a:r>
              <a:rPr lang="en-U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can hold the address of an int”</a:t>
            </a: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Spacing in definition does not matter:</a:t>
            </a:r>
            <a:endParaRPr/>
          </a:p>
          <a:p>
            <a:pPr marL="742950" marR="0" lvl="1" indent="-285750" algn="l" rtl="0">
              <a:spcBef>
                <a:spcPts val="560"/>
              </a:spcBef>
              <a:spcAft>
                <a:spcPts val="0"/>
              </a:spcAft>
              <a:buClr>
                <a:srgbClr val="3333CC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lang="en-US" sz="28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int * intptr;  // same as above</a:t>
            </a:r>
            <a:endParaRPr/>
          </a:p>
          <a:p>
            <a:pPr marL="742950" marR="0" lvl="1" indent="-285750" algn="l" rtl="0">
              <a:spcBef>
                <a:spcPts val="560"/>
              </a:spcBef>
              <a:spcAft>
                <a:spcPts val="0"/>
              </a:spcAft>
              <a:buClr>
                <a:srgbClr val="3333CC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int*  intptr;  // same as above</a:t>
            </a:r>
            <a:endParaRPr/>
          </a:p>
          <a:p>
            <a:pPr marL="742950" marR="0" lvl="1" indent="-285750" algn="l" rtl="0">
              <a:spcBef>
                <a:spcPts val="560"/>
              </a:spcBef>
              <a:spcAft>
                <a:spcPts val="0"/>
              </a:spcAft>
              <a:buClr>
                <a:srgbClr val="3333CC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Pointer Variables (cont.)</a:t>
            </a:r>
            <a:endParaRPr/>
          </a:p>
        </p:txBody>
      </p:sp>
      <p:sp>
        <p:nvSpPr>
          <p:cNvPr id="179" name="Google Shape;179;p12"/>
          <p:cNvSpPr txBox="1"/>
          <p:nvPr/>
        </p:nvSpPr>
        <p:spPr>
          <a:xfrm>
            <a:off x="457200" y="1981200"/>
            <a:ext cx="8305800" cy="25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Assigning an address to a pointer variable:</a:t>
            </a:r>
            <a:endParaRPr/>
          </a:p>
          <a:p>
            <a:pPr marL="742950" marR="0" lvl="1" indent="-285750" algn="l" rtl="0">
              <a:spcBef>
                <a:spcPts val="560"/>
              </a:spcBef>
              <a:spcAft>
                <a:spcPts val="0"/>
              </a:spcAft>
              <a:buClr>
                <a:srgbClr val="3333CC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int *intptr;</a:t>
            </a: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endParaRPr/>
          </a:p>
          <a:p>
            <a:pPr marL="742950" marR="0" lvl="1" indent="-285750" algn="l" rtl="0">
              <a:spcBef>
                <a:spcPts val="560"/>
              </a:spcBef>
              <a:spcAft>
                <a:spcPts val="0"/>
              </a:spcAft>
              <a:buClr>
                <a:srgbClr val="3333CC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intptr = &amp;num;</a:t>
            </a:r>
            <a:endParaRPr/>
          </a:p>
          <a:p>
            <a:pPr marL="742950" marR="0" lvl="1" indent="-285750" algn="l" rtl="0">
              <a:spcBef>
                <a:spcPts val="560"/>
              </a:spcBef>
              <a:spcAft>
                <a:spcPts val="0"/>
              </a:spcAft>
              <a:buClr>
                <a:srgbClr val="3333CC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342900" marR="0" lvl="0" indent="-342900" algn="l" rtl="0">
              <a:spcBef>
                <a:spcPts val="640"/>
              </a:spcBef>
              <a:spcAft>
                <a:spcPts val="0"/>
              </a:spcAft>
              <a:buClr>
                <a:srgbClr val="3333CC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Memory layout:</a:t>
            </a:r>
            <a:br>
              <a:rPr lang="en-U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139700" algn="l" rtl="0">
              <a:spcBef>
                <a:spcPts val="640"/>
              </a:spcBef>
              <a:spcAft>
                <a:spcPts val="0"/>
              </a:spcAft>
              <a:buClr>
                <a:srgbClr val="3333CC"/>
              </a:buClr>
              <a:buSzPts val="3200"/>
              <a:buFont typeface="Arial"/>
              <a:buNone/>
            </a:pP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0" name="Google Shape;180;p12"/>
          <p:cNvGrpSpPr/>
          <p:nvPr/>
        </p:nvGrpSpPr>
        <p:grpSpPr>
          <a:xfrm>
            <a:off x="1600200" y="4343400"/>
            <a:ext cx="5867400" cy="1524000"/>
            <a:chOff x="720" y="2256"/>
            <a:chExt cx="3344" cy="768"/>
          </a:xfrm>
        </p:grpSpPr>
        <p:sp>
          <p:nvSpPr>
            <p:cNvPr id="181" name="Google Shape;181;p12"/>
            <p:cNvSpPr/>
            <p:nvPr/>
          </p:nvSpPr>
          <p:spPr>
            <a:xfrm>
              <a:off x="1920" y="2448"/>
              <a:ext cx="672" cy="288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" name="Google Shape;182;p12"/>
            <p:cNvSpPr/>
            <p:nvPr/>
          </p:nvSpPr>
          <p:spPr>
            <a:xfrm>
              <a:off x="3360" y="2448"/>
              <a:ext cx="672" cy="288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" name="Google Shape;183;p12"/>
            <p:cNvSpPr txBox="1"/>
            <p:nvPr/>
          </p:nvSpPr>
          <p:spPr>
            <a:xfrm>
              <a:off x="2064" y="2256"/>
              <a:ext cx="404" cy="2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0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num</a:t>
              </a:r>
              <a:endParaRPr sz="2000" b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184" name="Google Shape;184;p12"/>
            <p:cNvSpPr txBox="1"/>
            <p:nvPr/>
          </p:nvSpPr>
          <p:spPr>
            <a:xfrm>
              <a:off x="3312" y="2256"/>
              <a:ext cx="692" cy="2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0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intptr</a:t>
              </a:r>
              <a:endParaRPr/>
            </a:p>
          </p:txBody>
        </p:sp>
        <p:sp>
          <p:nvSpPr>
            <p:cNvPr id="185" name="Google Shape;185;p12"/>
            <p:cNvSpPr txBox="1"/>
            <p:nvPr/>
          </p:nvSpPr>
          <p:spPr>
            <a:xfrm>
              <a:off x="2064" y="2448"/>
              <a:ext cx="346" cy="2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25</a:t>
              </a:r>
              <a:endParaRPr/>
            </a:p>
          </p:txBody>
        </p:sp>
        <p:sp>
          <p:nvSpPr>
            <p:cNvPr id="186" name="Google Shape;186;p12"/>
            <p:cNvSpPr txBox="1"/>
            <p:nvPr/>
          </p:nvSpPr>
          <p:spPr>
            <a:xfrm>
              <a:off x="3312" y="2448"/>
              <a:ext cx="752" cy="26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00" b="0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0x4a00</a:t>
              </a:r>
              <a:endParaRPr/>
            </a:p>
          </p:txBody>
        </p:sp>
        <p:cxnSp>
          <p:nvCxnSpPr>
            <p:cNvPr id="187" name="Google Shape;187;p12"/>
            <p:cNvCxnSpPr/>
            <p:nvPr/>
          </p:nvCxnSpPr>
          <p:spPr>
            <a:xfrm rot="10800000">
              <a:off x="2592" y="2592"/>
              <a:ext cx="768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88" name="Google Shape;188;p12"/>
            <p:cNvSpPr txBox="1"/>
            <p:nvPr/>
          </p:nvSpPr>
          <p:spPr>
            <a:xfrm>
              <a:off x="720" y="2736"/>
              <a:ext cx="2207" cy="2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address of </a:t>
              </a:r>
              <a:r>
                <a:rPr lang="en-US" sz="2400" b="0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num</a:t>
              </a:r>
              <a:r>
                <a:rPr lang="en-US" sz="2400" b="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: </a:t>
              </a:r>
              <a:r>
                <a:rPr lang="en-US" sz="2400" b="0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0x4a00</a:t>
              </a:r>
              <a:endParaRPr sz="2400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Pointer Variables (cont.)</a:t>
            </a:r>
            <a:endParaRPr/>
          </a:p>
        </p:txBody>
      </p:sp>
      <p:sp>
        <p:nvSpPr>
          <p:cNvPr id="194" name="Google Shape;194;p13"/>
          <p:cNvSpPr txBox="1"/>
          <p:nvPr/>
        </p:nvSpPr>
        <p:spPr>
          <a:xfrm>
            <a:off x="990600" y="2209800"/>
            <a:ext cx="2895600" cy="1077218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  a,  b,  *ptr;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ptr  =  &amp;a;</a:t>
            </a:r>
            <a:endParaRPr/>
          </a:p>
        </p:txBody>
      </p:sp>
      <p:sp>
        <p:nvSpPr>
          <p:cNvPr id="195" name="Google Shape;195;p13"/>
          <p:cNvSpPr txBox="1"/>
          <p:nvPr/>
        </p:nvSpPr>
        <p:spPr>
          <a:xfrm>
            <a:off x="4953000" y="2209800"/>
            <a:ext cx="3352800" cy="1077218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 a, b, *ptr =  &amp;a;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3"/>
          <p:cNvSpPr txBox="1"/>
          <p:nvPr/>
        </p:nvSpPr>
        <p:spPr>
          <a:xfrm>
            <a:off x="4114800" y="1981200"/>
            <a:ext cx="533400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or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7" name="Google Shape;197;p13"/>
          <p:cNvCxnSpPr/>
          <p:nvPr/>
        </p:nvCxnSpPr>
        <p:spPr>
          <a:xfrm>
            <a:off x="2971800" y="4191000"/>
            <a:ext cx="838200" cy="8382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stealth" w="lg" len="lg"/>
          </a:ln>
        </p:spPr>
      </p:cxnSp>
      <p:sp>
        <p:nvSpPr>
          <p:cNvPr id="198" name="Google Shape;198;p13"/>
          <p:cNvSpPr txBox="1"/>
          <p:nvPr/>
        </p:nvSpPr>
        <p:spPr>
          <a:xfrm>
            <a:off x="2362200" y="3581400"/>
            <a:ext cx="91440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ptr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3"/>
          <p:cNvSpPr txBox="1"/>
          <p:nvPr/>
        </p:nvSpPr>
        <p:spPr>
          <a:xfrm>
            <a:off x="3505200" y="5181600"/>
            <a:ext cx="838200" cy="646331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200" name="Google Shape;200;p13"/>
          <p:cNvSpPr txBox="1"/>
          <p:nvPr/>
        </p:nvSpPr>
        <p:spPr>
          <a:xfrm>
            <a:off x="4953000" y="5181600"/>
            <a:ext cx="83820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/>
          </a:p>
        </p:txBody>
      </p:sp>
      <p:sp>
        <p:nvSpPr>
          <p:cNvPr id="201" name="Google Shape;201;p13"/>
          <p:cNvSpPr txBox="1"/>
          <p:nvPr/>
        </p:nvSpPr>
        <p:spPr>
          <a:xfrm>
            <a:off x="2590800" y="5181600"/>
            <a:ext cx="838200" cy="646331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/>
          </a:p>
        </p:txBody>
      </p:sp>
      <p:sp>
        <p:nvSpPr>
          <p:cNvPr id="202" name="Google Shape;202;p13"/>
          <p:cNvSpPr txBox="1"/>
          <p:nvPr/>
        </p:nvSpPr>
        <p:spPr>
          <a:xfrm>
            <a:off x="5715000" y="5181600"/>
            <a:ext cx="838200" cy="646331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Example 2.1</a:t>
            </a:r>
            <a:endParaRPr/>
          </a:p>
        </p:txBody>
      </p:sp>
      <p:pic>
        <p:nvPicPr>
          <p:cNvPr id="208" name="Google Shape;208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6581" y="1371600"/>
            <a:ext cx="9144000" cy="4953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Indirection Operator</a:t>
            </a:r>
            <a:endParaRPr/>
          </a:p>
        </p:txBody>
      </p:sp>
      <p:sp>
        <p:nvSpPr>
          <p:cNvPr id="214" name="Google Shape;214;p15"/>
          <p:cNvSpPr txBox="1"/>
          <p:nvPr/>
        </p:nvSpPr>
        <p:spPr>
          <a:xfrm>
            <a:off x="457200" y="14478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indirection operator (</a:t>
            </a:r>
            <a:r>
              <a:rPr lang="en-US" sz="3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n-U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 dereferences a pointer.</a:t>
            </a:r>
            <a:endParaRPr/>
          </a:p>
          <a:p>
            <a:pPr marL="342900" marR="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It allows you to access the item that the pointer points to.</a:t>
            </a:r>
            <a:br>
              <a:rPr lang="en-U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en-U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3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int x = 25;</a:t>
            </a:r>
            <a:br>
              <a:rPr lang="en-US" sz="3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3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int *intptr = &amp;x;</a:t>
            </a:r>
            <a:br>
              <a:rPr lang="en-US" sz="3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3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cout &lt;&lt; *intptr &lt;&lt; endl;</a:t>
            </a:r>
            <a:endParaRPr/>
          </a:p>
          <a:p>
            <a:pPr marL="342900" marR="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15"/>
          <p:cNvSpPr txBox="1"/>
          <p:nvPr/>
        </p:nvSpPr>
        <p:spPr>
          <a:xfrm>
            <a:off x="3429000" y="5867400"/>
            <a:ext cx="2514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>
                <a:solidFill>
                  <a:srgbClr val="FF6600"/>
                </a:solidFill>
                <a:latin typeface="Arial"/>
                <a:ea typeface="Arial"/>
                <a:cs typeface="Arial"/>
                <a:sym typeface="Arial"/>
              </a:rPr>
              <a:t>This prints 25.</a:t>
            </a:r>
            <a:endParaRPr/>
          </a:p>
        </p:txBody>
      </p:sp>
      <p:cxnSp>
        <p:nvCxnSpPr>
          <p:cNvPr id="216" name="Google Shape;216;p15"/>
          <p:cNvCxnSpPr/>
          <p:nvPr/>
        </p:nvCxnSpPr>
        <p:spPr>
          <a:xfrm rot="10800000">
            <a:off x="4114800" y="5410200"/>
            <a:ext cx="304800" cy="228600"/>
          </a:xfrm>
          <a:prstGeom prst="straightConnector1">
            <a:avLst/>
          </a:prstGeom>
          <a:noFill/>
          <a:ln w="28575" cap="flat" cmpd="sng">
            <a:solidFill>
              <a:srgbClr val="FF3300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Pointer Variables (cont.)</a:t>
            </a:r>
            <a:endParaRPr/>
          </a:p>
        </p:txBody>
      </p:sp>
      <p:sp>
        <p:nvSpPr>
          <p:cNvPr id="222" name="Google Shape;222;p16"/>
          <p:cNvSpPr txBox="1"/>
          <p:nvPr/>
        </p:nvSpPr>
        <p:spPr>
          <a:xfrm>
            <a:off x="457200" y="1922463"/>
            <a:ext cx="4800600" cy="2573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int a = 5, b = 9,</a:t>
            </a:r>
            <a:endParaRPr/>
          </a:p>
          <a:p>
            <a:pPr marL="342900" marR="0" lvl="0" indent="-3429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*ptr = &amp;a;</a:t>
            </a:r>
            <a:endParaRPr/>
          </a:p>
          <a:p>
            <a:pPr marL="342900" marR="0" lvl="0" indent="-3429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342900" marR="0" lvl="0" indent="-3429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342900" marR="0" lvl="0" indent="-3429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b = *ptr;   </a:t>
            </a:r>
            <a:endParaRPr sz="2800"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grpSp>
        <p:nvGrpSpPr>
          <p:cNvPr id="223" name="Google Shape;223;p16"/>
          <p:cNvGrpSpPr/>
          <p:nvPr/>
        </p:nvGrpSpPr>
        <p:grpSpPr>
          <a:xfrm>
            <a:off x="5424488" y="4102100"/>
            <a:ext cx="2760662" cy="1295400"/>
            <a:chOff x="1017" y="1192"/>
            <a:chExt cx="1739" cy="816"/>
          </a:xfrm>
        </p:grpSpPr>
        <p:sp>
          <p:nvSpPr>
            <p:cNvPr id="224" name="Google Shape;224;p16"/>
            <p:cNvSpPr/>
            <p:nvPr/>
          </p:nvSpPr>
          <p:spPr>
            <a:xfrm>
              <a:off x="1556" y="1652"/>
              <a:ext cx="336" cy="336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5</a:t>
              </a:r>
              <a:endParaRPr/>
            </a:p>
          </p:txBody>
        </p:sp>
        <p:sp>
          <p:nvSpPr>
            <p:cNvPr id="225" name="Google Shape;225;p16"/>
            <p:cNvSpPr/>
            <p:nvPr/>
          </p:nvSpPr>
          <p:spPr>
            <a:xfrm>
              <a:off x="2420" y="1652"/>
              <a:ext cx="336" cy="336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1" u="sng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5</a:t>
              </a:r>
              <a:endParaRPr/>
            </a:p>
          </p:txBody>
        </p:sp>
        <p:sp>
          <p:nvSpPr>
            <p:cNvPr id="226" name="Google Shape;226;p16"/>
            <p:cNvSpPr txBox="1"/>
            <p:nvPr/>
          </p:nvSpPr>
          <p:spPr>
            <a:xfrm>
              <a:off x="1296" y="1584"/>
              <a:ext cx="260" cy="40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00" b="1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</a:t>
              </a:r>
              <a:endParaRPr/>
            </a:p>
          </p:txBody>
        </p:sp>
        <p:sp>
          <p:nvSpPr>
            <p:cNvPr id="227" name="Google Shape;227;p16"/>
            <p:cNvSpPr txBox="1"/>
            <p:nvPr/>
          </p:nvSpPr>
          <p:spPr>
            <a:xfrm>
              <a:off x="2152" y="1604"/>
              <a:ext cx="276" cy="40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00" b="1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b</a:t>
              </a:r>
              <a:endParaRPr/>
            </a:p>
          </p:txBody>
        </p:sp>
        <p:sp>
          <p:nvSpPr>
            <p:cNvPr id="228" name="Google Shape;228;p16"/>
            <p:cNvSpPr txBox="1"/>
            <p:nvPr/>
          </p:nvSpPr>
          <p:spPr>
            <a:xfrm>
              <a:off x="1017" y="1192"/>
              <a:ext cx="578" cy="36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ptr</a:t>
              </a:r>
              <a:endParaRPr/>
            </a:p>
          </p:txBody>
        </p:sp>
        <p:cxnSp>
          <p:nvCxnSpPr>
            <p:cNvPr id="229" name="Google Shape;229;p16"/>
            <p:cNvCxnSpPr/>
            <p:nvPr/>
          </p:nvCxnSpPr>
          <p:spPr>
            <a:xfrm>
              <a:off x="1584" y="1440"/>
              <a:ext cx="144" cy="192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round/>
              <a:headEnd type="none" w="med" len="med"/>
              <a:tailEnd type="stealth" w="med" len="med"/>
            </a:ln>
          </p:spPr>
        </p:cxnSp>
      </p:grpSp>
      <p:sp>
        <p:nvSpPr>
          <p:cNvPr id="230" name="Google Shape;230;p16"/>
          <p:cNvSpPr/>
          <p:nvPr/>
        </p:nvSpPr>
        <p:spPr>
          <a:xfrm>
            <a:off x="6553200" y="3429000"/>
            <a:ext cx="762000" cy="685800"/>
          </a:xfrm>
          <a:prstGeom prst="downArrow">
            <a:avLst>
              <a:gd name="adj1" fmla="val 50000"/>
              <a:gd name="adj2" fmla="val 25000"/>
            </a:avLst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6"/>
          <p:cNvSpPr/>
          <p:nvPr/>
        </p:nvSpPr>
        <p:spPr>
          <a:xfrm>
            <a:off x="381000" y="1905000"/>
            <a:ext cx="4724400" cy="26670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6"/>
          <p:cNvSpPr txBox="1"/>
          <p:nvPr/>
        </p:nvSpPr>
        <p:spPr>
          <a:xfrm>
            <a:off x="609600" y="5638800"/>
            <a:ext cx="77089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b=*ptr</a:t>
            </a:r>
            <a:r>
              <a:rPr lang="en-US" sz="2400" b="0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  : </a:t>
            </a:r>
            <a:r>
              <a:rPr lang="en-US" sz="24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b</a:t>
            </a:r>
            <a:r>
              <a:rPr lang="en-US" sz="2400" b="0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 is assigned the value pointed to by </a:t>
            </a:r>
            <a:r>
              <a:rPr lang="en-US" sz="24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ptr</a:t>
            </a:r>
            <a:endParaRPr sz="2400"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grpSp>
        <p:nvGrpSpPr>
          <p:cNvPr id="233" name="Google Shape;233;p16"/>
          <p:cNvGrpSpPr/>
          <p:nvPr/>
        </p:nvGrpSpPr>
        <p:grpSpPr>
          <a:xfrm>
            <a:off x="5638800" y="1828800"/>
            <a:ext cx="2698750" cy="1358900"/>
            <a:chOff x="1056" y="1152"/>
            <a:chExt cx="1700" cy="856"/>
          </a:xfrm>
        </p:grpSpPr>
        <p:sp>
          <p:nvSpPr>
            <p:cNvPr id="234" name="Google Shape;234;p16"/>
            <p:cNvSpPr/>
            <p:nvPr/>
          </p:nvSpPr>
          <p:spPr>
            <a:xfrm>
              <a:off x="1556" y="1652"/>
              <a:ext cx="336" cy="336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5</a:t>
              </a:r>
              <a:endParaRPr/>
            </a:p>
          </p:txBody>
        </p:sp>
        <p:sp>
          <p:nvSpPr>
            <p:cNvPr id="235" name="Google Shape;235;p16"/>
            <p:cNvSpPr/>
            <p:nvPr/>
          </p:nvSpPr>
          <p:spPr>
            <a:xfrm>
              <a:off x="2420" y="1652"/>
              <a:ext cx="336" cy="336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9</a:t>
              </a:r>
              <a:endParaRPr/>
            </a:p>
          </p:txBody>
        </p:sp>
        <p:sp>
          <p:nvSpPr>
            <p:cNvPr id="236" name="Google Shape;236;p16"/>
            <p:cNvSpPr txBox="1"/>
            <p:nvPr/>
          </p:nvSpPr>
          <p:spPr>
            <a:xfrm>
              <a:off x="1296" y="1584"/>
              <a:ext cx="260" cy="40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00" b="1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</a:t>
              </a:r>
              <a:endParaRPr/>
            </a:p>
          </p:txBody>
        </p:sp>
        <p:sp>
          <p:nvSpPr>
            <p:cNvPr id="237" name="Google Shape;237;p16"/>
            <p:cNvSpPr txBox="1"/>
            <p:nvPr/>
          </p:nvSpPr>
          <p:spPr>
            <a:xfrm>
              <a:off x="2152" y="1604"/>
              <a:ext cx="276" cy="40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00" b="1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b</a:t>
              </a:r>
              <a:endParaRPr/>
            </a:p>
          </p:txBody>
        </p:sp>
        <p:sp>
          <p:nvSpPr>
            <p:cNvPr id="238" name="Google Shape;238;p16"/>
            <p:cNvSpPr txBox="1"/>
            <p:nvPr/>
          </p:nvSpPr>
          <p:spPr>
            <a:xfrm>
              <a:off x="1056" y="1152"/>
              <a:ext cx="500" cy="2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ptr</a:t>
              </a:r>
              <a:endParaRPr/>
            </a:p>
          </p:txBody>
        </p:sp>
        <p:cxnSp>
          <p:nvCxnSpPr>
            <p:cNvPr id="239" name="Google Shape;239;p16"/>
            <p:cNvCxnSpPr/>
            <p:nvPr/>
          </p:nvCxnSpPr>
          <p:spPr>
            <a:xfrm>
              <a:off x="1584" y="1440"/>
              <a:ext cx="144" cy="192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round/>
              <a:headEnd type="none" w="med" len="med"/>
              <a:tailEnd type="stealth" w="med" len="med"/>
            </a:ln>
          </p:spPr>
        </p:cxn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Pointer Variables (cont.)</a:t>
            </a:r>
            <a:endParaRPr/>
          </a:p>
        </p:txBody>
      </p:sp>
      <p:sp>
        <p:nvSpPr>
          <p:cNvPr id="245" name="Google Shape;245;p17"/>
          <p:cNvSpPr txBox="1"/>
          <p:nvPr/>
        </p:nvSpPr>
        <p:spPr>
          <a:xfrm>
            <a:off x="533400" y="1922463"/>
            <a:ext cx="4572000" cy="2573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 sz="32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int a = 5, b = 9, *ptr = &amp;a;</a:t>
            </a:r>
            <a:endParaRPr/>
          </a:p>
          <a:p>
            <a:pPr marL="342900" marR="0" lvl="0" indent="-342900" algn="l" rtl="0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342900" marR="0" lvl="0" indent="-342900" algn="l" rtl="0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342900" marR="0" lvl="0" indent="-342900" algn="l" rtl="0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 sz="32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*ptr = b;   </a:t>
            </a:r>
            <a:endParaRPr sz="3200"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grpSp>
        <p:nvGrpSpPr>
          <p:cNvPr id="246" name="Google Shape;246;p17"/>
          <p:cNvGrpSpPr/>
          <p:nvPr/>
        </p:nvGrpSpPr>
        <p:grpSpPr>
          <a:xfrm>
            <a:off x="5791200" y="1371600"/>
            <a:ext cx="2698750" cy="1358900"/>
            <a:chOff x="1056" y="1152"/>
            <a:chExt cx="1700" cy="856"/>
          </a:xfrm>
        </p:grpSpPr>
        <p:sp>
          <p:nvSpPr>
            <p:cNvPr id="247" name="Google Shape;247;p17"/>
            <p:cNvSpPr/>
            <p:nvPr/>
          </p:nvSpPr>
          <p:spPr>
            <a:xfrm>
              <a:off x="1556" y="1652"/>
              <a:ext cx="336" cy="336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5</a:t>
              </a:r>
              <a:endParaRPr/>
            </a:p>
          </p:txBody>
        </p:sp>
        <p:sp>
          <p:nvSpPr>
            <p:cNvPr id="248" name="Google Shape;248;p17"/>
            <p:cNvSpPr/>
            <p:nvPr/>
          </p:nvSpPr>
          <p:spPr>
            <a:xfrm>
              <a:off x="2420" y="1652"/>
              <a:ext cx="336" cy="336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9</a:t>
              </a:r>
              <a:endParaRPr/>
            </a:p>
          </p:txBody>
        </p:sp>
        <p:sp>
          <p:nvSpPr>
            <p:cNvPr id="249" name="Google Shape;249;p17"/>
            <p:cNvSpPr txBox="1"/>
            <p:nvPr/>
          </p:nvSpPr>
          <p:spPr>
            <a:xfrm>
              <a:off x="1296" y="1584"/>
              <a:ext cx="260" cy="40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00" b="1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</a:t>
              </a:r>
              <a:endParaRPr/>
            </a:p>
          </p:txBody>
        </p:sp>
        <p:sp>
          <p:nvSpPr>
            <p:cNvPr id="250" name="Google Shape;250;p17"/>
            <p:cNvSpPr txBox="1"/>
            <p:nvPr/>
          </p:nvSpPr>
          <p:spPr>
            <a:xfrm>
              <a:off x="2152" y="1604"/>
              <a:ext cx="276" cy="40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00" b="1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b</a:t>
              </a:r>
              <a:endParaRPr/>
            </a:p>
          </p:txBody>
        </p:sp>
        <p:sp>
          <p:nvSpPr>
            <p:cNvPr id="251" name="Google Shape;251;p17"/>
            <p:cNvSpPr txBox="1"/>
            <p:nvPr/>
          </p:nvSpPr>
          <p:spPr>
            <a:xfrm>
              <a:off x="1056" y="1152"/>
              <a:ext cx="500" cy="40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00" b="1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ptr</a:t>
              </a:r>
              <a:endParaRPr/>
            </a:p>
          </p:txBody>
        </p:sp>
        <p:cxnSp>
          <p:nvCxnSpPr>
            <p:cNvPr id="252" name="Google Shape;252;p17"/>
            <p:cNvCxnSpPr/>
            <p:nvPr/>
          </p:nvCxnSpPr>
          <p:spPr>
            <a:xfrm>
              <a:off x="1584" y="1440"/>
              <a:ext cx="144" cy="192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round/>
              <a:headEnd type="none" w="med" len="med"/>
              <a:tailEnd type="stealth" w="med" len="med"/>
            </a:ln>
          </p:spPr>
        </p:cxnSp>
      </p:grpSp>
      <p:grpSp>
        <p:nvGrpSpPr>
          <p:cNvPr id="253" name="Google Shape;253;p17"/>
          <p:cNvGrpSpPr/>
          <p:nvPr/>
        </p:nvGrpSpPr>
        <p:grpSpPr>
          <a:xfrm>
            <a:off x="5867400" y="3505200"/>
            <a:ext cx="2698750" cy="1358900"/>
            <a:chOff x="1056" y="1152"/>
            <a:chExt cx="1700" cy="856"/>
          </a:xfrm>
        </p:grpSpPr>
        <p:sp>
          <p:nvSpPr>
            <p:cNvPr id="254" name="Google Shape;254;p17"/>
            <p:cNvSpPr/>
            <p:nvPr/>
          </p:nvSpPr>
          <p:spPr>
            <a:xfrm>
              <a:off x="1556" y="1652"/>
              <a:ext cx="336" cy="336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1" u="sng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9</a:t>
              </a:r>
              <a:endParaRPr/>
            </a:p>
          </p:txBody>
        </p:sp>
        <p:sp>
          <p:nvSpPr>
            <p:cNvPr id="255" name="Google Shape;255;p17"/>
            <p:cNvSpPr/>
            <p:nvPr/>
          </p:nvSpPr>
          <p:spPr>
            <a:xfrm>
              <a:off x="2420" y="1652"/>
              <a:ext cx="336" cy="336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9</a:t>
              </a:r>
              <a:endParaRPr/>
            </a:p>
          </p:txBody>
        </p:sp>
        <p:sp>
          <p:nvSpPr>
            <p:cNvPr id="256" name="Google Shape;256;p17"/>
            <p:cNvSpPr txBox="1"/>
            <p:nvPr/>
          </p:nvSpPr>
          <p:spPr>
            <a:xfrm>
              <a:off x="1296" y="1584"/>
              <a:ext cx="260" cy="40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00" b="1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</a:t>
              </a:r>
              <a:endParaRPr/>
            </a:p>
          </p:txBody>
        </p:sp>
        <p:sp>
          <p:nvSpPr>
            <p:cNvPr id="257" name="Google Shape;257;p17"/>
            <p:cNvSpPr txBox="1"/>
            <p:nvPr/>
          </p:nvSpPr>
          <p:spPr>
            <a:xfrm>
              <a:off x="2152" y="1604"/>
              <a:ext cx="276" cy="40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00" b="1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b</a:t>
              </a:r>
              <a:endParaRPr/>
            </a:p>
          </p:txBody>
        </p:sp>
        <p:sp>
          <p:nvSpPr>
            <p:cNvPr id="258" name="Google Shape;258;p17"/>
            <p:cNvSpPr txBox="1"/>
            <p:nvPr/>
          </p:nvSpPr>
          <p:spPr>
            <a:xfrm>
              <a:off x="1056" y="1152"/>
              <a:ext cx="500" cy="40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00" b="1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ptr</a:t>
              </a:r>
              <a:endParaRPr/>
            </a:p>
          </p:txBody>
        </p:sp>
        <p:cxnSp>
          <p:nvCxnSpPr>
            <p:cNvPr id="259" name="Google Shape;259;p17"/>
            <p:cNvCxnSpPr/>
            <p:nvPr/>
          </p:nvCxnSpPr>
          <p:spPr>
            <a:xfrm>
              <a:off x="1584" y="1440"/>
              <a:ext cx="144" cy="192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round/>
              <a:headEnd type="none" w="med" len="med"/>
              <a:tailEnd type="stealth" w="med" len="med"/>
            </a:ln>
          </p:spPr>
        </p:cxnSp>
      </p:grpSp>
      <p:sp>
        <p:nvSpPr>
          <p:cNvPr id="260" name="Google Shape;260;p17"/>
          <p:cNvSpPr/>
          <p:nvPr/>
        </p:nvSpPr>
        <p:spPr>
          <a:xfrm>
            <a:off x="7010400" y="2971800"/>
            <a:ext cx="762000" cy="685800"/>
          </a:xfrm>
          <a:prstGeom prst="downArrow">
            <a:avLst>
              <a:gd name="adj1" fmla="val 50000"/>
              <a:gd name="adj2" fmla="val 25000"/>
            </a:avLst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7"/>
          <p:cNvSpPr/>
          <p:nvPr/>
        </p:nvSpPr>
        <p:spPr>
          <a:xfrm>
            <a:off x="381000" y="1905000"/>
            <a:ext cx="4724400" cy="26670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7"/>
          <p:cNvSpPr txBox="1"/>
          <p:nvPr/>
        </p:nvSpPr>
        <p:spPr>
          <a:xfrm>
            <a:off x="457200" y="5334000"/>
            <a:ext cx="822960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*ptr</a:t>
            </a:r>
            <a:r>
              <a:rPr lang="en-US" sz="2400" b="0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 = </a:t>
            </a:r>
            <a:r>
              <a:rPr lang="en-US" sz="24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b: </a:t>
            </a:r>
            <a:r>
              <a:rPr lang="en-US" sz="2400" b="0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the value pointed to by </a:t>
            </a:r>
            <a:r>
              <a:rPr lang="en-US" sz="24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ptr </a:t>
            </a:r>
            <a:r>
              <a:rPr lang="en-US" sz="2400" b="0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is assigned the value in </a:t>
            </a:r>
            <a:r>
              <a:rPr lang="en-US" sz="24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b.</a:t>
            </a:r>
            <a:endParaRPr sz="2400"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Example 2.2</a:t>
            </a:r>
            <a:endParaRPr/>
          </a:p>
        </p:txBody>
      </p:sp>
      <p:pic>
        <p:nvPicPr>
          <p:cNvPr id="268" name="Google Shape;268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8600" y="1371600"/>
            <a:ext cx="8636000" cy="518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9"/>
          <p:cNvSpPr txBox="1">
            <a:spLocks noGrp="1"/>
          </p:cNvSpPr>
          <p:nvPr>
            <p:ph type="title"/>
          </p:nvPr>
        </p:nvSpPr>
        <p:spPr>
          <a:xfrm>
            <a:off x="457200" y="36473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Exercise 2</a:t>
            </a:r>
            <a:endParaRPr/>
          </a:p>
        </p:txBody>
      </p:sp>
      <p:sp>
        <p:nvSpPr>
          <p:cNvPr id="274" name="Google Shape;274;p19"/>
          <p:cNvSpPr txBox="1"/>
          <p:nvPr/>
        </p:nvSpPr>
        <p:spPr>
          <a:xfrm>
            <a:off x="457200" y="1219200"/>
            <a:ext cx="8229600" cy="1154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Give memory snapshots after each of these sets of statements are executed.</a:t>
            </a:r>
            <a:endParaRPr/>
          </a:p>
          <a:p>
            <a:pPr marL="342900" marR="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5" name="Google Shape;275;p19" descr="28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6800" y="2362200"/>
            <a:ext cx="6172200" cy="411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20"/>
          <p:cNvSpPr txBox="1">
            <a:spLocks noGrp="1"/>
          </p:cNvSpPr>
          <p:nvPr>
            <p:ph type="title"/>
          </p:nvPr>
        </p:nvSpPr>
        <p:spPr>
          <a:xfrm>
            <a:off x="2057400" y="228600"/>
            <a:ext cx="6629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Something like Pointers: Arrays</a:t>
            </a:r>
            <a:endParaRPr/>
          </a:p>
        </p:txBody>
      </p:sp>
      <p:sp>
        <p:nvSpPr>
          <p:cNvPr id="281" name="Google Shape;281;p20"/>
          <p:cNvSpPr txBox="1"/>
          <p:nvPr/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 have already worked with something similar to pointers, when we learned to pass arrays as arguments to functions.</a:t>
            </a:r>
            <a:br>
              <a:rPr lang="en-U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 example, suppose we use this statement to pass the array </a:t>
            </a:r>
            <a:r>
              <a:rPr lang="en-US" sz="3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numbers</a:t>
            </a:r>
            <a:r>
              <a:rPr lang="en-U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to the </a:t>
            </a:r>
            <a:r>
              <a:rPr lang="en-US" sz="3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showValues</a:t>
            </a:r>
            <a:r>
              <a:rPr lang="en-U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function:</a:t>
            </a:r>
            <a:br>
              <a:rPr lang="en-U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en-U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3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showValues(numbers, SIZE);</a:t>
            </a:r>
            <a:endParaRPr sz="3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21"/>
          <p:cNvSpPr txBox="1">
            <a:spLocks noGrp="1"/>
          </p:cNvSpPr>
          <p:nvPr>
            <p:ph type="title"/>
          </p:nvPr>
        </p:nvSpPr>
        <p:spPr>
          <a:xfrm>
            <a:off x="2057400" y="228600"/>
            <a:ext cx="6629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Something like Pointers: Arrays</a:t>
            </a:r>
            <a:endParaRPr/>
          </a:p>
        </p:txBody>
      </p:sp>
      <p:pic>
        <p:nvPicPr>
          <p:cNvPr id="287" name="Google Shape;287;p21" descr="0902sowc copy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7200" y="1981200"/>
            <a:ext cx="8555037" cy="426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21"/>
          <p:cNvSpPr txBox="1"/>
          <p:nvPr/>
        </p:nvSpPr>
        <p:spPr>
          <a:xfrm>
            <a:off x="3430587" y="1676400"/>
            <a:ext cx="5410200" cy="1187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>
                <a:solidFill>
                  <a:srgbClr val="FF6600"/>
                </a:solidFill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lang="en-US" sz="2400" b="0">
                <a:solidFill>
                  <a:srgbClr val="FF6600"/>
                </a:solidFill>
                <a:latin typeface="Courier New"/>
                <a:ea typeface="Courier New"/>
                <a:cs typeface="Courier New"/>
                <a:sym typeface="Courier New"/>
              </a:rPr>
              <a:t>values</a:t>
            </a:r>
            <a:r>
              <a:rPr lang="en-US" sz="2400" b="0">
                <a:solidFill>
                  <a:srgbClr val="FF6600"/>
                </a:solidFill>
                <a:latin typeface="Arial"/>
                <a:ea typeface="Arial"/>
                <a:cs typeface="Arial"/>
                <a:sym typeface="Arial"/>
              </a:rPr>
              <a:t> parameter, in the </a:t>
            </a:r>
            <a:r>
              <a:rPr lang="en-US" sz="2400" b="0">
                <a:solidFill>
                  <a:srgbClr val="FF6600"/>
                </a:solidFill>
                <a:latin typeface="Courier New"/>
                <a:ea typeface="Courier New"/>
                <a:cs typeface="Courier New"/>
                <a:sym typeface="Courier New"/>
              </a:rPr>
              <a:t>showValues</a:t>
            </a:r>
            <a:r>
              <a:rPr lang="en-US" sz="2400" b="0">
                <a:solidFill>
                  <a:srgbClr val="FF6600"/>
                </a:solidFill>
                <a:latin typeface="Arial"/>
                <a:ea typeface="Arial"/>
                <a:cs typeface="Arial"/>
                <a:sym typeface="Arial"/>
              </a:rPr>
              <a:t> function, points to the </a:t>
            </a:r>
            <a:r>
              <a:rPr lang="en-US" sz="2400" b="0">
                <a:solidFill>
                  <a:srgbClr val="FF6600"/>
                </a:solidFill>
                <a:latin typeface="Courier New"/>
                <a:ea typeface="Courier New"/>
                <a:cs typeface="Courier New"/>
                <a:sym typeface="Courier New"/>
              </a:rPr>
              <a:t>numbers</a:t>
            </a:r>
            <a:r>
              <a:rPr lang="en-US" sz="2400" b="0">
                <a:solidFill>
                  <a:srgbClr val="FF6600"/>
                </a:solidFill>
                <a:latin typeface="Arial"/>
                <a:ea typeface="Arial"/>
                <a:cs typeface="Arial"/>
                <a:sym typeface="Arial"/>
              </a:rPr>
              <a:t> array.</a:t>
            </a:r>
            <a:endParaRPr/>
          </a:p>
        </p:txBody>
      </p:sp>
      <p:sp>
        <p:nvSpPr>
          <p:cNvPr id="289" name="Google Shape;289;p21"/>
          <p:cNvSpPr txBox="1"/>
          <p:nvPr/>
        </p:nvSpPr>
        <p:spPr>
          <a:xfrm>
            <a:off x="230187" y="4483100"/>
            <a:ext cx="2971800" cy="1552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>
                <a:solidFill>
                  <a:srgbClr val="FF6600"/>
                </a:solidFill>
                <a:latin typeface="Arial"/>
                <a:ea typeface="Arial"/>
                <a:cs typeface="Arial"/>
                <a:sym typeface="Arial"/>
              </a:rPr>
              <a:t>C++ automatically stores the address of </a:t>
            </a:r>
            <a:r>
              <a:rPr lang="en-US" sz="2400" b="0">
                <a:solidFill>
                  <a:srgbClr val="FF6600"/>
                </a:solidFill>
                <a:latin typeface="Courier New"/>
                <a:ea typeface="Courier New"/>
                <a:cs typeface="Courier New"/>
                <a:sym typeface="Courier New"/>
              </a:rPr>
              <a:t>numbers</a:t>
            </a:r>
            <a:r>
              <a:rPr lang="en-US" sz="2400" b="0">
                <a:solidFill>
                  <a:srgbClr val="FF6600"/>
                </a:solidFill>
                <a:latin typeface="Arial"/>
                <a:ea typeface="Arial"/>
                <a:cs typeface="Arial"/>
                <a:sym typeface="Arial"/>
              </a:rPr>
              <a:t> in the </a:t>
            </a:r>
            <a:r>
              <a:rPr lang="en-US" sz="2400" b="0">
                <a:solidFill>
                  <a:srgbClr val="FF6600"/>
                </a:solidFill>
                <a:latin typeface="Courier New"/>
                <a:ea typeface="Courier New"/>
                <a:cs typeface="Courier New"/>
                <a:sym typeface="Courier New"/>
              </a:rPr>
              <a:t>values</a:t>
            </a:r>
            <a:r>
              <a:rPr lang="en-US" sz="2400" b="0">
                <a:solidFill>
                  <a:srgbClr val="FF6600"/>
                </a:solidFill>
                <a:latin typeface="Arial"/>
                <a:ea typeface="Arial"/>
                <a:cs typeface="Arial"/>
                <a:sym typeface="Arial"/>
              </a:rPr>
              <a:t> parameter.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22"/>
          <p:cNvSpPr txBox="1">
            <a:spLocks noGrp="1"/>
          </p:cNvSpPr>
          <p:nvPr>
            <p:ph type="title"/>
          </p:nvPr>
        </p:nvSpPr>
        <p:spPr>
          <a:xfrm>
            <a:off x="2057400" y="228600"/>
            <a:ext cx="6629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Something like Pointers: Reference Variables</a:t>
            </a:r>
            <a:endParaRPr/>
          </a:p>
        </p:txBody>
      </p:sp>
      <p:sp>
        <p:nvSpPr>
          <p:cNvPr id="295" name="Google Shape;295;p22"/>
          <p:cNvSpPr txBox="1"/>
          <p:nvPr/>
        </p:nvSpPr>
        <p:spPr>
          <a:xfrm>
            <a:off x="304800" y="1524000"/>
            <a:ext cx="8686800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 have also worked with something like pointers when we learned to use reference variables. </a:t>
            </a:r>
            <a:endParaRPr/>
          </a:p>
          <a:p>
            <a:pPr marL="342900" marR="0" lvl="0" indent="-3429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Suppose we have this function:</a:t>
            </a:r>
            <a:endParaRPr/>
          </a:p>
          <a:p>
            <a:pPr marL="342900" marR="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void getOrder(int &amp;donuts)</a:t>
            </a:r>
            <a:br>
              <a:rPr lang="en-US" sz="24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24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br>
              <a:rPr lang="en-US" sz="24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24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cout &lt;&lt; "How many doughnuts do you want? ";</a:t>
            </a:r>
            <a:br>
              <a:rPr lang="en-US" sz="24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24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cin &gt;&gt; donuts;</a:t>
            </a:r>
            <a:br>
              <a:rPr lang="en-US" sz="24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24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  <a:p>
            <a:pPr marL="342900" marR="0" lvl="0" indent="-3429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And we call it with this code:</a:t>
            </a:r>
            <a:b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4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int jellyDonuts;</a:t>
            </a:r>
            <a:br>
              <a:rPr lang="en-US" sz="24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24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getOrder(jellyDonuts);</a:t>
            </a:r>
            <a:endParaRPr sz="2400"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23"/>
          <p:cNvSpPr txBox="1">
            <a:spLocks noGrp="1"/>
          </p:cNvSpPr>
          <p:nvPr>
            <p:ph type="title"/>
          </p:nvPr>
        </p:nvSpPr>
        <p:spPr>
          <a:xfrm>
            <a:off x="2057400" y="228600"/>
            <a:ext cx="6629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Something like Pointers: Reference Variables</a:t>
            </a:r>
            <a:endParaRPr/>
          </a:p>
        </p:txBody>
      </p:sp>
      <p:pic>
        <p:nvPicPr>
          <p:cNvPr id="301" name="Google Shape;301;p23" descr="0903sowc copy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1000" y="1600200"/>
            <a:ext cx="8648700" cy="4419600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p23"/>
          <p:cNvSpPr txBox="1"/>
          <p:nvPr/>
        </p:nvSpPr>
        <p:spPr>
          <a:xfrm>
            <a:off x="3467100" y="1828800"/>
            <a:ext cx="5410200" cy="1187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>
                <a:solidFill>
                  <a:srgbClr val="FF6600"/>
                </a:solidFill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lang="en-US" sz="2400" b="0">
                <a:solidFill>
                  <a:srgbClr val="FF6600"/>
                </a:solidFill>
                <a:latin typeface="Courier New"/>
                <a:ea typeface="Courier New"/>
                <a:cs typeface="Courier New"/>
                <a:sym typeface="Courier New"/>
              </a:rPr>
              <a:t>donuts</a:t>
            </a:r>
            <a:r>
              <a:rPr lang="en-US" sz="2400" b="0">
                <a:solidFill>
                  <a:srgbClr val="FF6600"/>
                </a:solidFill>
                <a:latin typeface="Arial"/>
                <a:ea typeface="Arial"/>
                <a:cs typeface="Arial"/>
                <a:sym typeface="Arial"/>
              </a:rPr>
              <a:t> parameter, in the </a:t>
            </a:r>
            <a:r>
              <a:rPr lang="en-US" sz="2400" b="0">
                <a:solidFill>
                  <a:srgbClr val="FF6600"/>
                </a:solidFill>
                <a:latin typeface="Courier New"/>
                <a:ea typeface="Courier New"/>
                <a:cs typeface="Courier New"/>
                <a:sym typeface="Courier New"/>
              </a:rPr>
              <a:t>getOrder</a:t>
            </a:r>
            <a:r>
              <a:rPr lang="en-US" sz="2400" b="0">
                <a:solidFill>
                  <a:srgbClr val="FF6600"/>
                </a:solidFill>
                <a:latin typeface="Arial"/>
                <a:ea typeface="Arial"/>
                <a:cs typeface="Arial"/>
                <a:sym typeface="Arial"/>
              </a:rPr>
              <a:t> function, points to the </a:t>
            </a:r>
            <a:r>
              <a:rPr lang="en-US" sz="2400" b="0">
                <a:solidFill>
                  <a:srgbClr val="FF6600"/>
                </a:solidFill>
                <a:latin typeface="Courier New"/>
                <a:ea typeface="Courier New"/>
                <a:cs typeface="Courier New"/>
                <a:sym typeface="Courier New"/>
              </a:rPr>
              <a:t>jellyDonuts</a:t>
            </a:r>
            <a:r>
              <a:rPr lang="en-US" sz="2400" b="0">
                <a:solidFill>
                  <a:srgbClr val="FF6600"/>
                </a:solidFill>
                <a:latin typeface="Arial"/>
                <a:ea typeface="Arial"/>
                <a:cs typeface="Arial"/>
                <a:sym typeface="Arial"/>
              </a:rPr>
              <a:t> variable.</a:t>
            </a:r>
            <a:endParaRPr/>
          </a:p>
        </p:txBody>
      </p:sp>
      <p:sp>
        <p:nvSpPr>
          <p:cNvPr id="303" name="Google Shape;303;p23"/>
          <p:cNvSpPr txBox="1"/>
          <p:nvPr/>
        </p:nvSpPr>
        <p:spPr>
          <a:xfrm>
            <a:off x="266700" y="4343400"/>
            <a:ext cx="2819400" cy="191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>
                <a:solidFill>
                  <a:srgbClr val="FF6600"/>
                </a:solidFill>
                <a:latin typeface="Arial"/>
                <a:ea typeface="Arial"/>
                <a:cs typeface="Arial"/>
                <a:sym typeface="Arial"/>
              </a:rPr>
              <a:t>C++ automatically stores the address of </a:t>
            </a:r>
            <a:r>
              <a:rPr lang="en-US" sz="2400" b="0">
                <a:solidFill>
                  <a:srgbClr val="FF6600"/>
                </a:solidFill>
                <a:latin typeface="Courier New"/>
                <a:ea typeface="Courier New"/>
                <a:cs typeface="Courier New"/>
                <a:sym typeface="Courier New"/>
              </a:rPr>
              <a:t>jellyDonuts</a:t>
            </a:r>
            <a:r>
              <a:rPr lang="en-US" sz="2400" b="0">
                <a:solidFill>
                  <a:srgbClr val="FF6600"/>
                </a:solidFill>
                <a:latin typeface="Arial"/>
                <a:ea typeface="Arial"/>
                <a:cs typeface="Arial"/>
                <a:sym typeface="Arial"/>
              </a:rPr>
              <a:t>    in the </a:t>
            </a:r>
            <a:r>
              <a:rPr lang="en-US" sz="2400" b="0">
                <a:solidFill>
                  <a:srgbClr val="FF6600"/>
                </a:solidFill>
                <a:latin typeface="Courier New"/>
                <a:ea typeface="Courier New"/>
                <a:cs typeface="Courier New"/>
                <a:sym typeface="Courier New"/>
              </a:rPr>
              <a:t>donuts</a:t>
            </a:r>
            <a:r>
              <a:rPr lang="en-US" sz="2400" b="0">
                <a:solidFill>
                  <a:srgbClr val="FF6600"/>
                </a:solidFill>
                <a:latin typeface="Arial"/>
                <a:ea typeface="Arial"/>
                <a:cs typeface="Arial"/>
                <a:sym typeface="Arial"/>
              </a:rPr>
              <a:t> parameter.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24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cap="none"/>
              <a:t>3 - The Relationship Between Arrays and Pointers</a:t>
            </a:r>
            <a:endParaRPr cap="none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25"/>
          <p:cNvSpPr txBox="1">
            <a:spLocks noGrp="1"/>
          </p:cNvSpPr>
          <p:nvPr>
            <p:ph type="title"/>
          </p:nvPr>
        </p:nvSpPr>
        <p:spPr>
          <a:xfrm>
            <a:off x="1752600" y="274638"/>
            <a:ext cx="6934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Relationship Between </a:t>
            </a:r>
            <a:br>
              <a:rPr lang="en-US"/>
            </a:br>
            <a:r>
              <a:rPr lang="en-US"/>
              <a:t>Arrays and Pointers</a:t>
            </a:r>
            <a:endParaRPr/>
          </a:p>
        </p:txBody>
      </p:sp>
      <p:sp>
        <p:nvSpPr>
          <p:cNvPr id="314" name="Google Shape;314;p25"/>
          <p:cNvSpPr txBox="1">
            <a:spLocks noGrp="1"/>
          </p:cNvSpPr>
          <p:nvPr>
            <p:ph type="body" idx="4294967295"/>
          </p:nvPr>
        </p:nvSpPr>
        <p:spPr>
          <a:xfrm>
            <a:off x="533400" y="1676400"/>
            <a:ext cx="8153400" cy="40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>
                <a:latin typeface="Arial"/>
                <a:ea typeface="Arial"/>
                <a:cs typeface="Arial"/>
                <a:sym typeface="Arial"/>
              </a:rPr>
              <a:t>Array name is starting address of array</a:t>
            </a:r>
            <a:endParaRPr/>
          </a:p>
          <a:p>
            <a:pPr marL="742950" lvl="1" indent="-28575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	</a:t>
            </a:r>
            <a:r>
              <a:rPr lang="en-US" sz="3200">
                <a:latin typeface="Courier New"/>
                <a:ea typeface="Courier New"/>
                <a:cs typeface="Courier New"/>
                <a:sym typeface="Courier New"/>
              </a:rPr>
              <a:t>int vals[] = {4, 7, 11};</a:t>
            </a: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starting address of vals: 0x4a00</a:t>
            </a:r>
            <a:endParaRPr/>
          </a:p>
          <a:p>
            <a:pPr marL="742950" lvl="1" indent="-28575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None/>
            </a:pP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	</a:t>
            </a:r>
            <a:endParaRPr/>
          </a:p>
          <a:p>
            <a:pPr marL="742950" lvl="1" indent="-28575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None/>
            </a:pP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lang="en-US" sz="3200" b="1">
                <a:latin typeface="Courier New"/>
                <a:ea typeface="Courier New"/>
                <a:cs typeface="Courier New"/>
                <a:sym typeface="Courier New"/>
              </a:rPr>
              <a:t>cout &lt;&lt; vals; </a:t>
            </a:r>
            <a:r>
              <a:rPr lang="en-US" sz="2400" b="1">
                <a:latin typeface="Courier New"/>
                <a:ea typeface="Courier New"/>
                <a:cs typeface="Courier New"/>
                <a:sym typeface="Courier New"/>
              </a:rPr>
              <a:t>// displays 0x4a00</a:t>
            </a:r>
            <a:endParaRPr/>
          </a:p>
          <a:p>
            <a:pPr marL="742950" lvl="1" indent="-28575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urier New"/>
              <a:buNone/>
            </a:pPr>
            <a:r>
              <a:rPr lang="en-US" sz="3200" b="1">
                <a:latin typeface="Courier New"/>
                <a:ea typeface="Courier New"/>
                <a:cs typeface="Courier New"/>
                <a:sym typeface="Courier New"/>
              </a:rPr>
              <a:t>	cout &lt;&lt; vals[0]; </a:t>
            </a:r>
            <a:r>
              <a:rPr lang="en-US" sz="2400" b="1">
                <a:latin typeface="Courier New"/>
                <a:ea typeface="Courier New"/>
                <a:cs typeface="Courier New"/>
                <a:sym typeface="Courier New"/>
              </a:rPr>
              <a:t>// displays 4</a:t>
            </a:r>
            <a:r>
              <a:rPr lang="en-US" sz="320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/>
          </a:p>
        </p:txBody>
      </p:sp>
      <p:graphicFrame>
        <p:nvGraphicFramePr>
          <p:cNvPr id="315" name="Google Shape;315;p25"/>
          <p:cNvGraphicFramePr/>
          <p:nvPr/>
        </p:nvGraphicFramePr>
        <p:xfrm>
          <a:off x="2590800" y="3200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{5BF30A18-4C09-42EB-991E-5DEAE1A9F929}</a:tableStyleId>
              </a:tblPr>
              <a:tblGrid>
                <a:gridCol w="134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6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46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18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urier New"/>
                        <a:buNone/>
                      </a:pPr>
                      <a:r>
                        <a:rPr lang="en-US" sz="2800" b="0" i="0" u="none" strike="noStrike" cap="none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urier New"/>
                        <a:buNone/>
                      </a:pPr>
                      <a:r>
                        <a:rPr lang="en-US" sz="2800" b="0" i="0" u="none" strike="noStrike" cap="none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7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urier New"/>
                        <a:buNone/>
                      </a:pPr>
                      <a:r>
                        <a:rPr lang="en-US" sz="2800" b="0" i="0" u="none" strike="noStrike" cap="none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26"/>
          <p:cNvSpPr txBox="1">
            <a:spLocks noGrp="1"/>
          </p:cNvSpPr>
          <p:nvPr>
            <p:ph type="title"/>
          </p:nvPr>
        </p:nvSpPr>
        <p:spPr>
          <a:xfrm>
            <a:off x="1752600" y="274638"/>
            <a:ext cx="6934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Relationship Between </a:t>
            </a:r>
            <a:br>
              <a:rPr lang="en-US"/>
            </a:br>
            <a:r>
              <a:rPr lang="en-US"/>
              <a:t>Arrays and Pointers</a:t>
            </a:r>
            <a:endParaRPr/>
          </a:p>
        </p:txBody>
      </p:sp>
      <p:sp>
        <p:nvSpPr>
          <p:cNvPr id="321" name="Google Shape;321;p26"/>
          <p:cNvSpPr txBox="1">
            <a:spLocks noGrp="1"/>
          </p:cNvSpPr>
          <p:nvPr>
            <p:ph type="body" idx="4294967295"/>
          </p:nvPr>
        </p:nvSpPr>
        <p:spPr>
          <a:xfrm>
            <a:off x="381000" y="1524000"/>
            <a:ext cx="7772400" cy="129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urier New"/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int x[5], *ptr_x;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urier New"/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ptr_x = &amp;x[0];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26"/>
          <p:cNvSpPr/>
          <p:nvPr/>
        </p:nvSpPr>
        <p:spPr>
          <a:xfrm>
            <a:off x="2743200" y="3581400"/>
            <a:ext cx="762000" cy="5334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?</a:t>
            </a:r>
            <a:endParaRPr/>
          </a:p>
        </p:txBody>
      </p:sp>
      <p:sp>
        <p:nvSpPr>
          <p:cNvPr id="323" name="Google Shape;323;p26"/>
          <p:cNvSpPr/>
          <p:nvPr/>
        </p:nvSpPr>
        <p:spPr>
          <a:xfrm>
            <a:off x="3505200" y="3581400"/>
            <a:ext cx="762000" cy="5334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?</a:t>
            </a:r>
            <a:endParaRPr/>
          </a:p>
        </p:txBody>
      </p:sp>
      <p:sp>
        <p:nvSpPr>
          <p:cNvPr id="324" name="Google Shape;324;p26"/>
          <p:cNvSpPr/>
          <p:nvPr/>
        </p:nvSpPr>
        <p:spPr>
          <a:xfrm>
            <a:off x="4267200" y="3581400"/>
            <a:ext cx="762000" cy="5334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?</a:t>
            </a:r>
            <a:endParaRPr/>
          </a:p>
        </p:txBody>
      </p:sp>
      <p:sp>
        <p:nvSpPr>
          <p:cNvPr id="325" name="Google Shape;325;p26"/>
          <p:cNvSpPr/>
          <p:nvPr/>
        </p:nvSpPr>
        <p:spPr>
          <a:xfrm>
            <a:off x="5029200" y="3581400"/>
            <a:ext cx="762000" cy="5334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?</a:t>
            </a:r>
            <a:endParaRPr/>
          </a:p>
        </p:txBody>
      </p:sp>
      <p:sp>
        <p:nvSpPr>
          <p:cNvPr id="326" name="Google Shape;326;p26"/>
          <p:cNvSpPr/>
          <p:nvPr/>
        </p:nvSpPr>
        <p:spPr>
          <a:xfrm>
            <a:off x="5791200" y="3581400"/>
            <a:ext cx="762000" cy="5334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?</a:t>
            </a:r>
            <a:endParaRPr/>
          </a:p>
        </p:txBody>
      </p:sp>
      <p:sp>
        <p:nvSpPr>
          <p:cNvPr id="327" name="Google Shape;327;p26"/>
          <p:cNvSpPr txBox="1"/>
          <p:nvPr/>
        </p:nvSpPr>
        <p:spPr>
          <a:xfrm>
            <a:off x="1801813" y="2652713"/>
            <a:ext cx="1247775" cy="519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ptr_x</a:t>
            </a:r>
            <a:endParaRPr/>
          </a:p>
        </p:txBody>
      </p:sp>
      <p:cxnSp>
        <p:nvCxnSpPr>
          <p:cNvPr id="328" name="Google Shape;328;p26"/>
          <p:cNvCxnSpPr/>
          <p:nvPr/>
        </p:nvCxnSpPr>
        <p:spPr>
          <a:xfrm>
            <a:off x="2819400" y="3124200"/>
            <a:ext cx="228600" cy="381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329" name="Google Shape;329;p26"/>
          <p:cNvSpPr/>
          <p:nvPr/>
        </p:nvSpPr>
        <p:spPr>
          <a:xfrm>
            <a:off x="2743200" y="4038600"/>
            <a:ext cx="7620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x[0]</a:t>
            </a:r>
            <a:endParaRPr/>
          </a:p>
        </p:txBody>
      </p:sp>
      <p:sp>
        <p:nvSpPr>
          <p:cNvPr id="330" name="Google Shape;330;p26"/>
          <p:cNvSpPr/>
          <p:nvPr/>
        </p:nvSpPr>
        <p:spPr>
          <a:xfrm>
            <a:off x="3505200" y="4038600"/>
            <a:ext cx="7620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x[1]</a:t>
            </a:r>
            <a:endParaRPr/>
          </a:p>
        </p:txBody>
      </p:sp>
      <p:sp>
        <p:nvSpPr>
          <p:cNvPr id="331" name="Google Shape;331;p26"/>
          <p:cNvSpPr/>
          <p:nvPr/>
        </p:nvSpPr>
        <p:spPr>
          <a:xfrm>
            <a:off x="4267200" y="4038600"/>
            <a:ext cx="7620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x[2]</a:t>
            </a:r>
            <a:endParaRPr/>
          </a:p>
        </p:txBody>
      </p:sp>
      <p:sp>
        <p:nvSpPr>
          <p:cNvPr id="332" name="Google Shape;332;p26"/>
          <p:cNvSpPr/>
          <p:nvPr/>
        </p:nvSpPr>
        <p:spPr>
          <a:xfrm>
            <a:off x="5029200" y="4038600"/>
            <a:ext cx="7620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x[3]</a:t>
            </a:r>
            <a:endParaRPr/>
          </a:p>
        </p:txBody>
      </p:sp>
      <p:sp>
        <p:nvSpPr>
          <p:cNvPr id="333" name="Google Shape;333;p26"/>
          <p:cNvSpPr/>
          <p:nvPr/>
        </p:nvSpPr>
        <p:spPr>
          <a:xfrm>
            <a:off x="5791200" y="4038600"/>
            <a:ext cx="7620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x[4]</a:t>
            </a:r>
            <a:endParaRPr/>
          </a:p>
        </p:txBody>
      </p:sp>
      <p:sp>
        <p:nvSpPr>
          <p:cNvPr id="334" name="Google Shape;334;p26"/>
          <p:cNvSpPr txBox="1"/>
          <p:nvPr/>
        </p:nvSpPr>
        <p:spPr>
          <a:xfrm>
            <a:off x="914400" y="3505200"/>
            <a:ext cx="144780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Memory allocation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26"/>
          <p:cNvSpPr txBox="1"/>
          <p:nvPr/>
        </p:nvSpPr>
        <p:spPr>
          <a:xfrm>
            <a:off x="685800" y="4953000"/>
            <a:ext cx="7620000" cy="9541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The memory location for </a:t>
            </a:r>
            <a:r>
              <a:rPr lang="en-US" sz="28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x[1]</a:t>
            </a:r>
            <a:r>
              <a:rPr lang="en-US" sz="2800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 is immediately follow the memory location of </a:t>
            </a:r>
            <a:r>
              <a:rPr lang="en-US" sz="28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x[0].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27"/>
          <p:cNvSpPr txBox="1">
            <a:spLocks noGrp="1"/>
          </p:cNvSpPr>
          <p:nvPr>
            <p:ph type="title"/>
          </p:nvPr>
        </p:nvSpPr>
        <p:spPr>
          <a:xfrm>
            <a:off x="1752600" y="274638"/>
            <a:ext cx="6934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Relationship Between </a:t>
            </a:r>
            <a:br>
              <a:rPr lang="en-US"/>
            </a:br>
            <a:r>
              <a:rPr lang="en-US"/>
              <a:t>Arrays and Pointers (cont.)</a:t>
            </a:r>
            <a:endParaRPr/>
          </a:p>
        </p:txBody>
      </p:sp>
      <p:sp>
        <p:nvSpPr>
          <p:cNvPr id="341" name="Google Shape;341;p27"/>
          <p:cNvSpPr txBox="1">
            <a:spLocks noGrp="1"/>
          </p:cNvSpPr>
          <p:nvPr>
            <p:ph type="body" idx="4294967295"/>
          </p:nvPr>
        </p:nvSpPr>
        <p:spPr>
          <a:xfrm>
            <a:off x="457200" y="1752600"/>
            <a:ext cx="8229600" cy="434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Array name can be used as a pointer constant:</a:t>
            </a: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rgbClr val="3333CC"/>
              </a:buClr>
              <a:buSzPts val="2800"/>
              <a:buFont typeface="Arial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	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int vals[] = {4, 7, 11};</a:t>
            </a: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rgbClr val="3333CC"/>
              </a:buClr>
              <a:buSzPts val="2800"/>
              <a:buFont typeface="Courier New"/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	cout &lt;&lt; *vals;    // displays 4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34290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Pointer can be used as an array name:</a:t>
            </a: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rgbClr val="3333CC"/>
              </a:buClr>
              <a:buSzPts val="2800"/>
              <a:buFont typeface="Arial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	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int *valptr = vals;</a:t>
            </a: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rgbClr val="3333CC"/>
              </a:buClr>
              <a:buSzPts val="2800"/>
              <a:buFont typeface="Courier New"/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	cout &lt;&lt; valptr[1]; // displays 7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34290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28"/>
          <p:cNvSpPr txBox="1">
            <a:spLocks noGrp="1"/>
          </p:cNvSpPr>
          <p:nvPr>
            <p:ph type="title"/>
          </p:nvPr>
        </p:nvSpPr>
        <p:spPr>
          <a:xfrm>
            <a:off x="1600200" y="274638"/>
            <a:ext cx="7086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Example 3</a:t>
            </a:r>
            <a:endParaRPr/>
          </a:p>
        </p:txBody>
      </p:sp>
      <p:pic>
        <p:nvPicPr>
          <p:cNvPr id="347" name="Google Shape;347;p2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676400"/>
            <a:ext cx="9144000" cy="4800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29"/>
          <p:cNvSpPr txBox="1">
            <a:spLocks noGrp="1"/>
          </p:cNvSpPr>
          <p:nvPr>
            <p:ph type="title"/>
          </p:nvPr>
        </p:nvSpPr>
        <p:spPr>
          <a:xfrm>
            <a:off x="1600200" y="274638"/>
            <a:ext cx="7086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Exercise 4</a:t>
            </a:r>
            <a:endParaRPr/>
          </a:p>
        </p:txBody>
      </p:sp>
      <p:sp>
        <p:nvSpPr>
          <p:cNvPr id="353" name="Google Shape;353;p29"/>
          <p:cNvSpPr txBox="1">
            <a:spLocks noGrp="1"/>
          </p:cNvSpPr>
          <p:nvPr>
            <p:ph type="body" idx="4294967295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Refer to previous slide in Program 9-5.</a:t>
            </a:r>
            <a:endParaRPr/>
          </a:p>
          <a:p>
            <a:pPr marL="0" lvl="0" indent="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Print the third element in the array using pointer </a:t>
            </a: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number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. </a:t>
            </a:r>
            <a:endParaRPr/>
          </a:p>
          <a:p>
            <a:pPr marL="0" lvl="0" indent="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30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cap="none"/>
              <a:t>4 - Pointers Arithmetic</a:t>
            </a:r>
            <a:endParaRPr cap="none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3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Pointers Arithmetic</a:t>
            </a:r>
            <a:endParaRPr/>
          </a:p>
        </p:txBody>
      </p:sp>
      <p:sp>
        <p:nvSpPr>
          <p:cNvPr id="364" name="Google Shape;364;p31"/>
          <p:cNvSpPr txBox="1"/>
          <p:nvPr/>
        </p:nvSpPr>
        <p:spPr>
          <a:xfrm>
            <a:off x="457200" y="1600200"/>
            <a:ext cx="7467600" cy="4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Operations on pointer variables:</a:t>
            </a:r>
            <a:endParaRPr/>
          </a:p>
          <a:p>
            <a:pPr marL="342900" marR="0" lvl="0" indent="-16510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65" name="Google Shape;365;p31"/>
          <p:cNvGraphicFramePr/>
          <p:nvPr/>
        </p:nvGraphicFramePr>
        <p:xfrm>
          <a:off x="304800" y="2209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{5BF30A18-4C09-42EB-991E-5DEAE1A9F929}</a:tableStyleId>
              </a:tblPr>
              <a:tblGrid>
                <a:gridCol w="3190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67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92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2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Operation</a:t>
                      </a:r>
                      <a:endParaRPr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2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Example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85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ourier New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int vals[]={4,7,11}; 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85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ourier New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int *valptr = vals;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64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ourier New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++, --</a:t>
                      </a:r>
                      <a:endParaRPr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ourier New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valptr++; // points at 7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85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ourier New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valptr--; // now points at 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94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ourier New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+, - </a:t>
                      </a: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(pointer and </a:t>
                      </a: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int</a:t>
                      </a: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)</a:t>
                      </a:r>
                      <a:endParaRPr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ourier New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cout &lt;&lt; *(valptr + 2); // 11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64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ourier New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+=, -= </a:t>
                      </a: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(pointer 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85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and </a:t>
                      </a: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int</a:t>
                      </a: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)</a:t>
                      </a:r>
                      <a:endParaRPr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ourier New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valptr = vals; // points at 4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85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ourier New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valptr += 2;   // points at 11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969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ourier New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- </a:t>
                      </a: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(pointer from pointer)</a:t>
                      </a:r>
                      <a:endParaRPr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ourier New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cout &lt;&lt; valptr</a:t>
                      </a: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–</a:t>
                      </a: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val; // difference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85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ourier New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//(number of ints) between valptr</a:t>
                      </a:r>
                      <a:endParaRPr sz="2000" b="0" i="0" u="none" strike="noStrike" cap="none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marL="0" marR="0" lvl="0" indent="0" algn="l" rtl="0">
                        <a:lnSpc>
                          <a:spcPct val="85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ourier New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// and val 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32"/>
          <p:cNvSpPr txBox="1">
            <a:spLocks noGrp="1"/>
          </p:cNvSpPr>
          <p:nvPr>
            <p:ph type="title"/>
          </p:nvPr>
        </p:nvSpPr>
        <p:spPr>
          <a:xfrm>
            <a:off x="1219200" y="152400"/>
            <a:ext cx="7467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Example 4</a:t>
            </a:r>
            <a:endParaRPr/>
          </a:p>
        </p:txBody>
      </p:sp>
      <p:pic>
        <p:nvPicPr>
          <p:cNvPr id="371" name="Google Shape;371;p3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85800" y="1295400"/>
            <a:ext cx="7620000" cy="5153025"/>
          </a:xfrm>
          <a:prstGeom prst="rect">
            <a:avLst/>
          </a:prstGeom>
          <a:noFill/>
          <a:ln>
            <a:noFill/>
          </a:ln>
        </p:spPr>
      </p:pic>
      <p:sp>
        <p:nvSpPr>
          <p:cNvPr id="372" name="Google Shape;372;p32"/>
          <p:cNvSpPr/>
          <p:nvPr/>
        </p:nvSpPr>
        <p:spPr>
          <a:xfrm>
            <a:off x="1676400" y="4191000"/>
            <a:ext cx="4191000" cy="304800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32"/>
          <p:cNvSpPr/>
          <p:nvPr/>
        </p:nvSpPr>
        <p:spPr>
          <a:xfrm>
            <a:off x="1600200" y="5715000"/>
            <a:ext cx="4191000" cy="304800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33"/>
          <p:cNvSpPr txBox="1">
            <a:spLocks noGrp="1"/>
          </p:cNvSpPr>
          <p:nvPr>
            <p:ph type="title"/>
          </p:nvPr>
        </p:nvSpPr>
        <p:spPr>
          <a:xfrm>
            <a:off x="1219200" y="152400"/>
            <a:ext cx="7467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Pointers in Expressions</a:t>
            </a:r>
            <a:endParaRPr/>
          </a:p>
        </p:txBody>
      </p:sp>
      <p:sp>
        <p:nvSpPr>
          <p:cNvPr id="379" name="Google Shape;379;p33"/>
          <p:cNvSpPr txBox="1"/>
          <p:nvPr/>
        </p:nvSpPr>
        <p:spPr>
          <a:xfrm>
            <a:off x="381000" y="990600"/>
            <a:ext cx="8229600" cy="53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Given:</a:t>
            </a:r>
            <a:endParaRPr/>
          </a:p>
          <a:p>
            <a:pPr marL="742950" marR="0" lvl="1" indent="-28575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int vals[]={4,7,11}, *valptr;</a:t>
            </a:r>
            <a:endParaRPr/>
          </a:p>
          <a:p>
            <a:pPr marL="742950" marR="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valptr = vals;</a:t>
            </a:r>
            <a:br>
              <a:rPr lang="en-US" sz="28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endParaRPr sz="2800" b="0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342900" marR="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What is </a:t>
            </a:r>
            <a:r>
              <a:rPr lang="en-US" sz="3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valptr + 1</a:t>
            </a:r>
            <a:r>
              <a:rPr lang="en-U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?  	                             It means (address in </a:t>
            </a:r>
            <a:r>
              <a:rPr lang="en-US" sz="3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valptr</a:t>
            </a:r>
            <a:r>
              <a:rPr lang="en-U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 + (1 * size of an int)</a:t>
            </a:r>
            <a:endParaRPr/>
          </a:p>
          <a:p>
            <a:pPr marL="742950" marR="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cout &lt;&lt; *(valptr+1); //displays 7</a:t>
            </a:r>
            <a:endParaRPr/>
          </a:p>
          <a:p>
            <a:pPr marL="742950" marR="0" lvl="1" indent="-28575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cout &lt;&lt; *(valptr+2); //displays 11</a:t>
            </a:r>
            <a:endParaRPr/>
          </a:p>
          <a:p>
            <a:pPr marL="342900" marR="0" lvl="0" indent="-342900" algn="l" rtl="0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Must use </a:t>
            </a:r>
            <a:r>
              <a:rPr lang="en-US" sz="3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 )</a:t>
            </a:r>
            <a:r>
              <a:rPr lang="en-U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as shown in the expressions</a:t>
            </a:r>
            <a:endParaRPr/>
          </a:p>
          <a:p>
            <a:pPr marL="342900" marR="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34"/>
          <p:cNvSpPr txBox="1">
            <a:spLocks noGrp="1"/>
          </p:cNvSpPr>
          <p:nvPr>
            <p:ph type="title"/>
          </p:nvPr>
        </p:nvSpPr>
        <p:spPr>
          <a:xfrm>
            <a:off x="1219200" y="152400"/>
            <a:ext cx="7467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Pointers in Expressions</a:t>
            </a:r>
            <a:endParaRPr/>
          </a:p>
        </p:txBody>
      </p:sp>
      <p:sp>
        <p:nvSpPr>
          <p:cNvPr id="385" name="Google Shape;385;p34"/>
          <p:cNvSpPr txBox="1"/>
          <p:nvPr/>
        </p:nvSpPr>
        <p:spPr>
          <a:xfrm>
            <a:off x="228600" y="1447800"/>
            <a:ext cx="8610600" cy="510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depends on the machine used</a:t>
            </a:r>
            <a:endParaRPr/>
          </a:p>
          <a:p>
            <a:pPr marL="342900" marR="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depends on the variable type </a:t>
            </a:r>
            <a:endParaRPr sz="32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 examples,</a:t>
            </a:r>
            <a:endParaRPr/>
          </a:p>
          <a:p>
            <a:pPr marL="742950" marR="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Short integers ( 2 byte )</a:t>
            </a:r>
            <a:endParaRPr/>
          </a:p>
          <a:p>
            <a:pPr marL="1143000" marR="0" lvl="2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Beginning		</a:t>
            </a:r>
            <a:r>
              <a:rPr lang="en-US"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ptr = 45530</a:t>
            </a:r>
            <a:endParaRPr/>
          </a:p>
          <a:p>
            <a:pPr marL="1143000" marR="0" lvl="2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After </a:t>
            </a:r>
            <a:r>
              <a:rPr lang="en-US"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ptr++</a:t>
            </a: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</a:t>
            </a:r>
            <a:r>
              <a:rPr lang="en-US"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ptr = 45532</a:t>
            </a:r>
            <a:endParaRPr/>
          </a:p>
          <a:p>
            <a:pPr marL="742950" marR="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Floating point values ( 4 byte )</a:t>
            </a:r>
            <a:endParaRPr/>
          </a:p>
          <a:p>
            <a:pPr marL="1143000" marR="0" lvl="2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Beginning		</a:t>
            </a:r>
            <a:r>
              <a:rPr lang="en-US"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ptr = 50200</a:t>
            </a:r>
            <a:endParaRPr sz="24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143000" marR="0" lvl="2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After </a:t>
            </a:r>
            <a:r>
              <a:rPr lang="en-US"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ptr++</a:t>
            </a: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</a:t>
            </a:r>
            <a:r>
              <a:rPr lang="en-US"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ptr = 50204</a:t>
            </a:r>
            <a:endParaRPr sz="24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143000" marR="0" lvl="2" indent="-762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35"/>
          <p:cNvSpPr txBox="1">
            <a:spLocks noGrp="1"/>
          </p:cNvSpPr>
          <p:nvPr>
            <p:ph type="title"/>
          </p:nvPr>
        </p:nvSpPr>
        <p:spPr>
          <a:xfrm>
            <a:off x="1219200" y="152400"/>
            <a:ext cx="7467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Array Access</a:t>
            </a:r>
            <a:endParaRPr/>
          </a:p>
        </p:txBody>
      </p:sp>
      <p:sp>
        <p:nvSpPr>
          <p:cNvPr id="391" name="Google Shape;391;p35"/>
          <p:cNvSpPr txBox="1"/>
          <p:nvPr/>
        </p:nvSpPr>
        <p:spPr>
          <a:xfrm>
            <a:off x="457200" y="1600200"/>
            <a:ext cx="8153400" cy="798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Array elements can be accessed in many ways:</a:t>
            </a:r>
            <a:endParaRPr/>
          </a:p>
          <a:p>
            <a:pPr marL="342900" marR="0" lvl="0" indent="-1651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92" name="Google Shape;392;p35"/>
          <p:cNvGraphicFramePr/>
          <p:nvPr/>
        </p:nvGraphicFramePr>
        <p:xfrm>
          <a:off x="838200" y="2286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{5BF30A18-4C09-42EB-991E-5DEAE1A9F929}</a:tableStyleId>
              </a:tblPr>
              <a:tblGrid>
                <a:gridCol w="3400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90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97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b="1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Array access method</a:t>
                      </a:r>
                      <a:endParaRPr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b="1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Example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96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array name and </a:t>
                      </a: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[]</a:t>
                      </a:r>
                      <a:endParaRPr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ourier New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vals[2] = 17;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52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pointer to array and </a:t>
                      </a: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[]</a:t>
                      </a:r>
                      <a:endParaRPr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ourier New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valptr[2] = 17;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30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array name and subscript arithmetic</a:t>
                      </a:r>
                      <a:endParaRPr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ourier New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*(vals + 2) = 17;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230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pointer to array and subscript arithmetic</a:t>
                      </a:r>
                      <a:endParaRPr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ourier New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*(valptr + 2) = 17;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36"/>
          <p:cNvSpPr txBox="1">
            <a:spLocks noGrp="1"/>
          </p:cNvSpPr>
          <p:nvPr>
            <p:ph type="title"/>
          </p:nvPr>
        </p:nvSpPr>
        <p:spPr>
          <a:xfrm>
            <a:off x="1219200" y="152400"/>
            <a:ext cx="7467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Array Access</a:t>
            </a:r>
            <a:endParaRPr/>
          </a:p>
        </p:txBody>
      </p:sp>
      <p:pic>
        <p:nvPicPr>
          <p:cNvPr id="398" name="Google Shape;398;p3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4800" y="1371600"/>
            <a:ext cx="8458200" cy="4800600"/>
          </a:xfrm>
          <a:prstGeom prst="rect">
            <a:avLst/>
          </a:prstGeom>
          <a:noFill/>
          <a:ln>
            <a:noFill/>
          </a:ln>
        </p:spPr>
      </p:pic>
      <p:sp>
        <p:nvSpPr>
          <p:cNvPr id="399" name="Google Shape;399;p36"/>
          <p:cNvSpPr/>
          <p:nvPr/>
        </p:nvSpPr>
        <p:spPr>
          <a:xfrm>
            <a:off x="1600200" y="4191000"/>
            <a:ext cx="4191000" cy="304800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36"/>
          <p:cNvSpPr/>
          <p:nvPr/>
        </p:nvSpPr>
        <p:spPr>
          <a:xfrm>
            <a:off x="1524000" y="5638800"/>
            <a:ext cx="4191000" cy="304800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37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cap="none"/>
              <a:t>5 - Initializing Pointers</a:t>
            </a:r>
            <a:endParaRPr cap="none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38"/>
          <p:cNvSpPr txBox="1">
            <a:spLocks noGrp="1"/>
          </p:cNvSpPr>
          <p:nvPr>
            <p:ph type="title"/>
          </p:nvPr>
        </p:nvSpPr>
        <p:spPr>
          <a:xfrm>
            <a:off x="1219200" y="152400"/>
            <a:ext cx="7467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Initializing Pointers</a:t>
            </a:r>
            <a:endParaRPr/>
          </a:p>
        </p:txBody>
      </p:sp>
      <p:sp>
        <p:nvSpPr>
          <p:cNvPr id="411" name="Google Shape;411;p38"/>
          <p:cNvSpPr txBox="1"/>
          <p:nvPr/>
        </p:nvSpPr>
        <p:spPr>
          <a:xfrm>
            <a:off x="533400" y="12954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Can initialize at definition time:</a:t>
            </a:r>
            <a:endParaRPr/>
          </a:p>
          <a:p>
            <a:pPr marL="742950" marR="0" lvl="1" indent="-285750" algn="l" rtl="0">
              <a:spcBef>
                <a:spcPts val="560"/>
              </a:spcBef>
              <a:spcAft>
                <a:spcPts val="0"/>
              </a:spcAft>
              <a:buClr>
                <a:srgbClr val="3333CC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lang="en-US" sz="28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int num, *numptr = &amp;num;</a:t>
            </a:r>
            <a:endParaRPr/>
          </a:p>
          <a:p>
            <a:pPr marL="742950" marR="0" lvl="1" indent="-285750" algn="l" rtl="0">
              <a:spcBef>
                <a:spcPts val="560"/>
              </a:spcBef>
              <a:spcAft>
                <a:spcPts val="0"/>
              </a:spcAft>
              <a:buClr>
                <a:srgbClr val="3333CC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int val[3], *valptr = val;</a:t>
            </a:r>
            <a:endParaRPr/>
          </a:p>
          <a:p>
            <a:pPr marL="342900" marR="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Cannot mix data types:</a:t>
            </a:r>
            <a:endParaRPr/>
          </a:p>
          <a:p>
            <a:pPr marL="742950" marR="0" lvl="1" indent="-285750" algn="l" rtl="0">
              <a:spcBef>
                <a:spcPts val="560"/>
              </a:spcBef>
              <a:spcAft>
                <a:spcPts val="0"/>
              </a:spcAft>
              <a:buClr>
                <a:srgbClr val="3333CC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lang="en-US" sz="28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double cost;</a:t>
            </a:r>
            <a:endParaRPr/>
          </a:p>
          <a:p>
            <a:pPr marL="742950" marR="0" lvl="1" indent="-285750" algn="l" rtl="0">
              <a:spcBef>
                <a:spcPts val="560"/>
              </a:spcBef>
              <a:spcAft>
                <a:spcPts val="0"/>
              </a:spcAft>
              <a:buClr>
                <a:srgbClr val="3333CC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int *ptr = &amp;cost; // won</a:t>
            </a: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’</a:t>
            </a:r>
            <a:r>
              <a:rPr lang="en-US" sz="28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 work</a:t>
            </a:r>
            <a:endParaRPr/>
          </a:p>
          <a:p>
            <a:pPr marL="342900" marR="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Can test for an invalid address for </a:t>
            </a:r>
            <a:r>
              <a:rPr lang="en-US" sz="3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ptr</a:t>
            </a:r>
            <a:r>
              <a:rPr lang="en-U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with:</a:t>
            </a:r>
            <a:endParaRPr/>
          </a:p>
          <a:p>
            <a:pPr marL="742950" marR="0" lvl="1" indent="-285750" algn="l" rtl="0">
              <a:spcBef>
                <a:spcPts val="560"/>
              </a:spcBef>
              <a:spcAft>
                <a:spcPts val="0"/>
              </a:spcAft>
              <a:buClr>
                <a:srgbClr val="3333CC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lang="en-US" sz="28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if (!ptr) ...</a:t>
            </a:r>
            <a:endParaRPr sz="2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39"/>
          <p:cNvSpPr txBox="1">
            <a:spLocks noGrp="1"/>
          </p:cNvSpPr>
          <p:nvPr>
            <p:ph type="title"/>
          </p:nvPr>
        </p:nvSpPr>
        <p:spPr>
          <a:xfrm>
            <a:off x="1219200" y="152400"/>
            <a:ext cx="7467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Exercise 6</a:t>
            </a:r>
            <a:endParaRPr/>
          </a:p>
        </p:txBody>
      </p:sp>
      <p:pic>
        <p:nvPicPr>
          <p:cNvPr id="417" name="Google Shape;417;p39" descr="28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8600" y="1295400"/>
            <a:ext cx="8686800" cy="5105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40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cap="none"/>
              <a:t>6 - Comparing Pointers</a:t>
            </a:r>
            <a:endParaRPr cap="none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41"/>
          <p:cNvSpPr txBox="1">
            <a:spLocks noGrp="1"/>
          </p:cNvSpPr>
          <p:nvPr>
            <p:ph type="title"/>
          </p:nvPr>
        </p:nvSpPr>
        <p:spPr>
          <a:xfrm>
            <a:off x="1219200" y="152400"/>
            <a:ext cx="7467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Comparing Pointers</a:t>
            </a:r>
            <a:endParaRPr/>
          </a:p>
        </p:txBody>
      </p:sp>
      <p:sp>
        <p:nvSpPr>
          <p:cNvPr id="428" name="Google Shape;428;p41"/>
          <p:cNvSpPr txBox="1"/>
          <p:nvPr/>
        </p:nvSpPr>
        <p:spPr>
          <a:xfrm>
            <a:off x="457200" y="1676400"/>
            <a:ext cx="82296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Relational operators (</a:t>
            </a:r>
            <a:r>
              <a:rPr lang="en-US" sz="3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-U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3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&gt;=</a:t>
            </a:r>
            <a:r>
              <a:rPr lang="en-U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etc.) can be used to compare addresses in pointers</a:t>
            </a:r>
            <a:endParaRPr/>
          </a:p>
          <a:p>
            <a:pPr marL="342900" marR="0" lvl="0" indent="-342900" algn="l" rtl="0">
              <a:lnSpc>
                <a:spcPct val="85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Comparing addresses </a:t>
            </a:r>
            <a:r>
              <a:rPr lang="en-US" sz="32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</a:t>
            </a:r>
            <a:r>
              <a:rPr lang="en-U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pointers is not the same as comparing contents </a:t>
            </a:r>
            <a:r>
              <a:rPr lang="en-US" sz="32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pointed at by</a:t>
            </a:r>
            <a:r>
              <a:rPr lang="en-U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pointers:</a:t>
            </a:r>
            <a:endParaRPr/>
          </a:p>
          <a:p>
            <a:pPr marL="742950" marR="0" lvl="1" indent="-285750" algn="l" rtl="0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lang="en-US" sz="28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if (ptr1 == ptr2)   // compares</a:t>
            </a:r>
            <a:endParaRPr/>
          </a:p>
          <a:p>
            <a:pPr marL="742950" marR="0" lvl="1" indent="-285750" algn="l" rtl="0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					  // </a:t>
            </a:r>
            <a:r>
              <a:rPr lang="en-US" sz="2800" b="0" i="0" u="none" strike="noStrike" cap="non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addresses</a:t>
            </a:r>
            <a:endParaRPr/>
          </a:p>
          <a:p>
            <a:pPr marL="742950" marR="0" lvl="1" indent="-285750" algn="l" rtl="0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742950" marR="0" lvl="1" indent="-285750" algn="l" rtl="0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if (*ptr1 == *ptr2) // compares</a:t>
            </a:r>
            <a:endParaRPr/>
          </a:p>
          <a:p>
            <a:pPr marL="742950" marR="0" lvl="1" indent="-285750" algn="l" rtl="0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				      // </a:t>
            </a:r>
            <a:r>
              <a:rPr lang="en-US" sz="2800" b="0" i="0" u="none" strike="noStrike" cap="non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contents</a:t>
            </a:r>
            <a:endParaRPr sz="2800" b="0" i="0" u="none" strike="noStrike" cap="none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42"/>
          <p:cNvSpPr txBox="1">
            <a:spLocks noGrp="1"/>
          </p:cNvSpPr>
          <p:nvPr>
            <p:ph type="title"/>
          </p:nvPr>
        </p:nvSpPr>
        <p:spPr>
          <a:xfrm>
            <a:off x="1219200" y="152400"/>
            <a:ext cx="7467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Exercise 7</a:t>
            </a:r>
            <a:endParaRPr/>
          </a:p>
        </p:txBody>
      </p:sp>
      <p:sp>
        <p:nvSpPr>
          <p:cNvPr id="434" name="Google Shape;434;p42"/>
          <p:cNvSpPr/>
          <p:nvPr/>
        </p:nvSpPr>
        <p:spPr>
          <a:xfrm>
            <a:off x="685800" y="1219200"/>
            <a:ext cx="6400800" cy="44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#include &lt;iostream&gt;</a:t>
            </a:r>
            <a:endParaRPr/>
          </a:p>
          <a:p>
            <a:pPr marL="342900" marR="0" lvl="0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000" b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using namespace std;</a:t>
            </a:r>
            <a:endParaRPr/>
          </a:p>
          <a:p>
            <a:pPr marL="342900" marR="0" lvl="0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</a:pPr>
            <a:endParaRPr sz="2000" b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342900" marR="0" lvl="0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000" b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int main()</a:t>
            </a:r>
            <a:endParaRPr/>
          </a:p>
          <a:p>
            <a:pPr marL="342900" marR="0" lvl="0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000" b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/>
          </a:p>
          <a:p>
            <a:pPr marL="342900" marR="0" lvl="0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000" b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int value=7;</a:t>
            </a:r>
            <a:endParaRPr/>
          </a:p>
          <a:p>
            <a:pPr marL="342900" marR="0" lvl="0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int *ptr1 = &amp;value;</a:t>
            </a:r>
            <a:endParaRPr sz="2000" b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342900" marR="0" lvl="0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000" b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lang="en-US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int *ptr2 = &amp;value;</a:t>
            </a:r>
            <a:endParaRPr/>
          </a:p>
          <a:p>
            <a:pPr marL="342900" marR="0" lvl="0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</a:pPr>
            <a:endParaRPr sz="2000" b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342900" marR="0" lvl="0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if (ptr1==ptr2){</a:t>
            </a:r>
            <a:endParaRPr sz="2000" b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342900" marR="0" lvl="0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000" b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cout &lt;&lt; ”Pointers are Equal”;</a:t>
            </a:r>
            <a:endParaRPr/>
          </a:p>
          <a:p>
            <a:pPr marL="342900" marR="0" lvl="0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000" b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}else{</a:t>
            </a:r>
            <a:endParaRPr/>
          </a:p>
          <a:p>
            <a:pPr marL="342900" marR="0" lvl="0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 </a:t>
            </a:r>
            <a:r>
              <a:rPr lang="en-US" sz="2000" b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cout &lt;&lt; "</a:t>
            </a:r>
            <a:r>
              <a:rPr lang="en-US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Pointers are Not Equal”</a:t>
            </a:r>
            <a:r>
              <a:rPr lang="en-US" sz="2000" b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;}</a:t>
            </a:r>
            <a:endParaRPr/>
          </a:p>
          <a:p>
            <a:pPr marL="342900" marR="0" lvl="0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return 0;</a:t>
            </a:r>
            <a:endParaRPr sz="2000" b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342900" marR="0" lvl="0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000" b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2000" b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35" name="Google Shape;435;p42"/>
          <p:cNvSpPr/>
          <p:nvPr/>
        </p:nvSpPr>
        <p:spPr>
          <a:xfrm>
            <a:off x="5791200" y="2971800"/>
            <a:ext cx="3124200" cy="838200"/>
          </a:xfrm>
          <a:prstGeom prst="rect">
            <a:avLst/>
          </a:prstGeom>
          <a:solidFill>
            <a:srgbClr val="F2DADA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Pointers are Equal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43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cap="none"/>
              <a:t>7 - Pointers as Function Parameters</a:t>
            </a:r>
            <a:endParaRPr cap="none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44"/>
          <p:cNvSpPr txBox="1">
            <a:spLocks noGrp="1"/>
          </p:cNvSpPr>
          <p:nvPr>
            <p:ph type="title"/>
          </p:nvPr>
        </p:nvSpPr>
        <p:spPr>
          <a:xfrm>
            <a:off x="1752600" y="152400"/>
            <a:ext cx="7086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Pointers as Function Parameters</a:t>
            </a:r>
            <a:endParaRPr/>
          </a:p>
        </p:txBody>
      </p:sp>
      <p:sp>
        <p:nvSpPr>
          <p:cNvPr id="446" name="Google Shape;446;p44"/>
          <p:cNvSpPr txBox="1"/>
          <p:nvPr/>
        </p:nvSpPr>
        <p:spPr>
          <a:xfrm>
            <a:off x="304800" y="1295400"/>
            <a:ext cx="8458200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609600" marR="0" lvl="0" indent="-60960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pointer can be a </a:t>
            </a:r>
            <a:r>
              <a:rPr lang="en-US" sz="2800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parameter</a:t>
            </a:r>
            <a:endParaRPr/>
          </a:p>
          <a:p>
            <a:pPr marL="609600" marR="0" lvl="0" indent="-6096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implements </a:t>
            </a:r>
            <a:r>
              <a:rPr lang="en-US" sz="2800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call-by-address references</a:t>
            </a:r>
            <a:endParaRPr/>
          </a:p>
          <a:p>
            <a:pPr marL="609600" marR="0" lvl="0" indent="-6096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allows to </a:t>
            </a:r>
            <a:r>
              <a:rPr lang="en-US" sz="2800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modify</a:t>
            </a: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the values by statements within a called function </a:t>
            </a:r>
            <a:endParaRPr/>
          </a:p>
          <a:p>
            <a:pPr marL="609600" marR="0" lvl="0" indent="-6096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Requires:</a:t>
            </a:r>
            <a:endParaRPr/>
          </a:p>
          <a:p>
            <a:pPr marL="990600" marR="0" lvl="1" indent="-533400" algn="l" rtl="0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Arial"/>
              <a:buAutoNum type="arabicParenR"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asterisk * on parameter in </a:t>
            </a:r>
            <a:r>
              <a:rPr lang="en-US" sz="2400" b="0" i="0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prototype and heading</a:t>
            </a:r>
            <a:endParaRPr/>
          </a:p>
          <a:p>
            <a:pPr marL="990600" marR="0" lvl="1" indent="-533400" algn="l" rtl="0">
              <a:lnSpc>
                <a:spcPct val="85000"/>
              </a:lnSpc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1680"/>
              <a:buFont typeface="Arial"/>
              <a:buNone/>
            </a:pPr>
            <a:r>
              <a:rPr lang="en-US" sz="2100" b="1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void getNum(int *ptr); // ptr is pointer to int</a:t>
            </a: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90600" marR="0" lvl="1" indent="-533400" algn="l" rtl="0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Arial"/>
              <a:buAutoNum type="arabicParenR" startAt="2"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asterisk </a:t>
            </a:r>
            <a:r>
              <a:rPr lang="en-US" sz="2400" b="1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n-US"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 </a:t>
            </a:r>
            <a:r>
              <a:rPr lang="en-US" sz="2400" b="0" i="0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body to dereference</a:t>
            </a: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the pointer</a:t>
            </a:r>
            <a:endParaRPr/>
          </a:p>
          <a:p>
            <a:pPr marL="609600" marR="0" lvl="0" indent="-609600" algn="l" rtl="0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   </a:t>
            </a:r>
            <a:r>
              <a:rPr lang="en-US" sz="24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cin &gt;&gt; *ptr;</a:t>
            </a:r>
            <a:r>
              <a:rPr lang="en-US" sz="2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endParaRPr/>
          </a:p>
          <a:p>
            <a:pPr marL="990600" marR="0" lvl="1" indent="-533400" algn="l" rtl="0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Arial"/>
              <a:buAutoNum type="arabicParenR" startAt="2"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b="0" i="0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address</a:t>
            </a: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as argument to the function</a:t>
            </a:r>
            <a:endParaRPr sz="2400" b="0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990600" marR="0" lvl="1" indent="-533400" algn="l" rtl="0">
              <a:lnSpc>
                <a:spcPct val="85000"/>
              </a:lnSpc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en-US" sz="21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-US" sz="2100" b="1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getNum(&amp;num); // pass address of num to getNum</a:t>
            </a:r>
            <a:endParaRPr sz="2100" b="1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47" name="Google Shape;447;p44"/>
          <p:cNvSpPr/>
          <p:nvPr/>
        </p:nvSpPr>
        <p:spPr>
          <a:xfrm>
            <a:off x="381000" y="3581400"/>
            <a:ext cx="8382000" cy="2590800"/>
          </a:xfrm>
          <a:prstGeom prst="rect">
            <a:avLst/>
          </a:prstGeom>
          <a:noFill/>
          <a:ln w="38100" cap="flat" cmpd="sng">
            <a:solidFill>
              <a:srgbClr val="FF66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45"/>
          <p:cNvSpPr txBox="1">
            <a:spLocks noGrp="1"/>
          </p:cNvSpPr>
          <p:nvPr>
            <p:ph type="title"/>
          </p:nvPr>
        </p:nvSpPr>
        <p:spPr>
          <a:xfrm>
            <a:off x="1752600" y="152400"/>
            <a:ext cx="7086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Example 7.1</a:t>
            </a:r>
            <a:endParaRPr/>
          </a:p>
        </p:txBody>
      </p:sp>
      <p:sp>
        <p:nvSpPr>
          <p:cNvPr id="453" name="Google Shape;453;p45"/>
          <p:cNvSpPr txBox="1"/>
          <p:nvPr/>
        </p:nvSpPr>
        <p:spPr>
          <a:xfrm>
            <a:off x="1066800" y="1371600"/>
            <a:ext cx="6553200" cy="4157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0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Arial"/>
              <a:buNone/>
            </a:pPr>
            <a:r>
              <a:rPr lang="en-US" sz="2800" b="1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void swap(int *x, int *y)</a:t>
            </a:r>
            <a:endParaRPr/>
          </a:p>
          <a:p>
            <a:pPr marL="342900" marR="0" lvl="0" indent="-3429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		int temp;</a:t>
            </a:r>
            <a:endParaRPr/>
          </a:p>
          <a:p>
            <a:pPr marL="342900" marR="0" lvl="0" indent="-3429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	temp = *x;</a:t>
            </a:r>
            <a:endParaRPr/>
          </a:p>
          <a:p>
            <a:pPr marL="342900" marR="0" lvl="0" indent="-3429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	*x = *y;</a:t>
            </a:r>
            <a:endParaRPr/>
          </a:p>
          <a:p>
            <a:pPr marL="342900" marR="0" lvl="0" indent="-3429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	*y = temp;</a:t>
            </a:r>
            <a:endParaRPr/>
          </a:p>
          <a:p>
            <a:pPr marL="342900" marR="0" lvl="0" indent="-3429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  <a:p>
            <a:pPr marL="342900" marR="0" lvl="0" indent="-3429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342900" marR="0" lvl="0" indent="-3429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int num1 = 2, num2 = -3;</a:t>
            </a:r>
            <a:endParaRPr/>
          </a:p>
          <a:p>
            <a:pPr marL="342900" marR="0" lvl="0" indent="-342900" algn="l" rtl="0">
              <a:spcBef>
                <a:spcPts val="56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Arial"/>
              <a:buNone/>
            </a:pPr>
            <a:r>
              <a:rPr lang="en-US" sz="2800" b="1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swap(&amp;num1, &amp;num2);</a:t>
            </a:r>
            <a:endParaRPr sz="2800" b="1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46"/>
          <p:cNvSpPr txBox="1">
            <a:spLocks noGrp="1"/>
          </p:cNvSpPr>
          <p:nvPr>
            <p:ph type="title"/>
          </p:nvPr>
        </p:nvSpPr>
        <p:spPr>
          <a:xfrm>
            <a:off x="1752600" y="152400"/>
            <a:ext cx="70866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Example 7.2</a:t>
            </a:r>
            <a:endParaRPr/>
          </a:p>
        </p:txBody>
      </p:sp>
      <p:pic>
        <p:nvPicPr>
          <p:cNvPr id="459" name="Google Shape;459;p4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4800" y="1066800"/>
            <a:ext cx="8389938" cy="5410200"/>
          </a:xfrm>
          <a:prstGeom prst="rect">
            <a:avLst/>
          </a:prstGeom>
          <a:noFill/>
          <a:ln>
            <a:noFill/>
          </a:ln>
        </p:spPr>
      </p:pic>
      <p:sp>
        <p:nvSpPr>
          <p:cNvPr id="460" name="Google Shape;460;p46"/>
          <p:cNvSpPr/>
          <p:nvPr/>
        </p:nvSpPr>
        <p:spPr>
          <a:xfrm>
            <a:off x="457200" y="2514600"/>
            <a:ext cx="6400800" cy="762000"/>
          </a:xfrm>
          <a:prstGeom prst="rect">
            <a:avLst/>
          </a:prstGeom>
          <a:noFill/>
          <a:ln w="38100" cap="flat" cmpd="sng">
            <a:solidFill>
              <a:srgbClr val="FF66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46"/>
          <p:cNvSpPr/>
          <p:nvPr/>
        </p:nvSpPr>
        <p:spPr>
          <a:xfrm>
            <a:off x="914400" y="4038600"/>
            <a:ext cx="7543800" cy="1371600"/>
          </a:xfrm>
          <a:prstGeom prst="rect">
            <a:avLst/>
          </a:prstGeom>
          <a:noFill/>
          <a:ln w="38100" cap="flat" cmpd="sng">
            <a:solidFill>
              <a:srgbClr val="FF66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47"/>
          <p:cNvSpPr txBox="1">
            <a:spLocks noGrp="1"/>
          </p:cNvSpPr>
          <p:nvPr>
            <p:ph type="title"/>
          </p:nvPr>
        </p:nvSpPr>
        <p:spPr>
          <a:xfrm>
            <a:off x="1752600" y="152400"/>
            <a:ext cx="70866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Example 7.2 (cont.)</a:t>
            </a:r>
            <a:endParaRPr/>
          </a:p>
        </p:txBody>
      </p:sp>
      <p:pic>
        <p:nvPicPr>
          <p:cNvPr id="467" name="Google Shape;467;p4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7200" y="1143000"/>
            <a:ext cx="8305800" cy="5399088"/>
          </a:xfrm>
          <a:prstGeom prst="rect">
            <a:avLst/>
          </a:prstGeom>
          <a:noFill/>
          <a:ln>
            <a:noFill/>
          </a:ln>
        </p:spPr>
      </p:pic>
      <p:sp>
        <p:nvSpPr>
          <p:cNvPr id="468" name="Google Shape;468;p47"/>
          <p:cNvSpPr/>
          <p:nvPr/>
        </p:nvSpPr>
        <p:spPr>
          <a:xfrm>
            <a:off x="685800" y="2590800"/>
            <a:ext cx="7543800" cy="1143000"/>
          </a:xfrm>
          <a:prstGeom prst="rect">
            <a:avLst/>
          </a:prstGeom>
          <a:noFill/>
          <a:ln w="38100" cap="flat" cmpd="sng">
            <a:solidFill>
              <a:srgbClr val="FF66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47"/>
          <p:cNvSpPr/>
          <p:nvPr/>
        </p:nvSpPr>
        <p:spPr>
          <a:xfrm>
            <a:off x="685800" y="4800600"/>
            <a:ext cx="4953000" cy="990600"/>
          </a:xfrm>
          <a:prstGeom prst="rect">
            <a:avLst/>
          </a:prstGeom>
          <a:noFill/>
          <a:ln w="38100" cap="flat" cmpd="sng">
            <a:solidFill>
              <a:srgbClr val="FF66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48"/>
          <p:cNvSpPr txBox="1">
            <a:spLocks noGrp="1"/>
          </p:cNvSpPr>
          <p:nvPr>
            <p:ph type="title"/>
          </p:nvPr>
        </p:nvSpPr>
        <p:spPr>
          <a:xfrm>
            <a:off x="1600200" y="152400"/>
            <a:ext cx="72390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Pointers to Constants</a:t>
            </a:r>
            <a:endParaRPr/>
          </a:p>
        </p:txBody>
      </p:sp>
      <p:sp>
        <p:nvSpPr>
          <p:cNvPr id="475" name="Google Shape;475;p48"/>
          <p:cNvSpPr txBox="1"/>
          <p:nvPr/>
        </p:nvSpPr>
        <p:spPr>
          <a:xfrm>
            <a:off x="304800" y="1143000"/>
            <a:ext cx="85344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we want to store </a:t>
            </a:r>
            <a:r>
              <a:rPr lang="en-US" sz="2800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the address of a constant</a:t>
            </a: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in a pointer, then we need to store it in a </a:t>
            </a:r>
            <a:r>
              <a:rPr lang="en-US" sz="2800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pointer-to-const</a:t>
            </a: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marL="342900" marR="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Example: Suppose we have the following definitions</a:t>
            </a:r>
            <a:r>
              <a:rPr lang="en-U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br>
              <a:rPr lang="en-U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8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const int SIZE = 6;</a:t>
            </a:r>
            <a:br>
              <a:rPr lang="en-US" sz="28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28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const double payRates[SIZE] = </a:t>
            </a:r>
            <a:br>
              <a:rPr lang="en-US" sz="28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28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{ 18.55, 17.45, 12.85,</a:t>
            </a:r>
            <a:br>
              <a:rPr lang="en-US" sz="28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28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14.97, 10.35, 18.89 };</a:t>
            </a:r>
            <a:endParaRPr/>
          </a:p>
          <a:p>
            <a:pPr marL="342900" marR="0" lvl="0" indent="-3429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 this code, </a:t>
            </a:r>
            <a:r>
              <a:rPr lang="en-US" sz="2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payRates</a:t>
            </a: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is an array of constant doubles.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49"/>
          <p:cNvSpPr txBox="1">
            <a:spLocks noGrp="1"/>
          </p:cNvSpPr>
          <p:nvPr>
            <p:ph type="title"/>
          </p:nvPr>
        </p:nvSpPr>
        <p:spPr>
          <a:xfrm>
            <a:off x="1600200" y="152400"/>
            <a:ext cx="72390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Pointers to Constants</a:t>
            </a:r>
            <a:endParaRPr/>
          </a:p>
        </p:txBody>
      </p:sp>
      <p:sp>
        <p:nvSpPr>
          <p:cNvPr id="481" name="Google Shape;481;p49"/>
          <p:cNvSpPr txBox="1"/>
          <p:nvPr/>
        </p:nvSpPr>
        <p:spPr>
          <a:xfrm>
            <a:off x="304800" y="1355725"/>
            <a:ext cx="8294688" cy="1539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0" bIns="45700" anchor="t" anchorCtr="0">
            <a:noAutofit/>
          </a:bodyPr>
          <a:lstStyle/>
          <a:p>
            <a:pPr marL="342900" marR="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Suppose we wish to pass the payRates array to a function? Here's an example of how we can do it.</a:t>
            </a: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2" name="Google Shape;482;p49"/>
          <p:cNvSpPr txBox="1"/>
          <p:nvPr/>
        </p:nvSpPr>
        <p:spPr>
          <a:xfrm>
            <a:off x="304800" y="3044825"/>
            <a:ext cx="8610600" cy="2289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void displayPayRates(</a:t>
            </a:r>
            <a:r>
              <a:rPr lang="en-US" sz="2000" b="1">
                <a:solidFill>
                  <a:srgbClr val="990033"/>
                </a:solidFill>
                <a:latin typeface="Courier New"/>
                <a:ea typeface="Courier New"/>
                <a:cs typeface="Courier New"/>
                <a:sym typeface="Courier New"/>
              </a:rPr>
              <a:t>const double *rates, </a:t>
            </a:r>
            <a:r>
              <a:rPr lang="en-US" sz="2000" b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int size)</a:t>
            </a:r>
            <a:br>
              <a:rPr lang="en-US" sz="2000" b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2000" b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br>
              <a:rPr lang="en-US" sz="2000" b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2000" b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for (int count = 0; count &lt; size; count++)</a:t>
            </a:r>
            <a:br>
              <a:rPr lang="en-US" sz="2000" b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2000" b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{</a:t>
            </a:r>
            <a:br>
              <a:rPr lang="en-US" sz="2000" b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2000" b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cout &lt;&lt; "Pay rate for employee " &lt;&lt; (count + 1)</a:t>
            </a:r>
            <a:br>
              <a:rPr lang="en-US" sz="2000" b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2000" b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&lt;&lt; " is $" &lt;&lt; *(rates + count) &lt;&lt; endl;</a:t>
            </a:r>
            <a:br>
              <a:rPr lang="en-US" sz="2000" b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2000" b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}</a:t>
            </a:r>
            <a:br>
              <a:rPr lang="en-US" sz="2000" b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2000" b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</p:txBody>
      </p:sp>
      <p:sp>
        <p:nvSpPr>
          <p:cNvPr id="483" name="Google Shape;483;p49"/>
          <p:cNvSpPr txBox="1"/>
          <p:nvPr/>
        </p:nvSpPr>
        <p:spPr>
          <a:xfrm>
            <a:off x="914400" y="5715000"/>
            <a:ext cx="7391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>
                <a:solidFill>
                  <a:srgbClr val="FF6600"/>
                </a:solidFill>
                <a:latin typeface="Arial"/>
                <a:ea typeface="Arial"/>
                <a:cs typeface="Arial"/>
                <a:sym typeface="Arial"/>
              </a:rPr>
              <a:t>The parameter, rates, is a pointer to </a:t>
            </a:r>
            <a:r>
              <a:rPr lang="en-US" sz="2400" b="0">
                <a:solidFill>
                  <a:srgbClr val="FF6600"/>
                </a:solidFill>
                <a:latin typeface="Courier New"/>
                <a:ea typeface="Courier New"/>
                <a:cs typeface="Courier New"/>
                <a:sym typeface="Courier New"/>
              </a:rPr>
              <a:t>const double</a:t>
            </a:r>
            <a:r>
              <a:rPr lang="en-US" sz="2400" b="0">
                <a:solidFill>
                  <a:srgbClr val="FF66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50"/>
          <p:cNvSpPr txBox="1">
            <a:spLocks noGrp="1"/>
          </p:cNvSpPr>
          <p:nvPr>
            <p:ph type="title"/>
          </p:nvPr>
        </p:nvSpPr>
        <p:spPr>
          <a:xfrm>
            <a:off x="1676400" y="228600"/>
            <a:ext cx="7239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Declaration of a </a:t>
            </a:r>
            <a:br>
              <a:rPr lang="en-US"/>
            </a:br>
            <a:r>
              <a:rPr lang="en-US"/>
              <a:t>Pointer to Constant</a:t>
            </a:r>
            <a:endParaRPr/>
          </a:p>
        </p:txBody>
      </p:sp>
      <p:pic>
        <p:nvPicPr>
          <p:cNvPr id="489" name="Google Shape;489;p50" descr="0908sowc copy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30375" y="2401888"/>
            <a:ext cx="4899025" cy="23225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51"/>
          <p:cNvSpPr txBox="1">
            <a:spLocks noGrp="1"/>
          </p:cNvSpPr>
          <p:nvPr>
            <p:ph type="title"/>
          </p:nvPr>
        </p:nvSpPr>
        <p:spPr>
          <a:xfrm>
            <a:off x="1676400" y="152400"/>
            <a:ext cx="7239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Constant Pointer</a:t>
            </a:r>
            <a:endParaRPr/>
          </a:p>
        </p:txBody>
      </p:sp>
      <p:sp>
        <p:nvSpPr>
          <p:cNvPr id="495" name="Google Shape;495;p51"/>
          <p:cNvSpPr txBox="1"/>
          <p:nvPr/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</a:t>
            </a:r>
            <a:r>
              <a:rPr lang="en-US" sz="3200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constant pointer</a:t>
            </a:r>
            <a:r>
              <a:rPr lang="en-U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is a pointer that is initialized with an address, and cannot point to anything else.</a:t>
            </a:r>
            <a:br>
              <a:rPr lang="en-U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</a:t>
            </a:r>
            <a:br>
              <a:rPr lang="en-U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en-U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3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int value = 22;</a:t>
            </a:r>
            <a:br>
              <a:rPr lang="en-US" sz="3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3200" b="1">
                <a:solidFill>
                  <a:srgbClr val="990033"/>
                </a:solidFill>
                <a:latin typeface="Courier New"/>
                <a:ea typeface="Courier New"/>
                <a:cs typeface="Courier New"/>
                <a:sym typeface="Courier New"/>
              </a:rPr>
              <a:t>int * const ptr</a:t>
            </a:r>
            <a:r>
              <a:rPr lang="en-US" sz="3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= &amp;value;</a:t>
            </a:r>
            <a:endParaRPr/>
          </a:p>
          <a:p>
            <a:pPr marL="342900" marR="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52"/>
          <p:cNvSpPr txBox="1">
            <a:spLocks noGrp="1"/>
          </p:cNvSpPr>
          <p:nvPr>
            <p:ph type="title"/>
          </p:nvPr>
        </p:nvSpPr>
        <p:spPr>
          <a:xfrm>
            <a:off x="1676400" y="228600"/>
            <a:ext cx="7239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Declaration of a </a:t>
            </a:r>
            <a:br>
              <a:rPr lang="en-US"/>
            </a:br>
            <a:r>
              <a:rPr lang="en-US"/>
              <a:t>Constant Pointers</a:t>
            </a:r>
            <a:endParaRPr/>
          </a:p>
        </p:txBody>
      </p:sp>
      <p:pic>
        <p:nvPicPr>
          <p:cNvPr id="501" name="Google Shape;501;p52" descr="0909sowc copy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0" y="1981200"/>
            <a:ext cx="5715000" cy="3625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53"/>
          <p:cNvSpPr txBox="1">
            <a:spLocks noGrp="1"/>
          </p:cNvSpPr>
          <p:nvPr>
            <p:ph type="title"/>
          </p:nvPr>
        </p:nvSpPr>
        <p:spPr>
          <a:xfrm>
            <a:off x="1676400" y="228600"/>
            <a:ext cx="7239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Declaration of a </a:t>
            </a:r>
            <a:br>
              <a:rPr lang="en-US"/>
            </a:br>
            <a:r>
              <a:rPr lang="en-US"/>
              <a:t>Constant Pointers</a:t>
            </a:r>
            <a:endParaRPr/>
          </a:p>
        </p:txBody>
      </p:sp>
      <p:pic>
        <p:nvPicPr>
          <p:cNvPr id="507" name="Google Shape;507;p53" descr="0909sowc copy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0" y="1981200"/>
            <a:ext cx="5715000" cy="3625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54"/>
          <p:cNvSpPr txBox="1">
            <a:spLocks noGrp="1"/>
          </p:cNvSpPr>
          <p:nvPr>
            <p:ph type="title"/>
          </p:nvPr>
        </p:nvSpPr>
        <p:spPr>
          <a:xfrm>
            <a:off x="1600200" y="152400"/>
            <a:ext cx="72390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Constant Pointer to Constants</a:t>
            </a:r>
            <a:endParaRPr/>
          </a:p>
        </p:txBody>
      </p:sp>
      <p:sp>
        <p:nvSpPr>
          <p:cNvPr id="513" name="Google Shape;513;p54"/>
          <p:cNvSpPr txBox="1"/>
          <p:nvPr/>
        </p:nvSpPr>
        <p:spPr>
          <a:xfrm>
            <a:off x="457200" y="13716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constant pointer to a constant is:</a:t>
            </a:r>
            <a:endParaRPr/>
          </a:p>
          <a:p>
            <a:pPr marL="742950" marR="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pointer that </a:t>
            </a:r>
            <a:r>
              <a:rPr lang="en-US" sz="2800" b="0" i="0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points to a constant</a:t>
            </a:r>
            <a:endParaRPr/>
          </a:p>
          <a:p>
            <a:pPr marL="742950" marR="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pointer that </a:t>
            </a:r>
            <a:r>
              <a:rPr lang="en-US" sz="2800" b="0" i="0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cannot point to anything</a:t>
            </a: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except what it is pointing to</a:t>
            </a:r>
            <a:b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2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Example:</a:t>
            </a:r>
            <a:br>
              <a:rPr lang="en-U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3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int value = 22;</a:t>
            </a:r>
            <a:br>
              <a:rPr lang="en-US" sz="3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3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const int * const ptr = &amp;value;</a:t>
            </a:r>
            <a:r>
              <a:rPr lang="en-U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br>
              <a:rPr lang="en-U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55"/>
          <p:cNvSpPr txBox="1">
            <a:spLocks noGrp="1"/>
          </p:cNvSpPr>
          <p:nvPr>
            <p:ph type="title"/>
          </p:nvPr>
        </p:nvSpPr>
        <p:spPr>
          <a:xfrm>
            <a:off x="1600200" y="152400"/>
            <a:ext cx="72390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Constant Pointer to Constants</a:t>
            </a:r>
            <a:endParaRPr/>
          </a:p>
        </p:txBody>
      </p:sp>
      <p:pic>
        <p:nvPicPr>
          <p:cNvPr id="519" name="Google Shape;519;p55" descr="0910sowc copy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71600" y="2057400"/>
            <a:ext cx="6330950" cy="3352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56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cap="none"/>
              <a:t>8 - Dynamic Memory Allocation</a:t>
            </a:r>
            <a:endParaRPr cap="none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57"/>
          <p:cNvSpPr txBox="1">
            <a:spLocks noGrp="1"/>
          </p:cNvSpPr>
          <p:nvPr>
            <p:ph type="title"/>
          </p:nvPr>
        </p:nvSpPr>
        <p:spPr>
          <a:xfrm>
            <a:off x="1600200" y="152400"/>
            <a:ext cx="72390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Dynamic Memory Allocation</a:t>
            </a:r>
            <a:endParaRPr/>
          </a:p>
        </p:txBody>
      </p:sp>
      <p:sp>
        <p:nvSpPr>
          <p:cNvPr id="530" name="Google Shape;530;p57"/>
          <p:cNvSpPr txBox="1"/>
          <p:nvPr/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Can </a:t>
            </a:r>
            <a:r>
              <a:rPr lang="en-US" sz="3200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allocate storage</a:t>
            </a:r>
            <a:r>
              <a:rPr lang="en-U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for a variable while program is running</a:t>
            </a:r>
            <a:endParaRPr/>
          </a:p>
          <a:p>
            <a:pPr marL="342900" marR="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Computer returns address of </a:t>
            </a:r>
            <a:r>
              <a:rPr lang="en-US" sz="3200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new</a:t>
            </a:r>
            <a:r>
              <a:rPr lang="en-U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ly allocated variable</a:t>
            </a:r>
            <a:endParaRPr/>
          </a:p>
          <a:p>
            <a:pPr marL="342900" marR="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Uses </a:t>
            </a:r>
            <a:r>
              <a:rPr lang="en-US" sz="3200" b="1">
                <a:solidFill>
                  <a:srgbClr val="990033"/>
                </a:solidFill>
                <a:latin typeface="Courier New"/>
                <a:ea typeface="Courier New"/>
                <a:cs typeface="Courier New"/>
                <a:sym typeface="Courier New"/>
              </a:rPr>
              <a:t>new</a:t>
            </a:r>
            <a:r>
              <a:rPr lang="en-U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operator to allocate memory:</a:t>
            </a:r>
            <a:endParaRPr/>
          </a:p>
          <a:p>
            <a:pPr marL="742950" marR="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lang="en-US" sz="28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double *dptr;</a:t>
            </a:r>
            <a:endParaRPr/>
          </a:p>
          <a:p>
            <a:pPr marL="742950" marR="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dptr = new double;</a:t>
            </a:r>
            <a:endParaRPr/>
          </a:p>
          <a:p>
            <a:pPr marL="342900" marR="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new</a:t>
            </a:r>
            <a:r>
              <a:rPr lang="en-U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returns address of memory location</a:t>
            </a:r>
            <a:endParaRPr sz="3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342900" marR="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58"/>
          <p:cNvSpPr txBox="1">
            <a:spLocks noGrp="1"/>
          </p:cNvSpPr>
          <p:nvPr>
            <p:ph type="title"/>
          </p:nvPr>
        </p:nvSpPr>
        <p:spPr>
          <a:xfrm>
            <a:off x="1600200" y="152400"/>
            <a:ext cx="72390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Dynamic Memory Allocation</a:t>
            </a:r>
            <a:endParaRPr/>
          </a:p>
        </p:txBody>
      </p:sp>
      <p:sp>
        <p:nvSpPr>
          <p:cNvPr id="536" name="Google Shape;536;p58"/>
          <p:cNvSpPr txBox="1"/>
          <p:nvPr/>
        </p:nvSpPr>
        <p:spPr>
          <a:xfrm>
            <a:off x="533400" y="1066800"/>
            <a:ext cx="8229600" cy="4983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Can also use </a:t>
            </a:r>
            <a:r>
              <a:rPr lang="en-US" sz="3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new</a:t>
            </a:r>
            <a:r>
              <a:rPr lang="en-U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to allocate array:</a:t>
            </a:r>
            <a:br>
              <a:rPr lang="en-U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8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const int SIZE = 25;</a:t>
            </a:r>
            <a:br>
              <a:rPr lang="en-US" sz="28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28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arrayptr = new double[SIZE];</a:t>
            </a:r>
            <a:endParaRPr sz="28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85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Can then use </a:t>
            </a:r>
            <a:r>
              <a:rPr lang="en-US" sz="3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[]</a:t>
            </a:r>
            <a:r>
              <a:rPr lang="en-U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or pointer arithmetic to access array:</a:t>
            </a:r>
            <a:endParaRPr/>
          </a:p>
          <a:p>
            <a:pPr marL="742950" marR="0" lvl="1" indent="-285750" algn="l" rtl="0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lang="en-US" sz="2400" b="1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for(i = 0; i &lt; SIZE; i++)</a:t>
            </a:r>
            <a:endParaRPr/>
          </a:p>
          <a:p>
            <a:pPr marL="742950" marR="0" lvl="1" indent="-285750" algn="l" rtl="0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	  arrayptr[i] = i * i;</a:t>
            </a:r>
            <a:endParaRPr/>
          </a:p>
          <a:p>
            <a:pPr marL="742950" marR="0" lvl="1" indent="-285750" algn="l" rtl="0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</a:t>
            </a:r>
            <a:endParaRPr/>
          </a:p>
          <a:p>
            <a:pPr marL="742950" marR="0" lvl="1" indent="-285750" algn="l" rtl="0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lang="en-US" sz="2400" b="1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for(i = 0; i &lt; SIZE; i++)</a:t>
            </a:r>
            <a:endParaRPr/>
          </a:p>
          <a:p>
            <a:pPr marL="742950" marR="0" lvl="1" indent="-285750" algn="l" rtl="0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	  *(arrayptr + i) = i * i;</a:t>
            </a:r>
            <a:endParaRPr sz="24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85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Program will terminate if not enough memory available to allocate</a:t>
            </a: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59"/>
          <p:cNvSpPr txBox="1">
            <a:spLocks noGrp="1"/>
          </p:cNvSpPr>
          <p:nvPr>
            <p:ph type="title"/>
          </p:nvPr>
        </p:nvSpPr>
        <p:spPr>
          <a:xfrm>
            <a:off x="1600200" y="152400"/>
            <a:ext cx="72390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Releasing Dynamic Memory</a:t>
            </a:r>
            <a:endParaRPr/>
          </a:p>
        </p:txBody>
      </p:sp>
      <p:sp>
        <p:nvSpPr>
          <p:cNvPr id="542" name="Google Shape;542;p59"/>
          <p:cNvSpPr txBox="1"/>
          <p:nvPr/>
        </p:nvSpPr>
        <p:spPr>
          <a:xfrm>
            <a:off x="457200" y="1676400"/>
            <a:ext cx="82296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 </a:t>
            </a:r>
            <a:r>
              <a:rPr lang="en-US" sz="3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delete</a:t>
            </a:r>
            <a:r>
              <a:rPr lang="en-U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to free dynamic memory:</a:t>
            </a:r>
            <a:endParaRPr/>
          </a:p>
          <a:p>
            <a:pPr marL="742950" marR="0" lvl="1" indent="-28575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 sz="32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delete fptr;</a:t>
            </a:r>
            <a:endParaRPr sz="3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 </a:t>
            </a:r>
            <a:r>
              <a:rPr lang="en-US" sz="3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[]</a:t>
            </a:r>
            <a:r>
              <a:rPr lang="en-U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to free dynamic array:</a:t>
            </a:r>
            <a:endParaRPr/>
          </a:p>
          <a:p>
            <a:pPr marL="742950" marR="0" lvl="1" indent="-28575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lang="en-US" sz="32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delete [] arrayptr;</a:t>
            </a:r>
            <a:endParaRPr sz="3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Only use </a:t>
            </a:r>
            <a:r>
              <a:rPr lang="en-US" sz="3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delete</a:t>
            </a:r>
            <a:r>
              <a:rPr lang="en-U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with dynamic memory! </a:t>
            </a:r>
            <a:endParaRPr/>
          </a:p>
          <a:p>
            <a:pPr marL="342900" marR="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60"/>
          <p:cNvSpPr txBox="1">
            <a:spLocks noGrp="1"/>
          </p:cNvSpPr>
          <p:nvPr>
            <p:ph type="title"/>
          </p:nvPr>
        </p:nvSpPr>
        <p:spPr>
          <a:xfrm>
            <a:off x="1600200" y="152400"/>
            <a:ext cx="72390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Example 8</a:t>
            </a:r>
            <a:endParaRPr/>
          </a:p>
        </p:txBody>
      </p:sp>
      <p:pic>
        <p:nvPicPr>
          <p:cNvPr id="548" name="Google Shape;548;p6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4800" y="1371600"/>
            <a:ext cx="8461375" cy="426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61"/>
          <p:cNvSpPr txBox="1">
            <a:spLocks noGrp="1"/>
          </p:cNvSpPr>
          <p:nvPr>
            <p:ph type="title"/>
          </p:nvPr>
        </p:nvSpPr>
        <p:spPr>
          <a:xfrm>
            <a:off x="1600200" y="152400"/>
            <a:ext cx="72390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Example 8 (cont.)</a:t>
            </a:r>
            <a:endParaRPr/>
          </a:p>
        </p:txBody>
      </p:sp>
      <p:pic>
        <p:nvPicPr>
          <p:cNvPr id="554" name="Google Shape;554;p6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4800" y="1066800"/>
            <a:ext cx="8626475" cy="525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62"/>
          <p:cNvSpPr txBox="1">
            <a:spLocks noGrp="1"/>
          </p:cNvSpPr>
          <p:nvPr>
            <p:ph type="title"/>
          </p:nvPr>
        </p:nvSpPr>
        <p:spPr>
          <a:xfrm>
            <a:off x="1600200" y="152400"/>
            <a:ext cx="72390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Example 8 (cont.)</a:t>
            </a:r>
            <a:endParaRPr/>
          </a:p>
        </p:txBody>
      </p:sp>
      <p:pic>
        <p:nvPicPr>
          <p:cNvPr id="560" name="Google Shape;560;p6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990600"/>
            <a:ext cx="8763000" cy="518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63"/>
          <p:cNvSpPr txBox="1">
            <a:spLocks noGrp="1"/>
          </p:cNvSpPr>
          <p:nvPr>
            <p:ph type="title"/>
          </p:nvPr>
        </p:nvSpPr>
        <p:spPr>
          <a:xfrm>
            <a:off x="1600200" y="152400"/>
            <a:ext cx="72390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Exercise 9</a:t>
            </a:r>
            <a:endParaRPr/>
          </a:p>
        </p:txBody>
      </p:sp>
      <p:sp>
        <p:nvSpPr>
          <p:cNvPr id="566" name="Google Shape;566;p63"/>
          <p:cNvSpPr txBox="1"/>
          <p:nvPr/>
        </p:nvSpPr>
        <p:spPr>
          <a:xfrm>
            <a:off x="381000" y="1066800"/>
            <a:ext cx="822960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Given the following program with 3 errors. Rewrite the program to store the power value of the array’s index and print the values.</a:t>
            </a:r>
            <a:endParaRPr/>
          </a:p>
          <a:p>
            <a:pPr marL="342900" marR="0" lvl="0" indent="-190500" algn="l" rtl="0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7" name="Google Shape;567;p63"/>
          <p:cNvSpPr/>
          <p:nvPr/>
        </p:nvSpPr>
        <p:spPr>
          <a:xfrm>
            <a:off x="1079500" y="2057400"/>
            <a:ext cx="7531100" cy="4343400"/>
          </a:xfrm>
          <a:prstGeom prst="rect">
            <a:avLst/>
          </a:prstGeom>
          <a:solidFill>
            <a:srgbClr val="CCFFFF"/>
          </a:solidFill>
          <a:ln>
            <a:noFill/>
          </a:ln>
        </p:spPr>
        <p:txBody>
          <a:bodyPr spcFirstLastPara="1" wrap="square" lIns="91425" tIns="45700" rIns="0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int main(){</a:t>
            </a:r>
            <a:endParaRPr/>
          </a:p>
          <a:p>
            <a:pPr marL="342900" marR="0" lvl="0" indent="-34290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const int SIZE = 25;</a:t>
            </a:r>
            <a:endParaRPr/>
          </a:p>
          <a:p>
            <a:pPr marL="342900" marR="0" lvl="0" indent="-34290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int *arrayptr; </a:t>
            </a:r>
            <a:endParaRPr/>
          </a:p>
          <a:p>
            <a:pPr marL="342900" marR="0" lvl="0" indent="-34290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arrayptr = new double[SIZE];</a:t>
            </a:r>
            <a:endParaRPr/>
          </a:p>
          <a:p>
            <a:pPr marL="342900" marR="0" lvl="0" indent="-34290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for(int i = 0; i &lt; SIZE; i++)</a:t>
            </a:r>
            <a:endParaRPr/>
          </a:p>
          <a:p>
            <a:pPr marL="342900" marR="0" lvl="0" indent="-34290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	  *arrayptr[i] = i * i;</a:t>
            </a:r>
            <a:endParaRPr/>
          </a:p>
          <a:p>
            <a:pPr marL="342900" marR="0" lvl="0" indent="-34290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for(int i = 0; i &lt; SIZE; i++)</a:t>
            </a:r>
            <a:endParaRPr/>
          </a:p>
          <a:p>
            <a:pPr marL="342900" marR="0" lvl="0" indent="-34290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	  cout &lt;&lt;*arrayptr + i&lt;&lt;endl;</a:t>
            </a:r>
            <a:endParaRPr/>
          </a:p>
          <a:p>
            <a:pPr marL="342900" marR="0" lvl="0" indent="-34290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return 0;</a:t>
            </a:r>
            <a:endParaRPr/>
          </a:p>
          <a:p>
            <a:pPr marL="342900" marR="0" lvl="0" indent="-34290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p64"/>
          <p:cNvSpPr txBox="1">
            <a:spLocks noGrp="1"/>
          </p:cNvSpPr>
          <p:nvPr>
            <p:ph type="title"/>
          </p:nvPr>
        </p:nvSpPr>
        <p:spPr>
          <a:xfrm>
            <a:off x="609600" y="4419600"/>
            <a:ext cx="8269288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cap="none"/>
              <a:t>9 - Returning Pointers from Functions</a:t>
            </a:r>
            <a:endParaRPr cap="none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p65"/>
          <p:cNvSpPr txBox="1">
            <a:spLocks noGrp="1"/>
          </p:cNvSpPr>
          <p:nvPr>
            <p:ph type="title"/>
          </p:nvPr>
        </p:nvSpPr>
        <p:spPr>
          <a:xfrm>
            <a:off x="1600200" y="304800"/>
            <a:ext cx="72390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Returning Pointers from Functions</a:t>
            </a:r>
            <a:endParaRPr/>
          </a:p>
        </p:txBody>
      </p:sp>
      <p:sp>
        <p:nvSpPr>
          <p:cNvPr id="578" name="Google Shape;578;p65"/>
          <p:cNvSpPr txBox="1"/>
          <p:nvPr/>
        </p:nvSpPr>
        <p:spPr>
          <a:xfrm>
            <a:off x="457200" y="14478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Pointer can be the return type of a function:</a:t>
            </a:r>
            <a:endParaRPr/>
          </a:p>
          <a:p>
            <a:pPr marL="742950" marR="0" lvl="1" indent="-285750" algn="l" rtl="0">
              <a:spcBef>
                <a:spcPts val="560"/>
              </a:spcBef>
              <a:spcAft>
                <a:spcPts val="0"/>
              </a:spcAft>
              <a:buClr>
                <a:srgbClr val="3333CC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lang="en-US" sz="28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int* newNum();</a:t>
            </a:r>
            <a:endParaRPr/>
          </a:p>
          <a:p>
            <a:pPr marL="342900" marR="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function must not return a pointer to a local variable in the function.</a:t>
            </a:r>
            <a:endParaRPr/>
          </a:p>
          <a:p>
            <a:pPr marL="342900" marR="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function should only return a pointer:</a:t>
            </a:r>
            <a:endParaRPr/>
          </a:p>
          <a:p>
            <a:pPr marL="742950" marR="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 data that was passed to the function as an argument, or</a:t>
            </a:r>
            <a:endParaRPr/>
          </a:p>
          <a:p>
            <a:pPr marL="742950" marR="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 dynamically allocated memory</a:t>
            </a:r>
            <a:endParaRPr/>
          </a:p>
          <a:p>
            <a:pPr marL="342900" marR="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p66"/>
          <p:cNvSpPr txBox="1">
            <a:spLocks noGrp="1"/>
          </p:cNvSpPr>
          <p:nvPr>
            <p:ph type="title"/>
          </p:nvPr>
        </p:nvSpPr>
        <p:spPr>
          <a:xfrm>
            <a:off x="1600200" y="152400"/>
            <a:ext cx="72390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Example 9</a:t>
            </a:r>
            <a:endParaRPr/>
          </a:p>
        </p:txBody>
      </p:sp>
      <p:pic>
        <p:nvPicPr>
          <p:cNvPr id="584" name="Google Shape;584;p6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7200" y="1252537"/>
            <a:ext cx="8077200" cy="50720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2396</Words>
  <Application>Microsoft Office PowerPoint</Application>
  <PresentationFormat>On-screen Show (4:3)</PresentationFormat>
  <Paragraphs>382</Paragraphs>
  <Slides>66</Slides>
  <Notes>66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66</vt:i4>
      </vt:variant>
    </vt:vector>
  </HeadingPairs>
  <TitlesOfParts>
    <vt:vector size="73" baseType="lpstr">
      <vt:lpstr>Gulim</vt:lpstr>
      <vt:lpstr>Arial</vt:lpstr>
      <vt:lpstr>Calibri</vt:lpstr>
      <vt:lpstr>Courier New</vt:lpstr>
      <vt:lpstr>Noto Sans Symbols</vt:lpstr>
      <vt:lpstr>Times New Roman</vt:lpstr>
      <vt:lpstr>1_Office Theme</vt:lpstr>
      <vt:lpstr>08: POINTERS</vt:lpstr>
      <vt:lpstr>1- Getting the Address of a Variable</vt:lpstr>
      <vt:lpstr>Addresses and Pointers</vt:lpstr>
      <vt:lpstr>Notation for Memory Snapshot</vt:lpstr>
      <vt:lpstr>Getting the Address of a Variable</vt:lpstr>
      <vt:lpstr>Example 1</vt:lpstr>
      <vt:lpstr>Result of Example 1</vt:lpstr>
      <vt:lpstr>Exercise 1</vt:lpstr>
      <vt:lpstr>2 - Pointer Variables</vt:lpstr>
      <vt:lpstr>Pointer Variables</vt:lpstr>
      <vt:lpstr>Pointer Variables (cont.)</vt:lpstr>
      <vt:lpstr>Pointer Variables (cont.)</vt:lpstr>
      <vt:lpstr>Pointer Variables (cont.)</vt:lpstr>
      <vt:lpstr>Example 2.1</vt:lpstr>
      <vt:lpstr>The Indirection Operator</vt:lpstr>
      <vt:lpstr>Pointer Variables (cont.)</vt:lpstr>
      <vt:lpstr>Pointer Variables (cont.)</vt:lpstr>
      <vt:lpstr>Example 2.2</vt:lpstr>
      <vt:lpstr>Exercise 2</vt:lpstr>
      <vt:lpstr>Something like Pointers: Arrays</vt:lpstr>
      <vt:lpstr>Something like Pointers: Arrays</vt:lpstr>
      <vt:lpstr>Something like Pointers: Reference Variables</vt:lpstr>
      <vt:lpstr>Something like Pointers: Reference Variables</vt:lpstr>
      <vt:lpstr>3 - The Relationship Between Arrays and Pointers</vt:lpstr>
      <vt:lpstr>The Relationship Between  Arrays and Pointers</vt:lpstr>
      <vt:lpstr>The Relationship Between  Arrays and Pointers</vt:lpstr>
      <vt:lpstr>The Relationship Between  Arrays and Pointers (cont.)</vt:lpstr>
      <vt:lpstr>Example 3</vt:lpstr>
      <vt:lpstr>Exercise 4</vt:lpstr>
      <vt:lpstr>4 - Pointers Arithmetic</vt:lpstr>
      <vt:lpstr>Pointers Arithmetic</vt:lpstr>
      <vt:lpstr>Example 4</vt:lpstr>
      <vt:lpstr>Pointers in Expressions</vt:lpstr>
      <vt:lpstr>Pointers in Expressions</vt:lpstr>
      <vt:lpstr>Array Access</vt:lpstr>
      <vt:lpstr>Array Access</vt:lpstr>
      <vt:lpstr>5 - Initializing Pointers</vt:lpstr>
      <vt:lpstr>Initializing Pointers</vt:lpstr>
      <vt:lpstr>Exercise 6</vt:lpstr>
      <vt:lpstr>6 - Comparing Pointers</vt:lpstr>
      <vt:lpstr>Comparing Pointers</vt:lpstr>
      <vt:lpstr>Exercise 7</vt:lpstr>
      <vt:lpstr>7 - Pointers as Function Parameters</vt:lpstr>
      <vt:lpstr>Pointers as Function Parameters</vt:lpstr>
      <vt:lpstr>Example 7.1</vt:lpstr>
      <vt:lpstr>Example 7.2</vt:lpstr>
      <vt:lpstr>Example 7.2 (cont.)</vt:lpstr>
      <vt:lpstr>Pointers to Constants</vt:lpstr>
      <vt:lpstr>Pointers to Constants</vt:lpstr>
      <vt:lpstr>Declaration of a  Pointer to Constant</vt:lpstr>
      <vt:lpstr>Constant Pointer</vt:lpstr>
      <vt:lpstr>Declaration of a  Constant Pointers</vt:lpstr>
      <vt:lpstr>Declaration of a  Constant Pointers</vt:lpstr>
      <vt:lpstr>Constant Pointer to Constants</vt:lpstr>
      <vt:lpstr>Constant Pointer to Constants</vt:lpstr>
      <vt:lpstr>8 - Dynamic Memory Allocation</vt:lpstr>
      <vt:lpstr>Dynamic Memory Allocation</vt:lpstr>
      <vt:lpstr>Dynamic Memory Allocation</vt:lpstr>
      <vt:lpstr>Releasing Dynamic Memory</vt:lpstr>
      <vt:lpstr>Example 8</vt:lpstr>
      <vt:lpstr>Example 8 (cont.)</vt:lpstr>
      <vt:lpstr>Example 8 (cont.)</vt:lpstr>
      <vt:lpstr>Exercise 9</vt:lpstr>
      <vt:lpstr>9 - Returning Pointers from Functions</vt:lpstr>
      <vt:lpstr>Returning Pointers from Functions</vt:lpstr>
      <vt:lpstr>Example 9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08: POINTERS</dc:title>
  <dc:creator>user</dc:creator>
  <cp:lastModifiedBy>MUHAMMAD KHATIBSYARBINI 16880</cp:lastModifiedBy>
  <cp:revision>1</cp:revision>
  <dcterms:created xsi:type="dcterms:W3CDTF">2014-02-24T04:16:52Z</dcterms:created>
  <dcterms:modified xsi:type="dcterms:W3CDTF">2024-12-23T00:24:46Z</dcterms:modified>
</cp:coreProperties>
</file>