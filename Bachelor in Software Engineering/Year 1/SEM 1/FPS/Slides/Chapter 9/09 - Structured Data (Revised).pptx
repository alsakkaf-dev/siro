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5" roundtripDataSignature="AMtx7minted67sBPlyNujdSSq20ozEVH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5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5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p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p6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6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5" name="Google Shape;545;p6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p6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6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p6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 sz="2800"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" name="Google Shape;33;p73"/>
          <p:cNvSpPr/>
          <p:nvPr>
            <p:ph idx="1" type="body"/>
          </p:nvPr>
        </p:nvSpPr>
        <p:spPr>
          <a:xfrm>
            <a:off x="457200" y="1529154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73"/>
          <p:cNvSpPr/>
          <p:nvPr>
            <p:ph idx="2" type="body"/>
          </p:nvPr>
        </p:nvSpPr>
        <p:spPr>
          <a:xfrm>
            <a:off x="455645" y="2514600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3"/>
          <p:cNvSpPr/>
          <p:nvPr>
            <p:ph idx="3" type="body"/>
          </p:nvPr>
        </p:nvSpPr>
        <p:spPr>
          <a:xfrm>
            <a:off x="455645" y="3505200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3"/>
          <p:cNvSpPr/>
          <p:nvPr>
            <p:ph idx="4" type="body"/>
          </p:nvPr>
        </p:nvSpPr>
        <p:spPr>
          <a:xfrm>
            <a:off x="455645" y="4495800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3"/>
          <p:cNvSpPr/>
          <p:nvPr>
            <p:ph idx="5" type="body"/>
          </p:nvPr>
        </p:nvSpPr>
        <p:spPr>
          <a:xfrm>
            <a:off x="455645" y="5502679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  <a:defRPr sz="24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◆"/>
              <a:defRPr sz="2000"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2" name="Google Shape;52;p7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3" name="Google Shape;53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7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7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7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p7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8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" name="Google Shape;15;p7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09: STRUCTURED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Abstract Data Types </a:t>
            </a: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105" name="Google Shape;105;p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>
            <p:ph idx="1" type="body"/>
          </p:nvPr>
        </p:nvSpPr>
        <p:spPr>
          <a:xfrm>
            <a:off x="533400" y="1371600"/>
            <a:ext cx="8229600" cy="17526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A data type that specifies: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values that can be stored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operations that can be done on the values</a:t>
            </a:r>
            <a:endParaRPr/>
          </a:p>
        </p:txBody>
      </p:sp>
      <p:sp>
        <p:nvSpPr>
          <p:cNvPr id="111" name="Google Shape;111;p3"/>
          <p:cNvSpPr/>
          <p:nvPr>
            <p:ph idx="2" type="body"/>
          </p:nvPr>
        </p:nvSpPr>
        <p:spPr>
          <a:xfrm>
            <a:off x="533400" y="3352800"/>
            <a:ext cx="8229600" cy="1219200"/>
          </a:xfrm>
          <a:prstGeom prst="roundRect">
            <a:avLst>
              <a:gd fmla="val 7653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User of an abstract data type does not need to know the implementation of the data type, e.g., how the data is stored</a:t>
            </a:r>
            <a:endParaRPr/>
          </a:p>
        </p:txBody>
      </p:sp>
      <p:sp>
        <p:nvSpPr>
          <p:cNvPr id="112" name="Google Shape;11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 Data Types</a:t>
            </a:r>
            <a:endParaRPr/>
          </a:p>
        </p:txBody>
      </p:sp>
      <p:sp>
        <p:nvSpPr>
          <p:cNvPr id="113" name="Google Shape;113;p3"/>
          <p:cNvSpPr/>
          <p:nvPr>
            <p:ph idx="2" type="body"/>
          </p:nvPr>
        </p:nvSpPr>
        <p:spPr>
          <a:xfrm>
            <a:off x="541774" y="4800600"/>
            <a:ext cx="8229600" cy="762000"/>
          </a:xfrm>
          <a:prstGeom prst="roundRect">
            <a:avLst>
              <a:gd fmla="val 7653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ADTs are created by programmers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>
            <p:ph idx="1" type="body"/>
          </p:nvPr>
        </p:nvSpPr>
        <p:spPr>
          <a:xfrm>
            <a:off x="533400" y="1371600"/>
            <a:ext cx="8229600" cy="1752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b="1" lang="en-GB" u="sng"/>
              <a:t>Abstraction</a:t>
            </a:r>
            <a:r>
              <a:rPr lang="en-GB"/>
              <a:t>: a definition that captures general characteristics without details.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Ex: An abstract triangle is a 3-sided polygon.  A specific triangle may be scalene, isosceles, or equilateral</a:t>
            </a:r>
            <a:endParaRPr/>
          </a:p>
        </p:txBody>
      </p:sp>
      <p:sp>
        <p:nvSpPr>
          <p:cNvPr id="119" name="Google Shape;119;p4"/>
          <p:cNvSpPr/>
          <p:nvPr>
            <p:ph idx="2" type="body"/>
          </p:nvPr>
        </p:nvSpPr>
        <p:spPr>
          <a:xfrm>
            <a:off x="533400" y="3352800"/>
            <a:ext cx="8229600" cy="1219200"/>
          </a:xfrm>
          <a:prstGeom prst="roundRect">
            <a:avLst>
              <a:gd fmla="val 7653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b="1" lang="en-GB" u="sng"/>
              <a:t>Data Type</a:t>
            </a:r>
            <a:r>
              <a:rPr lang="en-GB"/>
              <a:t>: defines the values that can be stored in a variable and the operations that can be performed on it</a:t>
            </a:r>
            <a:endParaRPr/>
          </a:p>
        </p:txBody>
      </p:sp>
      <p:sp>
        <p:nvSpPr>
          <p:cNvPr id="120" name="Google Shape;12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Abstraction and Data 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Combining Data into Structures</a:t>
            </a: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>
            <p:ph idx="1" type="body"/>
          </p:nvPr>
        </p:nvSpPr>
        <p:spPr>
          <a:xfrm>
            <a:off x="533400" y="1371600"/>
            <a:ext cx="8229600" cy="1219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Structure: C++ construct that allows </a:t>
            </a:r>
            <a:r>
              <a:rPr b="1" lang="en-GB" u="sng"/>
              <a:t>multiple variables</a:t>
            </a:r>
            <a:r>
              <a:rPr lang="en-GB"/>
              <a:t> to be </a:t>
            </a:r>
            <a:r>
              <a:rPr b="1" lang="en-GB" u="sng"/>
              <a:t>grouped together</a:t>
            </a:r>
            <a:r>
              <a:rPr lang="en-GB"/>
              <a:t>.</a:t>
            </a:r>
            <a:endParaRPr/>
          </a:p>
        </p:txBody>
      </p:sp>
      <p:sp>
        <p:nvSpPr>
          <p:cNvPr id="132" name="Google Shape;132;p6"/>
          <p:cNvSpPr/>
          <p:nvPr>
            <p:ph idx="2" type="body"/>
          </p:nvPr>
        </p:nvSpPr>
        <p:spPr>
          <a:xfrm>
            <a:off x="533400" y="2743200"/>
            <a:ext cx="8229600" cy="3429000"/>
          </a:xfrm>
          <a:prstGeom prst="roundRect">
            <a:avLst>
              <a:gd fmla="val 7653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General format:</a:t>
            </a:r>
            <a:endParaRPr/>
          </a:p>
          <a:p>
            <a:pPr indent="0" lvl="1" marL="71278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struct &lt;</a:t>
            </a:r>
            <a:r>
              <a:rPr b="1" i="1" lang="en-GB" sz="2200">
                <a:latin typeface="Courier New"/>
                <a:ea typeface="Courier New"/>
                <a:cs typeface="Courier New"/>
                <a:sym typeface="Courier New"/>
              </a:rPr>
              <a:t>structName</a:t>
            </a: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/>
          </a:p>
          <a:p>
            <a:pPr indent="0" lvl="1" marL="71278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1" marL="71278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1" lang="en-GB" sz="2200">
                <a:latin typeface="Courier New"/>
                <a:ea typeface="Courier New"/>
                <a:cs typeface="Courier New"/>
                <a:sym typeface="Courier New"/>
              </a:rPr>
              <a:t>type1 field1</a:t>
            </a: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1" marL="71278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1" lang="en-GB" sz="2200">
                <a:latin typeface="Courier New"/>
                <a:ea typeface="Courier New"/>
                <a:cs typeface="Courier New"/>
                <a:sym typeface="Courier New"/>
              </a:rPr>
              <a:t>type2 field2</a:t>
            </a: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1" marL="71278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	. . .</a:t>
            </a:r>
            <a:endParaRPr/>
          </a:p>
          <a:p>
            <a:pPr indent="0" lvl="1" marL="71278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Structures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Example: struct Declaration</a:t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457200" y="1600200"/>
            <a:ext cx="8077200" cy="3016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struct 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int studentID;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string name;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short yearInSchool;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double gpa;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1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966608" y="1828800"/>
            <a:ext cx="1805792" cy="463846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Structure 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7"/>
          <p:cNvCxnSpPr/>
          <p:nvPr/>
        </p:nvCxnSpPr>
        <p:spPr>
          <a:xfrm rot="10800000">
            <a:off x="3352800" y="2057400"/>
            <a:ext cx="2438399" cy="0"/>
          </a:xfrm>
          <a:prstGeom prst="straightConnector1">
            <a:avLst/>
          </a:prstGeom>
          <a:noFill/>
          <a:ln cap="flat" cmpd="sng" w="22225">
            <a:solidFill>
              <a:srgbClr val="FFFF00"/>
            </a:solidFill>
            <a:prstDash val="solid"/>
            <a:miter lim="800000"/>
            <a:headEnd len="sm" w="sm" type="none"/>
            <a:tailEnd len="lg" w="lg" type="triangle"/>
          </a:ln>
        </p:spPr>
      </p:cxnSp>
      <p:sp>
        <p:nvSpPr>
          <p:cNvPr id="142" name="Google Shape;142;p7"/>
          <p:cNvSpPr txBox="1"/>
          <p:nvPr/>
        </p:nvSpPr>
        <p:spPr>
          <a:xfrm>
            <a:off x="5966608" y="2900622"/>
            <a:ext cx="1719262" cy="83317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Structure members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562600" y="2514601"/>
            <a:ext cx="152400" cy="1519865"/>
          </a:xfrm>
          <a:prstGeom prst="rightBrace">
            <a:avLst>
              <a:gd fmla="val 51849" name="adj1"/>
              <a:gd fmla="val 53297" name="adj2"/>
            </a:avLst>
          </a:prstGeom>
          <a:noFill/>
          <a:ln cap="flat" cmpd="sng" w="222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struct Declaration Notes</a:t>
            </a:r>
            <a:endParaRPr/>
          </a:p>
        </p:txBody>
      </p:sp>
      <p:sp>
        <p:nvSpPr>
          <p:cNvPr id="149" name="Google Shape;149;p8"/>
          <p:cNvSpPr/>
          <p:nvPr>
            <p:ph idx="1" type="body"/>
          </p:nvPr>
        </p:nvSpPr>
        <p:spPr>
          <a:xfrm>
            <a:off x="457200" y="1529154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Must have </a:t>
            </a:r>
            <a:r>
              <a:rPr b="1" lang="en-GB"/>
              <a:t>;</a:t>
            </a:r>
            <a:r>
              <a:rPr lang="en-GB"/>
              <a:t> after closing  </a:t>
            </a:r>
            <a:r>
              <a:rPr b="1" lang="en-GB"/>
              <a:t>}</a:t>
            </a:r>
            <a:r>
              <a:rPr lang="en-GB"/>
              <a:t>.</a:t>
            </a:r>
            <a:endParaRPr/>
          </a:p>
        </p:txBody>
      </p:sp>
      <p:sp>
        <p:nvSpPr>
          <p:cNvPr id="150" name="Google Shape;150;p8"/>
          <p:cNvSpPr/>
          <p:nvPr>
            <p:ph idx="2" type="body"/>
          </p:nvPr>
        </p:nvSpPr>
        <p:spPr>
          <a:xfrm>
            <a:off x="455645" y="2514600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struct names commonly begin with </a:t>
            </a:r>
            <a:r>
              <a:rPr b="1" lang="en-GB" u="sng"/>
              <a:t>uppercase letter</a:t>
            </a:r>
            <a:r>
              <a:rPr lang="en-GB"/>
              <a:t>.</a:t>
            </a:r>
            <a:endParaRPr/>
          </a:p>
        </p:txBody>
      </p:sp>
      <p:sp>
        <p:nvSpPr>
          <p:cNvPr id="151" name="Google Shape;151;p8"/>
          <p:cNvSpPr/>
          <p:nvPr>
            <p:ph idx="3" type="body"/>
          </p:nvPr>
        </p:nvSpPr>
        <p:spPr>
          <a:xfrm>
            <a:off x="455645" y="3505200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Multiple fields of same type can be in comma-separated list:</a:t>
            </a:r>
            <a:endParaRPr/>
          </a:p>
          <a:p>
            <a:pPr indent="0" lvl="1" marL="712788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string name, address;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8"/>
          <p:cNvSpPr/>
          <p:nvPr>
            <p:ph idx="4" type="body"/>
          </p:nvPr>
        </p:nvSpPr>
        <p:spPr>
          <a:xfrm>
            <a:off x="455645" y="4495800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struct declaration </a:t>
            </a:r>
            <a:r>
              <a:rPr b="1" lang="en-GB" u="sng"/>
              <a:t>does not</a:t>
            </a:r>
            <a:r>
              <a:rPr lang="en-GB"/>
              <a:t> allocate memory or create variables.</a:t>
            </a:r>
            <a:endParaRPr/>
          </a:p>
        </p:txBody>
      </p:sp>
      <p:sp>
        <p:nvSpPr>
          <p:cNvPr id="153" name="Google Shape;153;p8"/>
          <p:cNvSpPr/>
          <p:nvPr>
            <p:ph idx="5" type="body"/>
          </p:nvPr>
        </p:nvSpPr>
        <p:spPr>
          <a:xfrm>
            <a:off x="455645" y="5502679"/>
            <a:ext cx="8229600" cy="9144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To define variables, use structure tag as type name:</a:t>
            </a:r>
            <a:endParaRPr/>
          </a:p>
          <a:p>
            <a:pPr indent="0" lvl="0" marL="712788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lang="en-GB" sz="2200">
                <a:latin typeface="Courier New"/>
                <a:ea typeface="Courier New"/>
                <a:cs typeface="Courier New"/>
                <a:sym typeface="Courier New"/>
              </a:rPr>
              <a:t>Student bill;</a:t>
            </a:r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2438400" y="228600"/>
            <a:ext cx="594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Defining Variables</a:t>
            </a:r>
            <a:endParaRPr/>
          </a:p>
        </p:txBody>
      </p:sp>
      <p:sp>
        <p:nvSpPr>
          <p:cNvPr id="159" name="Google Shape;159;p9"/>
          <p:cNvSpPr/>
          <p:nvPr>
            <p:ph idx="1" type="body"/>
          </p:nvPr>
        </p:nvSpPr>
        <p:spPr>
          <a:xfrm>
            <a:off x="457200" y="1342279"/>
            <a:ext cx="8229600" cy="9906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lang="en-GB"/>
              <a:t>declaration does not allocate memory or create variables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2514600" y="3742953"/>
            <a:ext cx="4267200" cy="2643981"/>
          </a:xfrm>
          <a:prstGeom prst="roundRect">
            <a:avLst>
              <a:gd fmla="val 9848" name="adj"/>
            </a:avLst>
          </a:prstGeom>
          <a:solidFill>
            <a:srgbClr val="B7CCE4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>
            <p:ph idx="2" type="body"/>
          </p:nvPr>
        </p:nvSpPr>
        <p:spPr>
          <a:xfrm>
            <a:off x="457200" y="2512989"/>
            <a:ext cx="8229600" cy="1026599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To define variables, use structure tag as type name: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	Student bill;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2895600" y="4243388"/>
            <a:ext cx="3505200" cy="200501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2930456" y="4276405"/>
            <a:ext cx="1552575" cy="39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studentID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2957512" y="4735513"/>
            <a:ext cx="790575" cy="39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2973387" y="5157788"/>
            <a:ext cx="2009775" cy="39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yearInSchool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2957512" y="5726113"/>
            <a:ext cx="638175" cy="39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572000" y="4319588"/>
            <a:ext cx="1143000" cy="27655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733800" y="4776788"/>
            <a:ext cx="2057400" cy="27655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953000" y="5157788"/>
            <a:ext cx="838200" cy="27655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581400" y="5767388"/>
            <a:ext cx="1600200" cy="276553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2857701" y="3804902"/>
            <a:ext cx="790575" cy="39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bill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Accessing Structure Members</a:t>
            </a:r>
            <a:br>
              <a:rPr lang="en-GB" cap="none"/>
            </a:b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177" name="Google Shape;177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Accessing Structure Members</a:t>
            </a:r>
            <a:endParaRPr/>
          </a:p>
        </p:txBody>
      </p:sp>
      <p:sp>
        <p:nvSpPr>
          <p:cNvPr id="183" name="Google Shape;183;p11"/>
          <p:cNvSpPr/>
          <p:nvPr>
            <p:ph idx="1" type="body"/>
          </p:nvPr>
        </p:nvSpPr>
        <p:spPr>
          <a:xfrm>
            <a:off x="457200" y="1524000"/>
            <a:ext cx="8229600" cy="2514600"/>
          </a:xfrm>
          <a:prstGeom prst="roundRect">
            <a:avLst>
              <a:gd fmla="val 15130" name="adj"/>
            </a:avLst>
          </a:prstGeom>
          <a:solidFill>
            <a:srgbClr val="0070C0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Use the dot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(.)</a:t>
            </a:r>
            <a:r>
              <a:rPr lang="en-GB"/>
              <a:t> operator to refer to members of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GB"/>
              <a:t> variables: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cin &gt;&gt; stu1.studentID;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GB"/>
              <a:t>	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getline(cin, stu1.name);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CC"/>
              </a:buClr>
              <a:buSzPts val="2000"/>
              <a:buFont typeface="Arial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	stu1.gpa = 3.75;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11"/>
          <p:cNvSpPr/>
          <p:nvPr>
            <p:ph idx="2" type="body"/>
          </p:nvPr>
        </p:nvSpPr>
        <p:spPr>
          <a:xfrm>
            <a:off x="475445" y="4267200"/>
            <a:ext cx="8229600" cy="1219200"/>
          </a:xfrm>
          <a:prstGeom prst="roundRect">
            <a:avLst>
              <a:gd fmla="val 27723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General Format: Member variables can be used in any manner appropriate for their data type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1981200" y="152400"/>
            <a:ext cx="716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Accessing Structure Members - Example</a:t>
            </a:r>
            <a:endParaRPr/>
          </a:p>
        </p:txBody>
      </p:sp>
      <p:pic>
        <p:nvPicPr>
          <p:cNvPr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447800"/>
            <a:ext cx="7940675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1981200" y="152400"/>
            <a:ext cx="716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Program 11-1 (Continued)</a:t>
            </a:r>
            <a:endParaRPr/>
          </a:p>
        </p:txBody>
      </p:sp>
      <p:pic>
        <p:nvPicPr>
          <p:cNvPr id="196" name="Google Shape;1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295400"/>
            <a:ext cx="6629400" cy="5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type="title"/>
          </p:nvPr>
        </p:nvSpPr>
        <p:spPr>
          <a:xfrm>
            <a:off x="1981200" y="152400"/>
            <a:ext cx="716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Program 11-1 (Continued)</a:t>
            </a:r>
            <a:endParaRPr/>
          </a:p>
        </p:txBody>
      </p:sp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219200"/>
            <a:ext cx="6553200" cy="4986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Displaying a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GB"/>
              <a:t> Variable</a:t>
            </a:r>
            <a:endParaRPr/>
          </a:p>
        </p:txBody>
      </p:sp>
      <p:sp>
        <p:nvSpPr>
          <p:cNvPr id="208" name="Google Shape;208;p15"/>
          <p:cNvSpPr/>
          <p:nvPr>
            <p:ph idx="2" type="body"/>
          </p:nvPr>
        </p:nvSpPr>
        <p:spPr>
          <a:xfrm>
            <a:off x="381000" y="1447800"/>
            <a:ext cx="8229600" cy="32004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To display the contents of a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GB"/>
              <a:t> variable, must display each field separately, using the dot operator: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cout &lt;&lt; bill; // won’t work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cout &lt;&lt; bill.studentID &lt;&lt; endl;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cout &lt;&lt; bill.name &lt;&lt; endl;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cout &lt;&lt; bill.yearInSchool;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cout &lt;&lt; " " &lt;&lt; bill.gpa;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Comparing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GB"/>
              <a:t> Variables</a:t>
            </a:r>
            <a:endParaRPr/>
          </a:p>
        </p:txBody>
      </p:sp>
      <p:sp>
        <p:nvSpPr>
          <p:cNvPr id="214" name="Google Shape;214;p16"/>
          <p:cNvSpPr/>
          <p:nvPr>
            <p:ph idx="1" type="body"/>
          </p:nvPr>
        </p:nvSpPr>
        <p:spPr>
          <a:xfrm>
            <a:off x="457200" y="1524000"/>
            <a:ext cx="8229600" cy="1676400"/>
          </a:xfrm>
          <a:prstGeom prst="roundRect">
            <a:avLst>
              <a:gd fmla="val 15130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Cannot compare struct variables directly: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if (bill == william)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// won’t work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" name="Google Shape;215;p16"/>
          <p:cNvSpPr/>
          <p:nvPr>
            <p:ph idx="2" type="body"/>
          </p:nvPr>
        </p:nvSpPr>
        <p:spPr>
          <a:xfrm>
            <a:off x="459346" y="3505200"/>
            <a:ext cx="8229600" cy="1905000"/>
          </a:xfrm>
          <a:prstGeom prst="roundRect">
            <a:avLst>
              <a:gd fmla="val 18258" name="adj"/>
            </a:avLst>
          </a:prstGeom>
          <a:solidFill>
            <a:schemeClr val="accent6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Instead, must compare on a field basis: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if (bill.studentID == 	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	william.studentID) ...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Initializing a Structure</a:t>
            </a:r>
            <a:br>
              <a:rPr lang="en-GB" cap="none"/>
            </a:b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221" name="Google Shape;221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Initializing a Structure</a:t>
            </a:r>
            <a:endParaRPr/>
          </a:p>
        </p:txBody>
      </p:sp>
      <p:sp>
        <p:nvSpPr>
          <p:cNvPr id="227" name="Google Shape;227;p18"/>
          <p:cNvSpPr/>
          <p:nvPr>
            <p:ph idx="1" type="body"/>
          </p:nvPr>
        </p:nvSpPr>
        <p:spPr>
          <a:xfrm>
            <a:off x="457200" y="1524000"/>
            <a:ext cx="8229600" cy="1676400"/>
          </a:xfrm>
          <a:prstGeom prst="roundRect">
            <a:avLst>
              <a:gd fmla="val 15130" name="adj"/>
            </a:avLst>
          </a:prstGeom>
          <a:solidFill>
            <a:schemeClr val="accen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 variable can be initialized when defined: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Student s = {11465, "Joan", 2, 3.75};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8" name="Google Shape;228;p18"/>
          <p:cNvSpPr/>
          <p:nvPr>
            <p:ph idx="2" type="body"/>
          </p:nvPr>
        </p:nvSpPr>
        <p:spPr>
          <a:xfrm>
            <a:off x="459346" y="3505200"/>
            <a:ext cx="8229600" cy="2057400"/>
          </a:xfrm>
          <a:prstGeom prst="roundRect">
            <a:avLst>
              <a:gd fmla="val 18258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Can also be initialized member-by-member after definition: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s.name = "Joan";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s.gpa = 3.75;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>
            <p:ph type="title"/>
          </p:nvPr>
        </p:nvSpPr>
        <p:spPr>
          <a:xfrm>
            <a:off x="2057400" y="228600"/>
            <a:ext cx="7010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More on Initializing a Structure</a:t>
            </a:r>
            <a:endParaRPr/>
          </a:p>
        </p:txBody>
      </p:sp>
      <p:sp>
        <p:nvSpPr>
          <p:cNvPr id="234" name="Google Shape;234;p19"/>
          <p:cNvSpPr/>
          <p:nvPr>
            <p:ph idx="1" type="body"/>
          </p:nvPr>
        </p:nvSpPr>
        <p:spPr>
          <a:xfrm>
            <a:off x="457200" y="1524000"/>
            <a:ext cx="8229600" cy="1066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May initialize only some members: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Student bill = {14579};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19"/>
          <p:cNvSpPr/>
          <p:nvPr>
            <p:ph idx="2" type="body"/>
          </p:nvPr>
        </p:nvSpPr>
        <p:spPr>
          <a:xfrm>
            <a:off x="457200" y="2819400"/>
            <a:ext cx="8229600" cy="1524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Cannot skip over members: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Student s = {1234, "John", 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	 2.83}; // illegal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" name="Google Shape;236;p19"/>
          <p:cNvSpPr/>
          <p:nvPr>
            <p:ph idx="3" type="body"/>
          </p:nvPr>
        </p:nvSpPr>
        <p:spPr>
          <a:xfrm>
            <a:off x="457200" y="4572000"/>
            <a:ext cx="8229600" cy="1193443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Cannot initialize in the structure declaration, since this does not allocate memory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 txBox="1"/>
          <p:nvPr>
            <p:ph type="title"/>
          </p:nvPr>
        </p:nvSpPr>
        <p:spPr>
          <a:xfrm>
            <a:off x="1676400" y="108937"/>
            <a:ext cx="716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Example 1</a:t>
            </a:r>
            <a:endParaRPr/>
          </a:p>
        </p:txBody>
      </p:sp>
      <p:grpSp>
        <p:nvGrpSpPr>
          <p:cNvPr id="242" name="Google Shape;242;p20"/>
          <p:cNvGrpSpPr/>
          <p:nvPr/>
        </p:nvGrpSpPr>
        <p:grpSpPr>
          <a:xfrm>
            <a:off x="381000" y="1600200"/>
            <a:ext cx="7543801" cy="3352876"/>
            <a:chOff x="986" y="1344"/>
            <a:chExt cx="4752" cy="2016"/>
          </a:xfrm>
        </p:grpSpPr>
        <p:pic>
          <p:nvPicPr>
            <p:cNvPr id="243" name="Google Shape;243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86" y="1344"/>
              <a:ext cx="3905" cy="1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0" y="3036"/>
              <a:ext cx="4708" cy="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Array of Structures</a:t>
            </a:r>
            <a:br>
              <a:rPr lang="en-GB" cap="none"/>
            </a:b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250" name="Google Shape;250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>
            <p:ph type="title"/>
          </p:nvPr>
        </p:nvSpPr>
        <p:spPr>
          <a:xfrm>
            <a:off x="2895600" y="109527"/>
            <a:ext cx="46482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Arrays of Structures</a:t>
            </a:r>
            <a:endParaRPr/>
          </a:p>
        </p:txBody>
      </p:sp>
      <p:sp>
        <p:nvSpPr>
          <p:cNvPr id="256" name="Google Shape;256;p22"/>
          <p:cNvSpPr/>
          <p:nvPr>
            <p:ph idx="1" type="body"/>
          </p:nvPr>
        </p:nvSpPr>
        <p:spPr>
          <a:xfrm>
            <a:off x="457200" y="1524000"/>
            <a:ext cx="8229600" cy="756846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Structures can be defined in arrays</a:t>
            </a:r>
            <a:endParaRPr/>
          </a:p>
        </p:txBody>
      </p:sp>
      <p:sp>
        <p:nvSpPr>
          <p:cNvPr id="257" name="Google Shape;257;p22"/>
          <p:cNvSpPr/>
          <p:nvPr>
            <p:ph idx="2" type="body"/>
          </p:nvPr>
        </p:nvSpPr>
        <p:spPr>
          <a:xfrm>
            <a:off x="463639" y="2466835"/>
            <a:ext cx="8229600" cy="1300554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be used in place of parallel arrays</a:t>
            </a:r>
            <a:br>
              <a:rPr lang="en-GB"/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const int NUM_STUDENTS = 20;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Student stuList[NUM_STUDENTS];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8" name="Google Shape;258;p22"/>
          <p:cNvSpPr/>
          <p:nvPr>
            <p:ph idx="3" type="body"/>
          </p:nvPr>
        </p:nvSpPr>
        <p:spPr>
          <a:xfrm>
            <a:off x="457200" y="3920756"/>
            <a:ext cx="8229600" cy="609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Individual structures accessible using subscript notation</a:t>
            </a:r>
            <a:endParaRPr/>
          </a:p>
        </p:txBody>
      </p:sp>
      <p:sp>
        <p:nvSpPr>
          <p:cNvPr id="259" name="Google Shape;259;p22"/>
          <p:cNvSpPr/>
          <p:nvPr>
            <p:ph idx="4" type="body"/>
          </p:nvPr>
        </p:nvSpPr>
        <p:spPr>
          <a:xfrm>
            <a:off x="457200" y="4683723"/>
            <a:ext cx="8229600" cy="1107801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Fields within structures accessible using dot notation: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cout &lt;&lt; stuList[5].studentID;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type="title"/>
          </p:nvPr>
        </p:nvSpPr>
        <p:spPr>
          <a:xfrm>
            <a:off x="1981200" y="152400"/>
            <a:ext cx="716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Arrays of Structures-Example</a:t>
            </a:r>
            <a:endParaRPr/>
          </a:p>
        </p:txBody>
      </p:sp>
      <p:pic>
        <p:nvPicPr>
          <p:cNvPr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371600"/>
            <a:ext cx="7396162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 txBox="1"/>
          <p:nvPr>
            <p:ph type="title"/>
          </p:nvPr>
        </p:nvSpPr>
        <p:spPr>
          <a:xfrm>
            <a:off x="1981200" y="1524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Arrays of Structures- Example</a:t>
            </a:r>
            <a:endParaRPr/>
          </a:p>
        </p:txBody>
      </p:sp>
      <p:pic>
        <p:nvPicPr>
          <p:cNvPr id="271" name="Google Shape;27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793124"/>
            <a:ext cx="6005584" cy="5768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>
            <p:ph type="title"/>
          </p:nvPr>
        </p:nvSpPr>
        <p:spPr>
          <a:xfrm>
            <a:off x="1981200" y="1524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Arrays of Structures- Example</a:t>
            </a:r>
            <a:endParaRPr/>
          </a:p>
        </p:txBody>
      </p:sp>
      <p:pic>
        <p:nvPicPr>
          <p:cNvPr id="277" name="Google Shape;2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524000"/>
            <a:ext cx="6937375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Nested Structures</a:t>
            </a:r>
            <a:br>
              <a:rPr lang="en-GB" cap="none"/>
            </a:b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283" name="Google Shape;283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Nested Structures</a:t>
            </a:r>
            <a:endParaRPr/>
          </a:p>
        </p:txBody>
      </p:sp>
      <p:sp>
        <p:nvSpPr>
          <p:cNvPr id="289" name="Google Shape;289;p27"/>
          <p:cNvSpPr/>
          <p:nvPr>
            <p:ph idx="2" type="body"/>
          </p:nvPr>
        </p:nvSpPr>
        <p:spPr>
          <a:xfrm>
            <a:off x="533400" y="1066800"/>
            <a:ext cx="8077200" cy="5257800"/>
          </a:xfrm>
          <a:prstGeom prst="roundRect">
            <a:avLst>
              <a:gd fmla="val 7653" name="adj"/>
            </a:avLst>
          </a:prstGeom>
          <a:solidFill>
            <a:srgbClr val="D6E3B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A structure can contain another structure as a member: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PersonInfo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{   	string name,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  address,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  city;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struct Student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{	int studentID;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PersonInfo pData;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short yearInSchool;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double gpa;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};		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Members of Nested Structures</a:t>
            </a:r>
            <a:endParaRPr/>
          </a:p>
        </p:txBody>
      </p:sp>
      <p:sp>
        <p:nvSpPr>
          <p:cNvPr id="295" name="Google Shape;295;p28"/>
          <p:cNvSpPr/>
          <p:nvPr>
            <p:ph idx="2" type="body"/>
          </p:nvPr>
        </p:nvSpPr>
        <p:spPr>
          <a:xfrm>
            <a:off x="457200" y="1676400"/>
            <a:ext cx="8229600" cy="2895600"/>
          </a:xfrm>
          <a:prstGeom prst="roundRect">
            <a:avLst>
              <a:gd fmla="val 7653" name="adj"/>
            </a:avLst>
          </a:prstGeom>
          <a:solidFill>
            <a:srgbClr val="C5D8F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>
                <a:solidFill>
                  <a:schemeClr val="dk1"/>
                </a:solidFill>
              </a:rPr>
              <a:t>	Use the dot operator multiple times to refer to fields of nested structures: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 s;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s.pData.name = "Joanne";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s.pData.city = "Tulsa";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Structures as Function Arguments</a:t>
            </a:r>
            <a:br>
              <a:rPr lang="en-GB" cap="none"/>
            </a:b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301" name="Google Shape;301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1143000" y="443187"/>
            <a:ext cx="73152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Structures as Function Arguments</a:t>
            </a:r>
            <a:endParaRPr/>
          </a:p>
        </p:txBody>
      </p:sp>
      <p:sp>
        <p:nvSpPr>
          <p:cNvPr id="307" name="Google Shape;307;p30"/>
          <p:cNvSpPr/>
          <p:nvPr>
            <p:ph idx="1" type="body"/>
          </p:nvPr>
        </p:nvSpPr>
        <p:spPr>
          <a:xfrm>
            <a:off x="533400" y="1600200"/>
            <a:ext cx="8229600" cy="1163274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May pass members of  struct variables to functions: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computeGPA(stu.gpa);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" name="Google Shape;308;p30"/>
          <p:cNvSpPr/>
          <p:nvPr>
            <p:ph idx="2" type="body"/>
          </p:nvPr>
        </p:nvSpPr>
        <p:spPr>
          <a:xfrm>
            <a:off x="517301" y="2924035"/>
            <a:ext cx="8229600" cy="1114565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May pass entire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GB"/>
              <a:t> variables to functions: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showData(stu);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" name="Google Shape;309;p30"/>
          <p:cNvSpPr/>
          <p:nvPr>
            <p:ph idx="3" type="body"/>
          </p:nvPr>
        </p:nvSpPr>
        <p:spPr>
          <a:xfrm>
            <a:off x="517301" y="4204740"/>
            <a:ext cx="8229600" cy="1032244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use reference parameter if function needs to modify contents of structure variable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1676400" y="1524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Example 2</a:t>
            </a:r>
            <a:endParaRPr/>
          </a:p>
        </p:txBody>
      </p:sp>
      <p:grpSp>
        <p:nvGrpSpPr>
          <p:cNvPr id="315" name="Google Shape;315;p31"/>
          <p:cNvGrpSpPr/>
          <p:nvPr/>
        </p:nvGrpSpPr>
        <p:grpSpPr>
          <a:xfrm>
            <a:off x="457200" y="1676400"/>
            <a:ext cx="6345238" cy="4183062"/>
            <a:chOff x="1519" y="992"/>
            <a:chExt cx="3997" cy="2635"/>
          </a:xfrm>
        </p:grpSpPr>
        <p:pic>
          <p:nvPicPr>
            <p:cNvPr id="316" name="Google Shape;316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19" y="992"/>
              <a:ext cx="3879" cy="12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31" y="2463"/>
              <a:ext cx="3985" cy="116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>
            <p:ph type="title"/>
          </p:nvPr>
        </p:nvSpPr>
        <p:spPr>
          <a:xfrm>
            <a:off x="2086377" y="157421"/>
            <a:ext cx="6629400" cy="1109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Structures as Function Arguments - Notes</a:t>
            </a:r>
            <a:endParaRPr/>
          </a:p>
        </p:txBody>
      </p:sp>
      <p:sp>
        <p:nvSpPr>
          <p:cNvPr id="323" name="Google Shape;323;p32"/>
          <p:cNvSpPr/>
          <p:nvPr>
            <p:ph idx="1" type="body"/>
          </p:nvPr>
        </p:nvSpPr>
        <p:spPr>
          <a:xfrm>
            <a:off x="502276" y="1905000"/>
            <a:ext cx="8229600" cy="1163274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Using value parameter for structure can slow down a program, waste space</a:t>
            </a:r>
            <a:endParaRPr/>
          </a:p>
        </p:txBody>
      </p:sp>
      <p:sp>
        <p:nvSpPr>
          <p:cNvPr id="324" name="Google Shape;324;p32"/>
          <p:cNvSpPr/>
          <p:nvPr>
            <p:ph idx="2" type="body"/>
          </p:nvPr>
        </p:nvSpPr>
        <p:spPr>
          <a:xfrm>
            <a:off x="486177" y="3228835"/>
            <a:ext cx="8229600" cy="1114565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Using a reference parameter will speed up program, but function may change data in structure</a:t>
            </a:r>
            <a:endParaRPr/>
          </a:p>
        </p:txBody>
      </p:sp>
      <p:sp>
        <p:nvSpPr>
          <p:cNvPr id="325" name="Google Shape;325;p32"/>
          <p:cNvSpPr/>
          <p:nvPr>
            <p:ph idx="3" type="body"/>
          </p:nvPr>
        </p:nvSpPr>
        <p:spPr>
          <a:xfrm>
            <a:off x="486177" y="4509540"/>
            <a:ext cx="8229600" cy="135786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Using a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/>
              <a:t> reference parameter allows read-only access to reference parameter, does not waste space, speed up program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3"/>
          <p:cNvSpPr txBox="1"/>
          <p:nvPr>
            <p:ph type="title"/>
          </p:nvPr>
        </p:nvSpPr>
        <p:spPr>
          <a:xfrm>
            <a:off x="1981200" y="3048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Revised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showItem</a:t>
            </a:r>
            <a:r>
              <a:rPr lang="en-GB"/>
              <a:t> Function</a:t>
            </a:r>
            <a:endParaRPr/>
          </a:p>
        </p:txBody>
      </p:sp>
      <p:pic>
        <p:nvPicPr>
          <p:cNvPr id="331" name="Google Shape;3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981200"/>
            <a:ext cx="7543800" cy="23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Returning a Structure from a Function</a:t>
            </a:r>
            <a:br>
              <a:rPr lang="en-GB" cap="none"/>
            </a:b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337" name="Google Shape;337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 txBox="1"/>
          <p:nvPr>
            <p:ph type="title"/>
          </p:nvPr>
        </p:nvSpPr>
        <p:spPr>
          <a:xfrm>
            <a:off x="1676400" y="762000"/>
            <a:ext cx="6629400" cy="1109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Returning a Structure from a Function</a:t>
            </a:r>
            <a:endParaRPr/>
          </a:p>
        </p:txBody>
      </p:sp>
      <p:sp>
        <p:nvSpPr>
          <p:cNvPr id="343" name="Google Shape;343;p35"/>
          <p:cNvSpPr/>
          <p:nvPr>
            <p:ph idx="1" type="body"/>
          </p:nvPr>
        </p:nvSpPr>
        <p:spPr>
          <a:xfrm>
            <a:off x="502276" y="2166799"/>
            <a:ext cx="8229600" cy="163504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Function can return a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GB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Student getStudentData();  // prototype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	stu1 = getStudentData();   // call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4" name="Google Shape;344;p35"/>
          <p:cNvSpPr/>
          <p:nvPr>
            <p:ph idx="2" type="body"/>
          </p:nvPr>
        </p:nvSpPr>
        <p:spPr>
          <a:xfrm>
            <a:off x="486177" y="3962400"/>
            <a:ext cx="8229600" cy="1419365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Function must define a local structure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for internal use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for use with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GB"/>
              <a:t> statement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/>
          <p:nvPr>
            <p:ph type="title"/>
          </p:nvPr>
        </p:nvSpPr>
        <p:spPr>
          <a:xfrm>
            <a:off x="2286000" y="152400"/>
            <a:ext cx="647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Returning a Structure from a Function - Example</a:t>
            </a:r>
            <a:endParaRPr/>
          </a:p>
        </p:txBody>
      </p:sp>
      <p:sp>
        <p:nvSpPr>
          <p:cNvPr id="350" name="Google Shape;350;p36"/>
          <p:cNvSpPr txBox="1"/>
          <p:nvPr/>
        </p:nvSpPr>
        <p:spPr>
          <a:xfrm>
            <a:off x="457200" y="1676400"/>
            <a:ext cx="8305800" cy="4484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Student getStudentData()‏</a:t>
            </a:r>
            <a:endParaRPr b="0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{	  Student tempStu;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cin &gt;&gt; tempStu.studentID;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getline(cin, tempStu.pData.name);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  getline(cin, tempStu.pData.address);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getline(cin, tempStu.pData.city);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cin &gt;&gt; tempStu.yearInSchool;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cin &gt;&gt; tempStu.gpa;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GB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return tempStu;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/>
          <p:nvPr>
            <p:ph type="title"/>
          </p:nvPr>
        </p:nvSpPr>
        <p:spPr>
          <a:xfrm>
            <a:off x="1981200" y="0"/>
            <a:ext cx="7162800" cy="110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Returning a Structure from a Function - Example</a:t>
            </a:r>
            <a:endParaRPr/>
          </a:p>
        </p:txBody>
      </p:sp>
      <p:pic>
        <p:nvPicPr>
          <p:cNvPr id="356" name="Google Shape;3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399" y="1103312"/>
            <a:ext cx="6514709" cy="537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8"/>
          <p:cNvSpPr txBox="1"/>
          <p:nvPr>
            <p:ph type="title"/>
          </p:nvPr>
        </p:nvSpPr>
        <p:spPr>
          <a:xfrm>
            <a:off x="1981200" y="0"/>
            <a:ext cx="7162800" cy="110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Program 11-8 (Continued)‏</a:t>
            </a:r>
            <a:endParaRPr/>
          </a:p>
        </p:txBody>
      </p:sp>
      <p:pic>
        <p:nvPicPr>
          <p:cNvPr id="362" name="Google Shape;36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676400"/>
            <a:ext cx="8378224" cy="408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9"/>
          <p:cNvSpPr txBox="1"/>
          <p:nvPr>
            <p:ph type="title"/>
          </p:nvPr>
        </p:nvSpPr>
        <p:spPr>
          <a:xfrm>
            <a:off x="1981200" y="0"/>
            <a:ext cx="716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Program 11-8 (Continued)‏</a:t>
            </a:r>
            <a:endParaRPr/>
          </a:p>
        </p:txBody>
      </p:sp>
      <p:pic>
        <p:nvPicPr>
          <p:cNvPr id="368" name="Google Shape;36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039196"/>
            <a:ext cx="7086600" cy="5419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Pointer to Structure</a:t>
            </a:r>
            <a:br>
              <a:rPr lang="en-GB" cap="none"/>
            </a:b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374" name="Google Shape;374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rPr lang="en-GB"/>
              <a:t> We stop here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1"/>
          <p:cNvSpPr txBox="1"/>
          <p:nvPr>
            <p:ph type="title"/>
          </p:nvPr>
        </p:nvSpPr>
        <p:spPr>
          <a:xfrm>
            <a:off x="2667000" y="228600"/>
            <a:ext cx="55626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Pointers to Structures</a:t>
            </a:r>
            <a:endParaRPr/>
          </a:p>
        </p:txBody>
      </p:sp>
      <p:sp>
        <p:nvSpPr>
          <p:cNvPr id="380" name="Google Shape;380;p41"/>
          <p:cNvSpPr/>
          <p:nvPr>
            <p:ph idx="1" type="body"/>
          </p:nvPr>
        </p:nvSpPr>
        <p:spPr>
          <a:xfrm>
            <a:off x="457200" y="1600200"/>
            <a:ext cx="8229600" cy="756846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A structure variable has an address</a:t>
            </a:r>
            <a:endParaRPr/>
          </a:p>
        </p:txBody>
      </p:sp>
      <p:sp>
        <p:nvSpPr>
          <p:cNvPr id="381" name="Google Shape;381;p41"/>
          <p:cNvSpPr/>
          <p:nvPr>
            <p:ph idx="2" type="body"/>
          </p:nvPr>
        </p:nvSpPr>
        <p:spPr>
          <a:xfrm>
            <a:off x="463639" y="2543034"/>
            <a:ext cx="8229600" cy="1300555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Pointers to structures are variables that can hold the address of a structure: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Student *stuPtr;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82" name="Google Shape;382;p41"/>
          <p:cNvSpPr/>
          <p:nvPr>
            <p:ph idx="3" type="body"/>
          </p:nvPr>
        </p:nvSpPr>
        <p:spPr>
          <a:xfrm>
            <a:off x="457200" y="3996956"/>
            <a:ext cx="8229600" cy="956044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use &amp; operator to assign address: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stuPtr = &amp; stu1;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83" name="Google Shape;383;p41"/>
          <p:cNvSpPr/>
          <p:nvPr>
            <p:ph idx="4" type="body"/>
          </p:nvPr>
        </p:nvSpPr>
        <p:spPr>
          <a:xfrm>
            <a:off x="457200" y="5114788"/>
            <a:ext cx="8229600" cy="737422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Structure pointer can be a function parameter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type="title"/>
          </p:nvPr>
        </p:nvSpPr>
        <p:spPr>
          <a:xfrm>
            <a:off x="2057400" y="152400"/>
            <a:ext cx="6934200" cy="1043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Accessing Structure Members via Pointer Variables</a:t>
            </a:r>
            <a:endParaRPr/>
          </a:p>
        </p:txBody>
      </p:sp>
      <p:sp>
        <p:nvSpPr>
          <p:cNvPr id="389" name="Google Shape;389;p42"/>
          <p:cNvSpPr/>
          <p:nvPr>
            <p:ph idx="1" type="body"/>
          </p:nvPr>
        </p:nvSpPr>
        <p:spPr>
          <a:xfrm>
            <a:off x="457200" y="1828800"/>
            <a:ext cx="8229600" cy="1905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Must use () to dereference pointer variable, not field within structure: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cout &lt;&lt; (*stuPtr).studentID;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0" name="Google Shape;390;p42"/>
          <p:cNvSpPr/>
          <p:nvPr>
            <p:ph idx="4" type="body"/>
          </p:nvPr>
        </p:nvSpPr>
        <p:spPr>
          <a:xfrm>
            <a:off x="457200" y="3962400"/>
            <a:ext cx="8229600" cy="166121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use structure pointer operator to eliminate () and use clearer notation: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cout &lt;&lt; stuPtr-&gt;studentID;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3"/>
          <p:cNvSpPr txBox="1"/>
          <p:nvPr>
            <p:ph type="title"/>
          </p:nvPr>
        </p:nvSpPr>
        <p:spPr>
          <a:xfrm>
            <a:off x="1981200" y="0"/>
            <a:ext cx="7162800" cy="110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Example 3</a:t>
            </a:r>
            <a:endParaRPr/>
          </a:p>
        </p:txBody>
      </p:sp>
      <p:pic>
        <p:nvPicPr>
          <p:cNvPr id="396" name="Google Shape;39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295400"/>
            <a:ext cx="5730875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Unions</a:t>
            </a:r>
            <a:br>
              <a:rPr lang="en-GB" cap="none"/>
            </a:b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402" name="Google Shape;402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/>
          <p:nvPr>
            <p:ph type="title"/>
          </p:nvPr>
        </p:nvSpPr>
        <p:spPr>
          <a:xfrm>
            <a:off x="3886200" y="269753"/>
            <a:ext cx="25908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Unions</a:t>
            </a:r>
            <a:endParaRPr/>
          </a:p>
        </p:txBody>
      </p:sp>
      <p:sp>
        <p:nvSpPr>
          <p:cNvPr id="408" name="Google Shape;408;p45"/>
          <p:cNvSpPr/>
          <p:nvPr>
            <p:ph idx="2" type="body"/>
          </p:nvPr>
        </p:nvSpPr>
        <p:spPr>
          <a:xfrm>
            <a:off x="457200" y="3642519"/>
            <a:ext cx="8229600" cy="685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Declared using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union</a:t>
            </a:r>
            <a:r>
              <a:rPr lang="en-GB"/>
              <a:t>, otherwise the same as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9" name="Google Shape;409;p45"/>
          <p:cNvSpPr/>
          <p:nvPr>
            <p:ph idx="3" type="body"/>
          </p:nvPr>
        </p:nvSpPr>
        <p:spPr>
          <a:xfrm>
            <a:off x="457200" y="2057400"/>
            <a:ext cx="8229600" cy="1356519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Similar to a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GB"/>
              <a:t>, but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all members share a single memory location, and</a:t>
            </a:r>
            <a:endParaRPr/>
          </a:p>
          <a:p>
            <a:pPr indent="-285750" lvl="1" marL="74295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◆"/>
            </a:pPr>
            <a:r>
              <a:rPr lang="en-GB"/>
              <a:t>only one member of the union can be used at a time</a:t>
            </a:r>
            <a:endParaRPr/>
          </a:p>
        </p:txBody>
      </p:sp>
      <p:sp>
        <p:nvSpPr>
          <p:cNvPr id="410" name="Google Shape;410;p45"/>
          <p:cNvSpPr/>
          <p:nvPr>
            <p:ph idx="4" type="body"/>
          </p:nvPr>
        </p:nvSpPr>
        <p:spPr>
          <a:xfrm>
            <a:off x="458273" y="4556919"/>
            <a:ext cx="8229600" cy="6858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Variables defined as for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GB"/>
              <a:t> variables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6"/>
          <p:cNvSpPr txBox="1"/>
          <p:nvPr>
            <p:ph type="title"/>
          </p:nvPr>
        </p:nvSpPr>
        <p:spPr>
          <a:xfrm>
            <a:off x="2895600" y="109527"/>
            <a:ext cx="50292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Anonymous  Union</a:t>
            </a:r>
            <a:endParaRPr/>
          </a:p>
        </p:txBody>
      </p:sp>
      <p:sp>
        <p:nvSpPr>
          <p:cNvPr id="416" name="Google Shape;416;p46"/>
          <p:cNvSpPr/>
          <p:nvPr>
            <p:ph idx="1" type="body"/>
          </p:nvPr>
        </p:nvSpPr>
        <p:spPr>
          <a:xfrm>
            <a:off x="457200" y="1524000"/>
            <a:ext cx="8229600" cy="1148154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A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union</a:t>
            </a:r>
            <a:r>
              <a:rPr lang="en-GB"/>
              <a:t> without a union tag: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union { ... };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7" name="Google Shape;417;p46"/>
          <p:cNvSpPr/>
          <p:nvPr>
            <p:ph idx="2" type="body"/>
          </p:nvPr>
        </p:nvSpPr>
        <p:spPr>
          <a:xfrm>
            <a:off x="455645" y="2797186"/>
            <a:ext cx="8229600" cy="762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Must use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GB"/>
              <a:t> if declared outside of a function</a:t>
            </a:r>
            <a:endParaRPr/>
          </a:p>
        </p:txBody>
      </p:sp>
      <p:sp>
        <p:nvSpPr>
          <p:cNvPr id="418" name="Google Shape;418;p46"/>
          <p:cNvSpPr/>
          <p:nvPr>
            <p:ph idx="3" type="body"/>
          </p:nvPr>
        </p:nvSpPr>
        <p:spPr>
          <a:xfrm>
            <a:off x="455645" y="3684218"/>
            <a:ext cx="8229600" cy="767154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Allocates memory at declaration time</a:t>
            </a:r>
            <a:endParaRPr/>
          </a:p>
        </p:txBody>
      </p:sp>
      <p:sp>
        <p:nvSpPr>
          <p:cNvPr id="419" name="Google Shape;419;p46"/>
          <p:cNvSpPr/>
          <p:nvPr>
            <p:ph idx="4" type="body"/>
          </p:nvPr>
        </p:nvSpPr>
        <p:spPr>
          <a:xfrm>
            <a:off x="438473" y="4575118"/>
            <a:ext cx="8229600" cy="6096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Can refer to members directly without dot operator</a:t>
            </a:r>
            <a:endParaRPr/>
          </a:p>
        </p:txBody>
      </p:sp>
      <p:sp>
        <p:nvSpPr>
          <p:cNvPr id="420" name="Google Shape;420;p46"/>
          <p:cNvSpPr/>
          <p:nvPr>
            <p:ph idx="4" type="body"/>
          </p:nvPr>
        </p:nvSpPr>
        <p:spPr>
          <a:xfrm>
            <a:off x="422374" y="5308464"/>
            <a:ext cx="8229600" cy="6096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🏵"/>
            </a:pPr>
            <a:r>
              <a:rPr lang="en-GB"/>
              <a:t>Uses only one memory location, saves space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cap="none"/>
              <a:t>Enumerated Data Types</a:t>
            </a:r>
            <a:br>
              <a:rPr lang="en-GB" cap="none"/>
            </a:br>
            <a:br>
              <a:rPr lang="en-GB" cap="none"/>
            </a:br>
            <a:br>
              <a:rPr lang="en-GB"/>
            </a:br>
            <a:endParaRPr cap="none"/>
          </a:p>
        </p:txBody>
      </p:sp>
      <p:sp>
        <p:nvSpPr>
          <p:cNvPr id="426" name="Google Shape;426;p4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8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Enumerated Data Types</a:t>
            </a:r>
            <a:endParaRPr/>
          </a:p>
        </p:txBody>
      </p:sp>
      <p:sp>
        <p:nvSpPr>
          <p:cNvPr id="432" name="Google Shape;432;p48"/>
          <p:cNvSpPr/>
          <p:nvPr>
            <p:ph idx="2" type="body"/>
          </p:nvPr>
        </p:nvSpPr>
        <p:spPr>
          <a:xfrm>
            <a:off x="457200" y="1219200"/>
            <a:ext cx="8229600" cy="13716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An enumerated data type is a programmer-defined data type. It consists of values known as </a:t>
            </a:r>
            <a:r>
              <a:rPr i="1" lang="en-GB"/>
              <a:t>enumerators</a:t>
            </a:r>
            <a:r>
              <a:rPr lang="en-GB"/>
              <a:t>, which represent integer constants. </a:t>
            </a:r>
            <a:endParaRPr/>
          </a:p>
        </p:txBody>
      </p:sp>
      <p:sp>
        <p:nvSpPr>
          <p:cNvPr id="433" name="Google Shape;433;p48"/>
          <p:cNvSpPr/>
          <p:nvPr>
            <p:ph idx="2" type="body"/>
          </p:nvPr>
        </p:nvSpPr>
        <p:spPr>
          <a:xfrm>
            <a:off x="457200" y="2743200"/>
            <a:ext cx="8229600" cy="1752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Example:</a:t>
            </a:r>
            <a:br>
              <a:rPr lang="en-GB"/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 Day { MONDAY, TUESDAY,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         WEDNESDAY, THURSDAY,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         FRIDAY };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34" name="Google Shape;434;p48"/>
          <p:cNvSpPr/>
          <p:nvPr>
            <p:ph idx="2" type="body"/>
          </p:nvPr>
        </p:nvSpPr>
        <p:spPr>
          <a:xfrm>
            <a:off x="457200" y="4648200"/>
            <a:ext cx="8229600" cy="1752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The identifiers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MONDAY, TUESDAY, WEDNESDAY, THURSDAY, </a:t>
            </a:r>
            <a:r>
              <a:rPr lang="en-GB"/>
              <a:t>and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FRIDAY</a:t>
            </a:r>
            <a:r>
              <a:rPr lang="en-GB"/>
              <a:t>, which are listed inside the braces, are enumerators. They represent the values that belong to 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/>
              <a:t> data type. 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9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Enumerated Data Types</a:t>
            </a:r>
            <a:endParaRPr/>
          </a:p>
        </p:txBody>
      </p:sp>
      <p:sp>
        <p:nvSpPr>
          <p:cNvPr id="440" name="Google Shape;440;p49"/>
          <p:cNvSpPr/>
          <p:nvPr>
            <p:ph idx="2" type="body"/>
          </p:nvPr>
        </p:nvSpPr>
        <p:spPr>
          <a:xfrm>
            <a:off x="609600" y="1752600"/>
            <a:ext cx="8077200" cy="1676400"/>
          </a:xfrm>
          <a:prstGeom prst="roundRect">
            <a:avLst>
              <a:gd fmla="val 19177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 Day { MONDAY, TUESDAY,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         WEDNESDAY,THURSDAY,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         FRIDAY };</a:t>
            </a:r>
            <a:endParaRPr/>
          </a:p>
        </p:txBody>
      </p:sp>
      <p:sp>
        <p:nvSpPr>
          <p:cNvPr id="441" name="Google Shape;441;p49"/>
          <p:cNvSpPr/>
          <p:nvPr>
            <p:ph idx="2" type="body"/>
          </p:nvPr>
        </p:nvSpPr>
        <p:spPr>
          <a:xfrm>
            <a:off x="609600" y="3733800"/>
            <a:ext cx="8077200" cy="1676400"/>
          </a:xfrm>
          <a:prstGeom prst="roundRect">
            <a:avLst>
              <a:gd fmla="val 1917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Note that the enumerators are not strings, so they aren’t enclosed in quotes.      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750"/>
              </a:spcBef>
              <a:spcAft>
                <a:spcPts val="0"/>
              </a:spcAft>
              <a:buSzPts val="2400"/>
              <a:buNone/>
            </a:pPr>
            <a:r>
              <a:rPr lang="en-GB"/>
              <a:t>They are </a:t>
            </a:r>
            <a:r>
              <a:rPr b="1" lang="en-GB"/>
              <a:t>identifiers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0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Enumerated Data Types</a:t>
            </a:r>
            <a:endParaRPr/>
          </a:p>
        </p:txBody>
      </p:sp>
      <p:sp>
        <p:nvSpPr>
          <p:cNvPr id="447" name="Google Shape;447;p50"/>
          <p:cNvSpPr/>
          <p:nvPr>
            <p:ph idx="2" type="body"/>
          </p:nvPr>
        </p:nvSpPr>
        <p:spPr>
          <a:xfrm>
            <a:off x="457200" y="1371600"/>
            <a:ext cx="8229600" cy="1452630"/>
          </a:xfrm>
          <a:prstGeom prst="roundRect">
            <a:avLst>
              <a:gd fmla="val 13121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Once you have created an enumerated data type in your program, you can define variables of that type. 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	Day workDay;</a:t>
            </a:r>
            <a:endParaRPr/>
          </a:p>
        </p:txBody>
      </p:sp>
      <p:sp>
        <p:nvSpPr>
          <p:cNvPr id="448" name="Google Shape;448;p50"/>
          <p:cNvSpPr/>
          <p:nvPr>
            <p:ph idx="2" type="body"/>
          </p:nvPr>
        </p:nvSpPr>
        <p:spPr>
          <a:xfrm>
            <a:off x="457200" y="2938530"/>
            <a:ext cx="8229600" cy="990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This statement defines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workDay</a:t>
            </a:r>
            <a:r>
              <a:rPr lang="en-GB"/>
              <a:t> as a variable of 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/>
              <a:t> type.</a:t>
            </a:r>
            <a:endParaRPr/>
          </a:p>
        </p:txBody>
      </p:sp>
      <p:sp>
        <p:nvSpPr>
          <p:cNvPr id="449" name="Google Shape;449;p50"/>
          <p:cNvSpPr/>
          <p:nvPr>
            <p:ph idx="2" type="body"/>
          </p:nvPr>
        </p:nvSpPr>
        <p:spPr>
          <a:xfrm>
            <a:off x="472225" y="4043430"/>
            <a:ext cx="8229600" cy="2209800"/>
          </a:xfrm>
          <a:prstGeom prst="roundRect">
            <a:avLst>
              <a:gd fmla="val 10839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We may assign any of the enumerators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MONDAY</a:t>
            </a:r>
            <a:r>
              <a:rPr lang="en-GB"/>
              <a:t>,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TUESDAY</a:t>
            </a:r>
            <a:r>
              <a:rPr lang="en-GB"/>
              <a:t>,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WEDNESDAY</a:t>
            </a:r>
            <a:r>
              <a:rPr lang="en-GB"/>
              <a:t>,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THURSDAY</a:t>
            </a:r>
            <a:r>
              <a:rPr lang="en-GB"/>
              <a:t>, or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FRIDAY</a:t>
            </a:r>
            <a:r>
              <a:rPr lang="en-GB"/>
              <a:t> to a variable of 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/>
              <a:t> type. Example:</a:t>
            </a:r>
            <a:br>
              <a:rPr lang="en-GB"/>
            </a:br>
            <a:br>
              <a:rPr lang="en-GB"/>
            </a:br>
            <a:r>
              <a:rPr lang="en-GB"/>
              <a:t>     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workDay = WEDNESDAY; 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1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Enumerated Data Types</a:t>
            </a:r>
            <a:endParaRPr/>
          </a:p>
        </p:txBody>
      </p:sp>
      <p:sp>
        <p:nvSpPr>
          <p:cNvPr id="455" name="Google Shape;455;p51"/>
          <p:cNvSpPr/>
          <p:nvPr>
            <p:ph idx="2" type="body"/>
          </p:nvPr>
        </p:nvSpPr>
        <p:spPr>
          <a:xfrm>
            <a:off x="456127" y="2133600"/>
            <a:ext cx="8229600" cy="685800"/>
          </a:xfrm>
          <a:prstGeom prst="roundRect">
            <a:avLst>
              <a:gd fmla="val 13121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So, what is an </a:t>
            </a:r>
            <a:r>
              <a:rPr i="1" lang="en-GB"/>
              <a:t>enumerator</a:t>
            </a:r>
            <a:r>
              <a:rPr lang="en-GB"/>
              <a:t>?</a:t>
            </a:r>
            <a:endParaRPr/>
          </a:p>
        </p:txBody>
      </p:sp>
      <p:sp>
        <p:nvSpPr>
          <p:cNvPr id="456" name="Google Shape;456;p51"/>
          <p:cNvSpPr/>
          <p:nvPr>
            <p:ph idx="2" type="body"/>
          </p:nvPr>
        </p:nvSpPr>
        <p:spPr>
          <a:xfrm>
            <a:off x="457200" y="2938530"/>
            <a:ext cx="8229600" cy="64287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Think of it as an integer named constant</a:t>
            </a:r>
            <a:endParaRPr/>
          </a:p>
        </p:txBody>
      </p:sp>
      <p:sp>
        <p:nvSpPr>
          <p:cNvPr id="457" name="Google Shape;457;p51"/>
          <p:cNvSpPr/>
          <p:nvPr>
            <p:ph idx="2" type="body"/>
          </p:nvPr>
        </p:nvSpPr>
        <p:spPr>
          <a:xfrm>
            <a:off x="456127" y="3700530"/>
            <a:ext cx="8229600" cy="1061970"/>
          </a:xfrm>
          <a:prstGeom prst="roundRect">
            <a:avLst>
              <a:gd fmla="val 10839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Internally, the compiler assigns integer values to the enumerators, beginning at 0.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2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Enumerated Data Types</a:t>
            </a:r>
            <a:endParaRPr/>
          </a:p>
        </p:txBody>
      </p:sp>
      <p:sp>
        <p:nvSpPr>
          <p:cNvPr id="463" name="Google Shape;463;p52"/>
          <p:cNvSpPr/>
          <p:nvPr>
            <p:ph idx="2" type="body"/>
          </p:nvPr>
        </p:nvSpPr>
        <p:spPr>
          <a:xfrm>
            <a:off x="609600" y="1600200"/>
            <a:ext cx="8077200" cy="1676400"/>
          </a:xfrm>
          <a:prstGeom prst="roundRect">
            <a:avLst>
              <a:gd fmla="val 19177" name="adj"/>
            </a:avLst>
          </a:prstGeom>
          <a:solidFill>
            <a:srgbClr val="C5D8F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enum Day { MONDAY, TUESDAY,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WEDNESDAY,THURSDAY,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FRIDAY };</a:t>
            </a:r>
            <a:endParaRPr/>
          </a:p>
        </p:txBody>
      </p:sp>
      <p:sp>
        <p:nvSpPr>
          <p:cNvPr id="464" name="Google Shape;464;p52"/>
          <p:cNvSpPr/>
          <p:nvPr>
            <p:ph idx="2" type="body"/>
          </p:nvPr>
        </p:nvSpPr>
        <p:spPr>
          <a:xfrm>
            <a:off x="609600" y="3429000"/>
            <a:ext cx="8077200" cy="2590800"/>
          </a:xfrm>
          <a:prstGeom prst="roundRect">
            <a:avLst>
              <a:gd fmla="val 13212" name="adj"/>
            </a:avLst>
          </a:prstGeom>
          <a:solidFill>
            <a:srgbClr val="EAF1DD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>
                <a:solidFill>
                  <a:srgbClr val="000000"/>
                </a:solidFill>
              </a:rPr>
              <a:t>In memory...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750"/>
              </a:spcBef>
              <a:spcAft>
                <a:spcPts val="0"/>
              </a:spcAft>
              <a:buSzPts val="2400"/>
              <a:buFont typeface="Courier New"/>
              <a:buNone/>
            </a:pPr>
            <a: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MONDAY </a:t>
            </a:r>
            <a:r>
              <a:rPr lang="en-GB">
                <a:solidFill>
                  <a:srgbClr val="000000"/>
                </a:solidFill>
              </a:rPr>
              <a:t>= 0</a:t>
            </a:r>
            <a:b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TUESDAY </a:t>
            </a:r>
            <a:r>
              <a:rPr lang="en-GB">
                <a:solidFill>
                  <a:srgbClr val="000000"/>
                </a:solidFill>
              </a:rPr>
              <a:t>= 1</a:t>
            </a:r>
            <a:b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WEDNESDAY </a:t>
            </a:r>
            <a:r>
              <a:rPr lang="en-GB">
                <a:solidFill>
                  <a:srgbClr val="000000"/>
                </a:solidFill>
              </a:rPr>
              <a:t>= 2</a:t>
            </a:r>
            <a:b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THURSDAY </a:t>
            </a:r>
            <a:r>
              <a:rPr lang="en-GB">
                <a:solidFill>
                  <a:srgbClr val="000000"/>
                </a:solidFill>
              </a:rPr>
              <a:t>= 3</a:t>
            </a:r>
            <a:b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FRIDAY </a:t>
            </a:r>
            <a:r>
              <a:rPr lang="en-GB">
                <a:solidFill>
                  <a:srgbClr val="000000"/>
                </a:solidFill>
              </a:rPr>
              <a:t>= 4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3"/>
          <p:cNvSpPr txBox="1"/>
          <p:nvPr>
            <p:ph type="title"/>
          </p:nvPr>
        </p:nvSpPr>
        <p:spPr>
          <a:xfrm>
            <a:off x="1905000" y="228600"/>
            <a:ext cx="716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Enumerated Data Types</a:t>
            </a:r>
            <a:endParaRPr/>
          </a:p>
        </p:txBody>
      </p:sp>
      <p:sp>
        <p:nvSpPr>
          <p:cNvPr id="470" name="Google Shape;470;p53"/>
          <p:cNvSpPr/>
          <p:nvPr>
            <p:ph idx="2" type="body"/>
          </p:nvPr>
        </p:nvSpPr>
        <p:spPr>
          <a:xfrm>
            <a:off x="533400" y="1905000"/>
            <a:ext cx="8077200" cy="1676400"/>
          </a:xfrm>
          <a:prstGeom prst="roundRect">
            <a:avLst>
              <a:gd fmla="val 19177" name="adj"/>
            </a:avLst>
          </a:prstGeom>
          <a:solidFill>
            <a:srgbClr val="E5B8B7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None/>
            </a:pPr>
            <a:r>
              <a:rPr lang="en-GB">
                <a:solidFill>
                  <a:schemeClr val="dk1"/>
                </a:solidFill>
              </a:rPr>
              <a:t>Using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>
                <a:solidFill>
                  <a:schemeClr val="dk1"/>
                </a:solidFill>
              </a:rPr>
              <a:t> declaration, the following code...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MONDAY &lt;&lt; </a:t>
            </a:r>
            <a:r>
              <a:rPr lang="en-GB">
                <a:solidFill>
                  <a:schemeClr val="dk1"/>
                </a:solidFill>
              </a:rPr>
              <a:t>"  " </a:t>
            </a:r>
            <a:b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&lt;&lt; WEDNESDAY &lt;&lt; </a:t>
            </a:r>
            <a:r>
              <a:rPr lang="en-GB">
                <a:solidFill>
                  <a:schemeClr val="dk1"/>
                </a:solidFill>
              </a:rPr>
              <a:t>"  “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           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&lt;&lt; FRIDAY &lt;&lt; endl;</a:t>
            </a:r>
            <a:endParaRPr/>
          </a:p>
        </p:txBody>
      </p:sp>
      <p:sp>
        <p:nvSpPr>
          <p:cNvPr id="471" name="Google Shape;471;p53"/>
          <p:cNvSpPr/>
          <p:nvPr>
            <p:ph idx="2" type="body"/>
          </p:nvPr>
        </p:nvSpPr>
        <p:spPr>
          <a:xfrm>
            <a:off x="533400" y="3810000"/>
            <a:ext cx="8077200" cy="1676400"/>
          </a:xfrm>
          <a:prstGeom prst="roundRect">
            <a:avLst>
              <a:gd fmla="val 13212" name="adj"/>
            </a:avLst>
          </a:prstGeom>
          <a:solidFill>
            <a:srgbClr val="B6DDE7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>
                <a:solidFill>
                  <a:schemeClr val="dk1"/>
                </a:solidFill>
              </a:rPr>
              <a:t>will produce this 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0 2 4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4"/>
          <p:cNvSpPr txBox="1"/>
          <p:nvPr>
            <p:ph type="title"/>
          </p:nvPr>
        </p:nvSpPr>
        <p:spPr>
          <a:xfrm>
            <a:off x="2209800" y="1524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Assigning an integer to an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</a:t>
            </a:r>
            <a:endParaRPr/>
          </a:p>
        </p:txBody>
      </p:sp>
      <p:sp>
        <p:nvSpPr>
          <p:cNvPr id="477" name="Google Shape;477;p54"/>
          <p:cNvSpPr/>
          <p:nvPr>
            <p:ph idx="2" type="body"/>
          </p:nvPr>
        </p:nvSpPr>
        <p:spPr>
          <a:xfrm>
            <a:off x="381000" y="2133600"/>
            <a:ext cx="8229600" cy="1371600"/>
          </a:xfrm>
          <a:prstGeom prst="roundRect">
            <a:avLst>
              <a:gd fmla="val 13121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You cannot directly assign an integer value to an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variable. This will not work:</a:t>
            </a:r>
            <a:br>
              <a:rPr lang="en-GB"/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workDay = 3;	// Error!</a:t>
            </a:r>
            <a:r>
              <a:rPr lang="en-GB"/>
              <a:t> </a:t>
            </a:r>
            <a:endParaRPr/>
          </a:p>
        </p:txBody>
      </p:sp>
      <p:sp>
        <p:nvSpPr>
          <p:cNvPr id="478" name="Google Shape;478;p54"/>
          <p:cNvSpPr/>
          <p:nvPr>
            <p:ph idx="2" type="body"/>
          </p:nvPr>
        </p:nvSpPr>
        <p:spPr>
          <a:xfrm>
            <a:off x="382073" y="3624330"/>
            <a:ext cx="8229600" cy="94767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Instead, you must cast the integer:</a:t>
            </a:r>
            <a:br>
              <a:rPr lang="en-GB"/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workDay = static_cast&lt;Day&gt;(3); 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 txBox="1"/>
          <p:nvPr>
            <p:ph type="title"/>
          </p:nvPr>
        </p:nvSpPr>
        <p:spPr>
          <a:xfrm>
            <a:off x="2209800" y="1524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Assigning an Enumerator to an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-GB"/>
              <a:t>Variable</a:t>
            </a:r>
            <a:endParaRPr/>
          </a:p>
        </p:txBody>
      </p:sp>
      <p:sp>
        <p:nvSpPr>
          <p:cNvPr id="484" name="Google Shape;484;p55"/>
          <p:cNvSpPr/>
          <p:nvPr>
            <p:ph idx="2" type="body"/>
          </p:nvPr>
        </p:nvSpPr>
        <p:spPr>
          <a:xfrm>
            <a:off x="381000" y="2133600"/>
            <a:ext cx="8229600" cy="2209800"/>
          </a:xfrm>
          <a:prstGeom prst="roundRect">
            <a:avLst>
              <a:gd fmla="val 9042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You CAN assign an enumerator to an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/>
              <a:t> variable. For 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br>
              <a:rPr lang="en-GB"/>
            </a:br>
            <a:r>
              <a:rPr lang="en-GB"/>
              <a:t>	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int x;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	x = THURSDAY;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  <p:sp>
        <p:nvSpPr>
          <p:cNvPr id="485" name="Google Shape;485;p55"/>
          <p:cNvSpPr/>
          <p:nvPr>
            <p:ph idx="2" type="body"/>
          </p:nvPr>
        </p:nvSpPr>
        <p:spPr>
          <a:xfrm>
            <a:off x="343437" y="4572000"/>
            <a:ext cx="8229600" cy="685800"/>
          </a:xfrm>
          <a:prstGeom prst="roundRect">
            <a:avLst>
              <a:gd fmla="val 27935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This code assigns 3 to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6"/>
          <p:cNvSpPr txBox="1"/>
          <p:nvPr>
            <p:ph type="title"/>
          </p:nvPr>
        </p:nvSpPr>
        <p:spPr>
          <a:xfrm>
            <a:off x="2209800" y="1524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Comparing Enumerator Values</a:t>
            </a:r>
            <a:endParaRPr/>
          </a:p>
        </p:txBody>
      </p:sp>
      <p:sp>
        <p:nvSpPr>
          <p:cNvPr id="491" name="Google Shape;491;p56"/>
          <p:cNvSpPr/>
          <p:nvPr>
            <p:ph idx="2" type="body"/>
          </p:nvPr>
        </p:nvSpPr>
        <p:spPr>
          <a:xfrm>
            <a:off x="457200" y="1752600"/>
            <a:ext cx="8229600" cy="3733800"/>
          </a:xfrm>
          <a:prstGeom prst="roundRect">
            <a:avLst>
              <a:gd fmla="val 9042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Enumerator values can be compared using the relational operators. For example, using the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/>
              <a:t> data type the following code will display the message "Friday is greater than Monday.“</a:t>
            </a:r>
            <a:br>
              <a:rPr lang="en-GB"/>
            </a:br>
            <a:br>
              <a:rPr lang="en-GB"/>
            </a:b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if (FRIDAY &gt; MONDAY)</a:t>
            </a:r>
            <a:br>
              <a:rPr lang="en-GB" sz="2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GB" sz="2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   cout &lt;&lt; "Friday is greater "</a:t>
            </a:r>
            <a:br>
              <a:rPr lang="en-GB" sz="2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        &lt;&lt; "than Monday.\n";</a:t>
            </a:r>
            <a:r>
              <a:rPr lang="en-GB" sz="2000"/>
              <a:t> </a:t>
            </a:r>
            <a:br>
              <a:rPr lang="en-GB" sz="2000"/>
            </a:br>
            <a:r>
              <a:rPr lang="en-GB" sz="2000"/>
              <a:t> 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7"/>
          <p:cNvSpPr txBox="1"/>
          <p:nvPr>
            <p:ph type="title"/>
          </p:nvPr>
        </p:nvSpPr>
        <p:spPr>
          <a:xfrm>
            <a:off x="1981200" y="192088"/>
            <a:ext cx="7162800" cy="110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Comparing Enumerator Values - Example</a:t>
            </a:r>
            <a:endParaRPr/>
          </a:p>
        </p:txBody>
      </p:sp>
      <p:pic>
        <p:nvPicPr>
          <p:cNvPr id="497" name="Google Shape;49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287887"/>
            <a:ext cx="7010400" cy="511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8"/>
          <p:cNvSpPr txBox="1"/>
          <p:nvPr>
            <p:ph type="title"/>
          </p:nvPr>
        </p:nvSpPr>
        <p:spPr>
          <a:xfrm>
            <a:off x="1981200" y="192088"/>
            <a:ext cx="7162800" cy="110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Program 11-12 (Continued)</a:t>
            </a:r>
            <a:endParaRPr/>
          </a:p>
        </p:txBody>
      </p:sp>
      <p:pic>
        <p:nvPicPr>
          <p:cNvPr id="503" name="Google Shape;50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676400"/>
            <a:ext cx="7369475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9"/>
          <p:cNvSpPr txBox="1"/>
          <p:nvPr>
            <p:ph type="title"/>
          </p:nvPr>
        </p:nvSpPr>
        <p:spPr>
          <a:xfrm>
            <a:off x="2209800" y="228600"/>
            <a:ext cx="655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Enumerated Data Types</a:t>
            </a:r>
            <a:endParaRPr/>
          </a:p>
        </p:txBody>
      </p:sp>
      <p:sp>
        <p:nvSpPr>
          <p:cNvPr id="509" name="Google Shape;509;p59"/>
          <p:cNvSpPr/>
          <p:nvPr>
            <p:ph idx="2" type="body"/>
          </p:nvPr>
        </p:nvSpPr>
        <p:spPr>
          <a:xfrm>
            <a:off x="381000" y="1447800"/>
            <a:ext cx="8229600" cy="4038600"/>
          </a:xfrm>
          <a:prstGeom prst="roundRect">
            <a:avLst>
              <a:gd fmla="val 9042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Program 11-12 shows enumerators used to control a loop:</a:t>
            </a:r>
            <a:br>
              <a:rPr lang="en-GB"/>
            </a:br>
            <a:br>
              <a:rPr lang="en-GB"/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// Get the sales for each day.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for (index = MONDAY; index &lt;= FRIDAY; index++)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{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 cout &lt;&lt; "Enter the sales for day " 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         &lt;&lt; index &lt;&lt; ": ";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    cin &gt;&gt; sales[index];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0"/>
          <p:cNvSpPr txBox="1"/>
          <p:nvPr>
            <p:ph type="title"/>
          </p:nvPr>
        </p:nvSpPr>
        <p:spPr>
          <a:xfrm>
            <a:off x="2057400" y="3810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Anonymous Enumerated Types</a:t>
            </a:r>
            <a:endParaRPr/>
          </a:p>
        </p:txBody>
      </p:sp>
      <p:sp>
        <p:nvSpPr>
          <p:cNvPr id="515" name="Google Shape;515;p60"/>
          <p:cNvSpPr/>
          <p:nvPr>
            <p:ph idx="2" type="body"/>
          </p:nvPr>
        </p:nvSpPr>
        <p:spPr>
          <a:xfrm>
            <a:off x="381000" y="2057400"/>
            <a:ext cx="8229600" cy="2819400"/>
          </a:xfrm>
          <a:prstGeom prst="roundRect">
            <a:avLst>
              <a:gd fmla="val 9042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An </a:t>
            </a:r>
            <a:r>
              <a:rPr i="1" lang="en-GB"/>
              <a:t>anonymous</a:t>
            </a:r>
            <a:r>
              <a:rPr lang="en-GB"/>
              <a:t> </a:t>
            </a:r>
            <a:r>
              <a:rPr i="1" lang="en-GB"/>
              <a:t>enumerated</a:t>
            </a:r>
            <a:r>
              <a:rPr lang="en-GB"/>
              <a:t> </a:t>
            </a:r>
            <a:r>
              <a:rPr i="1" lang="en-GB"/>
              <a:t>type</a:t>
            </a:r>
            <a:r>
              <a:rPr lang="en-GB"/>
              <a:t> is simply one that does not have a name. For example, in Program 11-13 we could have declared the enumerated type as:</a:t>
            </a:r>
            <a:br>
              <a:rPr lang="en-GB"/>
            </a:br>
            <a:br>
              <a:rPr lang="en-GB"/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 { MONDAY, TUESDAY,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     WEDNESDAY, THURSDAY,</a:t>
            </a:r>
            <a:br>
              <a:rPr lang="en-GB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       FRIDAY };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1"/>
          <p:cNvSpPr txBox="1"/>
          <p:nvPr>
            <p:ph type="title"/>
          </p:nvPr>
        </p:nvSpPr>
        <p:spPr>
          <a:xfrm>
            <a:off x="2209800" y="1524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Using Math Operators with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Variables</a:t>
            </a:r>
            <a:endParaRPr/>
          </a:p>
        </p:txBody>
      </p:sp>
      <p:sp>
        <p:nvSpPr>
          <p:cNvPr id="521" name="Google Shape;521;p61"/>
          <p:cNvSpPr/>
          <p:nvPr>
            <p:ph idx="2" type="body"/>
          </p:nvPr>
        </p:nvSpPr>
        <p:spPr>
          <a:xfrm>
            <a:off x="446468" y="1752600"/>
            <a:ext cx="8229600" cy="2971800"/>
          </a:xfrm>
          <a:prstGeom prst="roundRect">
            <a:avLst>
              <a:gd fmla="val 9042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You can run into problems when trying to perform math operations with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variables. For example: </a:t>
            </a:r>
            <a:br>
              <a:rPr lang="en-GB"/>
            </a:br>
            <a:r>
              <a:rPr lang="en-GB"/>
              <a:t>		</a:t>
            </a:r>
            <a:r>
              <a:rPr b="1" lang="en-GB" sz="2000">
                <a:latin typeface="Courier New"/>
                <a:ea typeface="Courier New"/>
                <a:cs typeface="Courier New"/>
                <a:sym typeface="Courier New"/>
              </a:rPr>
              <a:t>Day day1, day2;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1" lang="en-GB" sz="2000">
                <a:latin typeface="Courier New"/>
                <a:ea typeface="Courier New"/>
                <a:cs typeface="Courier New"/>
                <a:sym typeface="Courier New"/>
              </a:rPr>
              <a:t>  			// Define two Day variables.</a:t>
            </a:r>
            <a:br>
              <a:rPr b="1" lang="en-GB" sz="2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2000">
                <a:latin typeface="Courier New"/>
                <a:ea typeface="Courier New"/>
                <a:cs typeface="Courier New"/>
                <a:sym typeface="Courier New"/>
              </a:rPr>
              <a:t>		day1 = TUESDAY;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1" lang="en-GB" sz="2000">
                <a:latin typeface="Courier New"/>
                <a:ea typeface="Courier New"/>
                <a:cs typeface="Courier New"/>
                <a:sym typeface="Courier New"/>
              </a:rPr>
              <a:t>  			// Assign TUESDAY to day1.</a:t>
            </a:r>
            <a:br>
              <a:rPr b="1" lang="en-GB" sz="20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2000">
                <a:latin typeface="Courier New"/>
                <a:ea typeface="Courier New"/>
                <a:cs typeface="Courier New"/>
                <a:sym typeface="Courier New"/>
              </a:rPr>
              <a:t>		day2 = day1 + 1;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b="1" lang="en-GB" sz="2000">
                <a:latin typeface="Courier New"/>
                <a:ea typeface="Courier New"/>
                <a:cs typeface="Courier New"/>
                <a:sym typeface="Courier New"/>
              </a:rPr>
              <a:t> 			// ERROR! Will not work!</a:t>
            </a:r>
            <a:endParaRPr/>
          </a:p>
        </p:txBody>
      </p:sp>
      <p:sp>
        <p:nvSpPr>
          <p:cNvPr id="522" name="Google Shape;522;p61"/>
          <p:cNvSpPr/>
          <p:nvPr>
            <p:ph idx="2" type="body"/>
          </p:nvPr>
        </p:nvSpPr>
        <p:spPr>
          <a:xfrm>
            <a:off x="446468" y="4876800"/>
            <a:ext cx="8229600" cy="1295400"/>
          </a:xfrm>
          <a:prstGeom prst="roundRect">
            <a:avLst>
              <a:gd fmla="val 17990" name="adj"/>
            </a:avLst>
          </a:prstGeom>
          <a:solidFill>
            <a:srgbClr val="31859B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The third statement will not work because the expression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day1 + 1</a:t>
            </a:r>
            <a:r>
              <a:rPr lang="en-GB"/>
              <a:t> results in the integer value 2, and you cannot store an int in an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</a:t>
            </a:r>
            <a:endParaRPr b="1"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2"/>
          <p:cNvSpPr txBox="1"/>
          <p:nvPr>
            <p:ph type="title"/>
          </p:nvPr>
        </p:nvSpPr>
        <p:spPr>
          <a:xfrm>
            <a:off x="2209800" y="1524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Using Math Operators with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Variables</a:t>
            </a:r>
            <a:endParaRPr/>
          </a:p>
        </p:txBody>
      </p:sp>
      <p:sp>
        <p:nvSpPr>
          <p:cNvPr id="528" name="Google Shape;528;p62"/>
          <p:cNvSpPr/>
          <p:nvPr>
            <p:ph idx="2" type="body"/>
          </p:nvPr>
        </p:nvSpPr>
        <p:spPr>
          <a:xfrm>
            <a:off x="554865" y="1981200"/>
            <a:ext cx="8229600" cy="2133600"/>
          </a:xfrm>
          <a:prstGeom prst="roundRect">
            <a:avLst>
              <a:gd fmla="val 9042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You can fix this by using a cast to explicitly convert the result to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/>
              <a:t>, as shown here:</a:t>
            </a:r>
            <a:br>
              <a:rPr lang="en-GB"/>
            </a:br>
            <a:br>
              <a:rPr lang="en-GB"/>
            </a:b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// This will work.</a:t>
            </a:r>
            <a:b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GB" sz="1800">
                <a:latin typeface="Courier New"/>
                <a:ea typeface="Courier New"/>
                <a:cs typeface="Courier New"/>
                <a:sym typeface="Courier New"/>
              </a:rPr>
              <a:t>day2 = static_cast&lt;Day&gt;(day1 + 1); 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3"/>
          <p:cNvSpPr txBox="1"/>
          <p:nvPr>
            <p:ph type="title"/>
          </p:nvPr>
        </p:nvSpPr>
        <p:spPr>
          <a:xfrm>
            <a:off x="2209800" y="152400"/>
            <a:ext cx="6934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Using an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 to Step through an Array's Elements</a:t>
            </a:r>
            <a:endParaRPr/>
          </a:p>
        </p:txBody>
      </p:sp>
      <p:sp>
        <p:nvSpPr>
          <p:cNvPr id="534" name="Google Shape;534;p63"/>
          <p:cNvSpPr/>
          <p:nvPr>
            <p:ph idx="2" type="body"/>
          </p:nvPr>
        </p:nvSpPr>
        <p:spPr>
          <a:xfrm>
            <a:off x="547352" y="1752600"/>
            <a:ext cx="8229600" cy="990600"/>
          </a:xfrm>
          <a:prstGeom prst="roundRect">
            <a:avLst>
              <a:gd fmla="val 22043" name="adj"/>
            </a:avLst>
          </a:prstGeom>
          <a:solidFill>
            <a:schemeClr val="accent5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Because enumerators are stored in memory as integers, you can use them as array subscripts. For example: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35" name="Google Shape;535;p63"/>
          <p:cNvSpPr/>
          <p:nvPr>
            <p:ph idx="2" type="body"/>
          </p:nvPr>
        </p:nvSpPr>
        <p:spPr>
          <a:xfrm>
            <a:off x="554865" y="2819400"/>
            <a:ext cx="8229600" cy="3581400"/>
          </a:xfrm>
          <a:prstGeom prst="roundRect">
            <a:avLst>
              <a:gd fmla="val 9042" name="adj"/>
            </a:avLst>
          </a:prstGeom>
          <a:solidFill>
            <a:srgbClr val="B6DDE7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enum Day { MONDAY, TUESDAY, WEDNESDAY,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THURSDAY, FRIDAY };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int NUM_DAYS = 5;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sales[NUM_DAYS];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sales[MONDAY] = 1525.0;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sales[TUESDAY] = 1896.5;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sales[WEDNESDAY] = 1975.63;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sales[THURSDAY] = 1678.33;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sales[FRIDAY] = 1498.52;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/>
          <p:nvPr>
            <p:ph type="title"/>
          </p:nvPr>
        </p:nvSpPr>
        <p:spPr>
          <a:xfrm>
            <a:off x="2209800" y="152400"/>
            <a:ext cx="6934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Using an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 to Step through an Array's Elements</a:t>
            </a:r>
            <a:endParaRPr/>
          </a:p>
        </p:txBody>
      </p:sp>
      <p:sp>
        <p:nvSpPr>
          <p:cNvPr id="541" name="Google Shape;541;p64"/>
          <p:cNvSpPr/>
          <p:nvPr>
            <p:ph idx="2" type="body"/>
          </p:nvPr>
        </p:nvSpPr>
        <p:spPr>
          <a:xfrm>
            <a:off x="547352" y="1752600"/>
            <a:ext cx="8229600" cy="990600"/>
          </a:xfrm>
          <a:prstGeom prst="roundRect">
            <a:avLst>
              <a:gd fmla="val 22043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Remember, though, you cannot use the ++ operator on an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variable. So, the following loop will NOT work.</a:t>
            </a:r>
            <a:endParaRPr/>
          </a:p>
        </p:txBody>
      </p:sp>
      <p:sp>
        <p:nvSpPr>
          <p:cNvPr id="542" name="Google Shape;542;p64"/>
          <p:cNvSpPr/>
          <p:nvPr>
            <p:ph idx="2" type="body"/>
          </p:nvPr>
        </p:nvSpPr>
        <p:spPr>
          <a:xfrm>
            <a:off x="554865" y="2819400"/>
            <a:ext cx="8229600" cy="3581400"/>
          </a:xfrm>
          <a:prstGeom prst="roundRect">
            <a:avLst>
              <a:gd fmla="val 9042" name="adj"/>
            </a:avLst>
          </a:prstGeom>
          <a:solidFill>
            <a:srgbClr val="F2DADA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Day workDay;  // Define a Day variable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// ERROR!!! This code will NOT work.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(workDay = MONDAY; workDay &lt;= FRIDAY; workDay++)‏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"Enter the sales for day "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&lt;&lt; workDay &lt;&lt; ": ";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cin &gt;&gt; sales[workDay];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/>
          <p:nvPr>
            <p:ph type="title"/>
          </p:nvPr>
        </p:nvSpPr>
        <p:spPr>
          <a:xfrm>
            <a:off x="2209800" y="152400"/>
            <a:ext cx="6934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Using an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/>
              <a:t> Variable to Step through an Array's Elements</a:t>
            </a:r>
            <a:endParaRPr/>
          </a:p>
        </p:txBody>
      </p:sp>
      <p:sp>
        <p:nvSpPr>
          <p:cNvPr id="548" name="Google Shape;548;p65"/>
          <p:cNvSpPr/>
          <p:nvPr>
            <p:ph idx="2" type="body"/>
          </p:nvPr>
        </p:nvSpPr>
        <p:spPr>
          <a:xfrm>
            <a:off x="539839" y="1981200"/>
            <a:ext cx="8229600" cy="990600"/>
          </a:xfrm>
          <a:prstGeom prst="roundRect">
            <a:avLst>
              <a:gd fmla="val 22043" name="adj"/>
            </a:avLst>
          </a:prstGeom>
          <a:solidFill>
            <a:schemeClr val="accent3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You must rewrite the loop’s update expression using a cast instead of ++:</a:t>
            </a:r>
            <a:endParaRPr/>
          </a:p>
        </p:txBody>
      </p:sp>
      <p:sp>
        <p:nvSpPr>
          <p:cNvPr id="549" name="Google Shape;549;p65"/>
          <p:cNvSpPr/>
          <p:nvPr>
            <p:ph idx="2" type="body"/>
          </p:nvPr>
        </p:nvSpPr>
        <p:spPr>
          <a:xfrm>
            <a:off x="547352" y="3161763"/>
            <a:ext cx="8229600" cy="2819400"/>
          </a:xfrm>
          <a:prstGeom prst="roundRect">
            <a:avLst>
              <a:gd fmla="val 9042" name="adj"/>
            </a:avLst>
          </a:prstGeom>
          <a:solidFill>
            <a:srgbClr val="EAF1DD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(workDay = MONDAY; workDay &lt;= FRIDAY;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workDay = static_cast&lt;Day&gt;(workDay + 1)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)‏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cout &lt;&lt; "Enter the sales for day "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&lt;&lt; workDay &lt;&lt; ": ";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cin &gt;&gt; sales[workDay];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6"/>
          <p:cNvSpPr txBox="1"/>
          <p:nvPr>
            <p:ph type="title"/>
          </p:nvPr>
        </p:nvSpPr>
        <p:spPr>
          <a:xfrm>
            <a:off x="1998372" y="152400"/>
            <a:ext cx="716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200"/>
              <a:t>Using an </a:t>
            </a:r>
            <a:r>
              <a:rPr lang="en-GB" sz="3200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 sz="3200"/>
              <a:t> Variable to Step through an Array's Elements - Example</a:t>
            </a:r>
            <a:endParaRPr sz="3200"/>
          </a:p>
        </p:txBody>
      </p:sp>
      <p:pic>
        <p:nvPicPr>
          <p:cNvPr id="555" name="Google Shape;55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752600"/>
            <a:ext cx="8090551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7"/>
          <p:cNvSpPr txBox="1"/>
          <p:nvPr>
            <p:ph type="title"/>
          </p:nvPr>
        </p:nvSpPr>
        <p:spPr>
          <a:xfrm>
            <a:off x="1998372" y="152400"/>
            <a:ext cx="716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3200"/>
              <a:t>Using an </a:t>
            </a:r>
            <a:r>
              <a:rPr lang="en-GB" sz="3200">
                <a:latin typeface="Courier New"/>
                <a:ea typeface="Courier New"/>
                <a:cs typeface="Courier New"/>
                <a:sym typeface="Courier New"/>
              </a:rPr>
              <a:t>enum</a:t>
            </a:r>
            <a:r>
              <a:rPr lang="en-GB" sz="3200"/>
              <a:t> Variable to Step through an Array's Elements - example</a:t>
            </a:r>
            <a:endParaRPr/>
          </a:p>
        </p:txBody>
      </p:sp>
      <p:pic>
        <p:nvPicPr>
          <p:cNvPr id="561" name="Google Shape;56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219200"/>
            <a:ext cx="6751721" cy="5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8"/>
          <p:cNvSpPr txBox="1"/>
          <p:nvPr>
            <p:ph type="title"/>
          </p:nvPr>
        </p:nvSpPr>
        <p:spPr>
          <a:xfrm>
            <a:off x="2209800" y="152400"/>
            <a:ext cx="6934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Enumerators Must Be Unique Within the same Scope</a:t>
            </a:r>
            <a:endParaRPr/>
          </a:p>
        </p:txBody>
      </p:sp>
      <p:sp>
        <p:nvSpPr>
          <p:cNvPr id="567" name="Google Shape;567;p68"/>
          <p:cNvSpPr/>
          <p:nvPr>
            <p:ph idx="2" type="body"/>
          </p:nvPr>
        </p:nvSpPr>
        <p:spPr>
          <a:xfrm>
            <a:off x="539839" y="1600200"/>
            <a:ext cx="8229600" cy="1371600"/>
          </a:xfrm>
          <a:prstGeom prst="roundRect">
            <a:avLst>
              <a:gd fmla="val 22043" name="adj"/>
            </a:avLst>
          </a:prstGeom>
          <a:solidFill>
            <a:schemeClr val="accent4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Enumerators must be unique within the same scope. For example, an error will result if both of the following enumerated types are declared within the same scope:</a:t>
            </a:r>
            <a:endParaRPr/>
          </a:p>
        </p:txBody>
      </p:sp>
      <p:sp>
        <p:nvSpPr>
          <p:cNvPr id="568" name="Google Shape;568;p68"/>
          <p:cNvSpPr/>
          <p:nvPr>
            <p:ph idx="2" type="body"/>
          </p:nvPr>
        </p:nvSpPr>
        <p:spPr>
          <a:xfrm>
            <a:off x="547352" y="3161763"/>
            <a:ext cx="8229600" cy="1715037"/>
          </a:xfrm>
          <a:prstGeom prst="roundRect">
            <a:avLst>
              <a:gd fmla="val 15800" name="adj"/>
            </a:avLst>
          </a:prstGeom>
          <a:solidFill>
            <a:srgbClr val="E5DFEC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enum Presidents { MCKINLEY,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ROOSEVELT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TAFT };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enum VicePresidents { </a:t>
            </a:r>
            <a:r>
              <a:rPr b="1"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ROOSEVELT</a:t>
            </a: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FAIRBANKS,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SHERMAN };</a:t>
            </a:r>
            <a:endParaRPr/>
          </a:p>
        </p:txBody>
      </p:sp>
      <p:grpSp>
        <p:nvGrpSpPr>
          <p:cNvPr id="569" name="Google Shape;569;p68"/>
          <p:cNvGrpSpPr/>
          <p:nvPr/>
        </p:nvGrpSpPr>
        <p:grpSpPr>
          <a:xfrm>
            <a:off x="5332413" y="3656013"/>
            <a:ext cx="920749" cy="1530349"/>
            <a:chOff x="3550" y="2494"/>
            <a:chExt cx="580" cy="964"/>
          </a:xfrm>
        </p:grpSpPr>
        <p:cxnSp>
          <p:nvCxnSpPr>
            <p:cNvPr id="570" name="Google Shape;570;p68"/>
            <p:cNvCxnSpPr/>
            <p:nvPr/>
          </p:nvCxnSpPr>
          <p:spPr>
            <a:xfrm rot="10800000">
              <a:off x="3550" y="2926"/>
              <a:ext cx="580" cy="532"/>
            </a:xfrm>
            <a:prstGeom prst="straightConnector1">
              <a:avLst/>
            </a:prstGeom>
            <a:noFill/>
            <a:ln cap="flat" cmpd="sng" w="9525">
              <a:solidFill>
                <a:srgbClr val="FF66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71" name="Google Shape;571;p68"/>
            <p:cNvCxnSpPr/>
            <p:nvPr/>
          </p:nvCxnSpPr>
          <p:spPr>
            <a:xfrm rot="10800000">
              <a:off x="3934" y="2494"/>
              <a:ext cx="196" cy="964"/>
            </a:xfrm>
            <a:prstGeom prst="straightConnector1">
              <a:avLst/>
            </a:prstGeom>
            <a:noFill/>
            <a:ln cap="flat" cmpd="sng" w="9525">
              <a:solidFill>
                <a:srgbClr val="FF66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572" name="Google Shape;572;p68"/>
          <p:cNvSpPr txBox="1"/>
          <p:nvPr/>
        </p:nvSpPr>
        <p:spPr>
          <a:xfrm>
            <a:off x="3657600" y="5302249"/>
            <a:ext cx="5105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800"/>
              <a:buFont typeface="Courier New"/>
              <a:buNone/>
            </a:pPr>
            <a:r>
              <a:rPr b="1" i="0" lang="en-GB" sz="2800" u="none" cap="none" strike="noStrike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ROOSEVELT</a:t>
            </a:r>
            <a:r>
              <a:rPr b="0" i="0" lang="en-GB" sz="2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is declared twice.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9"/>
          <p:cNvSpPr txBox="1"/>
          <p:nvPr>
            <p:ph type="title"/>
          </p:nvPr>
        </p:nvSpPr>
        <p:spPr>
          <a:xfrm>
            <a:off x="2209800" y="171719"/>
            <a:ext cx="6934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Declaring the Type and Defining the Variables in One Statement</a:t>
            </a:r>
            <a:endParaRPr/>
          </a:p>
        </p:txBody>
      </p:sp>
      <p:sp>
        <p:nvSpPr>
          <p:cNvPr id="578" name="Google Shape;578;p69"/>
          <p:cNvSpPr/>
          <p:nvPr>
            <p:ph idx="2" type="body"/>
          </p:nvPr>
        </p:nvSpPr>
        <p:spPr>
          <a:xfrm>
            <a:off x="539839" y="2057400"/>
            <a:ext cx="8229600" cy="1295400"/>
          </a:xfrm>
          <a:prstGeom prst="roundRect">
            <a:avLst>
              <a:gd fmla="val 22043" name="adj"/>
            </a:avLst>
          </a:prstGeom>
          <a:solidFill>
            <a:schemeClr val="accent2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?"/>
            </a:pPr>
            <a:r>
              <a:rPr lang="en-GB"/>
              <a:t>You can declare an enumerated data type and define one or more variables of the type in the same statement. For example:</a:t>
            </a:r>
            <a:endParaRPr/>
          </a:p>
        </p:txBody>
      </p:sp>
      <p:sp>
        <p:nvSpPr>
          <p:cNvPr id="579" name="Google Shape;579;p69"/>
          <p:cNvSpPr/>
          <p:nvPr>
            <p:ph idx="2" type="body"/>
          </p:nvPr>
        </p:nvSpPr>
        <p:spPr>
          <a:xfrm>
            <a:off x="539839" y="3581400"/>
            <a:ext cx="8229600" cy="2057400"/>
          </a:xfrm>
          <a:prstGeom prst="roundRect">
            <a:avLst>
              <a:gd fmla="val 16811" name="adj"/>
            </a:avLst>
          </a:prstGeom>
          <a:solidFill>
            <a:srgbClr val="F2DADA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enum Car { PORSCHE, FERRARI, JAGUAR } sportsCar;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38"/>
              </a:spcBef>
              <a:spcAft>
                <a:spcPts val="0"/>
              </a:spcAft>
              <a:buSzPts val="2400"/>
              <a:buNone/>
            </a:pPr>
            <a:r>
              <a:rPr lang="en-GB">
                <a:solidFill>
                  <a:srgbClr val="000000"/>
                </a:solidFill>
              </a:rPr>
              <a:t>	This code declares the </a:t>
            </a:r>
            <a:r>
              <a:rPr lang="en-GB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Car</a:t>
            </a:r>
            <a:r>
              <a:rPr lang="en-GB">
                <a:solidFill>
                  <a:srgbClr val="000000"/>
                </a:solidFill>
              </a:rPr>
              <a:t> data type and defines a variable named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38"/>
              </a:spcBef>
              <a:spcAft>
                <a:spcPts val="0"/>
              </a:spcAft>
              <a:buSzPts val="2000"/>
              <a:buNone/>
            </a:pPr>
            <a:r>
              <a:rPr lang="en-GB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sportsCar</a:t>
            </a:r>
            <a:r>
              <a:rPr lang="en-GB" sz="2000">
                <a:solidFill>
                  <a:srgbClr val="000000"/>
                </a:solidFill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38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t/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2014-02-24T04:16:52Z</dcterms:created>
  <dc:creator>user</dc:creator>
</cp:coreProperties>
</file>