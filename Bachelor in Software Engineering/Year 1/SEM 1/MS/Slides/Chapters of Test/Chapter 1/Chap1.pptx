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300" r:id="rId38"/>
    <p:sldId id="294" r:id="rId39"/>
    <p:sldId id="295" r:id="rId40"/>
    <p:sldId id="296" r:id="rId41"/>
    <p:sldId id="302" r:id="rId42"/>
    <p:sldId id="297" r:id="rId43"/>
    <p:sldId id="298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286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299" r:id="rId76"/>
    <p:sldId id="333" r:id="rId77"/>
    <p:sldId id="334" r:id="rId78"/>
    <p:sldId id="335" r:id="rId79"/>
    <p:sldId id="336" r:id="rId80"/>
    <p:sldId id="301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0" autoAdjust="0"/>
    <p:restoredTop sz="94698"/>
  </p:normalViewPr>
  <p:slideViewPr>
    <p:cSldViewPr snapToGrid="0" showGuides="1">
      <p:cViewPr varScale="1">
        <p:scale>
          <a:sx n="73" d="100"/>
          <a:sy n="73" d="100"/>
        </p:scale>
        <p:origin x="77" y="15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3BEF4-8883-4626-8C3D-FB55BC970A17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5CF47-73E0-4A87-8BE5-A22D79E3C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5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85CF47-73E0-4A87-8BE5-A22D79E3C52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84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4667" y="173038"/>
            <a:ext cx="2760134" cy="368829"/>
          </a:xfrm>
        </p:spPr>
        <p:txBody>
          <a:bodyPr/>
          <a:lstStyle>
            <a:lvl1pPr marL="0" indent="0" algn="ctr">
              <a:buNone/>
              <a:defRPr sz="2000" baseline="0">
                <a:latin typeface="Bahnschrift Condensed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SECI1013: Discrete Structure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667" y="6173787"/>
            <a:ext cx="2057400" cy="365125"/>
          </a:xfrm>
        </p:spPr>
        <p:txBody>
          <a:bodyPr/>
          <a:lstStyle>
            <a:lvl1pPr>
              <a:defRPr>
                <a:latin typeface="Bahnschrift Condensed" panose="020B0502040204020203" pitchFamily="34" charset="0"/>
              </a:defRPr>
            </a:lvl1pPr>
          </a:lstStyle>
          <a:p>
            <a:pPr>
              <a:defRPr/>
            </a:pPr>
            <a:r>
              <a:rPr lang="en-US" dirty="0"/>
              <a:t>nzah@utm.my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2083" y="6356349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A04A2-C734-40EE-BC75-C32540C934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C19FE-4F2B-4F16-85EA-96DED8248506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CD821-32F0-4921-85B8-393E69F49F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17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F89E2-82D2-4DE2-AF81-5DAED26BF2DE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57DDD-B5C6-43F1-B07B-F805E5DFE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9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D97B72-21F4-4E45-95BD-52CE1B63DC29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5C8F2-1D4B-475E-AAED-9C6E6AE9ED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0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83575-BFB8-446E-AC7C-4C2A7D4AE5FD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C11D0-5731-4C38-B084-493D7559A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5F276-6BDF-47E9-BA0D-EFDE472BC170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62858-6EBE-4958-AA9E-43B2C11F9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4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AE21E-9876-4D99-990A-FD5201F8E2DD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F4F49-FAD2-4EE7-B198-11EF145CB3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79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851278-47B3-4D72-A0BA-1A106320580E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DC13A-3688-4D3D-AAD0-4D8561CA3F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0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B59F77-E289-4BEA-83B1-2291633C2497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62364-B06F-49F8-A6DC-ECDACC9764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2C8C0-49AE-41CD-90EF-718960DCBE6E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FF3AD-4171-48D5-B862-858EAA09BC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2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3EE3D-D186-41DB-9124-DADD38D77BE3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F9322-8728-4138-8999-FA4BD7DE8D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11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29336-8EA8-4DF2-AB3F-3F3A9AF42638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60E1-762D-44BC-AF2E-19101B620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F26EC25-EE8C-4E4D-B4E2-7079258C7EBA}" type="datetimeFigureOut">
              <a:rPr lang="en-US"/>
              <a:pPr>
                <a:defRPr/>
              </a:pPr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4C1EDB-D35D-462E-A26F-7504C258E7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1.png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://mathinsight.org/definition/subse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14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709738" y="1701405"/>
            <a:ext cx="5829300" cy="110251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500" dirty="0">
                <a:latin typeface="Arial Black" panose="020B0A04020102020204" pitchFamily="34" charset="0"/>
                <a:ea typeface="ＭＳ Ｐゴシック" charset="-128"/>
              </a:rPr>
              <a:t>CHAPTER 1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709737" y="3211116"/>
            <a:ext cx="5940029" cy="1243013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MY" sz="3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SET THEORY</a:t>
            </a:r>
          </a:p>
          <a:p>
            <a:pPr>
              <a:defRPr/>
            </a:pPr>
            <a:r>
              <a:rPr lang="en-MY" sz="33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[Part 1: Set &amp; Subset]</a:t>
            </a:r>
          </a:p>
          <a:p>
            <a:pPr>
              <a:defRPr/>
            </a:pPr>
            <a:endParaRPr lang="en-MY" sz="33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956" y="6523329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660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337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60513" y="1885950"/>
                <a:ext cx="8084890" cy="3086100"/>
              </a:xfrm>
            </p:spPr>
            <p:txBody>
              <a:bodyPr/>
              <a:lstStyle/>
              <a:p>
                <a:pPr marL="342900" indent="-342900">
                  <a:defRPr/>
                </a:pPr>
                <a:r>
                  <a:rPr lang="en-US" dirty="0">
                    <a:ea typeface="ＭＳ Ｐゴシック" charset="0"/>
                    <a:cs typeface="Times New Roman" charset="0"/>
                  </a:rPr>
                  <a:t>The concept of set is basic to all of mathematics and mathematical applications.</a:t>
                </a:r>
              </a:p>
              <a:p>
                <a:pPr marL="0" indent="0">
                  <a:buNone/>
                  <a:defRPr/>
                </a:pPr>
                <a:endParaRPr lang="en-US" dirty="0">
                  <a:ea typeface="ＭＳ Ｐゴシック" charset="0"/>
                  <a:cs typeface="Times New Roman" charset="0"/>
                </a:endParaRPr>
              </a:p>
              <a:p>
                <a:pPr marL="342900" indent="-342900">
                  <a:defRPr/>
                </a:pPr>
                <a:r>
                  <a:rPr lang="en-US" dirty="0">
                    <a:solidFill>
                      <a:srgbClr val="FF0000"/>
                    </a:solidFill>
                    <a:ea typeface="ＭＳ Ｐゴシック" charset="0"/>
                    <a:cs typeface="Times New Roman" charset="0"/>
                  </a:rPr>
                  <a:t>Set </a:t>
                </a:r>
                <a:r>
                  <a:rPr lang="en-US" dirty="0">
                    <a:ea typeface="ＭＳ Ｐゴシック" charset="0"/>
                    <a:cs typeface="Times New Roman" charset="0"/>
                  </a:rPr>
                  <a:t>:  a well-defined collection of distinct objects. </a:t>
                </a:r>
              </a:p>
              <a:p>
                <a:pPr marL="342900" indent="-342900">
                  <a:defRPr/>
                </a:pPr>
                <a:r>
                  <a:rPr lang="en-US" dirty="0">
                    <a:solidFill>
                      <a:srgbClr val="FF0000"/>
                    </a:solidFill>
                    <a:ea typeface="ＭＳ Ｐゴシック" charset="0"/>
                    <a:cs typeface="Times New Roman" charset="0"/>
                  </a:rPr>
                  <a:t>Element</a:t>
                </a:r>
                <a:r>
                  <a:rPr lang="en-US" dirty="0">
                    <a:ea typeface="ＭＳ Ｐゴシック" charset="0"/>
                    <a:cs typeface="Times New Roman" charset="0"/>
                  </a:rPr>
                  <a:t> : The objects  in the set.</a:t>
                </a:r>
              </a:p>
              <a:p>
                <a:pPr marL="342900" indent="-342900">
                  <a:defRPr/>
                </a:pPr>
                <a:r>
                  <a:rPr lang="en-US" dirty="0">
                    <a:solidFill>
                      <a:srgbClr val="FF0000"/>
                    </a:solidFill>
                    <a:ea typeface="ＭＳ Ｐゴシック" charset="0"/>
                    <a:cs typeface="Times New Roman" charset="0"/>
                  </a:rPr>
                  <a:t>Notation</a:t>
                </a:r>
                <a:r>
                  <a:rPr lang="en-US" dirty="0">
                    <a:ea typeface="ＭＳ Ｐゴシック" charset="0"/>
                    <a:cs typeface="Times New Roman" charset="0"/>
                  </a:rPr>
                  <a:t> : A set is written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ＭＳ Ｐゴシック" charset="0"/>
                        <a:cs typeface="Times New Roman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ＭＳ Ｐゴシック" charset="0"/>
                        <a:cs typeface="Times New Roman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ＭＳ Ｐゴシック" charset="0"/>
                            <a:cs typeface="Times New Roman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ＭＳ Ｐゴシック" charset="0"/>
                            <a:cs typeface="Times New Roman" charset="0"/>
                          </a:rPr>
                          <m:t>1,2,3</m:t>
                        </m:r>
                      </m:e>
                    </m:d>
                  </m:oMath>
                </a14:m>
                <a:endParaRPr lang="en-US" dirty="0">
                  <a:ea typeface="ＭＳ Ｐゴシック" charset="0"/>
                </a:endParaRPr>
              </a:p>
            </p:txBody>
          </p:sp>
        </mc:Choice>
        <mc:Fallback>
          <p:sp>
            <p:nvSpPr>
              <p:cNvPr id="14337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60513" y="1885950"/>
                <a:ext cx="8084890" cy="3086100"/>
              </a:xfrm>
              <a:blipFill>
                <a:blip r:embed="rId2"/>
                <a:stretch>
                  <a:fillRect l="-1357" t="-3156" r="-211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3771900" y="1314450"/>
            <a:ext cx="377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Sets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3778178" y="913626"/>
            <a:ext cx="137095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/>
              <a:t>Sets</a:t>
            </a:r>
          </a:p>
        </p:txBody>
      </p:sp>
      <p:sp>
        <p:nvSpPr>
          <p:cNvPr id="16388" name="Slide Number Placeholder 1"/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240942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A31512-A0B3-B487-009B-C3D89D1D79F7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33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345" y="2646313"/>
            <a:ext cx="7616156" cy="1985983"/>
          </a:xfrm>
        </p:spPr>
        <p:txBody>
          <a:bodyPr/>
          <a:lstStyle/>
          <a:p>
            <a:pPr marL="342900" indent="-342900">
              <a:defRPr/>
            </a:pPr>
            <a:r>
              <a:rPr lang="en-US" dirty="0">
                <a:ea typeface="ＭＳ Ｐゴシック" charset="0"/>
                <a:cs typeface="Times New Roman" charset="0"/>
              </a:rPr>
              <a:t>Well-defined means that we can tell for certain whether an object is a member of the collection or not.</a:t>
            </a:r>
          </a:p>
          <a:p>
            <a:pPr marL="0" indent="0">
              <a:buNone/>
              <a:defRPr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342900" indent="-342900">
              <a:defRPr/>
            </a:pPr>
            <a:r>
              <a:rPr lang="en-US" dirty="0">
                <a:ea typeface="ＭＳ Ｐゴシック" charset="0"/>
                <a:cs typeface="Times New Roman" charset="0"/>
              </a:rPr>
              <a:t>If a set is finite and not too large, we can describe it by listing the elements in it.</a:t>
            </a:r>
            <a:r>
              <a:rPr lang="en-US" dirty="0">
                <a:ea typeface="ＭＳ Ｐゴシック" charset="0"/>
              </a:rPr>
              <a:t> </a:t>
            </a:r>
          </a:p>
        </p:txBody>
      </p:sp>
      <p:sp>
        <p:nvSpPr>
          <p:cNvPr id="17410" name="Rectangle 3"/>
          <p:cNvSpPr>
            <a:spLocks noChangeArrowheads="1"/>
          </p:cNvSpPr>
          <p:nvPr/>
        </p:nvSpPr>
        <p:spPr bwMode="auto">
          <a:xfrm>
            <a:off x="3829050" y="1314450"/>
            <a:ext cx="3714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Sets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141247" y="1217652"/>
            <a:ext cx="225465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/>
              <a:t>Sets </a:t>
            </a:r>
            <a:r>
              <a:rPr lang="en-US" altLang="en-US" sz="1800" dirty="0"/>
              <a:t>(cont’d)</a:t>
            </a:r>
          </a:p>
        </p:txBody>
      </p:sp>
      <p:sp>
        <p:nvSpPr>
          <p:cNvPr id="17412" name="Slide Number Placeholder 1"/>
          <p:cNvSpPr txBox="1">
            <a:spLocks/>
          </p:cNvSpPr>
          <p:nvPr/>
        </p:nvSpPr>
        <p:spPr bwMode="auto">
          <a:xfrm>
            <a:off x="4518424" y="5747148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97DEAC1A-306B-E54A-B670-5340F266F21C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DBAC2F-1A76-D6D3-5D47-31766D12E4D1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373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932121"/>
            <a:ext cx="7975600" cy="93683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3200" dirty="0" err="1">
                <a:ea typeface="ＭＳ Ｐゴシック" charset="0"/>
              </a:rPr>
              <a:t>i</a:t>
            </a:r>
            <a:r>
              <a:rPr lang="en-US" sz="3200" dirty="0">
                <a:ea typeface="ＭＳ Ｐゴシック" charset="0"/>
              </a:rPr>
              <a:t>)  </a:t>
            </a:r>
            <a:r>
              <a:rPr lang="en-US" sz="3200" b="1" dirty="0">
                <a:ea typeface="ＭＳ Ｐゴシック" charset="0"/>
              </a:rPr>
              <a:t>A</a:t>
            </a:r>
            <a:r>
              <a:rPr lang="en-US" sz="3200" dirty="0">
                <a:ea typeface="ＭＳ Ｐゴシック" charset="0"/>
              </a:rPr>
              <a:t> is a set of all positive integers less than 10:</a:t>
            </a:r>
            <a:endParaRPr lang="en-US" sz="3200" dirty="0">
              <a:solidFill>
                <a:srgbClr val="0000FF"/>
              </a:solidFill>
              <a:ea typeface="ＭＳ Ｐゴシック" charset="0"/>
            </a:endParaRPr>
          </a:p>
          <a:p>
            <a:pPr marL="0" indent="0">
              <a:buNone/>
              <a:defRPr/>
            </a:pPr>
            <a:endParaRPr lang="en-US" sz="3200" dirty="0">
              <a:solidFill>
                <a:srgbClr val="0000FF"/>
              </a:solidFill>
              <a:ea typeface="ＭＳ Ｐゴシック" charset="0"/>
            </a:endParaRPr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3657600" y="1314450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655394" y="852785"/>
            <a:ext cx="262321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18436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D5E6403C-6290-0442-BD9A-15FDE836F999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432583" y="2448700"/>
            <a:ext cx="483010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3200" b="1" dirty="0">
                <a:solidFill>
                  <a:srgbClr val="0000FF"/>
                </a:solidFill>
              </a:rPr>
              <a:t>A</a:t>
            </a:r>
            <a:r>
              <a:rPr lang="en-US" altLang="en-US" sz="3200" i="1" dirty="0">
                <a:solidFill>
                  <a:srgbClr val="0000FF"/>
                </a:solidFill>
              </a:rPr>
              <a:t> </a:t>
            </a:r>
            <a:r>
              <a:rPr lang="en-US" altLang="en-US" sz="3200" dirty="0">
                <a:solidFill>
                  <a:srgbClr val="0000FF"/>
                </a:solidFill>
              </a:rPr>
              <a:t>= {1, 2, 3, 4, 5, 6, 7, 8, 9}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436378" y="3587884"/>
            <a:ext cx="322075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3600" b="1" dirty="0">
                <a:solidFill>
                  <a:srgbClr val="0000FF"/>
                </a:solidFill>
              </a:rPr>
              <a:t>B</a:t>
            </a:r>
            <a:r>
              <a:rPr lang="en-US" altLang="en-US" sz="3600" i="1" dirty="0">
                <a:solidFill>
                  <a:srgbClr val="0000FF"/>
                </a:solidFill>
              </a:rPr>
              <a:t> </a:t>
            </a:r>
            <a:r>
              <a:rPr lang="en-US" altLang="en-US" sz="3600" dirty="0">
                <a:solidFill>
                  <a:srgbClr val="0000FF"/>
                </a:solidFill>
              </a:rPr>
              <a:t>= {1, 3, 5, 7, 9}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432583" y="4715707"/>
            <a:ext cx="31790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3600" b="1" dirty="0">
                <a:solidFill>
                  <a:srgbClr val="0000FF"/>
                </a:solidFill>
              </a:rPr>
              <a:t>C</a:t>
            </a:r>
            <a:r>
              <a:rPr lang="en-US" altLang="en-US" sz="3600" i="1" dirty="0">
                <a:solidFill>
                  <a:srgbClr val="0000FF"/>
                </a:solidFill>
              </a:rPr>
              <a:t> </a:t>
            </a:r>
            <a:r>
              <a:rPr lang="en-US" altLang="en-US" sz="3600" dirty="0">
                <a:solidFill>
                  <a:srgbClr val="0000FF"/>
                </a:solidFill>
              </a:rPr>
              <a:t>= {</a:t>
            </a:r>
            <a:r>
              <a:rPr lang="en-US" altLang="en-US" sz="3600" i="1" dirty="0">
                <a:solidFill>
                  <a:srgbClr val="0000FF"/>
                </a:solidFill>
              </a:rPr>
              <a:t>a</a:t>
            </a:r>
            <a:r>
              <a:rPr lang="en-US" altLang="en-US" sz="3600" dirty="0">
                <a:solidFill>
                  <a:srgbClr val="0000FF"/>
                </a:solidFill>
              </a:rPr>
              <a:t>, </a:t>
            </a:r>
            <a:r>
              <a:rPr lang="en-US" altLang="en-US" sz="3600" i="1" dirty="0">
                <a:solidFill>
                  <a:srgbClr val="0000FF"/>
                </a:solidFill>
              </a:rPr>
              <a:t>e</a:t>
            </a:r>
            <a:r>
              <a:rPr lang="en-US" altLang="en-US" sz="3600" dirty="0">
                <a:solidFill>
                  <a:srgbClr val="0000FF"/>
                </a:solidFill>
              </a:rPr>
              <a:t>, </a:t>
            </a:r>
            <a:r>
              <a:rPr lang="en-US" altLang="en-US" sz="3600" i="1" dirty="0" err="1">
                <a:solidFill>
                  <a:srgbClr val="0000FF"/>
                </a:solidFill>
              </a:rPr>
              <a:t>i</a:t>
            </a:r>
            <a:r>
              <a:rPr lang="en-US" altLang="en-US" sz="3600" dirty="0">
                <a:solidFill>
                  <a:srgbClr val="0000FF"/>
                </a:solidFill>
              </a:rPr>
              <a:t>, </a:t>
            </a:r>
            <a:r>
              <a:rPr lang="en-US" altLang="en-US" sz="3600" i="1" dirty="0">
                <a:solidFill>
                  <a:srgbClr val="0000FF"/>
                </a:solidFill>
              </a:rPr>
              <a:t>o</a:t>
            </a:r>
            <a:r>
              <a:rPr lang="en-US" altLang="en-US" sz="3600" dirty="0">
                <a:solidFill>
                  <a:srgbClr val="0000FF"/>
                </a:solidFill>
              </a:rPr>
              <a:t>, </a:t>
            </a:r>
            <a:r>
              <a:rPr lang="en-US" altLang="en-US" sz="3600" i="1" dirty="0">
                <a:solidFill>
                  <a:srgbClr val="0000FF"/>
                </a:solidFill>
              </a:rPr>
              <a:t>u</a:t>
            </a:r>
            <a:r>
              <a:rPr lang="en-US" altLang="en-US" sz="3600" dirty="0">
                <a:solidFill>
                  <a:srgbClr val="0000FF"/>
                </a:solidFill>
              </a:rPr>
              <a:t>}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85800" y="2995614"/>
            <a:ext cx="7459133" cy="43338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3200" dirty="0">
                <a:ea typeface="ＭＳ Ｐゴシック" charset="0"/>
                <a:cs typeface="Times New Roman" charset="0"/>
              </a:rPr>
              <a:t>ii)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B</a:t>
            </a:r>
            <a:r>
              <a:rPr lang="en-US" sz="3200" dirty="0">
                <a:ea typeface="ＭＳ Ｐゴシック" charset="0"/>
                <a:cs typeface="Times New Roman" charset="0"/>
              </a:rPr>
              <a:t> is a set of first 5 positive odd integers:</a:t>
            </a:r>
            <a:endParaRPr lang="en-US" sz="3200" dirty="0">
              <a:solidFill>
                <a:srgbClr val="0000FF"/>
              </a:solidFill>
              <a:ea typeface="ＭＳ Ｐゴシック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573349" y="4226409"/>
            <a:ext cx="6000750" cy="38830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3200" dirty="0">
                <a:ea typeface="ＭＳ Ｐゴシック" charset="0"/>
                <a:cs typeface="Times New Roman" charset="0"/>
              </a:rPr>
              <a:t>iii)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dirty="0">
                <a:ea typeface="ＭＳ Ｐゴシック" charset="0"/>
                <a:cs typeface="Times New Roman" charset="0"/>
              </a:rPr>
              <a:t> is a set of vowels:</a:t>
            </a:r>
            <a:endParaRPr lang="en-US" sz="3200" dirty="0">
              <a:solidFill>
                <a:srgbClr val="0000FF"/>
              </a:solidFill>
              <a:ea typeface="ＭＳ Ｐゴシック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0475E-E845-CFDB-F148-790302B67D95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01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3" grpId="0" build="p"/>
      <p:bldP spid="2" grpId="0"/>
      <p:bldP spid="3" grpId="0"/>
      <p:bldP spid="4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2005526" y="1147777"/>
            <a:ext cx="5580626" cy="885664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5400" b="1" dirty="0">
                <a:latin typeface="+mn-lt"/>
                <a:ea typeface="ＭＳ Ｐゴシック" charset="-128"/>
              </a:rPr>
              <a:t>How we Define Sets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8165" y="2310643"/>
            <a:ext cx="7907671" cy="274949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dirty="0">
                <a:ea typeface="ＭＳ Ｐゴシック" charset="-128"/>
              </a:rPr>
              <a:t>This can be done by: </a:t>
            </a:r>
          </a:p>
          <a:p>
            <a:pPr marL="771525" lvl="1" indent="-342900">
              <a:lnSpc>
                <a:spcPct val="150000"/>
              </a:lnSpc>
              <a:buFont typeface="Wingdings" charset="2"/>
              <a:buChar char="ü"/>
            </a:pPr>
            <a:r>
              <a:rPr lang="en-US" altLang="en-US" sz="2100" dirty="0">
                <a:ea typeface="ＭＳ Ｐゴシック" charset="-128"/>
              </a:rPr>
              <a:t>Listing ALL elements of the set within braces.</a:t>
            </a:r>
          </a:p>
          <a:p>
            <a:pPr marL="771525" lvl="1" indent="-342900">
              <a:lnSpc>
                <a:spcPct val="150000"/>
              </a:lnSpc>
              <a:buFont typeface="Wingdings" charset="2"/>
              <a:buChar char="ü"/>
            </a:pPr>
            <a:r>
              <a:rPr lang="en-US" altLang="en-US" sz="2100" dirty="0">
                <a:ea typeface="ＭＳ Ｐゴシック" charset="-128"/>
              </a:rPr>
              <a:t>Listing enough elements to show the pattern then an ellipsis.</a:t>
            </a:r>
          </a:p>
          <a:p>
            <a:pPr marL="771525" lvl="1" indent="-342900">
              <a:lnSpc>
                <a:spcPct val="150000"/>
              </a:lnSpc>
              <a:buFont typeface="Wingdings" charset="2"/>
              <a:buChar char="ü"/>
            </a:pPr>
            <a:r>
              <a:rPr lang="en-US" altLang="en-US" sz="2100" dirty="0">
                <a:ea typeface="ＭＳ Ｐゴシック" charset="-128"/>
              </a:rPr>
              <a:t>Use set builder notation to define </a:t>
            </a:r>
            <a:r>
              <a:rPr lang="ja-JP" altLang="en-US" sz="2100" dirty="0">
                <a:ea typeface="ＭＳ Ｐゴシック" charset="-128"/>
              </a:rPr>
              <a:t>“</a:t>
            </a:r>
            <a:r>
              <a:rPr lang="en-US" altLang="ja-JP" sz="2100" dirty="0">
                <a:ea typeface="ＭＳ Ｐゴシック" charset="-128"/>
              </a:rPr>
              <a:t>rules</a:t>
            </a:r>
            <a:r>
              <a:rPr lang="ja-JP" altLang="en-US" sz="2100" dirty="0">
                <a:ea typeface="ＭＳ Ｐゴシック" charset="-128"/>
              </a:rPr>
              <a:t>”</a:t>
            </a:r>
            <a:r>
              <a:rPr lang="en-US" altLang="ja-JP" sz="2100" dirty="0">
                <a:ea typeface="ＭＳ Ｐゴシック" charset="-128"/>
              </a:rPr>
              <a:t> for determining membership in the set.</a:t>
            </a:r>
          </a:p>
          <a:p>
            <a:pPr marL="342900" indent="-342900">
              <a:lnSpc>
                <a:spcPct val="150000"/>
              </a:lnSpc>
              <a:buNone/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19459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EDDB2079-72E8-A744-A1BD-8B02729397B7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0E9A13-EA36-BD42-D526-FA309B4E1003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81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857" y="1278731"/>
            <a:ext cx="4231876" cy="61460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5400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009" y="2250281"/>
            <a:ext cx="5690524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D6944959-7FE9-5343-A63E-369362BFF1EC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7971" y="4433205"/>
                <a:ext cx="584676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Note: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MY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Natural</m:t>
                      </m:r>
                      <m:r>
                        <a:rPr lang="en-MY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MY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numbers</m:t>
                      </m:r>
                    </m:oMath>
                  </m:oMathPara>
                </a14:m>
                <a:endParaRPr lang="en-MY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MY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Real</m:t>
                      </m:r>
                      <m:r>
                        <a:rPr lang="en-MY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MY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numbers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omplex numbers</a:t>
                </a:r>
              </a:p>
              <a:p>
                <a:r>
                  <a:rPr lang="en-US" sz="1200" dirty="0"/>
                  <a:t>https://www.mathsisfun.com/sets/number-types.html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1" y="4433205"/>
                <a:ext cx="5846762" cy="1384995"/>
              </a:xfrm>
              <a:prstGeom prst="rect">
                <a:avLst/>
              </a:prstGeom>
              <a:blipFill>
                <a:blip r:embed="rId3"/>
                <a:stretch>
                  <a:fillRect l="-833" t="-2203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F5FE9D9-BC91-05AE-5C18-AF9E37D44E1E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616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85978" y="1765002"/>
            <a:ext cx="7942085" cy="4060065"/>
          </a:xfrm>
        </p:spPr>
        <p:txBody>
          <a:bodyPr/>
          <a:lstStyle/>
          <a:p>
            <a:pPr marL="342900" indent="-342900">
              <a:buNone/>
            </a:pPr>
            <a:endParaRPr lang="en-US" altLang="en-US" dirty="0">
              <a:solidFill>
                <a:srgbClr val="6600CC"/>
              </a:solidFill>
              <a:ea typeface="ＭＳ Ｐゴシック" charset="-128"/>
            </a:endParaRPr>
          </a:p>
          <a:p>
            <a:pPr marL="0" indent="0" algn="just">
              <a:buNone/>
            </a:pPr>
            <a:r>
              <a:rPr lang="en-US" altLang="en-US" dirty="0">
                <a:ea typeface="ＭＳ Ｐゴシック" charset="-128"/>
              </a:rPr>
              <a:t>A set is </a:t>
            </a:r>
            <a:r>
              <a:rPr lang="en-US" altLang="en-US" b="1" dirty="0">
                <a:solidFill>
                  <a:srgbClr val="0070C0"/>
                </a:solidFill>
                <a:ea typeface="ＭＳ Ｐゴシック" charset="-128"/>
              </a:rPr>
              <a:t>determined by its elements </a:t>
            </a:r>
            <a:r>
              <a:rPr lang="en-US" altLang="en-US" dirty="0">
                <a:ea typeface="ＭＳ Ｐゴシック" charset="-128"/>
              </a:rPr>
              <a:t>and </a:t>
            </a:r>
            <a:r>
              <a:rPr lang="en-US" altLang="en-US" b="1" dirty="0">
                <a:solidFill>
                  <a:srgbClr val="0070C0"/>
                </a:solidFill>
                <a:ea typeface="ＭＳ Ｐゴシック" charset="-128"/>
              </a:rPr>
              <a:t>not by any particular order</a:t>
            </a:r>
            <a:r>
              <a:rPr lang="en-US" altLang="en-US" dirty="0">
                <a:solidFill>
                  <a:srgbClr val="0070C0"/>
                </a:solidFill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in which the element might be listed.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  <a:r>
              <a:rPr lang="en-US" altLang="en-US" dirty="0">
                <a:solidFill>
                  <a:srgbClr val="00B050"/>
                </a:solidFill>
                <a:ea typeface="ＭＳ Ｐゴシック" charset="-128"/>
              </a:rPr>
              <a:t>:</a:t>
            </a:r>
            <a:r>
              <a:rPr lang="en-US" altLang="en-US" dirty="0">
                <a:solidFill>
                  <a:srgbClr val="6600CC"/>
                </a:solidFill>
                <a:ea typeface="ＭＳ Ｐゴシック" charset="-128"/>
              </a:rPr>
              <a:t> </a:t>
            </a:r>
          </a:p>
          <a:p>
            <a:pPr marL="0" indent="0">
              <a:buNone/>
            </a:pPr>
            <a:r>
              <a:rPr lang="en-US" altLang="en-US" sz="3200" dirty="0">
                <a:ea typeface="ＭＳ Ｐゴシック" charset="-128"/>
              </a:rPr>
              <a:t>For set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</a:rPr>
              <a:t>A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= {1, 2, 3, 4}, </a:t>
            </a:r>
            <a:r>
              <a:rPr lang="en-US" altLang="en-US" sz="3200" dirty="0">
                <a:ea typeface="ＭＳ Ｐゴシック" charset="-128"/>
              </a:rPr>
              <a:t>this set </a:t>
            </a:r>
            <a:r>
              <a:rPr lang="en-US" altLang="en-US" dirty="0">
                <a:ea typeface="ＭＳ Ｐゴシック" charset="-128"/>
              </a:rPr>
              <a:t>might just as well be specified as,              </a:t>
            </a:r>
          </a:p>
          <a:p>
            <a:pPr marL="342900" indent="-342900">
              <a:buNone/>
            </a:pP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    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{2, 3, 4, 1}</a:t>
            </a:r>
            <a:r>
              <a:rPr lang="en-US" altLang="en-US" sz="3200" dirty="0">
                <a:ea typeface="ＭＳ Ｐゴシック" charset="-128"/>
              </a:rPr>
              <a:t> or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{4, 1, 3, 2}</a:t>
            </a:r>
          </a:p>
          <a:p>
            <a:pPr marL="1027510" lvl="2">
              <a:buNone/>
            </a:pPr>
            <a:endParaRPr lang="en-US" altLang="en-US" dirty="0">
              <a:ea typeface="ＭＳ Ｐゴシック" charset="-128"/>
            </a:endParaRPr>
          </a:p>
          <a:p>
            <a:pPr marL="342900" indent="-342900"/>
            <a:endParaRPr lang="en-US" altLang="en-US" dirty="0">
              <a:ea typeface="ＭＳ Ｐゴシック" charset="-128"/>
            </a:endParaRPr>
          </a:p>
        </p:txBody>
      </p:sp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3383756" y="1269206"/>
            <a:ext cx="38290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Set (cont’d)s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1109131" y="1064716"/>
            <a:ext cx="640637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/>
              <a:t> Defining Sets </a:t>
            </a:r>
            <a:r>
              <a:rPr lang="en-US" altLang="en-US" sz="1800" dirty="0"/>
              <a:t>(cont’d)</a:t>
            </a:r>
          </a:p>
        </p:txBody>
      </p:sp>
      <p:sp>
        <p:nvSpPr>
          <p:cNvPr id="21508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07411CA7-F228-BD4B-BAA4-8EB84848DE69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8B493-4763-73DB-F4C0-E5CF6B24739D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55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ＭＳ Ｐゴシック" charset="-128"/>
              </a:rPr>
              <a:t>The elements making up a set are assumed to be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distinct</a:t>
            </a:r>
            <a:r>
              <a:rPr lang="en-US" altLang="en-US" dirty="0">
                <a:ea typeface="ＭＳ Ｐゴシック" charset="-128"/>
              </a:rPr>
              <a:t>, we may have duplicates in our list, only one occurrence of each element is in the set. </a:t>
            </a:r>
          </a:p>
          <a:p>
            <a:pPr marL="0" indent="0">
              <a:buNone/>
            </a:pPr>
            <a:r>
              <a:rPr lang="en-US" altLang="en-US" b="1" dirty="0">
                <a:solidFill>
                  <a:srgbClr val="00B050"/>
                </a:solidFill>
                <a:ea typeface="ＭＳ Ｐゴシック" charset="-128"/>
              </a:rPr>
              <a:t>Example:</a:t>
            </a:r>
          </a:p>
          <a:p>
            <a:pPr marL="342900" indent="-342900">
              <a:buNone/>
            </a:pPr>
            <a:r>
              <a:rPr lang="en-US" altLang="en-US" dirty="0">
                <a:ea typeface="ＭＳ Ｐゴシック" charset="-128"/>
              </a:rPr>
              <a:t>	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{</a:t>
            </a:r>
            <a:r>
              <a:rPr lang="en-US" altLang="en-US" sz="3200" i="1" dirty="0">
                <a:solidFill>
                  <a:srgbClr val="0000FF"/>
                </a:solidFill>
                <a:ea typeface="ＭＳ Ｐゴシック" charset="-128"/>
              </a:rPr>
              <a:t>a, b, c, a, c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}               {</a:t>
            </a:r>
            <a:r>
              <a:rPr lang="en-US" altLang="en-US" sz="3200" i="1" dirty="0">
                <a:solidFill>
                  <a:srgbClr val="0000FF"/>
                </a:solidFill>
                <a:ea typeface="ＭＳ Ｐゴシック" charset="-128"/>
              </a:rPr>
              <a:t>a, b, c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}</a:t>
            </a:r>
          </a:p>
          <a:p>
            <a:pPr marL="342900" indent="-342900">
              <a:buNone/>
            </a:pPr>
            <a:endParaRPr lang="en-US" altLang="en-US" sz="3200" dirty="0">
              <a:solidFill>
                <a:srgbClr val="0000FF"/>
              </a:solidFill>
              <a:ea typeface="ＭＳ Ｐゴシック" charset="-128"/>
            </a:endParaRPr>
          </a:p>
          <a:p>
            <a:pPr marL="342900" indent="-342900">
              <a:buNone/>
            </a:pP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	{1, 3, 3, 5, 1}              {1, 3, 5}</a:t>
            </a:r>
          </a:p>
          <a:p>
            <a:pPr marL="342900" indent="-342900">
              <a:buNone/>
            </a:pPr>
            <a:endParaRPr lang="en-US" altLang="en-US" dirty="0">
              <a:solidFill>
                <a:srgbClr val="AE3221"/>
              </a:solidFill>
              <a:ea typeface="ＭＳ Ｐゴシック" charset="-128"/>
            </a:endParaRPr>
          </a:p>
        </p:txBody>
      </p:sp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3771900" y="1314450"/>
            <a:ext cx="377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Sets</a:t>
            </a:r>
          </a:p>
        </p:txBody>
      </p:sp>
      <p:sp>
        <p:nvSpPr>
          <p:cNvPr id="22531" name="Line 4"/>
          <p:cNvSpPr>
            <a:spLocks noChangeShapeType="1"/>
          </p:cNvSpPr>
          <p:nvPr/>
        </p:nvSpPr>
        <p:spPr bwMode="auto">
          <a:xfrm>
            <a:off x="3556264" y="4986206"/>
            <a:ext cx="571500" cy="0"/>
          </a:xfrm>
          <a:prstGeom prst="line">
            <a:avLst/>
          </a:prstGeom>
          <a:noFill/>
          <a:ln w="571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2" name="Line 5"/>
          <p:cNvSpPr>
            <a:spLocks noChangeShapeType="1"/>
          </p:cNvSpPr>
          <p:nvPr/>
        </p:nvSpPr>
        <p:spPr bwMode="auto">
          <a:xfrm>
            <a:off x="3644900" y="3831167"/>
            <a:ext cx="571500" cy="0"/>
          </a:xfrm>
          <a:prstGeom prst="line">
            <a:avLst/>
          </a:prstGeom>
          <a:noFill/>
          <a:ln w="57150">
            <a:solidFill>
              <a:srgbClr val="CC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3" name="Rectangle 3"/>
          <p:cNvSpPr>
            <a:spLocks noChangeArrowheads="1"/>
          </p:cNvSpPr>
          <p:nvPr/>
        </p:nvSpPr>
        <p:spPr bwMode="auto">
          <a:xfrm>
            <a:off x="931334" y="896679"/>
            <a:ext cx="743373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/>
              <a:t> Defining Sets </a:t>
            </a:r>
            <a:r>
              <a:rPr lang="en-US" altLang="en-US" sz="1800" dirty="0"/>
              <a:t>(cont’d)</a:t>
            </a:r>
          </a:p>
        </p:txBody>
      </p:sp>
      <p:sp>
        <p:nvSpPr>
          <p:cNvPr id="22534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0F85D591-AA8A-6648-94A3-FC7090214DD6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93D0C6-BD85-C19E-64FC-D901E95C58CC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624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63171" y="2073949"/>
            <a:ext cx="7987919" cy="3463251"/>
          </a:xfrm>
        </p:spPr>
        <p:txBody>
          <a:bodyPr/>
          <a:lstStyle/>
          <a:p>
            <a:pPr marL="342900" indent="-342900"/>
            <a:r>
              <a:rPr lang="en-US" altLang="en-US" dirty="0">
                <a:ea typeface="ＭＳ Ｐゴシック" charset="-128"/>
              </a:rPr>
              <a:t>Use uppercase letters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,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B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,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C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… </a:t>
            </a:r>
            <a:r>
              <a:rPr lang="en-US" altLang="en-US" dirty="0">
                <a:ea typeface="ＭＳ Ｐゴシック" charset="-128"/>
              </a:rPr>
              <a:t>to denote sets, lowercase denote the elements of set.</a:t>
            </a:r>
          </a:p>
          <a:p>
            <a:pPr marL="342900" indent="-342900">
              <a:buNone/>
            </a:pPr>
            <a:endParaRPr lang="en-US" altLang="en-US" dirty="0">
              <a:ea typeface="ＭＳ Ｐゴシック" charset="-128"/>
            </a:endParaRPr>
          </a:p>
          <a:p>
            <a:pPr marL="342900" indent="-342900"/>
            <a:r>
              <a:rPr lang="en-US" altLang="en-US" dirty="0">
                <a:ea typeface="ＭＳ Ｐゴシック" charset="-128"/>
              </a:rPr>
              <a:t>The symbol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</a:t>
            </a:r>
            <a:r>
              <a:rPr lang="en-US" altLang="en-US" dirty="0">
                <a:ea typeface="ＭＳ Ｐゴシック" charset="-128"/>
                <a:sym typeface="Symbol" charset="2"/>
              </a:rPr>
              <a:t> stands for </a:t>
            </a:r>
            <a:r>
              <a:rPr lang="ja-JP" altLang="en-US" dirty="0">
                <a:ea typeface="ＭＳ Ｐゴシック" charset="-128"/>
                <a:sym typeface="Symbol" charset="2"/>
              </a:rPr>
              <a:t>‘</a:t>
            </a:r>
            <a:r>
              <a:rPr lang="en-US" altLang="ja-JP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belongs to</a:t>
            </a:r>
            <a:r>
              <a:rPr lang="ja-JP" altLang="en-US" dirty="0">
                <a:ea typeface="ＭＳ Ｐゴシック" charset="-128"/>
                <a:sym typeface="Symbol" charset="2"/>
              </a:rPr>
              <a:t>’</a:t>
            </a:r>
            <a:endParaRPr lang="en-US" altLang="ja-JP" dirty="0">
              <a:ea typeface="ＭＳ Ｐゴシック" charset="-128"/>
              <a:sym typeface="Symbol" charset="2"/>
            </a:endParaRPr>
          </a:p>
          <a:p>
            <a:pPr marL="342900" indent="-342900">
              <a:buNone/>
            </a:pPr>
            <a:endParaRPr lang="en-US" altLang="ja-JP" dirty="0">
              <a:ea typeface="ＭＳ Ｐゴシック" charset="-128"/>
              <a:sym typeface="Symbol" charset="2"/>
            </a:endParaRPr>
          </a:p>
          <a:p>
            <a:pPr marL="342900" indent="-342900"/>
            <a:r>
              <a:rPr lang="en-US" altLang="en-US" dirty="0">
                <a:ea typeface="ＭＳ Ｐゴシック" charset="-128"/>
              </a:rPr>
              <a:t>The symbol</a:t>
            </a:r>
            <a:r>
              <a:rPr lang="en-US" altLang="en-US" dirty="0">
                <a:solidFill>
                  <a:srgbClr val="AE3221"/>
                </a:solidFill>
                <a:ea typeface="ＭＳ Ｐゴシック" charset="-128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</a:t>
            </a:r>
            <a:r>
              <a:rPr lang="en-US" altLang="en-US" dirty="0">
                <a:ea typeface="ＭＳ Ｐゴシック" charset="-128"/>
                <a:sym typeface="Symbol" charset="2"/>
              </a:rPr>
              <a:t> stands for </a:t>
            </a:r>
            <a:r>
              <a:rPr lang="ja-JP" altLang="en-US" dirty="0">
                <a:ea typeface="ＭＳ Ｐゴシック" charset="-128"/>
                <a:sym typeface="Symbol" charset="2"/>
              </a:rPr>
              <a:t>‘</a:t>
            </a:r>
            <a:r>
              <a:rPr lang="en-US" altLang="ja-JP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does not belong to</a:t>
            </a:r>
            <a:r>
              <a:rPr lang="ja-JP" altLang="en-US" dirty="0">
                <a:ea typeface="ＭＳ Ｐゴシック" charset="-128"/>
                <a:sym typeface="Symbol" charset="2"/>
              </a:rPr>
              <a:t>’</a:t>
            </a:r>
            <a:endParaRPr lang="en-US" altLang="ja-JP" dirty="0">
              <a:ea typeface="ＭＳ Ｐゴシック" charset="-128"/>
            </a:endParaRPr>
          </a:p>
          <a:p>
            <a:pPr marL="342900" indent="-342900">
              <a:buNone/>
            </a:pPr>
            <a:r>
              <a:rPr lang="en-US" altLang="en-US" dirty="0">
                <a:ea typeface="ＭＳ Ｐゴシック" charset="-128"/>
              </a:rPr>
              <a:t>	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3771900" y="1371600"/>
            <a:ext cx="3771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Sets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494367" y="989954"/>
            <a:ext cx="574463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/>
              <a:t> Defining Sets </a:t>
            </a:r>
            <a:r>
              <a:rPr lang="en-US" altLang="en-US" sz="1500" dirty="0"/>
              <a:t>(cont’d)</a:t>
            </a:r>
          </a:p>
        </p:txBody>
      </p:sp>
      <p:sp>
        <p:nvSpPr>
          <p:cNvPr id="23556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F4942B53-CA09-9845-AB10-F7FB4A5C0718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06214C-EE88-A9B7-A8B0-6A3159B1D4B4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489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None/>
            </a:pPr>
            <a:endParaRPr lang="en-US" altLang="en-US" sz="3600" dirty="0">
              <a:solidFill>
                <a:srgbClr val="CC0000"/>
              </a:solidFill>
              <a:ea typeface="ＭＳ Ｐゴシック" charset="-128"/>
            </a:endParaRPr>
          </a:p>
          <a:p>
            <a:pPr marL="342900" indent="-342900"/>
            <a:r>
              <a:rPr lang="en-US" altLang="en-US" sz="3600" b="1" dirty="0">
                <a:ea typeface="ＭＳ Ｐゴシック" charset="-128"/>
              </a:rPr>
              <a:t>X</a:t>
            </a:r>
            <a:r>
              <a:rPr lang="en-US" altLang="en-US" sz="3600" dirty="0">
                <a:ea typeface="ＭＳ Ｐゴシック" charset="-128"/>
              </a:rPr>
              <a:t>={ </a:t>
            </a:r>
            <a:r>
              <a:rPr lang="en-US" altLang="en-US" sz="3600" i="1" dirty="0">
                <a:ea typeface="ＭＳ Ｐゴシック" charset="-128"/>
              </a:rPr>
              <a:t>a, b, c, d, e</a:t>
            </a:r>
            <a:r>
              <a:rPr lang="en-US" altLang="en-US" sz="3600" dirty="0">
                <a:ea typeface="ＭＳ Ｐゴシック" charset="-128"/>
              </a:rPr>
              <a:t> },	  </a:t>
            </a:r>
            <a:r>
              <a:rPr lang="en-US" altLang="en-US" sz="3600" i="1" dirty="0">
                <a:ea typeface="ＭＳ Ｐゴシック" charset="-128"/>
              </a:rPr>
              <a:t>b </a:t>
            </a:r>
            <a:r>
              <a:rPr lang="en-US" altLang="en-US" sz="3600" dirty="0">
                <a:solidFill>
                  <a:srgbClr val="0070C0"/>
                </a:solidFill>
                <a:ea typeface="ＭＳ Ｐゴシック" charset="-128"/>
                <a:sym typeface="Symbol" charset="2"/>
              </a:rPr>
              <a:t>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X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 and </a:t>
            </a:r>
            <a:r>
              <a:rPr lang="en-US" altLang="en-US" sz="3600" i="1" dirty="0">
                <a:ea typeface="ＭＳ Ｐゴシック" charset="-128"/>
                <a:sym typeface="Symbol" charset="2"/>
              </a:rPr>
              <a:t>m </a:t>
            </a:r>
            <a:r>
              <a:rPr lang="en-US" altLang="en-US" sz="3600" dirty="0">
                <a:solidFill>
                  <a:srgbClr val="FF0000"/>
                </a:solidFill>
                <a:ea typeface="ＭＳ Ｐゴシック" charset="-128"/>
                <a:sym typeface="Symbol" charset="2"/>
              </a:rPr>
              <a:t>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X</a:t>
            </a:r>
          </a:p>
          <a:p>
            <a:pPr marL="0" indent="0">
              <a:buNone/>
            </a:pPr>
            <a:endParaRPr lang="en-US" altLang="en-US" sz="3600" i="1" dirty="0">
              <a:ea typeface="ＭＳ Ｐゴシック" charset="-128"/>
              <a:sym typeface="Symbol" charset="2"/>
            </a:endParaRPr>
          </a:p>
          <a:p>
            <a:pPr marL="342900" indent="-342900"/>
            <a:r>
              <a:rPr lang="en-US" altLang="en-US" sz="3600" b="1" dirty="0">
                <a:ea typeface="ＭＳ Ｐゴシック" charset="-128"/>
                <a:sym typeface="Symbol" charset="2"/>
              </a:rPr>
              <a:t>A</a:t>
            </a:r>
            <a:r>
              <a:rPr lang="en-US" altLang="en-US" sz="3600" i="1" dirty="0">
                <a:ea typeface="ＭＳ Ｐゴシック" charset="-128"/>
                <a:sym typeface="Symbol" charset="2"/>
              </a:rPr>
              <a:t>=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{{1}, {2}, 3, 4},   </a:t>
            </a:r>
            <a:r>
              <a:rPr lang="en-US" altLang="en-US" sz="3600" dirty="0">
                <a:ea typeface="ＭＳ Ｐゴシック" charset="-128"/>
              </a:rPr>
              <a:t>{1} </a:t>
            </a:r>
            <a:r>
              <a:rPr lang="en-US" altLang="en-US" sz="3600" dirty="0">
                <a:solidFill>
                  <a:srgbClr val="0070C0"/>
                </a:solidFill>
                <a:ea typeface="ＭＳ Ｐゴシック" charset="-128"/>
                <a:sym typeface="Symbol" charset="2"/>
              </a:rPr>
              <a:t>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A 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and  1 </a:t>
            </a:r>
            <a:r>
              <a:rPr lang="en-US" altLang="en-US" sz="3600" dirty="0">
                <a:solidFill>
                  <a:srgbClr val="FF0000"/>
                </a:solidFill>
                <a:ea typeface="ＭＳ Ｐゴシック" charset="-128"/>
                <a:sym typeface="Symbol" charset="2"/>
              </a:rPr>
              <a:t>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A</a:t>
            </a:r>
          </a:p>
        </p:txBody>
      </p:sp>
      <p:sp>
        <p:nvSpPr>
          <p:cNvPr id="24578" name="Rectangle 3"/>
          <p:cNvSpPr>
            <a:spLocks noChangeArrowheads="1"/>
          </p:cNvSpPr>
          <p:nvPr/>
        </p:nvSpPr>
        <p:spPr bwMode="auto">
          <a:xfrm>
            <a:off x="3771900" y="1314450"/>
            <a:ext cx="377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2490596" y="1037451"/>
            <a:ext cx="262321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24580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512D1070-04FA-AB44-AFD4-30AE30C4B54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5BA67B-E2C5-A02A-BEF1-E911D614826E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18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3786" y="2218208"/>
            <a:ext cx="8079194" cy="2421584"/>
          </a:xfrm>
        </p:spPr>
        <p:txBody>
          <a:bodyPr/>
          <a:lstStyle/>
          <a:p>
            <a:pPr marL="342900" indent="-342900">
              <a:defRPr/>
            </a:pP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If a set is a large finite set or an infinite set, we can describe it by listing a property necessary for memberships.</a:t>
            </a:r>
          </a:p>
          <a:p>
            <a:pPr marL="0" indent="0">
              <a:buNone/>
              <a:defRPr/>
            </a:pPr>
            <a:endParaRPr lang="en-US" dirty="0">
              <a:solidFill>
                <a:srgbClr val="000000"/>
              </a:solidFill>
              <a:ea typeface="ＭＳ Ｐゴシック" charset="0"/>
              <a:cs typeface="Times New Roman" charset="0"/>
            </a:endParaRPr>
          </a:p>
          <a:p>
            <a:pPr marL="342900" indent="-342900">
              <a:defRPr/>
            </a:pP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Let </a:t>
            </a:r>
            <a:r>
              <a:rPr lang="en-US" b="1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S</a:t>
            </a: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 be a set, the notation, using set builder</a:t>
            </a:r>
          </a:p>
          <a:p>
            <a:pPr marL="342900" indent="-342900">
              <a:buNone/>
              <a:defRPr/>
            </a:pP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		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A= {</a:t>
            </a:r>
            <a:r>
              <a:rPr lang="en-US" i="1" dirty="0">
                <a:solidFill>
                  <a:srgbClr val="0000FF"/>
                </a:solidFill>
                <a:latin typeface="Times New Roman" charset="0"/>
                <a:ea typeface="ＭＳ Ｐゴシック" charset="0"/>
                <a:cs typeface="Times New Roman" charset="0"/>
              </a:rPr>
              <a:t>x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 | </a:t>
            </a:r>
            <a:r>
              <a:rPr lang="en-US" i="1" dirty="0">
                <a:solidFill>
                  <a:srgbClr val="0000FF"/>
                </a:solidFill>
                <a:latin typeface="Times New Roman" charset="0"/>
                <a:ea typeface="ＭＳ Ｐゴシック" charset="0"/>
                <a:cs typeface="Times New Roman" charset="0"/>
              </a:rPr>
              <a:t>x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sym typeface="Symbol" charset="0"/>
              </a:rPr>
              <a:t> S</a:t>
            </a:r>
            <a:r>
              <a:rPr lang="en-US" i="1" dirty="0">
                <a:solidFill>
                  <a:srgbClr val="0000FF"/>
                </a:solidFill>
                <a:ea typeface="ＭＳ Ｐゴシック" charset="0"/>
                <a:sym typeface="Symbol" charset="0"/>
              </a:rPr>
              <a:t>,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sym typeface="Symbol" charset="0"/>
              </a:rPr>
              <a:t> </a:t>
            </a:r>
            <a:r>
              <a:rPr lang="en-US" i="1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P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(</a:t>
            </a:r>
            <a:r>
              <a:rPr lang="en-US" i="1" dirty="0">
                <a:solidFill>
                  <a:srgbClr val="0000FF"/>
                </a:solidFill>
                <a:latin typeface="Times New Roman" charset="0"/>
                <a:ea typeface="ＭＳ Ｐゴシック" charset="0"/>
                <a:cs typeface="Times New Roman" charset="0"/>
              </a:rPr>
              <a:t>x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)} </a:t>
            </a:r>
            <a:r>
              <a:rPr lang="en-US" dirty="0">
                <a:solidFill>
                  <a:srgbClr val="FF0000"/>
                </a:solidFill>
                <a:ea typeface="ＭＳ Ｐゴシック" charset="0"/>
                <a:cs typeface="Times New Roman" charset="0"/>
              </a:rPr>
              <a:t>or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  A= {</a:t>
            </a:r>
            <a:r>
              <a:rPr lang="en-US" i="1" dirty="0">
                <a:solidFill>
                  <a:srgbClr val="0000FF"/>
                </a:solidFill>
                <a:latin typeface="Times New Roman" charset="0"/>
                <a:ea typeface="ＭＳ Ｐゴシック" charset="0"/>
                <a:cs typeface="Times New Roman" charset="0"/>
              </a:rPr>
              <a:t>x 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sym typeface="Symbol" charset="0"/>
              </a:rPr>
              <a:t> S</a:t>
            </a:r>
            <a:r>
              <a:rPr lang="en-US" i="1" dirty="0">
                <a:solidFill>
                  <a:srgbClr val="0000FF"/>
                </a:solidFill>
                <a:ea typeface="ＭＳ Ｐゴシック" charset="0"/>
                <a:sym typeface="Symbol" charset="0"/>
              </a:rPr>
              <a:t> 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|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sym typeface="Symbol" charset="0"/>
              </a:rPr>
              <a:t> </a:t>
            </a:r>
            <a:r>
              <a:rPr lang="en-US" i="1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P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(</a:t>
            </a:r>
            <a:r>
              <a:rPr lang="en-US" i="1" dirty="0">
                <a:solidFill>
                  <a:srgbClr val="0000FF"/>
                </a:solidFill>
                <a:latin typeface="Times New Roman" charset="0"/>
                <a:ea typeface="ＭＳ Ｐゴシック" charset="0"/>
                <a:cs typeface="Times New Roman" charset="0"/>
              </a:rPr>
              <a:t>x</a:t>
            </a:r>
            <a:r>
              <a:rPr lang="en-US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)}</a:t>
            </a:r>
          </a:p>
          <a:p>
            <a:pPr marL="342900" indent="-342900">
              <a:buNone/>
              <a:defRPr/>
            </a:pP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	means that </a:t>
            </a:r>
            <a:r>
              <a:rPr lang="en-US" b="1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A</a:t>
            </a: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 is the set of all </a:t>
            </a:r>
            <a:r>
              <a:rPr lang="en-US" i="1" dirty="0">
                <a:solidFill>
                  <a:srgbClr val="0000FF"/>
                </a:solidFill>
                <a:latin typeface="Times New Roman" charset="0"/>
                <a:ea typeface="ＭＳ Ｐゴシック" charset="0"/>
                <a:cs typeface="Times New Roman" charset="0"/>
              </a:rPr>
              <a:t>x</a:t>
            </a:r>
            <a:r>
              <a:rPr lang="en-US" i="1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in </a:t>
            </a:r>
            <a:r>
              <a:rPr lang="en-US" b="1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S</a:t>
            </a: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 such that </a:t>
            </a:r>
            <a:r>
              <a:rPr lang="en-US" i="1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P </a:t>
            </a: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of</a:t>
            </a:r>
            <a:r>
              <a:rPr lang="en-US" i="1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 </a:t>
            </a:r>
            <a:r>
              <a:rPr lang="en-US" i="1" dirty="0">
                <a:solidFill>
                  <a:srgbClr val="0000FF"/>
                </a:solidFill>
                <a:latin typeface="Times New Roman" charset="0"/>
                <a:ea typeface="ＭＳ Ｐゴシック" charset="0"/>
                <a:cs typeface="Times New Roman" charset="0"/>
              </a:rPr>
              <a:t>x</a:t>
            </a:r>
            <a:r>
              <a:rPr lang="en-US" dirty="0">
                <a:solidFill>
                  <a:srgbClr val="000000"/>
                </a:solidFill>
                <a:ea typeface="ＭＳ Ｐゴシック" charset="0"/>
                <a:cs typeface="Times New Roman" charset="0"/>
              </a:rPr>
              <a:t>.</a:t>
            </a:r>
          </a:p>
        </p:txBody>
      </p:sp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3771900" y="1371600"/>
            <a:ext cx="3771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Sets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1840538" y="1039830"/>
            <a:ext cx="563318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3000" b="1" dirty="0"/>
              <a:t> </a:t>
            </a:r>
            <a:r>
              <a:rPr lang="en-US" altLang="en-US" sz="5400" b="1" dirty="0"/>
              <a:t>Defining Sets </a:t>
            </a:r>
            <a:r>
              <a:rPr lang="en-US" altLang="en-US" sz="1500" dirty="0"/>
              <a:t>(cont’d)</a:t>
            </a:r>
          </a:p>
        </p:txBody>
      </p:sp>
      <p:sp>
        <p:nvSpPr>
          <p:cNvPr id="25604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FF34E3A1-D2F4-0D4F-95CD-24FE2008EACC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B84350-3FD5-755F-F338-08615A624C6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401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1735" y="2237780"/>
            <a:ext cx="8331198" cy="2578369"/>
          </a:xfrm>
        </p:spPr>
        <p:txBody>
          <a:bodyPr/>
          <a:lstStyle/>
          <a:p>
            <a:r>
              <a:rPr lang="en-US" altLang="en-US" sz="3200" dirty="0">
                <a:ea typeface="ＭＳ Ｐゴシック" charset="-128"/>
              </a:rPr>
              <a:t>Let 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dirty="0">
                <a:ea typeface="ＭＳ Ｐゴシック" charset="-128"/>
              </a:rPr>
              <a:t>={1, 2, 3, 4, 5, 6}, we can also write 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dirty="0">
                <a:ea typeface="ＭＳ Ｐゴシック" charset="-128"/>
              </a:rPr>
              <a:t> using set builder notation,</a:t>
            </a:r>
          </a:p>
          <a:p>
            <a:pPr marL="0" indent="0">
              <a:buNone/>
            </a:pPr>
            <a:r>
              <a:rPr lang="en-US" altLang="en-US" sz="3200" i="1" dirty="0">
                <a:ea typeface="ＭＳ Ｐゴシック" charset="-128"/>
              </a:rPr>
              <a:t>	     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</a:rPr>
              <a:t>A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= {</a:t>
            </a:r>
            <a:r>
              <a:rPr lang="en-US" altLang="en-US" sz="3200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 | </a:t>
            </a:r>
            <a:r>
              <a:rPr lang="en-US" altLang="en-US" sz="3200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x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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Z</a:t>
            </a:r>
            <a:r>
              <a:rPr lang="en-US" altLang="en-US" sz="3200" i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,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 0 &lt;</a:t>
            </a:r>
            <a:r>
              <a:rPr lang="en-US" altLang="en-US" sz="3200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 x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&lt;7} </a:t>
            </a:r>
            <a:r>
              <a:rPr lang="en-US" altLang="en-US" sz="3200" dirty="0">
                <a:ea typeface="ＭＳ Ｐゴシック" charset="-128"/>
              </a:rPr>
              <a:t>,</a:t>
            </a:r>
          </a:p>
          <a:p>
            <a:pPr marL="0" indent="0">
              <a:buNone/>
            </a:pPr>
            <a:r>
              <a:rPr lang="en-US" altLang="en-US" sz="3200" dirty="0">
                <a:solidFill>
                  <a:srgbClr val="AE3221"/>
                </a:solidFill>
                <a:ea typeface="ＭＳ Ｐゴシック" charset="-128"/>
              </a:rPr>
              <a:t>     </a:t>
            </a:r>
            <a:r>
              <a:rPr lang="en-US" altLang="en-US" sz="3200" dirty="0">
                <a:ea typeface="ＭＳ Ｐゴシック" charset="-128"/>
              </a:rPr>
              <a:t>if </a:t>
            </a:r>
            <a:r>
              <a:rPr lang="en-US" altLang="en-US" sz="3200" b="1" dirty="0">
                <a:ea typeface="ＭＳ Ｐゴシック" charset="-128"/>
              </a:rPr>
              <a:t>Z</a:t>
            </a:r>
            <a:r>
              <a:rPr lang="en-US" altLang="en-US" sz="3200" dirty="0">
                <a:ea typeface="ＭＳ Ｐゴシック" charset="-128"/>
              </a:rPr>
              <a:t> denotes the set of integers.</a:t>
            </a:r>
          </a:p>
          <a:p>
            <a:pPr marL="0" indent="0">
              <a:buNone/>
            </a:pPr>
            <a:endParaRPr lang="en-US" altLang="en-US" sz="3200" dirty="0">
              <a:solidFill>
                <a:srgbClr val="AE3221"/>
              </a:solidFill>
              <a:ea typeface="ＭＳ Ｐゴシック" charset="-128"/>
            </a:endParaRPr>
          </a:p>
          <a:p>
            <a:r>
              <a:rPr lang="en-US" altLang="en-US" sz="3200" dirty="0">
                <a:ea typeface="ＭＳ Ｐゴシック" charset="-128"/>
              </a:rPr>
              <a:t>Let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</a:rPr>
              <a:t>B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= {</a:t>
            </a:r>
            <a:r>
              <a:rPr lang="en-US" altLang="en-US" sz="3200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 | </a:t>
            </a:r>
            <a:r>
              <a:rPr lang="en-US" altLang="en-US" sz="3200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x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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Z</a:t>
            </a:r>
            <a:r>
              <a:rPr lang="en-US" altLang="en-US" sz="3200" i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, </a:t>
            </a:r>
            <a:r>
              <a:rPr lang="en-US" altLang="en-US" sz="3200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x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&gt; 0} </a:t>
            </a:r>
            <a:r>
              <a:rPr lang="en-US" altLang="en-US" sz="3200" dirty="0">
                <a:solidFill>
                  <a:srgbClr val="000000"/>
                </a:solidFill>
                <a:ea typeface="ＭＳ Ｐゴシック" charset="-128"/>
              </a:rPr>
              <a:t> </a:t>
            </a:r>
            <a:r>
              <a:rPr lang="en-US" altLang="en-US" sz="3200" dirty="0">
                <a:solidFill>
                  <a:srgbClr val="FF0000"/>
                </a:solidFill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solidFill>
                  <a:srgbClr val="FF0000"/>
                </a:solidFill>
                <a:ea typeface="ＭＳ Ｐゴシック" charset="-128"/>
              </a:rPr>
              <a:t> 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3200" b="1" dirty="0">
                <a:ea typeface="ＭＳ Ｐゴシック" charset="-128"/>
              </a:rPr>
              <a:t>B </a:t>
            </a:r>
            <a:r>
              <a:rPr lang="en-US" altLang="en-US" sz="3200" dirty="0">
                <a:ea typeface="ＭＳ Ｐゴシック" charset="-128"/>
              </a:rPr>
              <a:t>= {1, 2, 3, 4, …}</a:t>
            </a:r>
          </a:p>
        </p:txBody>
      </p:sp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3771900" y="1314450"/>
            <a:ext cx="377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2575727" y="1037451"/>
            <a:ext cx="262321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26628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4F673756-E6C0-DE4A-BB13-04F29ACEA7C2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186182-0636-8F88-EFC1-768846C9AAC8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74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3"/>
          <p:cNvSpPr>
            <a:spLocks noChangeArrowheads="1"/>
          </p:cNvSpPr>
          <p:nvPr/>
        </p:nvSpPr>
        <p:spPr bwMode="auto">
          <a:xfrm>
            <a:off x="3771900" y="1314450"/>
            <a:ext cx="377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example</a:t>
            </a:r>
          </a:p>
        </p:txBody>
      </p:sp>
      <p:pic>
        <p:nvPicPr>
          <p:cNvPr id="276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547" y="1814568"/>
            <a:ext cx="6055253" cy="1084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4" y="3006342"/>
            <a:ext cx="6114519" cy="1560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16" y="4777129"/>
            <a:ext cx="6154001" cy="64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359112" y="940653"/>
            <a:ext cx="659603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4000" b="1" dirty="0">
                <a:solidFill>
                  <a:srgbClr val="00B050"/>
                </a:solidFill>
              </a:rPr>
              <a:t>Example</a:t>
            </a:r>
            <a:r>
              <a:rPr lang="en-US" altLang="en-US" sz="4000" b="1" dirty="0"/>
              <a:t> – Standard definition</a:t>
            </a:r>
          </a:p>
        </p:txBody>
      </p:sp>
      <p:sp>
        <p:nvSpPr>
          <p:cNvPr id="27654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431A4592-48AC-FC47-9E1C-5ABF14C457C6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88547" y="4728565"/>
            <a:ext cx="228335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MY" sz="2000" dirty="0"/>
              <a:t>The Real numbers = 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847296-B65D-4E78-42F5-80F0C359C734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458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573349" y="1030843"/>
            <a:ext cx="8060266" cy="594122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b="1" dirty="0">
                <a:latin typeface="+mn-lt"/>
                <a:ea typeface="ＭＳ Ｐゴシック" charset="-128"/>
                <a:cs typeface="Arial" panose="020B0604020202020204" pitchFamily="34" charset="0"/>
              </a:rPr>
              <a:t>Symbols Used With Set Builder Notation</a:t>
            </a:r>
          </a:p>
        </p:txBody>
      </p:sp>
      <p:pic>
        <p:nvPicPr>
          <p:cNvPr id="28674" name="Picture 2" descr="Screen Shot 2014-09-08 at 9.54.1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86" y="1689560"/>
            <a:ext cx="7603627" cy="412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8AAB7E60-81A7-6449-8A17-C0C91F1B0BA4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7B080-3D4F-55DB-99B8-B11085ADDB56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029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697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00141" y="1771819"/>
                <a:ext cx="8330093" cy="4521405"/>
              </a:xfrm>
            </p:spPr>
            <p:txBody>
              <a:bodyPr/>
              <a:lstStyle/>
              <a:p>
                <a:pPr marL="342900" indent="-342900"/>
                <a:r>
                  <a:rPr lang="en-US" altLang="en-US" dirty="0">
                    <a:ea typeface="ＭＳ Ｐゴシック" charset="-128"/>
                  </a:rPr>
                  <a:t>If every element of </a:t>
                </a:r>
                <a:r>
                  <a:rPr lang="en-US" altLang="en-US" b="1" dirty="0">
                    <a:ea typeface="ＭＳ Ｐゴシック" charset="-128"/>
                  </a:rPr>
                  <a:t>A</a:t>
                </a:r>
                <a:r>
                  <a:rPr lang="en-US" altLang="en-US" dirty="0">
                    <a:ea typeface="ＭＳ Ｐゴシック" charset="-128"/>
                  </a:rPr>
                  <a:t> is an element of </a:t>
                </a:r>
                <a:r>
                  <a:rPr lang="en-US" altLang="en-US" b="1" dirty="0">
                    <a:ea typeface="ＭＳ Ｐゴシック" charset="-128"/>
                  </a:rPr>
                  <a:t>B</a:t>
                </a:r>
                <a:r>
                  <a:rPr lang="en-US" altLang="en-US" dirty="0">
                    <a:ea typeface="ＭＳ Ｐゴシック" charset="-128"/>
                  </a:rPr>
                  <a:t>, we say that </a:t>
                </a:r>
                <a:r>
                  <a:rPr lang="en-US" altLang="en-US" b="1" dirty="0">
                    <a:ea typeface="ＭＳ Ｐゴシック" charset="-128"/>
                  </a:rPr>
                  <a:t>A</a:t>
                </a:r>
                <a:r>
                  <a:rPr lang="en-US" altLang="en-US" dirty="0">
                    <a:solidFill>
                      <a:srgbClr val="0000FF"/>
                    </a:solidFill>
                    <a:ea typeface="ＭＳ Ｐゴシック" charset="-128"/>
                  </a:rPr>
                  <a:t> </a:t>
                </a:r>
                <a:r>
                  <a:rPr lang="en-US" altLang="en-US" dirty="0">
                    <a:ea typeface="ＭＳ Ｐゴシック" charset="-128"/>
                  </a:rPr>
                  <a:t>is a </a:t>
                </a:r>
                <a:r>
                  <a:rPr lang="en-US" altLang="en-US" b="1" dirty="0">
                    <a:solidFill>
                      <a:srgbClr val="FF0000"/>
                    </a:solidFill>
                    <a:ea typeface="ＭＳ Ｐゴシック" charset="-128"/>
                  </a:rPr>
                  <a:t>subset</a:t>
                </a:r>
                <a:r>
                  <a:rPr lang="en-US" altLang="en-US" dirty="0">
                    <a:ea typeface="ＭＳ Ｐゴシック" charset="-128"/>
                  </a:rPr>
                  <a:t> of </a:t>
                </a:r>
                <a:r>
                  <a:rPr lang="en-US" altLang="en-US" b="1" dirty="0">
                    <a:ea typeface="ＭＳ Ｐゴシック" charset="-128"/>
                  </a:rPr>
                  <a:t>B</a:t>
                </a:r>
                <a:r>
                  <a:rPr lang="en-US" altLang="en-US" dirty="0">
                    <a:solidFill>
                      <a:srgbClr val="0000FF"/>
                    </a:solidFill>
                    <a:ea typeface="ＭＳ Ｐゴシック" charset="-128"/>
                  </a:rPr>
                  <a:t> </a:t>
                </a:r>
                <a:r>
                  <a:rPr lang="en-US" altLang="en-US" dirty="0">
                    <a:ea typeface="ＭＳ Ｐゴシック" charset="-128"/>
                  </a:rPr>
                  <a:t>and write   </a:t>
                </a:r>
                <a:r>
                  <a:rPr lang="en-US" altLang="en-US" b="1" dirty="0">
                    <a:solidFill>
                      <a:srgbClr val="0000FF"/>
                    </a:solidFill>
                    <a:ea typeface="ＭＳ Ｐゴシック" charset="-128"/>
                  </a:rPr>
                  <a:t>A</a:t>
                </a:r>
                <a:r>
                  <a:rPr lang="en-US" altLang="en-US" dirty="0">
                    <a:solidFill>
                      <a:srgbClr val="0000FF"/>
                    </a:solidFill>
                    <a:ea typeface="ＭＳ Ｐゴシック" charset="-128"/>
                  </a:rPr>
                  <a:t> </a:t>
                </a:r>
                <a:r>
                  <a:rPr lang="en-US" altLang="en-US" dirty="0">
                    <a:solidFill>
                      <a:srgbClr val="0000FF"/>
                    </a:solidFill>
                    <a:ea typeface="ＭＳ Ｐゴシック" charset="-128"/>
                    <a:sym typeface="Symbol" charset="2"/>
                  </a:rPr>
                  <a:t> </a:t>
                </a:r>
                <a:r>
                  <a:rPr lang="en-US" altLang="en-US" b="1" dirty="0">
                    <a:solidFill>
                      <a:srgbClr val="0000FF"/>
                    </a:solidFill>
                    <a:ea typeface="ＭＳ Ｐゴシック" charset="-128"/>
                  </a:rPr>
                  <a:t>B</a:t>
                </a:r>
                <a:r>
                  <a:rPr lang="en-US" altLang="en-US" dirty="0">
                    <a:ea typeface="ＭＳ Ｐゴシック" charset="-128"/>
                  </a:rPr>
                  <a:t>.</a:t>
                </a:r>
                <a:endParaRPr lang="en-US" altLang="en-US" dirty="0">
                  <a:solidFill>
                    <a:srgbClr val="6600CC"/>
                  </a:solidFill>
                  <a:ea typeface="ＭＳ Ｐゴシック" charset="-128"/>
                </a:endParaRPr>
              </a:p>
              <a:p>
                <a:pPr marL="358775" indent="-358775">
                  <a:defRPr/>
                </a:pPr>
                <a:r>
                  <a:rPr lang="en-US" dirty="0">
                    <a:ea typeface="ＭＳ Ｐゴシック" pitchFamily="34" charset="-128"/>
                  </a:rPr>
                  <a:t>In notation: </a:t>
                </a:r>
              </a:p>
              <a:p>
                <a:pPr marL="0" indent="0">
                  <a:buNone/>
                  <a:defRPr/>
                </a:pPr>
                <a:r>
                  <a:rPr lang="en-US" b="1" dirty="0">
                    <a:ea typeface="ＭＳ Ｐゴシック" pitchFamily="34" charset="-128"/>
                  </a:rPr>
                  <a:t>       A</a:t>
                </a:r>
                <a:r>
                  <a:rPr lang="en-US" dirty="0">
                    <a:ea typeface="ＭＳ Ｐゴシック" pitchFamily="34" charset="-128"/>
                  </a:rPr>
                  <a:t> </a:t>
                </a:r>
                <a:r>
                  <a:rPr lang="en-US" dirty="0">
                    <a:ea typeface="ＭＳ Ｐゴシック" pitchFamily="34" charset="-128"/>
                    <a:sym typeface="Symbol" pitchFamily="18" charset="2"/>
                  </a:rPr>
                  <a:t> </a:t>
                </a:r>
                <a:r>
                  <a:rPr lang="en-US" b="1" dirty="0">
                    <a:ea typeface="ＭＳ Ｐゴシック" pitchFamily="34" charset="-128"/>
                  </a:rPr>
                  <a:t>B</a:t>
                </a:r>
                <a:r>
                  <a:rPr lang="en-US" dirty="0">
                    <a:ea typeface="ＭＳ Ｐゴシック" pitchFamily="34" charset="-128"/>
                  </a:rPr>
                  <a:t> and </a:t>
                </a:r>
                <a:r>
                  <a:rPr lang="en-US" b="1" dirty="0">
                    <a:ea typeface="ＭＳ Ｐゴシック" pitchFamily="34" charset="-128"/>
                  </a:rPr>
                  <a:t>A</a:t>
                </a:r>
                <a:r>
                  <a:rPr lang="en-US" dirty="0">
                    <a:solidFill>
                      <a:srgbClr val="FF0000"/>
                    </a:solidFill>
                    <a:ea typeface="ＭＳ Ｐゴシック" pitchFamily="34" charset="-128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ea typeface="ＭＳ Ｐゴシック" pitchFamily="34" charset="-128"/>
                    <a:sym typeface="Symbol" pitchFamily="18" charset="2"/>
                  </a:rPr>
                  <a:t> </a:t>
                </a:r>
                <a:r>
                  <a:rPr lang="en-US" b="1" dirty="0">
                    <a:ea typeface="ＭＳ Ｐゴシック" pitchFamily="34" charset="-128"/>
                  </a:rPr>
                  <a:t>B</a:t>
                </a:r>
                <a:r>
                  <a:rPr lang="en-US" dirty="0">
                    <a:ea typeface="ＭＳ Ｐゴシック" pitchFamily="34" charset="-128"/>
                  </a:rPr>
                  <a:t> (</a:t>
                </a:r>
                <a:r>
                  <a:rPr lang="en-US" b="1" dirty="0">
                    <a:ea typeface="ＭＳ Ｐゴシック" pitchFamily="34" charset="-128"/>
                  </a:rPr>
                  <a:t>B</a:t>
                </a:r>
                <a:r>
                  <a:rPr lang="en-US" dirty="0">
                    <a:ea typeface="ＭＳ Ｐゴシック" pitchFamily="34" charset="-128"/>
                  </a:rPr>
                  <a:t> </a:t>
                </a:r>
                <a:r>
                  <a:rPr lang="en-US" u="sng" dirty="0">
                    <a:ea typeface="ＭＳ Ｐゴシック" pitchFamily="34" charset="-128"/>
                    <a:sym typeface="Symbol" pitchFamily="18" charset="2"/>
                  </a:rPr>
                  <a:t></a:t>
                </a:r>
                <a:r>
                  <a:rPr lang="en-US" dirty="0">
                    <a:ea typeface="ＭＳ Ｐゴシック" pitchFamily="34" charset="-128"/>
                    <a:sym typeface="Symbol" pitchFamily="18" charset="2"/>
                  </a:rPr>
                  <a:t> </a:t>
                </a:r>
                <a:r>
                  <a:rPr lang="en-US" b="1" dirty="0">
                    <a:ea typeface="ＭＳ Ｐゴシック" pitchFamily="34" charset="-128"/>
                    <a:sym typeface="Symbol" pitchFamily="18" charset="2"/>
                  </a:rPr>
                  <a:t>A</a:t>
                </a:r>
                <a:r>
                  <a:rPr lang="en-US" dirty="0">
                    <a:ea typeface="ＭＳ Ｐゴシック" pitchFamily="34" charset="-128"/>
                    <a:sym typeface="Symbol" pitchFamily="18" charset="2"/>
                  </a:rPr>
                  <a:t>); </a:t>
                </a:r>
              </a:p>
              <a:p>
                <a:pPr marL="0" indent="0">
                  <a:buNone/>
                  <a:defRPr/>
                </a:pPr>
                <a:r>
                  <a:rPr lang="en-US" altLang="en-US" b="1" dirty="0">
                    <a:ea typeface="ＭＳ Ｐゴシック" charset="-128"/>
                  </a:rPr>
                  <a:t>       A </a:t>
                </a:r>
                <a:r>
                  <a:rPr lang="en-US" altLang="en-US" dirty="0">
                    <a:ea typeface="ＭＳ Ｐゴシック" charset="-128"/>
                  </a:rPr>
                  <a:t>= </a:t>
                </a:r>
                <a:r>
                  <a:rPr lang="en-US" altLang="en-US" b="1" dirty="0">
                    <a:ea typeface="ＭＳ Ｐゴシック" charset="-128"/>
                  </a:rPr>
                  <a:t>B</a:t>
                </a:r>
                <a:r>
                  <a:rPr lang="en-US" altLang="en-US" i="1" dirty="0">
                    <a:ea typeface="ＭＳ Ｐゴシック" charset="-128"/>
                  </a:rPr>
                  <a:t>,</a:t>
                </a:r>
                <a:r>
                  <a:rPr lang="en-US" altLang="en-US" dirty="0">
                    <a:ea typeface="ＭＳ Ｐゴシック" charset="-128"/>
                  </a:rPr>
                  <a:t> if </a:t>
                </a:r>
                <a:r>
                  <a:rPr lang="en-US" altLang="en-US" b="1" dirty="0">
                    <a:ea typeface="ＭＳ Ｐゴシック" charset="-128"/>
                  </a:rPr>
                  <a:t>A</a:t>
                </a:r>
                <a:r>
                  <a:rPr lang="en-US" altLang="en-US" dirty="0">
                    <a:ea typeface="ＭＳ Ｐゴシック" charset="-128"/>
                  </a:rPr>
                  <a:t> </a:t>
                </a:r>
                <a:r>
                  <a:rPr lang="en-US" altLang="en-US" dirty="0">
                    <a:ea typeface="ＭＳ Ｐゴシック" charset="-128"/>
                    <a:sym typeface="Symbol" charset="2"/>
                  </a:rPr>
                  <a:t> </a:t>
                </a:r>
                <a:r>
                  <a:rPr lang="en-US" altLang="en-US" b="1" dirty="0">
                    <a:ea typeface="ＭＳ Ｐゴシック" charset="-128"/>
                  </a:rPr>
                  <a:t>B</a:t>
                </a:r>
                <a:r>
                  <a:rPr lang="en-US" altLang="en-US" dirty="0">
                    <a:ea typeface="ＭＳ Ｐゴシック" charset="-128"/>
                  </a:rPr>
                  <a:t> and </a:t>
                </a:r>
                <a:r>
                  <a:rPr lang="en-US" altLang="en-US" b="1" dirty="0">
                    <a:ea typeface="ＭＳ Ｐゴシック" charset="-128"/>
                  </a:rPr>
                  <a:t>B</a:t>
                </a:r>
                <a:r>
                  <a:rPr lang="en-US" altLang="en-US" dirty="0">
                    <a:ea typeface="ＭＳ Ｐゴシック" charset="-128"/>
                  </a:rPr>
                  <a:t> </a:t>
                </a:r>
                <a:r>
                  <a:rPr lang="en-US" altLang="en-US" dirty="0">
                    <a:ea typeface="ＭＳ Ｐゴシック" charset="-128"/>
                    <a:sym typeface="Symbol" charset="2"/>
                  </a:rPr>
                  <a:t> </a:t>
                </a:r>
                <a:r>
                  <a:rPr lang="en-US" altLang="en-US" b="1" dirty="0">
                    <a:ea typeface="ＭＳ Ｐゴシック" charset="-128"/>
                  </a:rPr>
                  <a:t>A</a:t>
                </a:r>
                <a:endParaRPr lang="en-US" dirty="0">
                  <a:ea typeface="ＭＳ Ｐゴシック" pitchFamily="34" charset="-128"/>
                  <a:sym typeface="Symbol" pitchFamily="18" charset="2"/>
                </a:endParaRPr>
              </a:p>
              <a:p>
                <a:pPr marL="457200" indent="-457200">
                  <a:defRPr/>
                </a:pPr>
                <a:r>
                  <a:rPr lang="en-MY" dirty="0">
                    <a:ea typeface="ＭＳ Ｐゴシック" pitchFamily="34" charset="-128"/>
                    <a:sym typeface="Symbol" pitchFamily="18" charset="2"/>
                  </a:rPr>
                  <a:t>Formally: </a:t>
                </a:r>
                <a14:m>
                  <m:oMath xmlns:m="http://schemas.openxmlformats.org/officeDocument/2006/math">
                    <m:r>
                      <a:rPr lang="en-MY" b="1">
                        <a:latin typeface="Cambria Math" panose="02040503050406030204" pitchFamily="18" charset="0"/>
                        <a:ea typeface="ＭＳ Ｐゴシック" pitchFamily="34" charset="-128"/>
                        <a:sym typeface="Symbol" pitchFamily="18" charset="2"/>
                      </a:rPr>
                      <m:t>𝐀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⊆</m:t>
                    </m:r>
                    <m:r>
                      <a:rPr lang="en-MY" b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𝐁</m:t>
                    </m:r>
                  </m:oMath>
                </a14:m>
                <a:r>
                  <a:rPr lang="en-US" dirty="0">
                    <a:ea typeface="ＭＳ Ｐゴシック" pitchFamily="34" charset="-128"/>
                  </a:rPr>
                  <a:t> means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ea typeface="ＭＳ Ｐゴシック" pitchFamily="34" charset="-128"/>
                </a:endParaRPr>
              </a:p>
              <a:p>
                <a:pPr marL="457200" indent="-457200">
                  <a:defRPr/>
                </a:pPr>
                <a:r>
                  <a:rPr lang="en-MY" dirty="0">
                    <a:ea typeface="ＭＳ Ｐゴシック" pitchFamily="34" charset="-128"/>
                  </a:rPr>
                  <a:t>For all sets: </a:t>
                </a:r>
                <a14:m>
                  <m:oMath xmlns:m="http://schemas.openxmlformats.org/officeDocument/2006/math">
                    <m:r>
                      <a:rPr lang="en-MY" b="1">
                        <a:latin typeface="Cambria Math" panose="02040503050406030204" pitchFamily="18" charset="0"/>
                        <a:ea typeface="ＭＳ Ｐゴシック" pitchFamily="34" charset="-128"/>
                      </a:rPr>
                      <m:t>𝐀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MY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</m:oMath>
                </a14:m>
                <a:endParaRPr lang="en-US" altLang="en-US" dirty="0">
                  <a:solidFill>
                    <a:srgbClr val="AE3221"/>
                  </a:solidFill>
                  <a:ea typeface="ＭＳ Ｐゴシック" charset="-128"/>
                </a:endParaRPr>
              </a:p>
              <a:p>
                <a:pPr marL="342900" indent="-342900"/>
                <a:r>
                  <a:rPr lang="en-US" altLang="en-US" dirty="0">
                    <a:ea typeface="ＭＳ Ｐゴシック" charset="-128"/>
                    <a:sym typeface="Symbol" charset="2"/>
                  </a:rPr>
                  <a:t>The </a:t>
                </a:r>
                <a:r>
                  <a:rPr lang="en-US" altLang="en-US" dirty="0">
                    <a:solidFill>
                      <a:srgbClr val="0000FF"/>
                    </a:solidFill>
                    <a:ea typeface="ＭＳ Ｐゴシック" charset="-128"/>
                    <a:sym typeface="Symbol" charset="2"/>
                  </a:rPr>
                  <a:t>empty set </a:t>
                </a:r>
                <a:r>
                  <a:rPr lang="en-US" altLang="en-US" dirty="0">
                    <a:ea typeface="ＭＳ Ｐゴシック" charset="-128"/>
                    <a:sym typeface="Symbol" charset="2"/>
                  </a:rPr>
                  <a:t>(</a:t>
                </a:r>
                <a:r>
                  <a:rPr lang="en-US" altLang="en-US" dirty="0">
                    <a:solidFill>
                      <a:srgbClr val="0000FF"/>
                    </a:solidFill>
                    <a:ea typeface="ＭＳ Ｐゴシック" charset="-128"/>
                    <a:sym typeface="Symbol" charset="2"/>
                  </a:rPr>
                  <a:t></a:t>
                </a:r>
                <a:r>
                  <a:rPr lang="en-US" altLang="en-US" dirty="0">
                    <a:ea typeface="ＭＳ Ｐゴシック" charset="-128"/>
                    <a:sym typeface="Symbol" charset="2"/>
                  </a:rPr>
                  <a:t>) is a subset of every set.</a:t>
                </a:r>
              </a:p>
            </p:txBody>
          </p:sp>
        </mc:Choice>
        <mc:Fallback xmlns="">
          <p:sp>
            <p:nvSpPr>
              <p:cNvPr id="29697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141" y="1771819"/>
                <a:ext cx="8330093" cy="4521405"/>
              </a:xfrm>
              <a:blipFill>
                <a:blip r:embed="rId2"/>
                <a:stretch>
                  <a:fillRect l="-1370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>
          <a:xfrm>
            <a:off x="2142565" y="794046"/>
            <a:ext cx="3987800" cy="733218"/>
          </a:xfrm>
        </p:spPr>
        <p:txBody>
          <a:bodyPr/>
          <a:lstStyle/>
          <a:p>
            <a:pPr algn="ctr" eaLnBrk="1" hangingPunct="1"/>
            <a:r>
              <a:rPr lang="en-US" altLang="en-US" sz="5400" b="1" dirty="0">
                <a:latin typeface="+mn-lt"/>
                <a:ea typeface="ＭＳ Ｐゴシック" charset="-128"/>
              </a:rPr>
              <a:t>Subset </a:t>
            </a:r>
            <a:r>
              <a:rPr lang="en-US" altLang="en-US" sz="5400" dirty="0">
                <a:latin typeface="+mn-lt"/>
                <a:ea typeface="ＭＳ Ｐゴシック" charset="-128"/>
              </a:rPr>
              <a:t>[</a:t>
            </a:r>
            <a:r>
              <a:rPr lang="en-US" altLang="en-US" sz="5400" b="1" dirty="0">
                <a:latin typeface="+mn-lt"/>
                <a:ea typeface="ＭＳ Ｐゴシック" charset="-128"/>
              </a:rPr>
              <a:t> </a:t>
            </a:r>
            <a:r>
              <a:rPr lang="en-US" altLang="en-US" sz="5400" dirty="0">
                <a:solidFill>
                  <a:srgbClr val="0000FF"/>
                </a:solidFill>
                <a:latin typeface="+mn-lt"/>
                <a:ea typeface="ＭＳ Ｐゴシック" charset="-128"/>
                <a:sym typeface="Symbol" charset="2"/>
              </a:rPr>
              <a:t></a:t>
            </a:r>
            <a:r>
              <a:rPr lang="en-US" altLang="en-US" sz="5400" b="1" dirty="0">
                <a:latin typeface="+mn-lt"/>
                <a:ea typeface="ＭＳ Ｐゴシック" charset="-128"/>
              </a:rPr>
              <a:t> </a:t>
            </a:r>
            <a:r>
              <a:rPr lang="en-US" altLang="en-US" sz="5400" dirty="0">
                <a:latin typeface="+mn-lt"/>
                <a:ea typeface="ＭＳ Ｐゴシック" charset="-128"/>
              </a:rPr>
              <a:t>]</a:t>
            </a:r>
          </a:p>
        </p:txBody>
      </p:sp>
      <p:sp>
        <p:nvSpPr>
          <p:cNvPr id="29699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87CD310B-5E3F-7B4B-9532-D392352571AA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E021E-572D-B100-1AAA-853095A917A4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430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81741" y="1820250"/>
            <a:ext cx="8350780" cy="2670204"/>
          </a:xfrm>
        </p:spPr>
        <p:txBody>
          <a:bodyPr/>
          <a:lstStyle/>
          <a:p>
            <a:pPr marL="342900" indent="-342900">
              <a:buNone/>
            </a:pPr>
            <a:r>
              <a:rPr lang="en-US" altLang="en-US" sz="3600" dirty="0">
                <a:ea typeface="ＭＳ Ｐゴシック" charset="-128"/>
              </a:rPr>
              <a:t>Let, set </a:t>
            </a:r>
            <a:r>
              <a:rPr lang="en-US" altLang="en-US" sz="3600" b="1" dirty="0">
                <a:ea typeface="ＭＳ Ｐゴシック" charset="-128"/>
              </a:rPr>
              <a:t>A </a:t>
            </a:r>
            <a:r>
              <a:rPr lang="en-US" altLang="en-US" sz="3600" dirty="0">
                <a:ea typeface="ＭＳ Ｐゴシック" charset="-128"/>
              </a:rPr>
              <a:t>= {1, 2, 3}</a:t>
            </a:r>
          </a:p>
          <a:p>
            <a:pPr marL="0" indent="0">
              <a:buNone/>
            </a:pPr>
            <a:endParaRPr lang="en-US" altLang="en-US" sz="3600" dirty="0">
              <a:ea typeface="ＭＳ Ｐゴシック" charset="-128"/>
            </a:endParaRPr>
          </a:p>
          <a:p>
            <a:pPr marL="342900" indent="-342900">
              <a:buNone/>
            </a:pPr>
            <a:r>
              <a:rPr lang="en-US" altLang="en-US" sz="3600" dirty="0">
                <a:ea typeface="ＭＳ Ｐゴシック" charset="-128"/>
                <a:sym typeface="Symbol" charset="2"/>
              </a:rPr>
              <a:t>The </a:t>
            </a:r>
            <a:r>
              <a:rPr lang="en-US" altLang="en-US" sz="3600" dirty="0">
                <a:solidFill>
                  <a:srgbClr val="0070C0"/>
                </a:solidFill>
                <a:ea typeface="ＭＳ Ｐゴシック" charset="-128"/>
                <a:sym typeface="Symbol" charset="2"/>
              </a:rPr>
              <a:t>subset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of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A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are</a:t>
            </a:r>
          </a:p>
          <a:p>
            <a:pPr marL="342900" indent="-342900">
              <a:buNone/>
            </a:pPr>
            <a:r>
              <a:rPr lang="en-US" altLang="en-US" sz="3600" dirty="0">
                <a:ea typeface="ＭＳ Ｐゴシック" charset="-128"/>
                <a:sym typeface="Symbol" charset="2"/>
              </a:rPr>
              <a:t>   , {1}, {2}, {3}, {1, 2}, {1, 3}, {2, 3}, {1, 2, 3} 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title"/>
          </p:nvPr>
        </p:nvSpPr>
        <p:spPr>
          <a:xfrm>
            <a:off x="2463801" y="953608"/>
            <a:ext cx="2861470" cy="627460"/>
          </a:xfrm>
        </p:spPr>
        <p:txBody>
          <a:bodyPr/>
          <a:lstStyle/>
          <a:p>
            <a:pPr algn="ctr" eaLnBrk="1" hangingPunct="1"/>
            <a:r>
              <a:rPr lang="en-US" altLang="en-US" sz="5400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89187" y="5148978"/>
            <a:ext cx="4006652" cy="4154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100" dirty="0">
                <a:solidFill>
                  <a:srgbClr val="C00000"/>
                </a:solidFill>
                <a:ea typeface="ＭＳ Ｐゴシック" pitchFamily="34" charset="-128"/>
              </a:rPr>
              <a:t>Note:  </a:t>
            </a:r>
            <a:r>
              <a:rPr lang="en-US" sz="2100" b="1" dirty="0">
                <a:ea typeface="ＭＳ Ｐゴシック" pitchFamily="34" charset="-128"/>
              </a:rPr>
              <a:t>A</a:t>
            </a:r>
            <a:r>
              <a:rPr lang="en-US" sz="2100" dirty="0">
                <a:ea typeface="ＭＳ Ｐゴシック" pitchFamily="34" charset="-128"/>
              </a:rPr>
              <a:t> is a subset of </a:t>
            </a:r>
            <a:r>
              <a:rPr lang="en-US" sz="2100" b="1" dirty="0">
                <a:ea typeface="ＭＳ Ｐゴシック" pitchFamily="34" charset="-128"/>
              </a:rPr>
              <a:t>A</a:t>
            </a:r>
            <a:r>
              <a:rPr lang="en-US" sz="2100" dirty="0">
                <a:ea typeface="ＭＳ Ｐゴシック" pitchFamily="34" charset="-128"/>
              </a:rPr>
              <a:t> </a:t>
            </a:r>
            <a:endParaRPr lang="en-MY" sz="2100" dirty="0">
              <a:ea typeface="ＭＳ Ｐゴシック" pitchFamily="34" charset="-128"/>
            </a:endParaRPr>
          </a:p>
        </p:txBody>
      </p:sp>
      <p:sp>
        <p:nvSpPr>
          <p:cNvPr id="30724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FEBFCEAF-857F-684D-9922-44BFA6926BA9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00C6A3-A21C-19AC-D8DD-D0FAC10EDB22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228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5" name="Object 2"/>
          <p:cNvGraphicFramePr>
            <a:graphicFrameLocks noChangeAspect="1"/>
          </p:cNvGraphicFramePr>
          <p:nvPr/>
        </p:nvGraphicFramePr>
        <p:xfrm>
          <a:off x="4562475" y="3419475"/>
          <a:ext cx="19050" cy="1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Bitmap Image" r:id="rId3" imgW="25400" imgH="25400" progId="PBrush">
                  <p:embed/>
                </p:oleObj>
              </mc:Choice>
              <mc:Fallback>
                <p:oleObj name="Bitmap Image" r:id="rId3" imgW="25400" imgH="25400" progId="PBrush">
                  <p:embed/>
                  <p:pic>
                    <p:nvPicPr>
                      <p:cNvPr id="3174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5" y="3419475"/>
                        <a:ext cx="19050" cy="1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62C9E760-FF30-0F44-9FF0-434D796EF19E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17</a:t>
            </a:fld>
            <a:endParaRPr lang="en-US" altLang="en-US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600405" y="1917324"/>
                <a:ext cx="8113451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  <a:defRPr/>
                </a:pPr>
                <a:r>
                  <a:rPr lang="en-US" sz="2800" dirty="0">
                    <a:ea typeface="ＭＳ Ｐゴシック" pitchFamily="34" charset="-128"/>
                  </a:rPr>
                  <a:t>If </a:t>
                </a:r>
                <a:r>
                  <a:rPr lang="en-US" sz="2800" b="1" dirty="0">
                    <a:ea typeface="ＭＳ Ｐゴシック" pitchFamily="34" charset="-128"/>
                  </a:rPr>
                  <a:t>A</a:t>
                </a:r>
                <a:r>
                  <a:rPr lang="en-US" sz="2800" dirty="0">
                    <a:ea typeface="ＭＳ Ｐゴシック" pitchFamily="34" charset="-128"/>
                  </a:rPr>
                  <a:t> </a:t>
                </a:r>
                <a:r>
                  <a:rPr lang="en-US" sz="2800" dirty="0">
                    <a:ea typeface="ＭＳ Ｐゴシック" pitchFamily="34" charset="-128"/>
                    <a:sym typeface="Symbol" pitchFamily="18" charset="2"/>
                  </a:rPr>
                  <a:t> </a:t>
                </a:r>
                <a:r>
                  <a:rPr lang="en-US" sz="2800" b="1" dirty="0">
                    <a:ea typeface="ＭＳ Ｐゴシック" pitchFamily="34" charset="-128"/>
                  </a:rPr>
                  <a:t>B</a:t>
                </a:r>
                <a:r>
                  <a:rPr lang="en-US" sz="2800" dirty="0">
                    <a:ea typeface="ＭＳ Ｐゴシック" pitchFamily="34" charset="-128"/>
                  </a:rPr>
                  <a:t> and </a:t>
                </a:r>
                <a:r>
                  <a:rPr lang="en-US" sz="2800" b="1" dirty="0">
                    <a:ea typeface="ＭＳ Ｐゴシック" pitchFamily="34" charset="-128"/>
                  </a:rPr>
                  <a:t>A </a:t>
                </a:r>
                <a:r>
                  <a:rPr lang="en-US" sz="2800" dirty="0">
                    <a:ea typeface="ＭＳ Ｐゴシック" pitchFamily="34" charset="-128"/>
                  </a:rPr>
                  <a:t>does not equal B, we say “</a:t>
                </a:r>
                <a:r>
                  <a:rPr lang="en-US" sz="2800" b="1" dirty="0">
                    <a:ea typeface="ＭＳ Ｐゴシック" pitchFamily="34" charset="-128"/>
                  </a:rPr>
                  <a:t>A</a:t>
                </a:r>
                <a:r>
                  <a:rPr lang="en-US" sz="2800" dirty="0">
                    <a:ea typeface="ＭＳ Ｐゴシック" pitchFamily="34" charset="-128"/>
                  </a:rPr>
                  <a:t> is a </a:t>
                </a:r>
                <a:r>
                  <a:rPr lang="en-US" sz="2800" b="1" dirty="0">
                    <a:solidFill>
                      <a:srgbClr val="0070C0"/>
                    </a:solidFill>
                    <a:ea typeface="ＭＳ Ｐゴシック" pitchFamily="34" charset="-128"/>
                  </a:rPr>
                  <a:t>proper subset </a:t>
                </a:r>
                <a:r>
                  <a:rPr lang="en-US" sz="2800" dirty="0">
                    <a:ea typeface="ＭＳ Ｐゴシック" pitchFamily="34" charset="-128"/>
                  </a:rPr>
                  <a:t>of </a:t>
                </a:r>
                <a:r>
                  <a:rPr lang="en-US" sz="2800" b="1" dirty="0">
                    <a:ea typeface="ＭＳ Ｐゴシック" pitchFamily="34" charset="-128"/>
                  </a:rPr>
                  <a:t>B</a:t>
                </a:r>
                <a:r>
                  <a:rPr lang="en-US" sz="2800" dirty="0">
                    <a:ea typeface="ＭＳ Ｐゴシック" pitchFamily="34" charset="-128"/>
                  </a:rPr>
                  <a:t>”.</a:t>
                </a:r>
              </a:p>
              <a:p>
                <a:pPr algn="just">
                  <a:defRPr/>
                </a:pPr>
                <a:endParaRPr lang="en-US" sz="2800" dirty="0">
                  <a:ea typeface="ＭＳ Ｐゴシック" pitchFamily="34" charset="-128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  <a:defRPr/>
                </a:pPr>
                <a:r>
                  <a:rPr lang="en-US" sz="2800" dirty="0">
                    <a:ea typeface="ＭＳ Ｐゴシック" pitchFamily="34" charset="-128"/>
                  </a:rPr>
                  <a:t>In notation: </a:t>
                </a:r>
                <a14:m>
                  <m:oMath xmlns:m="http://schemas.openxmlformats.org/officeDocument/2006/math">
                    <m:r>
                      <a:rPr lang="en-MY" sz="2800" b="1" i="0" smtClean="0">
                        <a:latin typeface="Cambria Math" panose="02040503050406030204" pitchFamily="18" charset="0"/>
                        <a:ea typeface="ＭＳ Ｐゴシック" pitchFamily="34" charset="-128"/>
                      </a:rPr>
                      <m:t>𝐀</m:t>
                    </m:r>
                    <m:r>
                      <a:rPr lang="en-MY" sz="2800" b="0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en-MY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</m:oMath>
                </a14:m>
                <a:endParaRPr lang="en-US" sz="2800" b="1" dirty="0">
                  <a:ea typeface="ＭＳ Ｐゴシック" pitchFamily="34" charset="-128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05" y="1917324"/>
                <a:ext cx="8113451" cy="1815882"/>
              </a:xfrm>
              <a:prstGeom prst="rect">
                <a:avLst/>
              </a:prstGeom>
              <a:blipFill>
                <a:blip r:embed="rId5"/>
                <a:stretch>
                  <a:fillRect l="-1352" t="-4377" r="-1578" b="-909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/>
              <p:cNvSpPr txBox="1">
                <a:spLocks noChangeArrowheads="1"/>
              </p:cNvSpPr>
              <p:nvPr/>
            </p:nvSpPr>
            <p:spPr>
              <a:xfrm>
                <a:off x="1092198" y="789212"/>
                <a:ext cx="6154804" cy="733218"/>
              </a:xfrm>
              <a:prstGeom prst="rect">
                <a:avLst/>
              </a:prstGeom>
            </p:spPr>
            <p:txBody>
              <a:bodyPr/>
              <a:lstStyle>
                <a:lvl1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2pPr>
                <a:lvl3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3pPr>
                <a:lvl4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4pPr>
                <a:lvl5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5pPr>
                <a:lvl6pPr marL="4572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6pPr>
                <a:lvl7pPr marL="9144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7pPr>
                <a:lvl8pPr marL="13716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8pPr>
                <a:lvl9pPr marL="18288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ctr" defTabSz="914400" eaLnBrk="1" hangingPunct="1"/>
                <a:r>
                  <a:rPr lang="en-US" altLang="en-US" sz="4800" b="1" dirty="0">
                    <a:latin typeface="+mn-lt"/>
                    <a:ea typeface="ＭＳ Ｐゴシック" charset="-128"/>
                  </a:rPr>
                  <a:t>Proper Subsets </a:t>
                </a:r>
                <a:r>
                  <a:rPr lang="en-US" altLang="en-US" sz="4800" dirty="0">
                    <a:ea typeface="ＭＳ Ｐゴシック" charset="-128"/>
                  </a:rPr>
                  <a:t>[</a:t>
                </a:r>
                <a:r>
                  <a:rPr lang="en-US" altLang="en-US" sz="4800" b="1" dirty="0">
                    <a:ea typeface="ＭＳ Ｐゴシック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4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altLang="en-US" sz="4800" b="1" dirty="0">
                    <a:ea typeface="ＭＳ Ｐゴシック" charset="-128"/>
                  </a:rPr>
                  <a:t> </a:t>
                </a:r>
                <a:r>
                  <a:rPr lang="en-US" altLang="en-US" sz="4800" dirty="0">
                    <a:ea typeface="ＭＳ Ｐゴシック" charset="-128"/>
                  </a:rPr>
                  <a:t>]</a:t>
                </a:r>
                <a:endParaRPr lang="en-US" altLang="en-US" sz="4800" dirty="0">
                  <a:latin typeface="+mn-lt"/>
                  <a:ea typeface="ＭＳ Ｐゴシック" charset="-128"/>
                </a:endParaRPr>
              </a:p>
            </p:txBody>
          </p:sp>
        </mc:Choice>
        <mc:Fallback xmlns="">
          <p:sp>
            <p:nvSpPr>
              <p:cNvPr id="11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198" y="789212"/>
                <a:ext cx="6154804" cy="733218"/>
              </a:xfrm>
              <a:prstGeom prst="rect">
                <a:avLst/>
              </a:prstGeom>
              <a:blipFill>
                <a:blip r:embed="rId6"/>
                <a:stretch>
                  <a:fillRect t="-28099" b="-46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71D57B2-2F6D-BA53-F1D7-CFF4E8B92DF3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686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28650" y="1924689"/>
            <a:ext cx="7886700" cy="3263504"/>
          </a:xfrm>
        </p:spPr>
        <p:txBody>
          <a:bodyPr/>
          <a:lstStyle/>
          <a:p>
            <a:pPr marL="342900" indent="-342900"/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={1, 2, 3}</a:t>
            </a:r>
          </a:p>
          <a:p>
            <a:pPr marL="0" indent="0">
              <a:buNone/>
            </a:pPr>
            <a:endParaRPr lang="en-US" altLang="en-US" sz="3600" dirty="0">
              <a:ea typeface="ＭＳ Ｐゴシック" charset="-128"/>
            </a:endParaRPr>
          </a:p>
          <a:p>
            <a:pPr marL="342900" indent="-342900"/>
            <a:r>
              <a:rPr lang="en-US" altLang="en-US" sz="3600" dirty="0">
                <a:ea typeface="ＭＳ Ｐゴシック" charset="-128"/>
                <a:sym typeface="Symbol" charset="2"/>
              </a:rPr>
              <a:t>The </a:t>
            </a:r>
            <a:r>
              <a:rPr lang="en-US" altLang="en-US" sz="3600" dirty="0">
                <a:solidFill>
                  <a:srgbClr val="0070C0"/>
                </a:solidFill>
                <a:ea typeface="ＭＳ Ｐゴシック" charset="-128"/>
                <a:sym typeface="Symbol" charset="2"/>
              </a:rPr>
              <a:t>proper subset 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of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A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:</a:t>
            </a:r>
          </a:p>
          <a:p>
            <a:pPr marL="342900" indent="-342900">
              <a:buNone/>
            </a:pPr>
            <a:r>
              <a:rPr lang="en-US" altLang="en-US" sz="3600" dirty="0">
                <a:ea typeface="ＭＳ Ｐゴシック" charset="-128"/>
                <a:sym typeface="Symbol" charset="2"/>
              </a:rPr>
              <a:t>	 , {1}, {2}, {3}, {1, 2}, {1, 3}, {2, 3}</a:t>
            </a:r>
          </a:p>
          <a:p>
            <a:pPr marL="342900" indent="-342900">
              <a:buNone/>
            </a:pPr>
            <a:endParaRPr lang="en-US" altLang="en-US" sz="3600" dirty="0">
              <a:ea typeface="ＭＳ Ｐゴシック" charset="-128"/>
              <a:sym typeface="Symbol" charset="2"/>
            </a:endParaRPr>
          </a:p>
          <a:p>
            <a:pPr marL="342900" indent="-342900">
              <a:buNone/>
            </a:pPr>
            <a:endParaRPr lang="en-US" altLang="en-US" sz="3600" dirty="0">
              <a:ea typeface="ＭＳ Ｐゴシック" charset="-128"/>
              <a:sym typeface="Symbol" charset="2"/>
            </a:endParaRPr>
          </a:p>
          <a:p>
            <a:pPr marL="342900" indent="-342900">
              <a:buNone/>
            </a:pPr>
            <a:endParaRPr lang="en-US" altLang="en-US" sz="3600" i="1" dirty="0">
              <a:ea typeface="ＭＳ Ｐゴシック" charset="-128"/>
            </a:endParaRP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title"/>
          </p:nvPr>
        </p:nvSpPr>
        <p:spPr>
          <a:xfrm>
            <a:off x="2872840" y="890407"/>
            <a:ext cx="2681293" cy="533182"/>
          </a:xfrm>
        </p:spPr>
        <p:txBody>
          <a:bodyPr/>
          <a:lstStyle/>
          <a:p>
            <a:pPr algn="ctr" eaLnBrk="1" hangingPunct="1"/>
            <a:r>
              <a:rPr lang="en-US" altLang="en-US" sz="4800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9308" y="5100125"/>
                <a:ext cx="8575646" cy="73866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100" dirty="0">
                    <a:solidFill>
                      <a:srgbClr val="C00000"/>
                    </a:solidFill>
                    <a:ea typeface="ＭＳ Ｐゴシック" pitchFamily="34" charset="-128"/>
                  </a:rPr>
                  <a:t>Note:  </a:t>
                </a:r>
              </a:p>
              <a:p>
                <a:pPr>
                  <a:defRPr/>
                </a:pPr>
                <a:r>
                  <a:rPr lang="en-MY" sz="2100" dirty="0">
                    <a:ea typeface="ＭＳ Ｐゴシック" pitchFamily="34" charset="-128"/>
                  </a:rPr>
                  <a:t>A proper subset of a set</a:t>
                </a:r>
                <a:r>
                  <a:rPr lang="en-MY" sz="2100" b="1" dirty="0">
                    <a:ea typeface="ＭＳ Ｐゴシック" pitchFamily="34" charset="-128"/>
                  </a:rPr>
                  <a:t> A </a:t>
                </a:r>
                <a:r>
                  <a:rPr lang="en-MY" sz="2100" dirty="0">
                    <a:ea typeface="ＭＳ Ｐゴシック" pitchFamily="34" charset="-128"/>
                  </a:rPr>
                  <a:t>is a </a:t>
                </a:r>
                <a:r>
                  <a:rPr lang="en-MY" sz="2100" dirty="0">
                    <a:ea typeface="ＭＳ Ｐゴシック" pitchFamily="34" charset="-128"/>
                    <a:hlinkClick r:id="rId2" tooltip="Definition of subset: A set $A$ is a subset of another set $B$ if all elements of the set $A$ are elements of the set $B$. The subset relationship is denoted as $A \subset B$."/>
                  </a:rPr>
                  <a:t>subset</a:t>
                </a:r>
                <a:r>
                  <a:rPr lang="en-MY" sz="2100" dirty="0">
                    <a:ea typeface="ＭＳ Ｐゴシック" pitchFamily="34" charset="-128"/>
                  </a:rPr>
                  <a:t> of </a:t>
                </a:r>
                <a:r>
                  <a:rPr lang="en-MY" sz="2100" b="1" dirty="0">
                    <a:ea typeface="ＭＳ Ｐゴシック" pitchFamily="34" charset="-128"/>
                  </a:rPr>
                  <a:t>A</a:t>
                </a:r>
                <a:r>
                  <a:rPr lang="en-MY" sz="2100" dirty="0">
                    <a:ea typeface="ＭＳ Ｐゴシック" pitchFamily="34" charset="-128"/>
                  </a:rPr>
                  <a:t> that is not equal to </a:t>
                </a:r>
                <a:r>
                  <a:rPr lang="en-MY" sz="2100" b="1" dirty="0">
                    <a:ea typeface="ＭＳ Ｐゴシック" pitchFamily="34" charset="-128"/>
                  </a:rPr>
                  <a:t>A</a:t>
                </a:r>
                <a:r>
                  <a:rPr lang="en-MY" sz="2100" i="1" dirty="0">
                    <a:ea typeface="ＭＳ Ｐゴシック" pitchFamily="34" charset="-128"/>
                  </a:rPr>
                  <a:t> </a:t>
                </a:r>
                <a:r>
                  <a:rPr lang="en-MY" sz="2100" dirty="0">
                    <a:ea typeface="ＭＳ Ｐゴシック" pitchFamily="34" charset="-128"/>
                  </a:rPr>
                  <a:t>:  {1,2,3} </a:t>
                </a:r>
                <a14:m>
                  <m:oMath xmlns:m="http://schemas.openxmlformats.org/officeDocument/2006/math">
                    <m:r>
                      <a:rPr lang="en-MY" sz="21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⊄</m:t>
                    </m:r>
                  </m:oMath>
                </a14:m>
                <a:r>
                  <a:rPr lang="en-MY" sz="2100" dirty="0">
                    <a:solidFill>
                      <a:srgbClr val="0000FF"/>
                    </a:solidFill>
                    <a:ea typeface="ＭＳ Ｐゴシック" pitchFamily="34" charset="-128"/>
                    <a:sym typeface="Symbol"/>
                  </a:rPr>
                  <a:t> </a:t>
                </a:r>
                <a:r>
                  <a:rPr lang="en-MY" sz="2100" b="1" dirty="0">
                    <a:ea typeface="ＭＳ Ｐゴシック" pitchFamily="34" charset="-128"/>
                  </a:rPr>
                  <a:t>A</a:t>
                </a:r>
                <a:endParaRPr lang="en-MY" sz="2100" dirty="0"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08" y="5100125"/>
                <a:ext cx="8575646" cy="738664"/>
              </a:xfrm>
              <a:prstGeom prst="rect">
                <a:avLst/>
              </a:prstGeom>
              <a:blipFill>
                <a:blip r:embed="rId3"/>
                <a:stretch>
                  <a:fillRect l="-853" t="-5785" b="-15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2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BB8B9F9-1484-614A-B514-E2DF6252D149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EF1A3-36FC-5FA5-AC4A-DCC602E0E1C8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63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9571" name="Rectangle 2"/>
              <p:cNvSpPr>
                <a:spLocks noChangeArrowheads="1"/>
              </p:cNvSpPr>
              <p:nvPr/>
            </p:nvSpPr>
            <p:spPr bwMode="auto">
              <a:xfrm>
                <a:off x="268157" y="2048639"/>
                <a:ext cx="8500533" cy="2308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MY" sz="3600" dirty="0">
                    <a:ea typeface="ＭＳ Ｐゴシック" charset="0"/>
                    <a:cs typeface="ＭＳ Ｐゴシック" charset="0"/>
                  </a:rPr>
                  <a:t>Lets, set</a:t>
                </a:r>
                <a:r>
                  <a:rPr lang="en-MY" sz="3600" b="1" dirty="0">
                    <a:ea typeface="ＭＳ Ｐゴシック" charset="0"/>
                    <a:cs typeface="ＭＳ Ｐゴシック" charset="0"/>
                  </a:rPr>
                  <a:t> B </a:t>
                </a:r>
                <a:r>
                  <a:rPr lang="en-MY" sz="3600" dirty="0">
                    <a:ea typeface="ＭＳ Ｐゴシック" charset="0"/>
                    <a:cs typeface="ＭＳ Ｐゴシック" charset="0"/>
                  </a:rPr>
                  <a:t>= {1, 2, 3, 4, 5, 6} and </a:t>
                </a:r>
                <a:r>
                  <a:rPr lang="en-MY" sz="3600" b="1" dirty="0">
                    <a:ea typeface="ＭＳ Ｐゴシック" charset="0"/>
                    <a:cs typeface="ＭＳ Ｐゴシック" charset="0"/>
                  </a:rPr>
                  <a:t>A </a:t>
                </a:r>
                <a:r>
                  <a:rPr lang="en-MY" sz="3600" dirty="0">
                    <a:ea typeface="ＭＳ Ｐゴシック" charset="0"/>
                    <a:cs typeface="ＭＳ Ｐゴシック" charset="0"/>
                  </a:rPr>
                  <a:t>= {1, 2, 3} </a:t>
                </a:r>
              </a:p>
              <a:p>
                <a:pPr algn="ctr">
                  <a:defRPr/>
                </a:pPr>
                <a:endParaRPr lang="en-MY" sz="3600" i="1" dirty="0">
                  <a:ea typeface="ＭＳ Ｐゴシック" charset="0"/>
                  <a:cs typeface="ＭＳ Ｐゴシック" charset="0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MY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ＭＳ Ｐゴシック" charset="0"/>
                      </a:rPr>
                      <m:t>∴ </m:t>
                    </m:r>
                  </m:oMath>
                </a14:m>
                <a:r>
                  <a:rPr lang="en-MY" sz="3600" b="1" dirty="0">
                    <a:ea typeface="ＭＳ Ｐゴシック" charset="0"/>
                    <a:cs typeface="ＭＳ Ｐゴシック" charset="0"/>
                  </a:rPr>
                  <a:t>A</a:t>
                </a:r>
                <a:r>
                  <a:rPr lang="en-MY" sz="3600" dirty="0">
                    <a:ea typeface="ＭＳ Ｐゴシック" charset="0"/>
                    <a:cs typeface="ＭＳ Ｐゴシック" charset="0"/>
                  </a:rPr>
                  <a:t> is a proper subset of </a:t>
                </a:r>
                <a:r>
                  <a:rPr lang="en-MY" sz="3600" b="1" dirty="0">
                    <a:ea typeface="ＭＳ Ｐゴシック" charset="0"/>
                    <a:cs typeface="ＭＳ Ｐゴシック" charset="0"/>
                  </a:rPr>
                  <a:t>B</a:t>
                </a:r>
                <a:r>
                  <a:rPr lang="en-MY" sz="3600" i="1" dirty="0">
                    <a:ea typeface="ＭＳ Ｐゴシック" charset="0"/>
                    <a:cs typeface="ＭＳ Ｐゴシック" charset="0"/>
                  </a:rPr>
                  <a:t>.</a:t>
                </a:r>
              </a:p>
              <a:p>
                <a:pPr algn="ctr">
                  <a:defRPr/>
                </a:pPr>
                <a:endParaRPr lang="en-MY" sz="3600" i="1" dirty="0">
                  <a:ea typeface="ＭＳ Ｐゴシック" charset="0"/>
                  <a:cs typeface="ＭＳ Ｐゴシック" charset="0"/>
                </a:endParaRPr>
              </a:p>
            </p:txBody>
          </p:sp>
        </mc:Choice>
        <mc:Fallback xmlns="">
          <p:sp>
            <p:nvSpPr>
              <p:cNvPr id="109571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157" y="2048639"/>
                <a:ext cx="8500533" cy="2308324"/>
              </a:xfrm>
              <a:prstGeom prst="rect">
                <a:avLst/>
              </a:prstGeom>
              <a:blipFill>
                <a:blip r:embed="rId2"/>
                <a:stretch>
                  <a:fillRect l="-1004" t="-3958" r="-222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4" name="TextBox 3"/>
          <p:cNvSpPr txBox="1">
            <a:spLocks noChangeArrowheads="1"/>
          </p:cNvSpPr>
          <p:nvPr/>
        </p:nvSpPr>
        <p:spPr bwMode="auto">
          <a:xfrm>
            <a:off x="2930811" y="752684"/>
            <a:ext cx="262321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5400" b="1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33795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A79F4538-1F92-284A-9AF0-C59A7B499284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D5110-270B-EB31-32D4-CF4EE510B7BF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744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28650" y="1537111"/>
            <a:ext cx="7886700" cy="3263504"/>
          </a:xfrm>
        </p:spPr>
        <p:txBody>
          <a:bodyPr>
            <a:noAutofit/>
          </a:bodyPr>
          <a:lstStyle/>
          <a:p>
            <a:pPr marL="270272" indent="0">
              <a:buNone/>
              <a:defRPr/>
            </a:pPr>
            <a:r>
              <a:rPr lang="en-US" sz="3200" dirty="0">
                <a:ea typeface="MS PGothic" pitchFamily="34" charset="-128"/>
              </a:rPr>
              <a:t>Given </a:t>
            </a:r>
            <a:r>
              <a:rPr lang="en-US" sz="3200" b="1" dirty="0">
                <a:ea typeface="MS PGothic" pitchFamily="34" charset="-128"/>
              </a:rPr>
              <a:t>A</a:t>
            </a:r>
            <a:r>
              <a:rPr lang="en-US" sz="3200" i="1" dirty="0">
                <a:ea typeface="MS PGothic" pitchFamily="34" charset="-128"/>
              </a:rPr>
              <a:t> </a:t>
            </a:r>
            <a:r>
              <a:rPr lang="en-US" sz="3200" dirty="0">
                <a:ea typeface="MS PGothic" pitchFamily="34" charset="-128"/>
              </a:rPr>
              <a:t>= {</a:t>
            </a:r>
            <a:r>
              <a:rPr lang="en-US" sz="3200" i="1" dirty="0">
                <a:ea typeface="MS PGothic" pitchFamily="34" charset="-128"/>
              </a:rPr>
              <a:t>a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b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c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d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e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f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g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h</a:t>
            </a:r>
            <a:r>
              <a:rPr lang="en-US" sz="3200" dirty="0">
                <a:ea typeface="MS PGothic" pitchFamily="34" charset="-128"/>
              </a:rPr>
              <a:t>} </a:t>
            </a:r>
          </a:p>
          <a:p>
            <a:pPr marL="270272" indent="0">
              <a:buNone/>
              <a:defRPr/>
            </a:pPr>
            <a:r>
              <a:rPr lang="en-US" sz="3200" dirty="0">
                <a:ea typeface="MS PGothic" pitchFamily="34" charset="-128"/>
                <a:sym typeface="Symbol" pitchFamily="18" charset="2"/>
              </a:rPr>
              <a:t>Which of the following subset are proper subset of </a:t>
            </a:r>
            <a:r>
              <a:rPr lang="en-US" sz="3200" b="1" dirty="0">
                <a:ea typeface="MS PGothic" pitchFamily="34" charset="-128"/>
                <a:sym typeface="Symbol" pitchFamily="18" charset="2"/>
              </a:rPr>
              <a:t>A</a:t>
            </a:r>
            <a:r>
              <a:rPr lang="en-US" sz="3200" dirty="0">
                <a:ea typeface="MS PGothic" pitchFamily="34" charset="-128"/>
                <a:sym typeface="Symbol" pitchFamily="18" charset="2"/>
              </a:rPr>
              <a:t>?</a:t>
            </a:r>
            <a:endParaRPr lang="en-US" sz="3200" dirty="0">
              <a:ea typeface="MS PGothic" pitchFamily="34" charset="-128"/>
            </a:endParaRPr>
          </a:p>
          <a:p>
            <a:pPr marL="270272" indent="0">
              <a:buNone/>
              <a:defRPr/>
            </a:pPr>
            <a:r>
              <a:rPr lang="en-US" sz="3200" b="1" dirty="0">
                <a:ea typeface="MS PGothic" pitchFamily="34" charset="-128"/>
              </a:rPr>
              <a:t>B</a:t>
            </a:r>
            <a:r>
              <a:rPr lang="en-US" sz="3200" i="1" dirty="0">
                <a:ea typeface="MS PGothic" pitchFamily="34" charset="-128"/>
              </a:rPr>
              <a:t> </a:t>
            </a:r>
            <a:r>
              <a:rPr lang="en-US" sz="3200" dirty="0">
                <a:ea typeface="MS PGothic" pitchFamily="34" charset="-128"/>
              </a:rPr>
              <a:t>= {</a:t>
            </a:r>
            <a:r>
              <a:rPr lang="en-US" sz="3200" i="1" dirty="0">
                <a:ea typeface="MS PGothic" pitchFamily="34" charset="-128"/>
              </a:rPr>
              <a:t>b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d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e</a:t>
            </a:r>
            <a:r>
              <a:rPr lang="en-US" sz="3200" dirty="0">
                <a:ea typeface="MS PGothic" pitchFamily="34" charset="-128"/>
              </a:rPr>
              <a:t>}</a:t>
            </a:r>
          </a:p>
          <a:p>
            <a:pPr marL="270272" indent="0">
              <a:buNone/>
              <a:defRPr/>
            </a:pPr>
            <a:r>
              <a:rPr lang="en-US" sz="3200" b="1" dirty="0">
                <a:ea typeface="MS PGothic" pitchFamily="34" charset="-128"/>
              </a:rPr>
              <a:t>C</a:t>
            </a:r>
            <a:r>
              <a:rPr lang="en-US" sz="3200" i="1" dirty="0">
                <a:ea typeface="MS PGothic" pitchFamily="34" charset="-128"/>
              </a:rPr>
              <a:t> </a:t>
            </a:r>
            <a:r>
              <a:rPr lang="en-US" sz="3200" dirty="0">
                <a:ea typeface="MS PGothic" pitchFamily="34" charset="-128"/>
              </a:rPr>
              <a:t>= {</a:t>
            </a:r>
            <a:r>
              <a:rPr lang="en-US" sz="3200" i="1" dirty="0">
                <a:ea typeface="MS PGothic" pitchFamily="34" charset="-128"/>
              </a:rPr>
              <a:t>a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b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c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d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e</a:t>
            </a:r>
            <a:r>
              <a:rPr lang="en-US" sz="3200" dirty="0">
                <a:ea typeface="MS PGothic" pitchFamily="34" charset="-128"/>
              </a:rPr>
              <a:t>}</a:t>
            </a:r>
          </a:p>
          <a:p>
            <a:pPr marL="270272" indent="0">
              <a:buNone/>
              <a:defRPr/>
            </a:pPr>
            <a:r>
              <a:rPr lang="en-US" sz="3200" b="1" dirty="0">
                <a:ea typeface="MS PGothic" pitchFamily="34" charset="-128"/>
              </a:rPr>
              <a:t>D</a:t>
            </a:r>
            <a:r>
              <a:rPr lang="en-US" sz="3200" i="1" dirty="0">
                <a:ea typeface="MS PGothic" pitchFamily="34" charset="-128"/>
              </a:rPr>
              <a:t> </a:t>
            </a:r>
            <a:r>
              <a:rPr lang="en-US" sz="3200" dirty="0">
                <a:ea typeface="MS PGothic" pitchFamily="34" charset="-128"/>
              </a:rPr>
              <a:t>= {</a:t>
            </a:r>
            <a:r>
              <a:rPr lang="en-US" sz="3200" i="1" dirty="0">
                <a:ea typeface="MS PGothic" pitchFamily="34" charset="-128"/>
              </a:rPr>
              <a:t>r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s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d</a:t>
            </a:r>
            <a:r>
              <a:rPr lang="en-US" sz="3200" dirty="0">
                <a:ea typeface="MS PGothic" pitchFamily="34" charset="-128"/>
              </a:rPr>
              <a:t>, </a:t>
            </a:r>
            <a:r>
              <a:rPr lang="en-US" sz="3200" i="1" dirty="0">
                <a:ea typeface="MS PGothic" pitchFamily="34" charset="-128"/>
              </a:rPr>
              <a:t>e</a:t>
            </a:r>
            <a:r>
              <a:rPr lang="en-US" sz="3200" dirty="0">
                <a:ea typeface="MS PGothic" pitchFamily="34" charset="-128"/>
              </a:rPr>
              <a:t>}</a:t>
            </a:r>
            <a:endParaRPr lang="en-US" sz="3200" i="1" dirty="0">
              <a:solidFill>
                <a:srgbClr val="AE3221"/>
              </a:solidFill>
              <a:ea typeface="MS PGothic" pitchFamily="34" charset="-128"/>
              <a:sym typeface="Symbol" pitchFamily="18" charset="2"/>
            </a:endParaRP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2549018" y="741047"/>
            <a:ext cx="2959838" cy="669918"/>
          </a:xfrm>
        </p:spPr>
        <p:txBody>
          <a:bodyPr/>
          <a:lstStyle/>
          <a:p>
            <a:pPr algn="ctr" eaLnBrk="1" hangingPunct="1"/>
            <a:r>
              <a:rPr lang="en-US" altLang="en-US" sz="5400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08889" y="5284242"/>
            <a:ext cx="203302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 i="1" dirty="0" err="1">
                <a:solidFill>
                  <a:srgbClr val="FF0000"/>
                </a:solidFill>
              </a:rPr>
              <a:t>Ans</a:t>
            </a:r>
            <a:r>
              <a:rPr lang="en-US" altLang="en-US" sz="1500" i="1" dirty="0">
                <a:solidFill>
                  <a:srgbClr val="FF0000"/>
                </a:solidFill>
              </a:rPr>
              <a:t>: </a:t>
            </a:r>
            <a:r>
              <a:rPr lang="en-US" altLang="en-US" sz="1500" b="1" dirty="0"/>
              <a:t>B </a:t>
            </a:r>
            <a:r>
              <a:rPr lang="en-US" altLang="en-US" sz="1500" dirty="0"/>
              <a:t>and </a:t>
            </a:r>
            <a:r>
              <a:rPr lang="en-US" altLang="en-US" sz="1500" b="1" dirty="0"/>
              <a:t>C</a:t>
            </a:r>
          </a:p>
        </p:txBody>
      </p:sp>
      <p:sp>
        <p:nvSpPr>
          <p:cNvPr id="34820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AD9D2233-E0B4-3E4C-A941-5B6D3EF79C42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8F4951-A219-3965-5638-5B9F92A7F245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033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21371B78-6229-2F4D-A742-F6422AF47C79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/>
              <p:cNvSpPr txBox="1">
                <a:spLocks noChangeArrowheads="1"/>
              </p:cNvSpPr>
              <p:nvPr/>
            </p:nvSpPr>
            <p:spPr>
              <a:xfrm>
                <a:off x="1092198" y="683539"/>
                <a:ext cx="6154804" cy="733218"/>
              </a:xfrm>
              <a:prstGeom prst="rect">
                <a:avLst/>
              </a:prstGeom>
            </p:spPr>
            <p:txBody>
              <a:bodyPr/>
              <a:lstStyle>
                <a:lvl1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2pPr>
                <a:lvl3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3pPr>
                <a:lvl4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4pPr>
                <a:lvl5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5pPr>
                <a:lvl6pPr marL="4572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6pPr>
                <a:lvl7pPr marL="9144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7pPr>
                <a:lvl8pPr marL="13716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8pPr>
                <a:lvl9pPr marL="18288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ctr" defTabSz="914400" eaLnBrk="1" hangingPunct="1"/>
                <a:r>
                  <a:rPr lang="en-US" altLang="en-US" sz="4800" b="1" dirty="0">
                    <a:latin typeface="+mn-lt"/>
                    <a:ea typeface="ＭＳ Ｐゴシック" charset="-128"/>
                  </a:rPr>
                  <a:t>Empty Sets </a:t>
                </a:r>
                <a:r>
                  <a:rPr lang="en-US" altLang="en-US" sz="4800" dirty="0">
                    <a:ea typeface="ＭＳ Ｐゴシック" charset="-128"/>
                  </a:rPr>
                  <a:t>[</a:t>
                </a:r>
                <a:r>
                  <a:rPr lang="en-US" altLang="en-US" sz="4800" b="1" dirty="0">
                    <a:ea typeface="ＭＳ Ｐゴシック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4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en-US" sz="4800" b="1" dirty="0">
                    <a:ea typeface="ＭＳ Ｐゴシック" charset="-128"/>
                  </a:rPr>
                  <a:t> or </a:t>
                </a:r>
                <a:r>
                  <a:rPr lang="en-US" altLang="en-US" sz="4800" b="1" dirty="0">
                    <a:solidFill>
                      <a:srgbClr val="3333FF"/>
                    </a:solidFill>
                    <a:ea typeface="ＭＳ Ｐゴシック" charset="-128"/>
                  </a:rPr>
                  <a:t>{ }</a:t>
                </a:r>
                <a:r>
                  <a:rPr lang="en-US" altLang="en-US" sz="4800" b="1" dirty="0">
                    <a:ea typeface="ＭＳ Ｐゴシック" charset="-128"/>
                  </a:rPr>
                  <a:t> </a:t>
                </a:r>
                <a:r>
                  <a:rPr lang="en-US" altLang="en-US" sz="4800" dirty="0">
                    <a:ea typeface="ＭＳ Ｐゴシック" charset="-128"/>
                  </a:rPr>
                  <a:t>]</a:t>
                </a:r>
                <a:endParaRPr lang="en-US" altLang="en-US" sz="4800" dirty="0">
                  <a:latin typeface="+mn-lt"/>
                  <a:ea typeface="ＭＳ Ｐゴシック" charset="-128"/>
                </a:endParaRPr>
              </a:p>
            </p:txBody>
          </p:sp>
        </mc:Choice>
        <mc:Fallback xmlns="">
          <p:sp>
            <p:nvSpPr>
              <p:cNvPr id="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198" y="683539"/>
                <a:ext cx="6154804" cy="733218"/>
              </a:xfrm>
              <a:prstGeom prst="rect">
                <a:avLst/>
              </a:prstGeom>
              <a:blipFill>
                <a:blip r:embed="rId2"/>
                <a:stretch>
                  <a:fillRect t="-28333" b="-4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9415" y="1620638"/>
                <a:ext cx="7611535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MY" sz="2800" dirty="0"/>
                  <a:t>The </a:t>
                </a:r>
                <a:r>
                  <a:rPr lang="en-MY" sz="2800" b="1" dirty="0">
                    <a:solidFill>
                      <a:srgbClr val="0070C0"/>
                    </a:solidFill>
                  </a:rPr>
                  <a:t>empty set </a:t>
                </a:r>
                <a14:m>
                  <m:oMath xmlns:m="http://schemas.openxmlformats.org/officeDocument/2006/math">
                    <m:r>
                      <a:rPr lang="en-MY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 </m:t>
                    </m:r>
                  </m:oMath>
                </a14:m>
                <a:r>
                  <a:rPr lang="en-US" sz="2800" dirty="0"/>
                  <a:t>or </a:t>
                </a:r>
                <a:r>
                  <a:rPr lang="en-US" sz="2800" b="1" dirty="0"/>
                  <a:t>{ }</a:t>
                </a:r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FF0000"/>
                    </a:solidFill>
                  </a:rPr>
                  <a:t>but not </a:t>
                </a:r>
                <a14:m>
                  <m:oMath xmlns:m="http://schemas.openxmlformats.org/officeDocument/2006/math">
                    <m:r>
                      <a:rPr lang="en-MY" sz="28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MY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∅}</m:t>
                    </m:r>
                  </m:oMath>
                </a14:m>
                <a:r>
                  <a:rPr lang="en-US" sz="2800" dirty="0"/>
                  <a:t> is the set without elements.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MY" sz="2800" dirty="0"/>
                  <a:t>Note:</a:t>
                </a:r>
              </a:p>
              <a:p>
                <a:pPr marL="914400" lvl="1" indent="-457200">
                  <a:buFont typeface="Wingdings" panose="05000000000000000000" pitchFamily="2" charset="2"/>
                  <a:buChar char="ü"/>
                </a:pPr>
                <a:r>
                  <a:rPr lang="en-MY" sz="2800" dirty="0"/>
                  <a:t>Empty set has no elements.</a:t>
                </a:r>
              </a:p>
              <a:p>
                <a:pPr marL="914400" lvl="1" indent="-457200">
                  <a:buFont typeface="Wingdings" panose="05000000000000000000" pitchFamily="2" charset="2"/>
                  <a:buChar char="ü"/>
                </a:pPr>
                <a:r>
                  <a:rPr lang="en-MY" sz="2800" dirty="0"/>
                  <a:t>Empty set is a subset of any set.</a:t>
                </a:r>
              </a:p>
              <a:p>
                <a:pPr marL="914400" lvl="1" indent="-457200">
                  <a:buFont typeface="Wingdings" panose="05000000000000000000" pitchFamily="2" charset="2"/>
                  <a:buChar char="ü"/>
                </a:pPr>
                <a:r>
                  <a:rPr lang="en-MY" sz="2800" dirty="0"/>
                  <a:t>There is exactly one empty set.</a:t>
                </a:r>
              </a:p>
              <a:p>
                <a:pPr marL="914400" lvl="1" indent="-457200">
                  <a:buFont typeface="Wingdings" panose="05000000000000000000" pitchFamily="2" charset="2"/>
                  <a:buChar char="ü"/>
                </a:pPr>
                <a:r>
                  <a:rPr lang="en-MY" sz="2800" dirty="0"/>
                  <a:t>Properties of empty set:</a:t>
                </a:r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15" y="1620638"/>
                <a:ext cx="7611535" cy="3539430"/>
              </a:xfrm>
              <a:prstGeom prst="rect">
                <a:avLst/>
              </a:prstGeom>
              <a:blipFill>
                <a:blip r:embed="rId3"/>
                <a:stretch>
                  <a:fillRect l="-1441" t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60033" y="4744569"/>
                <a:ext cx="3292248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MY" sz="2400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∪∅=</m:t>
                    </m:r>
                    <m:r>
                      <a:rPr lang="en-MY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MY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  <a:r>
                  <a:rPr lang="en-MY" sz="24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MY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∩∅=∅</m:t>
                    </m:r>
                  </m:oMath>
                </a14:m>
                <a:br>
                  <a:rPr lang="en-MY" sz="2400" b="0" dirty="0"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MY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e>
                        <m:sup>
                          <m:r>
                            <a:rPr lang="en-MY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MY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∅; </m:t>
                      </m:r>
                      <m:r>
                        <a:rPr lang="en-MY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𝐀</m:t>
                      </m:r>
                      <m:r>
                        <a:rPr lang="en-MY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sSup>
                        <m:sSupPr>
                          <m:ctrlPr>
                            <a:rPr lang="en-MY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e>
                        <m:sup>
                          <m:r>
                            <a:rPr lang="en-MY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MY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MY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𝐔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MY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𝐔</m:t>
                          </m:r>
                        </m:e>
                        <m:sup>
                          <m:r>
                            <a:rPr lang="en-MY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MY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∅ ; </m:t>
                      </m:r>
                      <m:sSup>
                        <m:sSupPr>
                          <m:ctrlPr>
                            <a:rPr lang="en-MY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MY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  <m:sup>
                          <m:r>
                            <a:rPr lang="en-MY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MY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MY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𝐔</m:t>
                      </m:r>
                    </m:oMath>
                  </m:oMathPara>
                </a14:m>
                <a:endParaRPr lang="en-MY" sz="24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33" y="4744569"/>
                <a:ext cx="3292248" cy="1107996"/>
              </a:xfrm>
              <a:prstGeom prst="rect">
                <a:avLst/>
              </a:prstGeom>
              <a:blipFill>
                <a:blip r:embed="rId4"/>
                <a:stretch>
                  <a:fillRect l="-1296" t="-9341" r="-741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BF34DA1-7DF5-FFF5-3F5C-4542AC246B5F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396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1542" y="2261950"/>
            <a:ext cx="7308010" cy="1343799"/>
          </a:xfrm>
        </p:spPr>
        <p:txBody>
          <a:bodyPr/>
          <a:lstStyle/>
          <a:p>
            <a:pPr marL="770335" lvl="1" indent="-341710">
              <a:buFont typeface="Symbol" charset="2"/>
              <a:buChar char="Æ"/>
            </a:pPr>
            <a:r>
              <a:rPr lang="en-US" altLang="en-US" sz="3200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=  {</a:t>
            </a:r>
            <a:r>
              <a:rPr lang="en-US" altLang="en-US" sz="3200" i="1" dirty="0">
                <a:solidFill>
                  <a:srgbClr val="000000"/>
                </a:solidFill>
                <a:latin typeface="Times New Roman" charset="0"/>
                <a:ea typeface="ＭＳ Ｐゴシック" charset="-128"/>
                <a:sym typeface="Symbol" charset="2"/>
              </a:rPr>
              <a:t>x</a:t>
            </a:r>
            <a:r>
              <a:rPr lang="en-US" altLang="en-US" sz="3200" i="1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 </a:t>
            </a:r>
            <a:r>
              <a:rPr lang="en-US" altLang="en-US" sz="3200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| </a:t>
            </a:r>
            <a:r>
              <a:rPr lang="en-US" altLang="en-US" sz="3200" i="1" dirty="0">
                <a:solidFill>
                  <a:srgbClr val="000000"/>
                </a:solidFill>
                <a:latin typeface="Times New Roman" charset="0"/>
                <a:ea typeface="ＭＳ Ｐゴシック" charset="-128"/>
                <a:sym typeface="Symbol" charset="2"/>
              </a:rPr>
              <a:t>x </a:t>
            </a:r>
            <a:r>
              <a:rPr lang="en-US" altLang="en-US" sz="3200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 is a real number and              }</a:t>
            </a:r>
            <a:r>
              <a:rPr lang="en-US" altLang="en-US" sz="3200" dirty="0">
                <a:solidFill>
                  <a:srgbClr val="6600CC"/>
                </a:solidFill>
                <a:ea typeface="ＭＳ Ｐゴシック" charset="-128"/>
                <a:sym typeface="Symbol" charset="2"/>
              </a:rPr>
              <a:t> </a:t>
            </a:r>
          </a:p>
          <a:p>
            <a:pPr marL="428625" lvl="1" indent="0">
              <a:buNone/>
            </a:pPr>
            <a:endParaRPr lang="en-US" altLang="en-US" sz="3200" dirty="0">
              <a:solidFill>
                <a:srgbClr val="6600CC"/>
              </a:solidFill>
              <a:ea typeface="ＭＳ Ｐゴシック" charset="-128"/>
              <a:sym typeface="Symbol" charset="2"/>
            </a:endParaRPr>
          </a:p>
          <a:p>
            <a:pPr marL="770335" lvl="1" indent="-341710">
              <a:buNone/>
            </a:pPr>
            <a:r>
              <a:rPr lang="en-US" altLang="en-US" sz="3200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 =  {</a:t>
            </a:r>
            <a:r>
              <a:rPr lang="en-US" altLang="en-US" sz="3200" i="1" dirty="0">
                <a:solidFill>
                  <a:srgbClr val="000000"/>
                </a:solidFill>
                <a:latin typeface="Times New Roman" charset="0"/>
                <a:ea typeface="ＭＳ Ｐゴシック" charset="-128"/>
                <a:sym typeface="Symbol" charset="2"/>
              </a:rPr>
              <a:t>x</a:t>
            </a:r>
            <a:r>
              <a:rPr lang="en-US" altLang="en-US" sz="3200" i="1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 </a:t>
            </a:r>
            <a:r>
              <a:rPr lang="en-US" altLang="en-US" sz="3200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| </a:t>
            </a:r>
            <a:r>
              <a:rPr lang="en-US" altLang="en-US" sz="3200" i="1" dirty="0">
                <a:solidFill>
                  <a:srgbClr val="000000"/>
                </a:solidFill>
                <a:latin typeface="Times New Roman" charset="0"/>
                <a:ea typeface="ＭＳ Ｐゴシック" charset="-128"/>
                <a:sym typeface="Symbol" charset="2"/>
              </a:rPr>
              <a:t>x</a:t>
            </a:r>
            <a:r>
              <a:rPr lang="en-US" altLang="en-US" sz="3200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 is positive integer and </a:t>
            </a:r>
            <a:r>
              <a:rPr lang="en-US" altLang="en-US" sz="3200" i="1" dirty="0">
                <a:solidFill>
                  <a:srgbClr val="000000"/>
                </a:solidFill>
                <a:latin typeface="Times New Roman" charset="0"/>
                <a:ea typeface="ＭＳ Ｐゴシック" charset="-128"/>
                <a:sym typeface="Symbol" charset="2"/>
              </a:rPr>
              <a:t>x</a:t>
            </a:r>
            <a:r>
              <a:rPr lang="en-US" altLang="en-US" sz="3200" baseline="30000" dirty="0">
                <a:solidFill>
                  <a:srgbClr val="000000"/>
                </a:solidFill>
                <a:latin typeface="Times New Roman" charset="0"/>
                <a:ea typeface="ＭＳ Ｐゴシック" charset="-128"/>
                <a:sym typeface="Symbol" charset="2"/>
              </a:rPr>
              <a:t>3</a:t>
            </a:r>
            <a:r>
              <a:rPr lang="en-US" altLang="en-US" sz="3200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 &lt; 0}</a:t>
            </a:r>
            <a:r>
              <a:rPr lang="en-US" altLang="en-US" sz="3200" dirty="0">
                <a:solidFill>
                  <a:srgbClr val="6600CC"/>
                </a:solidFill>
                <a:ea typeface="ＭＳ Ｐゴシック" charset="-128"/>
                <a:sym typeface="Symbol" charset="2"/>
              </a:rPr>
              <a:t> </a:t>
            </a:r>
          </a:p>
          <a:p>
            <a:pPr marL="770335" lvl="1" indent="-341710">
              <a:buFont typeface="Symbol" charset="2"/>
              <a:buChar char="Æ"/>
            </a:pPr>
            <a:endParaRPr lang="en-US" altLang="en-US" sz="3200" dirty="0">
              <a:solidFill>
                <a:srgbClr val="6600CC"/>
              </a:solidFill>
              <a:ea typeface="ＭＳ Ｐゴシック" charset="-128"/>
              <a:sym typeface="Symbol" charset="2"/>
            </a:endParaRP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>
            <a:off x="4375547" y="3353991"/>
            <a:ext cx="68580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endParaRPr lang="en-US" altLang="en-US" sz="1350"/>
          </a:p>
        </p:txBody>
      </p:sp>
      <p:graphicFrame>
        <p:nvGraphicFramePr>
          <p:cNvPr id="3686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660934"/>
              </p:ext>
            </p:extLst>
          </p:nvPr>
        </p:nvGraphicFramePr>
        <p:xfrm>
          <a:off x="6502400" y="2261950"/>
          <a:ext cx="1259814" cy="481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3" imgW="520474" imgH="203112" progId="Equation.3">
                  <p:embed/>
                </p:oleObj>
              </mc:Choice>
              <mc:Fallback>
                <p:oleObj name="Equation" r:id="rId3" imgW="520474" imgH="203112" progId="Equation.3">
                  <p:embed/>
                  <p:pic>
                    <p:nvPicPr>
                      <p:cNvPr id="3686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2400" y="2261950"/>
                        <a:ext cx="1259814" cy="481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Rectangle 5"/>
          <p:cNvSpPr>
            <a:spLocks noGrp="1" noChangeArrowheads="1"/>
          </p:cNvSpPr>
          <p:nvPr>
            <p:ph type="title"/>
          </p:nvPr>
        </p:nvSpPr>
        <p:spPr>
          <a:xfrm>
            <a:off x="2760791" y="1033784"/>
            <a:ext cx="2587386" cy="571523"/>
          </a:xfrm>
        </p:spPr>
        <p:txBody>
          <a:bodyPr/>
          <a:lstStyle/>
          <a:p>
            <a:pPr algn="ctr" eaLnBrk="1" hangingPunct="1"/>
            <a:r>
              <a:rPr lang="en-US" altLang="en-US" sz="4800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p:sp>
        <p:nvSpPr>
          <p:cNvPr id="36869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704035B5-8E2D-8647-9A53-C97BD4D1A1C1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1934" y="2210114"/>
            <a:ext cx="6597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 err="1"/>
              <a:t>i</a:t>
            </a:r>
            <a:r>
              <a:rPr lang="en-MY" sz="3200" dirty="0"/>
              <a:t>)</a:t>
            </a:r>
          </a:p>
          <a:p>
            <a:endParaRPr lang="en-MY" sz="3200" dirty="0"/>
          </a:p>
          <a:p>
            <a:r>
              <a:rPr lang="en-MY" sz="3200" dirty="0"/>
              <a:t>ii)</a:t>
            </a:r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00B11-61BF-54CB-1F4C-A0E9B21E8DF1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1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51D49F68-AE46-784D-8B61-BFD564840F56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>
              <a:xfrm>
                <a:off x="1092198" y="1008592"/>
                <a:ext cx="6154804" cy="733218"/>
              </a:xfrm>
              <a:prstGeom prst="rect">
                <a:avLst/>
              </a:prstGeom>
            </p:spPr>
            <p:txBody>
              <a:bodyPr/>
              <a:lstStyle>
                <a:lvl1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2pPr>
                <a:lvl3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3pPr>
                <a:lvl4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4pPr>
                <a:lvl5pPr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5pPr>
                <a:lvl6pPr marL="4572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6pPr>
                <a:lvl7pPr marL="9144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7pPr>
                <a:lvl8pPr marL="13716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8pPr>
                <a:lvl9pPr marL="1828800" algn="l" rtl="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 Light" panose="020F0302020204030204" pitchFamily="34" charset="0"/>
                  </a:defRPr>
                </a:lvl9pPr>
              </a:lstStyle>
              <a:p>
                <a:pPr algn="ctr" defTabSz="914400" eaLnBrk="1" hangingPunct="1"/>
                <a:r>
                  <a:rPr lang="en-US" altLang="en-US" sz="4800" b="1" dirty="0">
                    <a:latin typeface="+mn-lt"/>
                    <a:ea typeface="ＭＳ Ｐゴシック" charset="-128"/>
                  </a:rPr>
                  <a:t>Equal Sets </a:t>
                </a:r>
                <a:r>
                  <a:rPr lang="en-US" altLang="en-US" sz="4800" dirty="0">
                    <a:ea typeface="ＭＳ Ｐゴシック" charset="-128"/>
                  </a:rPr>
                  <a:t>[</a:t>
                </a:r>
                <a:r>
                  <a:rPr lang="en-US" altLang="en-US" sz="4800" b="1" dirty="0">
                    <a:ea typeface="ＭＳ Ｐゴシック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MY" altLang="en-US" sz="4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ＭＳ Ｐゴシック" charset="-128"/>
                      </a:rPr>
                      <m:t>=</m:t>
                    </m:r>
                  </m:oMath>
                </a14:m>
                <a:r>
                  <a:rPr lang="en-US" altLang="en-US" sz="4800" b="1" dirty="0">
                    <a:ea typeface="ＭＳ Ｐゴシック" charset="-128"/>
                  </a:rPr>
                  <a:t> </a:t>
                </a:r>
                <a:r>
                  <a:rPr lang="en-US" altLang="en-US" sz="4800" dirty="0">
                    <a:ea typeface="ＭＳ Ｐゴシック" charset="-128"/>
                  </a:rPr>
                  <a:t>]</a:t>
                </a:r>
                <a:endParaRPr lang="en-US" altLang="en-US" sz="4800" dirty="0">
                  <a:latin typeface="+mn-lt"/>
                  <a:ea typeface="ＭＳ Ｐゴシック" charset="-128"/>
                </a:endParaRPr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198" y="1008592"/>
                <a:ext cx="6154804" cy="733218"/>
              </a:xfrm>
              <a:prstGeom prst="rect">
                <a:avLst/>
              </a:prstGeom>
              <a:blipFill>
                <a:blip r:embed="rId2"/>
                <a:stretch>
                  <a:fillRect t="-28099" b="-46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3848" y="2228670"/>
                <a:ext cx="7996304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MY" sz="3200" dirty="0"/>
                  <a:t>The </a:t>
                </a:r>
                <a:r>
                  <a:rPr lang="en-US" sz="3200" dirty="0"/>
                  <a:t>set </a:t>
                </a:r>
                <a:r>
                  <a:rPr lang="en-US" sz="3200" b="1" dirty="0"/>
                  <a:t>A</a:t>
                </a:r>
                <a:r>
                  <a:rPr lang="en-US" sz="3200" dirty="0"/>
                  <a:t> and </a:t>
                </a:r>
                <a:r>
                  <a:rPr lang="en-US" sz="3200" b="1" dirty="0"/>
                  <a:t>B </a:t>
                </a:r>
                <a:r>
                  <a:rPr lang="en-US" sz="3200" dirty="0"/>
                  <a:t>are </a:t>
                </a:r>
                <a:r>
                  <a:rPr lang="en-US" sz="3200" b="1" dirty="0">
                    <a:solidFill>
                      <a:srgbClr val="0070C0"/>
                    </a:solidFill>
                  </a:rPr>
                  <a:t>equal</a:t>
                </a:r>
                <a:r>
                  <a:rPr lang="en-US" sz="3200" dirty="0"/>
                  <a:t> (</a:t>
                </a:r>
                <a:r>
                  <a:rPr lang="en-US" sz="3200" b="1" dirty="0"/>
                  <a:t>A</a:t>
                </a:r>
                <a:r>
                  <a:rPr lang="en-US" sz="3200" dirty="0"/>
                  <a:t> = </a:t>
                </a:r>
                <a:r>
                  <a:rPr lang="en-US" sz="3200" b="1" dirty="0"/>
                  <a:t>B</a:t>
                </a:r>
                <a:r>
                  <a:rPr lang="en-US" sz="3200" dirty="0"/>
                  <a:t>) if and only if each element of </a:t>
                </a:r>
                <a:r>
                  <a:rPr lang="en-US" sz="3200" b="1" dirty="0"/>
                  <a:t>A </a:t>
                </a:r>
                <a:r>
                  <a:rPr lang="en-US" sz="3200" dirty="0"/>
                  <a:t>is an element of </a:t>
                </a:r>
                <a:r>
                  <a:rPr lang="en-US" sz="3200" b="1" dirty="0"/>
                  <a:t>B</a:t>
                </a:r>
                <a:r>
                  <a:rPr lang="en-US" sz="3200" dirty="0"/>
                  <a:t> and vice versa. </a:t>
                </a:r>
              </a:p>
              <a:p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MY" sz="3200" dirty="0"/>
                  <a:t>Formally: </a:t>
                </a:r>
                <a:r>
                  <a:rPr lang="en-MY" sz="3200" b="1" dirty="0"/>
                  <a:t>A</a:t>
                </a:r>
                <a:r>
                  <a:rPr lang="en-MY" sz="3200" dirty="0"/>
                  <a:t> = </a:t>
                </a:r>
                <a:r>
                  <a:rPr lang="en-MY" sz="3200" b="1" dirty="0"/>
                  <a:t>B</a:t>
                </a:r>
                <a:r>
                  <a:rPr lang="en-MY" sz="3200" dirty="0"/>
                  <a:t> means </a:t>
                </a:r>
                <a14:m>
                  <m:oMath xmlns:m="http://schemas.openxmlformats.org/officeDocument/2006/math">
                    <m:r>
                      <a:rPr lang="en-MY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MY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MY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  <m:r>
                      <a:rPr lang="en-MY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MY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sz="3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  <m:r>
                      <a:rPr lang="en-MY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MY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48" y="2228670"/>
                <a:ext cx="7996304" cy="2554545"/>
              </a:xfrm>
              <a:prstGeom prst="rect">
                <a:avLst/>
              </a:prstGeom>
              <a:blipFill>
                <a:blip r:embed="rId3"/>
                <a:stretch>
                  <a:fillRect l="-1753" t="-3103" r="-1905" b="-7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AC2FDF1-8C6A-704A-4C2E-4BB4B688F393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184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9468" y="1921328"/>
            <a:ext cx="6976532" cy="1607427"/>
          </a:xfrm>
        </p:spPr>
        <p:txBody>
          <a:bodyPr/>
          <a:lstStyle/>
          <a:p>
            <a:pPr marL="428625" lvl="1" indent="0">
              <a:buNone/>
              <a:defRPr/>
            </a:pPr>
            <a:r>
              <a:rPr lang="en-US" sz="3200" dirty="0" err="1">
                <a:ea typeface="ＭＳ Ｐゴシック" charset="0"/>
              </a:rPr>
              <a:t>i</a:t>
            </a:r>
            <a:r>
              <a:rPr lang="en-US" sz="3200" dirty="0">
                <a:ea typeface="ＭＳ Ｐゴシック" charset="0"/>
              </a:rPr>
              <a:t>)  </a:t>
            </a:r>
            <a:r>
              <a:rPr lang="en-US" sz="3200" b="1" dirty="0">
                <a:ea typeface="ＭＳ Ｐゴシック" charset="0"/>
              </a:rPr>
              <a:t>A</a:t>
            </a:r>
            <a:r>
              <a:rPr lang="en-US" sz="3200" i="1" dirty="0">
                <a:ea typeface="ＭＳ Ｐゴシック" charset="0"/>
              </a:rPr>
              <a:t> </a:t>
            </a:r>
            <a:r>
              <a:rPr lang="en-US" sz="3200" dirty="0">
                <a:ea typeface="ＭＳ Ｐゴシック" charset="0"/>
              </a:rPr>
              <a:t>= {</a:t>
            </a:r>
            <a:r>
              <a:rPr lang="en-US" sz="3200" i="1" dirty="0">
                <a:ea typeface="ＭＳ Ｐゴシック" charset="0"/>
              </a:rPr>
              <a:t>a, b,</a:t>
            </a:r>
            <a:r>
              <a:rPr lang="en-US" sz="3200" dirty="0">
                <a:ea typeface="ＭＳ Ｐゴシック" charset="0"/>
              </a:rPr>
              <a:t> </a:t>
            </a:r>
            <a:r>
              <a:rPr lang="en-US" sz="3200" i="1" dirty="0">
                <a:ea typeface="ＭＳ Ｐゴシック" charset="0"/>
              </a:rPr>
              <a:t>c</a:t>
            </a:r>
            <a:r>
              <a:rPr lang="en-US" sz="3200" dirty="0">
                <a:ea typeface="ＭＳ Ｐゴシック" charset="0"/>
              </a:rPr>
              <a:t>}  ;  </a:t>
            </a:r>
            <a:r>
              <a:rPr lang="en-US" sz="3200" b="1" dirty="0">
                <a:ea typeface="ＭＳ Ｐゴシック" charset="0"/>
              </a:rPr>
              <a:t>B</a:t>
            </a:r>
            <a:r>
              <a:rPr lang="en-US" sz="3200" i="1" dirty="0">
                <a:ea typeface="ＭＳ Ｐゴシック" charset="0"/>
              </a:rPr>
              <a:t> </a:t>
            </a:r>
            <a:r>
              <a:rPr lang="en-US" sz="3200" dirty="0">
                <a:ea typeface="ＭＳ Ｐゴシック" charset="0"/>
              </a:rPr>
              <a:t>= {</a:t>
            </a:r>
            <a:r>
              <a:rPr lang="en-US" sz="3200" i="1" dirty="0">
                <a:ea typeface="ＭＳ Ｐゴシック" charset="0"/>
              </a:rPr>
              <a:t>b, c, a</a:t>
            </a:r>
            <a:r>
              <a:rPr lang="en-US" sz="3200" dirty="0">
                <a:ea typeface="ＭＳ Ｐゴシック" charset="0"/>
              </a:rPr>
              <a:t>}   </a:t>
            </a:r>
          </a:p>
          <a:p>
            <a:pPr marL="428625" lvl="1" indent="0">
              <a:buNone/>
              <a:defRPr/>
            </a:pPr>
            <a:r>
              <a:rPr lang="en-US" sz="3200" dirty="0">
                <a:ea typeface="ＭＳ Ｐゴシック" charset="0"/>
              </a:rPr>
              <a:t>   		</a:t>
            </a:r>
          </a:p>
          <a:p>
            <a:pPr marL="428625" lvl="1" indent="0">
              <a:buNone/>
              <a:defRPr/>
            </a:pPr>
            <a:r>
              <a:rPr lang="en-US" sz="3200" dirty="0">
                <a:ea typeface="ＭＳ Ｐゴシック" charset="0"/>
                <a:sym typeface="Symbol" panose="05050102010706020507" pitchFamily="18" charset="2"/>
              </a:rPr>
              <a:t>                 </a:t>
            </a:r>
            <a:r>
              <a:rPr lang="en-US" sz="3200" dirty="0">
                <a:ea typeface="ＭＳ Ｐゴシック" charset="0"/>
              </a:rPr>
              <a:t>  </a:t>
            </a:r>
            <a:r>
              <a:rPr lang="en-US" sz="3200" b="1" dirty="0">
                <a:solidFill>
                  <a:srgbClr val="0000FF"/>
                </a:solidFill>
                <a:ea typeface="ＭＳ Ｐゴシック" charset="0"/>
              </a:rPr>
              <a:t>A </a:t>
            </a:r>
            <a:r>
              <a:rPr lang="en-US" sz="3200" dirty="0">
                <a:solidFill>
                  <a:srgbClr val="0000FF"/>
                </a:solidFill>
                <a:ea typeface="ＭＳ Ｐゴシック" charset="0"/>
              </a:rPr>
              <a:t>= </a:t>
            </a:r>
            <a:r>
              <a:rPr lang="en-US" sz="3200" b="1" dirty="0">
                <a:solidFill>
                  <a:srgbClr val="0000FF"/>
                </a:solidFill>
                <a:ea typeface="ＭＳ Ｐゴシック" charset="0"/>
              </a:rPr>
              <a:t>B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title"/>
          </p:nvPr>
        </p:nvSpPr>
        <p:spPr>
          <a:xfrm>
            <a:off x="2802273" y="807827"/>
            <a:ext cx="2472656" cy="685800"/>
          </a:xfrm>
          <a:noFill/>
        </p:spPr>
        <p:txBody>
          <a:bodyPr anchor="b"/>
          <a:lstStyle/>
          <a:p>
            <a:pPr algn="ctr" eaLnBrk="1" hangingPunct="1"/>
            <a:r>
              <a:rPr lang="en-US" altLang="en-US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p:sp>
        <p:nvSpPr>
          <p:cNvPr id="38915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43CA82F5-2925-8E4F-A5AA-ED023BF85F6D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24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20132" y="3698357"/>
            <a:ext cx="8305303" cy="218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8625" lvl="1" indent="-249238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3200" dirty="0">
                <a:ea typeface="ＭＳ Ｐゴシック" charset="0"/>
                <a:cs typeface="Times New Roman" charset="0"/>
              </a:rPr>
              <a:t>ii)  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  </a:t>
            </a:r>
            <a:r>
              <a:rPr lang="en-US" sz="3200" dirty="0">
                <a:ea typeface="ＭＳ Ｐゴシック" charset="0"/>
                <a:cs typeface="Times New Roman" charset="0"/>
              </a:rPr>
              <a:t>= {2, 4, 6, 8};  </a:t>
            </a:r>
          </a:p>
          <a:p>
            <a:pPr marL="770335" lvl="1" indent="-341710" defTabSz="914400" eaLnBrk="1" hangingPunct="1">
              <a:buNone/>
              <a:defRPr/>
            </a:pPr>
            <a:r>
              <a:rPr lang="en-US" sz="3200" i="1" dirty="0">
                <a:ea typeface="ＭＳ Ｐゴシック" charset="0"/>
                <a:cs typeface="Times New Roman" charset="0"/>
              </a:rPr>
              <a:t>   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D </a:t>
            </a:r>
            <a:r>
              <a:rPr lang="en-US" sz="3200" dirty="0">
                <a:ea typeface="ＭＳ Ｐゴシック" charset="0"/>
                <a:cs typeface="Times New Roman" charset="0"/>
              </a:rPr>
              <a:t>= {2</a:t>
            </a:r>
            <a:r>
              <a:rPr lang="en-US" sz="3200" i="1" dirty="0">
                <a:latin typeface="Times New Roman" charset="0"/>
                <a:ea typeface="ＭＳ Ｐゴシック" charset="0"/>
                <a:cs typeface="Times New Roman" charset="0"/>
              </a:rPr>
              <a:t>x</a:t>
            </a:r>
            <a:r>
              <a:rPr lang="en-US" sz="3200" dirty="0">
                <a:ea typeface="ＭＳ Ｐゴシック" charset="0"/>
                <a:cs typeface="Times New Roman" charset="0"/>
              </a:rPr>
              <a:t>|</a:t>
            </a:r>
            <a:r>
              <a:rPr lang="en-US" sz="3200" i="1" dirty="0">
                <a:latin typeface="Times New Roman" charset="0"/>
                <a:ea typeface="ＭＳ Ｐゴシック" charset="0"/>
                <a:cs typeface="Times New Roman" charset="0"/>
              </a:rPr>
              <a:t>x</a:t>
            </a:r>
            <a:r>
              <a:rPr lang="en-US" sz="3200" dirty="0">
                <a:ea typeface="ＭＳ Ｐゴシック" charset="0"/>
                <a:cs typeface="Times New Roman" charset="0"/>
              </a:rPr>
              <a:t> is a positive integer and 2</a:t>
            </a:r>
            <a:r>
              <a:rPr lang="en-US" sz="3200" i="1" dirty="0">
                <a:latin typeface="Times New Roman" charset="0"/>
                <a:ea typeface="ＭＳ Ｐゴシック" charset="0"/>
                <a:cs typeface="Times New Roman" charset="0"/>
              </a:rPr>
              <a:t>x </a:t>
            </a:r>
            <a:r>
              <a:rPr lang="en-US" sz="3200" dirty="0">
                <a:ea typeface="ＭＳ Ｐゴシック" charset="0"/>
                <a:cs typeface="Times New Roman" charset="0"/>
              </a:rPr>
              <a:t>&lt; 10} </a:t>
            </a:r>
            <a:endParaRPr lang="en-US" sz="3200" i="1" dirty="0">
              <a:solidFill>
                <a:srgbClr val="AE3221"/>
              </a:solidFill>
              <a:ea typeface="ＭＳ Ｐゴシック" charset="0"/>
              <a:cs typeface="Times New Roman" charset="0"/>
            </a:endParaRPr>
          </a:p>
          <a:p>
            <a:pPr marL="770335" lvl="1" indent="-34171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3200" i="1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    </a:t>
            </a:r>
            <a:r>
              <a:rPr lang="en-US" sz="3200" dirty="0">
                <a:ea typeface="ＭＳ Ｐゴシック" charset="0"/>
                <a:cs typeface="Times New Roman" charset="0"/>
              </a:rPr>
              <a:t>          </a:t>
            </a:r>
          </a:p>
          <a:p>
            <a:pPr marL="770335" lvl="1" indent="-34171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3200" dirty="0">
                <a:ea typeface="ＭＳ Ｐゴシック" charset="0"/>
                <a:cs typeface="Times New Roman" charset="0"/>
                <a:sym typeface="Symbol" panose="05050102010706020507" pitchFamily="18" charset="2"/>
              </a:rPr>
              <a:t>                </a:t>
            </a:r>
            <a:r>
              <a:rPr lang="en-US" sz="3200" dirty="0">
                <a:ea typeface="ＭＳ Ｐゴシック" charset="0"/>
                <a:cs typeface="Times New Roman" charset="0"/>
              </a:rPr>
              <a:t> </a:t>
            </a:r>
            <a:r>
              <a:rPr lang="en-US" sz="3200" i="1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C </a:t>
            </a:r>
            <a:r>
              <a:rPr lang="en-US" sz="3200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= </a:t>
            </a:r>
            <a:r>
              <a:rPr lang="en-US" sz="3200" i="1" dirty="0">
                <a:solidFill>
                  <a:srgbClr val="0000FF"/>
                </a:solidFill>
                <a:ea typeface="ＭＳ Ｐゴシック" charset="0"/>
                <a:cs typeface="Times New Roman" charset="0"/>
              </a:rPr>
              <a:t>D</a:t>
            </a:r>
            <a:endParaRPr lang="en-US" sz="3200" dirty="0">
              <a:solidFill>
                <a:srgbClr val="0000FF"/>
              </a:solidFill>
              <a:ea typeface="ＭＳ Ｐゴシック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6781FF-C7C6-D76D-7E28-8B658C668FA6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73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3349" y="1946051"/>
            <a:ext cx="8128932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272" indent="-270272">
              <a:spcBef>
                <a:spcPts val="450"/>
              </a:spcBef>
              <a:spcAft>
                <a:spcPts val="1350"/>
              </a:spcAft>
              <a:buFont typeface="Arial" pitchFamily="34" charset="0"/>
              <a:buChar char="•"/>
              <a:defRPr/>
            </a:pPr>
            <a:r>
              <a:rPr lang="en-MY" sz="2800" dirty="0">
                <a:ea typeface="ＭＳ Ｐゴシック" pitchFamily="34" charset="-128"/>
              </a:rPr>
              <a:t>Two sets, </a:t>
            </a:r>
            <a:r>
              <a:rPr lang="en-MY" sz="2800" b="1" dirty="0">
                <a:ea typeface="ＭＳ Ｐゴシック" pitchFamily="34" charset="-128"/>
              </a:rPr>
              <a:t>A</a:t>
            </a:r>
            <a:r>
              <a:rPr lang="en-MY" sz="2800" dirty="0">
                <a:ea typeface="ＭＳ Ｐゴシック" pitchFamily="34" charset="-128"/>
              </a:rPr>
              <a:t> and </a:t>
            </a:r>
            <a:r>
              <a:rPr lang="en-MY" sz="2800" b="1" dirty="0">
                <a:ea typeface="ＭＳ Ｐゴシック" pitchFamily="34" charset="-128"/>
              </a:rPr>
              <a:t>B</a:t>
            </a:r>
            <a:r>
              <a:rPr lang="en-MY" sz="2800" dirty="0">
                <a:ea typeface="ＭＳ Ｐゴシック" pitchFamily="34" charset="-128"/>
              </a:rPr>
              <a:t> are </a:t>
            </a:r>
            <a:r>
              <a:rPr lang="en-MY" sz="2800" b="1" dirty="0">
                <a:solidFill>
                  <a:srgbClr val="0070C0"/>
                </a:solidFill>
                <a:ea typeface="ＭＳ Ｐゴシック" pitchFamily="34" charset="-128"/>
              </a:rPr>
              <a:t>equivalent</a:t>
            </a:r>
            <a:r>
              <a:rPr lang="en-MY" sz="2800" dirty="0">
                <a:ea typeface="ＭＳ Ｐゴシック" pitchFamily="34" charset="-128"/>
              </a:rPr>
              <a:t> if there exists a one-to-one correspondence between them.</a:t>
            </a:r>
          </a:p>
          <a:p>
            <a:pPr marL="270272" indent="-270272">
              <a:spcBef>
                <a:spcPts val="450"/>
              </a:spcBef>
              <a:spcAft>
                <a:spcPts val="1350"/>
              </a:spcAft>
              <a:buFont typeface="Arial" pitchFamily="34" charset="0"/>
              <a:buChar char="•"/>
              <a:defRPr/>
            </a:pPr>
            <a:r>
              <a:rPr lang="en-MY" sz="2800" dirty="0">
                <a:ea typeface="ＭＳ Ｐゴシック" pitchFamily="34" charset="-128"/>
              </a:rPr>
              <a:t>An equivalent set is simply a set with an </a:t>
            </a:r>
            <a:r>
              <a:rPr lang="en-MY" sz="2800" b="1" dirty="0">
                <a:ea typeface="ＭＳ Ｐゴシック" pitchFamily="34" charset="-128"/>
              </a:rPr>
              <a:t>equal number of elements</a:t>
            </a:r>
            <a:r>
              <a:rPr lang="en-MY" sz="2800" dirty="0">
                <a:ea typeface="ＭＳ Ｐゴシック" pitchFamily="34" charset="-128"/>
              </a:rPr>
              <a:t>. </a:t>
            </a:r>
          </a:p>
          <a:p>
            <a:pPr marL="270272" indent="-270272">
              <a:spcBef>
                <a:spcPts val="450"/>
              </a:spcBef>
              <a:spcAft>
                <a:spcPts val="1350"/>
              </a:spcAft>
              <a:buFont typeface="Arial" pitchFamily="34" charset="0"/>
              <a:buChar char="•"/>
              <a:defRPr/>
            </a:pPr>
            <a:r>
              <a:rPr lang="en-MY" sz="2800" b="1" dirty="0">
                <a:ea typeface="ＭＳ Ｐゴシック" pitchFamily="34" charset="-128"/>
              </a:rPr>
              <a:t>Example: </a:t>
            </a:r>
            <a:r>
              <a:rPr lang="en-MY" sz="2800" dirty="0">
                <a:ea typeface="ＭＳ Ｐゴシック" pitchFamily="34" charset="-128"/>
              </a:rPr>
              <a:t>Lets </a:t>
            </a:r>
            <a:r>
              <a:rPr lang="en-MY" sz="2800" b="1" dirty="0">
                <a:ea typeface="ＭＳ Ｐゴシック" pitchFamily="34" charset="-128"/>
              </a:rPr>
              <a:t>A</a:t>
            </a:r>
            <a:r>
              <a:rPr lang="en-MY" sz="2800" dirty="0">
                <a:ea typeface="ＭＳ Ｐゴシック" pitchFamily="34" charset="-128"/>
              </a:rPr>
              <a:t> and </a:t>
            </a:r>
            <a:r>
              <a:rPr lang="en-MY" sz="2800" b="1" dirty="0">
                <a:ea typeface="ＭＳ Ｐゴシック" pitchFamily="34" charset="-128"/>
              </a:rPr>
              <a:t>B</a:t>
            </a:r>
            <a:r>
              <a:rPr lang="en-MY" sz="2800" dirty="0">
                <a:ea typeface="ＭＳ Ｐゴシック" pitchFamily="34" charset="-128"/>
              </a:rPr>
              <a:t> be sets.</a:t>
            </a:r>
          </a:p>
        </p:txBody>
      </p:sp>
      <p:sp>
        <p:nvSpPr>
          <p:cNvPr id="39938" name="Rectangle 3"/>
          <p:cNvSpPr txBox="1">
            <a:spLocks noChangeArrowheads="1"/>
          </p:cNvSpPr>
          <p:nvPr/>
        </p:nvSpPr>
        <p:spPr bwMode="auto">
          <a:xfrm>
            <a:off x="1388642" y="998892"/>
            <a:ext cx="61722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4800" b="1" dirty="0"/>
              <a:t>Equivalent Set</a:t>
            </a:r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1227665" y="4801873"/>
            <a:ext cx="533400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en-US" sz="2800" b="1" dirty="0"/>
              <a:t>A </a:t>
            </a:r>
            <a:r>
              <a:rPr lang="en-US" altLang="en-US" sz="2800" dirty="0"/>
              <a:t>= {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i="1" dirty="0"/>
              <a:t>b</a:t>
            </a:r>
            <a:r>
              <a:rPr lang="en-US" altLang="en-US" sz="2800" dirty="0"/>
              <a:t>, </a:t>
            </a:r>
            <a:r>
              <a:rPr lang="en-US" altLang="en-US" sz="2800" i="1" dirty="0"/>
              <a:t>c</a:t>
            </a:r>
            <a:r>
              <a:rPr lang="en-US" altLang="en-US" sz="2800" dirty="0"/>
              <a:t>, </a:t>
            </a:r>
            <a:r>
              <a:rPr lang="en-US" altLang="en-US" sz="2800" i="1" dirty="0"/>
              <a:t>d</a:t>
            </a:r>
            <a:r>
              <a:rPr lang="en-US" altLang="en-US" sz="2800" dirty="0"/>
              <a:t>, </a:t>
            </a:r>
            <a:r>
              <a:rPr lang="en-US" altLang="en-US" sz="2800" i="1" dirty="0"/>
              <a:t>e</a:t>
            </a:r>
            <a:r>
              <a:rPr lang="en-US" altLang="en-US" sz="2800" dirty="0"/>
              <a:t>} ; </a:t>
            </a:r>
            <a:r>
              <a:rPr lang="en-US" altLang="en-US" sz="2800" b="1" dirty="0"/>
              <a:t>B </a:t>
            </a:r>
            <a:r>
              <a:rPr lang="en-US" altLang="en-US" sz="2800" dirty="0"/>
              <a:t>= {1, 2, 3, 4, 5}</a:t>
            </a:r>
          </a:p>
          <a:p>
            <a:pPr eaLnBrk="1" hangingPunct="1">
              <a:buFont typeface="Arial" charset="0"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      </a:t>
            </a:r>
            <a:r>
              <a:rPr lang="en-US" altLang="en-US" sz="2800" b="1" dirty="0"/>
              <a:t>A</a:t>
            </a:r>
            <a:r>
              <a:rPr lang="en-US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en-US" sz="2800" dirty="0"/>
              <a:t>and </a:t>
            </a:r>
            <a:r>
              <a:rPr lang="en-US" altLang="en-US" sz="2800" b="1" dirty="0"/>
              <a:t>B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are </a:t>
            </a:r>
            <a:r>
              <a:rPr lang="en-US" altLang="en-US" sz="2800" dirty="0">
                <a:solidFill>
                  <a:srgbClr val="0070C0"/>
                </a:solidFill>
              </a:rPr>
              <a:t>equivalent</a:t>
            </a:r>
          </a:p>
        </p:txBody>
      </p:sp>
      <p:sp>
        <p:nvSpPr>
          <p:cNvPr id="39940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0AF9ED67-E2D3-B945-B691-F22EDC91B702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325DE3-7B3C-FC86-5570-505A44573793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819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0520" y="1767006"/>
            <a:ext cx="820295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lvl="2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altLang="en-US" sz="2800" dirty="0"/>
              <a:t>A set </a:t>
            </a:r>
            <a:r>
              <a:rPr lang="en-MY" altLang="en-US" sz="2800" b="1" dirty="0"/>
              <a:t>A</a:t>
            </a:r>
            <a:r>
              <a:rPr lang="en-MY" altLang="en-US" sz="2800" dirty="0"/>
              <a:t> is </a:t>
            </a:r>
            <a:r>
              <a:rPr lang="en-MY" altLang="en-US" sz="2800" dirty="0">
                <a:solidFill>
                  <a:srgbClr val="0000FF"/>
                </a:solidFill>
              </a:rPr>
              <a:t>finite</a:t>
            </a:r>
            <a:r>
              <a:rPr lang="en-MY" altLang="en-US" sz="2800" dirty="0"/>
              <a:t> if it is empty or if there </a:t>
            </a:r>
            <a:r>
              <a:rPr lang="en-US" altLang="en-US" sz="2800" dirty="0"/>
              <a:t>exists a nonnegative integer </a:t>
            </a:r>
            <a:r>
              <a:rPr lang="en-US" altLang="en-US" sz="2800" i="1" dirty="0">
                <a:latin typeface="Times New Roman" charset="0"/>
              </a:rPr>
              <a:t>n</a:t>
            </a:r>
            <a:r>
              <a:rPr lang="en-US" altLang="en-US" sz="2800" dirty="0"/>
              <a:t> such that </a:t>
            </a:r>
            <a:r>
              <a:rPr lang="en-US" altLang="en-US" sz="2800" b="1" dirty="0"/>
              <a:t>A</a:t>
            </a:r>
            <a:r>
              <a:rPr lang="en-US" altLang="en-US" sz="2800" dirty="0"/>
              <a:t> has </a:t>
            </a:r>
            <a:r>
              <a:rPr lang="en-US" altLang="en-US" sz="2800" i="1" dirty="0">
                <a:latin typeface="Times New Roman" charset="0"/>
              </a:rPr>
              <a:t>n</a:t>
            </a:r>
            <a:r>
              <a:rPr lang="en-US" altLang="en-US" sz="2800" dirty="0"/>
              <a:t> elements.</a:t>
            </a:r>
          </a:p>
          <a:p>
            <a:pPr lvl="2" eaLnBrk="1" hangingPunct="1">
              <a:lnSpc>
                <a:spcPct val="150000"/>
              </a:lnSpc>
            </a:pPr>
            <a:endParaRPr lang="en-US" altLang="en-US" sz="2800" dirty="0"/>
          </a:p>
          <a:p>
            <a:pPr lvl="2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Example: </a:t>
            </a:r>
            <a:r>
              <a:rPr lang="en-MY" altLang="en-US" sz="2800" b="1" dirty="0"/>
              <a:t>A</a:t>
            </a:r>
            <a:r>
              <a:rPr lang="en-MY" altLang="en-US" sz="2800" dirty="0"/>
              <a:t> = {1, 2, 3,…, </a:t>
            </a:r>
            <a:r>
              <a:rPr lang="en-MY" altLang="en-US" sz="2800" i="1" dirty="0">
                <a:latin typeface="Times New Roman" charset="0"/>
              </a:rPr>
              <a:t>n</a:t>
            </a:r>
            <a:r>
              <a:rPr lang="en-MY" altLang="en-US" sz="2800" dirty="0"/>
              <a:t>} ; </a:t>
            </a:r>
            <a:r>
              <a:rPr lang="en-US" altLang="en-US" sz="2800" b="1" dirty="0"/>
              <a:t>A</a:t>
            </a:r>
            <a:r>
              <a:rPr lang="en-US" altLang="en-US" sz="2800" dirty="0"/>
              <a:t> is called a finite set with </a:t>
            </a:r>
            <a:r>
              <a:rPr lang="en-US" altLang="en-US" sz="2800" i="1" dirty="0">
                <a:latin typeface="Times New Roman" charset="0"/>
              </a:rPr>
              <a:t>n</a:t>
            </a:r>
            <a:r>
              <a:rPr lang="en-US" altLang="en-US" sz="2800" dirty="0"/>
              <a:t> elements).</a:t>
            </a:r>
          </a:p>
        </p:txBody>
      </p:sp>
      <p:sp>
        <p:nvSpPr>
          <p:cNvPr id="40962" name="Rectangle 3"/>
          <p:cNvSpPr txBox="1">
            <a:spLocks noChangeArrowheads="1"/>
          </p:cNvSpPr>
          <p:nvPr/>
        </p:nvSpPr>
        <p:spPr bwMode="auto">
          <a:xfrm>
            <a:off x="1362783" y="962526"/>
            <a:ext cx="61722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4800" b="1" dirty="0"/>
              <a:t>Finite Set</a:t>
            </a:r>
          </a:p>
        </p:txBody>
      </p:sp>
      <p:sp>
        <p:nvSpPr>
          <p:cNvPr id="40963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B05691F5-9C95-DE43-8B5B-F87D919CD9BC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857D5F-5C38-0D02-3265-060A3DD1A5CC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704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2377968" y="991088"/>
            <a:ext cx="3869903" cy="53955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746" y="1999994"/>
            <a:ext cx="7488587" cy="3164673"/>
          </a:xfrm>
        </p:spPr>
        <p:txBody>
          <a:bodyPr/>
          <a:lstStyle/>
          <a:p>
            <a:pPr marL="770335" lvl="1" indent="-341710">
              <a:buNone/>
            </a:pPr>
            <a:r>
              <a:rPr lang="en-MY" altLang="en-US" sz="3600" dirty="0">
                <a:ea typeface="ＭＳ Ｐゴシック" charset="-128"/>
              </a:rPr>
              <a:t>Let, </a:t>
            </a:r>
            <a:r>
              <a:rPr lang="en-MY" altLang="en-US" sz="3600" b="1" dirty="0">
                <a:ea typeface="ＭＳ Ｐゴシック" charset="-128"/>
              </a:rPr>
              <a:t>A </a:t>
            </a:r>
            <a:r>
              <a:rPr lang="en-MY" altLang="en-US" sz="3600" dirty="0">
                <a:ea typeface="ＭＳ Ｐゴシック" charset="-128"/>
              </a:rPr>
              <a:t>and </a:t>
            </a:r>
            <a:r>
              <a:rPr lang="en-MY" altLang="en-US" sz="3600" b="1" dirty="0">
                <a:ea typeface="ＭＳ Ｐゴシック" charset="-128"/>
              </a:rPr>
              <a:t>B</a:t>
            </a:r>
            <a:r>
              <a:rPr lang="en-MY" altLang="en-US" sz="3600" dirty="0">
                <a:ea typeface="ＭＳ Ｐゴシック" charset="-128"/>
              </a:rPr>
              <a:t> be sets. </a:t>
            </a:r>
            <a:endParaRPr lang="en-US" altLang="en-US" sz="3600" dirty="0">
              <a:ea typeface="ＭＳ Ｐゴシック" charset="-128"/>
            </a:endParaRPr>
          </a:p>
          <a:p>
            <a:pPr marL="770335" lvl="1" indent="-341710">
              <a:buNone/>
            </a:pPr>
            <a:r>
              <a:rPr lang="en-US" altLang="en-US" sz="3600" b="1" dirty="0">
                <a:ea typeface="ＭＳ Ｐゴシック" charset="-128"/>
              </a:rPr>
              <a:t>	A </a:t>
            </a:r>
            <a:r>
              <a:rPr lang="en-US" altLang="en-US" sz="3600" dirty="0">
                <a:ea typeface="ＭＳ Ｐゴシック" charset="-128"/>
              </a:rPr>
              <a:t>= {1, 2, 3, 4} ;</a:t>
            </a:r>
          </a:p>
          <a:p>
            <a:pPr marL="770335" lvl="1" indent="-341710">
              <a:buNone/>
            </a:pPr>
            <a:r>
              <a:rPr lang="en-US" altLang="en-US" sz="3600" b="1" dirty="0">
                <a:ea typeface="ＭＳ Ｐゴシック" charset="-128"/>
              </a:rPr>
              <a:t>	B</a:t>
            </a:r>
            <a:r>
              <a:rPr lang="en-US" altLang="en-US" sz="3600" dirty="0">
                <a:ea typeface="ＭＳ Ｐゴシック" charset="-128"/>
              </a:rPr>
              <a:t> = {</a:t>
            </a:r>
            <a:r>
              <a:rPr lang="en-US" altLang="en-US" sz="36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600" dirty="0">
                <a:ea typeface="ＭＳ Ｐゴシック" charset="-128"/>
              </a:rPr>
              <a:t> | </a:t>
            </a:r>
            <a:r>
              <a:rPr lang="en-US" altLang="en-US" sz="36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is an integer,</a:t>
            </a:r>
            <a:r>
              <a:rPr lang="en-US" altLang="en-US" sz="3600" dirty="0">
                <a:ea typeface="ＭＳ Ｐゴシック" charset="-128"/>
              </a:rPr>
              <a:t> 1 </a:t>
            </a:r>
            <a:r>
              <a:rPr lang="en-US" altLang="en-US" sz="3600" u="sng" dirty="0">
                <a:ea typeface="ＭＳ Ｐゴシック" charset="-128"/>
              </a:rPr>
              <a:t>&lt;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sz="36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sz="3600" u="sng" dirty="0">
                <a:ea typeface="ＭＳ Ｐゴシック" charset="-128"/>
              </a:rPr>
              <a:t>&lt;</a:t>
            </a:r>
            <a:r>
              <a:rPr lang="en-US" altLang="en-US" sz="3600" dirty="0">
                <a:ea typeface="ＭＳ Ｐゴシック" charset="-128"/>
              </a:rPr>
              <a:t> 4}</a:t>
            </a:r>
          </a:p>
          <a:p>
            <a:pPr marL="770335" lvl="1" indent="-341710">
              <a:buNone/>
            </a:pPr>
            <a:endParaRPr lang="en-US" altLang="en-US" sz="3600" dirty="0">
              <a:solidFill>
                <a:srgbClr val="0000FF"/>
              </a:solidFill>
              <a:ea typeface="ＭＳ Ｐゴシック" charset="-128"/>
            </a:endParaRPr>
          </a:p>
          <a:p>
            <a:pPr marL="770335" lvl="1" indent="-341710">
              <a:buNone/>
            </a:pPr>
            <a:r>
              <a:rPr lang="en-US" altLang="en-US" sz="3600" dirty="0">
                <a:ea typeface="ＭＳ Ｐゴシック" charset="-128"/>
                <a:sym typeface="Symbol" panose="05050102010706020507" pitchFamily="18" charset="2"/>
              </a:rPr>
              <a:t>        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 and </a:t>
            </a: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dirty="0">
                <a:ea typeface="ＭＳ Ｐゴシック" charset="-128"/>
              </a:rPr>
              <a:t> are </a:t>
            </a:r>
            <a:r>
              <a:rPr lang="en-US" altLang="en-US" sz="3600" dirty="0">
                <a:solidFill>
                  <a:srgbClr val="0070C0"/>
                </a:solidFill>
                <a:ea typeface="ＭＳ Ｐゴシック" charset="-128"/>
              </a:rPr>
              <a:t>finite set.</a:t>
            </a:r>
            <a:r>
              <a:rPr lang="en-US" altLang="en-US" sz="3600" dirty="0">
                <a:ea typeface="ＭＳ Ｐゴシック" charset="-128"/>
              </a:rPr>
              <a:t> </a:t>
            </a:r>
          </a:p>
          <a:p>
            <a:pPr marL="342900" indent="-342900">
              <a:buNone/>
            </a:pPr>
            <a:endParaRPr lang="en-US" altLang="en-US" sz="3600" dirty="0">
              <a:ea typeface="ＭＳ Ｐゴシック" charset="-128"/>
            </a:endParaRPr>
          </a:p>
        </p:txBody>
      </p:sp>
      <p:sp>
        <p:nvSpPr>
          <p:cNvPr id="41987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5ED1CDFA-D622-9D4F-9F01-73F93A033A0C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401B5-6AE3-918A-D98B-A2C12CBA957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929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4398" y="1701772"/>
            <a:ext cx="81628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9144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lvl="2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altLang="en-US" sz="2800" dirty="0"/>
              <a:t>A set </a:t>
            </a:r>
            <a:r>
              <a:rPr lang="en-MY" altLang="en-US" sz="2800" b="1" dirty="0"/>
              <a:t>A</a:t>
            </a:r>
            <a:r>
              <a:rPr lang="en-MY" altLang="en-US" sz="2800" dirty="0"/>
              <a:t> is </a:t>
            </a:r>
            <a:r>
              <a:rPr lang="en-MY" altLang="en-US" sz="2800" dirty="0">
                <a:solidFill>
                  <a:srgbClr val="0000FF"/>
                </a:solidFill>
              </a:rPr>
              <a:t>infinite</a:t>
            </a:r>
            <a:r>
              <a:rPr lang="en-MY" altLang="en-US" sz="2800" dirty="0"/>
              <a:t> if there </a:t>
            </a:r>
            <a:r>
              <a:rPr lang="en-US" altLang="en-US" sz="2800" dirty="0"/>
              <a:t>is not exists a natural number </a:t>
            </a:r>
            <a:r>
              <a:rPr lang="en-US" altLang="en-US" sz="2800" i="1" dirty="0">
                <a:latin typeface="Times New Roman" charset="0"/>
              </a:rPr>
              <a:t>n</a:t>
            </a:r>
            <a:r>
              <a:rPr lang="en-US" altLang="en-US" sz="2800" dirty="0"/>
              <a:t> such that </a:t>
            </a:r>
            <a:r>
              <a:rPr lang="en-US" altLang="en-US" sz="2800" b="1" dirty="0"/>
              <a:t>A</a:t>
            </a:r>
            <a:r>
              <a:rPr lang="en-US" altLang="en-US" sz="2800" dirty="0"/>
              <a:t> is equivalent to </a:t>
            </a:r>
            <a:r>
              <a:rPr lang="en-MY" altLang="en-US" sz="2800" dirty="0"/>
              <a:t>{1, 2, 3,…, </a:t>
            </a:r>
            <a:r>
              <a:rPr lang="en-MY" altLang="en-US" sz="2800" i="1" dirty="0">
                <a:latin typeface="Times New Roman" charset="0"/>
              </a:rPr>
              <a:t>n</a:t>
            </a:r>
            <a:r>
              <a:rPr lang="en-MY" altLang="en-US" sz="2800" dirty="0"/>
              <a:t>} .</a:t>
            </a:r>
          </a:p>
          <a:p>
            <a:pPr lvl="2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altLang="en-US" sz="2800" dirty="0"/>
              <a:t>Infinite set is </a:t>
            </a:r>
            <a:r>
              <a:rPr lang="en-MY" altLang="en-US" sz="2800" dirty="0">
                <a:solidFill>
                  <a:srgbClr val="FF0000"/>
                </a:solidFill>
              </a:rPr>
              <a:t>uncountable</a:t>
            </a:r>
            <a:r>
              <a:rPr lang="en-MY" altLang="en-US" sz="2800" dirty="0"/>
              <a:t>. </a:t>
            </a:r>
          </a:p>
          <a:p>
            <a:pPr lvl="2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Are all infinite sets equivalent? </a:t>
            </a:r>
          </a:p>
          <a:p>
            <a:pPr lvl="3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/>
              <a:t> A set is infinite if it is equivalent to a proper subset of itself!. </a:t>
            </a:r>
          </a:p>
        </p:txBody>
      </p:sp>
      <p:sp>
        <p:nvSpPr>
          <p:cNvPr id="43010" name="Rectangle 3"/>
          <p:cNvSpPr txBox="1">
            <a:spLocks noChangeArrowheads="1"/>
          </p:cNvSpPr>
          <p:nvPr/>
        </p:nvSpPr>
        <p:spPr bwMode="auto">
          <a:xfrm>
            <a:off x="1277850" y="951630"/>
            <a:ext cx="61722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4800" b="1" dirty="0"/>
              <a:t>Infinite Sets</a:t>
            </a:r>
          </a:p>
        </p:txBody>
      </p:sp>
      <p:sp>
        <p:nvSpPr>
          <p:cNvPr id="43011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B78CCFE-221C-BE44-BBB4-BAFC9EBB7FEA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D428BE-76F9-2C59-8B94-EC7539130EB1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457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title"/>
          </p:nvPr>
        </p:nvSpPr>
        <p:spPr>
          <a:xfrm>
            <a:off x="2531534" y="768282"/>
            <a:ext cx="2946322" cy="685800"/>
          </a:xfrm>
        </p:spPr>
        <p:txBody>
          <a:bodyPr/>
          <a:lstStyle/>
          <a:p>
            <a:pPr algn="ctr" eaLnBrk="1" hangingPunct="1"/>
            <a:r>
              <a:rPr lang="en-US" altLang="en-US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p:sp>
        <p:nvSpPr>
          <p:cNvPr id="44035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73D9B94D-51CC-8A42-BFAC-0FF902935768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395020" y="4644662"/>
                <a:ext cx="365183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b="1" dirty="0"/>
                  <a:t>Z</a:t>
                </a:r>
                <a:r>
                  <a:rPr lang="en-US" sz="2800" dirty="0"/>
                  <a:t> and </a:t>
                </a:r>
                <a:r>
                  <a:rPr lang="en-US" sz="2800" b="1" dirty="0"/>
                  <a:t>S</a:t>
                </a:r>
                <a:r>
                  <a:rPr lang="en-US" sz="2800" dirty="0"/>
                  <a:t> are infinite sets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020" y="4644662"/>
                <a:ext cx="3651834" cy="430887"/>
              </a:xfrm>
              <a:prstGeom prst="rect">
                <a:avLst/>
              </a:prstGeom>
              <a:blipFill>
                <a:blip r:embed="rId2"/>
                <a:stretch>
                  <a:fillRect t="-23944" r="-5008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73349" y="1454082"/>
            <a:ext cx="8104984" cy="457048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MY" sz="2800" dirty="0"/>
              <a:t>Lets, </a:t>
            </a:r>
            <a:r>
              <a:rPr lang="en-MY" sz="2800" b="1" dirty="0"/>
              <a:t>B</a:t>
            </a:r>
            <a:r>
              <a:rPr lang="en-MY" sz="2800" dirty="0"/>
              <a:t>, </a:t>
            </a:r>
            <a:r>
              <a:rPr lang="en-MY" sz="2800" b="1" dirty="0"/>
              <a:t>C, D</a:t>
            </a:r>
            <a:r>
              <a:rPr lang="en-MY" sz="2800" dirty="0"/>
              <a:t>, </a:t>
            </a:r>
            <a:r>
              <a:rPr lang="en-MY" sz="2800" b="1" dirty="0"/>
              <a:t>Z</a:t>
            </a:r>
            <a:r>
              <a:rPr lang="en-MY" sz="2800" dirty="0"/>
              <a:t> and </a:t>
            </a:r>
            <a:r>
              <a:rPr lang="en-MY" sz="2800" b="1" dirty="0"/>
              <a:t>S</a:t>
            </a:r>
            <a:r>
              <a:rPr lang="en-MY" sz="2800" dirty="0"/>
              <a:t> be sets. </a:t>
            </a:r>
          </a:p>
          <a:p>
            <a:pPr>
              <a:lnSpc>
                <a:spcPct val="150000"/>
              </a:lnSpc>
              <a:defRPr/>
            </a:pPr>
            <a:r>
              <a:rPr lang="en-MY" sz="2800" b="1" dirty="0"/>
              <a:t>C</a:t>
            </a:r>
            <a:r>
              <a:rPr lang="en-MY" sz="2800" dirty="0"/>
              <a:t> = {5, 6, 7, 8, 9, 10} </a:t>
            </a:r>
          </a:p>
          <a:p>
            <a:pPr>
              <a:lnSpc>
                <a:spcPct val="150000"/>
              </a:lnSpc>
              <a:defRPr/>
            </a:pPr>
            <a:r>
              <a:rPr lang="en-MY" sz="2800" b="1" dirty="0"/>
              <a:t>B</a:t>
            </a:r>
            <a:r>
              <a:rPr lang="en-MY" sz="2800" dirty="0"/>
              <a:t> = {</a:t>
            </a:r>
            <a:r>
              <a:rPr lang="en-MY" sz="2800" i="1" dirty="0">
                <a:latin typeface="Times New Roman"/>
                <a:cs typeface="Times New Roman"/>
              </a:rPr>
              <a:t>x</a:t>
            </a:r>
            <a:r>
              <a:rPr lang="en-MY" sz="2800" dirty="0"/>
              <a:t>|</a:t>
            </a:r>
            <a:r>
              <a:rPr lang="en-MY" sz="2800" i="1" dirty="0">
                <a:latin typeface="Times New Roman"/>
                <a:cs typeface="Times New Roman"/>
              </a:rPr>
              <a:t> x</a:t>
            </a:r>
            <a:r>
              <a:rPr lang="en-MY" sz="2800" dirty="0"/>
              <a:t> is an integer, 10 &lt; </a:t>
            </a:r>
            <a:r>
              <a:rPr lang="en-MY" sz="2800" i="1" dirty="0">
                <a:latin typeface="Times New Roman"/>
                <a:cs typeface="Times New Roman"/>
              </a:rPr>
              <a:t>x</a:t>
            </a:r>
            <a:r>
              <a:rPr lang="en-MY" sz="2800" dirty="0"/>
              <a:t> &lt; 20} </a:t>
            </a:r>
          </a:p>
          <a:p>
            <a:pPr>
              <a:lnSpc>
                <a:spcPct val="150000"/>
              </a:lnSpc>
              <a:defRPr/>
            </a:pPr>
            <a:r>
              <a:rPr lang="en-MY" sz="2800" b="1" dirty="0"/>
              <a:t>D</a:t>
            </a:r>
            <a:r>
              <a:rPr lang="en-MY" sz="2800" dirty="0"/>
              <a:t> = {</a:t>
            </a:r>
            <a:r>
              <a:rPr lang="en-MY" sz="2800" i="1" dirty="0">
                <a:latin typeface="Times New Roman"/>
                <a:cs typeface="Times New Roman"/>
              </a:rPr>
              <a:t>x</a:t>
            </a:r>
            <a:r>
              <a:rPr lang="en-MY" sz="2800" dirty="0"/>
              <a:t>| </a:t>
            </a:r>
            <a:r>
              <a:rPr lang="en-MY" sz="2800" i="1" dirty="0">
                <a:latin typeface="Times New Roman"/>
                <a:cs typeface="Times New Roman"/>
              </a:rPr>
              <a:t>x</a:t>
            </a:r>
            <a:r>
              <a:rPr lang="en-MY" sz="2800" dirty="0"/>
              <a:t> is an integer,  </a:t>
            </a:r>
            <a:r>
              <a:rPr lang="en-MY" sz="2800" i="1" dirty="0">
                <a:latin typeface="Times New Roman"/>
                <a:cs typeface="Times New Roman"/>
              </a:rPr>
              <a:t>x</a:t>
            </a:r>
            <a:r>
              <a:rPr lang="en-MY" sz="2800" dirty="0"/>
              <a:t>  &gt; 0}</a:t>
            </a:r>
            <a:r>
              <a:rPr lang="en-MY" sz="2800" i="1" dirty="0"/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700" b="1" dirty="0">
                <a:ea typeface="ＭＳ Ｐゴシック" charset="-128"/>
              </a:rPr>
              <a:t> Z</a:t>
            </a:r>
            <a:r>
              <a:rPr lang="en-US" altLang="en-US" sz="2700" dirty="0">
                <a:ea typeface="ＭＳ Ｐゴシック" charset="-128"/>
              </a:rPr>
              <a:t> = {</a:t>
            </a:r>
            <a:r>
              <a:rPr lang="en-US" altLang="en-US" sz="27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700" dirty="0">
                <a:ea typeface="ＭＳ Ｐゴシック" charset="-128"/>
              </a:rPr>
              <a:t>| </a:t>
            </a:r>
            <a:r>
              <a:rPr lang="en-US" altLang="en-US" sz="27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700" dirty="0">
                <a:ea typeface="ＭＳ Ｐゴシック" charset="-128"/>
              </a:rPr>
              <a:t> is an integer} or </a:t>
            </a:r>
            <a:r>
              <a:rPr lang="en-US" altLang="en-US" sz="2700" b="1" dirty="0">
                <a:ea typeface="ＭＳ Ｐゴシック" charset="-128"/>
              </a:rPr>
              <a:t>Z</a:t>
            </a:r>
            <a:r>
              <a:rPr lang="en-US" altLang="en-US" sz="2700" dirty="0">
                <a:ea typeface="ＭＳ Ｐゴシック" charset="-128"/>
              </a:rPr>
              <a:t> = {…, -3, -2, -1, 0, 1, 2, 3,…}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700" b="1" dirty="0">
                <a:ea typeface="ＭＳ Ｐゴシック" charset="-128"/>
              </a:rPr>
              <a:t> S </a:t>
            </a:r>
            <a:r>
              <a:rPr lang="en-US" altLang="en-US" sz="2700" dirty="0">
                <a:ea typeface="ＭＳ Ｐゴシック" charset="-128"/>
              </a:rPr>
              <a:t>= {</a:t>
            </a:r>
            <a:r>
              <a:rPr lang="en-US" altLang="en-US" sz="27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700" dirty="0">
                <a:ea typeface="ＭＳ Ｐゴシック" charset="-128"/>
              </a:rPr>
              <a:t>| </a:t>
            </a:r>
            <a:r>
              <a:rPr lang="en-US" altLang="en-US" sz="27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700" dirty="0">
                <a:ea typeface="ＭＳ Ｐゴシック" charset="-128"/>
              </a:rPr>
              <a:t> is a real number and 1 </a:t>
            </a:r>
            <a:r>
              <a:rPr lang="en-US" altLang="en-US" sz="2700" u="sng" dirty="0">
                <a:ea typeface="ＭＳ Ｐゴシック" charset="-128"/>
              </a:rPr>
              <a:t>&lt;</a:t>
            </a:r>
            <a:r>
              <a:rPr lang="en-US" altLang="en-US" sz="2700" dirty="0">
                <a:ea typeface="ＭＳ Ｐゴシック" charset="-128"/>
              </a:rPr>
              <a:t> </a:t>
            </a:r>
            <a:r>
              <a:rPr lang="en-US" altLang="en-US" sz="27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700" dirty="0">
                <a:ea typeface="ＭＳ Ｐゴシック" charset="-128"/>
              </a:rPr>
              <a:t> </a:t>
            </a:r>
            <a:r>
              <a:rPr lang="en-US" altLang="en-US" sz="2700" u="sng" dirty="0">
                <a:ea typeface="ＭＳ Ｐゴシック" charset="-128"/>
              </a:rPr>
              <a:t>&lt;</a:t>
            </a:r>
            <a:r>
              <a:rPr lang="en-US" altLang="en-US" sz="2700" dirty="0">
                <a:ea typeface="ＭＳ Ｐゴシック" charset="-128"/>
              </a:rPr>
              <a:t> 4}</a:t>
            </a:r>
          </a:p>
          <a:p>
            <a:pPr>
              <a:lnSpc>
                <a:spcPct val="150000"/>
              </a:lnSpc>
              <a:defRPr/>
            </a:pPr>
            <a:endParaRPr lang="en-MY" sz="28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72366" y="5576683"/>
                <a:ext cx="735156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MY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𝑎𝑟𝑒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𝑓𝑖𝑛𝑖𝑡𝑒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𝑠𝑒𝑡𝑠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r>
                      <a:rPr lang="en-MY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𝐃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MY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𝐙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𝐒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𝑎𝑟𝑒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𝑖𝑛𝑓𝑖𝑛𝑖𝑡𝑒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MY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𝑠𝑒𝑡𝑠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66" y="5576683"/>
                <a:ext cx="7351564" cy="369332"/>
              </a:xfrm>
              <a:prstGeom prst="rect">
                <a:avLst/>
              </a:prstGeom>
              <a:blipFill>
                <a:blip r:embed="rId3"/>
                <a:stretch>
                  <a:fillRect l="-1078" t="-26667" r="-1575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607EC07-7350-F2C6-90F5-CE11495F99C2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115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49666" y="1788301"/>
            <a:ext cx="7337516" cy="2478947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</a:pPr>
            <a:r>
              <a:rPr lang="en-US" altLang="en-US" dirty="0">
                <a:solidFill>
                  <a:srgbClr val="000000"/>
                </a:solidFill>
                <a:ea typeface="ＭＳ Ｐゴシック" charset="-128"/>
              </a:rPr>
              <a:t>Sometimes we are dealing with sets all of which are subsets of a set </a:t>
            </a:r>
            <a:r>
              <a:rPr lang="en-US" altLang="en-US" b="1" dirty="0">
                <a:solidFill>
                  <a:srgbClr val="000000"/>
                </a:solidFill>
                <a:ea typeface="ＭＳ Ｐゴシック" charset="-128"/>
              </a:rPr>
              <a:t>U</a:t>
            </a:r>
            <a:r>
              <a:rPr lang="en-US" altLang="en-US" dirty="0">
                <a:solidFill>
                  <a:srgbClr val="000000"/>
                </a:solidFill>
                <a:ea typeface="ＭＳ Ｐゴシック" charset="-128"/>
              </a:rPr>
              <a:t>.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rgbClr val="000000"/>
              </a:solidFill>
              <a:ea typeface="ＭＳ Ｐゴシック" charset="-128"/>
            </a:endParaRPr>
          </a:p>
          <a:p>
            <a:pPr marL="342900" indent="-342900">
              <a:lnSpc>
                <a:spcPct val="100000"/>
              </a:lnSpc>
            </a:pPr>
            <a:r>
              <a:rPr lang="en-US" altLang="en-US" dirty="0">
                <a:ea typeface="ＭＳ Ｐゴシック" charset="-128"/>
              </a:rPr>
              <a:t>This set </a:t>
            </a:r>
            <a:r>
              <a:rPr lang="en-US" altLang="en-US" b="1" dirty="0">
                <a:ea typeface="ＭＳ Ｐゴシック" charset="-128"/>
              </a:rPr>
              <a:t>U</a:t>
            </a:r>
            <a:r>
              <a:rPr lang="en-US" altLang="en-US" dirty="0">
                <a:ea typeface="ＭＳ Ｐゴシック" charset="-128"/>
              </a:rPr>
              <a:t> is called a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universal </a:t>
            </a:r>
            <a:r>
              <a:rPr lang="en-US" altLang="en-US" dirty="0">
                <a:ea typeface="ＭＳ Ｐゴシック" charset="-128"/>
              </a:rPr>
              <a:t>set or a universe.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ea typeface="ＭＳ Ｐゴシック" charset="-128"/>
            </a:endParaRPr>
          </a:p>
          <a:p>
            <a:pPr marL="342900" indent="-342900">
              <a:lnSpc>
                <a:spcPct val="100000"/>
              </a:lnSpc>
            </a:pPr>
            <a:r>
              <a:rPr lang="en-US" altLang="en-US" dirty="0">
                <a:solidFill>
                  <a:srgbClr val="000000"/>
                </a:solidFill>
                <a:ea typeface="ＭＳ Ｐゴシック" charset="-128"/>
              </a:rPr>
              <a:t>The set </a:t>
            </a:r>
            <a:r>
              <a:rPr lang="en-US" altLang="en-US" b="1" dirty="0">
                <a:solidFill>
                  <a:srgbClr val="000000"/>
                </a:solidFill>
                <a:ea typeface="ＭＳ Ｐゴシック" charset="-128"/>
              </a:rPr>
              <a:t>U</a:t>
            </a:r>
            <a:r>
              <a:rPr lang="en-US" altLang="en-US" dirty="0">
                <a:solidFill>
                  <a:srgbClr val="000000"/>
                </a:solidFill>
                <a:ea typeface="ＭＳ Ｐゴシック" charset="-128"/>
              </a:rPr>
              <a:t> must be explicitly given or inferred from the context.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title"/>
          </p:nvPr>
        </p:nvSpPr>
        <p:spPr>
          <a:xfrm>
            <a:off x="1214770" y="841891"/>
            <a:ext cx="6338407" cy="657717"/>
          </a:xfrm>
          <a:noFill/>
        </p:spPr>
        <p:txBody>
          <a:bodyPr anchor="b"/>
          <a:lstStyle/>
          <a:p>
            <a:pPr algn="ctr" eaLnBrk="1" hangingPunct="1"/>
            <a:r>
              <a:rPr lang="en-US" altLang="en-US" sz="5400" b="1" dirty="0">
                <a:ea typeface="ＭＳ Ｐゴシック" charset="-128"/>
              </a:rPr>
              <a:t>Universal Set</a:t>
            </a:r>
          </a:p>
        </p:txBody>
      </p:sp>
      <p:sp>
        <p:nvSpPr>
          <p:cNvPr id="46083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E6E2B315-9F0B-CB49-8618-FB06FC24E228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F38913-4CE3-485C-9E69-0AE5ACA751D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59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990D7B1C-7FD3-8645-B656-D8C53FCB6B2C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31</a:t>
            </a:fld>
            <a:endParaRPr lang="en-US" altLang="en-US" sz="9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67982" y="1997839"/>
                <a:ext cx="8378297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MY" sz="2200" dirty="0"/>
                  <a:t>Typically we consider a set </a:t>
                </a:r>
                <a:r>
                  <a:rPr lang="en-MY" sz="2200" b="1" dirty="0"/>
                  <a:t>A </a:t>
                </a:r>
                <a:r>
                  <a:rPr lang="en-MY" sz="2200" dirty="0"/>
                  <a:t>as a part of a universal set, </a:t>
                </a:r>
                <a:r>
                  <a:rPr lang="en-MY" sz="2200" b="1" dirty="0"/>
                  <a:t>U</a:t>
                </a:r>
                <a:r>
                  <a:rPr lang="en-MY" sz="2200" dirty="0"/>
                  <a:t>, which consist of all possible elements.</a:t>
                </a:r>
              </a:p>
              <a:p>
                <a:endParaRPr lang="en-MY" sz="2200" dirty="0"/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MY" sz="2200" dirty="0"/>
                  <a:t>To be entirely correct we should say, </a:t>
                </a:r>
              </a:p>
              <a:p>
                <a:endParaRPr lang="en-MY" sz="2200" dirty="0"/>
              </a:p>
              <a:p>
                <a:r>
                  <a:rPr lang="en-US" sz="220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𝐔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olidFill>
                      <a:schemeClr val="accent2">
                        <a:lumMod val="75000"/>
                      </a:schemeClr>
                    </a:solidFill>
                  </a:rPr>
                  <a:t>instead of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/>
                  <a:t> for </a:t>
                </a:r>
                <a:r>
                  <a:rPr lang="en-US" sz="2200" b="1" dirty="0"/>
                  <a:t>A</a:t>
                </a:r>
                <a:r>
                  <a:rPr lang="en-US" sz="2200" dirty="0"/>
                  <a:t> = </a:t>
                </a:r>
                <a:r>
                  <a:rPr lang="en-US" sz="2200" b="1" dirty="0"/>
                  <a:t>B</a:t>
                </a:r>
              </a:p>
              <a:p>
                <a:endParaRPr lang="en-MY" sz="2200" dirty="0"/>
              </a:p>
              <a:p>
                <a:r>
                  <a:rPr lang="en-MY" sz="2200" dirty="0">
                    <a:solidFill>
                      <a:srgbClr val="FF0000"/>
                    </a:solidFill>
                  </a:rPr>
                  <a:t>Note: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&lt;5</m:t>
                        </m:r>
                      </m:e>
                    </m:d>
                  </m:oMath>
                </a14:m>
                <a:r>
                  <a:rPr lang="en-US" sz="2200" dirty="0"/>
                  <a:t> is can be ambiguous, compare to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&lt;5, </m:t>
                        </m:r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MY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MY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𝐍</m:t>
                        </m:r>
                      </m:e>
                    </m:d>
                  </m:oMath>
                </a14:m>
                <a:r>
                  <a:rPr lang="en-US" sz="2200" dirty="0"/>
                  <a:t> with </a:t>
                </a:r>
                <a14:m>
                  <m:oMath xmlns:m="http://schemas.openxmlformats.org/officeDocument/2006/math">
                    <m:r>
                      <a:rPr lang="en-MY" sz="22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|0&lt;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&lt;5, </m:t>
                    </m:r>
                    <m:r>
                      <a:rPr lang="en-MY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MY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𝐐</m:t>
                    </m:r>
                    <m:r>
                      <a:rPr lang="en-MY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82" y="1997839"/>
                <a:ext cx="8378297" cy="3477875"/>
              </a:xfrm>
              <a:prstGeom prst="rect">
                <a:avLst/>
              </a:prstGeom>
              <a:blipFill>
                <a:blip r:embed="rId2"/>
                <a:stretch>
                  <a:fillRect l="-946" t="-1228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197837" y="1023453"/>
            <a:ext cx="6338407" cy="657717"/>
          </a:xfrm>
          <a:prstGeom prst="rect">
            <a:avLst/>
          </a:prstGeom>
          <a:noFill/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5400" b="1" dirty="0">
                <a:ea typeface="ＭＳ Ｐゴシック" charset="-128"/>
              </a:rPr>
              <a:t>Universal Set </a:t>
            </a:r>
            <a:r>
              <a:rPr lang="en-US" altLang="en-US" sz="1350" dirty="0">
                <a:ea typeface="ＭＳ Ｐゴシック" charset="-128"/>
              </a:rPr>
              <a:t>(cont’d)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3A6D68-594C-BFFF-63EE-FD681AF95E24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1788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3291" y="1673226"/>
            <a:ext cx="8117417" cy="4351338"/>
          </a:xfrm>
        </p:spPr>
        <p:txBody>
          <a:bodyPr/>
          <a:lstStyle/>
          <a:p>
            <a:pPr marL="342900" indent="-342900"/>
            <a:r>
              <a:rPr lang="en-US" altLang="en-US" dirty="0">
                <a:ea typeface="ＭＳ Ｐゴシック" charset="-128"/>
              </a:rPr>
              <a:t>The sets </a:t>
            </a:r>
            <a:r>
              <a:rPr lang="en-US" altLang="en-US" b="1" dirty="0">
                <a:ea typeface="ＭＳ Ｐゴシック" charset="-128"/>
              </a:rPr>
              <a:t>A </a:t>
            </a:r>
            <a:r>
              <a:rPr lang="en-US" altLang="en-US" dirty="0">
                <a:ea typeface="ＭＳ Ｐゴシック" charset="-128"/>
              </a:rPr>
              <a:t>= {1,2,3}, </a:t>
            </a:r>
            <a:r>
              <a:rPr lang="en-US" altLang="en-US" b="1" dirty="0">
                <a:ea typeface="ＭＳ Ｐゴシック" charset="-128"/>
              </a:rPr>
              <a:t>B </a:t>
            </a:r>
            <a:r>
              <a:rPr lang="en-US" altLang="en-US" dirty="0">
                <a:ea typeface="ＭＳ Ｐゴシック" charset="-128"/>
              </a:rPr>
              <a:t>= {2,4,6,8} and </a:t>
            </a:r>
            <a:r>
              <a:rPr lang="en-US" altLang="en-US" b="1" dirty="0">
                <a:ea typeface="ＭＳ Ｐゴシック" charset="-128"/>
              </a:rPr>
              <a:t>C </a:t>
            </a:r>
            <a:r>
              <a:rPr lang="en-US" altLang="en-US" dirty="0">
                <a:ea typeface="ＭＳ Ｐゴシック" charset="-128"/>
              </a:rPr>
              <a:t>= {5,7}</a:t>
            </a:r>
          </a:p>
          <a:p>
            <a:pPr marL="0" indent="0">
              <a:buNone/>
            </a:pPr>
            <a:endParaRPr lang="en-US" altLang="en-US" dirty="0">
              <a:solidFill>
                <a:srgbClr val="AE3221"/>
              </a:solidFill>
              <a:ea typeface="ＭＳ Ｐゴシック" charset="-128"/>
            </a:endParaRPr>
          </a:p>
          <a:p>
            <a:pPr marL="342900" indent="-342900"/>
            <a:r>
              <a:rPr lang="en-US" altLang="en-US" dirty="0">
                <a:ea typeface="ＭＳ Ｐゴシック" charset="-128"/>
              </a:rPr>
              <a:t>One may choose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U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= {1,2,3,4,5,6,7,8} </a:t>
            </a:r>
            <a:r>
              <a:rPr lang="en-US" altLang="en-US" dirty="0">
                <a:ea typeface="ＭＳ Ｐゴシック" charset="-128"/>
              </a:rPr>
              <a:t>as a universal set.</a:t>
            </a:r>
          </a:p>
          <a:p>
            <a:pPr marL="342900" indent="-342900"/>
            <a:endParaRPr lang="en-US" altLang="en-US" dirty="0">
              <a:ea typeface="ＭＳ Ｐゴシック" charset="-128"/>
            </a:endParaRPr>
          </a:p>
          <a:p>
            <a:pPr marL="342900" indent="-342900"/>
            <a:r>
              <a:rPr lang="en-US" altLang="en-US" dirty="0">
                <a:ea typeface="ＭＳ Ｐゴシック" charset="-128"/>
              </a:rPr>
              <a:t>Any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superset</a:t>
            </a:r>
            <a:r>
              <a:rPr lang="en-US" altLang="en-US" dirty="0">
                <a:ea typeface="ＭＳ Ｐゴシック" charset="-128"/>
              </a:rPr>
              <a:t> of </a:t>
            </a:r>
            <a:r>
              <a:rPr lang="en-US" altLang="en-US" b="1" dirty="0">
                <a:ea typeface="ＭＳ Ｐゴシック" charset="-128"/>
              </a:rPr>
              <a:t>U</a:t>
            </a:r>
            <a:r>
              <a:rPr lang="en-US" altLang="en-US" dirty="0">
                <a:ea typeface="ＭＳ Ｐゴシック" charset="-128"/>
              </a:rPr>
              <a:t> can also be considered a universal set for these sets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,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, and 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</a:rPr>
              <a:t>. </a:t>
            </a:r>
          </a:p>
          <a:p>
            <a:pPr marL="342900" indent="-342900">
              <a:buNone/>
            </a:pPr>
            <a:r>
              <a:rPr lang="en-US" altLang="en-US" dirty="0">
                <a:ea typeface="ＭＳ Ｐゴシック" charset="-128"/>
              </a:rPr>
              <a:t>	For example,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U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= {</a:t>
            </a:r>
            <a:r>
              <a:rPr lang="en-US" altLang="en-US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x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| </a:t>
            </a:r>
            <a:r>
              <a:rPr lang="en-US" altLang="en-US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x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is a positive integer} 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title"/>
          </p:nvPr>
        </p:nvSpPr>
        <p:spPr>
          <a:xfrm>
            <a:off x="2319866" y="767609"/>
            <a:ext cx="3943350" cy="575072"/>
          </a:xfrm>
          <a:noFill/>
        </p:spPr>
        <p:txBody>
          <a:bodyPr anchor="b"/>
          <a:lstStyle/>
          <a:p>
            <a:pPr algn="ctr" eaLnBrk="1" hangingPunct="1"/>
            <a:r>
              <a:rPr lang="en-US" altLang="en-US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p:sp>
        <p:nvSpPr>
          <p:cNvPr id="48131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A78D0EEF-3B07-D946-B97A-52CC822F95CE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5A4972-B5BF-3550-CA73-8DB588E5418C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4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0332" y="2126192"/>
            <a:ext cx="8043334" cy="3486150"/>
          </a:xfrm>
        </p:spPr>
        <p:txBody>
          <a:bodyPr/>
          <a:lstStyle/>
          <a:p>
            <a:pPr marL="342900" indent="-342900"/>
            <a:r>
              <a:rPr lang="en-US" altLang="en-US" dirty="0">
                <a:ea typeface="ＭＳ Ｐゴシック" charset="-128"/>
              </a:rPr>
              <a:t>Let </a:t>
            </a:r>
            <a:r>
              <a:rPr lang="en-US" altLang="en-US" b="1" dirty="0">
                <a:ea typeface="ＭＳ Ｐゴシック" charset="-128"/>
              </a:rPr>
              <a:t>S</a:t>
            </a:r>
            <a:r>
              <a:rPr lang="en-US" altLang="en-US" dirty="0">
                <a:ea typeface="ＭＳ Ｐゴシック" charset="-128"/>
              </a:rPr>
              <a:t> be a finite set with 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ea typeface="ＭＳ Ｐゴシック" charset="-128"/>
              </a:rPr>
              <a:t> distinct elements, where </a:t>
            </a:r>
            <a:r>
              <a:rPr lang="en-US" altLang="en-US" i="1" dirty="0">
                <a:latin typeface="Times New Roman" charset="0"/>
                <a:ea typeface="ＭＳ Ｐゴシック" charset="-128"/>
              </a:rPr>
              <a:t>n </a:t>
            </a:r>
            <a:r>
              <a:rPr lang="en-US" altLang="en-US" dirty="0">
                <a:ea typeface="ＭＳ Ｐゴシック" charset="-128"/>
                <a:sym typeface="Symbol" charset="2"/>
              </a:rPr>
              <a:t> </a:t>
            </a:r>
            <a:r>
              <a:rPr lang="en-US" altLang="en-US" dirty="0">
                <a:ea typeface="ＭＳ Ｐゴシック" charset="-128"/>
              </a:rPr>
              <a:t>0.</a:t>
            </a:r>
          </a:p>
          <a:p>
            <a:pPr marL="342900" indent="-342900"/>
            <a:r>
              <a:rPr lang="en-US" altLang="en-US" dirty="0">
                <a:ea typeface="ＭＳ Ｐゴシック" charset="-128"/>
              </a:rPr>
              <a:t>Then we write |</a:t>
            </a:r>
            <a:r>
              <a:rPr lang="en-US" altLang="en-US" b="1" dirty="0">
                <a:ea typeface="ＭＳ Ｐゴシック" charset="-128"/>
              </a:rPr>
              <a:t>S</a:t>
            </a:r>
            <a:r>
              <a:rPr lang="en-US" altLang="en-US" dirty="0">
                <a:ea typeface="ＭＳ Ｐゴシック" charset="-128"/>
              </a:rPr>
              <a:t>|= </a:t>
            </a:r>
            <a:r>
              <a:rPr lang="en-US" altLang="en-US" i="1" dirty="0">
                <a:latin typeface="Times New Roman" charset="0"/>
                <a:ea typeface="ＭＳ Ｐゴシック" charset="-128"/>
              </a:rPr>
              <a:t>n</a:t>
            </a:r>
            <a:r>
              <a:rPr lang="en-US" altLang="en-US" dirty="0">
                <a:ea typeface="ＭＳ Ｐゴシック" charset="-128"/>
              </a:rPr>
              <a:t> and say that the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cardinality</a:t>
            </a:r>
            <a:r>
              <a:rPr lang="en-US" altLang="en-US" dirty="0">
                <a:ea typeface="ＭＳ Ｐゴシック" charset="-128"/>
              </a:rPr>
              <a:t> (or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the number of elements</a:t>
            </a:r>
            <a:r>
              <a:rPr lang="en-US" altLang="en-US" dirty="0">
                <a:ea typeface="ＭＳ Ｐゴシック" charset="-128"/>
              </a:rPr>
              <a:t>) of </a:t>
            </a:r>
            <a:r>
              <a:rPr lang="en-US" altLang="en-US" b="1" dirty="0">
                <a:ea typeface="ＭＳ Ｐゴシック" charset="-128"/>
              </a:rPr>
              <a:t>S</a:t>
            </a:r>
            <a:r>
              <a:rPr lang="en-US" altLang="en-US" dirty="0">
                <a:ea typeface="ＭＳ Ｐゴシック" charset="-128"/>
              </a:rPr>
              <a:t> is </a:t>
            </a:r>
            <a:r>
              <a:rPr lang="en-US" altLang="en-US" i="1" dirty="0">
                <a:latin typeface="Times New Roman" charset="0"/>
                <a:ea typeface="ＭＳ Ｐゴシック" charset="-128"/>
              </a:rPr>
              <a:t>n</a:t>
            </a:r>
            <a:r>
              <a:rPr lang="en-US" altLang="en-US" dirty="0">
                <a:ea typeface="ＭＳ Ｐゴシック" charset="-128"/>
              </a:rPr>
              <a:t>. </a:t>
            </a:r>
          </a:p>
          <a:p>
            <a:pPr marL="342900" indent="-342900"/>
            <a:r>
              <a:rPr lang="en-US" altLang="en-US" b="1" dirty="0">
                <a:ea typeface="ＭＳ Ｐゴシック" charset="-128"/>
              </a:rPr>
              <a:t>Example: A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be sets.</a:t>
            </a:r>
          </a:p>
          <a:p>
            <a:pPr marL="342900" indent="-342900">
              <a:buNone/>
            </a:pPr>
            <a:r>
              <a:rPr lang="en-US" altLang="en-US" dirty="0">
                <a:ea typeface="ＭＳ Ｐゴシック" charset="-128"/>
              </a:rPr>
              <a:t>	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= {1, 2, 3}  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dirty="0">
                <a:ea typeface="ＭＳ Ｐゴシック" charset="-128"/>
              </a:rPr>
              <a:t> |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|=3</a:t>
            </a:r>
          </a:p>
          <a:p>
            <a:pPr marL="342900" indent="-342900">
              <a:buNone/>
            </a:pP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	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B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= {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a, b, c, d, e, f, g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}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|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|=7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title"/>
          </p:nvPr>
        </p:nvSpPr>
        <p:spPr>
          <a:xfrm>
            <a:off x="1423458" y="807601"/>
            <a:ext cx="6297083" cy="832935"/>
          </a:xfrm>
        </p:spPr>
        <p:txBody>
          <a:bodyPr/>
          <a:lstStyle/>
          <a:p>
            <a:pPr algn="ctr" eaLnBrk="1" hangingPunct="1"/>
            <a:r>
              <a:rPr lang="en-US" altLang="en-US" b="1" dirty="0">
                <a:ea typeface="ＭＳ Ｐゴシック" charset="-128"/>
              </a:rPr>
              <a:t>Cardinality of Set</a:t>
            </a:r>
          </a:p>
        </p:txBody>
      </p:sp>
      <p:sp>
        <p:nvSpPr>
          <p:cNvPr id="49155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A8CF67EA-FE33-804D-AD36-B7232AFE3198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6466F6-F141-D68F-6ED2-6603F8DF72AA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22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49157" y="2250017"/>
            <a:ext cx="7738533" cy="3086100"/>
          </a:xfrm>
        </p:spPr>
        <p:txBody>
          <a:bodyPr/>
          <a:lstStyle/>
          <a:p>
            <a:pPr marL="342900" indent="-342900"/>
            <a:r>
              <a:rPr lang="en-US" altLang="en-US" dirty="0">
                <a:ea typeface="ＭＳ Ｐゴシック" charset="-128"/>
              </a:rPr>
              <a:t>The set of all subsets of a set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, denoted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P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(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), 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is called the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power set of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.</a:t>
            </a:r>
          </a:p>
          <a:p>
            <a:pPr marL="342900" indent="-342900">
              <a:buNone/>
            </a:pPr>
            <a:endParaRPr lang="en-US" altLang="en-US" dirty="0">
              <a:solidFill>
                <a:srgbClr val="6600CC"/>
              </a:solidFill>
              <a:ea typeface="ＭＳ Ｐゴシック" charset="-128"/>
            </a:endParaRPr>
          </a:p>
          <a:p>
            <a:pPr marL="342900" indent="-342900">
              <a:buNone/>
            </a:pPr>
            <a:r>
              <a:rPr lang="en-US" altLang="en-US" i="1" dirty="0">
                <a:ea typeface="ＭＳ Ｐゴシック" charset="-128"/>
              </a:rPr>
              <a:t>		</a:t>
            </a:r>
            <a:r>
              <a:rPr lang="en-US" altLang="en-US" sz="2700" i="1" dirty="0">
                <a:solidFill>
                  <a:srgbClr val="0000FF"/>
                </a:solidFill>
                <a:ea typeface="ＭＳ Ｐゴシック" charset="-128"/>
              </a:rPr>
              <a:t>P</a:t>
            </a:r>
            <a:r>
              <a:rPr lang="en-US" altLang="en-US" sz="2700" dirty="0">
                <a:solidFill>
                  <a:srgbClr val="0000FF"/>
                </a:solidFill>
                <a:ea typeface="ＭＳ Ｐゴシック" charset="-128"/>
              </a:rPr>
              <a:t>(</a:t>
            </a:r>
            <a:r>
              <a:rPr lang="en-US" altLang="en-US" sz="2700" b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sz="2700" dirty="0">
                <a:solidFill>
                  <a:srgbClr val="0000FF"/>
                </a:solidFill>
                <a:ea typeface="ＭＳ Ｐゴシック" charset="-128"/>
              </a:rPr>
              <a:t>)= {</a:t>
            </a:r>
            <a:r>
              <a:rPr lang="en-US" altLang="en-US" sz="2700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700" dirty="0">
                <a:solidFill>
                  <a:srgbClr val="0000FF"/>
                </a:solidFill>
                <a:ea typeface="ＭＳ Ｐゴシック" charset="-128"/>
              </a:rPr>
              <a:t> | </a:t>
            </a:r>
            <a:r>
              <a:rPr lang="en-US" altLang="en-US" sz="2700" i="1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700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27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 </a:t>
            </a:r>
            <a:r>
              <a:rPr lang="en-US" altLang="en-US" sz="27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A</a:t>
            </a:r>
            <a:r>
              <a:rPr lang="en-US" altLang="en-US" sz="27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}</a:t>
            </a:r>
          </a:p>
          <a:p>
            <a:pPr marL="342900" indent="-342900">
              <a:buNone/>
            </a:pPr>
            <a:endParaRPr lang="en-US" altLang="en-US" dirty="0">
              <a:solidFill>
                <a:srgbClr val="AE3221"/>
              </a:solidFill>
              <a:ea typeface="ＭＳ Ｐゴシック" charset="-128"/>
              <a:sym typeface="Symbol" charset="2"/>
            </a:endParaRPr>
          </a:p>
          <a:p>
            <a:pPr marL="342900" indent="-342900"/>
            <a:r>
              <a:rPr lang="en-US" altLang="en-US" dirty="0">
                <a:ea typeface="ＭＳ Ｐゴシック" charset="-128"/>
                <a:sym typeface="Symbol" charset="2"/>
              </a:rPr>
              <a:t>If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|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|= </a:t>
            </a:r>
            <a:r>
              <a:rPr lang="en-US" altLang="en-US" i="1" dirty="0">
                <a:solidFill>
                  <a:srgbClr val="0000FF"/>
                </a:solidFill>
                <a:latin typeface="Times New Roman" charset="0"/>
                <a:ea typeface="ＭＳ Ｐゴシック" charset="-128"/>
                <a:sym typeface="Symbol" charset="2"/>
              </a:rPr>
              <a:t>n</a:t>
            </a:r>
            <a:r>
              <a:rPr lang="en-US" altLang="en-US" dirty="0">
                <a:ea typeface="ＭＳ Ｐゴシック" charset="-128"/>
                <a:sym typeface="Symbol" charset="2"/>
              </a:rPr>
              <a:t>, then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|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P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(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)| = 2</a:t>
            </a:r>
            <a:r>
              <a:rPr lang="en-US" altLang="en-US" i="1" baseline="30000" dirty="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n</a:t>
            </a:r>
            <a:endParaRPr lang="en-US" altLang="en-US" dirty="0">
              <a:solidFill>
                <a:srgbClr val="0000FF"/>
              </a:solidFill>
              <a:latin typeface="Times New Roman" charset="0"/>
              <a:ea typeface="ＭＳ Ｐゴシック" charset="-128"/>
              <a:sym typeface="Symbol" charset="2"/>
            </a:endParaRPr>
          </a:p>
          <a:p>
            <a:pPr marL="0" indent="0">
              <a:buNone/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title"/>
          </p:nvPr>
        </p:nvSpPr>
        <p:spPr>
          <a:xfrm>
            <a:off x="1617133" y="852474"/>
            <a:ext cx="5105400" cy="702733"/>
          </a:xfrm>
        </p:spPr>
        <p:txBody>
          <a:bodyPr/>
          <a:lstStyle/>
          <a:p>
            <a:pPr algn="ctr" eaLnBrk="1" hangingPunct="1"/>
            <a:r>
              <a:rPr lang="en-US" altLang="en-US" b="1" dirty="0">
                <a:ea typeface="ＭＳ Ｐゴシック" charset="-128"/>
              </a:rPr>
              <a:t>Power Set</a:t>
            </a:r>
          </a:p>
        </p:txBody>
      </p:sp>
      <p:sp>
        <p:nvSpPr>
          <p:cNvPr id="50179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F6591148-C58C-294F-BA9D-4EB07D6E431D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098780-68EE-28B5-298B-BCF1418AA17D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580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2034515" y="661444"/>
            <a:ext cx="4967817" cy="742421"/>
          </a:xfrm>
          <a:noFill/>
        </p:spPr>
        <p:txBody>
          <a:bodyPr anchor="b"/>
          <a:lstStyle/>
          <a:p>
            <a:pPr algn="ctr" eaLnBrk="1" hangingPunct="1"/>
            <a:r>
              <a:rPr lang="en-US" altLang="en-US" b="1" dirty="0">
                <a:solidFill>
                  <a:srgbClr val="00B050"/>
                </a:solidFill>
                <a:ea typeface="ＭＳ Ｐゴシック" charset="-128"/>
              </a:rPr>
              <a:t>Example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920" y="1829316"/>
            <a:ext cx="7541947" cy="3086100"/>
          </a:xfrm>
          <a:noFill/>
        </p:spPr>
        <p:txBody>
          <a:bodyPr/>
          <a:lstStyle/>
          <a:p>
            <a:pPr marL="342900" indent="-342900"/>
            <a:r>
              <a:rPr lang="en-US" altLang="en-US" dirty="0">
                <a:ea typeface="ＭＳ Ｐゴシック" charset="-128"/>
              </a:rPr>
              <a:t>Lets, a set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= {1,2,3}</a:t>
            </a:r>
          </a:p>
          <a:p>
            <a:pPr marL="342900" indent="-342900">
              <a:buNone/>
            </a:pPr>
            <a:r>
              <a:rPr lang="en-US" altLang="en-US" dirty="0">
                <a:ea typeface="ＭＳ Ｐゴシック" charset="-128"/>
              </a:rPr>
              <a:t>	</a:t>
            </a:r>
          </a:p>
          <a:p>
            <a:pPr marL="342900" indent="-342900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The power set of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,</a:t>
            </a:r>
          </a:p>
          <a:p>
            <a:pPr marL="342900" indent="-342900">
              <a:buNone/>
            </a:pPr>
            <a:r>
              <a:rPr lang="en-US" altLang="en-US" i="1" dirty="0">
                <a:ea typeface="ＭＳ Ｐゴシック" charset="-128"/>
              </a:rPr>
              <a:t>	P</a:t>
            </a:r>
            <a:r>
              <a:rPr lang="en-US" altLang="en-US" dirty="0">
                <a:ea typeface="ＭＳ Ｐゴシック" charset="-128"/>
              </a:rPr>
              <a:t>(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)= {</a:t>
            </a:r>
            <a:r>
              <a:rPr lang="en-US" altLang="en-US" dirty="0">
                <a:ea typeface="ＭＳ Ｐゴシック" charset="-128"/>
                <a:sym typeface="Symbol" charset="2"/>
              </a:rPr>
              <a:t></a:t>
            </a:r>
            <a:r>
              <a:rPr lang="en-US" altLang="en-US" dirty="0">
                <a:ea typeface="ＭＳ Ｐゴシック" charset="-128"/>
              </a:rPr>
              <a:t>, {1}, {2}, {3}, {1,2}, {1,3}, {2,3}, {1,2,3} }</a:t>
            </a:r>
          </a:p>
          <a:p>
            <a:pPr marL="342900" indent="-342900">
              <a:buNone/>
            </a:pPr>
            <a:r>
              <a:rPr lang="en-US" altLang="en-US" dirty="0">
                <a:ea typeface="ＭＳ Ｐゴシック" charset="-128"/>
                <a:sym typeface="Symbol" charset="2"/>
              </a:rPr>
              <a:t>	</a:t>
            </a:r>
          </a:p>
          <a:p>
            <a:pPr marL="342900" indent="-342900"/>
            <a:r>
              <a:rPr lang="en-US" altLang="en-US" dirty="0">
                <a:ea typeface="ＭＳ Ｐゴシック" charset="-128"/>
                <a:sym typeface="Symbol" charset="2"/>
              </a:rPr>
              <a:t>Notice that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|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| = 3, 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  <a:sym typeface="Symbol" charset="2"/>
              </a:rPr>
              <a:t>and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|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P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(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)| = 2</a:t>
            </a:r>
            <a:r>
              <a:rPr lang="en-US" altLang="en-US" i="1" baseline="30000" dirty="0">
                <a:solidFill>
                  <a:srgbClr val="0000FF"/>
                </a:solidFill>
                <a:ea typeface="ＭＳ Ｐゴシック" charset="-128"/>
              </a:rPr>
              <a:t>3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= 8</a:t>
            </a:r>
          </a:p>
        </p:txBody>
      </p:sp>
      <p:sp>
        <p:nvSpPr>
          <p:cNvPr id="51203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7D8B26B9-E69E-D444-AD1A-9D77DFF04CD9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50EEF6-910C-17CB-16AF-1477B899676D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432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5" name="Object 2"/>
          <p:cNvGraphicFramePr>
            <a:graphicFrameLocks noChangeAspect="1"/>
          </p:cNvGraphicFramePr>
          <p:nvPr/>
        </p:nvGraphicFramePr>
        <p:xfrm>
          <a:off x="4562475" y="3419475"/>
          <a:ext cx="19050" cy="1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Bitmap Image" r:id="rId3" imgW="25400" imgH="25400" progId="PBrush">
                  <p:embed/>
                </p:oleObj>
              </mc:Choice>
              <mc:Fallback>
                <p:oleObj name="Bitmap Image" r:id="rId3" imgW="25400" imgH="25400" progId="PBrush">
                  <p:embed/>
                  <p:pic>
                    <p:nvPicPr>
                      <p:cNvPr id="5222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5" y="3419475"/>
                        <a:ext cx="19050" cy="1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01984"/>
              </p:ext>
            </p:extLst>
          </p:nvPr>
        </p:nvGraphicFramePr>
        <p:xfrm>
          <a:off x="1927026" y="2065736"/>
          <a:ext cx="5270897" cy="382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Bitmap Image" r:id="rId5" imgW="7028571" imgH="5095238" progId="PBrush">
                  <p:embed/>
                </p:oleObj>
              </mc:Choice>
              <mc:Fallback>
                <p:oleObj name="Bitmap Image" r:id="rId5" imgW="7028571" imgH="5095238" progId="PBrush">
                  <p:embed/>
                  <p:pic>
                    <p:nvPicPr>
                      <p:cNvPr id="522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026" y="2065736"/>
                        <a:ext cx="5270897" cy="3821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7" name="TextBox 1"/>
          <p:cNvSpPr txBox="1">
            <a:spLocks noChangeArrowheads="1"/>
          </p:cNvSpPr>
          <p:nvPr/>
        </p:nvSpPr>
        <p:spPr bwMode="auto">
          <a:xfrm>
            <a:off x="2883544" y="653653"/>
            <a:ext cx="292881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5400" b="1" dirty="0">
                <a:solidFill>
                  <a:srgbClr val="0000FF"/>
                </a:solidFill>
              </a:rPr>
              <a:t>Summary</a:t>
            </a:r>
          </a:p>
        </p:txBody>
      </p:sp>
      <p:sp>
        <p:nvSpPr>
          <p:cNvPr id="52228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58F14DBC-D4D3-0442-821C-E88307B595C9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41770-6534-9377-FB16-4325665C9596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3296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0459" y="2788024"/>
            <a:ext cx="4043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800" dirty="0">
                <a:solidFill>
                  <a:srgbClr val="3333FF"/>
                </a:solidFill>
              </a:rPr>
              <a:t>EXERCISES</a:t>
            </a:r>
            <a:endParaRPr lang="en-US" sz="4800" dirty="0">
              <a:solidFill>
                <a:srgbClr val="3333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7F7BF-33E4-5852-283F-78F4739DF931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731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>
          <a:xfrm>
            <a:off x="573349" y="869816"/>
            <a:ext cx="4533810" cy="650612"/>
          </a:xfrm>
        </p:spPr>
        <p:txBody>
          <a:bodyPr/>
          <a:lstStyle/>
          <a:p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Exercise # 1</a:t>
            </a:r>
          </a:p>
        </p:txBody>
      </p:sp>
      <p:pic>
        <p:nvPicPr>
          <p:cNvPr id="53250" name="Picture 4" descr="Screen Shot 2016-09-07 at 11.43.5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18" y="1785666"/>
            <a:ext cx="6384927" cy="3286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7A1B3A08-047D-9E4C-A59F-791B6B99EA1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0DC3D-C421-E643-BBD0-64200A630A1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409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fld id="{D73D6A2E-76A7-6341-85F3-CF36E85053E1}" type="slidenum">
              <a:rPr lang="en-US" altLang="en-US" sz="900">
                <a:solidFill>
                  <a:srgbClr val="898989"/>
                </a:solidFill>
              </a:rPr>
              <a:pPr eaLnBrk="1" hangingPunct="1"/>
              <a:t>39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pic>
        <p:nvPicPr>
          <p:cNvPr id="54275" name="Picture 4" descr="Screen Shot 2016-09-07 at 11.49.3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5" y="2000250"/>
            <a:ext cx="526732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A8DE2DE7-BECC-FD44-AFAB-92052ED798B2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26713" y="1039763"/>
            <a:ext cx="6736353" cy="683650"/>
          </a:xfrm>
        </p:spPr>
        <p:txBody>
          <a:bodyPr/>
          <a:lstStyle/>
          <a:p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Exercise # 1 - Answer</a:t>
            </a:r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3CD861-D668-A29E-BA6B-63999ACD91D3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375939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>
          <a:xfrm>
            <a:off x="2523067" y="910830"/>
            <a:ext cx="4965700" cy="418437"/>
          </a:xfrm>
        </p:spPr>
        <p:txBody>
          <a:bodyPr/>
          <a:lstStyle/>
          <a:p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Exercise # 2</a:t>
            </a:r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en-US" dirty="0">
                <a:cs typeface="+mn-cs"/>
              </a:rPr>
              <a:t>Determine whether each pair of sets is equal.</a:t>
            </a:r>
          </a:p>
          <a:p>
            <a:pPr>
              <a:buFont typeface="Arial" pitchFamily="34" charset="0"/>
              <a:buNone/>
              <a:defRPr/>
            </a:pPr>
            <a:endParaRPr lang="en-US" dirty="0">
              <a:cs typeface="+mn-cs"/>
            </a:endParaRPr>
          </a:p>
          <a:p>
            <a:pPr marL="385763" indent="-385763">
              <a:buFont typeface="Arial" pitchFamily="34" charset="0"/>
              <a:buAutoNum type="alphaLcParenR"/>
              <a:defRPr/>
            </a:pPr>
            <a:r>
              <a:rPr lang="en-US" dirty="0">
                <a:cs typeface="+mn-cs"/>
              </a:rPr>
              <a:t>{1, 2, 2, 3} ; {1, 3, 2}</a:t>
            </a:r>
          </a:p>
          <a:p>
            <a:pPr marL="385763" indent="-385763">
              <a:buFont typeface="Arial" pitchFamily="34" charset="0"/>
              <a:buAutoNum type="alphaLcParenR"/>
              <a:defRPr/>
            </a:pPr>
            <a:r>
              <a:rPr lang="en-US" dirty="0">
                <a:cs typeface="+mn-cs"/>
              </a:rPr>
              <a:t>{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>
                <a:cs typeface="+mn-cs"/>
              </a:rPr>
              <a:t> |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baseline="30000" dirty="0">
                <a:cs typeface="+mn-cs"/>
              </a:rPr>
              <a:t>2</a:t>
            </a:r>
            <a:r>
              <a:rPr lang="en-US" dirty="0">
                <a:cs typeface="+mn-cs"/>
              </a:rPr>
              <a:t> +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>
                <a:cs typeface="+mn-cs"/>
              </a:rPr>
              <a:t> = 2} ; {1, -2}</a:t>
            </a:r>
          </a:p>
          <a:p>
            <a:pPr marL="385763" indent="-385763">
              <a:buFont typeface="Arial" pitchFamily="34" charset="0"/>
              <a:buAutoNum type="alphaLcParenR"/>
              <a:defRPr/>
            </a:pPr>
            <a:r>
              <a:rPr lang="en-US" dirty="0">
                <a:cs typeface="+mn-cs"/>
              </a:rPr>
              <a:t>{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>
                <a:cs typeface="+mn-cs"/>
              </a:rPr>
              <a:t>|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>
                <a:cs typeface="+mn-cs"/>
              </a:rPr>
              <a:t> is a real number and 0 &lt;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dirty="0">
                <a:cs typeface="+mn-cs"/>
                <a:sym typeface="Symbol"/>
              </a:rPr>
              <a:t> </a:t>
            </a:r>
            <a:r>
              <a:rPr lang="en-US" dirty="0">
                <a:cs typeface="+mn-cs"/>
              </a:rPr>
              <a:t>2}; {1,2}</a:t>
            </a:r>
          </a:p>
        </p:txBody>
      </p:sp>
      <p:sp>
        <p:nvSpPr>
          <p:cNvPr id="55299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E8219574-FC7A-CA47-91F3-40E1345AB46A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02AAAD-AB10-DE02-2E08-8EE172F02EA5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7816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>
          <a:xfrm>
            <a:off x="251012" y="831853"/>
            <a:ext cx="6732991" cy="683650"/>
          </a:xfrm>
        </p:spPr>
        <p:txBody>
          <a:bodyPr/>
          <a:lstStyle/>
          <a:p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Exercise # 2 - Answer</a:t>
            </a:r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012" y="1825625"/>
            <a:ext cx="8659906" cy="4351338"/>
          </a:xfrm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en-US" dirty="0">
                <a:cs typeface="+mn-cs"/>
              </a:rPr>
              <a:t>Determine whether each pair of sets is equal.</a:t>
            </a:r>
          </a:p>
          <a:p>
            <a:pPr>
              <a:buFont typeface="Arial" pitchFamily="34" charset="0"/>
              <a:buNone/>
              <a:defRPr/>
            </a:pPr>
            <a:endParaRPr lang="en-US" dirty="0">
              <a:cs typeface="+mn-cs"/>
            </a:endParaRPr>
          </a:p>
          <a:p>
            <a:pPr marL="385763" indent="-385763">
              <a:buFont typeface="Arial" pitchFamily="34" charset="0"/>
              <a:buAutoNum type="alphaLcParenR"/>
              <a:defRPr/>
            </a:pPr>
            <a:r>
              <a:rPr lang="en-US" dirty="0">
                <a:cs typeface="+mn-cs"/>
              </a:rPr>
              <a:t>{1, 2, 2, 3} ; </a:t>
            </a:r>
            <a:r>
              <a:rPr lang="en-US" dirty="0">
                <a:solidFill>
                  <a:srgbClr val="0070C0"/>
                </a:solidFill>
                <a:cs typeface="+mn-cs"/>
              </a:rPr>
              <a:t>{1, 3, 2} </a:t>
            </a:r>
            <a:r>
              <a:rPr lang="en-US" dirty="0">
                <a:cs typeface="+mn-cs"/>
              </a:rPr>
              <a:t>=&gt; </a:t>
            </a:r>
            <a:r>
              <a:rPr lang="en-US" dirty="0">
                <a:solidFill>
                  <a:srgbClr val="FF0000"/>
                </a:solidFill>
                <a:cs typeface="+mn-cs"/>
              </a:rPr>
              <a:t>Equal</a:t>
            </a:r>
          </a:p>
          <a:p>
            <a:pPr marL="0" indent="0">
              <a:buNone/>
              <a:defRPr/>
            </a:pPr>
            <a:endParaRPr lang="en-US" dirty="0">
              <a:cs typeface="+mn-cs"/>
            </a:endParaRPr>
          </a:p>
          <a:p>
            <a:pPr marL="0" indent="0">
              <a:buNone/>
              <a:defRPr/>
            </a:pPr>
            <a:r>
              <a:rPr lang="en-US" dirty="0">
                <a:cs typeface="+mn-cs"/>
              </a:rPr>
              <a:t>b) {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>
                <a:cs typeface="+mn-cs"/>
              </a:rPr>
              <a:t> |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baseline="30000" dirty="0">
                <a:cs typeface="+mn-cs"/>
              </a:rPr>
              <a:t>2</a:t>
            </a:r>
            <a:r>
              <a:rPr lang="en-US" dirty="0">
                <a:cs typeface="+mn-cs"/>
              </a:rPr>
              <a:t> +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>
                <a:cs typeface="+mn-cs"/>
              </a:rPr>
              <a:t> = 2} ; </a:t>
            </a:r>
            <a:r>
              <a:rPr lang="en-US" dirty="0">
                <a:solidFill>
                  <a:srgbClr val="0070C0"/>
                </a:solidFill>
                <a:cs typeface="+mn-cs"/>
              </a:rPr>
              <a:t>{1, -2}</a:t>
            </a:r>
            <a:r>
              <a:rPr lang="en-US" dirty="0">
                <a:cs typeface="+mn-cs"/>
              </a:rPr>
              <a:t> =&gt; </a:t>
            </a:r>
            <a:r>
              <a:rPr lang="en-US" dirty="0">
                <a:solidFill>
                  <a:srgbClr val="FF0000"/>
                </a:solidFill>
                <a:cs typeface="+mn-cs"/>
              </a:rPr>
              <a:t> Equal</a:t>
            </a:r>
          </a:p>
          <a:p>
            <a:pPr marL="0" indent="0">
              <a:buNone/>
              <a:defRPr/>
            </a:pPr>
            <a:endParaRPr lang="en-US" dirty="0">
              <a:cs typeface="+mn-cs"/>
            </a:endParaRPr>
          </a:p>
          <a:p>
            <a:pPr marL="0" indent="0">
              <a:buNone/>
              <a:defRPr/>
            </a:pPr>
            <a:r>
              <a:rPr lang="en-US" dirty="0">
                <a:cs typeface="+mn-cs"/>
              </a:rPr>
              <a:t>c) {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dirty="0">
                <a:cs typeface="+mn-cs"/>
              </a:rPr>
              <a:t>|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>
                <a:cs typeface="+mn-cs"/>
              </a:rPr>
              <a:t> is a real number and 0 &lt;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dirty="0">
                <a:cs typeface="+mn-cs"/>
                <a:sym typeface="Symbol"/>
              </a:rPr>
              <a:t> </a:t>
            </a:r>
            <a:r>
              <a:rPr lang="en-US" dirty="0">
                <a:cs typeface="+mn-cs"/>
              </a:rPr>
              <a:t>2}; </a:t>
            </a:r>
            <a:r>
              <a:rPr lang="en-US" dirty="0">
                <a:solidFill>
                  <a:srgbClr val="0070C0"/>
                </a:solidFill>
                <a:cs typeface="+mn-cs"/>
              </a:rPr>
              <a:t>{1,2} </a:t>
            </a:r>
            <a:r>
              <a:rPr lang="en-US" dirty="0">
                <a:cs typeface="+mn-cs"/>
              </a:rPr>
              <a:t>=&gt; </a:t>
            </a:r>
            <a:r>
              <a:rPr lang="en-US" dirty="0">
                <a:solidFill>
                  <a:srgbClr val="FF0000"/>
                </a:solidFill>
                <a:cs typeface="+mn-cs"/>
              </a:rPr>
              <a:t>Not Equal</a:t>
            </a:r>
          </a:p>
        </p:txBody>
      </p:sp>
      <p:sp>
        <p:nvSpPr>
          <p:cNvPr id="55299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E8219574-FC7A-CA47-91F3-40E1345AB46A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9D97CA-B86B-EAA7-4E63-708D0366BB70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125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85900" y="2602707"/>
            <a:ext cx="6172200" cy="2769394"/>
          </a:xfrm>
        </p:spPr>
        <p:txBody>
          <a:bodyPr/>
          <a:lstStyle/>
          <a:p>
            <a:pPr marL="342900" indent="-342900"/>
            <a:r>
              <a:rPr lang="en-US" altLang="en-US" dirty="0">
                <a:ea typeface="ＭＳ Ｐゴシック" charset="-128"/>
              </a:rPr>
              <a:t>Let </a:t>
            </a:r>
            <a:r>
              <a:rPr lang="en-US" altLang="en-US" b="1" dirty="0">
                <a:ea typeface="ＭＳ Ｐゴシック" charset="-128"/>
              </a:rPr>
              <a:t>X </a:t>
            </a:r>
            <a:r>
              <a:rPr lang="en-US" altLang="en-US" dirty="0">
                <a:ea typeface="ＭＳ Ｐゴシック" charset="-128"/>
              </a:rPr>
              <a:t>= {0, 2, </a:t>
            </a:r>
            <a:r>
              <a:rPr lang="en-US" altLang="en-US" i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}</a:t>
            </a:r>
          </a:p>
          <a:p>
            <a:pPr marL="342900" indent="-342900"/>
            <a:r>
              <a:rPr lang="en-US" altLang="en-US" dirty="0">
                <a:ea typeface="ＭＳ Ｐゴシック" charset="-128"/>
              </a:rPr>
              <a:t>Find:</a:t>
            </a:r>
          </a:p>
          <a:p>
            <a:pPr marL="814388" lvl="1" indent="-385763">
              <a:buFont typeface="Calibri" charset="0"/>
              <a:buAutoNum type="alphaLcParenR"/>
            </a:pPr>
            <a:r>
              <a:rPr lang="en-US" altLang="en-US" dirty="0">
                <a:ea typeface="ＭＳ Ｐゴシック" charset="-128"/>
              </a:rPr>
              <a:t> |</a:t>
            </a:r>
            <a:r>
              <a:rPr lang="en-US" altLang="en-US" b="1" dirty="0">
                <a:ea typeface="ＭＳ Ｐゴシック" charset="-128"/>
              </a:rPr>
              <a:t>X</a:t>
            </a:r>
            <a:r>
              <a:rPr lang="en-US" altLang="en-US" dirty="0">
                <a:ea typeface="ＭＳ Ｐゴシック" charset="-128"/>
              </a:rPr>
              <a:t>|</a:t>
            </a:r>
          </a:p>
          <a:p>
            <a:pPr marL="814388" lvl="1" indent="-385763">
              <a:buFont typeface="Calibri" charset="0"/>
              <a:buAutoNum type="alphaLcParenR"/>
            </a:pPr>
            <a:r>
              <a:rPr lang="en-US" altLang="en-US" dirty="0">
                <a:ea typeface="ＭＳ Ｐゴシック" charset="-128"/>
              </a:rPr>
              <a:t> Proper subset of </a:t>
            </a:r>
            <a:r>
              <a:rPr lang="en-US" altLang="en-US" b="1" dirty="0">
                <a:ea typeface="ＭＳ Ｐゴシック" charset="-128"/>
              </a:rPr>
              <a:t>X</a:t>
            </a:r>
          </a:p>
          <a:p>
            <a:pPr marL="814388" lvl="1" indent="-385763">
              <a:buFont typeface="Calibri" charset="0"/>
              <a:buAutoNum type="alphaLcParenR"/>
            </a:pPr>
            <a:r>
              <a:rPr lang="en-US" altLang="en-US" dirty="0">
                <a:ea typeface="ＭＳ Ｐゴシック" charset="-128"/>
              </a:rPr>
              <a:t> Power set of</a:t>
            </a:r>
            <a:r>
              <a:rPr lang="en-US" altLang="en-US" i="1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X</a:t>
            </a:r>
          </a:p>
        </p:txBody>
      </p:sp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1485900" y="900351"/>
            <a:ext cx="6172200" cy="583406"/>
          </a:xfrm>
        </p:spPr>
        <p:txBody>
          <a:bodyPr/>
          <a:lstStyle/>
          <a:p>
            <a:r>
              <a:rPr lang="en-US" altLang="en-US" b="1">
                <a:solidFill>
                  <a:srgbClr val="0000FF"/>
                </a:solidFill>
                <a:ea typeface="ＭＳ Ｐゴシック" charset="-128"/>
              </a:rPr>
              <a:t>Exercise # 3</a:t>
            </a:r>
            <a:endParaRPr lang="en-US" altLang="en-US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56323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EF5E9672-33B2-494A-A79C-D8B26E374424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655660-F9E3-8A83-8361-12AADF19A391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586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66" y="1544818"/>
            <a:ext cx="8399929" cy="4252516"/>
          </a:xfrm>
        </p:spPr>
        <p:txBody>
          <a:bodyPr/>
          <a:lstStyle/>
          <a:p>
            <a:pPr marL="0" indent="0">
              <a:buNone/>
              <a:defRPr/>
            </a:pPr>
            <a:endParaRPr lang="en-US" dirty="0">
              <a:ea typeface="ＭＳ Ｐゴシック" charset="0"/>
            </a:endParaRPr>
          </a:p>
          <a:p>
            <a:pPr marL="514350" indent="-385763">
              <a:buFont typeface="Calibri" charset="0"/>
              <a:buAutoNum type="alphaLcParenR"/>
              <a:defRPr/>
            </a:pPr>
            <a:r>
              <a:rPr lang="en-US" dirty="0">
                <a:ea typeface="ＭＳ Ｐゴシック" charset="0"/>
              </a:rPr>
              <a:t> |</a:t>
            </a:r>
            <a:r>
              <a:rPr lang="en-US" b="1" dirty="0">
                <a:ea typeface="ＭＳ Ｐゴシック" charset="0"/>
              </a:rPr>
              <a:t>X</a:t>
            </a:r>
            <a:r>
              <a:rPr lang="en-US" dirty="0">
                <a:ea typeface="ＭＳ Ｐゴシック" charset="0"/>
              </a:rPr>
              <a:t>| = </a:t>
            </a: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3</a:t>
            </a:r>
          </a:p>
          <a:p>
            <a:pPr marL="128587" indent="0">
              <a:buNone/>
              <a:defRPr/>
            </a:pPr>
            <a:endParaRPr lang="en-US" dirty="0">
              <a:ea typeface="ＭＳ Ｐゴシック" charset="0"/>
            </a:endParaRPr>
          </a:p>
          <a:p>
            <a:pPr marL="128587" indent="0">
              <a:buNone/>
              <a:defRPr/>
            </a:pPr>
            <a:r>
              <a:rPr lang="en-US" dirty="0">
                <a:ea typeface="ＭＳ Ｐゴシック" charset="0"/>
              </a:rPr>
              <a:t>b) Proper subset of </a:t>
            </a:r>
            <a:r>
              <a:rPr lang="en-US" b="1" dirty="0">
                <a:ea typeface="ＭＳ Ｐゴシック" charset="0"/>
              </a:rPr>
              <a:t>X</a:t>
            </a:r>
            <a:r>
              <a:rPr lang="en-US" i="1" dirty="0">
                <a:ea typeface="ＭＳ Ｐゴシック" charset="0"/>
              </a:rPr>
              <a:t>:</a:t>
            </a:r>
          </a:p>
          <a:p>
            <a:pPr marL="428625" lvl="1" indent="0">
              <a:buNone/>
              <a:defRPr/>
            </a:pPr>
            <a:r>
              <a:rPr lang="en-US" i="1" dirty="0">
                <a:ea typeface="ＭＳ Ｐゴシック" charset="0"/>
              </a:rPr>
              <a:t> </a:t>
            </a:r>
            <a:r>
              <a:rPr lang="en-US" dirty="0">
                <a:ea typeface="ＭＳ Ｐゴシック" charset="0"/>
              </a:rPr>
              <a:t> = </a:t>
            </a:r>
            <a:r>
              <a:rPr lang="en-US" sz="3200" dirty="0">
                <a:solidFill>
                  <a:srgbClr val="0070C0"/>
                </a:solidFill>
                <a:ea typeface="ＭＳ Ｐゴシック" charset="0"/>
              </a:rPr>
              <a:t>{</a:t>
            </a:r>
            <a:r>
              <a:rPr lang="en-US" sz="3200" dirty="0">
                <a:solidFill>
                  <a:srgbClr val="0070C0"/>
                </a:solidFill>
                <a:ea typeface="ＭＳ Ｐゴシック" charset="0"/>
                <a:sym typeface="Symbol" charset="0"/>
              </a:rPr>
              <a:t></a:t>
            </a:r>
            <a:r>
              <a:rPr lang="en-US" sz="3200" dirty="0">
                <a:solidFill>
                  <a:srgbClr val="0070C0"/>
                </a:solidFill>
                <a:ea typeface="ＭＳ Ｐゴシック" charset="0"/>
              </a:rPr>
              <a:t>, {0}, {2}, {a}, {0,2}, {0,a}, {2,a} }</a:t>
            </a:r>
          </a:p>
          <a:p>
            <a:pPr marL="428625" lvl="1" indent="0">
              <a:buNone/>
              <a:defRPr/>
            </a:pPr>
            <a:endParaRPr lang="en-US" dirty="0">
              <a:ea typeface="ＭＳ Ｐゴシック" charset="0"/>
            </a:endParaRPr>
          </a:p>
          <a:p>
            <a:pPr marL="514350" indent="-385763">
              <a:buFont typeface="Arial" charset="0"/>
              <a:buAutoNum type="alphaLcParenR"/>
              <a:defRPr/>
            </a:pPr>
            <a:r>
              <a:rPr lang="en-US" dirty="0">
                <a:ea typeface="ＭＳ Ｐゴシック" charset="0"/>
              </a:rPr>
              <a:t>Power set of</a:t>
            </a:r>
            <a:r>
              <a:rPr lang="en-US" i="1" dirty="0">
                <a:ea typeface="ＭＳ Ｐゴシック" charset="0"/>
              </a:rPr>
              <a:t> </a:t>
            </a:r>
            <a:r>
              <a:rPr lang="en-US" b="1" dirty="0">
                <a:ea typeface="ＭＳ Ｐゴシック" charset="0"/>
              </a:rPr>
              <a:t>X</a:t>
            </a:r>
            <a:r>
              <a:rPr lang="en-US" i="1" dirty="0">
                <a:ea typeface="ＭＳ Ｐゴシック" charset="0"/>
              </a:rPr>
              <a:t>:</a:t>
            </a:r>
            <a:endParaRPr lang="en-US" dirty="0">
              <a:ea typeface="ＭＳ Ｐゴシック" charset="0"/>
            </a:endParaRPr>
          </a:p>
          <a:p>
            <a:pPr marL="0" indent="0">
              <a:buNone/>
              <a:defRPr/>
            </a:pPr>
            <a:r>
              <a:rPr lang="en-US" i="1" dirty="0">
                <a:ea typeface="ＭＳ Ｐゴシック" charset="0"/>
              </a:rPr>
              <a:t>       </a:t>
            </a:r>
            <a:r>
              <a:rPr lang="en-US" dirty="0">
                <a:ea typeface="ＭＳ Ｐゴシック" charset="0"/>
              </a:rPr>
              <a:t>P(</a:t>
            </a:r>
            <a:r>
              <a:rPr lang="en-US" b="1" dirty="0">
                <a:ea typeface="ＭＳ Ｐゴシック" charset="0"/>
              </a:rPr>
              <a:t>X</a:t>
            </a:r>
            <a:r>
              <a:rPr lang="en-US" dirty="0">
                <a:ea typeface="ＭＳ Ｐゴシック" charset="0"/>
              </a:rPr>
              <a:t>)</a:t>
            </a:r>
            <a:r>
              <a:rPr lang="en-US" i="1" dirty="0">
                <a:ea typeface="ＭＳ Ｐゴシック" charset="0"/>
              </a:rPr>
              <a:t> </a:t>
            </a:r>
            <a:r>
              <a:rPr lang="en-US" dirty="0">
                <a:ea typeface="ＭＳ Ｐゴシック" charset="0"/>
              </a:rPr>
              <a:t>= </a:t>
            </a: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{</a:t>
            </a:r>
            <a:r>
              <a:rPr lang="en-US" dirty="0">
                <a:solidFill>
                  <a:srgbClr val="0070C0"/>
                </a:solidFill>
                <a:ea typeface="ＭＳ Ｐゴシック" charset="0"/>
                <a:sym typeface="Symbol" charset="0"/>
              </a:rPr>
              <a:t></a:t>
            </a: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, {0}, {2}, {a}, {0,2}, {0,a}, {2,a}, {0,2,a} }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57347" name="Slide Number Placeholder 1"/>
          <p:cNvSpPr txBox="1">
            <a:spLocks/>
          </p:cNvSpPr>
          <p:nvPr/>
        </p:nvSpPr>
        <p:spPr bwMode="auto">
          <a:xfrm>
            <a:off x="4518424" y="5750720"/>
            <a:ext cx="27741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F236D2BC-E5F2-C04E-8AD1-C5298C0E84C9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2298" y="933670"/>
            <a:ext cx="6611968" cy="683650"/>
          </a:xfrm>
        </p:spPr>
        <p:txBody>
          <a:bodyPr/>
          <a:lstStyle/>
          <a:p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Exercise # 3 - Answer</a:t>
            </a:r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A36911-1980-1765-B4A5-182AD4B6C6EA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487282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755650" y="1438564"/>
            <a:ext cx="7772400" cy="1101195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latin typeface="Century Gothic" panose="020B0502020202020204" pitchFamily="34" charset="0"/>
                <a:ea typeface="ＭＳ Ｐゴシック" charset="-128"/>
              </a:rPr>
              <a:t>CHAPTER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650" y="3322108"/>
            <a:ext cx="7920038" cy="1657350"/>
          </a:xfr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MY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THEORY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MY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[Part 2: Operation on Set]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MY" sz="4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364" name="Slide Number Placeholder 1"/>
          <p:cNvSpPr>
            <a:spLocks noGrp="1"/>
          </p:cNvSpPr>
          <p:nvPr>
            <p:ph type="sldNum" sz="quarter" idx="12"/>
          </p:nvPr>
        </p:nvSpPr>
        <p:spPr bwMode="auto">
          <a:xfrm>
            <a:off x="4284663" y="6519863"/>
            <a:ext cx="68262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33BD9272-6302-E743-950B-51F74F61488B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44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4CF646-D44A-954C-86A5-326E26C62452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471AA-CAAF-1935-AA01-9155DF93CF82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2622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69383" y="1994133"/>
            <a:ext cx="7886700" cy="3512103"/>
          </a:xfrm>
        </p:spPr>
        <p:txBody>
          <a:bodyPr/>
          <a:lstStyle/>
          <a:p>
            <a:pPr marL="457200" indent="-457200" eaLnBrk="1" hangingPunct="1"/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The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union</a:t>
            </a:r>
            <a:r>
              <a:rPr lang="en-US" altLang="en-US" dirty="0">
                <a:solidFill>
                  <a:srgbClr val="AE3221"/>
                </a:solidFill>
                <a:ea typeface="ＭＳ Ｐゴシック" charset="-128"/>
              </a:rPr>
              <a:t> 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of two sets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 and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, denoted by 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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, is defined to be the set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	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		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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dirty="0">
                <a:ea typeface="ＭＳ Ｐゴシック" charset="-128"/>
              </a:rPr>
              <a:t> = { </a:t>
            </a:r>
            <a:r>
              <a:rPr lang="en-US" altLang="en-US" sz="36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600" dirty="0">
                <a:ea typeface="ＭＳ Ｐゴシック" charset="-128"/>
              </a:rPr>
              <a:t> | </a:t>
            </a:r>
            <a:r>
              <a:rPr lang="en-US" altLang="en-US" sz="36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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A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ea typeface="ＭＳ Ｐゴシック" charset="-128"/>
                <a:sym typeface="Symbol" charset="2"/>
              </a:rPr>
              <a:t>or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6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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B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}</a:t>
            </a:r>
          </a:p>
          <a:p>
            <a:pPr marL="457200" indent="-457200" eaLnBrk="1" hangingPunct="1"/>
            <a:endParaRPr lang="en-US" altLang="en-US" dirty="0">
              <a:solidFill>
                <a:srgbClr val="0716D9"/>
              </a:solidFill>
              <a:ea typeface="ＭＳ Ｐゴシック" charset="-128"/>
              <a:sym typeface="Symbol" charset="2"/>
            </a:endParaRPr>
          </a:p>
          <a:p>
            <a:pPr marL="457200" indent="-457200" eaLnBrk="1" hangingPunct="1"/>
            <a:r>
              <a:rPr lang="en-US" altLang="en-US" dirty="0">
                <a:solidFill>
                  <a:srgbClr val="090D1B"/>
                </a:solidFill>
                <a:ea typeface="ＭＳ Ｐゴシック" charset="-128"/>
                <a:sym typeface="Symbol" charset="2"/>
              </a:rPr>
              <a:t>The union consists of all elements belonging to either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A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  <a:sym typeface="Symbol" charset="2"/>
              </a:rPr>
              <a:t> or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B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  <a:sym typeface="Symbol" charset="2"/>
              </a:rPr>
              <a:t> (or both)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title"/>
          </p:nvPr>
        </p:nvSpPr>
        <p:spPr>
          <a:xfrm>
            <a:off x="186266" y="755926"/>
            <a:ext cx="7067550" cy="717021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latin typeface="+mn-lt"/>
                <a:ea typeface="ＭＳ Ｐゴシック" charset="-128"/>
                <a:cs typeface="Times New Roman" panose="02020603050405020304" pitchFamily="18" charset="0"/>
              </a:rPr>
              <a:t>Union</a:t>
            </a:r>
          </a:p>
        </p:txBody>
      </p:sp>
      <p:sp>
        <p:nvSpPr>
          <p:cNvPr id="16387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A4B87F0F-5DBD-B04F-820D-294230AA2931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45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9817" y="6371696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2D757-8B53-7025-EA5A-79BA6241BCEA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8741D-5358-9D52-9A41-B474D746B91B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9874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56166" y="1435100"/>
            <a:ext cx="4855634" cy="495300"/>
          </a:xfrm>
        </p:spPr>
        <p:txBody>
          <a:bodyPr/>
          <a:lstStyle/>
          <a:p>
            <a:pPr marL="457200" indent="-457200" eaLnBrk="1" hangingPunct="1"/>
            <a:r>
              <a:rPr lang="en-US" altLang="en-US" sz="3200" dirty="0">
                <a:ea typeface="ＭＳ Ｐゴシック" charset="-128"/>
              </a:rPr>
              <a:t>Venn diagram of 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dirty="0">
                <a:ea typeface="ＭＳ Ｐゴシック" charset="-128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</a:t>
            </a:r>
            <a:r>
              <a:rPr lang="en-US" altLang="en-US" sz="3200" dirty="0">
                <a:ea typeface="ＭＳ Ｐゴシック" charset="-128"/>
              </a:rPr>
              <a:t> </a:t>
            </a:r>
            <a:r>
              <a:rPr lang="en-US" altLang="en-US" sz="3200" b="1" dirty="0">
                <a:ea typeface="ＭＳ Ｐゴシック" charset="-128"/>
              </a:rPr>
              <a:t>B</a:t>
            </a:r>
          </a:p>
        </p:txBody>
      </p:sp>
      <p:sp>
        <p:nvSpPr>
          <p:cNvPr id="17410" name="Rectangle 10"/>
          <p:cNvSpPr>
            <a:spLocks noGrp="1" noChangeArrowheads="1"/>
          </p:cNvSpPr>
          <p:nvPr>
            <p:ph type="title"/>
          </p:nvPr>
        </p:nvSpPr>
        <p:spPr>
          <a:xfrm>
            <a:off x="238125" y="670405"/>
            <a:ext cx="5162550" cy="742951"/>
          </a:xfrm>
          <a:noFill/>
        </p:spPr>
        <p:txBody>
          <a:bodyPr anchor="b"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Union </a:t>
            </a:r>
            <a:r>
              <a:rPr lang="en-US" altLang="en-US" sz="16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2819400" y="2082800"/>
            <a:ext cx="3371850" cy="2333625"/>
            <a:chOff x="2819400" y="2667000"/>
            <a:chExt cx="3371850" cy="2333625"/>
          </a:xfrm>
        </p:grpSpPr>
        <p:pic>
          <p:nvPicPr>
            <p:cNvPr id="17413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667000"/>
              <a:ext cx="3371850" cy="2333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5435600" y="3068638"/>
              <a:ext cx="431800" cy="431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987675" y="4076700"/>
              <a:ext cx="431800" cy="431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416" name="TextBox 2"/>
            <p:cNvSpPr txBox="1">
              <a:spLocks noChangeArrowheads="1"/>
            </p:cNvSpPr>
            <p:nvPr/>
          </p:nvSpPr>
          <p:spPr bwMode="auto">
            <a:xfrm>
              <a:off x="3779912" y="3429000"/>
              <a:ext cx="3642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FF00"/>
                  </a:solidFill>
                </a:rPr>
                <a:t>A</a:t>
              </a:r>
            </a:p>
          </p:txBody>
        </p:sp>
        <p:sp>
          <p:nvSpPr>
            <p:cNvPr id="17417" name="TextBox 7"/>
            <p:cNvSpPr txBox="1">
              <a:spLocks noChangeArrowheads="1"/>
            </p:cNvSpPr>
            <p:nvPr/>
          </p:nvSpPr>
          <p:spPr bwMode="auto">
            <a:xfrm>
              <a:off x="4932040" y="3851756"/>
              <a:ext cx="3520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FF00"/>
                  </a:solidFill>
                </a:rPr>
                <a:t>B</a:t>
              </a:r>
            </a:p>
          </p:txBody>
        </p:sp>
      </p:grpSp>
      <p:sp>
        <p:nvSpPr>
          <p:cNvPr id="17412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74137443-A61E-A044-8D72-1EDE774D65E9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46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15150" y="6337300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48216" y="4461242"/>
            <a:ext cx="8424334" cy="164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14400" eaLnBrk="1" hangingPunct="1"/>
            <a:r>
              <a:rPr lang="en-US" altLang="en-US" dirty="0">
                <a:ea typeface="ＭＳ Ｐゴシック" charset="-128"/>
              </a:rPr>
              <a:t>If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b="1" dirty="0">
                <a:ea typeface="ＭＳ Ｐゴシック" charset="-128"/>
              </a:rPr>
              <a:t>B </a:t>
            </a:r>
            <a:r>
              <a:rPr lang="en-US" altLang="en-US" dirty="0">
                <a:ea typeface="ＭＳ Ｐゴシック" charset="-128"/>
              </a:rPr>
              <a:t>are finite sets, the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cardinality</a:t>
            </a:r>
            <a:r>
              <a:rPr lang="en-US" altLang="en-US" dirty="0">
                <a:ea typeface="ＭＳ Ｐゴシック" charset="-128"/>
              </a:rPr>
              <a:t> of </a:t>
            </a:r>
            <a:r>
              <a:rPr lang="en-US" altLang="en-US" b="1" dirty="0">
                <a:ea typeface="ＭＳ Ｐゴシック" charset="-128"/>
              </a:rPr>
              <a:t>A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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,</a:t>
            </a:r>
          </a:p>
          <a:p>
            <a:pPr marL="457200" indent="-457200" defTabSz="914400" eaLnBrk="1" hangingPunct="1">
              <a:buFontTx/>
              <a:buNone/>
            </a:pPr>
            <a:endParaRPr lang="en-US" altLang="en-US" dirty="0">
              <a:solidFill>
                <a:srgbClr val="AE3221"/>
              </a:solidFill>
              <a:ea typeface="ＭＳ Ｐゴシック" charset="-128"/>
            </a:endParaRPr>
          </a:p>
          <a:p>
            <a:pPr marL="457200" indent="-457200" defTabSz="914400" eaLnBrk="1" hangingPunct="1">
              <a:buFontTx/>
              <a:buNone/>
            </a:pPr>
            <a:r>
              <a:rPr lang="en-US" altLang="en-US" dirty="0">
                <a:solidFill>
                  <a:srgbClr val="AE3221"/>
                </a:solidFill>
                <a:ea typeface="ＭＳ Ｐゴシック" charset="-128"/>
              </a:rPr>
              <a:t>	</a:t>
            </a:r>
            <a:r>
              <a:rPr lang="en-US" altLang="en-US" dirty="0">
                <a:ea typeface="ＭＳ Ｐゴシック" charset="-128"/>
              </a:rPr>
              <a:t>    </a:t>
            </a:r>
            <a:r>
              <a:rPr lang="en-US" altLang="en-US" sz="3600" b="1" dirty="0">
                <a:ea typeface="ＭＳ Ｐゴシック" charset="-128"/>
              </a:rPr>
              <a:t>| A </a:t>
            </a:r>
            <a:r>
              <a:rPr lang="en-US" altLang="en-US" sz="36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</a:t>
            </a:r>
            <a:r>
              <a:rPr lang="en-US" altLang="en-US" sz="3600" b="1" dirty="0">
                <a:ea typeface="ＭＳ Ｐゴシック" charset="-128"/>
              </a:rPr>
              <a:t> B| = |A| + |B|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</a:t>
            </a:r>
            <a:r>
              <a:rPr lang="en-US" altLang="en-US" sz="3600" b="1" dirty="0">
                <a:ea typeface="ＭＳ Ｐゴシック" charset="-128"/>
              </a:rPr>
              <a:t> |A </a:t>
            </a:r>
            <a:r>
              <a:rPr lang="en-US" altLang="en-US" sz="36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600" b="1" dirty="0">
                <a:ea typeface="ＭＳ Ｐゴシック" charset="-128"/>
              </a:rPr>
              <a:t> B|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086B07-DEF5-FE50-80D8-AB8833E54DB2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FEFF9-1175-7E12-1106-E9560817C8A5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356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6201" y="1848931"/>
            <a:ext cx="7889081" cy="588003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b="1" i="1" dirty="0">
                <a:ea typeface="ＭＳ Ｐゴシック" charset="-128"/>
              </a:rPr>
              <a:t> </a:t>
            </a:r>
            <a:r>
              <a:rPr lang="en-US" altLang="en-US" sz="3200" dirty="0">
                <a:ea typeface="ＭＳ Ｐゴシック" charset="-128"/>
              </a:rPr>
              <a:t>= {1, 2, 3, 4, 5}; </a:t>
            </a:r>
            <a:r>
              <a:rPr lang="en-US" altLang="en-US" sz="3200" b="1" dirty="0">
                <a:ea typeface="ＭＳ Ｐゴシック" charset="-128"/>
              </a:rPr>
              <a:t>B </a:t>
            </a:r>
            <a:r>
              <a:rPr lang="en-US" altLang="en-US" sz="3200" dirty="0">
                <a:ea typeface="ＭＳ Ｐゴシック" charset="-128"/>
              </a:rPr>
              <a:t>= {2, 4, 6} and </a:t>
            </a:r>
            <a:r>
              <a:rPr lang="en-US" altLang="en-US" sz="3200" b="1" dirty="0">
                <a:ea typeface="ＭＳ Ｐゴシック" charset="-128"/>
              </a:rPr>
              <a:t>C </a:t>
            </a:r>
            <a:r>
              <a:rPr lang="en-US" altLang="en-US" sz="3200" dirty="0">
                <a:ea typeface="ＭＳ Ｐゴシック" charset="-128"/>
              </a:rPr>
              <a:t>= {8, 9}</a:t>
            </a:r>
          </a:p>
          <a:p>
            <a:pPr marL="457200" indent="-457200" eaLnBrk="1" hangingPunct="1">
              <a:buFontTx/>
              <a:buNone/>
            </a:pPr>
            <a:endParaRPr lang="en-US" altLang="en-US" sz="3200" dirty="0">
              <a:ea typeface="ＭＳ Ｐゴシック" charset="-128"/>
            </a:endParaRPr>
          </a:p>
          <a:p>
            <a:pPr marL="457200" indent="-457200" eaLnBrk="1" hangingPunct="1">
              <a:buFontTx/>
              <a:buNone/>
            </a:pPr>
            <a:endParaRPr lang="en-US" altLang="en-US" sz="3200" dirty="0">
              <a:ea typeface="ＭＳ Ｐゴシック" charset="-128"/>
            </a:endParaRPr>
          </a:p>
        </p:txBody>
      </p:sp>
      <p:sp>
        <p:nvSpPr>
          <p:cNvPr id="18435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767BCF7D-BFFE-AF4C-BC2F-0BD84E778C24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47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898650" y="3316118"/>
            <a:ext cx="3068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{1, 2, 3, 4, 5, 8, 9}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98650" y="4108446"/>
            <a:ext cx="22637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{2, 4, 6, 8, 9}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548732" y="5056921"/>
            <a:ext cx="347186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{1, 2, 3, 4, 5, 6, 8, 9}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5584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9984" y="2560650"/>
            <a:ext cx="40446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/>
            <a:r>
              <a:rPr lang="en-US" altLang="en-US" sz="3200" b="1" dirty="0">
                <a:ea typeface="ＭＳ Ｐゴシック" charset="-128"/>
              </a:rPr>
              <a:t>A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</a:t>
            </a:r>
            <a:r>
              <a:rPr lang="en-US" altLang="en-US" sz="3200" b="1" dirty="0">
                <a:ea typeface="ＭＳ Ｐゴシック" charset="-128"/>
              </a:rPr>
              <a:t> B = </a:t>
            </a:r>
            <a:r>
              <a:rPr lang="en-US" altLang="en-US" sz="3200" dirty="0">
                <a:solidFill>
                  <a:srgbClr val="0070C0"/>
                </a:solidFill>
              </a:rPr>
              <a:t>{1, 2, 3, 4, 5, 6}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201" y="3316118"/>
            <a:ext cx="14510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>
              <a:buFontTx/>
              <a:buNone/>
            </a:pPr>
            <a:r>
              <a:rPr lang="en-US" altLang="en-US" sz="3200" b="1" dirty="0">
                <a:ea typeface="ＭＳ Ｐゴシック" charset="-128"/>
              </a:rPr>
              <a:t>A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</a:t>
            </a:r>
            <a:r>
              <a:rPr lang="en-US" altLang="en-US" sz="3200" b="1" dirty="0">
                <a:ea typeface="ＭＳ Ｐゴシック" charset="-128"/>
              </a:rPr>
              <a:t> C =</a:t>
            </a:r>
            <a:endParaRPr lang="en-US" altLang="en-US" sz="3200" i="1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6201" y="4093706"/>
            <a:ext cx="14334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>
              <a:buFontTx/>
              <a:buNone/>
            </a:pPr>
            <a:r>
              <a:rPr lang="en-US" altLang="en-US" sz="3200" b="1" dirty="0">
                <a:ea typeface="ＭＳ Ｐゴシック" charset="-128"/>
              </a:rPr>
              <a:t>B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</a:t>
            </a:r>
            <a:r>
              <a:rPr lang="en-US" altLang="en-US" sz="3200" b="1" dirty="0">
                <a:ea typeface="ＭＳ Ｐゴシック" charset="-128"/>
              </a:rPr>
              <a:t> C =</a:t>
            </a:r>
            <a:endParaRPr lang="en-US" altLang="en-US" sz="3200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6201" y="5057934"/>
            <a:ext cx="2183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>
              <a:buFontTx/>
              <a:buNone/>
            </a:pPr>
            <a:r>
              <a:rPr lang="en-US" altLang="en-US" sz="3200" b="1" dirty="0">
                <a:ea typeface="ＭＳ Ｐゴシック" charset="-128"/>
              </a:rPr>
              <a:t>A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</a:t>
            </a:r>
            <a:r>
              <a:rPr lang="en-US" altLang="en-US" sz="3200" b="1" dirty="0">
                <a:ea typeface="ＭＳ Ｐゴシック" charset="-128"/>
              </a:rPr>
              <a:t> B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</a:t>
            </a:r>
            <a:r>
              <a:rPr lang="en-US" altLang="en-US" sz="3200" b="1" dirty="0">
                <a:ea typeface="ＭＳ Ｐゴシック" charset="-128"/>
              </a:rPr>
              <a:t> C =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233362" y="903817"/>
            <a:ext cx="4338638" cy="74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</a:t>
            </a:r>
            <a:r>
              <a:rPr lang="en-US" altLang="en-US" b="1" dirty="0">
                <a:ea typeface="ＭＳ Ｐゴシック" charset="-128"/>
              </a:rPr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B8480E-4239-9C44-7661-A3007BE649DC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F83CD-6248-218C-AF6A-2711246595ED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5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9" grpId="0"/>
      <p:bldP spid="10" grpId="0"/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66700" y="2032002"/>
            <a:ext cx="8610600" cy="2277532"/>
          </a:xfrm>
        </p:spPr>
        <p:txBody>
          <a:bodyPr/>
          <a:lstStyle/>
          <a:p>
            <a:pPr marL="457200" indent="-457200" eaLnBrk="1" hangingPunct="1"/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The</a:t>
            </a:r>
            <a:r>
              <a:rPr lang="en-US" altLang="en-US" sz="3200" dirty="0">
                <a:solidFill>
                  <a:srgbClr val="AE3221"/>
                </a:solidFill>
                <a:ea typeface="ＭＳ Ｐゴシック" charset="-128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intersection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 of two sets </a:t>
            </a:r>
            <a:r>
              <a:rPr lang="en-US" altLang="en-US" sz="3200" b="1" dirty="0">
                <a:solidFill>
                  <a:srgbClr val="090D1B"/>
                </a:solidFill>
                <a:ea typeface="ＭＳ Ｐゴシック" charset="-128"/>
              </a:rPr>
              <a:t>A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 and </a:t>
            </a:r>
            <a:r>
              <a:rPr lang="en-US" altLang="en-US" sz="3200" b="1" dirty="0">
                <a:solidFill>
                  <a:srgbClr val="090D1B"/>
                </a:solidFill>
                <a:ea typeface="ＭＳ Ｐゴシック" charset="-128"/>
              </a:rPr>
              <a:t>B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, denoted by 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3200" b="1" dirty="0">
                <a:ea typeface="ＭＳ Ｐゴシック" charset="-128"/>
              </a:rPr>
              <a:t>B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, is defined to be the set</a:t>
            </a:r>
          </a:p>
          <a:p>
            <a:pPr marL="0" indent="0" eaLnBrk="1" hangingPunct="1">
              <a:buNone/>
            </a:pPr>
            <a:endParaRPr lang="en-US" altLang="en-US" sz="1800" dirty="0">
              <a:solidFill>
                <a:srgbClr val="090D1B"/>
              </a:solidFill>
              <a:ea typeface="ＭＳ Ｐゴシック" charset="-128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		    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dirty="0">
                <a:ea typeface="ＭＳ Ｐゴシック" charset="-128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200" dirty="0">
                <a:ea typeface="ＭＳ Ｐゴシック" charset="-128"/>
              </a:rPr>
              <a:t> </a:t>
            </a:r>
            <a:r>
              <a:rPr lang="en-US" altLang="en-US" sz="3200" b="1" dirty="0">
                <a:ea typeface="ＭＳ Ｐゴシック" charset="-128"/>
              </a:rPr>
              <a:t>B</a:t>
            </a:r>
            <a:r>
              <a:rPr lang="en-US" altLang="en-US" sz="3200" dirty="0">
                <a:ea typeface="ＭＳ Ｐゴシック" charset="-128"/>
              </a:rPr>
              <a:t> = { </a:t>
            </a:r>
            <a:r>
              <a:rPr lang="en-US" altLang="en-US" sz="32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200" dirty="0">
                <a:ea typeface="ＭＳ Ｐゴシック" charset="-128"/>
              </a:rPr>
              <a:t> | </a:t>
            </a:r>
            <a:r>
              <a:rPr lang="en-US" altLang="en-US" sz="32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200" dirty="0">
                <a:ea typeface="ＭＳ Ｐゴシック" charset="-128"/>
              </a:rPr>
              <a:t> 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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A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200" dirty="0">
                <a:solidFill>
                  <a:srgbClr val="FF0000"/>
                </a:solidFill>
                <a:ea typeface="ＭＳ Ｐゴシック" charset="-128"/>
                <a:sym typeface="Symbol" charset="2"/>
              </a:rPr>
              <a:t>and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2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200" dirty="0">
                <a:ea typeface="ＭＳ Ｐゴシック" charset="-128"/>
              </a:rPr>
              <a:t> 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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B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}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title"/>
          </p:nvPr>
        </p:nvSpPr>
        <p:spPr>
          <a:xfrm>
            <a:off x="266700" y="886998"/>
            <a:ext cx="5650006" cy="605367"/>
          </a:xfrm>
          <a:noFill/>
        </p:spPr>
        <p:txBody>
          <a:bodyPr anchor="b"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Intersection</a:t>
            </a:r>
          </a:p>
        </p:txBody>
      </p:sp>
      <p:sp>
        <p:nvSpPr>
          <p:cNvPr id="20483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A37B688C-90A3-574E-95C3-B93AC8D3B4F6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48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66700" y="4513680"/>
            <a:ext cx="80412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  <a:sym typeface="Symbol" charset="2"/>
              </a:rPr>
              <a:t>The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intersection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  <a:sym typeface="Symbol" charset="2"/>
              </a:rPr>
              <a:t> consists of all elements belonging to both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A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  <a:sym typeface="Symbol" charset="2"/>
              </a:rPr>
              <a:t> and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B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  <a:sym typeface="Symbol" charset="2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BE6A1C-99D0-A196-5736-83082990DD2C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3B2C5-2DFB-CA96-B600-B37336095536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23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715607"/>
            <a:ext cx="8229600" cy="685800"/>
          </a:xfrm>
        </p:spPr>
        <p:txBody>
          <a:bodyPr/>
          <a:lstStyle/>
          <a:p>
            <a:pPr marL="457200" indent="-457200" eaLnBrk="1" hangingPunct="1"/>
            <a:r>
              <a:rPr lang="en-US" altLang="en-US" sz="3200" dirty="0">
                <a:ea typeface="ＭＳ Ｐゴシック" charset="-128"/>
              </a:rPr>
              <a:t>Venn diagram of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A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 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B</a:t>
            </a:r>
            <a:endParaRPr lang="en-US" altLang="en-US" sz="3200" b="1" dirty="0">
              <a:ea typeface="ＭＳ Ｐゴシック" charset="-128"/>
            </a:endParaRPr>
          </a:p>
          <a:p>
            <a:pPr marL="457200" indent="-457200" eaLnBrk="1" hangingPunct="1"/>
            <a:endParaRPr lang="en-US" altLang="en-US" sz="3200" dirty="0">
              <a:ea typeface="ＭＳ Ｐゴシック" charset="-128"/>
            </a:endParaRPr>
          </a:p>
        </p:txBody>
      </p:sp>
      <p:sp>
        <p:nvSpPr>
          <p:cNvPr id="21506" name="Rectangle 14"/>
          <p:cNvSpPr>
            <a:spLocks noChangeArrowheads="1"/>
          </p:cNvSpPr>
          <p:nvPr/>
        </p:nvSpPr>
        <p:spPr bwMode="auto">
          <a:xfrm>
            <a:off x="349091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1507" name="Rectangle 16"/>
          <p:cNvSpPr>
            <a:spLocks noGrp="1" noChangeArrowheads="1"/>
          </p:cNvSpPr>
          <p:nvPr>
            <p:ph type="title"/>
          </p:nvPr>
        </p:nvSpPr>
        <p:spPr>
          <a:xfrm>
            <a:off x="203200" y="765185"/>
            <a:ext cx="3740150" cy="741868"/>
          </a:xfrm>
          <a:noFill/>
        </p:spPr>
        <p:txBody>
          <a:bodyPr anchor="b"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Intersection </a:t>
            </a:r>
            <a:r>
              <a:rPr lang="en-US" altLang="en-US" sz="14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p:pic>
        <p:nvPicPr>
          <p:cNvPr id="21508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712" y="2675466"/>
            <a:ext cx="343852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E9909540-6D96-6A47-8659-DB161DDDF28B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49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36C14-F6BF-E4DA-3832-B74295C074DD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C9839-E6EA-0D4E-AFD9-3041DB3F30C6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1675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1360" y="1752579"/>
            <a:ext cx="8394708" cy="81915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ea typeface="ＭＳ Ｐゴシック" charset="-128"/>
              </a:rPr>
              <a:t>W </a:t>
            </a:r>
            <a:r>
              <a:rPr lang="en-US" altLang="en-US" dirty="0">
                <a:ea typeface="ＭＳ Ｐゴシック" charset="-128"/>
              </a:rPr>
              <a:t>= {1, 2, 3, 4, 5, 6}; </a:t>
            </a:r>
            <a:r>
              <a:rPr lang="en-US" altLang="en-US" b="1" dirty="0">
                <a:ea typeface="ＭＳ Ｐゴシック" charset="-128"/>
              </a:rPr>
              <a:t>X </a:t>
            </a:r>
            <a:r>
              <a:rPr lang="en-US" altLang="en-US" dirty="0">
                <a:ea typeface="ＭＳ Ｐゴシック" charset="-128"/>
              </a:rPr>
              <a:t>= {2, 4, 6, 8, 10} ; </a:t>
            </a:r>
            <a:r>
              <a:rPr lang="en-US" altLang="en-US" b="1" dirty="0">
                <a:ea typeface="ＭＳ Ｐゴシック" charset="-128"/>
              </a:rPr>
              <a:t>Y</a:t>
            </a:r>
            <a:r>
              <a:rPr lang="en-US" altLang="en-US" dirty="0">
                <a:ea typeface="ＭＳ Ｐゴシック" charset="-128"/>
              </a:rPr>
              <a:t>={1, 2, 8, 10}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endParaRPr lang="en-US" altLang="en-US" dirty="0">
              <a:ea typeface="ＭＳ Ｐゴシック" charset="-128"/>
            </a:endParaRP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ea typeface="ＭＳ Ｐゴシック" charset="-128"/>
                <a:sym typeface="Symbol" charset="2"/>
              </a:rPr>
              <a:t>	</a:t>
            </a:r>
            <a:r>
              <a:rPr lang="en-US" altLang="en-US" dirty="0">
                <a:ea typeface="ＭＳ Ｐゴシック" charset="-128"/>
              </a:rPr>
              <a:t>	</a:t>
            </a:r>
          </a:p>
        </p:txBody>
      </p:sp>
      <p:sp>
        <p:nvSpPr>
          <p:cNvPr id="22531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5978AD02-C3B9-6445-B0EF-4DBE98DC2F73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50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10594" y="2955766"/>
            <a:ext cx="145732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0070C0"/>
                </a:solidFill>
                <a:sym typeface="Symbol" charset="2"/>
              </a:rPr>
              <a:t>{2, 4, 6}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115078" y="3698123"/>
            <a:ext cx="11461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0070C0"/>
                </a:solidFill>
                <a:sym typeface="Symbol" charset="2"/>
              </a:rPr>
              <a:t> {1, 2}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15078" y="4440523"/>
            <a:ext cx="166528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0070C0"/>
                </a:solidFill>
                <a:sym typeface="Symbol" charset="2"/>
              </a:rPr>
              <a:t>{2, 8, 10}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985821" y="5181292"/>
            <a:ext cx="6508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0070C0"/>
                </a:solidFill>
                <a:sym typeface="Symbol" charset="2"/>
              </a:rPr>
              <a:t>{2}</a:t>
            </a:r>
            <a:endParaRPr lang="en-US" altLang="en-US" sz="3200" dirty="0">
              <a:solidFill>
                <a:srgbClr val="0070C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9824" y="6356350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1999" y="2771204"/>
            <a:ext cx="64939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FontTx/>
              <a:buNone/>
            </a:pPr>
            <a:r>
              <a:rPr lang="en-US" altLang="en-US" sz="3200" b="1" dirty="0">
                <a:ea typeface="ＭＳ Ｐゴシック" charset="-128"/>
                <a:sym typeface="Symbol" charset="2"/>
              </a:rPr>
              <a:t>W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 X = </a:t>
            </a:r>
          </a:p>
          <a:p>
            <a:pPr marL="457200" indent="-457200" eaLnBrk="1" hangingPunct="1">
              <a:lnSpc>
                <a:spcPct val="150000"/>
              </a:lnSpc>
              <a:buFontTx/>
              <a:buNone/>
            </a:pPr>
            <a:r>
              <a:rPr lang="en-US" altLang="en-US" sz="3200" b="1" dirty="0">
                <a:ea typeface="ＭＳ Ｐゴシック" charset="-128"/>
                <a:sym typeface="Symbol" charset="2"/>
              </a:rPr>
              <a:t>W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 Y =</a:t>
            </a:r>
          </a:p>
          <a:p>
            <a:pPr marL="457200" indent="-457200" eaLnBrk="1" hangingPunct="1">
              <a:lnSpc>
                <a:spcPct val="150000"/>
              </a:lnSpc>
              <a:buFontTx/>
              <a:buNone/>
            </a:pPr>
            <a:r>
              <a:rPr lang="en-US" altLang="en-US" sz="3200" b="1" dirty="0">
                <a:ea typeface="ＭＳ Ｐゴシック" charset="-128"/>
                <a:sym typeface="Symbol" charset="2"/>
              </a:rPr>
              <a:t>Y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 X = </a:t>
            </a:r>
          </a:p>
          <a:p>
            <a:pPr marL="457200" indent="-457200" eaLnBrk="1" hangingPunct="1">
              <a:lnSpc>
                <a:spcPct val="150000"/>
              </a:lnSpc>
              <a:buFontTx/>
              <a:buNone/>
            </a:pPr>
            <a:r>
              <a:rPr lang="en-US" altLang="en-US" sz="3200" b="1" dirty="0">
                <a:ea typeface="ＭＳ Ｐゴシック" charset="-128"/>
                <a:sym typeface="Symbol" charset="2"/>
              </a:rPr>
              <a:t>W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 X </a:t>
            </a:r>
            <a:r>
              <a:rPr lang="en-US" altLang="en-US" sz="32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 Y =</a:t>
            </a:r>
            <a:endParaRPr lang="en-US" altLang="en-US" sz="3200" b="1" dirty="0">
              <a:ea typeface="ＭＳ Ｐゴシック" charset="-128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233362" y="903817"/>
            <a:ext cx="4338638" cy="74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b="1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</a:t>
            </a:r>
            <a:r>
              <a:rPr lang="en-US" altLang="en-US" b="1">
                <a:ea typeface="ＭＳ Ｐゴシック" charset="-128"/>
              </a:rPr>
              <a:t>:</a:t>
            </a:r>
            <a:endParaRPr lang="en-US" altLang="en-US" b="1" dirty="0">
              <a:ea typeface="ＭＳ Ｐゴシック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F4625-5926-65C2-D45D-B3EE1CC45E45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05273-F0BC-FF8C-F84A-CCE1BF664040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48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0267" y="1757389"/>
            <a:ext cx="7543800" cy="1270000"/>
          </a:xfrm>
        </p:spPr>
        <p:txBody>
          <a:bodyPr/>
          <a:lstStyle/>
          <a:p>
            <a:pPr marL="457200" indent="-457200" eaLnBrk="1" hangingPunct="1"/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Two sets </a:t>
            </a:r>
            <a:r>
              <a:rPr lang="en-US" altLang="en-US" sz="3200" b="1" dirty="0">
                <a:solidFill>
                  <a:srgbClr val="090D1B"/>
                </a:solidFill>
                <a:ea typeface="ＭＳ Ｐゴシック" charset="-128"/>
              </a:rPr>
              <a:t>A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 and </a:t>
            </a:r>
            <a:r>
              <a:rPr lang="en-US" altLang="en-US" sz="3200" b="1" dirty="0">
                <a:solidFill>
                  <a:srgbClr val="090D1B"/>
                </a:solidFill>
                <a:ea typeface="ＭＳ Ｐゴシック" charset="-128"/>
              </a:rPr>
              <a:t>B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 are said to be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disjoint </a:t>
            </a: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if,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sz="3200" dirty="0">
                <a:solidFill>
                  <a:srgbClr val="090D1B"/>
                </a:solidFill>
                <a:ea typeface="ＭＳ Ｐゴシック" charset="-128"/>
              </a:rPr>
              <a:t>		                  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A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B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 = 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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title"/>
          </p:nvPr>
        </p:nvSpPr>
        <p:spPr>
          <a:xfrm>
            <a:off x="239183" y="880533"/>
            <a:ext cx="3257550" cy="632355"/>
          </a:xfrm>
          <a:noFill/>
        </p:spPr>
        <p:txBody>
          <a:bodyPr anchor="b"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Disjoint</a:t>
            </a:r>
          </a:p>
        </p:txBody>
      </p:sp>
      <p:sp>
        <p:nvSpPr>
          <p:cNvPr id="23555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1B960B70-3DD7-674C-8081-B5B803D3F82F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51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40267" y="3206434"/>
            <a:ext cx="7886700" cy="2765054"/>
            <a:chOff x="440267" y="2924546"/>
            <a:chExt cx="7886700" cy="2765054"/>
          </a:xfrm>
        </p:grpSpPr>
        <p:sp>
          <p:nvSpPr>
            <p:cNvPr id="9" name="Rectangle 2"/>
            <p:cNvSpPr txBox="1">
              <a:spLocks noChangeArrowheads="1"/>
            </p:cNvSpPr>
            <p:nvPr/>
          </p:nvSpPr>
          <p:spPr bwMode="auto">
            <a:xfrm>
              <a:off x="440267" y="2924546"/>
              <a:ext cx="7886700" cy="631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28600" indent="-228600" algn="l" rtl="0" fontAlgn="base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 defTabSz="914400" eaLnBrk="1" hangingPunct="1"/>
              <a:r>
                <a:rPr lang="en-US" altLang="en-US" sz="3200" dirty="0">
                  <a:ea typeface="ＭＳ Ｐゴシック" charset="-128"/>
                </a:rPr>
                <a:t>Venn diagram:</a:t>
              </a:r>
              <a:endParaRPr lang="en-US" altLang="en-US" sz="3200" dirty="0">
                <a:solidFill>
                  <a:srgbClr val="0000FF"/>
                </a:solidFill>
                <a:ea typeface="ＭＳ Ｐゴシック" charset="-128"/>
                <a:sym typeface="Symbol" charset="2"/>
              </a:endParaRPr>
            </a:p>
          </p:txBody>
        </p:sp>
        <p:pic>
          <p:nvPicPr>
            <p:cNvPr id="10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8058" y="3768778"/>
              <a:ext cx="4203187" cy="1920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BA0DCA9-C407-0F04-13E6-36914765631A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63FC7-3DF1-6E49-8FFB-3DB4BA41546E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70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7651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sz="3200" i="1" dirty="0">
                <a:ea typeface="ＭＳ Ｐゴシック" charset="-128"/>
              </a:rPr>
              <a:t>	</a:t>
            </a:r>
            <a:r>
              <a:rPr lang="en-US" alt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alt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= {1, 3, 5, 7, 9, 11}; </a:t>
            </a:r>
            <a:r>
              <a:rPr lang="en-US" alt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  <a:r>
              <a:rPr lang="en-US" alt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= {2, 4, 6, 8, 10}</a:t>
            </a:r>
          </a:p>
          <a:p>
            <a:endParaRPr lang="en-US" altLang="en-US" sz="3200" dirty="0">
              <a:ea typeface="ＭＳ Ｐゴシック" charset="-128"/>
            </a:endParaRPr>
          </a:p>
          <a:p>
            <a:pPr>
              <a:buFont typeface="Arial" charset="0"/>
              <a:buNone/>
            </a:pPr>
            <a:r>
              <a:rPr lang="en-US" altLang="en-US" sz="3200" i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		</a:t>
            </a:r>
            <a:endParaRPr lang="en-US" altLang="en-US" sz="3200" dirty="0">
              <a:ea typeface="ＭＳ Ｐゴシック" charset="-128"/>
            </a:endParaRPr>
          </a:p>
        </p:txBody>
      </p:sp>
      <p:sp>
        <p:nvSpPr>
          <p:cNvPr id="25603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A1BA600E-0094-0A42-A485-162EA3B9D15C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52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49033" y="2946026"/>
                <a:ext cx="2588401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4000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MY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MY" sz="4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MY" sz="4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𝐁</m:t>
                      </m:r>
                      <m:r>
                        <a:rPr lang="en-MY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∅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033" y="2946026"/>
                <a:ext cx="2588401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33362" y="903817"/>
            <a:ext cx="4338638" cy="742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b="1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</a:t>
            </a:r>
            <a:r>
              <a:rPr lang="en-US" altLang="en-US" b="1">
                <a:ea typeface="ＭＳ Ｐゴシック" charset="-128"/>
              </a:rPr>
              <a:t>:</a:t>
            </a:r>
            <a:endParaRPr lang="en-US" altLang="en-US" b="1" dirty="0">
              <a:ea typeface="ＭＳ Ｐゴシック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1C2E43-2A4A-625B-77C0-6A01B579247F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6939D-66A7-F7CC-9CE5-1E5E2E2D776B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1775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title"/>
          </p:nvPr>
        </p:nvSpPr>
        <p:spPr>
          <a:xfrm>
            <a:off x="154517" y="774300"/>
            <a:ext cx="4812771" cy="645055"/>
          </a:xfrm>
          <a:noFill/>
        </p:spPr>
        <p:txBody>
          <a:bodyPr anchor="b"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Difference</a:t>
            </a:r>
          </a:p>
        </p:txBody>
      </p:sp>
      <p:sp>
        <p:nvSpPr>
          <p:cNvPr id="26627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40F7A358-4492-2046-AEC2-B6969D2D1943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53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37300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59833" y="3167390"/>
            <a:ext cx="79734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sz="2800" dirty="0">
                <a:ea typeface="ＭＳ Ｐゴシック" charset="-128"/>
              </a:rPr>
              <a:t>Formally: </a:t>
            </a:r>
            <a:r>
              <a:rPr lang="en-US" altLang="en-US" sz="2800" b="1" dirty="0">
                <a:ea typeface="ＭＳ Ｐゴシック" charset="-128"/>
              </a:rPr>
              <a:t>A</a:t>
            </a:r>
            <a:r>
              <a:rPr lang="en-US" altLang="en-US" sz="2800" i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 </a:t>
            </a:r>
            <a:r>
              <a:rPr lang="en-US" altLang="en-US" sz="2800" b="1" dirty="0">
                <a:ea typeface="ＭＳ Ｐゴシック" charset="-128"/>
              </a:rPr>
              <a:t>B</a:t>
            </a:r>
            <a:r>
              <a:rPr lang="en-US" altLang="en-US" sz="2800" dirty="0">
                <a:ea typeface="ＭＳ Ｐゴシック" charset="-128"/>
              </a:rPr>
              <a:t>= {</a:t>
            </a:r>
            <a:r>
              <a:rPr lang="en-US" altLang="en-US" sz="28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 | </a:t>
            </a:r>
            <a:r>
              <a:rPr lang="en-US" altLang="en-US" sz="28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 </a:t>
            </a:r>
            <a:r>
              <a:rPr lang="en-US" altLang="en-US" sz="2800" dirty="0">
                <a:ea typeface="ＭＳ Ｐゴシック" charset="-128"/>
                <a:sym typeface="Symbol" charset="2"/>
              </a:rPr>
              <a:t> </a:t>
            </a:r>
            <a:r>
              <a:rPr lang="en-US" altLang="en-US" sz="2800" b="1" dirty="0">
                <a:ea typeface="ＭＳ Ｐゴシック" charset="-128"/>
              </a:rPr>
              <a:t>A</a:t>
            </a:r>
            <a:r>
              <a:rPr lang="en-US" altLang="en-US" sz="2800" dirty="0">
                <a:ea typeface="ＭＳ Ｐゴシック" charset="-128"/>
              </a:rPr>
              <a:t> and </a:t>
            </a:r>
            <a:r>
              <a:rPr lang="en-US" altLang="en-US" sz="28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2800" dirty="0">
                <a:ea typeface="ＭＳ Ｐゴシック" charset="-128"/>
              </a:rPr>
              <a:t> </a:t>
            </a:r>
            <a:r>
              <a:rPr lang="en-US" altLang="en-US" sz="2800" dirty="0">
                <a:ea typeface="ＭＳ Ｐゴシック" charset="-128"/>
                <a:sym typeface="Symbol" charset="2"/>
              </a:rPr>
              <a:t></a:t>
            </a:r>
            <a:r>
              <a:rPr lang="en-US" altLang="en-US" sz="2800" dirty="0">
                <a:ea typeface="ＭＳ Ｐゴシック" charset="-128"/>
              </a:rPr>
              <a:t> </a:t>
            </a:r>
            <a:r>
              <a:rPr lang="en-US" altLang="en-US" sz="2800" b="1" dirty="0">
                <a:ea typeface="ＭＳ Ｐゴシック" charset="-128"/>
              </a:rPr>
              <a:t>B</a:t>
            </a:r>
            <a:r>
              <a:rPr lang="en-US" altLang="en-US" sz="2800" dirty="0">
                <a:ea typeface="ＭＳ Ｐゴシック" charset="-128"/>
              </a:rPr>
              <a:t>}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59833" y="4009270"/>
            <a:ext cx="7886700" cy="2138950"/>
            <a:chOff x="359833" y="4009270"/>
            <a:chExt cx="7886700" cy="2138950"/>
          </a:xfrm>
        </p:grpSpPr>
        <p:sp>
          <p:nvSpPr>
            <p:cNvPr id="10" name="Rectangle 2"/>
            <p:cNvSpPr txBox="1">
              <a:spLocks noChangeArrowheads="1"/>
            </p:cNvSpPr>
            <p:nvPr/>
          </p:nvSpPr>
          <p:spPr bwMode="auto">
            <a:xfrm>
              <a:off x="359833" y="4009270"/>
              <a:ext cx="7886700" cy="653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28600" indent="-228600" algn="l" rtl="0" fontAlgn="base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 defTabSz="914400" eaLnBrk="1" hangingPunct="1"/>
              <a:r>
                <a:rPr lang="en-US" altLang="en-US" dirty="0">
                  <a:ea typeface="ＭＳ Ｐゴシック" charset="-128"/>
                </a:rPr>
                <a:t>Venn diagram:</a:t>
              </a:r>
              <a:endParaRPr lang="en-US" altLang="en-US" dirty="0">
                <a:solidFill>
                  <a:srgbClr val="0000FF"/>
                </a:solidFill>
                <a:ea typeface="ＭＳ Ｐゴシック" charset="-128"/>
              </a:endParaRPr>
            </a:p>
          </p:txBody>
        </p:sp>
        <p:pic>
          <p:nvPicPr>
            <p:cNvPr id="11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208" y="4370220"/>
              <a:ext cx="3400307" cy="177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Rectangle 5"/>
          <p:cNvSpPr/>
          <p:nvPr/>
        </p:nvSpPr>
        <p:spPr>
          <a:xfrm>
            <a:off x="429684" y="1573838"/>
            <a:ext cx="80856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90D1B"/>
                </a:solidFill>
                <a:ea typeface="ＭＳ Ｐゴシック" charset="-128"/>
              </a:rPr>
              <a:t>Let, </a:t>
            </a:r>
            <a:r>
              <a:rPr lang="en-US" altLang="en-US" sz="2800" b="1" dirty="0">
                <a:solidFill>
                  <a:srgbClr val="090D1B"/>
                </a:solidFill>
                <a:ea typeface="ＭＳ Ｐゴシック" charset="-128"/>
              </a:rPr>
              <a:t>A</a:t>
            </a:r>
            <a:r>
              <a:rPr lang="en-US" altLang="en-US" sz="2800" dirty="0">
                <a:solidFill>
                  <a:srgbClr val="090D1B"/>
                </a:solidFill>
                <a:ea typeface="ＭＳ Ｐゴシック" charset="-128"/>
              </a:rPr>
              <a:t> and </a:t>
            </a:r>
            <a:r>
              <a:rPr lang="en-US" altLang="en-US" sz="2800" b="1" dirty="0">
                <a:solidFill>
                  <a:srgbClr val="090D1B"/>
                </a:solidFill>
                <a:ea typeface="ＭＳ Ｐゴシック" charset="-128"/>
              </a:rPr>
              <a:t>B</a:t>
            </a:r>
            <a:r>
              <a:rPr lang="en-US" altLang="en-US" sz="2800" dirty="0">
                <a:solidFill>
                  <a:srgbClr val="090D1B"/>
                </a:solidFill>
                <a:ea typeface="ＭＳ Ｐゴシック" charset="-128"/>
              </a:rPr>
              <a:t> be sets. The difference of </a:t>
            </a:r>
            <a:r>
              <a:rPr lang="en-US" altLang="en-US" sz="2800" b="1" dirty="0">
                <a:solidFill>
                  <a:srgbClr val="090D1B"/>
                </a:solidFill>
                <a:ea typeface="ＭＳ Ｐゴシック" charset="-128"/>
              </a:rPr>
              <a:t>A</a:t>
            </a:r>
            <a:r>
              <a:rPr lang="en-US" altLang="en-US" sz="2800" dirty="0">
                <a:solidFill>
                  <a:srgbClr val="090D1B"/>
                </a:solidFill>
                <a:ea typeface="ＭＳ Ｐゴシック" charset="-128"/>
              </a:rPr>
              <a:t> minus </a:t>
            </a:r>
            <a:r>
              <a:rPr lang="en-US" altLang="en-US" sz="2800" b="1" dirty="0">
                <a:solidFill>
                  <a:srgbClr val="090D1B"/>
                </a:solidFill>
                <a:ea typeface="ＭＳ Ｐゴシック" charset="-128"/>
              </a:rPr>
              <a:t>B</a:t>
            </a:r>
            <a:r>
              <a:rPr lang="en-US" altLang="en-US" sz="2800" dirty="0">
                <a:solidFill>
                  <a:srgbClr val="090D1B"/>
                </a:solidFill>
                <a:ea typeface="ＭＳ Ｐゴシック" charset="-128"/>
              </a:rPr>
              <a:t>, denoted  </a:t>
            </a:r>
            <a:r>
              <a:rPr lang="en-US" altLang="en-US" sz="2800" b="1" dirty="0">
                <a:ea typeface="ＭＳ Ｐゴシック" charset="-128"/>
              </a:rPr>
              <a:t>A </a:t>
            </a:r>
            <a:r>
              <a:rPr lang="en-US" altLang="en-US" sz="28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</a:t>
            </a:r>
            <a:r>
              <a:rPr lang="en-US" altLang="en-US" sz="28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2800" b="1" dirty="0">
                <a:ea typeface="ＭＳ Ｐゴシック" charset="-128"/>
              </a:rPr>
              <a:t>B</a:t>
            </a:r>
            <a:r>
              <a:rPr lang="en-US" altLang="en-US" sz="2800" dirty="0">
                <a:ea typeface="ＭＳ Ｐゴシック" charset="-128"/>
              </a:rPr>
              <a:t>, is the set </a:t>
            </a:r>
            <a:r>
              <a:rPr lang="en-US" altLang="en-US" sz="2800" dirty="0">
                <a:solidFill>
                  <a:srgbClr val="090D1B"/>
                </a:solidFill>
                <a:ea typeface="ＭＳ Ｐゴシック" charset="-128"/>
              </a:rPr>
              <a:t>of all elements in </a:t>
            </a:r>
            <a:r>
              <a:rPr lang="en-US" altLang="en-US" sz="2800" b="1" dirty="0">
                <a:ea typeface="ＭＳ Ｐゴシック" charset="-128"/>
              </a:rPr>
              <a:t>A</a:t>
            </a:r>
            <a:r>
              <a:rPr lang="en-US" altLang="en-US" sz="2800" dirty="0">
                <a:solidFill>
                  <a:srgbClr val="090D1B"/>
                </a:solidFill>
                <a:ea typeface="ＭＳ Ｐゴシック" charset="-128"/>
              </a:rPr>
              <a:t> that are not in </a:t>
            </a:r>
            <a:r>
              <a:rPr lang="en-US" altLang="en-US" sz="2800" b="1" dirty="0">
                <a:ea typeface="ＭＳ Ｐゴシック" charset="-128"/>
              </a:rPr>
              <a:t>B</a:t>
            </a:r>
            <a:r>
              <a:rPr lang="en-US" altLang="en-US" sz="2800" dirty="0">
                <a:ea typeface="ＭＳ Ｐゴシック" charset="-128"/>
              </a:rPr>
              <a:t>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0C9922-26C7-8BC3-FE16-43E1BEABAC43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DA9AE-2B72-19AD-4A49-4552DB7C50AE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50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28650" y="2020358"/>
            <a:ext cx="7886700" cy="722842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= {1, 2, 3, 4, 5, 6, 7, 8}; </a:t>
            </a: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dirty="0">
                <a:ea typeface="ＭＳ Ｐゴシック" charset="-128"/>
              </a:rPr>
              <a:t>= {2, 4, 6, 8, 9}</a:t>
            </a:r>
          </a:p>
          <a:p>
            <a:pPr marL="457200" indent="-457200" eaLnBrk="1" hangingPunct="1">
              <a:buFontTx/>
              <a:buNone/>
            </a:pPr>
            <a:endParaRPr lang="en-US" altLang="en-US" sz="3600" dirty="0">
              <a:solidFill>
                <a:srgbClr val="AE3221"/>
              </a:solidFill>
              <a:ea typeface="ＭＳ Ｐゴシック" charset="-128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en-US" sz="3600" dirty="0">
                <a:ea typeface="ＭＳ Ｐゴシック" charset="-128"/>
              </a:rPr>
              <a:t>	        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i="1" dirty="0">
                <a:ea typeface="ＭＳ Ｐゴシック" charset="-128"/>
                <a:sym typeface="Symbol" charset="2"/>
              </a:rPr>
              <a:t> </a:t>
            </a: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dirty="0">
                <a:ea typeface="ＭＳ Ｐゴシック" charset="-128"/>
              </a:rPr>
              <a:t> =</a:t>
            </a:r>
          </a:p>
          <a:p>
            <a:pPr marL="457200" indent="-457200" eaLnBrk="1" hangingPunct="1">
              <a:buFontTx/>
              <a:buNone/>
            </a:pPr>
            <a:endParaRPr lang="en-US" altLang="en-US" sz="3600" dirty="0">
              <a:ea typeface="ＭＳ Ｐゴシック" charset="-128"/>
            </a:endParaRPr>
          </a:p>
          <a:p>
            <a:pPr marL="457200" indent="-457200">
              <a:buNone/>
            </a:pPr>
            <a:r>
              <a:rPr lang="en-US" altLang="en-US" sz="3600" b="1" dirty="0">
                <a:ea typeface="ＭＳ Ｐゴシック" charset="-128"/>
              </a:rPr>
              <a:t>            B</a:t>
            </a:r>
            <a:r>
              <a:rPr lang="en-US" altLang="en-US" sz="3600" i="1" dirty="0">
                <a:ea typeface="ＭＳ Ｐゴシック" charset="-128"/>
                <a:sym typeface="Symbol" charset="2"/>
              </a:rPr>
              <a:t> 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 =</a:t>
            </a:r>
          </a:p>
          <a:p>
            <a:pPr marL="457200" indent="-457200" eaLnBrk="1" hangingPunct="1">
              <a:buFontTx/>
              <a:buNone/>
            </a:pPr>
            <a:endParaRPr lang="en-MY" altLang="en-US" sz="3600" dirty="0">
              <a:ea typeface="ＭＳ Ｐゴシック" charset="-128"/>
            </a:endParaRPr>
          </a:p>
          <a:p>
            <a:pPr marL="457200" indent="-457200" eaLnBrk="1" hangingPunct="1">
              <a:buFontTx/>
              <a:buNone/>
            </a:pPr>
            <a:r>
              <a:rPr lang="en-MY" altLang="en-US" sz="3600" dirty="0">
                <a:ea typeface="ＭＳ Ｐゴシック" charset="-128"/>
              </a:rPr>
              <a:t>		</a:t>
            </a:r>
            <a:endParaRPr lang="en-US" altLang="en-US" sz="3600" b="1" dirty="0">
              <a:ea typeface="ＭＳ Ｐゴシック" charset="-128"/>
            </a:endParaRP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title"/>
          </p:nvPr>
        </p:nvSpPr>
        <p:spPr>
          <a:xfrm>
            <a:off x="233362" y="903817"/>
            <a:ext cx="4338638" cy="742421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</a:t>
            </a:r>
            <a:r>
              <a:rPr lang="en-US" altLang="en-US" b="1" dirty="0">
                <a:ea typeface="ＭＳ Ｐゴシック" charset="-128"/>
              </a:rPr>
              <a:t>:</a:t>
            </a:r>
          </a:p>
        </p:txBody>
      </p:sp>
      <p:sp>
        <p:nvSpPr>
          <p:cNvPr id="28675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BA2FC2F6-EBE9-4743-BB2A-15A39C2A7E90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54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216076" y="3237594"/>
            <a:ext cx="19575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 {1, 3, 5, 7}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23100" y="6356350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305869" y="4482769"/>
            <a:ext cx="7457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3200" dirty="0">
                <a:solidFill>
                  <a:srgbClr val="0070C0"/>
                </a:solidFill>
              </a:rPr>
              <a:t> {9}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B110D-1C0A-5F94-0FBA-25F04696DD02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E8178-8172-D0EC-5D9E-28826D6F41E1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06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296863" y="727075"/>
            <a:ext cx="6491287" cy="561975"/>
          </a:xfrm>
        </p:spPr>
        <p:txBody>
          <a:bodyPr/>
          <a:lstStyle/>
          <a:p>
            <a:r>
              <a:rPr lang="en-AU" altLang="en-US" b="1" dirty="0">
                <a:solidFill>
                  <a:srgbClr val="C00000"/>
                </a:solidFill>
                <a:ea typeface="MS PGothic" charset="-128"/>
              </a:rPr>
              <a:t>Symmetric Difference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0" name="TextBox 2"/>
              <p:cNvSpPr txBox="1">
                <a:spLocks noChangeArrowheads="1"/>
              </p:cNvSpPr>
              <p:nvPr/>
            </p:nvSpPr>
            <p:spPr bwMode="auto">
              <a:xfrm>
                <a:off x="179388" y="1412875"/>
                <a:ext cx="8064500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2800" dirty="0"/>
                  <a:t>The symmetric difference of set </a:t>
                </a:r>
                <a14:m>
                  <m:oMath xmlns:m="http://schemas.openxmlformats.org/officeDocument/2006/math">
                    <m:r>
                      <a:rPr lang="en-MY" altLang="en-US" sz="2800" b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charset="2"/>
                      </a:rPr>
                      <m:t>𝐀</m:t>
                    </m:r>
                  </m:oMath>
                </a14:m>
                <a:r>
                  <a:rPr lang="en-US" altLang="en-US" sz="2800" dirty="0"/>
                  <a:t> and set </a:t>
                </a:r>
                <a14:m>
                  <m:oMath xmlns:m="http://schemas.openxmlformats.org/officeDocument/2006/math">
                    <m:r>
                      <a:rPr lang="en-MY" altLang="en-US" sz="2800" b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charset="2"/>
                      </a:rPr>
                      <m:t>𝐁</m:t>
                    </m:r>
                  </m:oMath>
                </a14:m>
                <a:r>
                  <a:rPr lang="en-US" altLang="en-US" sz="2800" dirty="0"/>
                  <a:t>, denoted by </a:t>
                </a:r>
                <a14:m>
                  <m:oMath xmlns:m="http://schemas.openxmlformats.org/officeDocument/2006/math">
                    <m:r>
                      <a:rPr lang="en-MY" altLang="en-US" sz="2800" b="1">
                        <a:latin typeface="Cambria Math" panose="02040503050406030204" pitchFamily="18" charset="0"/>
                        <a:sym typeface="Symbol" charset="2"/>
                      </a:rPr>
                      <m:t>𝐀</m:t>
                    </m:r>
                  </m:oMath>
                </a14:m>
                <a:r>
                  <a:rPr lang="en-US" altLang="en-US" sz="2800" dirty="0">
                    <a:sym typeface="Symbol" charset="2"/>
                  </a:rPr>
                  <a:t>  </a:t>
                </a:r>
                <a14:m>
                  <m:oMath xmlns:m="http://schemas.openxmlformats.org/officeDocument/2006/math">
                    <m:r>
                      <a:rPr lang="en-MY" altLang="en-US" sz="2800" b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charset="2"/>
                      </a:rPr>
                      <m:t>𝐁</m:t>
                    </m:r>
                  </m:oMath>
                </a14:m>
                <a:r>
                  <a:rPr lang="en-US" altLang="en-US" sz="2800" dirty="0">
                    <a:sym typeface="Symbol" charset="2"/>
                  </a:rPr>
                  <a:t>  is the set </a:t>
                </a:r>
                <a14:m>
                  <m:oMath xmlns:m="http://schemas.openxmlformats.org/officeDocument/2006/math">
                    <m:r>
                      <a:rPr lang="en-MY" altLang="en-US" sz="2800" b="0" i="0" smtClean="0">
                        <a:latin typeface="Cambria Math" panose="02040503050406030204" pitchFamily="18" charset="0"/>
                        <a:sym typeface="Symbol" charset="2"/>
                      </a:rPr>
                      <m:t>(</m:t>
                    </m:r>
                    <m:r>
                      <a:rPr lang="en-MY" altLang="en-US" sz="2800" b="1" i="0" smtClean="0">
                        <a:latin typeface="Cambria Math" panose="02040503050406030204" pitchFamily="18" charset="0"/>
                        <a:sym typeface="Symbol" charset="2"/>
                      </a:rPr>
                      <m:t>𝐀</m:t>
                    </m:r>
                    <m:r>
                      <a:rPr lang="en-MY" alt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 charset="2"/>
                      </a:rPr>
                      <m:t>−</m:t>
                    </m:r>
                    <m:r>
                      <a:rPr lang="en-MY" altLang="en-US" sz="2800" b="1" i="0" smtClean="0">
                        <a:latin typeface="Cambria Math" panose="02040503050406030204" pitchFamily="18" charset="0"/>
                        <a:sym typeface="Symbol" charset="2"/>
                      </a:rPr>
                      <m:t>𝐁</m:t>
                    </m:r>
                    <m:r>
                      <a:rPr lang="en-MY" altLang="en-US" sz="2800" b="0" i="1" smtClean="0">
                        <a:latin typeface="Cambria Math" panose="02040503050406030204" pitchFamily="18" charset="0"/>
                        <a:sym typeface="Symbol" charset="2"/>
                      </a:rPr>
                      <m:t>)</m:t>
                    </m:r>
                    <m:r>
                      <a:rPr lang="en-MY" alt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charset="2"/>
                      </a:rPr>
                      <m:t>∪</m:t>
                    </m:r>
                    <m:r>
                      <a:rPr lang="en-MY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charset="2"/>
                      </a:rPr>
                      <m:t>(</m:t>
                    </m:r>
                    <m:r>
                      <a:rPr lang="en-MY" alt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charset="2"/>
                      </a:rPr>
                      <m:t>𝐁</m:t>
                    </m:r>
                    <m:r>
                      <a:rPr lang="en-MY" alt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charset="2"/>
                      </a:rPr>
                      <m:t>−</m:t>
                    </m:r>
                    <m:r>
                      <a:rPr lang="en-MY" altLang="en-US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charset="2"/>
                      </a:rPr>
                      <m:t>𝐀</m:t>
                    </m:r>
                    <m:r>
                      <a:rPr lang="en-MY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charset="2"/>
                      </a:rPr>
                      <m:t>)</m:t>
                    </m:r>
                  </m:oMath>
                </a14:m>
                <a:endParaRPr lang="en-US" altLang="en-US" sz="2800" dirty="0">
                  <a:solidFill>
                    <a:srgbClr val="0000FF"/>
                  </a:solidFill>
                </a:endParaRPr>
              </a:p>
              <a:p>
                <a:pPr eaLnBrk="1" hangingPunct="1"/>
                <a:r>
                  <a:rPr lang="en-US" altLang="en-US" sz="2800" dirty="0"/>
                  <a:t> </a:t>
                </a:r>
              </a:p>
            </p:txBody>
          </p:sp>
        </mc:Choice>
        <mc:Fallback xmlns="">
          <p:sp>
            <p:nvSpPr>
              <p:cNvPr id="32770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388" y="1412875"/>
                <a:ext cx="8064500" cy="1384995"/>
              </a:xfrm>
              <a:prstGeom prst="rect">
                <a:avLst/>
              </a:prstGeom>
              <a:blipFill>
                <a:blip r:embed="rId2"/>
                <a:stretch>
                  <a:fillRect l="-1512" t="-4405" r="-68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771" name="Picture 5" descr="Screen Shot 2017-09-20 at 4.03.3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852738"/>
            <a:ext cx="4016375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1675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FFAC3E-E660-B6CA-F415-BA7CD49CBABB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A133A-ADB7-C70E-F7C0-49BD3804D397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2606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>
          <a:xfrm>
            <a:off x="180444" y="667973"/>
            <a:ext cx="6491287" cy="561975"/>
          </a:xfrm>
        </p:spPr>
        <p:txBody>
          <a:bodyPr/>
          <a:lstStyle/>
          <a:p>
            <a:r>
              <a:rPr lang="en-AU" altLang="en-US" sz="4000" b="1" dirty="0">
                <a:solidFill>
                  <a:srgbClr val="00B050"/>
                </a:solidFill>
                <a:latin typeface="Century Gothic" panose="020B0502020202020204" pitchFamily="34" charset="0"/>
                <a:ea typeface="MS PGothic" charset="-128"/>
              </a:rPr>
              <a:t>Example: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999817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61577" y="2020080"/>
                <a:ext cx="567822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3200" b="1" i="0" smtClean="0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={0, 1, 2, 3, 4, 5, 6, 7, 8, 9, 10}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77" y="2020080"/>
                <a:ext cx="567822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28650" y="2805371"/>
                <a:ext cx="620977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3200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MY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3200" b="0" i="1" smtClean="0">
                              <a:latin typeface="Cambria Math" panose="02040503050406030204" pitchFamily="18" charset="0"/>
                            </a:rPr>
                            <m:t>1, 2, 3, 4, 5</m:t>
                          </m:r>
                        </m:e>
                      </m:d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;  </m:t>
                      </m:r>
                      <m:r>
                        <a:rPr lang="en-MY" sz="3200" b="1" i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MY" sz="3200" b="0" i="1" smtClean="0">
                          <a:latin typeface="Cambria Math" panose="02040503050406030204" pitchFamily="18" charset="0"/>
                        </a:rPr>
                        <m:t>={4, 5, 6, 7, 8}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805371"/>
                <a:ext cx="6209777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8650" y="3867891"/>
                <a:ext cx="524630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3200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MY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r>
                        <a:rPr lang="en-MY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𝐁</m:t>
                      </m:r>
                      <m:r>
                        <a:rPr lang="en-MY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MY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3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  <m:r>
                            <a:rPr lang="en-MY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MY" sz="3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en-MY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en-MY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3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𝐁</m:t>
                          </m:r>
                          <m:r>
                            <a:rPr lang="en-MY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MY" sz="3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en-MY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867891"/>
                <a:ext cx="524630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74958" y="3850777"/>
                <a:ext cx="254300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{1, 2, 3, 6, 7, 8}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958" y="3850777"/>
                <a:ext cx="2543004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584475" y="4315805"/>
            <a:ext cx="2050241" cy="1347232"/>
            <a:chOff x="1584475" y="3926338"/>
            <a:chExt cx="2050241" cy="1347232"/>
          </a:xfrm>
        </p:grpSpPr>
        <p:sp>
          <p:nvSpPr>
            <p:cNvPr id="7" name="Up Arrow 6"/>
            <p:cNvSpPr/>
            <p:nvPr/>
          </p:nvSpPr>
          <p:spPr>
            <a:xfrm>
              <a:off x="2609596" y="3926338"/>
              <a:ext cx="269071" cy="977900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1584475" y="4904238"/>
                  <a:ext cx="205024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1" i="0" smtClean="0">
                                <a:latin typeface="Cambria Math" panose="02040503050406030204" pitchFamily="18" charset="0"/>
                              </a:rPr>
                              <m:t>𝐀</m:t>
                            </m:r>
                            <m:r>
                              <a:rPr lang="en-MY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MY" b="1" i="0" smtClean="0"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</m:d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={1, 2, 3}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475" y="4904238"/>
                  <a:ext cx="2050241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/>
          <p:cNvGrpSpPr/>
          <p:nvPr/>
        </p:nvGrpSpPr>
        <p:grpSpPr>
          <a:xfrm>
            <a:off x="3903266" y="4377448"/>
            <a:ext cx="1865575" cy="988384"/>
            <a:chOff x="3903266" y="3987981"/>
            <a:chExt cx="1865575" cy="988384"/>
          </a:xfrm>
        </p:grpSpPr>
        <p:sp>
          <p:nvSpPr>
            <p:cNvPr id="9" name="Down Arrow 8"/>
            <p:cNvSpPr/>
            <p:nvPr/>
          </p:nvSpPr>
          <p:spPr>
            <a:xfrm>
              <a:off x="4572000" y="3987981"/>
              <a:ext cx="264054" cy="690562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b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3903266" y="4699366"/>
                  <a:ext cx="18655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MY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1" i="0" smtClean="0">
                                <a:latin typeface="Cambria Math" panose="02040503050406030204" pitchFamily="18" charset="0"/>
                              </a:rPr>
                              <m:t>𝐁</m:t>
                            </m:r>
                            <m:r>
                              <a:rPr lang="en-MY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MY" b="1" i="0" smtClean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</m:d>
                        <m:r>
                          <a:rPr lang="en-MY" b="0" i="1" smtClean="0">
                            <a:latin typeface="Cambria Math" panose="02040503050406030204" pitchFamily="18" charset="0"/>
                          </a:rPr>
                          <m:t>={6, 7, 8}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266" y="4699366"/>
                  <a:ext cx="1865575" cy="276999"/>
                </a:xfrm>
                <a:prstGeom prst="rect">
                  <a:avLst/>
                </a:prstGeom>
                <a:blipFill>
                  <a:blip r:embed="rId7"/>
                  <a:stretch>
                    <a:fillRect t="-4444" r="-4575" b="-3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/>
          <p:cNvSpPr txBox="1"/>
          <p:nvPr/>
        </p:nvSpPr>
        <p:spPr>
          <a:xfrm>
            <a:off x="524482" y="1291581"/>
            <a:ext cx="4151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200" dirty="0"/>
              <a:t>Let, </a:t>
            </a:r>
            <a:r>
              <a:rPr lang="en-MY" sz="3200" b="1" dirty="0"/>
              <a:t>U</a:t>
            </a:r>
            <a:r>
              <a:rPr lang="en-MY" sz="3200" dirty="0"/>
              <a:t>, </a:t>
            </a:r>
            <a:r>
              <a:rPr lang="en-MY" sz="3200" b="1" dirty="0"/>
              <a:t>A</a:t>
            </a:r>
            <a:r>
              <a:rPr lang="en-MY" sz="3200" dirty="0"/>
              <a:t> and </a:t>
            </a:r>
            <a:r>
              <a:rPr lang="en-MY" sz="3200" b="1" dirty="0"/>
              <a:t>B</a:t>
            </a:r>
            <a:r>
              <a:rPr lang="en-MY" sz="3200" dirty="0"/>
              <a:t> be sets.</a:t>
            </a:r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61F95-DEBA-65DB-AFDE-817C5350BB7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FC915E-486E-3485-CC96-B9DB2F33003C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32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39183" y="1539388"/>
            <a:ext cx="8280399" cy="2150533"/>
          </a:xfrm>
        </p:spPr>
        <p:txBody>
          <a:bodyPr/>
          <a:lstStyle/>
          <a:p>
            <a:pPr marL="457200" indent="-457200" algn="just" eaLnBrk="1" hangingPunct="1"/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The complement of a set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 with respect to a universal set </a:t>
            </a:r>
            <a:r>
              <a:rPr lang="en-US" altLang="en-US" b="1" dirty="0">
                <a:ea typeface="ＭＳ Ｐゴシック" charset="-128"/>
              </a:rPr>
              <a:t>U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, denoted by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dirty="0">
                <a:ea typeface="ＭＳ Ｐゴシック" charset="-128"/>
              </a:rPr>
              <a:t>  </a:t>
            </a: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is defined to be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solidFill>
                  <a:srgbClr val="090D1B"/>
                </a:solidFill>
                <a:ea typeface="ＭＳ Ｐゴシック" charset="-128"/>
              </a:rPr>
              <a:t>		</a:t>
            </a:r>
            <a:r>
              <a:rPr lang="en-US" altLang="en-US" sz="3200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200" b="1" dirty="0">
                <a:ea typeface="ＭＳ Ｐゴシック" charset="-128"/>
              </a:rPr>
              <a:t> </a:t>
            </a:r>
            <a:r>
              <a:rPr lang="en-US" altLang="en-US" sz="3200" dirty="0">
                <a:ea typeface="ＭＳ Ｐゴシック" charset="-128"/>
              </a:rPr>
              <a:t>= {</a:t>
            </a:r>
            <a:r>
              <a:rPr lang="en-US" altLang="en-US" sz="32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200" dirty="0">
                <a:ea typeface="ＭＳ Ｐゴシック" charset="-128"/>
              </a:rPr>
              <a:t> 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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U</a:t>
            </a:r>
            <a:r>
              <a:rPr lang="en-US" altLang="en-US" sz="3200" dirty="0">
                <a:ea typeface="ＭＳ Ｐゴシック" charset="-128"/>
              </a:rPr>
              <a:t>| </a:t>
            </a:r>
            <a:r>
              <a:rPr lang="en-US" altLang="en-US" sz="3200" i="1" dirty="0">
                <a:latin typeface="Times New Roman" charset="0"/>
                <a:ea typeface="ＭＳ Ｐゴシック" charset="-128"/>
              </a:rPr>
              <a:t>x</a:t>
            </a:r>
            <a:r>
              <a:rPr lang="en-US" altLang="en-US" sz="3200" dirty="0">
                <a:ea typeface="ＭＳ Ｐゴシック" charset="-128"/>
              </a:rPr>
              <a:t> </a:t>
            </a:r>
            <a:r>
              <a:rPr lang="en-US" altLang="en-US" sz="3200" dirty="0">
                <a:ea typeface="ＭＳ Ｐゴシック" charset="-128"/>
                <a:sym typeface="Symbol" charset="2"/>
              </a:rPr>
              <a:t></a:t>
            </a:r>
            <a:r>
              <a:rPr lang="en-US" altLang="en-US" sz="3200" dirty="0">
                <a:ea typeface="ＭＳ Ｐゴシック" charset="-128"/>
              </a:rPr>
              <a:t> 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dirty="0">
                <a:ea typeface="ＭＳ Ｐゴシック" charset="-128"/>
              </a:rPr>
              <a:t>}; </a:t>
            </a:r>
            <a:r>
              <a:rPr lang="en-US" altLang="en-US" sz="3200" i="1" dirty="0">
                <a:ea typeface="ＭＳ Ｐゴシック" charset="-128"/>
              </a:rPr>
              <a:t> 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200" dirty="0">
                <a:ea typeface="ＭＳ Ｐゴシック" charset="-128"/>
              </a:rPr>
              <a:t> = </a:t>
            </a:r>
            <a:r>
              <a:rPr lang="en-US" altLang="en-US" sz="3200" b="1" dirty="0">
                <a:ea typeface="ＭＳ Ｐゴシック" charset="-128"/>
              </a:rPr>
              <a:t>U</a:t>
            </a:r>
            <a:r>
              <a:rPr lang="en-US" altLang="en-US" sz="3200" i="1" dirty="0">
                <a:ea typeface="ＭＳ Ｐゴシック" charset="-128"/>
                <a:sym typeface="Symbol" charset="2"/>
              </a:rPr>
              <a:t> </a:t>
            </a:r>
            <a:r>
              <a:rPr lang="en-US" altLang="en-US" sz="3200" b="1" dirty="0">
                <a:ea typeface="ＭＳ Ｐゴシック" charset="-128"/>
              </a:rPr>
              <a:t>A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>
          <a:xfrm>
            <a:off x="239184" y="695601"/>
            <a:ext cx="3757083" cy="767821"/>
          </a:xfrm>
          <a:noFill/>
        </p:spPr>
        <p:txBody>
          <a:bodyPr anchor="b"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Complement</a:t>
            </a:r>
          </a:p>
        </p:txBody>
      </p:sp>
      <p:sp>
        <p:nvSpPr>
          <p:cNvPr id="29699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9BA92479-B4D7-AC41-AC75-03CBAC9B0DAF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57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98463" y="3329827"/>
            <a:ext cx="7790589" cy="2716529"/>
            <a:chOff x="398463" y="3329827"/>
            <a:chExt cx="7790589" cy="2716529"/>
          </a:xfrm>
        </p:grpSpPr>
        <p:sp>
          <p:nvSpPr>
            <p:cNvPr id="9" name="Rectangle 2"/>
            <p:cNvSpPr txBox="1">
              <a:spLocks noChangeArrowheads="1"/>
            </p:cNvSpPr>
            <p:nvPr/>
          </p:nvSpPr>
          <p:spPr bwMode="auto">
            <a:xfrm>
              <a:off x="398463" y="3329827"/>
              <a:ext cx="7772400" cy="460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28600" indent="-228600" algn="l" rtl="0" fontAlgn="base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400" eaLnBrk="1" hangingPunct="1"/>
              <a:r>
                <a:rPr lang="en-US" altLang="en-US" dirty="0">
                  <a:ea typeface="ＭＳ Ｐゴシック" charset="-128"/>
                </a:rPr>
                <a:t>Venn diagram:</a:t>
              </a:r>
              <a:endParaRPr lang="en-US" altLang="en-US" b="1" dirty="0">
                <a:solidFill>
                  <a:srgbClr val="0000FF"/>
                </a:solidFill>
                <a:ea typeface="ＭＳ Ｐゴシック" charset="-128"/>
              </a:endParaRPr>
            </a:p>
          </p:txBody>
        </p:sp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9716" y="3961778"/>
              <a:ext cx="3017839" cy="2084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3595" y="3897156"/>
              <a:ext cx="3125457" cy="214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5C7A85-0633-4248-3C01-3B653DAF63E6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68132-89A3-BC19-732D-AA461BCC1092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1313" y="1646238"/>
            <a:ext cx="7886700" cy="4351338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en-US" sz="3200" dirty="0">
                <a:ea typeface="ＭＳ Ｐゴシック" charset="-128"/>
              </a:rPr>
              <a:t>Let </a:t>
            </a:r>
            <a:r>
              <a:rPr lang="en-US" altLang="en-US" sz="3200" b="1" dirty="0">
                <a:ea typeface="ＭＳ Ｐゴシック" charset="-128"/>
              </a:rPr>
              <a:t>U</a:t>
            </a:r>
            <a:r>
              <a:rPr lang="en-US" altLang="en-US" sz="3200" dirty="0">
                <a:ea typeface="ＭＳ Ｐゴシック" charset="-128"/>
              </a:rPr>
              <a:t> be a universal set, and 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dirty="0">
                <a:ea typeface="ＭＳ Ｐゴシック" charset="-128"/>
              </a:rPr>
              <a:t> is a subset of </a:t>
            </a:r>
            <a:r>
              <a:rPr lang="en-US" altLang="en-US" sz="3200" b="1" dirty="0">
                <a:ea typeface="ＭＳ Ｐゴシック" charset="-128"/>
              </a:rPr>
              <a:t>U</a:t>
            </a:r>
            <a:r>
              <a:rPr lang="en-US" altLang="en-US" sz="3200" dirty="0">
                <a:ea typeface="ＭＳ Ｐゴシック" charset="-128"/>
              </a:rPr>
              <a:t>.</a:t>
            </a:r>
            <a:endParaRPr lang="en-US" altLang="en-US" sz="3200" i="1" dirty="0">
              <a:ea typeface="ＭＳ Ｐゴシック" charset="-128"/>
            </a:endParaRPr>
          </a:p>
          <a:p>
            <a:pPr marL="457200" indent="-457200" eaLnBrk="1" hangingPunct="1">
              <a:buFontTx/>
              <a:buNone/>
            </a:pPr>
            <a:endParaRPr lang="en-US" altLang="en-US" sz="3200" dirty="0">
              <a:ea typeface="ＭＳ Ｐゴシック" charset="-128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en-US" sz="3200" dirty="0">
                <a:ea typeface="ＭＳ Ｐゴシック" charset="-128"/>
              </a:rPr>
              <a:t>	</a:t>
            </a:r>
            <a:r>
              <a:rPr lang="en-US" altLang="en-US" sz="3200" b="1" dirty="0">
                <a:ea typeface="ＭＳ Ｐゴシック" charset="-128"/>
              </a:rPr>
              <a:t>U </a:t>
            </a:r>
            <a:r>
              <a:rPr lang="en-US" altLang="en-US" sz="3200" dirty="0">
                <a:ea typeface="ＭＳ Ｐゴシック" charset="-128"/>
              </a:rPr>
              <a:t>= { 1, 2, 3, 4, 5, 6, 7 }; </a:t>
            </a:r>
            <a:r>
              <a:rPr lang="en-US" altLang="en-US" sz="3200" b="1" dirty="0">
                <a:ea typeface="ＭＳ Ｐゴシック" charset="-128"/>
              </a:rPr>
              <a:t>A </a:t>
            </a:r>
            <a:r>
              <a:rPr lang="en-US" altLang="en-US" sz="3200" dirty="0">
                <a:ea typeface="ＭＳ Ｐゴシック" charset="-128"/>
              </a:rPr>
              <a:t>= { 2, 4, 6 }</a:t>
            </a:r>
          </a:p>
          <a:p>
            <a:pPr marL="457200" indent="-457200" eaLnBrk="1" hangingPunct="1">
              <a:buFontTx/>
              <a:buNone/>
            </a:pPr>
            <a:endParaRPr lang="en-US" altLang="en-US" sz="3200" dirty="0">
              <a:ea typeface="ＭＳ Ｐゴシック" charset="-128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en-US" sz="3200" dirty="0">
                <a:ea typeface="ＭＳ Ｐゴシック" charset="-128"/>
              </a:rPr>
              <a:t>	</a:t>
            </a:r>
            <a:r>
              <a:rPr lang="en-US" altLang="en-US" sz="3200" b="1" dirty="0">
                <a:ea typeface="ＭＳ Ｐゴシック" charset="-128"/>
              </a:rPr>
              <a:t>A</a:t>
            </a:r>
            <a:r>
              <a:rPr lang="en-US" altLang="en-US" sz="32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200" b="1" dirty="0">
                <a:ea typeface="ＭＳ Ｐゴシック" charset="-128"/>
              </a:rPr>
              <a:t> </a:t>
            </a:r>
            <a:r>
              <a:rPr lang="en-US" altLang="en-US" sz="3200" dirty="0">
                <a:ea typeface="ＭＳ Ｐゴシック" charset="-128"/>
              </a:rPr>
              <a:t>=</a:t>
            </a:r>
            <a:r>
              <a:rPr lang="en-US" altLang="en-US" sz="3200" b="1" dirty="0">
                <a:ea typeface="ＭＳ Ｐゴシック" charset="-128"/>
              </a:rPr>
              <a:t> U – A </a:t>
            </a:r>
            <a:r>
              <a:rPr lang="en-US" altLang="en-US" sz="3200" dirty="0">
                <a:ea typeface="ＭＳ Ｐゴシック" charset="-128"/>
              </a:rPr>
              <a:t>=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title"/>
          </p:nvPr>
        </p:nvSpPr>
        <p:spPr>
          <a:xfrm>
            <a:off x="256117" y="776817"/>
            <a:ext cx="2978150" cy="869421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Example:</a:t>
            </a:r>
          </a:p>
        </p:txBody>
      </p:sp>
      <p:sp>
        <p:nvSpPr>
          <p:cNvPr id="31747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270D6EA3-6413-D64E-9ADB-A76C5A5D8FB6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58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840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916727" y="3821907"/>
            <a:ext cx="21162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>
              <a:buFontTx/>
              <a:buNone/>
            </a:pPr>
            <a:r>
              <a:rPr lang="en-US" altLang="en-US" sz="3200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 1, 3, 5, 7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0BB65-8254-5A2E-FE43-46821AAE3637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84982-FDE0-127E-B768-A5C3B16FF776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1331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5966" y="1967678"/>
            <a:ext cx="8492067" cy="4085696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dirty="0"/>
              <a:t>Let all sets referred to below be subsets of a universal set, </a:t>
            </a:r>
            <a:r>
              <a:rPr lang="en-US" b="1" dirty="0"/>
              <a:t>U</a:t>
            </a:r>
            <a:r>
              <a:rPr lang="en-US" dirty="0"/>
              <a:t>. </a:t>
            </a:r>
          </a:p>
          <a:p>
            <a:pPr marL="0" indent="0" eaLnBrk="1" hangingPunct="1">
              <a:buNone/>
              <a:defRPr/>
            </a:pPr>
            <a:r>
              <a:rPr lang="en-US" dirty="0"/>
              <a:t>1) </a:t>
            </a:r>
            <a:r>
              <a:rPr lang="en-US" dirty="0">
                <a:solidFill>
                  <a:srgbClr val="0000FF"/>
                </a:solidFill>
              </a:rPr>
              <a:t>Commutative laws</a:t>
            </a:r>
            <a:r>
              <a:rPr lang="en-US" dirty="0"/>
              <a:t>: For all sets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,</a:t>
            </a:r>
          </a:p>
          <a:p>
            <a:pPr marL="0" indent="0" eaLnBrk="1" hangingPunct="1">
              <a:buFont typeface="Arial" charset="0"/>
              <a:buNone/>
              <a:defRPr/>
            </a:pPr>
            <a:endParaRPr lang="en-US" dirty="0"/>
          </a:p>
          <a:p>
            <a:pPr marL="457200" indent="-457200">
              <a:buNone/>
              <a:defRPr/>
            </a:pPr>
            <a:r>
              <a:rPr lang="en-US" dirty="0"/>
              <a:t>		a) </a:t>
            </a:r>
            <a:r>
              <a:rPr lang="en-US" b="1" dirty="0"/>
              <a:t>A </a:t>
            </a:r>
            <a:r>
              <a:rPr lang="en-US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b="1" dirty="0">
                <a:sym typeface="Symbol" charset="0"/>
              </a:rPr>
              <a:t> </a:t>
            </a:r>
            <a:r>
              <a:rPr lang="en-US" b="1" dirty="0"/>
              <a:t>B = B </a:t>
            </a:r>
            <a:r>
              <a:rPr lang="en-US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b="1" dirty="0"/>
              <a:t> A</a:t>
            </a:r>
          </a:p>
          <a:p>
            <a:pPr marL="457200" indent="-457200">
              <a:buNone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457200" indent="-457200">
              <a:buNone/>
              <a:defRPr/>
            </a:pPr>
            <a:r>
              <a:rPr lang="en-US" dirty="0">
                <a:solidFill>
                  <a:srgbClr val="0000FF"/>
                </a:solidFill>
              </a:rPr>
              <a:t>		</a:t>
            </a:r>
            <a:r>
              <a:rPr lang="en-US" dirty="0"/>
              <a:t>b)</a:t>
            </a:r>
            <a:r>
              <a:rPr lang="en-US" b="1" dirty="0"/>
              <a:t> A </a:t>
            </a:r>
            <a:r>
              <a:rPr lang="en-US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b="1" dirty="0">
                <a:sym typeface="Symbol" charset="0"/>
              </a:rPr>
              <a:t> </a:t>
            </a:r>
            <a:r>
              <a:rPr lang="en-US" b="1" dirty="0"/>
              <a:t>B = B </a:t>
            </a:r>
            <a:r>
              <a:rPr lang="en-US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b="1" dirty="0"/>
              <a:t> A</a:t>
            </a:r>
          </a:p>
          <a:p>
            <a:pPr marL="457200" indent="-457200" eaLnBrk="1" hangingPunct="1">
              <a:buFontTx/>
              <a:buNone/>
              <a:defRPr/>
            </a:pPr>
            <a:endParaRPr lang="en-US" b="1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165100" y="545436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MS PGothic" charset="-128"/>
              </a:rPr>
              <a:t>Set Identities </a:t>
            </a:r>
            <a:br>
              <a:rPr lang="en-US" altLang="en-US" b="1" dirty="0">
                <a:solidFill>
                  <a:srgbClr val="C00000"/>
                </a:solidFill>
                <a:ea typeface="MS PGothic" charset="-128"/>
              </a:rPr>
            </a:br>
            <a:r>
              <a:rPr lang="en-US" altLang="en-US" sz="2400" b="1" dirty="0">
                <a:ea typeface="MS PGothic" charset="-128"/>
              </a:rPr>
              <a:t>(or Properties of Set)</a:t>
            </a:r>
            <a:endParaRPr lang="en-US" altLang="en-US" sz="2400" b="1" dirty="0">
              <a:ea typeface="ＭＳ Ｐゴシック" charset="-128"/>
            </a:endParaRPr>
          </a:p>
        </p:txBody>
      </p:sp>
      <p:sp>
        <p:nvSpPr>
          <p:cNvPr id="34819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36267953-093A-7E4D-8A9E-6B5DBD0081EB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59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F925B6-3CAD-719A-D079-E3A1CD30239E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326BD-8DFA-38E3-E926-CCCDFBD2C056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923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205317" y="828753"/>
            <a:ext cx="3875617" cy="632355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MS PGothic" charset="-128"/>
              </a:rPr>
              <a:t>Set Identities </a:t>
            </a:r>
            <a:r>
              <a:rPr lang="en-US" altLang="en-US" sz="12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687077"/>
            <a:ext cx="7886700" cy="4351338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dirty="0"/>
              <a:t>2) </a:t>
            </a:r>
            <a:r>
              <a:rPr lang="en-US" dirty="0">
                <a:solidFill>
                  <a:srgbClr val="0000FF"/>
                </a:solidFill>
              </a:rPr>
              <a:t>Associative laws</a:t>
            </a:r>
            <a:r>
              <a:rPr lang="en-US" dirty="0"/>
              <a:t>: For all sets </a:t>
            </a:r>
            <a:r>
              <a:rPr lang="en-US" b="1" dirty="0"/>
              <a:t>A</a:t>
            </a:r>
            <a:r>
              <a:rPr lang="en-US" dirty="0"/>
              <a:t>, </a:t>
            </a:r>
            <a:r>
              <a:rPr lang="en-US" b="1" dirty="0"/>
              <a:t>B</a:t>
            </a:r>
            <a:r>
              <a:rPr lang="en-US" dirty="0"/>
              <a:t> and </a:t>
            </a:r>
            <a:r>
              <a:rPr lang="en-US" b="1" dirty="0"/>
              <a:t>C</a:t>
            </a:r>
            <a:r>
              <a:rPr lang="en-US" dirty="0"/>
              <a:t>,</a:t>
            </a:r>
          </a:p>
          <a:p>
            <a:pPr marL="457200" indent="-457200" eaLnBrk="1" hangingPunct="1">
              <a:buFontTx/>
              <a:buNone/>
              <a:defRPr/>
            </a:pPr>
            <a:endParaRPr lang="en-US" dirty="0"/>
          </a:p>
          <a:p>
            <a:pPr marL="457200" indent="-457200">
              <a:buNone/>
              <a:defRPr/>
            </a:pPr>
            <a:r>
              <a:rPr lang="en-US" dirty="0"/>
              <a:t>	a) </a:t>
            </a:r>
            <a:r>
              <a:rPr lang="en-US" sz="3600" b="1" dirty="0"/>
              <a:t>(A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B)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C = 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(B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C)</a:t>
            </a:r>
          </a:p>
          <a:p>
            <a:pPr marL="457200" indent="-457200">
              <a:buNone/>
              <a:defRPr/>
            </a:pPr>
            <a:r>
              <a:rPr lang="en-US" sz="3600" b="1" dirty="0"/>
              <a:t> </a:t>
            </a:r>
          </a:p>
          <a:p>
            <a:pPr marL="457200" indent="-457200">
              <a:buNone/>
              <a:defRPr/>
            </a:pPr>
            <a:r>
              <a:rPr lang="en-US" sz="3600" dirty="0"/>
              <a:t>	</a:t>
            </a:r>
            <a:r>
              <a:rPr lang="en-US" dirty="0"/>
              <a:t>b) </a:t>
            </a:r>
            <a:r>
              <a:rPr lang="en-US" sz="3600" b="1" dirty="0"/>
              <a:t>(A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B)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C = 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(B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C) </a:t>
            </a:r>
            <a:endParaRPr lang="en-US" sz="3600" dirty="0"/>
          </a:p>
          <a:p>
            <a:pPr marL="457200" indent="-457200">
              <a:buNone/>
              <a:defRPr/>
            </a:pPr>
            <a:endParaRPr lang="en-US" sz="3600" b="1" dirty="0"/>
          </a:p>
        </p:txBody>
      </p:sp>
      <p:sp>
        <p:nvSpPr>
          <p:cNvPr id="35843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038BB1B4-6E55-CC41-A4EE-99F444AF9EB9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60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72E67-F7E1-DAA1-7CE6-DFF6523EE315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B36E4-110D-0384-7B7F-8AC83C4A0A1A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5257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691706"/>
            <a:ext cx="7886700" cy="4351338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dirty="0"/>
              <a:t>3) </a:t>
            </a:r>
            <a:r>
              <a:rPr lang="en-US" dirty="0">
                <a:solidFill>
                  <a:srgbClr val="0000FF"/>
                </a:solidFill>
              </a:rPr>
              <a:t>Distributive laws</a:t>
            </a:r>
            <a:r>
              <a:rPr lang="en-US" dirty="0"/>
              <a:t>: For all sets </a:t>
            </a:r>
            <a:r>
              <a:rPr lang="en-US" b="1" dirty="0"/>
              <a:t>A</a:t>
            </a:r>
            <a:r>
              <a:rPr lang="en-US" dirty="0"/>
              <a:t>, </a:t>
            </a:r>
            <a:r>
              <a:rPr lang="en-US" b="1" dirty="0"/>
              <a:t>B</a:t>
            </a:r>
            <a:r>
              <a:rPr lang="en-US" dirty="0"/>
              <a:t> and </a:t>
            </a:r>
            <a:r>
              <a:rPr lang="en-US" b="1" dirty="0"/>
              <a:t>C</a:t>
            </a:r>
            <a:r>
              <a:rPr lang="en-US" dirty="0"/>
              <a:t>,</a:t>
            </a:r>
          </a:p>
          <a:p>
            <a:pPr marL="0" indent="0" eaLnBrk="1" hangingPunct="1">
              <a:buFont typeface="Arial" charset="0"/>
              <a:buNone/>
              <a:defRPr/>
            </a:pPr>
            <a:endParaRPr lang="en-US" dirty="0"/>
          </a:p>
          <a:p>
            <a:pPr marL="457200" indent="-457200" eaLnBrk="1" hangingPunct="1">
              <a:buFontTx/>
              <a:buNone/>
              <a:defRPr/>
            </a:pPr>
            <a:r>
              <a:rPr lang="en-US" dirty="0"/>
              <a:t>	a) </a:t>
            </a:r>
            <a:r>
              <a:rPr lang="en-US" sz="3600" b="1" dirty="0"/>
              <a:t>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(B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/>
              <a:t> C) = (A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/>
              <a:t> B)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(A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en-US" sz="3600" b="1" dirty="0"/>
              <a:t>C)</a:t>
            </a:r>
          </a:p>
          <a:p>
            <a:pPr marL="457200" indent="-457200" eaLnBrk="1" hangingPunct="1">
              <a:buFontTx/>
              <a:buNone/>
              <a:defRPr/>
            </a:pPr>
            <a:endParaRPr lang="en-US" sz="3600" dirty="0"/>
          </a:p>
          <a:p>
            <a:pPr marL="457200" indent="-457200" eaLnBrk="1" hangingPunct="1">
              <a:buFontTx/>
              <a:buNone/>
              <a:defRPr/>
            </a:pPr>
            <a:r>
              <a:rPr lang="en-US" sz="3600" dirty="0"/>
              <a:t>	</a:t>
            </a:r>
            <a:r>
              <a:rPr lang="en-US" dirty="0"/>
              <a:t>b) </a:t>
            </a:r>
            <a:r>
              <a:rPr lang="en-US" sz="3600" b="1" dirty="0"/>
              <a:t>A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(B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/>
              <a:t> C) = (A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/>
              <a:t> B)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(A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/>
              <a:t> C)</a:t>
            </a:r>
          </a:p>
        </p:txBody>
      </p:sp>
      <p:sp>
        <p:nvSpPr>
          <p:cNvPr id="36866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C95259A9-09F2-CA42-B5F8-FFEF81613CCD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61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05317" y="828753"/>
            <a:ext cx="3875617" cy="632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b="1">
                <a:solidFill>
                  <a:srgbClr val="C00000"/>
                </a:solidFill>
                <a:ea typeface="MS PGothic" charset="-128"/>
              </a:rPr>
              <a:t>Set Identities </a:t>
            </a:r>
            <a:r>
              <a:rPr lang="en-US" altLang="en-US" sz="1200" b="1">
                <a:solidFill>
                  <a:srgbClr val="C00000"/>
                </a:solidFill>
                <a:ea typeface="ＭＳ Ｐゴシック" charset="-128"/>
              </a:rPr>
              <a:t>(cont’d)</a:t>
            </a:r>
            <a:endParaRPr lang="en-US" altLang="en-US" sz="1200" b="1" dirty="0">
              <a:solidFill>
                <a:srgbClr val="C00000"/>
              </a:solidFill>
              <a:ea typeface="ＭＳ Ｐゴシック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47EA9-F8B8-FAB0-939E-9399874AB583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B62C6-B9F9-B620-E364-01384719BD11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0826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731037"/>
            <a:ext cx="7886700" cy="1587896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dirty="0"/>
              <a:t>4) </a:t>
            </a:r>
            <a:r>
              <a:rPr lang="en-US" dirty="0">
                <a:solidFill>
                  <a:srgbClr val="0000FF"/>
                </a:solidFill>
              </a:rPr>
              <a:t>Identity laws</a:t>
            </a:r>
            <a:r>
              <a:rPr lang="en-US" dirty="0"/>
              <a:t>: For all sets </a:t>
            </a:r>
            <a:r>
              <a:rPr lang="en-US" b="1" dirty="0"/>
              <a:t>A</a:t>
            </a:r>
            <a:r>
              <a:rPr lang="en-US" dirty="0"/>
              <a:t>, </a:t>
            </a:r>
            <a:endParaRPr lang="en-US" i="1" dirty="0">
              <a:cs typeface="Times New Roman" charset="0"/>
            </a:endParaRPr>
          </a:p>
          <a:p>
            <a:pPr marL="457200" indent="-457200" eaLnBrk="1" hangingPunct="1">
              <a:buFontTx/>
              <a:buNone/>
              <a:defRPr/>
            </a:pPr>
            <a:r>
              <a:rPr lang="en-US" i="1" dirty="0">
                <a:cs typeface="Times New Roman" charset="0"/>
              </a:rPr>
              <a:t>		</a:t>
            </a:r>
            <a:r>
              <a:rPr lang="en-US" dirty="0">
                <a:cs typeface="Times New Roman" charset="0"/>
              </a:rPr>
              <a:t>a) </a:t>
            </a:r>
            <a:r>
              <a:rPr lang="en-US" sz="3600" b="1" dirty="0">
                <a:cs typeface="Times New Roman" charset="0"/>
              </a:rPr>
              <a:t>A </a:t>
            </a:r>
            <a:r>
              <a:rPr lang="en-US" sz="3600" b="1" dirty="0">
                <a:solidFill>
                  <a:srgbClr val="0000FF"/>
                </a:solidFill>
                <a:cs typeface="Times New Roman" charset="0"/>
                <a:sym typeface="Symbol" charset="0"/>
              </a:rPr>
              <a:t></a:t>
            </a:r>
            <a:r>
              <a:rPr lang="en-US" sz="3600" b="1" dirty="0">
                <a:cs typeface="Times New Roman" charset="0"/>
              </a:rPr>
              <a:t> </a:t>
            </a:r>
            <a:r>
              <a:rPr lang="en-US" sz="3600" b="1" dirty="0">
                <a:cs typeface="Times New Roman" charset="0"/>
                <a:sym typeface="Symbol" charset="0"/>
              </a:rPr>
              <a:t></a:t>
            </a:r>
            <a:r>
              <a:rPr lang="en-US" sz="3600" b="1" dirty="0">
                <a:cs typeface="Times New Roman" charset="0"/>
              </a:rPr>
              <a:t> = A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sz="3600" b="1" dirty="0">
                <a:cs typeface="Times New Roman" charset="0"/>
              </a:rPr>
              <a:t>	</a:t>
            </a:r>
            <a:r>
              <a:rPr lang="en-US" sz="3600" i="1" dirty="0">
                <a:cs typeface="Times New Roman" charset="0"/>
              </a:rPr>
              <a:t>	</a:t>
            </a:r>
            <a:r>
              <a:rPr lang="en-US" dirty="0">
                <a:cs typeface="Times New Roman" charset="0"/>
              </a:rPr>
              <a:t>b)</a:t>
            </a:r>
            <a:r>
              <a:rPr lang="en-US" i="1" dirty="0">
                <a:cs typeface="Times New Roman" charset="0"/>
              </a:rPr>
              <a:t> </a:t>
            </a:r>
            <a:r>
              <a:rPr lang="en-US" sz="3600" b="1" dirty="0">
                <a:cs typeface="Times New Roman" charset="0"/>
              </a:rPr>
              <a:t>A </a:t>
            </a:r>
            <a:r>
              <a:rPr lang="en-US" sz="3600" b="1" dirty="0">
                <a:solidFill>
                  <a:srgbClr val="0000FF"/>
                </a:solidFill>
                <a:cs typeface="Times New Roman" charset="0"/>
                <a:sym typeface="Symbol" charset="0"/>
              </a:rPr>
              <a:t></a:t>
            </a:r>
            <a:r>
              <a:rPr lang="en-US" sz="3600" b="1" dirty="0">
                <a:cs typeface="Times New Roman" charset="0"/>
              </a:rPr>
              <a:t> </a:t>
            </a:r>
            <a:r>
              <a:rPr lang="en-US" sz="3600" b="1" dirty="0">
                <a:cs typeface="Times New Roman" charset="0"/>
                <a:sym typeface="Symbol" charset="0"/>
              </a:rPr>
              <a:t>U</a:t>
            </a:r>
            <a:r>
              <a:rPr lang="en-US" sz="3600" b="1" dirty="0">
                <a:cs typeface="Times New Roman" charset="0"/>
              </a:rPr>
              <a:t> = </a:t>
            </a:r>
            <a:r>
              <a:rPr lang="en-US" sz="3600" b="1" dirty="0">
                <a:sym typeface="Symbol" charset="0"/>
              </a:rPr>
              <a:t>A</a:t>
            </a:r>
          </a:p>
        </p:txBody>
      </p:sp>
      <p:sp>
        <p:nvSpPr>
          <p:cNvPr id="37890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E97689AD-03AD-1A42-B309-ABB87C2BE49F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62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37300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317" y="828753"/>
            <a:ext cx="3875617" cy="632355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MS PGothic" charset="-128"/>
              </a:rPr>
              <a:t>Set Identities </a:t>
            </a:r>
            <a:r>
              <a:rPr lang="en-US" altLang="en-US" sz="12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13" y="3780652"/>
            <a:ext cx="8174037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Font typeface="Arial" charset="0"/>
              <a:buNone/>
            </a:pPr>
            <a:r>
              <a:rPr lang="en-US" altLang="en-US" sz="2800" dirty="0">
                <a:ea typeface="ＭＳ Ｐゴシック" charset="-128"/>
              </a:rPr>
              <a:t>5) </a:t>
            </a:r>
            <a:r>
              <a:rPr lang="en-US" altLang="en-US" sz="2800" dirty="0">
                <a:solidFill>
                  <a:srgbClr val="0000FF"/>
                </a:solidFill>
                <a:ea typeface="ＭＳ Ｐゴシック" charset="-128"/>
              </a:rPr>
              <a:t>Complement laws</a:t>
            </a:r>
            <a:r>
              <a:rPr lang="en-US" altLang="en-US" sz="2800" dirty="0">
                <a:ea typeface="ＭＳ Ｐゴシック" charset="-128"/>
              </a:rPr>
              <a:t>: For all sets </a:t>
            </a:r>
            <a:r>
              <a:rPr lang="en-US" altLang="en-US" sz="2800" b="1" dirty="0">
                <a:ea typeface="ＭＳ Ｐゴシック" charset="-128"/>
              </a:rPr>
              <a:t>A</a:t>
            </a:r>
            <a:r>
              <a:rPr lang="en-US" altLang="en-US" sz="2800" dirty="0">
                <a:ea typeface="ＭＳ Ｐゴシック" charset="-128"/>
              </a:rPr>
              <a:t>,</a:t>
            </a:r>
          </a:p>
          <a:p>
            <a:pPr eaLnBrk="1" hangingPunct="1"/>
            <a:r>
              <a:rPr lang="en-US" altLang="en-US" sz="2800" dirty="0">
                <a:ea typeface="ＭＳ Ｐゴシック" charset="-128"/>
              </a:rPr>
              <a:t>	   </a:t>
            </a:r>
          </a:p>
          <a:p>
            <a:pPr eaLnBrk="1" hangingPunct="1"/>
            <a:r>
              <a:rPr lang="en-US" altLang="en-US" sz="2800" dirty="0">
                <a:ea typeface="ＭＳ Ｐゴシック" charset="-128"/>
              </a:rPr>
              <a:t>	</a:t>
            </a:r>
            <a:r>
              <a:rPr lang="en-US" altLang="en-US" sz="3600" dirty="0">
                <a:ea typeface="ＭＳ Ｐゴシック" charset="-128"/>
              </a:rPr>
              <a:t>     a) 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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600" dirty="0">
                <a:ea typeface="ＭＳ Ｐゴシック" charset="-128"/>
              </a:rPr>
              <a:t> =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U</a:t>
            </a:r>
          </a:p>
          <a:p>
            <a:pPr eaLnBrk="1" hangingPunct="1"/>
            <a:r>
              <a:rPr lang="en-US" altLang="en-US" sz="3600" dirty="0">
                <a:ea typeface="ＭＳ Ｐゴシック" charset="-128"/>
              </a:rPr>
              <a:t>         b)</a:t>
            </a:r>
            <a:r>
              <a:rPr lang="en-US" altLang="en-US" sz="3600" b="1" dirty="0">
                <a:ea typeface="ＭＳ Ｐゴシック" charset="-128"/>
              </a:rPr>
              <a:t> A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 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600" dirty="0">
                <a:ea typeface="ＭＳ Ｐゴシック" charset="-128"/>
              </a:rPr>
              <a:t> = 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</a:t>
            </a:r>
          </a:p>
          <a:p>
            <a:pPr marL="0" indent="0" eaLnBrk="1" hangingPunct="1">
              <a:buFontTx/>
              <a:buNone/>
            </a:pPr>
            <a:endParaRPr lang="en-US" altLang="en-US" sz="3600" b="1" dirty="0">
              <a:ea typeface="ＭＳ Ｐゴシック" charset="-128"/>
              <a:sym typeface="Symbol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71E6DB-38AA-B7F9-6A2E-2DE0C2CBDED8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D232A-9318-B06D-A890-E4FFA51A696A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13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557787"/>
            <a:ext cx="7886700" cy="1239536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6)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 Double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Complement law</a:t>
            </a:r>
            <a:r>
              <a:rPr lang="en-US" altLang="en-US" dirty="0">
                <a:ea typeface="ＭＳ Ｐゴシック" charset="-128"/>
              </a:rPr>
              <a:t>: For all sets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,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altLang="en-US" sz="3600" dirty="0">
                <a:ea typeface="ＭＳ Ｐゴシック" charset="-128"/>
                <a:sym typeface="Symbol" charset="2"/>
              </a:rPr>
              <a:t>	        </a:t>
            </a:r>
            <a:r>
              <a:rPr lang="en-US" altLang="en-US" sz="3600" dirty="0">
                <a:ea typeface="ＭＳ Ｐゴシック" charset="-128"/>
              </a:rPr>
              <a:t>(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600" dirty="0">
                <a:ea typeface="ＭＳ Ｐゴシック" charset="-128"/>
              </a:rPr>
              <a:t>)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600" dirty="0">
                <a:ea typeface="ＭＳ Ｐゴシック" charset="-128"/>
              </a:rPr>
              <a:t> = </a:t>
            </a:r>
            <a:r>
              <a:rPr lang="en-US" altLang="en-US" sz="3600" b="1" dirty="0">
                <a:ea typeface="ＭＳ Ｐゴシック" charset="-128"/>
              </a:rPr>
              <a:t>A</a:t>
            </a:r>
            <a:endParaRPr lang="en-US" altLang="en-US" sz="3600" dirty="0">
              <a:solidFill>
                <a:srgbClr val="0000FF"/>
              </a:solidFill>
              <a:ea typeface="ＭＳ Ｐゴシック" charset="-128"/>
              <a:sym typeface="Symbol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3600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38915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F4B22EB8-8AA1-0042-9122-BD6B66761FDE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63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317" y="731874"/>
            <a:ext cx="3875617" cy="632355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MS PGothic" charset="-128"/>
              </a:rPr>
              <a:t>Set Identities </a:t>
            </a:r>
            <a:r>
              <a:rPr lang="en-US" altLang="en-US" sz="12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41313" y="2912056"/>
            <a:ext cx="7886700" cy="173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Font typeface="Arial" charset="0"/>
              <a:buNone/>
              <a:defRPr/>
            </a:pPr>
            <a:r>
              <a:rPr lang="en-US" dirty="0"/>
              <a:t>7) </a:t>
            </a:r>
            <a:r>
              <a:rPr lang="en-US" dirty="0">
                <a:solidFill>
                  <a:srgbClr val="0000FF"/>
                </a:solidFill>
              </a:rPr>
              <a:t>Idempotent laws</a:t>
            </a:r>
            <a:r>
              <a:rPr lang="en-US" dirty="0"/>
              <a:t>: For all sets </a:t>
            </a:r>
            <a:r>
              <a:rPr lang="en-US" b="1" dirty="0"/>
              <a:t>A</a:t>
            </a:r>
            <a:r>
              <a:rPr lang="en-US" dirty="0"/>
              <a:t>,</a:t>
            </a:r>
          </a:p>
          <a:p>
            <a:pPr marL="457200" indent="-457200" defTabSz="914400" eaLnBrk="1" hangingPunct="1">
              <a:buFont typeface="Arial" charset="0"/>
              <a:buNone/>
              <a:defRPr/>
            </a:pPr>
            <a:r>
              <a:rPr lang="en-US" dirty="0"/>
              <a:t>		a) </a:t>
            </a:r>
            <a:r>
              <a:rPr lang="en-US" sz="3600" b="1" dirty="0"/>
              <a:t>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A = </a:t>
            </a:r>
            <a:r>
              <a:rPr lang="en-US" sz="3600" b="1" dirty="0">
                <a:sym typeface="Symbol" charset="0"/>
              </a:rPr>
              <a:t>A</a:t>
            </a:r>
          </a:p>
          <a:p>
            <a:pPr marL="457200" indent="-457200" defTabSz="914400" eaLnBrk="1" hangingPunct="1">
              <a:buFont typeface="Arial" charset="0"/>
              <a:buNone/>
              <a:defRPr/>
            </a:pPr>
            <a:r>
              <a:rPr lang="en-US" sz="3600" dirty="0"/>
              <a:t>         </a:t>
            </a:r>
            <a:r>
              <a:rPr lang="en-US" dirty="0"/>
              <a:t>b)</a:t>
            </a:r>
            <a:r>
              <a:rPr lang="en-US" i="1" dirty="0"/>
              <a:t> </a:t>
            </a:r>
            <a:r>
              <a:rPr lang="en-US" sz="3600" b="1" dirty="0"/>
              <a:t>A </a:t>
            </a:r>
            <a:r>
              <a:rPr lang="en-US" sz="36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3600" b="1" dirty="0">
                <a:sym typeface="Symbol" charset="0"/>
              </a:rPr>
              <a:t> </a:t>
            </a:r>
            <a:r>
              <a:rPr lang="en-US" sz="3600" b="1" dirty="0"/>
              <a:t>A = </a:t>
            </a:r>
            <a:r>
              <a:rPr lang="en-US" sz="3600" b="1" dirty="0">
                <a:sym typeface="Symbol" charset="0"/>
              </a:rPr>
              <a:t>A</a:t>
            </a:r>
            <a:endParaRPr lang="en-US" sz="3600" dirty="0">
              <a:solidFill>
                <a:srgbClr val="0000FF"/>
              </a:solidFill>
              <a:sym typeface="Symbo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4866" y="4773500"/>
            <a:ext cx="831426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914400" eaLnBrk="1" hangingPunct="1">
              <a:buFontTx/>
              <a:buNone/>
              <a:defRPr/>
            </a:pPr>
            <a:r>
              <a:rPr lang="en-US" sz="2800" dirty="0">
                <a:solidFill>
                  <a:srgbClr val="000000"/>
                </a:solidFill>
                <a:sym typeface="Symbol" charset="0"/>
              </a:rPr>
              <a:t>8)</a:t>
            </a:r>
            <a:r>
              <a:rPr lang="en-US" sz="2800" dirty="0">
                <a:solidFill>
                  <a:srgbClr val="0000FF"/>
                </a:solidFill>
                <a:sym typeface="Symbol" charset="0"/>
              </a:rPr>
              <a:t> Universal bound</a:t>
            </a:r>
            <a:r>
              <a:rPr lang="en-US" sz="2800" dirty="0">
                <a:solidFill>
                  <a:srgbClr val="0000FF"/>
                </a:solidFill>
              </a:rPr>
              <a:t> laws</a:t>
            </a:r>
            <a:r>
              <a:rPr lang="en-US" sz="2800" dirty="0"/>
              <a:t>: For all sets </a:t>
            </a:r>
            <a:r>
              <a:rPr lang="en-US" sz="2800" b="1" dirty="0"/>
              <a:t>A</a:t>
            </a:r>
            <a:r>
              <a:rPr lang="en-US" sz="2800" dirty="0"/>
              <a:t>,</a:t>
            </a:r>
          </a:p>
          <a:p>
            <a:pPr marL="457200" indent="-457200" defTabSz="914400" eaLnBrk="1" hangingPunct="1">
              <a:buFont typeface="Arial" charset="0"/>
              <a:buNone/>
              <a:defRPr/>
            </a:pPr>
            <a:r>
              <a:rPr lang="en-US" sz="2800" dirty="0">
                <a:sym typeface="Symbol" charset="0"/>
              </a:rPr>
              <a:t>	</a:t>
            </a:r>
            <a:r>
              <a:rPr lang="en-US" sz="2800" b="1" dirty="0"/>
              <a:t>    </a:t>
            </a:r>
            <a:r>
              <a:rPr lang="en-US" sz="2800" dirty="0"/>
              <a:t>a) </a:t>
            </a:r>
            <a:r>
              <a:rPr lang="en-US" sz="2800" b="1" dirty="0"/>
              <a:t>A </a:t>
            </a:r>
            <a:r>
              <a:rPr lang="en-US" sz="2800" b="1" dirty="0">
                <a:solidFill>
                  <a:srgbClr val="0000FF"/>
                </a:solidFill>
                <a:sym typeface="Symbol" charset="0"/>
              </a:rPr>
              <a:t></a:t>
            </a:r>
            <a:r>
              <a:rPr lang="en-US" sz="2800" b="1" dirty="0">
                <a:sym typeface="Symbol" charset="0"/>
              </a:rPr>
              <a:t> </a:t>
            </a:r>
            <a:r>
              <a:rPr lang="en-US" sz="2800" b="1" dirty="0"/>
              <a:t>U = </a:t>
            </a:r>
            <a:r>
              <a:rPr lang="en-US" sz="2800" b="1" dirty="0">
                <a:sym typeface="Symbol" charset="0"/>
              </a:rPr>
              <a:t>U</a:t>
            </a:r>
          </a:p>
          <a:p>
            <a:pPr marL="457200" indent="-457200" defTabSz="914400" eaLnBrk="1" hangingPunct="1">
              <a:buFont typeface="Arial" charset="0"/>
              <a:buNone/>
              <a:defRPr/>
            </a:pPr>
            <a:r>
              <a:rPr lang="en-US" sz="2800" dirty="0"/>
              <a:t>         b)</a:t>
            </a:r>
            <a:r>
              <a:rPr lang="en-US" sz="2800" i="1" dirty="0"/>
              <a:t> </a:t>
            </a:r>
            <a:r>
              <a:rPr lang="en-US" sz="2800" b="1" dirty="0"/>
              <a:t>A </a:t>
            </a:r>
            <a:r>
              <a:rPr lang="en-US" sz="2800" b="1" dirty="0">
                <a:solidFill>
                  <a:srgbClr val="0000FF"/>
                </a:solidFill>
                <a:sym typeface="Symbol" charset="0"/>
              </a:rPr>
              <a:t></a:t>
            </a:r>
            <a:r>
              <a:rPr lang="en-US" sz="2800" b="1" dirty="0">
                <a:sym typeface="Symbol" charset="0"/>
              </a:rPr>
              <a:t> </a:t>
            </a:r>
            <a:r>
              <a:rPr lang="en-US" sz="2800" b="1" dirty="0">
                <a:cs typeface="Times New Roman" charset="0"/>
                <a:sym typeface="Symbol" charset="0"/>
              </a:rPr>
              <a:t></a:t>
            </a:r>
            <a:r>
              <a:rPr lang="en-US" sz="2800" b="1" dirty="0"/>
              <a:t> = </a:t>
            </a:r>
            <a:r>
              <a:rPr lang="en-US" sz="2800" b="1" dirty="0">
                <a:cs typeface="Times New Roman" charset="0"/>
                <a:sym typeface="Symbol" charset="0"/>
              </a:rPr>
              <a:t></a:t>
            </a:r>
            <a:endParaRPr lang="en-US" sz="2800" dirty="0">
              <a:solidFill>
                <a:srgbClr val="0000FF"/>
              </a:solidFill>
              <a:sym typeface="Symbo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3E87B2-9F6A-2C4E-30BA-8E333FA90C18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13BC2-E68B-7F08-146D-ACE0493FB198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10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571625"/>
            <a:ext cx="7886700" cy="18573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ＭＳ Ｐゴシック" charset="-128"/>
              </a:rPr>
              <a:t>9)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De Morgan</a:t>
            </a:r>
            <a:r>
              <a:rPr lang="en-MY" altLang="en-US" dirty="0">
                <a:solidFill>
                  <a:srgbClr val="0000FF"/>
                </a:solidFill>
                <a:ea typeface="ＭＳ Ｐゴシック" charset="-128"/>
              </a:rPr>
              <a:t>’</a:t>
            </a:r>
            <a:r>
              <a:rPr lang="en-US" altLang="ja-JP" dirty="0">
                <a:solidFill>
                  <a:srgbClr val="0000FF"/>
                </a:solidFill>
                <a:ea typeface="ＭＳ Ｐゴシック" charset="-128"/>
              </a:rPr>
              <a:t>s laws</a:t>
            </a:r>
            <a:r>
              <a:rPr lang="en-US" altLang="en-US" dirty="0">
                <a:ea typeface="ＭＳ Ｐゴシック" charset="-128"/>
              </a:rPr>
              <a:t>: For all sets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,</a:t>
            </a:r>
          </a:p>
          <a:p>
            <a:pPr marL="0" indent="0">
              <a:buNone/>
            </a:pP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</a:rPr>
              <a:t>	</a:t>
            </a:r>
            <a:r>
              <a:rPr lang="en-US" altLang="en-US" dirty="0">
                <a:ea typeface="ＭＳ Ｐゴシック" charset="-128"/>
              </a:rPr>
              <a:t>a) </a:t>
            </a:r>
            <a:r>
              <a:rPr lang="en-US" altLang="en-US" sz="3600" dirty="0">
                <a:ea typeface="ＭＳ Ｐゴシック" charset="-128"/>
              </a:rPr>
              <a:t>(</a:t>
            </a:r>
            <a:r>
              <a:rPr lang="en-US" altLang="en-US" sz="3600" b="1" dirty="0">
                <a:ea typeface="ＭＳ Ｐゴシック" charset="-128"/>
              </a:rPr>
              <a:t>A </a:t>
            </a:r>
            <a:r>
              <a:rPr lang="en-US" altLang="en-US" sz="36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</a:t>
            </a:r>
            <a:r>
              <a:rPr lang="en-US" altLang="en-US" sz="3600" b="1" dirty="0">
                <a:ea typeface="ＭＳ Ｐゴシック" charset="-128"/>
              </a:rPr>
              <a:t> B</a:t>
            </a:r>
            <a:r>
              <a:rPr lang="en-US" altLang="en-US" sz="3600" dirty="0">
                <a:ea typeface="ＭＳ Ｐゴシック" charset="-128"/>
              </a:rPr>
              <a:t>)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600" b="1" dirty="0">
                <a:ea typeface="ＭＳ Ｐゴシック" charset="-128"/>
              </a:rPr>
              <a:t> = A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600" b="1" dirty="0">
                <a:ea typeface="ＭＳ Ｐゴシック" charset="-128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600" b="1" dirty="0">
                <a:ea typeface="ＭＳ Ｐゴシック" charset="-128"/>
              </a:rPr>
              <a:t> B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</a:p>
          <a:p>
            <a:pPr marL="0" indent="0">
              <a:buNone/>
            </a:pPr>
            <a:r>
              <a:rPr lang="en-US" altLang="en-US" sz="3600" b="1" dirty="0">
                <a:ea typeface="ＭＳ Ｐゴシック" charset="-128"/>
              </a:rPr>
              <a:t>	</a:t>
            </a:r>
            <a:r>
              <a:rPr lang="en-US" altLang="en-US" dirty="0">
                <a:ea typeface="ＭＳ Ｐゴシック" charset="-128"/>
              </a:rPr>
              <a:t>b) </a:t>
            </a:r>
            <a:r>
              <a:rPr lang="en-US" altLang="en-US" sz="3600" dirty="0">
                <a:ea typeface="ＭＳ Ｐゴシック" charset="-128"/>
              </a:rPr>
              <a:t>(</a:t>
            </a:r>
            <a:r>
              <a:rPr lang="en-US" altLang="en-US" sz="3600" b="1" dirty="0">
                <a:ea typeface="ＭＳ Ｐゴシック" charset="-128"/>
              </a:rPr>
              <a:t>A </a:t>
            </a:r>
            <a:r>
              <a:rPr lang="en-US" altLang="en-US" sz="36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 B</a:t>
            </a:r>
            <a:r>
              <a:rPr lang="en-US" altLang="en-US" sz="3600" dirty="0">
                <a:ea typeface="ＭＳ Ｐゴシック" charset="-128"/>
              </a:rPr>
              <a:t>)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600" b="1" dirty="0">
                <a:ea typeface="ＭＳ Ｐゴシック" charset="-128"/>
              </a:rPr>
              <a:t> = A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sz="3600" b="1" dirty="0">
                <a:ea typeface="ＭＳ Ｐゴシック" charset="-128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</a:t>
            </a:r>
            <a:r>
              <a:rPr lang="en-US" altLang="en-US" sz="3600" b="1" dirty="0">
                <a:ea typeface="ＭＳ Ｐゴシック" charset="-128"/>
              </a:rPr>
              <a:t> B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</a:t>
            </a:r>
            <a:endParaRPr lang="en-US" altLang="en-US" sz="3600" b="1" dirty="0">
              <a:ea typeface="ＭＳ Ｐゴシック" charset="-128"/>
            </a:endParaRPr>
          </a:p>
          <a:p>
            <a:pPr marL="0" indent="0" eaLnBrk="1" hangingPunct="1">
              <a:buFontTx/>
              <a:buNone/>
            </a:pPr>
            <a:endParaRPr lang="en-US" altLang="en-US" sz="3600" b="1" dirty="0">
              <a:ea typeface="ＭＳ Ｐゴシック" charset="-128"/>
              <a:sym typeface="Symbol" charset="2"/>
            </a:endParaRPr>
          </a:p>
        </p:txBody>
      </p:sp>
      <p:sp>
        <p:nvSpPr>
          <p:cNvPr id="40963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F681294D-8F54-0848-84D6-A6E4A9EEF5B5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64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997700" y="6367119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317" y="731874"/>
            <a:ext cx="3875617" cy="632355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MS PGothic" charset="-128"/>
              </a:rPr>
              <a:t>Set Identities </a:t>
            </a:r>
            <a:r>
              <a:rPr lang="en-US" altLang="en-US" sz="12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05317" y="3826933"/>
            <a:ext cx="7821083" cy="176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Font typeface="Arial" charset="0"/>
              <a:buNone/>
              <a:defRPr/>
            </a:pPr>
            <a:r>
              <a:rPr lang="en-US" dirty="0"/>
              <a:t>10) </a:t>
            </a:r>
            <a:r>
              <a:rPr lang="en-US" dirty="0">
                <a:solidFill>
                  <a:srgbClr val="0000FF"/>
                </a:solidFill>
              </a:rPr>
              <a:t>Absorption laws</a:t>
            </a:r>
            <a:r>
              <a:rPr lang="en-US" dirty="0"/>
              <a:t>: For all sets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,</a:t>
            </a:r>
          </a:p>
          <a:p>
            <a:pPr marL="457200" indent="-457200" defTabSz="914400" eaLnBrk="1" hangingPunct="1">
              <a:buFontTx/>
              <a:buNone/>
              <a:defRPr/>
            </a:pPr>
            <a:r>
              <a:rPr lang="en-US" dirty="0"/>
              <a:t>	a) </a:t>
            </a:r>
            <a:r>
              <a:rPr lang="en-US" sz="3600" b="1" dirty="0"/>
              <a:t>A</a:t>
            </a:r>
            <a:r>
              <a:rPr lang="en-US" sz="3600" dirty="0"/>
              <a:t> </a:t>
            </a:r>
            <a:r>
              <a:rPr lang="en-US" sz="3600" dirty="0">
                <a:sym typeface="Symbol" charset="0"/>
              </a:rPr>
              <a:t> </a:t>
            </a:r>
            <a:r>
              <a:rPr lang="en-US" sz="3600" dirty="0"/>
              <a:t>(</a:t>
            </a:r>
            <a:r>
              <a:rPr lang="en-US" sz="3600" b="1" dirty="0"/>
              <a:t>A</a:t>
            </a:r>
            <a:r>
              <a:rPr lang="en-US" sz="3600" dirty="0"/>
              <a:t> </a:t>
            </a:r>
            <a:r>
              <a:rPr lang="en-US" sz="3600" dirty="0">
                <a:sym typeface="Symbol" charset="0"/>
              </a:rPr>
              <a:t></a:t>
            </a:r>
            <a:r>
              <a:rPr lang="en-US" sz="3600" dirty="0"/>
              <a:t> </a:t>
            </a:r>
            <a:r>
              <a:rPr lang="en-US" sz="3600" b="1" dirty="0"/>
              <a:t>B</a:t>
            </a:r>
            <a:r>
              <a:rPr lang="en-US" sz="3600" dirty="0"/>
              <a:t>) = </a:t>
            </a:r>
            <a:r>
              <a:rPr lang="en-US" sz="3600" b="1" dirty="0"/>
              <a:t>A</a:t>
            </a:r>
          </a:p>
          <a:p>
            <a:pPr marL="457200" indent="-457200" defTabSz="914400" eaLnBrk="1" hangingPunct="1">
              <a:buFontTx/>
              <a:buNone/>
              <a:defRPr/>
            </a:pPr>
            <a:r>
              <a:rPr lang="en-US" sz="3600" dirty="0"/>
              <a:t>	</a:t>
            </a:r>
            <a:r>
              <a:rPr lang="en-US" dirty="0"/>
              <a:t>b) </a:t>
            </a:r>
            <a:r>
              <a:rPr lang="en-US" sz="3600" b="1" dirty="0"/>
              <a:t>A</a:t>
            </a:r>
            <a:r>
              <a:rPr lang="en-US" sz="3600" dirty="0">
                <a:sym typeface="Symbol" charset="0"/>
              </a:rPr>
              <a:t>  </a:t>
            </a:r>
            <a:r>
              <a:rPr lang="en-US" sz="3600" dirty="0"/>
              <a:t>(</a:t>
            </a:r>
            <a:r>
              <a:rPr lang="en-US" sz="3600" b="1" dirty="0"/>
              <a:t>A</a:t>
            </a:r>
            <a:r>
              <a:rPr lang="en-US" sz="3600" dirty="0"/>
              <a:t> </a:t>
            </a:r>
            <a:r>
              <a:rPr lang="en-US" sz="3600" dirty="0">
                <a:sym typeface="Symbol" charset="0"/>
              </a:rPr>
              <a:t></a:t>
            </a:r>
            <a:r>
              <a:rPr lang="en-US" sz="3600" dirty="0"/>
              <a:t> </a:t>
            </a:r>
            <a:r>
              <a:rPr lang="en-US" sz="3600" b="1" dirty="0"/>
              <a:t>B</a:t>
            </a:r>
            <a:r>
              <a:rPr lang="en-US" sz="3600" dirty="0"/>
              <a:t>) = </a:t>
            </a:r>
            <a:r>
              <a:rPr lang="en-US" sz="3600" b="1" dirty="0"/>
              <a:t>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2267BE-E687-6229-E684-140F0881E1E2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993D8-EBCE-E620-7A86-32E6AFBA9189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34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417728"/>
            <a:ext cx="7886700" cy="1796159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11)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Complements of </a:t>
            </a:r>
            <a:r>
              <a:rPr lang="en-US" altLang="en-US" b="1" dirty="0">
                <a:solidFill>
                  <a:srgbClr val="0000FF"/>
                </a:solidFill>
                <a:ea typeface="ＭＳ Ｐゴシック" charset="-128"/>
              </a:rPr>
              <a:t>U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and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 </a:t>
            </a:r>
            <a:r>
              <a:rPr lang="en-US" altLang="en-US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:</a:t>
            </a:r>
            <a:endParaRPr lang="en-US" altLang="en-US" dirty="0">
              <a:solidFill>
                <a:srgbClr val="000000"/>
              </a:solidFill>
              <a:ea typeface="ＭＳ Ｐゴシック" charset="-128"/>
            </a:endParaRPr>
          </a:p>
          <a:p>
            <a:pPr marL="0" indent="0" eaLnBrk="1" hangingPunct="1">
              <a:buFontTx/>
              <a:buNone/>
            </a:pP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		</a:t>
            </a:r>
            <a:r>
              <a:rPr lang="en-US" altLang="en-US" dirty="0">
                <a:solidFill>
                  <a:srgbClr val="000000"/>
                </a:solidFill>
                <a:ea typeface="ＭＳ Ｐゴシック" charset="-128"/>
                <a:sym typeface="Symbol" charset="2"/>
              </a:rPr>
              <a:t>a) 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 =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U</a:t>
            </a:r>
          </a:p>
          <a:p>
            <a:pPr marL="0" indent="0" eaLnBrk="1" hangingPunct="1">
              <a:buFontTx/>
              <a:buNone/>
            </a:pPr>
            <a:r>
              <a:rPr lang="en-US" altLang="en-US" sz="3600" dirty="0">
                <a:ea typeface="ＭＳ Ｐゴシック" charset="-128"/>
                <a:sym typeface="Symbol" charset="2"/>
              </a:rPr>
              <a:t>		</a:t>
            </a:r>
            <a:r>
              <a:rPr lang="en-US" altLang="en-US" dirty="0">
                <a:ea typeface="ＭＳ Ｐゴシック" charset="-128"/>
                <a:sym typeface="Symbol" charset="2"/>
              </a:rPr>
              <a:t>b)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U</a:t>
            </a:r>
            <a:r>
              <a:rPr lang="en-US" altLang="en-US" sz="3600" dirty="0">
                <a:ea typeface="ＭＳ Ｐゴシック" charset="-128"/>
                <a:sym typeface="Symbol" charset="2"/>
              </a:rPr>
              <a:t> = </a:t>
            </a:r>
          </a:p>
          <a:p>
            <a:pPr marL="0" indent="0" eaLnBrk="1" hangingPunct="1">
              <a:buFont typeface="Arial" charset="0"/>
              <a:buNone/>
            </a:pPr>
            <a:endParaRPr lang="en-US" altLang="en-US" dirty="0">
              <a:ea typeface="ＭＳ Ｐゴシック" charset="-128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3600" i="1" dirty="0">
                <a:solidFill>
                  <a:srgbClr val="0000FF"/>
                </a:solidFill>
                <a:ea typeface="ＭＳ Ｐゴシック" charset="-128"/>
              </a:rPr>
              <a:t>		</a:t>
            </a:r>
            <a:endParaRPr lang="en-US" altLang="en-US" sz="3600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43011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69AAD07F-F6AE-F94B-B692-856136528365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65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47066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317" y="731874"/>
            <a:ext cx="3875617" cy="632355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MS PGothic" charset="-128"/>
              </a:rPr>
              <a:t>Set Identities </a:t>
            </a:r>
            <a:r>
              <a:rPr lang="en-US" altLang="en-US" sz="12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05317" y="3267386"/>
            <a:ext cx="7886700" cy="114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12)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Set difference laws</a:t>
            </a:r>
            <a:r>
              <a:rPr lang="en-US" altLang="en-US" dirty="0">
                <a:ea typeface="ＭＳ Ｐゴシック" charset="-128"/>
              </a:rPr>
              <a:t>:</a:t>
            </a:r>
            <a:r>
              <a:rPr lang="en-US" altLang="en-US" dirty="0">
                <a:solidFill>
                  <a:srgbClr val="000000"/>
                </a:solidFill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For all sets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,</a:t>
            </a:r>
          </a:p>
          <a:p>
            <a:pPr marL="0" indent="0" defTabSz="914400" eaLnBrk="1" hangingPunct="1">
              <a:buFontTx/>
              <a:buNone/>
            </a:pPr>
            <a:r>
              <a:rPr lang="en-US" altLang="en-US" i="1" dirty="0">
                <a:ea typeface="ＭＳ Ｐゴシック" charset="-128"/>
              </a:rPr>
              <a:t>		   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-</a:t>
            </a: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dirty="0">
                <a:ea typeface="ＭＳ Ｐゴシック" charset="-128"/>
              </a:rPr>
              <a:t> = 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i="1" dirty="0">
                <a:ea typeface="ＭＳ Ｐゴシック" charset="-128"/>
              </a:rPr>
              <a:t> </a:t>
            </a: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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sz="3600" b="1" dirty="0">
                <a:ea typeface="ＭＳ Ｐゴシック" charset="-128"/>
                <a:sym typeface="Symbol" charset="2"/>
              </a:rPr>
              <a:t>B’</a:t>
            </a:r>
            <a:r>
              <a:rPr lang="en-US" altLang="ja-JP" sz="3600" dirty="0">
                <a:ea typeface="ＭＳ Ｐゴシック" charset="-128"/>
              </a:rPr>
              <a:t>	</a:t>
            </a:r>
          </a:p>
          <a:p>
            <a:pPr marL="0" indent="0" defTabSz="914400" eaLnBrk="1" hangingPunct="1">
              <a:buFontTx/>
              <a:buNone/>
            </a:pPr>
            <a:r>
              <a:rPr lang="en-US" altLang="en-US" sz="3600" i="1" dirty="0">
                <a:solidFill>
                  <a:srgbClr val="0000FF"/>
                </a:solidFill>
                <a:ea typeface="ＭＳ Ｐゴシック" charset="-128"/>
              </a:rPr>
              <a:t>		</a:t>
            </a:r>
            <a:endParaRPr lang="en-US" altLang="en-US" sz="3600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05317" y="4467589"/>
            <a:ext cx="7886700" cy="169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Font typeface="Arial" charset="0"/>
              <a:buNone/>
              <a:defRPr/>
            </a:pPr>
            <a:r>
              <a:rPr lang="en-US" dirty="0">
                <a:ea typeface="MS PGothic" charset="0"/>
              </a:rPr>
              <a:t>13) </a:t>
            </a:r>
            <a:r>
              <a:rPr lang="en-US" dirty="0">
                <a:solidFill>
                  <a:srgbClr val="0000FF"/>
                </a:solidFill>
                <a:ea typeface="MS PGothic" charset="0"/>
              </a:rPr>
              <a:t>Properties of empty </a:t>
            </a:r>
            <a:r>
              <a:rPr lang="en-US" dirty="0">
                <a:solidFill>
                  <a:srgbClr val="0000FF"/>
                </a:solidFill>
                <a:ea typeface="MS PGothic" charset="0"/>
                <a:cs typeface="Times New Roman" charset="0"/>
              </a:rPr>
              <a:t>set</a:t>
            </a:r>
            <a:r>
              <a:rPr lang="en-US" dirty="0">
                <a:solidFill>
                  <a:srgbClr val="000000"/>
                </a:solidFill>
                <a:ea typeface="MS PGothic" charset="0"/>
                <a:cs typeface="Times New Roman" charset="0"/>
              </a:rPr>
              <a:t>. For all set </a:t>
            </a:r>
            <a:r>
              <a:rPr lang="en-US" b="1" dirty="0">
                <a:solidFill>
                  <a:srgbClr val="000000"/>
                </a:solidFill>
                <a:ea typeface="MS PGothic" charset="0"/>
                <a:cs typeface="Times New Roman" charset="0"/>
              </a:rPr>
              <a:t>A</a:t>
            </a:r>
            <a:r>
              <a:rPr lang="en-US" dirty="0">
                <a:solidFill>
                  <a:srgbClr val="000000"/>
                </a:solidFill>
                <a:ea typeface="MS PGothic" charset="0"/>
                <a:cs typeface="Times New Roman" charset="0"/>
              </a:rPr>
              <a:t>,</a:t>
            </a:r>
            <a:endParaRPr lang="en-US" i="1" dirty="0">
              <a:solidFill>
                <a:srgbClr val="000000"/>
              </a:solidFill>
              <a:ea typeface="MS PGothic" charset="0"/>
              <a:cs typeface="Times New Roman" charset="0"/>
            </a:endParaRPr>
          </a:p>
          <a:p>
            <a:pPr marL="457200" indent="-457200" defTabSz="914400" eaLnBrk="1" hangingPunct="1">
              <a:buFontTx/>
              <a:buNone/>
              <a:defRPr/>
            </a:pPr>
            <a:r>
              <a:rPr lang="en-US" i="1" dirty="0">
                <a:solidFill>
                  <a:srgbClr val="000000"/>
                </a:solidFill>
                <a:ea typeface="MS PGothic" charset="0"/>
                <a:cs typeface="Times New Roman" charset="0"/>
              </a:rPr>
              <a:t>			</a:t>
            </a:r>
            <a:r>
              <a:rPr lang="en-US" dirty="0">
                <a:ea typeface="MS PGothic" charset="0"/>
                <a:cs typeface="Times New Roman" charset="0"/>
              </a:rPr>
              <a:t>a) </a:t>
            </a:r>
            <a:r>
              <a:rPr lang="en-US" sz="3600" b="1" dirty="0">
                <a:ea typeface="MS PGothic" charset="0"/>
                <a:cs typeface="Times New Roman" charset="0"/>
              </a:rPr>
              <a:t>A</a:t>
            </a:r>
            <a:r>
              <a:rPr lang="en-US" sz="3600" dirty="0">
                <a:ea typeface="MS PGothic" charset="0"/>
                <a:cs typeface="Times New Roman" charset="0"/>
              </a:rPr>
              <a:t> </a:t>
            </a:r>
            <a:r>
              <a:rPr lang="en-US" sz="3600" dirty="0">
                <a:solidFill>
                  <a:srgbClr val="0000FF"/>
                </a:solidFill>
                <a:ea typeface="MS PGothic" charset="0"/>
                <a:cs typeface="Times New Roman" charset="0"/>
                <a:sym typeface="Symbol" charset="0"/>
              </a:rPr>
              <a:t></a:t>
            </a:r>
            <a:r>
              <a:rPr lang="en-US" sz="3600" dirty="0">
                <a:ea typeface="MS PGothic" charset="0"/>
                <a:cs typeface="Times New Roman" charset="0"/>
              </a:rPr>
              <a:t> </a:t>
            </a:r>
            <a:r>
              <a:rPr lang="en-US" sz="3600" dirty="0">
                <a:ea typeface="MS PGothic" charset="0"/>
                <a:cs typeface="Times New Roman" charset="0"/>
                <a:sym typeface="Symbol" charset="0"/>
              </a:rPr>
              <a:t></a:t>
            </a:r>
            <a:r>
              <a:rPr lang="en-US" sz="3600" dirty="0">
                <a:ea typeface="MS PGothic" charset="0"/>
                <a:cs typeface="Times New Roman" charset="0"/>
              </a:rPr>
              <a:t> = </a:t>
            </a:r>
            <a:r>
              <a:rPr lang="en-US" sz="3600" b="1" dirty="0">
                <a:ea typeface="MS PGothic" charset="0"/>
                <a:cs typeface="Times New Roman" charset="0"/>
              </a:rPr>
              <a:t>A</a:t>
            </a:r>
            <a:r>
              <a:rPr lang="en-US" sz="3600" dirty="0">
                <a:ea typeface="MS PGothic" charset="0"/>
                <a:cs typeface="Times New Roman" charset="0"/>
              </a:rPr>
              <a:t>	</a:t>
            </a:r>
          </a:p>
          <a:p>
            <a:pPr marL="457200" indent="-457200" defTabSz="914400" eaLnBrk="1" hangingPunct="1">
              <a:buFontTx/>
              <a:buNone/>
              <a:defRPr/>
            </a:pPr>
            <a:r>
              <a:rPr lang="en-US" sz="3600" dirty="0">
                <a:ea typeface="MS PGothic" charset="0"/>
                <a:cs typeface="Times New Roman" charset="0"/>
              </a:rPr>
              <a:t>			</a:t>
            </a:r>
            <a:r>
              <a:rPr lang="en-US" dirty="0">
                <a:ea typeface="MS PGothic" charset="0"/>
                <a:cs typeface="Times New Roman" charset="0"/>
              </a:rPr>
              <a:t>b) </a:t>
            </a:r>
            <a:r>
              <a:rPr lang="en-US" sz="3600" b="1" dirty="0">
                <a:ea typeface="MS PGothic" charset="0"/>
                <a:cs typeface="Times New Roman" charset="0"/>
              </a:rPr>
              <a:t>A</a:t>
            </a:r>
            <a:r>
              <a:rPr lang="en-US" sz="3600" dirty="0">
                <a:ea typeface="MS PGothic" charset="0"/>
                <a:cs typeface="Times New Roman" charset="0"/>
              </a:rPr>
              <a:t> </a:t>
            </a:r>
            <a:r>
              <a:rPr lang="en-US" sz="3600" dirty="0">
                <a:solidFill>
                  <a:srgbClr val="0000FF"/>
                </a:solidFill>
                <a:ea typeface="MS PGothic" charset="0"/>
                <a:cs typeface="Times New Roman" charset="0"/>
                <a:sym typeface="Symbol" charset="0"/>
              </a:rPr>
              <a:t></a:t>
            </a:r>
            <a:r>
              <a:rPr lang="en-US" sz="3600" dirty="0">
                <a:ea typeface="MS PGothic" charset="0"/>
                <a:cs typeface="Times New Roman" charset="0"/>
              </a:rPr>
              <a:t> </a:t>
            </a:r>
            <a:r>
              <a:rPr lang="en-US" sz="3600" dirty="0">
                <a:ea typeface="MS PGothic" charset="0"/>
                <a:cs typeface="Times New Roman" charset="0"/>
                <a:sym typeface="Symbol" charset="0"/>
              </a:rPr>
              <a:t></a:t>
            </a:r>
            <a:r>
              <a:rPr lang="en-US" sz="3600" dirty="0">
                <a:ea typeface="MS PGothic" charset="0"/>
                <a:cs typeface="Times New Roman" charset="0"/>
              </a:rPr>
              <a:t> = </a:t>
            </a:r>
            <a:r>
              <a:rPr lang="en-US" sz="3600" dirty="0">
                <a:ea typeface="MS PGothic" charset="0"/>
                <a:cs typeface="Times New Roman" charset="0"/>
                <a:sym typeface="Symbol" charset="0"/>
              </a:rPr>
              <a:t></a:t>
            </a:r>
            <a:r>
              <a:rPr lang="en-US" sz="3600" dirty="0">
                <a:ea typeface="MS PGothic" charset="0"/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AA3516-7D47-EACB-CDAE-D5DD726D7833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B4209-9E78-622B-15BF-52D476F63887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39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7866" y="1272833"/>
            <a:ext cx="7745413" cy="128600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ea typeface="ＭＳ Ｐゴシック" charset="-128"/>
              </a:rPr>
              <a:t>Let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,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</a:rPr>
              <a:t> denote the subsets of a set </a:t>
            </a:r>
            <a:r>
              <a:rPr lang="en-US" altLang="en-US" b="1" dirty="0">
                <a:ea typeface="ＭＳ Ｐゴシック" charset="-128"/>
              </a:rPr>
              <a:t>S</a:t>
            </a:r>
            <a:r>
              <a:rPr lang="en-US" altLang="en-US" dirty="0">
                <a:ea typeface="ＭＳ Ｐゴシック" charset="-128"/>
              </a:rPr>
              <a:t> and let 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b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denote a complement of 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i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in</a:t>
            </a:r>
            <a:r>
              <a:rPr lang="en-US" altLang="en-US" i="1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S</a:t>
            </a:r>
            <a:r>
              <a:rPr lang="en-US" altLang="en-US" dirty="0">
                <a:ea typeface="ＭＳ Ｐゴシック" charset="-128"/>
              </a:rPr>
              <a:t>. If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 </a:t>
            </a:r>
            <a:r>
              <a:rPr lang="en-US" altLang="en-US" b="1" dirty="0">
                <a:ea typeface="ＭＳ Ｐゴシック" charset="-128"/>
              </a:rPr>
              <a:t>C </a:t>
            </a:r>
            <a:r>
              <a:rPr lang="en-US" altLang="en-US" dirty="0">
                <a:ea typeface="ＭＳ Ｐゴシック" charset="-128"/>
              </a:rPr>
              <a:t>=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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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C </a:t>
            </a:r>
            <a:r>
              <a:rPr lang="en-US" altLang="en-US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dirty="0">
                <a:ea typeface="ＭＳ Ｐゴシック" charset="-128"/>
              </a:rPr>
              <a:t> =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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C </a:t>
            </a:r>
            <a:r>
              <a:rPr lang="en-US" altLang="en-US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dirty="0">
                <a:ea typeface="ＭＳ Ｐゴシック" charset="-128"/>
              </a:rPr>
              <a:t>, then prove that </a:t>
            </a:r>
            <a:r>
              <a:rPr lang="en-US" altLang="en-US" b="1" dirty="0">
                <a:ea typeface="ＭＳ Ｐゴシック" charset="-128"/>
              </a:rPr>
              <a:t>A = B.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title"/>
          </p:nvPr>
        </p:nvSpPr>
        <p:spPr>
          <a:xfrm>
            <a:off x="222249" y="638892"/>
            <a:ext cx="3012017" cy="633941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Example:</a:t>
            </a:r>
          </a:p>
        </p:txBody>
      </p:sp>
      <p:sp>
        <p:nvSpPr>
          <p:cNvPr id="45059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0BD6E2E8-4745-D644-B518-DE4F5764A909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66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04579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93184" y="2742800"/>
            <a:ext cx="7798857" cy="3568608"/>
            <a:chOff x="493184" y="2742800"/>
            <a:chExt cx="7798857" cy="3568608"/>
          </a:xfrm>
        </p:grpSpPr>
        <p:grpSp>
          <p:nvGrpSpPr>
            <p:cNvPr id="5" name="Group 4"/>
            <p:cNvGrpSpPr/>
            <p:nvPr/>
          </p:nvGrpSpPr>
          <p:grpSpPr>
            <a:xfrm>
              <a:off x="493184" y="2776520"/>
              <a:ext cx="7798857" cy="3534888"/>
              <a:chOff x="225955" y="2590363"/>
              <a:chExt cx="7798857" cy="4011145"/>
            </a:xfrm>
          </p:grpSpPr>
          <p:sp>
            <p:nvSpPr>
              <p:cNvPr id="9" name="Rectangle 2"/>
              <p:cNvSpPr>
                <a:spLocks noChangeArrowheads="1"/>
              </p:cNvSpPr>
              <p:nvPr/>
            </p:nvSpPr>
            <p:spPr bwMode="auto">
              <a:xfrm>
                <a:off x="565679" y="3074150"/>
                <a:ext cx="7459133" cy="3527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tabLst>
                    <a:tab pos="457200" algn="l"/>
                    <a:tab pos="571500" algn="l"/>
                  </a:tabLs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1pPr>
                <a:lvl2pPr marL="742950" indent="-285750" eaLnBrk="0" hangingPunct="0">
                  <a:tabLst>
                    <a:tab pos="457200" algn="l"/>
                    <a:tab pos="571500" algn="l"/>
                  </a:tabLs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2pPr>
                <a:lvl3pPr marL="1143000" indent="-228600" eaLnBrk="0" hangingPunct="0">
                  <a:tabLst>
                    <a:tab pos="457200" algn="l"/>
                    <a:tab pos="571500" algn="l"/>
                  </a:tabLs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3pPr>
                <a:lvl4pPr marL="1600200" indent="-228600" eaLnBrk="0" hangingPunct="0">
                  <a:tabLst>
                    <a:tab pos="457200" algn="l"/>
                    <a:tab pos="571500" algn="l"/>
                  </a:tabLs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4pPr>
                <a:lvl5pPr marL="2057400" indent="-228600" eaLnBrk="0" hangingPunct="0">
                  <a:tabLst>
                    <a:tab pos="457200" algn="l"/>
                    <a:tab pos="571500" algn="l"/>
                  </a:tabLs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l"/>
                    <a:tab pos="571500" algn="l"/>
                  </a:tabLs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l"/>
                    <a:tab pos="571500" algn="l"/>
                  </a:tabLs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l"/>
                    <a:tab pos="571500" algn="l"/>
                  </a:tabLs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7200" algn="l"/>
                    <a:tab pos="571500" algn="l"/>
                  </a:tabLs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2800" b="1" dirty="0">
                    <a:latin typeface="+mn-lt"/>
                  </a:rPr>
                  <a:t>A</a:t>
                </a:r>
                <a:r>
                  <a:rPr lang="en-US" altLang="en-US" sz="2800" dirty="0">
                    <a:latin typeface="Times New Roman" charset="0"/>
                  </a:rPr>
                  <a:t>	 = </a:t>
                </a:r>
                <a:r>
                  <a:rPr lang="en-US" altLang="en-US" sz="2800" b="1" dirty="0">
                    <a:solidFill>
                      <a:srgbClr val="000000"/>
                    </a:solidFill>
                    <a:latin typeface="+mn-lt"/>
                  </a:rPr>
                  <a:t>A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+mn-lt"/>
                  </a:rPr>
                  <a:t> 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+mn-lt"/>
                    <a:sym typeface="Symbol" charset="2"/>
                  </a:rPr>
                  <a:t>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+mn-lt"/>
                  </a:rPr>
                  <a:t> 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S</a:t>
                </a:r>
                <a:r>
                  <a:rPr lang="en-US" altLang="en-US" sz="2800" i="1" dirty="0">
                    <a:solidFill>
                      <a:srgbClr val="000000"/>
                    </a:solidFill>
                    <a:latin typeface="+mn-lt"/>
                    <a:sym typeface="Symbol" charset="2"/>
                  </a:rPr>
                  <a:t>                             </a:t>
                </a:r>
                <a:r>
                  <a:rPr lang="en-US" altLang="en-US" sz="1800" dirty="0">
                    <a:latin typeface="Times New Roman" charset="0"/>
                    <a:sym typeface="Symbol" charset="2"/>
                  </a:rPr>
                  <a:t>[universal set]</a:t>
                </a:r>
              </a:p>
              <a:p>
                <a:pPr eaLnBrk="1" hangingPunct="1"/>
                <a:r>
                  <a:rPr lang="en-US" altLang="en-US" sz="2800" i="1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	 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= </a:t>
                </a:r>
                <a:r>
                  <a:rPr lang="en-US" altLang="en-US" sz="2800" b="1" dirty="0">
                    <a:solidFill>
                      <a:srgbClr val="000000"/>
                    </a:solidFill>
                    <a:latin typeface="+mn-lt"/>
                    <a:sym typeface="Symbol" charset="2"/>
                  </a:rPr>
                  <a:t>A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+mn-lt"/>
                    <a:sym typeface="Symbol" charset="2"/>
                  </a:rPr>
                  <a:t> 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+mn-lt"/>
                  </a:rPr>
                  <a:t> 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(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C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 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C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)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+mn-lt"/>
                  </a:rPr>
                  <a:t>                 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Times New Roman" charset="0"/>
                  </a:rPr>
                  <a:t>[complement]</a:t>
                </a:r>
                <a:endParaRPr lang="en-US" altLang="en-US" sz="1800" dirty="0">
                  <a:solidFill>
                    <a:srgbClr val="000000"/>
                  </a:solidFill>
                  <a:latin typeface="Times New Roman" charset="0"/>
                  <a:sym typeface="Symbol" charset="2"/>
                </a:endParaRPr>
              </a:p>
              <a:p>
                <a:pPr eaLnBrk="1" hangingPunct="1"/>
                <a:r>
                  <a:rPr lang="en-US" altLang="en-US" sz="2800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	</a:t>
                </a:r>
                <a:r>
                  <a:rPr lang="en-US" altLang="en-US" sz="2800" dirty="0">
                    <a:latin typeface="Times New Roman" charset="0"/>
                    <a:sym typeface="Symbol" charset="2"/>
                  </a:rPr>
                  <a:t> =</a:t>
                </a:r>
                <a:r>
                  <a:rPr lang="en-US" altLang="en-US" sz="2800" i="1" dirty="0">
                    <a:latin typeface="Times New Roman" charset="0"/>
                    <a:sym typeface="Symbol" charset="2"/>
                  </a:rPr>
                  <a:t> 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(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A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 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C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) 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 (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A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 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C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)</a:t>
                </a:r>
                <a:r>
                  <a:rPr lang="en-US" altLang="en-US" sz="2800" dirty="0">
                    <a:solidFill>
                      <a:srgbClr val="008000"/>
                    </a:solidFill>
                    <a:latin typeface="+mn-lt"/>
                    <a:sym typeface="Symbol" charset="2"/>
                  </a:rPr>
                  <a:t>      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[distributive] </a:t>
                </a:r>
              </a:p>
              <a:p>
                <a:pPr eaLnBrk="1" hangingPunct="1"/>
                <a:r>
                  <a:rPr lang="en-US" altLang="en-US" sz="2800" dirty="0">
                    <a:solidFill>
                      <a:srgbClr val="0000FF"/>
                    </a:solidFill>
                    <a:latin typeface="Times New Roman" charset="0"/>
                    <a:sym typeface="Symbol" charset="2"/>
                  </a:rPr>
                  <a:t>	 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=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Times New Roman" charset="0"/>
                    <a:sym typeface="Symbol" charset="2"/>
                  </a:rPr>
                  <a:t> 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(</a:t>
                </a:r>
                <a:r>
                  <a:rPr lang="en-US" altLang="en-US" sz="2800" b="1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B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 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+mn-lt"/>
                  </a:rPr>
                  <a:t> </a:t>
                </a:r>
                <a:r>
                  <a:rPr lang="en-US" altLang="en-US" sz="2800" b="1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C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) 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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+mn-lt"/>
                  </a:rPr>
                  <a:t> (</a:t>
                </a:r>
                <a:r>
                  <a:rPr lang="en-US" altLang="en-US" sz="2800" b="1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B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 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+mn-lt"/>
                  </a:rPr>
                  <a:t> </a:t>
                </a:r>
                <a:r>
                  <a:rPr lang="en-US" altLang="en-US" sz="2800" b="1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C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+mn-lt"/>
                  </a:rPr>
                  <a:t>)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      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+mn-lt"/>
                    <a:sym typeface="Symbol" charset="2"/>
                  </a:rPr>
                  <a:t>[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charset="0"/>
                    <a:sym typeface="Symbol" charset="2"/>
                  </a:rPr>
                  <a:t>given conditions]</a:t>
                </a:r>
              </a:p>
              <a:p>
                <a:pPr eaLnBrk="1" hangingPunct="1"/>
                <a:r>
                  <a:rPr lang="en-US" altLang="en-US" sz="2800" dirty="0">
                    <a:solidFill>
                      <a:srgbClr val="0000FF"/>
                    </a:solidFill>
                    <a:latin typeface="Times New Roman" charset="0"/>
                    <a:sym typeface="Symbol" charset="2"/>
                  </a:rPr>
                  <a:t>	 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=</a:t>
                </a:r>
                <a:r>
                  <a:rPr lang="en-US" altLang="en-US" sz="2800" i="1" dirty="0">
                    <a:solidFill>
                      <a:srgbClr val="0000FF"/>
                    </a:solidFill>
                    <a:latin typeface="Times New Roman" charset="0"/>
                    <a:sym typeface="Symbol" charset="2"/>
                  </a:rPr>
                  <a:t> 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B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 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 (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C 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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C</a:t>
                </a:r>
                <a:r>
                  <a:rPr lang="en-US" altLang="en-US" sz="2800" dirty="0">
                    <a:solidFill>
                      <a:srgbClr val="FF0000"/>
                    </a:solidFill>
                    <a:latin typeface="+mn-lt"/>
                  </a:rPr>
                  <a:t>)</a:t>
                </a:r>
                <a:r>
                  <a:rPr lang="en-US" altLang="en-US" sz="2800" dirty="0">
                    <a:solidFill>
                      <a:srgbClr val="0000FF"/>
                    </a:solidFill>
                    <a:latin typeface="Times New Roman" charset="0"/>
                    <a:sym typeface="Symbol" charset="2"/>
                  </a:rPr>
                  <a:t>	              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[distributive law]</a:t>
                </a:r>
              </a:p>
              <a:p>
                <a:pPr eaLnBrk="1" hangingPunct="1"/>
                <a:r>
                  <a:rPr lang="en-US" altLang="en-US" sz="2800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		=</a:t>
                </a:r>
                <a:r>
                  <a:rPr lang="en-US" altLang="en-US" sz="2800" i="1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 </a:t>
                </a:r>
                <a:r>
                  <a:rPr lang="en-US" altLang="en-US" sz="2800" b="1" dirty="0">
                    <a:solidFill>
                      <a:srgbClr val="000000"/>
                    </a:solidFill>
                    <a:latin typeface="+mn-lt"/>
                    <a:sym typeface="Symbol" charset="2"/>
                  </a:rPr>
                  <a:t>B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+mn-lt"/>
                    <a:sym typeface="Symbol" charset="2"/>
                  </a:rPr>
                  <a:t> 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+mn-lt"/>
                  </a:rPr>
                  <a:t> </a:t>
                </a:r>
                <a:r>
                  <a:rPr lang="en-US" altLang="en-US" sz="2800" b="1" dirty="0">
                    <a:solidFill>
                      <a:srgbClr val="FF0000"/>
                    </a:solidFill>
                    <a:latin typeface="+mn-lt"/>
                    <a:sym typeface="Symbol" charset="2"/>
                  </a:rPr>
                  <a:t>S</a:t>
                </a:r>
                <a:r>
                  <a:rPr lang="en-US" altLang="en-US" sz="2800" b="1" dirty="0">
                    <a:solidFill>
                      <a:srgbClr val="000000"/>
                    </a:solidFill>
                    <a:latin typeface="+mn-lt"/>
                    <a:sym typeface="Symbol" charset="2"/>
                  </a:rPr>
                  <a:t>  </a:t>
                </a:r>
                <a:r>
                  <a:rPr lang="en-US" altLang="en-US" sz="2800" i="1" dirty="0">
                    <a:solidFill>
                      <a:srgbClr val="000000"/>
                    </a:solidFill>
                    <a:latin typeface="+mn-lt"/>
                    <a:sym typeface="Symbol" charset="2"/>
                  </a:rPr>
                  <a:t>                           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[universal set]</a:t>
                </a:r>
                <a:endParaRPr lang="en-US" altLang="en-US" sz="2800" dirty="0">
                  <a:latin typeface="Times New Roman" charset="0"/>
                  <a:sym typeface="Symbol" charset="2"/>
                </a:endParaRPr>
              </a:p>
              <a:p>
                <a:pPr eaLnBrk="1" hangingPunct="1"/>
                <a:r>
                  <a:rPr lang="en-US" altLang="en-US" sz="2800" i="1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		</a:t>
                </a:r>
                <a:r>
                  <a:rPr lang="en-US" altLang="en-US" sz="2800" dirty="0">
                    <a:solidFill>
                      <a:srgbClr val="000000"/>
                    </a:solidFill>
                    <a:latin typeface="Times New Roman" charset="0"/>
                    <a:sym typeface="Symbol" charset="2"/>
                  </a:rPr>
                  <a:t>= </a:t>
                </a:r>
                <a:r>
                  <a:rPr lang="en-US" altLang="en-US" sz="2800" b="1" dirty="0">
                    <a:solidFill>
                      <a:srgbClr val="000000"/>
                    </a:solidFill>
                    <a:latin typeface="+mn-lt"/>
                    <a:sym typeface="Symbol" charset="2"/>
                  </a:rPr>
                  <a:t>B</a:t>
                </a:r>
                <a:endParaRPr lang="en-US" altLang="en-US" sz="2800" b="1" dirty="0">
                  <a:latin typeface="+mn-lt"/>
                  <a:sym typeface="Symbol" charset="2"/>
                </a:endParaRPr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225955" y="2590363"/>
                <a:ext cx="19388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MY" b="1" dirty="0">
                    <a:solidFill>
                      <a:srgbClr val="7030A0"/>
                    </a:solidFill>
                  </a:rPr>
                  <a:t>Solution:</a:t>
                </a:r>
                <a:endParaRPr lang="en-US" b="1" dirty="0">
                  <a:solidFill>
                    <a:srgbClr val="7030A0"/>
                  </a:solidFill>
                </a:endParaRPr>
              </a:p>
            </p:txBody>
          </p:sp>
        </p:grpSp>
        <p:sp>
          <p:nvSpPr>
            <p:cNvPr id="12" name="TextBox 1"/>
            <p:cNvSpPr txBox="1">
              <a:spLocks noChangeArrowheads="1"/>
            </p:cNvSpPr>
            <p:nvPr/>
          </p:nvSpPr>
          <p:spPr bwMode="auto">
            <a:xfrm>
              <a:off x="3827657" y="2742800"/>
              <a:ext cx="345387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en-US" sz="1400" b="1" dirty="0">
                  <a:solidFill>
                    <a:srgbClr val="002060"/>
                  </a:solidFill>
                  <a:latin typeface="+mn-lt"/>
                </a:rPr>
                <a:t>Property (law) applied</a:t>
              </a:r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5293185" y="3039307"/>
              <a:ext cx="261407" cy="287337"/>
            </a:xfrm>
            <a:prstGeom prst="downArrow">
              <a:avLst>
                <a:gd name="adj1" fmla="val 50000"/>
                <a:gd name="adj2" fmla="val 47053"/>
              </a:avLst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A56A7E1-A3D4-7B89-2C92-B9EF9F7A4A6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8D5943-517B-93B6-1955-461F415D2CE6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12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5750" y="1272833"/>
            <a:ext cx="8229600" cy="168203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Arial" charset="0"/>
              <a:buNone/>
              <a:defRPr/>
            </a:pPr>
            <a:r>
              <a:rPr lang="en-MY" dirty="0"/>
              <a:t>Let, </a:t>
            </a:r>
            <a:r>
              <a:rPr lang="en-MY" b="1" dirty="0"/>
              <a:t>A</a:t>
            </a:r>
            <a:r>
              <a:rPr lang="en-MY" dirty="0"/>
              <a:t> and </a:t>
            </a:r>
            <a:r>
              <a:rPr lang="en-MY" b="1" dirty="0"/>
              <a:t>B</a:t>
            </a:r>
            <a:r>
              <a:rPr lang="en-MY" dirty="0"/>
              <a:t> be sets.</a:t>
            </a:r>
            <a:r>
              <a:rPr lang="en-US" dirty="0"/>
              <a:t> By referring to the set identities, show that: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dirty="0"/>
              <a:t>	         </a:t>
            </a:r>
            <a:r>
              <a:rPr lang="en-US" b="1" dirty="0"/>
              <a:t> A </a:t>
            </a:r>
            <a:r>
              <a:rPr lang="en-US" dirty="0"/>
              <a:t>- (</a:t>
            </a:r>
            <a:r>
              <a:rPr lang="en-US" b="1" dirty="0"/>
              <a:t>A</a:t>
            </a:r>
            <a:r>
              <a:rPr lang="en-US" dirty="0"/>
              <a:t> </a:t>
            </a:r>
            <a:r>
              <a:rPr lang="en-US" dirty="0">
                <a:sym typeface="Symbol" charset="0"/>
              </a:rPr>
              <a:t> </a:t>
            </a:r>
            <a:r>
              <a:rPr lang="en-US" b="1" dirty="0"/>
              <a:t>B</a:t>
            </a:r>
            <a:r>
              <a:rPr lang="en-US" dirty="0"/>
              <a:t>) = </a:t>
            </a:r>
            <a:r>
              <a:rPr lang="en-US" b="1" dirty="0"/>
              <a:t>A</a:t>
            </a:r>
            <a:r>
              <a:rPr lang="en-US" dirty="0"/>
              <a:t> -</a:t>
            </a:r>
            <a:r>
              <a:rPr lang="en-US" dirty="0">
                <a:sym typeface="Symbol" charset="0"/>
              </a:rPr>
              <a:t> </a:t>
            </a:r>
            <a:r>
              <a:rPr lang="en-US" b="1" dirty="0"/>
              <a:t>B</a:t>
            </a:r>
          </a:p>
        </p:txBody>
      </p:sp>
      <p:sp>
        <p:nvSpPr>
          <p:cNvPr id="47107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38C5AFE7-DDAF-6A4F-A9AF-EDE4BE6F083C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67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86600" y="6383913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222249" y="638892"/>
            <a:ext cx="3012017" cy="633941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Example: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00050" y="3315461"/>
            <a:ext cx="8001000" cy="3044735"/>
            <a:chOff x="327819" y="2993209"/>
            <a:chExt cx="8001000" cy="3044735"/>
          </a:xfrm>
        </p:grpSpPr>
        <p:sp>
          <p:nvSpPr>
            <p:cNvPr id="11" name="Rectangle 2"/>
            <p:cNvSpPr>
              <a:spLocks noChangeArrowheads="1"/>
            </p:cNvSpPr>
            <p:nvPr/>
          </p:nvSpPr>
          <p:spPr bwMode="auto">
            <a:xfrm>
              <a:off x="327819" y="3483399"/>
              <a:ext cx="8001000" cy="2554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457200" algn="l"/>
                  <a:tab pos="571500" algn="l"/>
                </a:tabLs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1pPr>
              <a:lvl2pPr marL="742950" indent="-285750" eaLnBrk="0" hangingPunct="0">
                <a:tabLst>
                  <a:tab pos="457200" algn="l"/>
                  <a:tab pos="571500" algn="l"/>
                </a:tabLs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2pPr>
              <a:lvl3pPr marL="1143000" indent="-228600" eaLnBrk="0" hangingPunct="0">
                <a:tabLst>
                  <a:tab pos="457200" algn="l"/>
                  <a:tab pos="571500" algn="l"/>
                </a:tabLs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3pPr>
              <a:lvl4pPr marL="1600200" indent="-228600" eaLnBrk="0" hangingPunct="0">
                <a:tabLst>
                  <a:tab pos="457200" algn="l"/>
                  <a:tab pos="571500" algn="l"/>
                </a:tabLs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4pPr>
              <a:lvl5pPr marL="2057400" indent="-228600" eaLnBrk="0" hangingPunct="0">
                <a:tabLst>
                  <a:tab pos="457200" algn="l"/>
                  <a:tab pos="571500" algn="l"/>
                </a:tabLs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571500" algn="l"/>
                </a:tabLs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571500" algn="l"/>
                </a:tabLs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571500" algn="l"/>
                </a:tabLs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  <a:tab pos="571500" algn="l"/>
                </a:tabLst>
                <a:defRPr sz="2400">
                  <a:solidFill>
                    <a:schemeClr val="tx1"/>
                  </a:solidFill>
                  <a:latin typeface="Calibri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2000" b="1" dirty="0">
                  <a:latin typeface="+mn-lt"/>
                </a:rPr>
                <a:t>A</a:t>
              </a:r>
              <a:r>
                <a:rPr lang="en-US" altLang="en-US" sz="2000" dirty="0">
                  <a:latin typeface="+mn-lt"/>
                </a:rPr>
                <a:t> - (</a:t>
              </a:r>
              <a:r>
                <a:rPr lang="en-US" altLang="en-US" sz="2000" b="1" dirty="0">
                  <a:latin typeface="+mn-lt"/>
                </a:rPr>
                <a:t>A</a:t>
              </a:r>
              <a:r>
                <a:rPr lang="en-US" altLang="en-US" sz="2000" dirty="0">
                  <a:latin typeface="+mn-lt"/>
                </a:rPr>
                <a:t> </a:t>
              </a:r>
              <a:r>
                <a:rPr lang="en-US" altLang="en-US" sz="2000" dirty="0">
                  <a:latin typeface="+mn-lt"/>
                  <a:sym typeface="Symbol" charset="2"/>
                </a:rPr>
                <a:t> </a:t>
              </a:r>
              <a:r>
                <a:rPr lang="en-US" altLang="en-US" sz="2000" b="1" dirty="0">
                  <a:latin typeface="+mn-lt"/>
                </a:rPr>
                <a:t>B</a:t>
              </a:r>
              <a:r>
                <a:rPr lang="en-US" altLang="en-US" sz="2000" dirty="0">
                  <a:latin typeface="+mn-lt"/>
                </a:rPr>
                <a:t>) 	 =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</a:rPr>
                <a:t>A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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(A 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B)’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                		</a:t>
              </a:r>
              <a:r>
                <a:rPr lang="en-US" altLang="ja-JP" sz="2000" dirty="0">
                  <a:latin typeface="+mn-lt"/>
                  <a:sym typeface="Symbol" charset="2"/>
                </a:rPr>
                <a:t>[set difference laws]</a:t>
              </a:r>
            </a:p>
            <a:p>
              <a:pPr eaLnBrk="1" hangingPunct="1"/>
              <a:r>
                <a:rPr lang="en-US" altLang="en-US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				 = </a:t>
              </a:r>
              <a:r>
                <a:rPr lang="en-US" altLang="en-US" sz="2000" dirty="0">
                  <a:latin typeface="+mn-lt"/>
                </a:rPr>
                <a:t>A </a:t>
              </a:r>
              <a:r>
                <a:rPr lang="en-US" altLang="en-US" sz="2000" dirty="0">
                  <a:latin typeface="+mn-lt"/>
                  <a:sym typeface="Symbol" charset="2"/>
                </a:rPr>
                <a:t>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(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</a:rPr>
                <a:t>A’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 B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’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)               		</a:t>
              </a:r>
              <a:r>
                <a:rPr lang="en-US" altLang="ja-JP" sz="2000" dirty="0">
                  <a:solidFill>
                    <a:srgbClr val="000000"/>
                  </a:solidFill>
                  <a:latin typeface="+mn-lt"/>
                </a:rPr>
                <a:t>[De Morgan</a:t>
              </a:r>
              <a:r>
                <a:rPr lang="en-US" altLang="en-US" sz="2000" dirty="0">
                  <a:solidFill>
                    <a:srgbClr val="000000"/>
                  </a:solidFill>
                  <a:latin typeface="+mn-lt"/>
                </a:rPr>
                <a:t>’</a:t>
              </a:r>
              <a:r>
                <a:rPr lang="en-US" altLang="ja-JP" sz="2000" dirty="0">
                  <a:solidFill>
                    <a:srgbClr val="000000"/>
                  </a:solidFill>
                  <a:latin typeface="+mn-lt"/>
                </a:rPr>
                <a:t>s laws]</a:t>
              </a:r>
              <a:endParaRPr lang="en-US" altLang="ja-JP" sz="2000" dirty="0">
                <a:solidFill>
                  <a:srgbClr val="000000"/>
                </a:solidFill>
                <a:latin typeface="+mn-lt"/>
                <a:sym typeface="Symbol" charset="2"/>
              </a:endParaRPr>
            </a:p>
            <a:p>
              <a:pPr eaLnBrk="1" hangingPunct="1"/>
              <a:r>
                <a:rPr lang="en-US" altLang="en-US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	</a:t>
              </a:r>
              <a:r>
                <a:rPr lang="en-US" altLang="en-US" sz="2000" dirty="0">
                  <a:latin typeface="+mn-lt"/>
                  <a:sym typeface="Symbol" charset="2"/>
                </a:rPr>
                <a:t>       	         =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(A 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A’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) 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</a:rPr>
                <a:t> (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A 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B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’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</a:rPr>
                <a:t>)</a:t>
              </a:r>
              <a:r>
                <a:rPr lang="en-US" altLang="ja-JP" sz="2000" dirty="0">
                  <a:solidFill>
                    <a:srgbClr val="008000"/>
                  </a:solidFill>
                  <a:latin typeface="+mn-lt"/>
                  <a:sym typeface="Symbol" charset="2"/>
                </a:rPr>
                <a:t>     		</a:t>
              </a:r>
              <a:r>
                <a:rPr lang="en-US" altLang="ja-JP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[distributive laws] </a:t>
              </a:r>
            </a:p>
            <a:p>
              <a:pPr eaLnBrk="1" hangingPunct="1"/>
              <a:r>
                <a:rPr lang="en-US" altLang="en-US" sz="2000" dirty="0">
                  <a:solidFill>
                    <a:srgbClr val="0000FF"/>
                  </a:solidFill>
                  <a:latin typeface="+mn-lt"/>
                  <a:sym typeface="Symbol" charset="2"/>
                </a:rPr>
                <a:t>	 			 </a:t>
              </a:r>
              <a:r>
                <a:rPr lang="en-US" altLang="en-US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=</a:t>
              </a:r>
              <a:r>
                <a:rPr lang="en-US" altLang="en-US" sz="2000" dirty="0">
                  <a:solidFill>
                    <a:srgbClr val="0000FF"/>
                  </a:solidFill>
                  <a:latin typeface="+mn-lt"/>
                  <a:sym typeface="Symbol" charset="2"/>
                </a:rPr>
                <a:t>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</a:t>
              </a:r>
              <a:r>
                <a:rPr lang="en-US" altLang="en-US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 </a:t>
              </a:r>
              <a:r>
                <a:rPr lang="en-US" altLang="en-US" sz="2000" dirty="0">
                  <a:latin typeface="+mn-lt"/>
                  <a:sym typeface="Symbol" charset="2"/>
                </a:rPr>
                <a:t></a:t>
              </a:r>
              <a:r>
                <a:rPr lang="en-US" altLang="en-US" sz="2000" dirty="0">
                  <a:latin typeface="+mn-lt"/>
                </a:rPr>
                <a:t> (</a:t>
              </a:r>
              <a:r>
                <a:rPr lang="en-US" altLang="en-US" sz="2000" dirty="0">
                  <a:latin typeface="+mn-lt"/>
                  <a:sym typeface="Symbol" charset="2"/>
                </a:rPr>
                <a:t>A </a:t>
              </a:r>
              <a:r>
                <a:rPr lang="en-US" altLang="en-US" sz="2000" dirty="0">
                  <a:latin typeface="+mn-lt"/>
                </a:rPr>
                <a:t> </a:t>
              </a:r>
              <a:r>
                <a:rPr lang="en-US" altLang="en-US" sz="2000" dirty="0">
                  <a:latin typeface="+mn-lt"/>
                  <a:sym typeface="Symbol" charset="2"/>
                </a:rPr>
                <a:t>B’</a:t>
              </a:r>
              <a:r>
                <a:rPr lang="en-US" altLang="ja-JP" sz="2000" dirty="0">
                  <a:latin typeface="+mn-lt"/>
                </a:rPr>
                <a:t>)              </a:t>
              </a:r>
              <a:r>
                <a:rPr lang="en-US" altLang="ja-JP" sz="2000" dirty="0">
                  <a:solidFill>
                    <a:srgbClr val="0000FF"/>
                  </a:solidFill>
                  <a:latin typeface="+mn-lt"/>
                  <a:sym typeface="Symbol" charset="2"/>
                </a:rPr>
                <a:t> 		</a:t>
              </a:r>
              <a:r>
                <a:rPr lang="en-US" altLang="ja-JP" sz="2000" dirty="0">
                  <a:solidFill>
                    <a:srgbClr val="000000"/>
                  </a:solidFill>
                  <a:latin typeface="+mn-lt"/>
                </a:rPr>
                <a:t>[complement laws]</a:t>
              </a:r>
              <a:endParaRPr lang="en-US" altLang="ja-JP" sz="2000" dirty="0">
                <a:solidFill>
                  <a:srgbClr val="0000FF"/>
                </a:solidFill>
                <a:latin typeface="+mn-lt"/>
                <a:sym typeface="Symbol" charset="2"/>
              </a:endParaRPr>
            </a:p>
            <a:p>
              <a:pPr eaLnBrk="1" hangingPunct="1"/>
              <a:r>
                <a:rPr lang="en-US" altLang="en-US" sz="2000" dirty="0">
                  <a:solidFill>
                    <a:srgbClr val="0000FF"/>
                  </a:solidFill>
                  <a:latin typeface="+mn-lt"/>
                  <a:sym typeface="Symbol" charset="2"/>
                </a:rPr>
                <a:t>				 </a:t>
              </a:r>
              <a:r>
                <a:rPr lang="en-US" altLang="en-US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=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(A 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B’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) 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ja-JP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               		</a:t>
              </a:r>
              <a:r>
                <a:rPr lang="en-US" altLang="ja-JP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[commutative]</a:t>
              </a:r>
              <a:endParaRPr lang="en-US" altLang="ja-JP" sz="2000" dirty="0">
                <a:latin typeface="+mn-lt"/>
                <a:sym typeface="Symbol" charset="2"/>
              </a:endParaRPr>
            </a:p>
            <a:p>
              <a:pPr eaLnBrk="1" hangingPunct="1"/>
              <a:r>
                <a:rPr lang="en-US" altLang="en-US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				 =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A 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en-US" sz="2000" dirty="0">
                  <a:solidFill>
                    <a:srgbClr val="FF0000"/>
                  </a:solidFill>
                  <a:latin typeface="+mn-lt"/>
                  <a:sym typeface="Symbol" charset="2"/>
                </a:rPr>
                <a:t>B’                           		</a:t>
              </a:r>
              <a:r>
                <a:rPr lang="en-US" altLang="en-US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[Identity laws] </a:t>
              </a:r>
            </a:p>
            <a:p>
              <a:pPr eaLnBrk="1" hangingPunct="1"/>
              <a:r>
                <a:rPr lang="en-US" altLang="en-US" sz="2000" dirty="0">
                  <a:solidFill>
                    <a:srgbClr val="000000"/>
                  </a:solidFill>
                  <a:latin typeface="+mn-lt"/>
                  <a:sym typeface="Symbol" charset="2"/>
                </a:rPr>
                <a:t>                         = </a:t>
              </a:r>
              <a:r>
                <a:rPr lang="en-US" altLang="en-US" sz="2000" dirty="0">
                  <a:latin typeface="+mn-lt"/>
                  <a:sym typeface="Symbol" charset="2"/>
                </a:rPr>
                <a:t>A - B                              </a:t>
              </a:r>
            </a:p>
            <a:p>
              <a:pPr eaLnBrk="1" hangingPunct="1"/>
              <a:endPara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endParaRPr>
            </a:p>
          </p:txBody>
        </p:sp>
        <p:sp>
          <p:nvSpPr>
            <p:cNvPr id="12" name="Rectangle 3"/>
            <p:cNvSpPr txBox="1">
              <a:spLocks noChangeArrowheads="1"/>
            </p:cNvSpPr>
            <p:nvPr/>
          </p:nvSpPr>
          <p:spPr bwMode="auto">
            <a:xfrm>
              <a:off x="327819" y="2993209"/>
              <a:ext cx="1119187" cy="389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b" anchorCtr="0" compatLnSpc="1">
              <a:prstTxWarp prst="textNoShape">
                <a:avLst/>
              </a:prstTxWarp>
            </a:bodyPr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5pPr>
              <a:lvl6pPr marL="4572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6pPr>
              <a:lvl7pPr marL="9144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7pPr>
              <a:lvl8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8pPr>
              <a:lvl9pPr marL="1828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 panose="020F0302020204030204" pitchFamily="34" charset="0"/>
                </a:defRPr>
              </a:lvl9pPr>
            </a:lstStyle>
            <a:p>
              <a:pPr defTabSz="914400" eaLnBrk="1" hangingPunct="1"/>
              <a:r>
                <a:rPr lang="en-US" altLang="en-US" sz="1800" b="1" dirty="0">
                  <a:solidFill>
                    <a:srgbClr val="7030A0"/>
                  </a:solidFill>
                  <a:ea typeface="ＭＳ Ｐゴシック" charset="-128"/>
                </a:rPr>
                <a:t>Solution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A1DABD1-22DC-903C-B9A0-94E3B76CE8C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B5FF53-F662-4CC7-F109-5BA6C2C1A74E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56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>
          <a:xfrm>
            <a:off x="140230" y="684070"/>
            <a:ext cx="7158037" cy="646399"/>
          </a:xfrm>
        </p:spPr>
        <p:txBody>
          <a:bodyPr/>
          <a:lstStyle/>
          <a:p>
            <a:r>
              <a:rPr lang="en-US" altLang="en-US" sz="3600" b="1" dirty="0">
                <a:solidFill>
                  <a:srgbClr val="C00000"/>
                </a:solidFill>
                <a:ea typeface="MS PGothic" charset="-128"/>
              </a:rPr>
              <a:t>Generalized Unions &amp; Intersection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55" name="TextBox 1"/>
              <p:cNvSpPr txBox="1">
                <a:spLocks noChangeArrowheads="1"/>
              </p:cNvSpPr>
              <p:nvPr/>
            </p:nvSpPr>
            <p:spPr bwMode="auto">
              <a:xfrm>
                <a:off x="239183" y="1390928"/>
                <a:ext cx="8424863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ＭＳ Ｐゴシック" charset="-128"/>
                  </a:defRPr>
                </a:lvl9pPr>
              </a:lstStyle>
              <a:p>
                <a:pPr algn="just" eaLnBrk="1" hangingPunct="1"/>
                <a:r>
                  <a:rPr lang="en-US" altLang="en-US" dirty="0"/>
                  <a:t>Given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MY" alt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MY" alt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MY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MY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alt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MY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MY" alt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alt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altLang="en-US" dirty="0"/>
                  <a:t> that are subsets of a universal set </a:t>
                </a:r>
                <a:r>
                  <a:rPr lang="en-US" altLang="en-US" b="1" dirty="0"/>
                  <a:t>U</a:t>
                </a:r>
                <a:r>
                  <a:rPr lang="en-US" altLang="en-US" dirty="0"/>
                  <a:t> and given a nonnegative integer, </a:t>
                </a:r>
                <a:r>
                  <a: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en-US" dirty="0"/>
                  <a:t>.</a:t>
                </a:r>
              </a:p>
            </p:txBody>
          </p:sp>
        </mc:Choice>
        <mc:Fallback xmlns="">
          <p:sp>
            <p:nvSpPr>
              <p:cNvPr id="49155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183" y="1390928"/>
                <a:ext cx="8424863" cy="830997"/>
              </a:xfrm>
              <a:prstGeom prst="rect">
                <a:avLst/>
              </a:prstGeom>
              <a:blipFill>
                <a:blip r:embed="rId2"/>
                <a:stretch>
                  <a:fillRect l="-1085" t="-5882" r="-1158" b="-1617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5216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41681" y="4386283"/>
                <a:ext cx="6975119" cy="1797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MY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={</m:t>
                          </m:r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MY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𝐔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for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all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=0, 1, 2, …,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en-MY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MY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={</m:t>
                          </m:r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MY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𝐔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for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all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nonnegative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integer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en-MY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81" y="4386283"/>
                <a:ext cx="6975119" cy="1797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41681" y="2221925"/>
                <a:ext cx="6975119" cy="20747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MY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={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MY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𝐔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for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least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one</m:t>
                          </m:r>
                          <m:r>
                            <a:rPr lang="en-MY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=0, 1, 2, …,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MY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MY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={</m:t>
                          </m:r>
                          <m:r>
                            <a:rPr lang="en-MY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MY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for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least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one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nonnegative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integer</m:t>
                          </m:r>
                          <m:r>
                            <a:rPr lang="en-MY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MY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en-MY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81" y="2221925"/>
                <a:ext cx="6975119" cy="2074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/>
          <p:cNvSpPr/>
          <p:nvPr/>
        </p:nvSpPr>
        <p:spPr>
          <a:xfrm>
            <a:off x="7518399" y="2370667"/>
            <a:ext cx="321733" cy="1786466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07866" y="3132667"/>
            <a:ext cx="668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b="1" dirty="0"/>
              <a:t>Union</a:t>
            </a:r>
            <a:endParaRPr lang="en-US" sz="1400" b="1" dirty="0"/>
          </a:p>
        </p:txBody>
      </p:sp>
      <p:sp>
        <p:nvSpPr>
          <p:cNvPr id="21" name="Right Brace 20"/>
          <p:cNvSpPr/>
          <p:nvPr/>
        </p:nvSpPr>
        <p:spPr>
          <a:xfrm>
            <a:off x="7518399" y="4397617"/>
            <a:ext cx="321733" cy="1786466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07865" y="5159617"/>
            <a:ext cx="1075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b="1" dirty="0"/>
              <a:t>Intersection</a:t>
            </a:r>
            <a:endParaRPr 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2815F2-BDC9-4BD8-A537-6B491847D870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E156D-E8C8-3139-8FEF-32E8B41A395A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9610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9817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>
          <a:xfrm>
            <a:off x="222249" y="638892"/>
            <a:ext cx="3012017" cy="633941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2249" y="1183874"/>
                <a:ext cx="8339665" cy="1476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MY" sz="2000" dirty="0"/>
                  <a:t>For each positive integer </a:t>
                </a:r>
                <a:r>
                  <a:rPr lang="en-MY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MY" sz="2000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MY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𝐑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|−</m:t>
                        </m:r>
                        <m:f>
                          <m:f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sz="2000" dirty="0"/>
                  <a:t>Find:</a:t>
                </a:r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0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MY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sz="20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MY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49" y="1183874"/>
                <a:ext cx="8339665" cy="1476302"/>
              </a:xfrm>
              <a:prstGeom prst="rect">
                <a:avLst/>
              </a:prstGeom>
              <a:blipFill>
                <a:blip r:embed="rId2"/>
                <a:stretch>
                  <a:fillRect l="-730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222249" y="3142724"/>
            <a:ext cx="8743950" cy="2434627"/>
            <a:chOff x="222249" y="2956455"/>
            <a:chExt cx="8743950" cy="2434627"/>
          </a:xfrm>
        </p:grpSpPr>
        <p:sp>
          <p:nvSpPr>
            <p:cNvPr id="9" name="TextBox 8"/>
            <p:cNvSpPr txBox="1"/>
            <p:nvPr/>
          </p:nvSpPr>
          <p:spPr>
            <a:xfrm>
              <a:off x="222249" y="2956455"/>
              <a:ext cx="17475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400" b="1" dirty="0">
                  <a:solidFill>
                    <a:srgbClr val="7030A0"/>
                  </a:solidFill>
                </a:rPr>
                <a:t>Solution (a):</a:t>
              </a:r>
              <a:endParaRPr lang="en-US" sz="2400" b="1"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22249" y="3377957"/>
                  <a:ext cx="7808741" cy="174874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MY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  <m:r>
                              <m:rPr>
                                <m:sty m:val="p"/>
                              </m:rPr>
                              <a:rPr lang="en-MY" sz="16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16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MY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−1,1</m:t>
                            </m:r>
                          </m:e>
                        </m:d>
                        <m:r>
                          <a:rPr lang="en-MY" sz="1600" b="0" i="0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MY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sz="16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160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MY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MY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MY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MY" sz="16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MY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sz="16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MY" sz="160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MY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MY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MY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MY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MY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1600" dirty="0"/>
                </a:p>
                <a:p>
                  <a:endParaRPr lang="en-US" sz="1600" dirty="0"/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MY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∴</m:t>
                          </m:r>
                          <m:r>
                            <m:rPr>
                              <m:sty m:val="p"/>
                            </m:rPr>
                            <a:rPr lang="en-MY" sz="16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MY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MY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MY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sz="1600" dirty="0"/>
                    <a:t> =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MY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MY" sz="16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𝐑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is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at</m:t>
                          </m:r>
                          <m: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least</m:t>
                          </m:r>
                          <m: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one</m:t>
                          </m:r>
                          <m: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of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the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interval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−1,1</m:t>
                              </m:r>
                            </m:e>
                          </m:d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or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or</m:t>
                          </m:r>
                          <m:r>
                            <a:rPr lang="en-MY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MY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MY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a14:m>
                  <a:endParaRPr lang="en-MY" sz="1600" dirty="0">
                    <a:ea typeface="Cambria Math" panose="02040503050406030204" pitchFamily="18" charset="0"/>
                  </a:endParaRPr>
                </a:p>
                <a:p>
                  <a:r>
                    <a:rPr lang="en-US" sz="1600" dirty="0"/>
                    <a:t>                             =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MY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MY" sz="16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𝐑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−1&lt;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&lt;1</m:t>
                          </m:r>
                        </m:e>
                      </m:d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                            =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249" y="3377957"/>
                  <a:ext cx="7808741" cy="1748748"/>
                </a:xfrm>
                <a:prstGeom prst="rect">
                  <a:avLst/>
                </a:prstGeom>
                <a:blipFill>
                  <a:blip r:embed="rId3"/>
                  <a:stretch>
                    <a:fillRect b="-34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/>
            <p:cNvCxnSpPr>
              <a:endCxn id="10" idx="2"/>
            </p:cNvCxnSpPr>
            <p:nvPr/>
          </p:nvCxnSpPr>
          <p:spPr>
            <a:xfrm>
              <a:off x="3570819" y="4826001"/>
              <a:ext cx="555801" cy="30070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126618" y="4976353"/>
                  <a:ext cx="4839581" cy="41472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MY" sz="1400" dirty="0"/>
                    <a:t>Because all the elements in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en-MY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a:rPr lang="en-MY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MY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(−</m:t>
                      </m:r>
                      <m:f>
                        <m:fPr>
                          <m:ctrlP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MY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MY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400" dirty="0"/>
                    <a:t> are in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</m:oMath>
                  </a14:m>
                  <a:r>
                    <a:rPr lang="en-US" sz="1400" dirty="0"/>
                    <a:t> </a:t>
                  </a: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6618" y="4976353"/>
                  <a:ext cx="4839581" cy="414729"/>
                </a:xfrm>
                <a:prstGeom prst="rect">
                  <a:avLst/>
                </a:prstGeom>
                <a:blipFill>
                  <a:blip r:embed="rId4"/>
                  <a:stretch>
                    <a:fillRect l="-378" b="-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Oval 1"/>
          <p:cNvSpPr/>
          <p:nvPr/>
        </p:nvSpPr>
        <p:spPr>
          <a:xfrm>
            <a:off x="4825576" y="2062610"/>
            <a:ext cx="2967143" cy="1950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         A1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5089947" y="2272706"/>
            <a:ext cx="1219200" cy="133168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A2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5353895" y="3044269"/>
            <a:ext cx="691303" cy="51308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rgbClr val="FF0000"/>
                </a:solidFill>
              </a:rPr>
              <a:t>A3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CC155-6025-3C34-1D7E-BA472648B77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12611A-92EB-6046-DF2B-C9B5BF5D21EC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4679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9817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>
          <a:xfrm>
            <a:off x="222249" y="638892"/>
            <a:ext cx="3012017" cy="633941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2249" y="1183874"/>
                <a:ext cx="8339665" cy="1476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MY" sz="2000" dirty="0"/>
                  <a:t>For each positive integer </a:t>
                </a:r>
                <a:r>
                  <a:rPr lang="en-MY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MY" sz="2000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MY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𝐑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|−</m:t>
                        </m:r>
                        <m:f>
                          <m:f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MY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en-MY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MY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sz="2000" dirty="0"/>
                  <a:t>Find:</a:t>
                </a:r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0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MY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sz="20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MY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i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MY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MY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MY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MY" sz="20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49" y="1183874"/>
                <a:ext cx="8339665" cy="1476302"/>
              </a:xfrm>
              <a:prstGeom prst="rect">
                <a:avLst/>
              </a:prstGeom>
              <a:blipFill>
                <a:blip r:embed="rId2"/>
                <a:stretch>
                  <a:fillRect l="-730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222249" y="2860585"/>
            <a:ext cx="7295780" cy="2690640"/>
            <a:chOff x="222249" y="2956455"/>
            <a:chExt cx="7295780" cy="2039038"/>
          </a:xfrm>
        </p:grpSpPr>
        <p:sp>
          <p:nvSpPr>
            <p:cNvPr id="9" name="TextBox 8"/>
            <p:cNvSpPr txBox="1"/>
            <p:nvPr/>
          </p:nvSpPr>
          <p:spPr>
            <a:xfrm>
              <a:off x="222249" y="2956455"/>
              <a:ext cx="17604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400" b="1" dirty="0">
                  <a:solidFill>
                    <a:srgbClr val="7030A0"/>
                  </a:solidFill>
                </a:rPr>
                <a:t>Solution (b):</a:t>
              </a:r>
              <a:endParaRPr lang="en-US" sz="2400" b="1"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222249" y="3377957"/>
                  <a:ext cx="7295780" cy="151567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MY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  <m:r>
                              <m:rPr>
                                <m:sty m:val="p"/>
                              </m:rPr>
                              <a:rPr lang="en-MY" sz="16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16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MY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−1,1</m:t>
                            </m:r>
                          </m:e>
                        </m:d>
                        <m:r>
                          <a:rPr lang="en-MY" sz="1600" b="0" i="0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MY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sz="16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160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MY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MY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MY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MY" sz="16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MY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MY" sz="160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MY" sz="16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MY" sz="160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MY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MY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MY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MY" sz="160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MY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MY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MY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1600" dirty="0"/>
                </a:p>
                <a:p>
                  <a:endParaRPr lang="en-US" sz="1600" dirty="0"/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MY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∴</m:t>
                          </m:r>
                          <m:r>
                            <m:rPr>
                              <m:sty m:val="p"/>
                            </m:rPr>
                            <a:rPr lang="en-MY" sz="16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MY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MY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MY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en-US" sz="1600" dirty="0"/>
                    <a:t> =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MY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MY" sz="1600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𝐑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is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all</m:t>
                          </m:r>
                          <m: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of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the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interval</m:t>
                          </m:r>
                          <m:r>
                            <a:rPr lang="en-MY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−1,1</m:t>
                              </m:r>
                            </m:e>
                          </m:d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and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MY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MY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and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MY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MY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a14:m>
                  <a:endParaRPr lang="en-MY" sz="1600" dirty="0">
                    <a:ea typeface="Cambria Math" panose="02040503050406030204" pitchFamily="18" charset="0"/>
                  </a:endParaRPr>
                </a:p>
                <a:p>
                  <a:r>
                    <a:rPr lang="en-US" sz="1600" dirty="0"/>
                    <a:t>                             = 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MY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MY" sz="16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𝐑</m:t>
                          </m:r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MY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MY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                            =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MY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MY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MY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249" y="3377957"/>
                  <a:ext cx="7295780" cy="151567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/>
            <p:cNvCxnSpPr/>
            <p:nvPr/>
          </p:nvCxnSpPr>
          <p:spPr>
            <a:xfrm>
              <a:off x="3570819" y="4574223"/>
              <a:ext cx="555801" cy="2573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126619" y="4681200"/>
                  <a:ext cx="3213982" cy="31429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MY" sz="1400" dirty="0"/>
                    <a:t>Because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MY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MY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MY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MY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MY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(−</m:t>
                      </m:r>
                      <m:f>
                        <m:fPr>
                          <m:ctrlP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MY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MY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MY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MY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MY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</m:oMath>
                  </a14:m>
                  <a:r>
                    <a:rPr lang="en-US" sz="140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</m:oMath>
                  </a14:m>
                  <a:r>
                    <a:rPr lang="en-US" sz="1400" dirty="0"/>
                    <a:t> </a:t>
                  </a: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6619" y="4681200"/>
                  <a:ext cx="3213982" cy="314293"/>
                </a:xfrm>
                <a:prstGeom prst="rect">
                  <a:avLst/>
                </a:prstGeom>
                <a:blipFill>
                  <a:blip r:embed="rId4"/>
                  <a:stretch>
                    <a:fillRect l="-569" b="-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Oval 13"/>
          <p:cNvSpPr/>
          <p:nvPr/>
        </p:nvSpPr>
        <p:spPr>
          <a:xfrm>
            <a:off x="4825576" y="2062610"/>
            <a:ext cx="2967143" cy="19505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         A1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5089947" y="2272706"/>
            <a:ext cx="1219200" cy="1331683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A2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5353895" y="3044269"/>
            <a:ext cx="691303" cy="51308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rgbClr val="FF0000"/>
                </a:solidFill>
              </a:rPr>
              <a:t>A3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C8E678-CA32-3886-633B-3858671C06F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D8336-9AC6-3281-A24D-FDA9E986502F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5348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6400" y="1752600"/>
            <a:ext cx="8361363" cy="3005667"/>
          </a:xfrm>
        </p:spPr>
        <p:txBody>
          <a:bodyPr/>
          <a:lstStyle/>
          <a:p>
            <a:pPr marL="457200" indent="-457200" algn="just" eaLnBrk="1" hangingPunct="1"/>
            <a:r>
              <a:rPr lang="en-US" altLang="en-US" dirty="0">
                <a:ea typeface="ＭＳ Ｐゴシック" charset="-128"/>
              </a:rPr>
              <a:t>Given sets </a:t>
            </a:r>
            <a:r>
              <a:rPr lang="en-US" altLang="en-US" b="1" dirty="0">
                <a:ea typeface="ＭＳ Ｐゴシック" charset="-128"/>
              </a:rPr>
              <a:t>A </a:t>
            </a:r>
            <a:r>
              <a:rPr lang="en-US" altLang="en-US" dirty="0">
                <a:ea typeface="ＭＳ Ｐゴシック" charset="-128"/>
              </a:rPr>
              <a:t>and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, the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Cartesian product </a:t>
            </a:r>
            <a:r>
              <a:rPr lang="en-US" altLang="en-US" dirty="0">
                <a:ea typeface="ＭＳ Ｐゴシック" charset="-128"/>
              </a:rPr>
              <a:t>of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, denoted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(read “A cross B”) is the set of all ordered pairs (</a:t>
            </a:r>
            <a:r>
              <a:rPr lang="en-US" altLang="en-US" i="1" dirty="0">
                <a:solidFill>
                  <a:srgbClr val="0070C0"/>
                </a:solidFill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, </a:t>
            </a:r>
            <a:r>
              <a:rPr lang="en-US" altLang="en-US" i="1" dirty="0">
                <a:solidFill>
                  <a:srgbClr val="FF0000"/>
                </a:solidFill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), where </a:t>
            </a:r>
            <a:r>
              <a:rPr lang="en-US" altLang="en-US" i="1" dirty="0">
                <a:solidFill>
                  <a:srgbClr val="0070C0"/>
                </a:solidFill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is in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i="1" dirty="0">
                <a:solidFill>
                  <a:srgbClr val="FF0000"/>
                </a:solidFill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is in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. </a:t>
            </a:r>
          </a:p>
          <a:p>
            <a:pPr marL="0" indent="0" algn="just" eaLnBrk="1" hangingPunct="1">
              <a:buNone/>
            </a:pPr>
            <a:endParaRPr lang="en-US" altLang="en-US" dirty="0">
              <a:ea typeface="ＭＳ Ｐゴシック" charset="-128"/>
            </a:endParaRPr>
          </a:p>
          <a:p>
            <a:pPr marL="457200" indent="-457200" algn="just" eaLnBrk="1" hangingPunct="1"/>
            <a:r>
              <a:rPr lang="en-US" altLang="en-US" dirty="0">
                <a:ea typeface="ＭＳ Ｐゴシック" charset="-128"/>
              </a:rPr>
              <a:t>Symbolically: </a:t>
            </a:r>
          </a:p>
          <a:p>
            <a:pPr marL="457200" indent="-457200" algn="ctr" eaLnBrk="1" hangingPunct="1">
              <a:buFontTx/>
              <a:buNone/>
            </a:pP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3600" dirty="0">
                <a:ea typeface="ＭＳ Ｐゴシック" charset="-128"/>
              </a:rPr>
              <a:t>= {(</a:t>
            </a:r>
            <a:r>
              <a:rPr lang="en-US" altLang="en-US" sz="3600" i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, </a:t>
            </a:r>
            <a:r>
              <a:rPr lang="en-US" altLang="en-US" sz="3600" i="1" dirty="0">
                <a:ea typeface="ＭＳ Ｐゴシック" charset="-128"/>
              </a:rPr>
              <a:t>b</a:t>
            </a:r>
            <a:r>
              <a:rPr lang="en-US" altLang="en-US" sz="3600" dirty="0">
                <a:ea typeface="ＭＳ Ｐゴシック" charset="-128"/>
              </a:rPr>
              <a:t>)| </a:t>
            </a:r>
            <a:r>
              <a:rPr lang="en-US" altLang="en-US" sz="3600" i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 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ea typeface="ＭＳ Ｐゴシック" charset="-128"/>
              </a:rPr>
              <a:t>  and </a:t>
            </a:r>
            <a:r>
              <a:rPr lang="en-US" altLang="en-US" sz="3600" i="1" dirty="0">
                <a:ea typeface="ＭＳ Ｐゴシック" charset="-128"/>
              </a:rPr>
              <a:t>b</a:t>
            </a:r>
            <a:r>
              <a:rPr lang="en-US" altLang="en-US" sz="3600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 </a:t>
            </a: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dirty="0">
                <a:ea typeface="ＭＳ Ｐゴシック" charset="-128"/>
              </a:rPr>
              <a:t>}</a:t>
            </a:r>
            <a:endParaRPr lang="en-US" altLang="en-US" dirty="0">
              <a:ea typeface="ＭＳ Ｐゴシック" charset="-128"/>
            </a:endParaRPr>
          </a:p>
          <a:p>
            <a:pPr marL="457200" indent="-457200" eaLnBrk="1" hangingPunct="1">
              <a:lnSpc>
                <a:spcPct val="90000"/>
              </a:lnSpc>
            </a:pPr>
            <a:endParaRPr lang="en-US" altLang="en-US" dirty="0">
              <a:ea typeface="ＭＳ Ｐゴシック" charset="-128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>
              <a:ea typeface="ＭＳ Ｐゴシック" charset="-128"/>
            </a:endParaRP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title"/>
          </p:nvPr>
        </p:nvSpPr>
        <p:spPr>
          <a:xfrm>
            <a:off x="101602" y="715615"/>
            <a:ext cx="6938433" cy="6731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Cartesian Product</a:t>
            </a:r>
          </a:p>
        </p:txBody>
      </p:sp>
      <p:sp>
        <p:nvSpPr>
          <p:cNvPr id="52227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81EC8278-1A49-0F48-98FC-EE186C55619B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71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B02FD2-77BC-EE8E-2F9D-977B64D869CD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FF5FA-3C72-084C-29B0-FB6CC55E2447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3373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20700" y="1749346"/>
            <a:ext cx="8191499" cy="4114800"/>
          </a:xfrm>
        </p:spPr>
        <p:txBody>
          <a:bodyPr/>
          <a:lstStyle/>
          <a:p>
            <a:pPr marL="457200" indent="-457200" eaLnBrk="1" hangingPunct="1">
              <a:buFont typeface="Arial" charset="0"/>
              <a:buNone/>
            </a:pPr>
            <a:r>
              <a:rPr lang="en-MY" altLang="en-US" sz="3600" dirty="0">
                <a:ea typeface="ＭＳ Ｐゴシック" charset="-128"/>
              </a:rPr>
              <a:t>Let, </a:t>
            </a:r>
            <a:r>
              <a:rPr lang="en-MY" altLang="en-US" sz="3600" b="1" dirty="0">
                <a:ea typeface="ＭＳ Ｐゴシック" charset="-128"/>
              </a:rPr>
              <a:t>A</a:t>
            </a:r>
            <a:r>
              <a:rPr lang="en-MY" altLang="en-US" sz="3600" dirty="0">
                <a:ea typeface="ＭＳ Ｐゴシック" charset="-128"/>
              </a:rPr>
              <a:t> and </a:t>
            </a:r>
            <a:r>
              <a:rPr lang="en-MY" altLang="en-US" sz="3600" b="1" dirty="0">
                <a:ea typeface="ＭＳ Ｐゴシック" charset="-128"/>
              </a:rPr>
              <a:t>B</a:t>
            </a:r>
            <a:r>
              <a:rPr lang="en-MY" altLang="en-US" sz="3600" dirty="0">
                <a:ea typeface="ＭＳ Ｐゴシック" charset="-128"/>
              </a:rPr>
              <a:t> be sets.</a:t>
            </a:r>
            <a:endParaRPr lang="en-US" altLang="en-US" sz="3600" dirty="0">
              <a:ea typeface="ＭＳ Ｐゴシック" charset="-128"/>
            </a:endParaRPr>
          </a:p>
          <a:p>
            <a:pPr marL="457200" indent="-457200" eaLnBrk="1" hangingPunct="1">
              <a:buFont typeface="Arial" charset="0"/>
              <a:buNone/>
            </a:pP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b="1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3600" dirty="0">
                <a:solidFill>
                  <a:srgbClr val="000000"/>
                </a:solidFill>
                <a:ea typeface="ＭＳ Ｐゴシック" charset="-128"/>
              </a:rPr>
              <a:t>= {</a:t>
            </a:r>
            <a:r>
              <a:rPr lang="en-US" altLang="en-US" sz="3600" i="1" dirty="0">
                <a:solidFill>
                  <a:srgbClr val="000000"/>
                </a:solidFill>
                <a:ea typeface="ＭＳ Ｐゴシック" charset="-128"/>
              </a:rPr>
              <a:t>a</a:t>
            </a:r>
            <a:r>
              <a:rPr lang="en-US" altLang="en-US" sz="3600" dirty="0">
                <a:solidFill>
                  <a:srgbClr val="000000"/>
                </a:solidFill>
                <a:ea typeface="ＭＳ Ｐゴシック" charset="-128"/>
              </a:rPr>
              <a:t>, </a:t>
            </a:r>
            <a:r>
              <a:rPr lang="en-US" altLang="en-US" sz="3600" i="1" dirty="0">
                <a:solidFill>
                  <a:srgbClr val="000000"/>
                </a:solidFill>
                <a:ea typeface="ＭＳ Ｐゴシック" charset="-128"/>
              </a:rPr>
              <a:t>b</a:t>
            </a:r>
            <a:r>
              <a:rPr lang="en-US" altLang="en-US" sz="3600" dirty="0">
                <a:solidFill>
                  <a:srgbClr val="000000"/>
                </a:solidFill>
                <a:ea typeface="ＭＳ Ｐゴシック" charset="-128"/>
              </a:rPr>
              <a:t>}; </a:t>
            </a: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b="1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3600" dirty="0">
                <a:solidFill>
                  <a:srgbClr val="000000"/>
                </a:solidFill>
                <a:ea typeface="ＭＳ Ｐゴシック" charset="-128"/>
              </a:rPr>
              <a:t>= {1, 2} </a:t>
            </a:r>
          </a:p>
          <a:p>
            <a:pPr marL="457200" indent="-457200" eaLnBrk="1" hangingPunct="1">
              <a:buFont typeface="Arial" charset="0"/>
              <a:buNone/>
            </a:pPr>
            <a:endParaRPr lang="en-US" altLang="en-US" sz="3600" dirty="0">
              <a:ea typeface="ＭＳ Ｐゴシック" charset="-128"/>
            </a:endParaRPr>
          </a:p>
          <a:p>
            <a:pPr marL="457200" indent="-457200" eaLnBrk="1" hangingPunct="1">
              <a:buFont typeface="Arial" charset="0"/>
              <a:buNone/>
            </a:pP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i="1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3600" dirty="0">
                <a:ea typeface="ＭＳ Ｐゴシック" charset="-128"/>
              </a:rPr>
              <a:t>=</a:t>
            </a: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</a:rPr>
              <a:t> 	</a:t>
            </a:r>
            <a:endParaRPr lang="en-US" altLang="en-US" sz="3600" b="1" dirty="0">
              <a:solidFill>
                <a:srgbClr val="0000FF"/>
              </a:solidFill>
              <a:ea typeface="ＭＳ Ｐゴシック" charset="-128"/>
            </a:endParaRPr>
          </a:p>
          <a:p>
            <a:pPr marL="457200" indent="-457200" eaLnBrk="1" hangingPunct="1">
              <a:buFont typeface="Arial" charset="0"/>
              <a:buNone/>
            </a:pPr>
            <a:endParaRPr lang="en-US" altLang="en-US" sz="3600" b="1" dirty="0">
              <a:ea typeface="ＭＳ Ｐゴシック" charset="-128"/>
            </a:endParaRPr>
          </a:p>
          <a:p>
            <a:pPr marL="457200" indent="-457200" eaLnBrk="1" hangingPunct="1">
              <a:buFont typeface="Arial" charset="0"/>
              <a:buNone/>
            </a:pPr>
            <a:r>
              <a:rPr lang="en-US" altLang="en-US" sz="3600" b="1" dirty="0">
                <a:ea typeface="ＭＳ Ｐゴシック" charset="-128"/>
              </a:rPr>
              <a:t>B</a:t>
            </a: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 sz="3600" b="1" dirty="0">
                <a:ea typeface="ＭＳ Ｐゴシック" charset="-128"/>
              </a:rPr>
              <a:t>A</a:t>
            </a:r>
            <a:r>
              <a:rPr lang="en-US" altLang="en-US" sz="3600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3600" dirty="0">
                <a:ea typeface="ＭＳ Ｐゴシック" charset="-128"/>
              </a:rPr>
              <a:t>=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title"/>
          </p:nvPr>
        </p:nvSpPr>
        <p:spPr>
          <a:xfrm>
            <a:off x="160866" y="699029"/>
            <a:ext cx="7770283" cy="640821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Example:</a:t>
            </a:r>
          </a:p>
        </p:txBody>
      </p:sp>
      <p:sp>
        <p:nvSpPr>
          <p:cNvPr id="55299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064497DB-8A78-2344-B4D4-523C378B8425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72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05251" y="4809596"/>
            <a:ext cx="44815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en-US" sz="3200" dirty="0">
                <a:solidFill>
                  <a:srgbClr val="0070C0"/>
                </a:solidFill>
              </a:rPr>
              <a:t>{(1, </a:t>
            </a:r>
            <a:r>
              <a:rPr lang="en-US" altLang="en-US" sz="3200" i="1" dirty="0">
                <a:solidFill>
                  <a:srgbClr val="0070C0"/>
                </a:solidFill>
              </a:rPr>
              <a:t>a</a:t>
            </a:r>
            <a:r>
              <a:rPr lang="en-US" altLang="en-US" sz="3200" dirty="0">
                <a:solidFill>
                  <a:srgbClr val="0070C0"/>
                </a:solidFill>
              </a:rPr>
              <a:t>), (1, </a:t>
            </a:r>
            <a:r>
              <a:rPr lang="en-US" altLang="en-US" sz="3200" i="1" dirty="0">
                <a:solidFill>
                  <a:srgbClr val="0070C0"/>
                </a:solidFill>
              </a:rPr>
              <a:t>b</a:t>
            </a:r>
            <a:r>
              <a:rPr lang="en-US" altLang="en-US" sz="3200" dirty="0">
                <a:solidFill>
                  <a:srgbClr val="0070C0"/>
                </a:solidFill>
              </a:rPr>
              <a:t>), (2, </a:t>
            </a:r>
            <a:r>
              <a:rPr lang="en-US" altLang="en-US" sz="3200" i="1" dirty="0">
                <a:solidFill>
                  <a:srgbClr val="0070C0"/>
                </a:solidFill>
              </a:rPr>
              <a:t>a</a:t>
            </a:r>
            <a:r>
              <a:rPr lang="en-US" altLang="en-US" sz="3200" dirty="0">
                <a:solidFill>
                  <a:srgbClr val="0070C0"/>
                </a:solidFill>
              </a:rPr>
              <a:t>), (2, </a:t>
            </a:r>
            <a:r>
              <a:rPr lang="en-US" altLang="en-US" sz="3200" i="1" dirty="0">
                <a:solidFill>
                  <a:srgbClr val="0070C0"/>
                </a:solidFill>
              </a:rPr>
              <a:t>b</a:t>
            </a:r>
            <a:r>
              <a:rPr lang="en-US" altLang="en-US" sz="3200" dirty="0">
                <a:solidFill>
                  <a:srgbClr val="0070C0"/>
                </a:solidFill>
              </a:rPr>
              <a:t>)}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23100" y="6337300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13984" y="3569104"/>
            <a:ext cx="44935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>
              <a:buFont typeface="Arial" charset="0"/>
              <a:buNone/>
            </a:pPr>
            <a:r>
              <a:rPr lang="en-US" altLang="en-US" sz="3200" dirty="0">
                <a:solidFill>
                  <a:srgbClr val="0070C0"/>
                </a:solidFill>
                <a:ea typeface="ＭＳ Ｐゴシック" charset="-128"/>
              </a:rPr>
              <a:t>{(</a:t>
            </a:r>
            <a:r>
              <a:rPr lang="en-US" altLang="en-US" sz="3200" i="1" dirty="0">
                <a:solidFill>
                  <a:srgbClr val="0070C0"/>
                </a:solidFill>
                <a:ea typeface="ＭＳ Ｐゴシック" charset="-128"/>
              </a:rPr>
              <a:t>a</a:t>
            </a:r>
            <a:r>
              <a:rPr lang="en-US" altLang="en-US" sz="3200" dirty="0">
                <a:solidFill>
                  <a:srgbClr val="0070C0"/>
                </a:solidFill>
                <a:ea typeface="ＭＳ Ｐゴシック" charset="-128"/>
              </a:rPr>
              <a:t>, 1), (</a:t>
            </a:r>
            <a:r>
              <a:rPr lang="en-US" altLang="en-US" sz="3200" i="1" dirty="0">
                <a:solidFill>
                  <a:srgbClr val="0070C0"/>
                </a:solidFill>
                <a:ea typeface="ＭＳ Ｐゴシック" charset="-128"/>
              </a:rPr>
              <a:t>a</a:t>
            </a:r>
            <a:r>
              <a:rPr lang="en-US" altLang="en-US" sz="3200" dirty="0">
                <a:solidFill>
                  <a:srgbClr val="0070C0"/>
                </a:solidFill>
                <a:ea typeface="ＭＳ Ｐゴシック" charset="-128"/>
              </a:rPr>
              <a:t>, 2), (</a:t>
            </a:r>
            <a:r>
              <a:rPr lang="en-US" altLang="en-US" sz="3200" i="1" dirty="0">
                <a:solidFill>
                  <a:srgbClr val="0070C0"/>
                </a:solidFill>
                <a:ea typeface="ＭＳ Ｐゴシック" charset="-128"/>
              </a:rPr>
              <a:t>b</a:t>
            </a:r>
            <a:r>
              <a:rPr lang="en-US" altLang="en-US" sz="3200" dirty="0">
                <a:solidFill>
                  <a:srgbClr val="0070C0"/>
                </a:solidFill>
                <a:ea typeface="ＭＳ Ｐゴシック" charset="-128"/>
              </a:rPr>
              <a:t>, 1), (</a:t>
            </a:r>
            <a:r>
              <a:rPr lang="en-US" altLang="en-US" sz="3200" i="1" dirty="0">
                <a:solidFill>
                  <a:srgbClr val="0070C0"/>
                </a:solidFill>
                <a:ea typeface="ＭＳ Ｐゴシック" charset="-128"/>
              </a:rPr>
              <a:t>b</a:t>
            </a:r>
            <a:r>
              <a:rPr lang="en-US" altLang="en-US" sz="3200" dirty="0">
                <a:solidFill>
                  <a:srgbClr val="0070C0"/>
                </a:solidFill>
                <a:ea typeface="ＭＳ Ｐゴシック" charset="-128"/>
              </a:rPr>
              <a:t>, 2)}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E5A06-FD12-095F-D80F-83A7CD904A90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B5928-5A28-74CC-EE65-CE0868A18B20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76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5750" y="1450727"/>
            <a:ext cx="8401050" cy="4429159"/>
          </a:xfrm>
        </p:spPr>
        <p:txBody>
          <a:bodyPr/>
          <a:lstStyle/>
          <a:p>
            <a:pPr marL="457200" indent="-457200">
              <a:buNone/>
            </a:pPr>
            <a:r>
              <a:rPr lang="en-MY" altLang="en-US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Notation:</a:t>
            </a:r>
            <a:endParaRPr lang="en-US" altLang="en-US" b="1" dirty="0">
              <a:solidFill>
                <a:srgbClr val="7030A0"/>
              </a:solidFill>
              <a:latin typeface="Century Gothic" panose="020B0502020202020204" pitchFamily="34" charset="0"/>
              <a:ea typeface="ＭＳ Ｐゴシック" charset="-128"/>
            </a:endParaRPr>
          </a:p>
          <a:p>
            <a:pPr marL="0" indent="0" algn="just">
              <a:buNone/>
            </a:pPr>
            <a:r>
              <a:rPr lang="en-US" altLang="en-US" dirty="0">
                <a:ea typeface="ＭＳ Ｐゴシック" charset="-128"/>
              </a:rPr>
              <a:t>An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ordered pair </a:t>
            </a:r>
            <a:r>
              <a:rPr lang="en-US" altLang="en-US" dirty="0">
                <a:ea typeface="ＭＳ Ｐゴシック" charset="-128"/>
              </a:rPr>
              <a:t>of elements </a:t>
            </a:r>
            <a:r>
              <a:rPr lang="en-US" altLang="en-US" i="1" dirty="0">
                <a:ea typeface="ＭＳ Ｐゴシック" charset="-128"/>
              </a:rPr>
              <a:t>a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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i="1" dirty="0">
                <a:ea typeface="ＭＳ Ｐゴシック" charset="-128"/>
              </a:rPr>
              <a:t>b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 </a:t>
            </a:r>
            <a:r>
              <a:rPr lang="en-US" altLang="en-US" b="1" dirty="0">
                <a:ea typeface="ＭＳ Ｐゴシック" charset="-128"/>
              </a:rPr>
              <a:t>B </a:t>
            </a:r>
            <a:r>
              <a:rPr lang="en-US" altLang="en-US" dirty="0">
                <a:ea typeface="ＭＳ Ｐゴシック" charset="-128"/>
              </a:rPr>
              <a:t>written as (</a:t>
            </a:r>
            <a:r>
              <a:rPr lang="en-US" altLang="en-US" i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, </a:t>
            </a:r>
            <a:r>
              <a:rPr lang="en-US" altLang="en-US" i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) is a listing of the elements </a:t>
            </a:r>
            <a:r>
              <a:rPr lang="en-US" altLang="en-US" i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i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in a specific order.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dirty="0">
                <a:ea typeface="ＭＳ Ｐゴシック" charset="-128"/>
              </a:rPr>
              <a:t>The ordered pair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(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,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b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) </a:t>
            </a:r>
            <a:r>
              <a:rPr lang="en-US" altLang="en-US" dirty="0">
                <a:ea typeface="ＭＳ Ｐゴシック" charset="-128"/>
              </a:rPr>
              <a:t>specifies that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is the first element and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is the second element.</a:t>
            </a:r>
          </a:p>
          <a:p>
            <a:pPr marL="457200" lvl="1" indent="0">
              <a:buNone/>
            </a:pPr>
            <a:endParaRPr lang="en-US" altLang="en-US" dirty="0">
              <a:ea typeface="ＭＳ Ｐゴシック" charset="-128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dirty="0">
                <a:ea typeface="ＭＳ Ｐゴシック" charset="-128"/>
              </a:rPr>
              <a:t> An ordered pair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(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,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b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) </a:t>
            </a:r>
            <a:r>
              <a:rPr lang="en-US" altLang="en-US" dirty="0">
                <a:ea typeface="ＭＳ Ｐゴシック" charset="-128"/>
              </a:rPr>
              <a:t>is considered distinct from ordered pair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(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b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,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)</a:t>
            </a:r>
            <a:r>
              <a:rPr lang="en-US" altLang="en-US" dirty="0">
                <a:ea typeface="ＭＳ Ｐゴシック" charset="-128"/>
              </a:rPr>
              <a:t>,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unless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a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=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. </a:t>
            </a:r>
          </a:p>
          <a:p>
            <a:pPr marL="457200" lvl="1" indent="0">
              <a:buNone/>
            </a:pPr>
            <a:endParaRPr lang="en-US" altLang="en-US" dirty="0">
              <a:ea typeface="ＭＳ Ｐゴシック" charset="-128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dirty="0">
                <a:ea typeface="ＭＳ Ｐゴシック" charset="-128"/>
              </a:rPr>
              <a:t>Example: 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(1, 2)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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(2, 1)</a:t>
            </a:r>
          </a:p>
          <a:p>
            <a:pPr marL="0" indent="0">
              <a:buNone/>
            </a:pPr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  <a:p>
            <a:pPr marL="0" indent="0">
              <a:buNone/>
            </a:pPr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pPr marL="0" indent="0">
              <a:buNone/>
            </a:pPr>
            <a:endParaRPr lang="en-US" altLang="en-US" dirty="0">
              <a:ea typeface="ＭＳ Ｐゴシック" charset="-128"/>
            </a:endParaRPr>
          </a:p>
          <a:p>
            <a:pPr marL="457200" indent="-457200" eaLnBrk="1" hangingPunct="1"/>
            <a:endParaRPr lang="en-US" altLang="en-US" dirty="0">
              <a:ea typeface="ＭＳ Ｐゴシック" charset="-128"/>
            </a:endParaRPr>
          </a:p>
          <a:p>
            <a:pPr marL="457200" indent="-457200" eaLnBrk="1" hangingPunct="1"/>
            <a:endParaRPr lang="en-US" altLang="en-US" dirty="0">
              <a:ea typeface="ＭＳ Ｐゴシック" charset="-128"/>
            </a:endParaRP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title"/>
          </p:nvPr>
        </p:nvSpPr>
        <p:spPr>
          <a:xfrm>
            <a:off x="3348038" y="274638"/>
            <a:ext cx="5338762" cy="561975"/>
          </a:xfrm>
        </p:spPr>
        <p:txBody>
          <a:bodyPr/>
          <a:lstStyle/>
          <a:p>
            <a:pPr algn="r" eaLnBrk="1" hangingPunct="1"/>
            <a:r>
              <a:rPr lang="en-US" altLang="en-US" sz="1600" b="1">
                <a:ea typeface="ＭＳ Ｐゴシック" charset="-128"/>
              </a:rPr>
              <a:t>..Cartesian Product</a:t>
            </a:r>
          </a:p>
        </p:txBody>
      </p:sp>
      <p:sp>
        <p:nvSpPr>
          <p:cNvPr id="53251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24743869-3A0C-974F-8A7B-D47FF4F2A7D5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73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40035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01602" y="613192"/>
            <a:ext cx="6938433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Cartesian Product </a:t>
            </a:r>
            <a:r>
              <a:rPr lang="en-US" altLang="en-US" sz="14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AB12E3-23AF-8454-9DC4-B0F680806F88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67327-9157-5DA9-67F8-FD332581674B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2880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064497DB-8A78-2344-B4D4-523C378B8425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74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23100" y="6337300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74</a:t>
            </a:fld>
            <a:endParaRPr lang="en-US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01602" y="613192"/>
            <a:ext cx="6938433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Cartesian Product </a:t>
            </a:r>
            <a:r>
              <a:rPr lang="en-US" altLang="en-US" sz="14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28650" y="1762667"/>
                <a:ext cx="7724359" cy="35394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en-US" sz="3200" dirty="0">
                    <a:solidFill>
                      <a:srgbClr val="000000"/>
                    </a:solidFill>
                    <a:ea typeface="ＭＳ Ｐゴシック" charset="-128"/>
                  </a:rPr>
                  <a:t>For any set </a:t>
                </a:r>
                <a:r>
                  <a:rPr lang="en-US" altLang="en-US" sz="3200" b="1" dirty="0">
                    <a:ea typeface="ＭＳ Ｐゴシック" charset="-128"/>
                  </a:rPr>
                  <a:t>A</a:t>
                </a:r>
                <a:r>
                  <a:rPr lang="en-US" altLang="en-US" sz="3200" dirty="0">
                    <a:solidFill>
                      <a:srgbClr val="000000"/>
                    </a:solidFill>
                    <a:ea typeface="ＭＳ Ｐゴシック" charset="-128"/>
                  </a:rPr>
                  <a:t>, </a:t>
                </a:r>
                <a:r>
                  <a:rPr lang="en-US" altLang="en-US" sz="3200" b="1" dirty="0">
                    <a:ea typeface="ＭＳ Ｐゴシック" charset="-128"/>
                  </a:rPr>
                  <a:t>A</a:t>
                </a:r>
                <a:r>
                  <a:rPr lang="en-US" altLang="en-US" sz="3200" dirty="0">
                    <a:ea typeface="ＭＳ Ｐゴシック" charset="-128"/>
                    <a:sym typeface="Symbol" charset="2"/>
                  </a:rPr>
                  <a:t></a:t>
                </a:r>
                <a:r>
                  <a:rPr lang="en-US" altLang="en-US" sz="3200" dirty="0">
                    <a:ea typeface="ＭＳ Ｐゴシック" charset="-128"/>
                  </a:rPr>
                  <a:t> = </a:t>
                </a:r>
                <a:r>
                  <a:rPr lang="en-US" altLang="en-US" sz="3200" dirty="0">
                    <a:ea typeface="ＭＳ Ｐゴシック" charset="-128"/>
                    <a:sym typeface="Symbol" charset="2"/>
                  </a:rPr>
                  <a:t></a:t>
                </a:r>
                <a:r>
                  <a:rPr lang="en-US" altLang="en-US" sz="3200" b="1" dirty="0">
                    <a:ea typeface="ＭＳ Ｐゴシック" charset="-128"/>
                  </a:rPr>
                  <a:t>A</a:t>
                </a:r>
                <a:r>
                  <a:rPr lang="en-US" altLang="en-US" sz="3200" dirty="0">
                    <a:ea typeface="ＭＳ Ｐゴシック" charset="-128"/>
                  </a:rPr>
                  <a:t> = </a:t>
                </a:r>
                <a:r>
                  <a:rPr lang="en-US" altLang="en-US" sz="3200" dirty="0">
                    <a:ea typeface="ＭＳ Ｐゴシック" charset="-128"/>
                    <a:sym typeface="Symbol" charset="2"/>
                  </a:rPr>
                  <a:t></a:t>
                </a:r>
              </a:p>
              <a:p>
                <a:endParaRPr lang="en-US" altLang="en-US" sz="3200" dirty="0">
                  <a:ea typeface="ＭＳ Ｐゴシック" charset="-128"/>
                  <a:sym typeface="Symbol" charset="2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MY" altLang="en-US" sz="3200" dirty="0">
                    <a:ea typeface="ＭＳ Ｐゴシック" charset="-128"/>
                    <a:sym typeface="Symbol" charset="2"/>
                  </a:rPr>
                  <a:t>I</a:t>
                </a:r>
                <a:r>
                  <a:rPr lang="en-US" altLang="en-US" sz="3200" dirty="0">
                    <a:ea typeface="ＭＳ Ｐゴシック" charset="-128"/>
                  </a:rPr>
                  <a:t>f </a:t>
                </a:r>
                <a:r>
                  <a:rPr lang="en-US" altLang="en-US" sz="3200" b="1" dirty="0">
                    <a:ea typeface="ＭＳ Ｐゴシック" charset="-128"/>
                  </a:rPr>
                  <a:t>A </a:t>
                </a:r>
                <a:r>
                  <a:rPr lang="en-US" altLang="en-US" sz="3200" b="1" dirty="0">
                    <a:ea typeface="ＭＳ Ｐゴシック" charset="-128"/>
                    <a:sym typeface="Symbol" charset="2"/>
                  </a:rPr>
                  <a:t></a:t>
                </a:r>
                <a:r>
                  <a:rPr lang="en-US" altLang="en-US" sz="3200" b="1" dirty="0">
                    <a:ea typeface="ＭＳ Ｐゴシック" charset="-128"/>
                  </a:rPr>
                  <a:t> B</a:t>
                </a:r>
                <a:r>
                  <a:rPr lang="en-US" altLang="en-US" sz="3200" dirty="0">
                    <a:ea typeface="ＭＳ Ｐゴシック" charset="-128"/>
                  </a:rPr>
                  <a:t>, then </a:t>
                </a:r>
                <a:r>
                  <a:rPr lang="en-US" altLang="en-US" sz="3200" b="1" dirty="0">
                    <a:ea typeface="ＭＳ Ｐゴシック" charset="-128"/>
                  </a:rPr>
                  <a:t>A</a:t>
                </a:r>
                <a:r>
                  <a:rPr lang="en-US" altLang="en-US" sz="3200" dirty="0">
                    <a:ea typeface="ＭＳ Ｐゴシック" charset="-128"/>
                    <a:sym typeface="Symbol" charset="2"/>
                  </a:rPr>
                  <a:t></a:t>
                </a:r>
                <a:r>
                  <a:rPr lang="en-US" altLang="en-US" sz="3200" b="1" dirty="0">
                    <a:ea typeface="ＭＳ Ｐゴシック" charset="-128"/>
                  </a:rPr>
                  <a:t>B</a:t>
                </a:r>
                <a:r>
                  <a:rPr lang="en-US" altLang="en-US" sz="3200" dirty="0">
                    <a:ea typeface="ＭＳ Ｐゴシック" charset="-128"/>
                  </a:rPr>
                  <a:t> </a:t>
                </a:r>
                <a:r>
                  <a:rPr lang="en-US" altLang="en-US" sz="3200" dirty="0">
                    <a:ea typeface="ＭＳ Ｐゴシック" charset="-128"/>
                    <a:sym typeface="Symbol" charset="2"/>
                  </a:rPr>
                  <a:t></a:t>
                </a:r>
                <a:r>
                  <a:rPr lang="en-US" altLang="en-US" sz="3200" dirty="0">
                    <a:ea typeface="ＭＳ Ｐゴシック" charset="-128"/>
                  </a:rPr>
                  <a:t> </a:t>
                </a:r>
                <a:r>
                  <a:rPr lang="en-US" altLang="en-US" sz="3200" b="1" dirty="0">
                    <a:ea typeface="ＭＳ Ｐゴシック" charset="-128"/>
                  </a:rPr>
                  <a:t>B</a:t>
                </a:r>
                <a:r>
                  <a:rPr lang="en-US" altLang="en-US" sz="3200" dirty="0">
                    <a:ea typeface="ＭＳ Ｐゴシック" charset="-128"/>
                    <a:sym typeface="Symbol" charset="2"/>
                  </a:rPr>
                  <a:t></a:t>
                </a:r>
                <a:r>
                  <a:rPr lang="en-US" altLang="en-US" sz="3200" b="1" dirty="0">
                    <a:ea typeface="ＭＳ Ｐゴシック" charset="-128"/>
                  </a:rPr>
                  <a:t>A</a:t>
                </a:r>
                <a:endParaRPr lang="en-US" altLang="en-US" sz="3200" dirty="0">
                  <a:ea typeface="ＭＳ Ｐゴシック" charset="-128"/>
                </a:endParaRPr>
              </a:p>
              <a:p>
                <a:endParaRPr lang="en-US" altLang="en-US" sz="3200" dirty="0">
                  <a:solidFill>
                    <a:srgbClr val="0000FF"/>
                  </a:solidFill>
                  <a:ea typeface="ＭＳ Ｐゴシック" charset="-128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en-US" sz="3200" dirty="0">
                    <a:ea typeface="ＭＳ Ｐゴシック" charset="-128"/>
                  </a:rPr>
                  <a:t>If |</a:t>
                </a:r>
                <a:r>
                  <a:rPr lang="en-US" altLang="en-US" sz="3200" b="1" dirty="0">
                    <a:ea typeface="ＭＳ Ｐゴシック" charset="-128"/>
                  </a:rPr>
                  <a:t>A</a:t>
                </a:r>
                <a:r>
                  <a:rPr lang="en-US" altLang="en-US" sz="3200" dirty="0">
                    <a:ea typeface="ＭＳ Ｐゴシック" charset="-128"/>
                  </a:rPr>
                  <a:t>| = </a:t>
                </a:r>
                <a:r>
                  <a:rPr lang="en-US" altLang="en-US" sz="3200" i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m</a:t>
                </a:r>
                <a:r>
                  <a:rPr lang="en-US" altLang="en-US" sz="3200" dirty="0">
                    <a:ea typeface="ＭＳ Ｐゴシック" charset="-128"/>
                  </a:rPr>
                  <a:t> and |</a:t>
                </a:r>
                <a:r>
                  <a:rPr lang="en-US" altLang="en-US" sz="3200" b="1" dirty="0">
                    <a:ea typeface="ＭＳ Ｐゴシック" charset="-128"/>
                  </a:rPr>
                  <a:t>B</a:t>
                </a:r>
                <a:r>
                  <a:rPr lang="en-US" altLang="en-US" sz="3200" dirty="0">
                    <a:ea typeface="ＭＳ Ｐゴシック" charset="-128"/>
                  </a:rPr>
                  <a:t>| = </a:t>
                </a:r>
                <a:r>
                  <a:rPr lang="en-US" altLang="en-US" sz="3200" i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n</a:t>
                </a:r>
                <a:r>
                  <a:rPr lang="en-US" altLang="en-US" sz="3200" dirty="0">
                    <a:ea typeface="ＭＳ Ｐゴシック" charset="-128"/>
                  </a:rPr>
                  <a:t>, then |</a:t>
                </a:r>
                <a:r>
                  <a:rPr lang="en-US" altLang="en-US" sz="3200" b="1" dirty="0">
                    <a:ea typeface="ＭＳ Ｐゴシック" charset="-128"/>
                  </a:rPr>
                  <a:t>A</a:t>
                </a:r>
                <a:r>
                  <a:rPr lang="en-US" altLang="en-US" sz="3200" dirty="0">
                    <a:ea typeface="ＭＳ Ｐゴシック" charset="-128"/>
                    <a:sym typeface="Symbol" charset="2"/>
                  </a:rPr>
                  <a:t></a:t>
                </a:r>
                <a:r>
                  <a:rPr lang="en-US" altLang="en-US" sz="3200" b="1" dirty="0">
                    <a:ea typeface="ＭＳ Ｐゴシック" charset="-128"/>
                  </a:rPr>
                  <a:t>B</a:t>
                </a:r>
                <a:r>
                  <a:rPr lang="en-US" altLang="en-US" sz="3200" dirty="0">
                    <a:ea typeface="ＭＳ Ｐゴシック" charset="-128"/>
                  </a:rPr>
                  <a:t>|=</a:t>
                </a:r>
                <a14:m>
                  <m:oMath xmlns:m="http://schemas.openxmlformats.org/officeDocument/2006/math">
                    <m:r>
                      <a:rPr lang="en-MY" altLang="en-US" sz="3200" b="0" i="1" smtClean="0">
                        <a:latin typeface="Cambria Math" panose="02040503050406030204" pitchFamily="18" charset="0"/>
                        <a:ea typeface="ＭＳ Ｐゴシック" charset="-128"/>
                      </a:rPr>
                      <m:t>𝑚</m:t>
                    </m:r>
                    <m:r>
                      <a:rPr lang="en-MY" altLang="en-US" sz="3200" b="0" i="1" smtClean="0">
                        <a:latin typeface="Cambria Math" panose="02040503050406030204" pitchFamily="18" charset="0"/>
                        <a:ea typeface="ＭＳ Ｐゴシック" charset="-128"/>
                      </a:rPr>
                      <m:t>∗</m:t>
                    </m:r>
                    <m:r>
                      <a:rPr lang="en-MY" alt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3200" dirty="0">
                    <a:ea typeface="ＭＳ Ｐゴシック" charset="-128"/>
                  </a:rPr>
                  <a:t> </a:t>
                </a:r>
              </a:p>
              <a:p>
                <a:endParaRPr lang="en-US" altLang="en-US" sz="3200" dirty="0">
                  <a:solidFill>
                    <a:srgbClr val="0000FF"/>
                  </a:solidFill>
                  <a:ea typeface="ＭＳ Ｐゴシック" charset="-128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en-US" sz="3200" dirty="0">
                  <a:ea typeface="ＭＳ Ｐゴシック" charset="-128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762667"/>
                <a:ext cx="7724359" cy="3539430"/>
              </a:xfrm>
              <a:prstGeom prst="rect">
                <a:avLst/>
              </a:prstGeom>
              <a:blipFill>
                <a:blip r:embed="rId2"/>
                <a:stretch>
                  <a:fillRect l="-1815" t="-2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8B4E5A1-33C7-BF8F-DB48-A35044A9008C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F9A6C-9C8E-C133-1017-8BD5F8F54452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9539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905000"/>
            <a:ext cx="8135937" cy="34290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The Cartesian product of sets 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1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, 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2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, …., 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i="1" baseline="-2500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n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is defined to be the set of all </a:t>
            </a:r>
            <a:r>
              <a:rPr lang="en-US" altLang="en-US" i="1">
                <a:solidFill>
                  <a:srgbClr val="000000"/>
                </a:solidFill>
                <a:ea typeface="ＭＳ Ｐゴシック" charset="-128"/>
              </a:rPr>
              <a:t>n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-tuples  </a:t>
            </a:r>
          </a:p>
          <a:p>
            <a:pPr marL="457200" indent="-45720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	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(a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1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, 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2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,…a</a:t>
            </a:r>
            <a:r>
              <a:rPr lang="en-US" altLang="en-US" i="1" baseline="-2500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n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)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 where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i="1" baseline="-2500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i</a:t>
            </a:r>
            <a:r>
              <a:rPr lang="en-US" altLang="en-US" sz="2400">
                <a:solidFill>
                  <a:srgbClr val="0000FF"/>
                </a:solidFill>
                <a:ea typeface="ＭＳ Ｐゴシック" charset="-128"/>
                <a:sym typeface="Symbol" charset="2"/>
              </a:rPr>
              <a:t> 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i="1" baseline="-2500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i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for </a:t>
            </a:r>
            <a:r>
              <a:rPr lang="en-US" altLang="en-US" i="1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i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=1,…,</a:t>
            </a:r>
            <a:r>
              <a:rPr lang="en-US" altLang="en-US" i="1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n</a:t>
            </a: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;</a:t>
            </a:r>
          </a:p>
          <a:p>
            <a:pPr marL="457200" indent="-457200" eaLnBrk="1" hangingPunct="1">
              <a:lnSpc>
                <a:spcPct val="90000"/>
              </a:lnSpc>
            </a:pPr>
            <a:endParaRPr lang="en-US" altLang="en-US" i="1">
              <a:solidFill>
                <a:srgbClr val="000000"/>
              </a:solidFill>
              <a:ea typeface="ＭＳ Ｐゴシック" charset="-128"/>
            </a:endParaRP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It is denoted</a:t>
            </a:r>
            <a:r>
              <a:rPr lang="en-US" altLang="en-US" i="1">
                <a:solidFill>
                  <a:srgbClr val="000000"/>
                </a:solidFill>
                <a:ea typeface="ＭＳ Ｐゴシック" charset="-128"/>
              </a:rPr>
              <a:t> 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1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2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 ….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i="1" baseline="-2500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n</a:t>
            </a:r>
            <a:endParaRPr lang="en-US" altLang="en-US">
              <a:solidFill>
                <a:srgbClr val="0716D9"/>
              </a:solidFill>
              <a:latin typeface="Times New Roman" charset="0"/>
              <a:ea typeface="ＭＳ Ｐゴシック" charset="-128"/>
            </a:endParaRPr>
          </a:p>
          <a:p>
            <a:pPr marL="457200" indent="-457200" eaLnBrk="1" hangingPunct="1">
              <a:lnSpc>
                <a:spcPct val="90000"/>
              </a:lnSpc>
              <a:buFont typeface="Arial" charset="0"/>
              <a:buNone/>
            </a:pPr>
            <a:r>
              <a:rPr lang="en-US" altLang="en-US">
                <a:solidFill>
                  <a:srgbClr val="AE3221"/>
                </a:solidFill>
                <a:ea typeface="ＭＳ Ｐゴシック" charset="-128"/>
              </a:rPr>
              <a:t>     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|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1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2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 ….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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i="1" baseline="-2500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n</a:t>
            </a:r>
            <a:r>
              <a:rPr lang="en-US" altLang="en-US" i="1" baseline="-2500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|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=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|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1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|.|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baseline="-25000">
                <a:solidFill>
                  <a:srgbClr val="0000FF"/>
                </a:solidFill>
                <a:ea typeface="ＭＳ Ｐゴシック" charset="-128"/>
              </a:rPr>
              <a:t>2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|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</a:rPr>
              <a:t> ….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|</a:t>
            </a:r>
            <a:r>
              <a:rPr lang="en-US" altLang="en-US" i="1">
                <a:solidFill>
                  <a:srgbClr val="0000FF"/>
                </a:solidFill>
                <a:ea typeface="ＭＳ Ｐゴシック" charset="-128"/>
              </a:rPr>
              <a:t>A</a:t>
            </a:r>
            <a:r>
              <a:rPr lang="en-US" altLang="en-US" i="1" baseline="-25000">
                <a:solidFill>
                  <a:srgbClr val="0000FF"/>
                </a:solidFill>
                <a:latin typeface="Times New Roman" charset="0"/>
                <a:ea typeface="ＭＳ Ｐゴシック" charset="-128"/>
              </a:rPr>
              <a:t>n</a:t>
            </a:r>
            <a:r>
              <a:rPr lang="en-US" altLang="en-US" i="1" baseline="-2500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>
                <a:solidFill>
                  <a:srgbClr val="0000FF"/>
                </a:solidFill>
                <a:ea typeface="ＭＳ Ｐゴシック" charset="-128"/>
                <a:sym typeface="Symbol" charset="2"/>
              </a:rPr>
              <a:t>|</a:t>
            </a:r>
            <a:endParaRPr lang="en-US" altLang="en-US">
              <a:solidFill>
                <a:srgbClr val="0000FF"/>
              </a:solidFill>
              <a:ea typeface="ＭＳ Ｐゴシック" charset="-128"/>
            </a:endParaRP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000000"/>
                </a:solidFill>
                <a:ea typeface="ＭＳ Ｐゴシック" charset="-128"/>
              </a:rPr>
              <a:t>	</a:t>
            </a:r>
          </a:p>
        </p:txBody>
      </p:sp>
      <p:sp>
        <p:nvSpPr>
          <p:cNvPr id="58371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C62BE006-B814-F04E-A57D-31ABE204A54C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75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37300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01602" y="613192"/>
            <a:ext cx="6938433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b="1" dirty="0">
                <a:solidFill>
                  <a:srgbClr val="C00000"/>
                </a:solidFill>
                <a:ea typeface="ＭＳ Ｐゴシック" charset="-128"/>
              </a:rPr>
              <a:t>Cartesian Product </a:t>
            </a:r>
            <a:r>
              <a:rPr lang="en-US" altLang="en-US" sz="1400" b="1" dirty="0">
                <a:solidFill>
                  <a:srgbClr val="C00000"/>
                </a:solidFill>
                <a:ea typeface="ＭＳ Ｐゴシック" charset="-128"/>
              </a:rPr>
              <a:t>(cont’d)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0E25F-D77A-FB31-7402-AF6865892CA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B85E8-9D43-14B0-20BE-E0F9FFCCB908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3505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2209800"/>
            <a:ext cx="8299450" cy="328506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= {</a:t>
            </a:r>
            <a:r>
              <a:rPr lang="en-US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 </a:t>
            </a:r>
            <a:r>
              <a:rPr lang="en-US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};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={1, 2},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C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={</a:t>
            </a:r>
            <a:r>
              <a:rPr lang="en-US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 </a:t>
            </a:r>
            <a:r>
              <a:rPr lang="en-US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y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}</a:t>
            </a:r>
          </a:p>
          <a:p>
            <a:pPr marL="457200" indent="-457200" eaLnBrk="1" hangingPunct="1">
              <a:buFontTx/>
              <a:buNone/>
            </a:pPr>
            <a:endParaRPr lang="en-US" altLang="en-US" dirty="0">
              <a:latin typeface="Times New Roman" panose="02020603050405020304" pitchFamily="18" charset="0"/>
              <a:ea typeface="ＭＳ Ｐゴシック" charset="-128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Arial" charset="0"/>
              <a:buNone/>
            </a:pPr>
            <a:r>
              <a:rPr lang="en-US" altLang="en-US" i="1" dirty="0">
                <a:solidFill>
                  <a:srgbClr val="AE3221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   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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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C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= {(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,1,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), (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,1,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y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), (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,2,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), (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,2,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y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),  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                      (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,1,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), (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,1,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y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), (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,2,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), (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,2,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y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)}</a:t>
            </a:r>
          </a:p>
          <a:p>
            <a:pPr marL="457200" indent="-457200" eaLnBrk="1" hangingPunct="1"/>
            <a:endParaRPr lang="en-US" altLang="en-US" dirty="0">
              <a:solidFill>
                <a:srgbClr val="AE3221"/>
              </a:solidFill>
              <a:latin typeface="Times New Roman" panose="02020603050405020304" pitchFamily="18" charset="0"/>
              <a:ea typeface="ＭＳ Ｐゴシック" charset="-128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    |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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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C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|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= 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2 * 2 * 2 = 8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title"/>
          </p:nvPr>
        </p:nvSpPr>
        <p:spPr>
          <a:xfrm>
            <a:off x="256117" y="753533"/>
            <a:ext cx="2605617" cy="708555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Example:</a:t>
            </a:r>
          </a:p>
        </p:txBody>
      </p:sp>
      <p:sp>
        <p:nvSpPr>
          <p:cNvPr id="59395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0344A19E-AF2C-BE46-AB89-818490DF1B60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76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96205" y="1404550"/>
            <a:ext cx="36215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>
              <a:buFont typeface="Arial" charset="0"/>
              <a:buNone/>
            </a:pPr>
            <a:r>
              <a:rPr lang="en-MY" altLang="en-US" sz="2800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Let, </a:t>
            </a:r>
            <a:r>
              <a:rPr lang="en-MY" altLang="en-US" sz="2800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MY" altLang="en-US" sz="2800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 </a:t>
            </a:r>
            <a:r>
              <a:rPr lang="en-MY" altLang="en-US" sz="2800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MY" altLang="en-US" sz="2800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and </a:t>
            </a:r>
            <a:r>
              <a:rPr lang="en-MY" altLang="en-US" sz="2800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C</a:t>
            </a:r>
            <a:r>
              <a:rPr lang="en-MY" altLang="en-US" sz="2800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be sets.</a:t>
            </a:r>
            <a:endParaRPr lang="en-US" altLang="en-US" sz="2800" dirty="0">
              <a:latin typeface="Times New Roman" panose="02020603050405020304" pitchFamily="18" charset="0"/>
              <a:ea typeface="ＭＳ Ｐゴシック" charset="-128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E4268-0CE4-A74D-C1B1-33128C800060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9D847-C764-9356-26C4-2CD6403A730E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6110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12800" y="1962641"/>
            <a:ext cx="6210300" cy="4167226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{1, 3};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{2, 4, 6}; 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Find:</a:t>
            </a:r>
          </a:p>
          <a:p>
            <a:pPr marL="0" indent="0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?</a:t>
            </a:r>
          </a:p>
          <a:p>
            <a:pPr marL="0" indent="0" algn="just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?</a:t>
            </a:r>
          </a:p>
          <a:p>
            <a:pPr marL="0" indent="0" algn="just">
              <a:buNone/>
              <a:defRPr/>
            </a:pPr>
            <a:r>
              <a:rPr lang="en-MY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 algn="just">
              <a:buNone/>
              <a:defRPr/>
            </a:pPr>
            <a:r>
              <a:rPr lang="en-MY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= 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M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|= ?</a:t>
            </a:r>
          </a:p>
          <a:p>
            <a:pPr marL="0" indent="0" algn="just">
              <a:buNone/>
              <a:defRPr/>
            </a:pPr>
            <a:r>
              <a:rPr lang="en-MY" dirty="0">
                <a:latin typeface="Times New Roman" panose="02020603050405020304" pitchFamily="18" charset="0"/>
                <a:cs typeface="Times New Roman" panose="02020603050405020304" pitchFamily="18" charset="0"/>
              </a:rPr>
              <a:t>f)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|= ?</a:t>
            </a:r>
          </a:p>
          <a:p>
            <a:pPr marL="0" indent="0" algn="just">
              <a:buNone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endParaRPr lang="en-US" dirty="0">
              <a:solidFill>
                <a:srgbClr val="AE32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7938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endParaRPr 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47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0849172C-F0D3-8346-91B1-A835EBF5071B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77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61024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160866" y="699029"/>
            <a:ext cx="7770283" cy="640821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24503" y="1339850"/>
            <a:ext cx="36215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 eaLnBrk="1" hangingPunct="1">
              <a:buFont typeface="Arial" charset="0"/>
              <a:buNone/>
            </a:pPr>
            <a:r>
              <a:rPr lang="en-MY" altLang="en-US" sz="2800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Let, </a:t>
            </a:r>
            <a:r>
              <a:rPr lang="en-MY" altLang="en-US" sz="2800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C</a:t>
            </a:r>
            <a:r>
              <a:rPr lang="en-MY" altLang="en-US" sz="2800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 </a:t>
            </a:r>
            <a:r>
              <a:rPr lang="en-MY" altLang="en-US" sz="2800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D</a:t>
            </a:r>
            <a:r>
              <a:rPr lang="en-MY" altLang="en-US" sz="2800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and </a:t>
            </a:r>
            <a:r>
              <a:rPr lang="en-MY" altLang="en-US" sz="2800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E</a:t>
            </a:r>
            <a:r>
              <a:rPr lang="en-MY" altLang="en-US" sz="2800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be sets.</a:t>
            </a:r>
            <a:endParaRPr lang="en-US" altLang="en-US" sz="2800" dirty="0">
              <a:latin typeface="Times New Roman" panose="02020603050405020304" pitchFamily="18" charset="0"/>
              <a:ea typeface="ＭＳ Ｐゴシック" charset="-128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22515-5C90-DB0F-1DDA-7621FC09211D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EDF62-474C-7CEE-8373-0F5B2850B22E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1417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0849172C-F0D3-8346-91B1-A835EBF5071B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78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61024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160866" y="699029"/>
            <a:ext cx="7770283" cy="640821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00B050"/>
                </a:solidFill>
                <a:latin typeface="Century Gothic" panose="020B0502020202020204" pitchFamily="34" charset="0"/>
                <a:ea typeface="ＭＳ Ｐゴシック" charset="-128"/>
              </a:rPr>
              <a:t>Example - Solution: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21732" y="1488957"/>
            <a:ext cx="8144934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1338" indent="-541338" eaLnBrk="1" hangingPunct="1">
              <a:lnSpc>
                <a:spcPct val="9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{(1, 2), (1, 4), (1, 6), (3, 2), (3, 4), (3, 6)}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732" y="2126979"/>
            <a:ext cx="7713134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indent="-271463" eaLnBrk="1" hangingPunct="1">
              <a:lnSpc>
                <a:spcPct val="9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dirty="0">
                <a:solidFill>
                  <a:srgbClr val="AE32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{(2, 1), (2, 3), (4, 1), (4, 3), (6, 1), (6, 3)}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733" y="2746497"/>
            <a:ext cx="6701367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Since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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therefore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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732" y="4494878"/>
            <a:ext cx="5384807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|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|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|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|=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732" y="3429000"/>
            <a:ext cx="866140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1338" indent="-541338" eaLnBrk="1" hangingPunct="1">
              <a:lnSpc>
                <a:spcPct val="90000"/>
              </a:lnSpc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((1, 2),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((1, 4),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((1, 6),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((3, 2),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((3, 4),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((3, 6),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541338" indent="-541338" eaLnBrk="1" hangingPunct="1">
              <a:lnSpc>
                <a:spcPct val="90000"/>
              </a:lnSpc>
              <a:defRPr/>
            </a:pPr>
            <a:r>
              <a:rPr lang="en-MY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((1, 2),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((1, 4),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((1, 6),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((3, 2),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((3, 4),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((3, 6),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732" y="5203340"/>
            <a:ext cx="3562194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Arial" pitchFamily="34" charset="0"/>
              <a:buNone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f) |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|=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74DCA9-DFE4-5F7A-00B2-61BAF99D9DDF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E4B7D-B64C-0F7E-5AC2-EC748BCCEE62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70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2" grpId="0"/>
      <p:bldP spid="14" grpId="0"/>
      <p:bldP spid="1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6750" y="6337300"/>
            <a:ext cx="2057400" cy="365125"/>
          </a:xfrm>
        </p:spPr>
        <p:txBody>
          <a:bodyPr/>
          <a:lstStyle/>
          <a:p>
            <a:pPr>
              <a:defRPr/>
            </a:pPr>
            <a:fld id="{ED042297-3453-4D2B-AB8F-5372736C761A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05000" y="2607734"/>
            <a:ext cx="502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5400" dirty="0">
                <a:solidFill>
                  <a:srgbClr val="002060"/>
                </a:solidFill>
              </a:rPr>
              <a:t>EXERCISES</a:t>
            </a:r>
            <a:endParaRPr lang="en-US" sz="5400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346E6-C4D8-9347-8165-4CF80B6DB879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16B63-18C9-8717-18AC-D9CF28B8F7B3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6761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5749" y="1141444"/>
            <a:ext cx="8460317" cy="49688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Given sets,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U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= { 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a, b, c, d, e, f , g, h, </a:t>
            </a:r>
            <a:r>
              <a:rPr lang="en-US" altLang="en-US" i="1" dirty="0" err="1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 j, k, l, m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}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= { 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a, c, f, m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}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= { 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b, c, g, h, m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}</a:t>
            </a:r>
          </a:p>
          <a:p>
            <a:pPr marL="0" indent="0" eaLnBrk="1" hangingPunct="1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Find: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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             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 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 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|A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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|         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 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        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</a:t>
            </a:r>
            <a:endParaRPr lang="en-US" altLang="en-US" b="1" dirty="0">
              <a:latin typeface="Times New Roman" panose="02020603050405020304" pitchFamily="18" charset="0"/>
              <a:ea typeface="ＭＳ Ｐゴシック" charset="-128"/>
              <a:cs typeface="Times New Roman" panose="02020603050405020304" pitchFamily="18" charset="0"/>
            </a:endParaRP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title"/>
          </p:nvPr>
        </p:nvSpPr>
        <p:spPr>
          <a:xfrm>
            <a:off x="285750" y="590250"/>
            <a:ext cx="3210983" cy="536259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Exercise </a:t>
            </a:r>
            <a:r>
              <a:rPr lang="en-US" altLang="en-US" sz="36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#1</a:t>
            </a:r>
          </a:p>
        </p:txBody>
      </p:sp>
      <p:sp>
        <p:nvSpPr>
          <p:cNvPr id="60419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F23CCF9B-F35D-5F49-A61F-4042C5A74EBE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80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75585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67831E-F3DE-30C3-C867-6D7D35354DF0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F0199-D1D1-1751-4BF8-1653F9E483C1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4493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85749" y="1141444"/>
            <a:ext cx="8460317" cy="49688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Given sets,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U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= { 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a, b, c, d, e, f , g, h, </a:t>
            </a:r>
            <a:r>
              <a:rPr lang="en-US" altLang="en-US" i="1" dirty="0" err="1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 j, k, l, m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}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= { 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a, c, f, m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}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	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= { </a:t>
            </a:r>
            <a:r>
              <a:rPr lang="en-US" altLang="en-US" i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b, c, g, h, m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}</a:t>
            </a:r>
          </a:p>
          <a:p>
            <a:pPr marL="0" indent="0" eaLnBrk="1" hangingPunct="1"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Find: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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 = 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{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a, c, f, m, b, g, h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}        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 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 = 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{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c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m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 }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|A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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| = 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7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       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 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 = 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{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,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}     </a:t>
            </a:r>
          </a:p>
          <a:p>
            <a:pPr marL="1028700" lvl="1" indent="-571500">
              <a:buFontTx/>
              <a:buAutoNum type="romanLcParenR"/>
            </a:pP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= U – A = 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{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b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d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e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g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h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en-US" i="1" dirty="0" err="1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i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j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k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, </a:t>
            </a:r>
            <a:r>
              <a:rPr lang="en-US" alt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l</a:t>
            </a:r>
            <a:r>
              <a:rPr lang="en-US" altLang="en-US" dirty="0">
                <a:solidFill>
                  <a:srgbClr val="0070C0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}</a:t>
            </a:r>
            <a:endParaRPr lang="en-US" altLang="en-US" dirty="0">
              <a:solidFill>
                <a:srgbClr val="0070C0"/>
              </a:solidFill>
              <a:latin typeface="Times New Roman" panose="02020603050405020304" pitchFamily="18" charset="0"/>
              <a:ea typeface="ＭＳ Ｐゴシック" charset="-128"/>
              <a:cs typeface="Times New Roman" panose="02020603050405020304" pitchFamily="18" charset="0"/>
            </a:endParaRP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title"/>
          </p:nvPr>
        </p:nvSpPr>
        <p:spPr>
          <a:xfrm>
            <a:off x="285750" y="590250"/>
            <a:ext cx="5065183" cy="536259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Exercise </a:t>
            </a:r>
            <a:r>
              <a:rPr lang="en-US" altLang="en-US" sz="36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#1: Solution</a:t>
            </a:r>
          </a:p>
        </p:txBody>
      </p:sp>
      <p:sp>
        <p:nvSpPr>
          <p:cNvPr id="60419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F23CCF9B-F35D-5F49-A61F-4042C5A74EBE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81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75585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192CE1-139B-47BD-6BAF-E31E0BABD6EE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7E82E-25B3-5AF4-AC10-CDDC80A5F886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8945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908" y="1598487"/>
            <a:ext cx="8602133" cy="4184531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Let the universal set, </a:t>
            </a:r>
            <a:r>
              <a:rPr lang="en-US" altLang="en-US" b="1" dirty="0">
                <a:ea typeface="ＭＳ Ｐゴシック" charset="-128"/>
              </a:rPr>
              <a:t>U</a:t>
            </a:r>
            <a:r>
              <a:rPr lang="en-US" altLang="en-US" dirty="0">
                <a:ea typeface="ＭＳ Ｐゴシック" charset="-128"/>
              </a:rPr>
              <a:t>={1, 2, 3, 4,…..,10}.</a:t>
            </a:r>
          </a:p>
          <a:p>
            <a:pPr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Let a set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={1, 4, 7, 10}, </a:t>
            </a:r>
            <a:r>
              <a:rPr lang="en-US" altLang="en-US" i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={1, 2, 3, 4, 5} and 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</a:rPr>
              <a:t>={2, 4, 6, 8}</a:t>
            </a:r>
          </a:p>
          <a:p>
            <a:pPr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List the elements of each set:</a:t>
            </a:r>
          </a:p>
          <a:p>
            <a:pPr>
              <a:buFont typeface="Arial" charset="0"/>
              <a:buAutoNum type="alphaLcParenR"/>
            </a:pP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U</a:t>
            </a:r>
            <a:r>
              <a:rPr lang="en-US" altLang="en-US" b="1" dirty="0">
                <a:ea typeface="ＭＳ Ｐゴシック" charset="-128"/>
                <a:sym typeface="Symbol" charset="2"/>
              </a:rPr>
              <a:t></a:t>
            </a:r>
            <a:endParaRPr lang="en-US" altLang="en-US" b="1" dirty="0">
              <a:ea typeface="ＭＳ Ｐゴシック" charset="-128"/>
            </a:endParaRPr>
          </a:p>
          <a:p>
            <a:pPr>
              <a:buFont typeface="Arial" charset="0"/>
              <a:buAutoNum type="alphaLcParenR"/>
            </a:pP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b="1" dirty="0">
                <a:ea typeface="ＭＳ Ｐゴシック" charset="-128"/>
                <a:sym typeface="Symbol" charset="2"/>
              </a:rPr>
              <a:t></a:t>
            </a:r>
            <a:r>
              <a:rPr lang="en-US" altLang="en-US" dirty="0">
                <a:ea typeface="ＭＳ Ｐゴシック" charset="-128"/>
                <a:sym typeface="Symbol" charset="2"/>
              </a:rPr>
              <a:t></a:t>
            </a:r>
            <a:r>
              <a:rPr lang="en-US" altLang="en-US" dirty="0">
                <a:ea typeface="ＭＳ Ｐゴシック" charset="-128"/>
              </a:rPr>
              <a:t> (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  <a:sym typeface="Symbol" charset="2"/>
              </a:rPr>
              <a:t>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)</a:t>
            </a:r>
          </a:p>
          <a:p>
            <a:pPr>
              <a:buFont typeface="Arial" charset="0"/>
              <a:buAutoNum type="alphaLcParenR"/>
            </a:pPr>
            <a:r>
              <a:rPr lang="en-US" altLang="en-US" dirty="0">
                <a:ea typeface="ＭＳ Ｐゴシック" charset="-128"/>
              </a:rPr>
              <a:t> (</a:t>
            </a:r>
            <a:r>
              <a:rPr lang="en-US" altLang="en-US" b="1" dirty="0">
                <a:ea typeface="ＭＳ Ｐゴシック" charset="-128"/>
              </a:rPr>
              <a:t>A </a:t>
            </a:r>
            <a:r>
              <a:rPr lang="en-US" altLang="en-US" dirty="0">
                <a:ea typeface="ＭＳ Ｐゴシック" charset="-128"/>
                <a:sym typeface="Symbol" charset="2"/>
              </a:rPr>
              <a:t>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)</a:t>
            </a:r>
            <a:r>
              <a:rPr lang="en-US" altLang="en-US" dirty="0">
                <a:ea typeface="ＭＳ Ｐゴシック" charset="-128"/>
                <a:sym typeface="Symbol" charset="2"/>
              </a:rPr>
              <a:t> </a:t>
            </a:r>
            <a:r>
              <a:rPr lang="en-US" altLang="en-US" dirty="0">
                <a:ea typeface="ＭＳ Ｐゴシック" charset="-128"/>
              </a:rPr>
              <a:t> (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  <a:sym typeface="Symbol" charset="2"/>
              </a:rPr>
              <a:t> 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)</a:t>
            </a:r>
          </a:p>
          <a:p>
            <a:pPr>
              <a:buFont typeface="Arial" charset="0"/>
              <a:buAutoNum type="alphaLcParenR"/>
            </a:pP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(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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 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 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(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B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  <a:sym typeface="Symbol" charset="2"/>
              </a:rPr>
              <a:t>  </a:t>
            </a:r>
            <a:r>
              <a:rPr lang="en-US" altLang="en-US" b="1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C</a:t>
            </a:r>
            <a:r>
              <a:rPr lang="en-US" altLang="en-US" dirty="0"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rPr>
              <a:t>)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61443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3008397A-4A71-CA4C-B8DE-AF0E9D803441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82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52732" y="6335091"/>
            <a:ext cx="1998135" cy="369544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324908" y="755492"/>
            <a:ext cx="3210983" cy="536259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Exercise </a:t>
            </a:r>
            <a:r>
              <a:rPr lang="en-US" altLang="en-US" sz="36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#2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FE7126-9E60-F085-F668-40C1E0DB19CF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8F226-C7B1-F0F3-B24E-D15309F8F0D1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25632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4908" y="1067764"/>
                <a:ext cx="8602133" cy="4184531"/>
              </a:xfrm>
            </p:spPr>
            <p:txBody>
              <a:bodyPr/>
              <a:lstStyle/>
              <a:p>
                <a:pPr>
                  <a:buFont typeface="Arial" charset="0"/>
                  <a:buNone/>
                </a:pP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U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={1, 2, 3, 4,…..,10}.</a:t>
                </a:r>
              </a:p>
              <a:p>
                <a:pPr>
                  <a:buFont typeface="Arial" charset="0"/>
                  <a:buNone/>
                </a:pP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={1, 4, 7, 10},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 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={1, 2, 3, 4, 5} and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={2, 4, 6, 8}</a:t>
                </a:r>
              </a:p>
              <a:p>
                <a:pPr>
                  <a:buFont typeface="Arial" charset="0"/>
                  <a:buAutoNum type="alphaLcParenR"/>
                </a:pP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U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 = </a:t>
                </a:r>
                <a:r>
                  <a:rPr lang="en-US" dirty="0">
                    <a:solidFill>
                      <a:srgbClr val="0070C0"/>
                    </a:solidFill>
                  </a:rPr>
                  <a:t>∅</a:t>
                </a:r>
                <a:endParaRPr lang="en-US" altLang="en-US" sz="2400" b="1" dirty="0">
                  <a:solidFill>
                    <a:srgbClr val="0070C0"/>
                  </a:solidFill>
                  <a:latin typeface="Times New Roman" panose="02020603050405020304" pitchFamily="18" charset="0"/>
                  <a:ea typeface="ＭＳ Ｐゴシック" charset="-128"/>
                  <a:cs typeface="Times New Roman" panose="02020603050405020304" pitchFamily="18" charset="0"/>
                </a:endParaRPr>
              </a:p>
              <a:p>
                <a:pPr>
                  <a:buFont typeface="Arial" charset="0"/>
                  <a:buAutoNum type="alphaLcParenR"/>
                </a:pP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 = {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6, 7, 8, 9, 10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}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 ;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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A = {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2, 6, 8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}</a:t>
                </a:r>
                <a:endParaRPr lang="en-US" altLang="en-US" sz="2400" dirty="0">
                  <a:latin typeface="Times New Roman" panose="02020603050405020304" pitchFamily="18" charset="0"/>
                  <a:ea typeface="ＭＳ Ｐゴシック" charset="-128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MY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      	 </a:t>
                </a:r>
                <a14:m>
                  <m:oMath xmlns:m="http://schemas.openxmlformats.org/officeDocument/2006/math">
                    <m:r>
                      <a:rPr lang="en-MY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  <m:r>
                      <a:rPr lang="en-MY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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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 (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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) = </a:t>
                </a:r>
                <a:r>
                  <a:rPr lang="en-US" alt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{6, 8}</a:t>
                </a:r>
              </a:p>
              <a:p>
                <a:pPr marL="0" indent="0">
                  <a:buNone/>
                </a:pPr>
                <a:endParaRPr lang="en-US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ＭＳ Ｐゴシック" charset="-128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c) (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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 = {1, 2, 3, 4, 5, 7, 10}; 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 (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 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) ={6, 8}</a:t>
                </a:r>
              </a:p>
              <a:p>
                <a:pPr marL="0" indent="0">
                  <a:buNone/>
                </a:pPr>
                <a:r>
                  <a:rPr lang="en-US" alt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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)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 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 (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 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) = </a:t>
                </a:r>
                <a:r>
                  <a:rPr lang="en-US" alt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{1, 2, 3, 4, 5, 7, 10, 6, 8} </a:t>
                </a:r>
              </a:p>
              <a:p>
                <a:pPr marL="0" indent="0">
                  <a:buNone/>
                </a:pPr>
                <a:endParaRPr lang="en-US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ea typeface="ＭＳ Ｐゴシック" charset="-128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d) (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A 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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) = {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1, 4};  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 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C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) = {1, 3, 5} </a:t>
                </a:r>
              </a:p>
              <a:p>
                <a:pPr marL="0" indent="0">
                  <a:buNone/>
                </a:pPr>
                <a:r>
                  <a:rPr lang="en-US" alt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A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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) 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 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(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  <a:sym typeface="Symbol" charset="2"/>
                  </a:rPr>
                  <a:t>  </a:t>
                </a:r>
                <a:r>
                  <a:rPr lang="en-US" altLang="en-US" sz="2400" b="1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C</a:t>
                </a:r>
                <a:r>
                  <a:rPr lang="en-US" altLang="en-US" sz="2400" dirty="0"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) = </a:t>
                </a:r>
                <a:r>
                  <a:rPr lang="en-US" alt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ＭＳ Ｐゴシック" charset="-128"/>
                    <a:cs typeface="Times New Roman" panose="02020603050405020304" pitchFamily="18" charset="0"/>
                  </a:rPr>
                  <a:t>{1, 4, 3, 5}</a:t>
                </a:r>
              </a:p>
              <a:p>
                <a:pPr marL="0" indent="0">
                  <a:buNone/>
                </a:pPr>
                <a:endParaRPr lang="en-US" altLang="en-US" sz="2400" dirty="0">
                  <a:latin typeface="Times New Roman" panose="02020603050405020304" pitchFamily="18" charset="0"/>
                  <a:ea typeface="ＭＳ Ｐゴシック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4908" y="1067764"/>
                <a:ext cx="8602133" cy="4184531"/>
              </a:xfrm>
              <a:blipFill>
                <a:blip r:embed="rId2"/>
                <a:stretch>
                  <a:fillRect l="-1063" t="-2038" b="-23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43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3008397A-4A71-CA4C-B8DE-AF0E9D803441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83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52732" y="6335091"/>
            <a:ext cx="1998135" cy="369544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324908" y="579307"/>
            <a:ext cx="5550959" cy="536259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Exercise </a:t>
            </a:r>
            <a:r>
              <a:rPr lang="en-US" altLang="en-US" sz="20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#2 -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291DBF-6409-3A5D-2C4A-EB3600DB164C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FBB75-519C-7B8F-A79D-4C7878098112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568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6550" y="2087033"/>
            <a:ext cx="8229600" cy="20193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ea typeface="ＭＳ Ｐゴシック" charset="-128"/>
              </a:rPr>
              <a:t>Let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i="1" dirty="0">
                <a:ea typeface="ＭＳ Ｐゴシック" charset="-128"/>
              </a:rPr>
              <a:t>,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and 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</a:rPr>
              <a:t> be sets such that</a:t>
            </a:r>
          </a:p>
          <a:p>
            <a:pPr marL="457200" indent="-457200" eaLnBrk="1" hangingPunct="1">
              <a:buFontTx/>
              <a:buNone/>
            </a:pPr>
            <a:r>
              <a:rPr lang="en-US" altLang="en-US" dirty="0">
                <a:ea typeface="ＭＳ Ｐゴシック" charset="-128"/>
              </a:rPr>
              <a:t>	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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=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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</a:rPr>
              <a:t> and 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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dirty="0">
                <a:ea typeface="ＭＳ Ｐゴシック" charset="-128"/>
              </a:rPr>
              <a:t> = </a:t>
            </a:r>
            <a:r>
              <a:rPr lang="en-US" altLang="en-US" b="1" dirty="0">
                <a:ea typeface="ＭＳ Ｐゴシック" charset="-128"/>
              </a:rPr>
              <a:t>A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  <a:sym typeface="Symbol" charset="2"/>
              </a:rPr>
              <a:t>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b="1" dirty="0"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</a:rPr>
              <a:t> </a:t>
            </a:r>
          </a:p>
          <a:p>
            <a:pPr marL="0" indent="0" eaLnBrk="1" hangingPunct="1">
              <a:buNone/>
            </a:pPr>
            <a:r>
              <a:rPr lang="en-US" altLang="en-US" dirty="0">
                <a:ea typeface="ＭＳ Ｐゴシック" charset="-128"/>
              </a:rPr>
              <a:t>Prove that </a:t>
            </a:r>
            <a:r>
              <a:rPr lang="en-US" altLang="en-US" b="1" dirty="0">
                <a:ea typeface="ＭＳ Ｐゴシック" charset="-128"/>
              </a:rPr>
              <a:t>B</a:t>
            </a:r>
            <a:r>
              <a:rPr lang="en-US" altLang="en-US" i="1" dirty="0">
                <a:ea typeface="ＭＳ Ｐゴシック" charset="-128"/>
              </a:rPr>
              <a:t> = </a:t>
            </a:r>
            <a:r>
              <a:rPr lang="en-US" altLang="en-US" b="1" dirty="0">
                <a:ea typeface="ＭＳ Ｐゴシック" charset="-128"/>
              </a:rPr>
              <a:t>C</a:t>
            </a:r>
          </a:p>
        </p:txBody>
      </p:sp>
      <p:sp>
        <p:nvSpPr>
          <p:cNvPr id="62467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07541D57-712A-A741-8FD7-266040917DA3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84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866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36550" y="789578"/>
            <a:ext cx="3210983" cy="536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sz="3600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Exercise </a:t>
            </a:r>
            <a:r>
              <a:rPr lang="en-US" altLang="en-US" sz="36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#3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2C153F-4E87-EBCB-04C3-698A2E8E2B5A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735B4-F87A-4E15-3A6A-77DA25922FBA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418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ChangeArrowheads="1"/>
          </p:cNvSpPr>
          <p:nvPr/>
        </p:nvSpPr>
        <p:spPr bwMode="auto">
          <a:xfrm>
            <a:off x="1039283" y="2048933"/>
            <a:ext cx="6538384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571500" algn="l"/>
              </a:tabLs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tabLst>
                <a:tab pos="457200" algn="l"/>
                <a:tab pos="571500" algn="l"/>
              </a:tabLs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tabLst>
                <a:tab pos="457200" algn="l"/>
                <a:tab pos="571500" algn="l"/>
              </a:tabLs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tabLst>
                <a:tab pos="457200" algn="l"/>
                <a:tab pos="571500" algn="l"/>
              </a:tabLs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tabLst>
                <a:tab pos="457200" algn="l"/>
                <a:tab pos="571500" algn="l"/>
              </a:tabLs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71500" algn="l"/>
              </a:tabLs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71500" algn="l"/>
              </a:tabLs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71500" algn="l"/>
              </a:tabLs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571500" algn="l"/>
              </a:tabLs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2000" i="1" dirty="0">
                <a:latin typeface="Times New Roman" charset="0"/>
              </a:rPr>
              <a:t>B</a:t>
            </a:r>
            <a:r>
              <a:rPr lang="en-US" altLang="en-US" sz="2000" dirty="0">
                <a:latin typeface="Times New Roman" charset="0"/>
              </a:rPr>
              <a:t>	 =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</a:rPr>
              <a:t>B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</a:rPr>
              <a:t>B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 A)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               			</a:t>
            </a:r>
            <a:r>
              <a:rPr lang="en-US" altLang="en-US" sz="2000" dirty="0">
                <a:latin typeface="Times New Roman" charset="0"/>
                <a:sym typeface="Symbol" charset="2"/>
              </a:rPr>
              <a:t>[Absorption ]</a:t>
            </a:r>
          </a:p>
          <a:p>
            <a:pPr eaLnBrk="1" hangingPunct="1"/>
            <a:r>
              <a:rPr lang="en-US" altLang="en-US" sz="2000" i="1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	 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= </a:t>
            </a:r>
            <a:r>
              <a:rPr lang="en-US" altLang="en-US" sz="2000" i="1" dirty="0">
                <a:latin typeface="Times New Roman" charset="0"/>
              </a:rPr>
              <a:t>B</a:t>
            </a:r>
            <a:r>
              <a:rPr lang="en-US" altLang="en-US" sz="2000" dirty="0">
                <a:latin typeface="Times New Roman" charset="0"/>
              </a:rPr>
              <a:t> </a:t>
            </a:r>
            <a:r>
              <a:rPr lang="en-US" altLang="en-US" sz="2000" dirty="0">
                <a:latin typeface="Times New Roman" charset="0"/>
                <a:sym typeface="Symbol" charset="2"/>
              </a:rPr>
              <a:t>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</a:rPr>
              <a:t>A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 B)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               			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</a:rPr>
              <a:t>[commutative]</a:t>
            </a:r>
            <a:endParaRPr lang="en-US" altLang="en-US" sz="2000" dirty="0">
              <a:solidFill>
                <a:srgbClr val="000000"/>
              </a:solidFill>
              <a:latin typeface="Times New Roman" charset="0"/>
              <a:sym typeface="Symbol" charset="2"/>
            </a:endParaRP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	</a:t>
            </a:r>
            <a:r>
              <a:rPr lang="en-US" altLang="en-US" sz="2000" dirty="0">
                <a:latin typeface="Times New Roman" charset="0"/>
                <a:sym typeface="Symbol" charset="2"/>
              </a:rPr>
              <a:t> = </a:t>
            </a:r>
            <a:r>
              <a:rPr lang="en-US" altLang="en-US" sz="2000" i="1" dirty="0">
                <a:latin typeface="Times New Roman" charset="0"/>
              </a:rPr>
              <a:t>B</a:t>
            </a:r>
            <a:r>
              <a:rPr lang="en-US" altLang="en-US" sz="2000" dirty="0">
                <a:latin typeface="Times New Roman" charset="0"/>
              </a:rPr>
              <a:t> </a:t>
            </a:r>
            <a:r>
              <a:rPr lang="en-US" altLang="en-US" sz="2000" dirty="0">
                <a:latin typeface="Times New Roman" charset="0"/>
                <a:sym typeface="Symbol" charset="2"/>
              </a:rPr>
              <a:t>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</a:rPr>
              <a:t>A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 C)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               			</a:t>
            </a:r>
            <a:r>
              <a:rPr lang="en-US" altLang="en-US" sz="2000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given conditions</a:t>
            </a:r>
            <a:endParaRPr lang="en-US" altLang="en-US" sz="2000" dirty="0">
              <a:latin typeface="Times New Roman" charset="0"/>
              <a:sym typeface="Symbol" charset="2"/>
            </a:endParaRPr>
          </a:p>
          <a:p>
            <a:pPr eaLnBrk="1" hangingPunct="1"/>
            <a:r>
              <a:rPr lang="en-US" altLang="en-US" sz="2000" i="1" dirty="0">
                <a:latin typeface="Times New Roman" charset="0"/>
                <a:sym typeface="Symbol" charset="2"/>
              </a:rPr>
              <a:t>        </a:t>
            </a:r>
            <a:r>
              <a:rPr lang="en-US" altLang="en-US" sz="2000" dirty="0">
                <a:latin typeface="Times New Roman" charset="0"/>
                <a:sym typeface="Symbol" charset="2"/>
              </a:rPr>
              <a:t>=</a:t>
            </a:r>
            <a:r>
              <a:rPr lang="en-US" altLang="en-US" sz="2000" i="1" dirty="0">
                <a:latin typeface="Times New Roman" charset="0"/>
                <a:sym typeface="Symbol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B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A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) 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(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B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)</a:t>
            </a:r>
            <a:r>
              <a:rPr lang="en-US" altLang="en-US" sz="2000" dirty="0">
                <a:solidFill>
                  <a:srgbClr val="008000"/>
                </a:solidFill>
                <a:latin typeface="Times New Roman" charset="0"/>
                <a:sym typeface="Symbol" charset="2"/>
              </a:rPr>
              <a:t>      			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[distributive] </a:t>
            </a:r>
          </a:p>
          <a:p>
            <a:pPr eaLnBrk="1" hangingPunct="1"/>
            <a:r>
              <a:rPr lang="en-US" altLang="en-US" sz="2000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	 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=</a:t>
            </a:r>
            <a:r>
              <a:rPr lang="en-US" altLang="en-US" sz="2000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A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B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) </a:t>
            </a:r>
            <a:r>
              <a:rPr lang="en-US" altLang="en-US" sz="2000" dirty="0">
                <a:latin typeface="Times New Roman" charset="0"/>
                <a:sym typeface="Symbol" charset="2"/>
              </a:rPr>
              <a:t></a:t>
            </a:r>
            <a:r>
              <a:rPr lang="en-US" altLang="en-US" sz="2000" dirty="0">
                <a:latin typeface="Times New Roman" charset="0"/>
              </a:rPr>
              <a:t> (</a:t>
            </a:r>
            <a:r>
              <a:rPr lang="en-US" altLang="en-US" sz="2000" i="1" dirty="0">
                <a:latin typeface="Times New Roman" charset="0"/>
                <a:sym typeface="Symbol" charset="2"/>
              </a:rPr>
              <a:t>B</a:t>
            </a:r>
            <a:r>
              <a:rPr lang="en-US" altLang="en-US" sz="2000" dirty="0"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latin typeface="Times New Roman" charset="0"/>
              </a:rPr>
              <a:t> </a:t>
            </a:r>
            <a:r>
              <a:rPr lang="en-US" altLang="en-US" sz="2000" i="1" dirty="0"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latin typeface="Times New Roman" charset="0"/>
              </a:rPr>
              <a:t>)     </a:t>
            </a:r>
            <a:r>
              <a:rPr lang="en-US" altLang="en-US" sz="2000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 			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</a:rPr>
              <a:t>[commutative]</a:t>
            </a:r>
            <a:endParaRPr lang="en-US" altLang="en-US" sz="2000" dirty="0">
              <a:solidFill>
                <a:srgbClr val="0000FF"/>
              </a:solidFill>
              <a:latin typeface="Times New Roman" charset="0"/>
              <a:sym typeface="Symbol" charset="2"/>
            </a:endParaRPr>
          </a:p>
          <a:p>
            <a:pPr eaLnBrk="1" hangingPunct="1"/>
            <a:r>
              <a:rPr lang="en-US" altLang="en-US" sz="2000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	 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=</a:t>
            </a:r>
            <a:r>
              <a:rPr lang="en-US" altLang="en-US" sz="2000" i="1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A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) </a:t>
            </a:r>
            <a:r>
              <a:rPr lang="en-US" altLang="en-US" sz="2000" dirty="0">
                <a:latin typeface="Times New Roman" charset="0"/>
                <a:sym typeface="Symbol" charset="2"/>
              </a:rPr>
              <a:t></a:t>
            </a:r>
            <a:r>
              <a:rPr lang="en-US" altLang="en-US" sz="2000" dirty="0">
                <a:latin typeface="Times New Roman" charset="0"/>
              </a:rPr>
              <a:t> (</a:t>
            </a:r>
            <a:r>
              <a:rPr lang="en-US" altLang="en-US" sz="2000" i="1" dirty="0">
                <a:latin typeface="Times New Roman" charset="0"/>
                <a:sym typeface="Symbol" charset="2"/>
              </a:rPr>
              <a:t>B</a:t>
            </a:r>
            <a:r>
              <a:rPr lang="en-US" altLang="en-US" sz="2000" dirty="0"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latin typeface="Times New Roman" charset="0"/>
              </a:rPr>
              <a:t> </a:t>
            </a:r>
            <a:r>
              <a:rPr lang="en-US" altLang="en-US" sz="2000" i="1" dirty="0"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latin typeface="Times New Roman" charset="0"/>
              </a:rPr>
              <a:t>)</a:t>
            </a:r>
            <a:r>
              <a:rPr lang="en-US" altLang="en-US" sz="2000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	    			given conditions</a:t>
            </a:r>
            <a:endParaRPr lang="en-US" altLang="en-US" sz="2000" dirty="0">
              <a:solidFill>
                <a:srgbClr val="000000"/>
              </a:solidFill>
              <a:latin typeface="Times New Roman" charset="0"/>
              <a:sym typeface="Symbol" charset="2"/>
            </a:endParaRP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 		=</a:t>
            </a:r>
            <a:r>
              <a:rPr lang="en-US" altLang="en-US" sz="2000" i="1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A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) </a:t>
            </a:r>
            <a:r>
              <a:rPr lang="en-US" altLang="en-US" sz="2000" dirty="0">
                <a:latin typeface="Times New Roman" charset="0"/>
                <a:sym typeface="Symbol" charset="2"/>
              </a:rPr>
              <a:t></a:t>
            </a:r>
            <a:r>
              <a:rPr lang="en-US" altLang="en-US" sz="2000" dirty="0">
                <a:latin typeface="Times New Roman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B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)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   			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[commutative]</a:t>
            </a:r>
            <a:endParaRPr lang="en-US" altLang="en-US" sz="2000" dirty="0">
              <a:latin typeface="Times New Roman" charset="0"/>
              <a:sym typeface="Symbol" charset="2"/>
            </a:endParaRPr>
          </a:p>
          <a:p>
            <a:pPr eaLnBrk="1" hangingPunct="1"/>
            <a:r>
              <a:rPr lang="en-US" altLang="en-US" sz="2000" i="1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		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=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(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A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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B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)               			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[distributive] </a:t>
            </a: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         = </a:t>
            </a:r>
            <a:r>
              <a:rPr lang="en-US" altLang="en-US" sz="2000" i="1" dirty="0"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latin typeface="Times New Roman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A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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)               			</a:t>
            </a:r>
            <a:r>
              <a:rPr lang="en-US" altLang="en-US" sz="2000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given conditions</a:t>
            </a: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         = </a:t>
            </a:r>
            <a:r>
              <a:rPr lang="en-US" altLang="en-US" sz="2000" i="1" dirty="0"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latin typeface="Times New Roman" charset="0"/>
                <a:sym typeface="Symbol" charset="2"/>
              </a:rPr>
              <a:t> </a:t>
            </a:r>
            <a:r>
              <a:rPr lang="en-US" altLang="en-US" sz="2000" dirty="0">
                <a:latin typeface="Times New Roman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(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 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en-US" sz="2000" i="1" dirty="0">
                <a:solidFill>
                  <a:srgbClr val="FF0000"/>
                </a:solidFill>
                <a:latin typeface="Times New Roman" charset="0"/>
                <a:sym typeface="Symbol" charset="2"/>
              </a:rPr>
              <a:t>A</a:t>
            </a:r>
            <a:r>
              <a:rPr lang="en-US" altLang="en-US" sz="2000" dirty="0">
                <a:solidFill>
                  <a:srgbClr val="FF0000"/>
                </a:solidFill>
                <a:latin typeface="Times New Roman" charset="0"/>
              </a:rPr>
              <a:t>)               			</a:t>
            </a:r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[commutative]</a:t>
            </a:r>
            <a:endParaRPr lang="en-US" altLang="en-US" sz="2000" dirty="0">
              <a:latin typeface="Times New Roman" charset="0"/>
              <a:sym typeface="Symbol" charset="2"/>
            </a:endParaRP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  <a:latin typeface="Times New Roman" charset="0"/>
                <a:sym typeface="Symbol" charset="2"/>
              </a:rPr>
              <a:t>         = </a:t>
            </a:r>
            <a:r>
              <a:rPr lang="en-US" altLang="en-US" sz="2000" i="1" dirty="0">
                <a:latin typeface="Times New Roman" charset="0"/>
                <a:sym typeface="Symbol" charset="2"/>
              </a:rPr>
              <a:t>C</a:t>
            </a:r>
            <a:r>
              <a:rPr lang="en-US" altLang="en-US" sz="2000" dirty="0">
                <a:latin typeface="Times New Roman" charset="0"/>
                <a:sym typeface="Symbol" charset="2"/>
              </a:rPr>
              <a:t>                                 			[Absorption ]</a:t>
            </a:r>
          </a:p>
          <a:p>
            <a:pPr eaLnBrk="1" hangingPunct="1"/>
            <a:endParaRPr lang="en-US" altLang="en-US" sz="2000" dirty="0">
              <a:solidFill>
                <a:srgbClr val="000000"/>
              </a:solidFill>
              <a:latin typeface="Times New Roman" charset="0"/>
              <a:sym typeface="Symbol" charset="2"/>
            </a:endParaRPr>
          </a:p>
        </p:txBody>
      </p:sp>
      <p:sp>
        <p:nvSpPr>
          <p:cNvPr id="63493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A862F031-EE65-3D45-BEF7-3224FF8ADA94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85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63494" name="Rectangle 1"/>
          <p:cNvSpPr>
            <a:spLocks noChangeArrowheads="1"/>
          </p:cNvSpPr>
          <p:nvPr/>
        </p:nvSpPr>
        <p:spPr bwMode="auto">
          <a:xfrm>
            <a:off x="628650" y="1387869"/>
            <a:ext cx="5256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dirty="0"/>
              <a:t>Given: </a:t>
            </a:r>
            <a:r>
              <a:rPr lang="en-US" altLang="en-US" b="1" dirty="0">
                <a:solidFill>
                  <a:srgbClr val="0000FF"/>
                </a:solidFill>
              </a:rPr>
              <a:t>A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  <a:sym typeface="Symbol" charset="2"/>
              </a:rPr>
              <a:t> </a:t>
            </a:r>
            <a:r>
              <a:rPr lang="en-US" altLang="en-US" b="1" dirty="0">
                <a:solidFill>
                  <a:srgbClr val="0000FF"/>
                </a:solidFill>
                <a:sym typeface="Symbol" charset="2"/>
              </a:rPr>
              <a:t>B</a:t>
            </a:r>
            <a:r>
              <a:rPr lang="en-US" altLang="en-US" i="1" dirty="0">
                <a:solidFill>
                  <a:srgbClr val="0000FF"/>
                </a:solidFill>
                <a:sym typeface="Symbol" charset="2"/>
              </a:rPr>
              <a:t> </a:t>
            </a:r>
            <a:r>
              <a:rPr lang="en-US" altLang="en-US" dirty="0">
                <a:solidFill>
                  <a:srgbClr val="0000FF"/>
                </a:solidFill>
              </a:rPr>
              <a:t>= </a:t>
            </a:r>
            <a:r>
              <a:rPr lang="en-US" altLang="en-US" b="1" dirty="0">
                <a:solidFill>
                  <a:srgbClr val="0000FF"/>
                </a:solidFill>
              </a:rPr>
              <a:t>A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  <a:sym typeface="Symbol" charset="2"/>
              </a:rPr>
              <a:t>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C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00FF"/>
                </a:solidFill>
              </a:rPr>
              <a:t>A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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B</a:t>
            </a:r>
            <a:r>
              <a:rPr lang="en-US" altLang="en-US" dirty="0">
                <a:solidFill>
                  <a:srgbClr val="0000FF"/>
                </a:solidFill>
              </a:rPr>
              <a:t> = </a:t>
            </a:r>
            <a:r>
              <a:rPr lang="en-US" altLang="en-US" b="1" dirty="0">
                <a:solidFill>
                  <a:srgbClr val="0000FF"/>
                </a:solidFill>
              </a:rPr>
              <a:t>A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Times New Roman" charset="0"/>
                <a:sym typeface="Symbol" charset="2"/>
              </a:rPr>
              <a:t>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00FF"/>
                </a:solidFill>
              </a:rPr>
              <a:t>C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23100" y="6415616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25426" y="652509"/>
            <a:ext cx="4863041" cy="536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sz="3600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Exercise </a:t>
            </a:r>
            <a:r>
              <a:rPr lang="en-US" altLang="en-US" sz="36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#3 -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A3C62-E6A3-DE42-71C7-97D5E071A474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E3A3E7-DCC2-2EAB-3510-B23CB25859F5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668345"/>
      </p:ext>
    </p:extLst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12750" y="1699153"/>
            <a:ext cx="6504517" cy="4244447"/>
          </a:xfrm>
        </p:spPr>
        <p:txBody>
          <a:bodyPr/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Given sets </a:t>
            </a:r>
            <a:r>
              <a:rPr lang="en-US" sz="2400" b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= {</a:t>
            </a:r>
            <a:r>
              <a:rPr lang="en-US" sz="2400" i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w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, </a:t>
            </a:r>
            <a:r>
              <a:rPr lang="en-US" sz="2400" i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}; </a:t>
            </a:r>
            <a:r>
              <a:rPr lang="en-US" sz="2400" b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={1, 2} and </a:t>
            </a:r>
            <a:r>
              <a:rPr lang="en-US" sz="2400" b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C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={KB, SD, PS}.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 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a) Determine the following set,</a:t>
            </a:r>
          </a:p>
          <a:p>
            <a:pPr marL="1085850" lvl="1" indent="-514350" eaLnBrk="1" hangingPunct="1">
              <a:buFont typeface="Arial" charset="0"/>
              <a:buAutoNum type="romanLcParenR"/>
              <a:defRPr/>
            </a:pP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dirty="0">
                <a:ea typeface="ＭＳ Ｐゴシック" pitchFamily="34" charset="-128"/>
                <a:cs typeface="Times New Roman" pitchFamily="18" charset="0"/>
              </a:rPr>
              <a:t>    </a:t>
            </a:r>
          </a:p>
          <a:p>
            <a:pPr marL="1085850" lvl="1" indent="-514350" eaLnBrk="1" hangingPunct="1">
              <a:buFont typeface="Arial" charset="0"/>
              <a:buAutoNum type="romanLcParenR"/>
              <a:defRPr/>
            </a:pP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C</a:t>
            </a:r>
            <a:r>
              <a:rPr lang="en-US" dirty="0">
                <a:ea typeface="ＭＳ Ｐゴシック" pitchFamily="34" charset="-128"/>
                <a:cs typeface="Times New Roman" pitchFamily="18" charset="0"/>
              </a:rPr>
              <a:t>     </a:t>
            </a:r>
          </a:p>
          <a:p>
            <a:pPr marL="1085850" lvl="1" indent="-514350" eaLnBrk="1" hangingPunct="1">
              <a:buFont typeface="Arial" charset="0"/>
              <a:buAutoNum type="romanLcParenR"/>
              <a:defRPr/>
            </a:pP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C</a:t>
            </a:r>
            <a:endParaRPr lang="en-US" b="1" dirty="0">
              <a:ea typeface="ＭＳ Ｐゴシック" pitchFamily="34" charset="-128"/>
              <a:cs typeface="Times New Roman" pitchFamily="18" charset="0"/>
              <a:sym typeface="Symbol" pitchFamily="18" charset="2"/>
            </a:endParaRPr>
          </a:p>
          <a:p>
            <a:pPr marL="571500" lvl="1" indent="0" eaLnBrk="1" hangingPunct="1">
              <a:buFont typeface="Arial" charset="0"/>
              <a:buNone/>
              <a:defRPr/>
            </a:pPr>
            <a:r>
              <a:rPr lang="en-US" dirty="0">
                <a:ea typeface="ＭＳ Ｐゴシック" pitchFamily="34" charset="-128"/>
                <a:cs typeface="Times New Roman" pitchFamily="18" charset="0"/>
              </a:rPr>
              <a:t>iv)   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C</a:t>
            </a:r>
          </a:p>
          <a:p>
            <a:pPr marL="571500" lvl="1" indent="0" eaLnBrk="1" hangingPunct="1">
              <a:buFont typeface="Arial" charset="0"/>
              <a:buNone/>
              <a:defRPr/>
            </a:pPr>
            <a:r>
              <a:rPr lang="en-US" dirty="0">
                <a:ea typeface="ＭＳ Ｐゴシック" pitchFamily="34" charset="-128"/>
                <a:cs typeface="Times New Roman" pitchFamily="18" charset="0"/>
              </a:rPr>
              <a:t>v)    (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C)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A</a:t>
            </a:r>
          </a:p>
          <a:p>
            <a:pPr marL="571500" lvl="1" indent="0" eaLnBrk="1" hangingPunct="1">
              <a:buFont typeface="Arial" charset="0"/>
              <a:buNone/>
              <a:defRPr/>
            </a:pPr>
            <a:r>
              <a:rPr lang="en-US" dirty="0">
                <a:ea typeface="ＭＳ Ｐゴシック" pitchFamily="34" charset="-128"/>
                <a:cs typeface="Times New Roman" pitchFamily="18" charset="0"/>
              </a:rPr>
              <a:t>vi)   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 (</a:t>
            </a:r>
            <a:r>
              <a:rPr lang="en-US" b="1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A</a:t>
            </a:r>
            <a:r>
              <a:rPr lang="en-US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b="1" dirty="0">
                <a:ea typeface="ＭＳ Ｐゴシック" pitchFamily="34" charset="-128"/>
                <a:cs typeface="Times New Roman" pitchFamily="18" charset="0"/>
              </a:rPr>
              <a:t>C)</a:t>
            </a:r>
          </a:p>
          <a:p>
            <a:pPr marL="571500" lvl="1" indent="0" eaLnBrk="1" hangingPunct="1">
              <a:buNone/>
              <a:defRPr/>
            </a:pPr>
            <a:endParaRPr lang="en-US" i="1" dirty="0">
              <a:ea typeface="ＭＳ Ｐゴシック" pitchFamily="34" charset="-128"/>
              <a:cs typeface="Times New Roman" pitchFamily="18" charset="0"/>
            </a:endParaRPr>
          </a:p>
          <a:p>
            <a:pPr marL="571500" lvl="1" indent="0" eaLnBrk="1" hangingPunct="1">
              <a:buNone/>
              <a:defRPr/>
            </a:pPr>
            <a:endParaRPr lang="en-US" i="1" dirty="0">
              <a:ea typeface="ＭＳ Ｐゴシック" pitchFamily="34" charset="-128"/>
              <a:cs typeface="Times New Roman" pitchFamily="18" charset="0"/>
            </a:endParaRPr>
          </a:p>
          <a:p>
            <a:pPr marL="457200" indent="-457200" eaLnBrk="1" hangingPunct="1">
              <a:buFontTx/>
              <a:buNone/>
              <a:defRPr/>
            </a:pPr>
            <a:endParaRPr lang="en-US" sz="2400" dirty="0">
              <a:ea typeface="ＭＳ Ｐゴシック" pitchFamily="34" charset="-128"/>
            </a:endParaRPr>
          </a:p>
        </p:txBody>
      </p:sp>
      <p:sp>
        <p:nvSpPr>
          <p:cNvPr id="64515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F1C9BCE4-C5C4-F149-8154-F0796678A601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86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294216" y="734657"/>
            <a:ext cx="3210983" cy="536259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Exercise </a:t>
            </a:r>
            <a:r>
              <a:rPr lang="en-US" altLang="en-US" sz="36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#4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399" y="2593073"/>
            <a:ext cx="392853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eaLnBrk="1" hangingPunct="1">
              <a:buFont typeface="Arial" charset="0"/>
              <a:buNone/>
              <a:defRPr/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b) Find: </a:t>
            </a:r>
          </a:p>
          <a:p>
            <a:pPr marL="971550" lvl="2" indent="-514350" eaLnBrk="1" hangingPunct="1">
              <a:buFont typeface="+mj-lt"/>
              <a:buAutoNum type="romanLcPeriod"/>
              <a:defRPr/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</a:p>
          <a:p>
            <a:pPr marL="971550" lvl="2" indent="-514350" eaLnBrk="1" hangingPunct="1">
              <a:buFont typeface="+mj-lt"/>
              <a:buAutoNum type="romanLcPeriod"/>
              <a:defRPr/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C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</a:p>
          <a:p>
            <a:pPr marL="971550" lvl="2" indent="-514350" eaLnBrk="1" hangingPunct="1">
              <a:buFont typeface="+mj-lt"/>
              <a:buAutoNum type="romanLcPeriod"/>
              <a:defRPr/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C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</a:p>
          <a:p>
            <a:pPr marL="971550" lvl="2" indent="-514350" eaLnBrk="1" hangingPunct="1">
              <a:buFont typeface="+mj-lt"/>
              <a:buAutoNum type="romanLcPeriod"/>
              <a:defRPr/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C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</a:p>
          <a:p>
            <a:pPr marL="971550" lvl="2" indent="-514350" eaLnBrk="1" hangingPunct="1">
              <a:buFont typeface="+mj-lt"/>
              <a:buAutoNum type="romanLcPeriod"/>
              <a:defRPr/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C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</a:p>
          <a:p>
            <a:pPr marL="971550" lvl="2" indent="-514350" eaLnBrk="1" hangingPunct="1">
              <a:buFont typeface="+mj-lt"/>
              <a:buAutoNum type="romanLcPeriod"/>
              <a:defRPr/>
            </a:pP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400" b="1" dirty="0">
                <a:ea typeface="ＭＳ Ｐゴシック" pitchFamily="34" charset="-128"/>
                <a:cs typeface="Times New Roman" pitchFamily="18" charset="0"/>
              </a:rPr>
              <a:t>C</a:t>
            </a:r>
            <a:r>
              <a:rPr lang="en-US" sz="2400" dirty="0">
                <a:ea typeface="ＭＳ Ｐゴシック" pitchFamily="34" charset="-128"/>
                <a:cs typeface="Times New Roman" pitchFamily="18" charset="0"/>
              </a:rPr>
              <a:t>|</a:t>
            </a:r>
            <a:endParaRPr lang="en-US" sz="2400" dirty="0">
              <a:solidFill>
                <a:srgbClr val="AE3221"/>
              </a:solidFill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1519D9-6587-F212-E9A8-77412AB8594E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6FB2F-A6A5-B3F8-AAE1-B45B48B6DE34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2633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970014" y="6448682"/>
            <a:ext cx="2057400" cy="365125"/>
          </a:xfrm>
        </p:spPr>
        <p:txBody>
          <a:bodyPr/>
          <a:lstStyle/>
          <a:p>
            <a:pPr>
              <a:defRPr/>
            </a:pPr>
            <a:fld id="{ED042297-3453-4D2B-AB8F-5372736C761A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64252" y="1167790"/>
            <a:ext cx="84154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US" sz="2800" b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= {</a:t>
            </a:r>
            <a:r>
              <a:rPr lang="en-US" sz="2800" i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w</a:t>
            </a:r>
            <a:r>
              <a:rPr lang="en-US" sz="28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, </a:t>
            </a:r>
            <a:r>
              <a:rPr lang="en-US" sz="2800" i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x</a:t>
            </a:r>
            <a:r>
              <a:rPr lang="en-US" sz="28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}; </a:t>
            </a:r>
            <a:r>
              <a:rPr lang="en-US" sz="2800" b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sz="28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={1, 2} and </a:t>
            </a:r>
            <a:r>
              <a:rPr lang="en-US" sz="2800" b="1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C</a:t>
            </a:r>
            <a:r>
              <a:rPr lang="en-US" sz="2800" dirty="0">
                <a:solidFill>
                  <a:srgbClr val="000000"/>
                </a:solidFill>
                <a:ea typeface="ＭＳ Ｐゴシック" pitchFamily="34" charset="-128"/>
                <a:cs typeface="Times New Roman" pitchFamily="18" charset="0"/>
              </a:rPr>
              <a:t>={KB, SD, PS}.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7337" y="1721789"/>
            <a:ext cx="20024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ea typeface="ＭＳ Ｐゴシック" pitchFamily="34" charset="-128"/>
                <a:cs typeface="Times New Roman" pitchFamily="18" charset="0"/>
              </a:rPr>
              <a:t> (</a:t>
            </a:r>
            <a:r>
              <a:rPr lang="en-US" sz="2800" b="1" dirty="0">
                <a:ea typeface="ＭＳ Ｐゴシック" pitchFamily="34" charset="-128"/>
                <a:cs typeface="Times New Roman" pitchFamily="18" charset="0"/>
              </a:rPr>
              <a:t>B</a:t>
            </a:r>
            <a:r>
              <a:rPr lang="en-US" sz="28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800" b="1" dirty="0">
                <a:ea typeface="ＭＳ Ｐゴシック" pitchFamily="34" charset="-128"/>
                <a:cs typeface="Times New Roman" pitchFamily="18" charset="0"/>
              </a:rPr>
              <a:t>C)</a:t>
            </a:r>
            <a:r>
              <a:rPr lang="en-US" sz="28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800" b="1" dirty="0">
                <a:ea typeface="ＭＳ Ｐゴシック" pitchFamily="34" charset="-128"/>
                <a:cs typeface="Times New Roman" pitchFamily="18" charset="0"/>
              </a:rPr>
              <a:t>A = ?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87337" y="2404540"/>
                <a:ext cx="870843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MY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𝐾𝐵</m:t>
                          </m:r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𝑆𝐷</m:t>
                          </m:r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𝑃𝑆</m:t>
                          </m:r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2, 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𝐾𝐵</m:t>
                          </m:r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2, 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𝑆𝐷</m:t>
                          </m:r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</m:t>
                          </m:r>
                          <m:r>
                            <a:rPr lang="en-MY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𝑃𝑆</m:t>
                          </m:r>
                        </m:e>
                      </m:d>
                      <m:r>
                        <a:rPr lang="en-MY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37" y="2404540"/>
                <a:ext cx="8708438" cy="307777"/>
              </a:xfrm>
              <a:prstGeom prst="rect">
                <a:avLst/>
              </a:prstGeom>
              <a:blipFill>
                <a:blip r:embed="rId2"/>
                <a:stretch>
                  <a:fillRect l="-980" t="-196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30397" y="2924214"/>
                <a:ext cx="7875403" cy="18256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MY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𝐾𝐵</m:t>
                              </m:r>
                            </m:e>
                          </m:d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𝑆𝐷</m:t>
                              </m:r>
                            </m:e>
                          </m:d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MY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𝑃𝑆</m:t>
                              </m:r>
                            </m:e>
                          </m:d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MY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MY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MY" b="0" dirty="0">
                  <a:ea typeface="Cambria Math" panose="02040503050406030204" pitchFamily="18" charset="0"/>
                </a:endParaRPr>
              </a:p>
              <a:p>
                <a:r>
                  <a:rPr lang="en-MY" dirty="0">
                    <a:ea typeface="Cambria Math" panose="020405030504060302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MY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MY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𝐾𝐵</m:t>
                            </m:r>
                          </m:e>
                        </m:d>
                        <m: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MY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MY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MY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𝑆𝐷</m:t>
                            </m:r>
                          </m:e>
                        </m:d>
                        <m: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MY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MY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MY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𝑃𝑆</m:t>
                            </m:r>
                          </m:e>
                        </m:d>
                        <m: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MY" b="0" dirty="0">
                  <a:ea typeface="Cambria Math" panose="02040503050406030204" pitchFamily="18" charset="0"/>
                </a:endParaRPr>
              </a:p>
              <a:p>
                <a:endParaRPr lang="en-MY" dirty="0">
                  <a:ea typeface="Cambria Math" panose="02040503050406030204" pitchFamily="18" charset="0"/>
                </a:endParaRPr>
              </a:p>
              <a:p>
                <a:endParaRPr lang="en-MY" b="0" dirty="0">
                  <a:ea typeface="Cambria Math" panose="02040503050406030204" pitchFamily="18" charset="0"/>
                </a:endParaRPr>
              </a:p>
              <a:p>
                <a:endParaRPr lang="en-MY" b="0" dirty="0">
                  <a:ea typeface="Cambria Math" panose="02040503050406030204" pitchFamily="18" charset="0"/>
                </a:endParaRPr>
              </a:p>
              <a:p>
                <a:r>
                  <a:rPr lang="en-MY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                                                           …...,((2,PS),</a:t>
                </a:r>
                <a:r>
                  <a:rPr lang="en-MY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MY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)}</a:t>
                </a:r>
                <a14:m>
                  <m:oMath xmlns:m="http://schemas.openxmlformats.org/officeDocument/2006/math"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97" y="2924214"/>
                <a:ext cx="7875403" cy="1825628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234950" y="606633"/>
            <a:ext cx="6893983" cy="536259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en-US" sz="2800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Exercise </a:t>
            </a:r>
            <a:r>
              <a:rPr lang="en-US" altLang="en-US" sz="28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#4a(v) -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203" y="5040723"/>
            <a:ext cx="39292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2800" dirty="0">
                <a:ea typeface="ＭＳ Ｐゴシック" pitchFamily="34" charset="-128"/>
                <a:cs typeface="Times New Roman" pitchFamily="18" charset="0"/>
              </a:rPr>
              <a:t>|(B</a:t>
            </a:r>
            <a:r>
              <a:rPr lang="en-US" sz="28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800" dirty="0">
                <a:ea typeface="ＭＳ Ｐゴシック" pitchFamily="34" charset="-128"/>
                <a:cs typeface="Times New Roman" pitchFamily="18" charset="0"/>
              </a:rPr>
              <a:t>C)</a:t>
            </a:r>
            <a:r>
              <a:rPr lang="en-US" sz="2800" dirty="0">
                <a:ea typeface="ＭＳ Ｐゴシック" pitchFamily="34" charset="-128"/>
                <a:cs typeface="Times New Roman" pitchFamily="18" charset="0"/>
                <a:sym typeface="Symbol" pitchFamily="18" charset="2"/>
              </a:rPr>
              <a:t></a:t>
            </a:r>
            <a:r>
              <a:rPr lang="en-US" sz="2800" dirty="0">
                <a:ea typeface="ＭＳ Ｐゴシック" pitchFamily="34" charset="-128"/>
                <a:cs typeface="Times New Roman" pitchFamily="18" charset="0"/>
              </a:rPr>
              <a:t>A| =(2*3)*2 = </a:t>
            </a:r>
            <a:r>
              <a:rPr lang="en-US" sz="2800" b="1" dirty="0">
                <a:ea typeface="ＭＳ Ｐゴシック" pitchFamily="34" charset="-128"/>
                <a:cs typeface="Times New Roman" pitchFamily="18" charset="0"/>
              </a:rPr>
              <a:t>12</a:t>
            </a:r>
            <a:endParaRPr 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8F7DE-3532-860E-5F25-2306F1AADF8F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1648A-2E4D-63C4-3DD3-A373E762EB8B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62876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986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34950" y="1300768"/>
                <a:ext cx="8761940" cy="4750639"/>
              </a:xfrm>
            </p:spPr>
            <p:txBody>
              <a:bodyPr/>
              <a:lstStyle/>
              <a:p>
                <a:pPr marL="0" indent="0" eaLnBrk="1" hangingPunct="1">
                  <a:buFont typeface="Arial" charset="0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𝐴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MY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MY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𝑤</m:t>
                          </m:r>
                          <m:r>
                            <a:rPr lang="en-MY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,</m:t>
                          </m:r>
                          <m:r>
                            <a:rPr lang="en-MY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𝑥</m:t>
                          </m:r>
                        </m:e>
                      </m:d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;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𝐵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MY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MY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1, 2</m:t>
                          </m:r>
                        </m:e>
                      </m:d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;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𝐶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={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𝐾𝐵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, 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𝑆𝐷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, 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𝑃𝑆</m:t>
                      </m:r>
                      <m:r>
                        <a:rPr lang="en-MY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ea typeface="ＭＳ Ｐゴシック" pitchFamily="34" charset="-128"/>
                  <a:cs typeface="Times New Roman" pitchFamily="18" charset="0"/>
                </a:endParaRPr>
              </a:p>
              <a:p>
                <a:pPr marL="0" indent="0" eaLnBrk="1" hangingPunct="1">
                  <a:buFont typeface="Arial" charset="0"/>
                  <a:buNone/>
                  <a:defRPr/>
                </a:pPr>
                <a:endParaRPr lang="en-US" sz="2400" dirty="0">
                  <a:solidFill>
                    <a:srgbClr val="000000"/>
                  </a:solidFill>
                  <a:ea typeface="ＭＳ Ｐゴシック" pitchFamily="34" charset="-128"/>
                  <a:cs typeface="Times New Roman" pitchFamily="18" charset="0"/>
                </a:endParaRPr>
              </a:p>
              <a:p>
                <a:pPr marL="0" indent="0" eaLnBrk="1" hangingPunct="1">
                  <a:buFont typeface="Arial" charset="0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ＭＳ Ｐゴシック" pitchFamily="34" charset="-128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MY" sz="1800" b="0" i="1" smtClean="0">
                              <a:latin typeface="Cambria Math" panose="02040503050406030204" pitchFamily="18" charset="0"/>
                              <a:ea typeface="ＭＳ Ｐゴシック" pitchFamily="34" charset="-128"/>
                              <a:cs typeface="Times New Roman" pitchFamily="18" charset="0"/>
                            </a:rPr>
                            <m:t>𝐴</m:t>
                          </m:r>
                          <m:r>
                            <a:rPr lang="en-MY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×</m:t>
                          </m:r>
                          <m:r>
                            <a:rPr lang="en-MY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𝐶</m:t>
                          </m:r>
                        </m:e>
                      </m:d>
                      <m:r>
                        <a:rPr lang="en-MY" sz="1800" b="0" i="1" smtClean="0">
                          <a:latin typeface="Cambria Math" panose="02040503050406030204" pitchFamily="18" charset="0"/>
                          <a:ea typeface="ＭＳ Ｐゴシック" pitchFamily="34" charset="-128"/>
                          <a:cs typeface="Times New Roman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MY" sz="1800" i="1" smtClean="0">
                              <a:latin typeface="Cambria Math" panose="02040503050406030204" pitchFamily="18" charset="0"/>
                              <a:ea typeface="ＭＳ Ｐゴシック" pitchFamily="34" charset="-128"/>
                              <a:cs typeface="Times New Roman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MY" sz="180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𝑤</m:t>
                              </m:r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,</m:t>
                              </m:r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𝐾𝐵</m:t>
                              </m:r>
                            </m:e>
                          </m:d>
                          <m:r>
                            <a:rPr lang="en-MY" sz="1800" b="0" i="1" smtClean="0">
                              <a:latin typeface="Cambria Math" panose="02040503050406030204" pitchFamily="18" charset="0"/>
                              <a:ea typeface="ＭＳ Ｐゴシック" pitchFamily="34" charset="-128"/>
                              <a:cs typeface="Times New Roman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MY" sz="180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𝑤</m:t>
                              </m:r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, </m:t>
                              </m:r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𝑆𝐷</m:t>
                              </m:r>
                            </m:e>
                          </m:d>
                          <m:r>
                            <a:rPr lang="en-MY" sz="1800" b="0" i="1" smtClean="0">
                              <a:latin typeface="Cambria Math" panose="02040503050406030204" pitchFamily="18" charset="0"/>
                              <a:ea typeface="ＭＳ Ｐゴシック" pitchFamily="34" charset="-128"/>
                              <a:cs typeface="Times New Roman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MY" sz="180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𝑤</m:t>
                              </m:r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,</m:t>
                              </m:r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𝑃𝑆</m:t>
                              </m:r>
                            </m:e>
                          </m:d>
                          <m:r>
                            <a:rPr lang="en-MY" sz="1800" b="0" i="1" smtClean="0">
                              <a:latin typeface="Cambria Math" panose="02040503050406030204" pitchFamily="18" charset="0"/>
                              <a:ea typeface="ＭＳ Ｐゴシック" pitchFamily="34" charset="-128"/>
                              <a:cs typeface="Times New Roman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MY" sz="1800" i="1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MY" sz="1800" b="0" i="1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,</m:t>
                              </m:r>
                              <m:r>
                                <a:rPr lang="en-MY" sz="1800" b="0" i="1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𝐾𝐵</m:t>
                              </m:r>
                            </m:e>
                          </m:d>
                          <m:r>
                            <a:rPr lang="en-MY" sz="1800" b="0" i="1">
                              <a:latin typeface="Cambria Math" panose="02040503050406030204" pitchFamily="18" charset="0"/>
                              <a:ea typeface="ＭＳ Ｐゴシック" pitchFamily="34" charset="-128"/>
                              <a:cs typeface="Times New Roman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MY" sz="1800" i="1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MY" sz="1800" b="0" i="1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, </m:t>
                              </m:r>
                              <m:r>
                                <a:rPr lang="en-MY" sz="1800" b="0" i="1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𝑆𝐷</m:t>
                              </m:r>
                            </m:e>
                          </m:d>
                          <m:r>
                            <a:rPr lang="en-MY" sz="1800" b="0" i="1">
                              <a:latin typeface="Cambria Math" panose="02040503050406030204" pitchFamily="18" charset="0"/>
                              <a:ea typeface="ＭＳ Ｐゴシック" pitchFamily="34" charset="-128"/>
                              <a:cs typeface="Times New Roman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MY" sz="1800" i="1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MY" sz="1800" b="0" i="1" smtClean="0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lang="en-MY" sz="1800" b="0" i="1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,</m:t>
                              </m:r>
                              <m:r>
                                <a:rPr lang="en-MY" sz="1800" b="0" i="1"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Times New Roman" pitchFamily="18" charset="0"/>
                                </a:rPr>
                                <m:t>𝑃𝑆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 dirty="0">
                  <a:ea typeface="ＭＳ Ｐゴシック" pitchFamily="34" charset="-128"/>
                  <a:cs typeface="Times New Roman" pitchFamily="18" charset="0"/>
                </a:endParaRPr>
              </a:p>
              <a:p>
                <a:pPr marL="2963863" lvl="1" indent="-2392363" eaLnBrk="1" hangingPunct="1">
                  <a:buNone/>
                  <a:defRPr/>
                </a:pPr>
                <a14:m>
                  <m:oMath xmlns:m="http://schemas.openxmlformats.org/officeDocument/2006/math"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∴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ＭＳ Ｐゴシック" pitchFamily="34" charset="-128"/>
                        <a:cs typeface="Times New Roman" pitchFamily="18" charset="0"/>
                      </a:rPr>
                      <m:t>𝐴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𝐵</m:t>
                    </m:r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×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={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</m:t>
                        </m:r>
                        <m:d>
                          <m:d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𝐾𝐵</m:t>
                            </m:r>
                          </m:e>
                        </m:d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 </m:t>
                        </m:r>
                        <m:d>
                          <m:d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𝑆𝐷</m:t>
                            </m:r>
                          </m:e>
                        </m:d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</m:t>
                        </m:r>
                        <m:d>
                          <m:dPr>
                            <m:ctrlP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𝑃𝑆</m:t>
                            </m:r>
                          </m:e>
                        </m:d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MY" sz="2000" dirty="0">
                    <a:ea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𝐾𝐵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 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𝑆𝐷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𝑃𝑆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000" b="0" i="1" dirty="0">
                    <a:ea typeface="Cambria Math" panose="02040503050406030204" pitchFamily="18" charset="0"/>
                    <a:cs typeface="Times New Roman" pitchFamily="18" charset="0"/>
                  </a:rPr>
                  <a:t>,</a:t>
                </a:r>
                <a:r>
                  <a:rPr lang="en-MY" sz="2000" dirty="0">
                    <a:ea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𝐾𝐵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 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𝑆𝐷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𝑃𝑆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000" b="0" i="1" dirty="0">
                    <a:ea typeface="Cambria Math" panose="02040503050406030204" pitchFamily="18" charset="0"/>
                    <a:cs typeface="Times New Roman" pitchFamily="18" charset="0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𝐾𝐵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 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𝑆𝐷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,1,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𝑃𝑆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000" b="0" i="1" dirty="0">
                    <a:ea typeface="Cambria Math" panose="02040503050406030204" pitchFamily="18" charset="0"/>
                    <a:cs typeface="Times New Roman" pitchFamily="18" charset="0"/>
                  </a:rPr>
                  <a:t>,</a:t>
                </a:r>
                <a:r>
                  <a:rPr lang="en-MY" sz="2000" dirty="0">
                    <a:ea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𝐾𝐵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 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𝑆𝐷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𝑃𝑆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000" b="0" i="1" dirty="0">
                    <a:ea typeface="Cambria Math" panose="02040503050406030204" pitchFamily="18" charset="0"/>
                    <a:cs typeface="Times New Roman" pitchFamily="18" charset="0"/>
                  </a:rPr>
                  <a:t>,</a:t>
                </a:r>
                <a:r>
                  <a:rPr lang="en-MY" sz="2000" dirty="0">
                    <a:ea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𝐾𝐵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 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𝑆𝐷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𝑃𝑆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000" b="0" i="1" dirty="0">
                    <a:ea typeface="Cambria Math" panose="02040503050406030204" pitchFamily="18" charset="0"/>
                    <a:cs typeface="Times New Roman" pitchFamily="18" charset="0"/>
                  </a:rPr>
                  <a:t>,</a:t>
                </a:r>
                <a:r>
                  <a:rPr lang="en-MY" sz="2000" dirty="0">
                    <a:ea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𝐾𝐵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 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𝑆𝐷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𝑤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𝑃𝑆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000" i="1" dirty="0">
                    <a:ea typeface="Cambria Math" panose="02040503050406030204" pitchFamily="18" charset="0"/>
                    <a:cs typeface="Times New Roman" pitchFamily="18" charset="0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𝐾𝐵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 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𝑆𝐷</m:t>
                            </m:r>
                          </m:e>
                        </m:d>
                      </m:e>
                    </m:d>
                    <m:r>
                      <a:rPr lang="en-MY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d>
                      <m:dPr>
                        <m:ctrlP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  <m:r>
                          <a:rPr lang="en-MY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,2,</m:t>
                        </m:r>
                        <m:d>
                          <m:dPr>
                            <m:ctrlP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MY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𝑃𝑆</m:t>
                            </m:r>
                          </m:e>
                        </m:d>
                      </m:e>
                    </m:d>
                    <m:r>
                      <a:rPr lang="en-MY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}</m:t>
                    </m:r>
                  </m:oMath>
                </a14:m>
                <a:endParaRPr lang="en-MY" sz="2000" b="0" i="1" dirty="0">
                  <a:ea typeface="Cambria Math" panose="02040503050406030204" pitchFamily="18" charset="0"/>
                  <a:cs typeface="Times New Roman" pitchFamily="18" charset="0"/>
                </a:endParaRPr>
              </a:p>
              <a:p>
                <a:pPr marL="571500" lvl="1" indent="0" eaLnBrk="1" hangingPunct="1">
                  <a:buNone/>
                  <a:defRPr/>
                </a:pPr>
                <a:endParaRPr lang="en-US" i="1" dirty="0">
                  <a:ea typeface="ＭＳ Ｐゴシック" pitchFamily="34" charset="-128"/>
                  <a:cs typeface="Times New Roman" pitchFamily="18" charset="0"/>
                </a:endParaRPr>
              </a:p>
              <a:p>
                <a:pPr marL="571500" lvl="1" indent="0" eaLnBrk="1" hangingPunct="1">
                  <a:buNone/>
                  <a:defRPr/>
                </a:pPr>
                <a:r>
                  <a:rPr lang="en-MY" dirty="0">
                    <a:ea typeface="ＭＳ Ｐゴシック" pitchFamily="34" charset="-128"/>
                    <a:cs typeface="Times New Roman" pitchFamily="18" charset="0"/>
                  </a:rPr>
                  <a:t>|</a:t>
                </a:r>
                <a14:m>
                  <m:oMath xmlns:m="http://schemas.openxmlformats.org/officeDocument/2006/math">
                    <m:r>
                      <a:rPr lang="en-MY" i="1">
                        <a:latin typeface="Cambria Math" panose="02040503050406030204" pitchFamily="18" charset="0"/>
                        <a:ea typeface="ＭＳ Ｐゴシック" pitchFamily="34" charset="-128"/>
                        <a:cs typeface="Times New Roman" pitchFamily="18" charset="0"/>
                      </a:rPr>
                      <m:t>𝐴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𝐵</m:t>
                    </m:r>
                    <m:r>
                      <a:rPr lang="en-MY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×</m:t>
                    </m:r>
                    <m:d>
                      <m:dPr>
                        <m:ctrlP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  <m: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×</m:t>
                        </m:r>
                        <m:r>
                          <a:rPr lang="en-MY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|=2∗2∗</m:t>
                    </m:r>
                    <m:d>
                      <m:dPr>
                        <m:ctrlPr>
                          <a:rPr lang="en-MY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MY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2∗3</m:t>
                        </m:r>
                      </m:e>
                    </m:d>
                    <m:r>
                      <a:rPr lang="en-MY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=24</m:t>
                    </m:r>
                  </m:oMath>
                </a14:m>
                <a:endParaRPr lang="en-US" i="1" dirty="0">
                  <a:ea typeface="ＭＳ Ｐゴシック" pitchFamily="34" charset="-128"/>
                  <a:cs typeface="Times New Roman" pitchFamily="18" charset="0"/>
                </a:endParaRPr>
              </a:p>
              <a:p>
                <a:pPr marL="457200" indent="-457200" eaLnBrk="1" hangingPunct="1">
                  <a:buFontTx/>
                  <a:buNone/>
                  <a:defRPr/>
                </a:pPr>
                <a:endParaRPr lang="en-US" sz="2400" dirty="0"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198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4950" y="1300768"/>
                <a:ext cx="8761940" cy="4750639"/>
              </a:xfrm>
              <a:blipFill>
                <a:blip r:embed="rId2"/>
                <a:stretch>
                  <a:fillRect l="-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15" name="Slide Number Placeholder 1"/>
          <p:cNvSpPr txBox="1">
            <a:spLocks/>
          </p:cNvSpPr>
          <p:nvPr/>
        </p:nvSpPr>
        <p:spPr bwMode="auto">
          <a:xfrm>
            <a:off x="4284663" y="6519863"/>
            <a:ext cx="6826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fld id="{F1C9BCE4-C5C4-F149-8154-F0796678A601}" type="slidenum">
              <a:rPr lang="en-US" altLang="en-US" sz="1200" b="1">
                <a:solidFill>
                  <a:srgbClr val="FFFFFF"/>
                </a:solidFill>
              </a:rPr>
              <a:pPr algn="ctr" eaLnBrk="1" hangingPunct="1"/>
              <a:t>88</a:t>
            </a:fld>
            <a:endParaRPr lang="en-US" altLang="en-US" sz="1200" b="1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023100" y="6396752"/>
            <a:ext cx="2057400" cy="365125"/>
          </a:xfrm>
        </p:spPr>
        <p:txBody>
          <a:bodyPr/>
          <a:lstStyle/>
          <a:p>
            <a:pPr>
              <a:defRPr/>
            </a:pPr>
            <a:fld id="{73582B96-3428-4F58-B305-87C8811211C3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234950" y="606633"/>
            <a:ext cx="6893983" cy="536259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Exercise </a:t>
            </a:r>
            <a:r>
              <a:rPr lang="en-US" altLang="en-US" sz="2800" dirty="0">
                <a:solidFill>
                  <a:srgbClr val="7030A0"/>
                </a:solidFill>
                <a:latin typeface="Century Gothic" panose="020B0502020202020204" pitchFamily="34" charset="0"/>
                <a:ea typeface="ＭＳ Ｐゴシック" charset="-128"/>
              </a:rPr>
              <a:t>#4a(vi) -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664F70-0230-34AF-DE4B-B3511CD9E240}"/>
              </a:ext>
            </a:extLst>
          </p:cNvPr>
          <p:cNvSpPr txBox="1"/>
          <p:nvPr/>
        </p:nvSpPr>
        <p:spPr>
          <a:xfrm>
            <a:off x="105303" y="152400"/>
            <a:ext cx="363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SCST1123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56A41-B2D3-ACEF-BDF8-AC3F001ED60B}"/>
              </a:ext>
            </a:extLst>
          </p:cNvPr>
          <p:cNvSpPr txBox="1"/>
          <p:nvPr/>
        </p:nvSpPr>
        <p:spPr>
          <a:xfrm>
            <a:off x="54501" y="6223001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612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961</TotalTime>
  <Words>6888</Words>
  <Application>Microsoft Office PowerPoint</Application>
  <PresentationFormat>On-screen Show (4:3)</PresentationFormat>
  <Paragraphs>919</Paragraphs>
  <Slides>88</Slides>
  <Notes>1</Notes>
  <HiddenSlides>8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88</vt:i4>
      </vt:variant>
    </vt:vector>
  </HeadingPairs>
  <TitlesOfParts>
    <vt:vector size="107" baseType="lpstr">
      <vt:lpstr>MS PGothic</vt:lpstr>
      <vt:lpstr>MS PGothic</vt:lpstr>
      <vt:lpstr>Aptos</vt:lpstr>
      <vt:lpstr>Arial</vt:lpstr>
      <vt:lpstr>Arial Black</vt:lpstr>
      <vt:lpstr>Bahnschrift</vt:lpstr>
      <vt:lpstr>Bahnschrift Condensed</vt:lpstr>
      <vt:lpstr>Bahnschrift SemiBold Condensed</vt:lpstr>
      <vt:lpstr>Calibri</vt:lpstr>
      <vt:lpstr>Calibri Light</vt:lpstr>
      <vt:lpstr>Cambria Math</vt:lpstr>
      <vt:lpstr>Century Gothic</vt:lpstr>
      <vt:lpstr>Courier New</vt:lpstr>
      <vt:lpstr>Symbol</vt:lpstr>
      <vt:lpstr>Times New Roman</vt:lpstr>
      <vt:lpstr>Wingdings</vt:lpstr>
      <vt:lpstr>Office Theme</vt:lpstr>
      <vt:lpstr>Bitmap Image</vt:lpstr>
      <vt:lpstr>Equation</vt:lpstr>
      <vt:lpstr>PowerPoint Presentation</vt:lpstr>
      <vt:lpstr>PowerPoint Presentation</vt:lpstr>
      <vt:lpstr>PowerPoint Presentation</vt:lpstr>
      <vt:lpstr>PowerPoint Presentation</vt:lpstr>
      <vt:lpstr>How we Define Sets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Symbols Used With Set Builder Notation</vt:lpstr>
      <vt:lpstr>Subset [  ]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PowerPoint Presentation</vt:lpstr>
      <vt:lpstr>Example</vt:lpstr>
      <vt:lpstr>PowerPoint Presentation</vt:lpstr>
      <vt:lpstr>Example</vt:lpstr>
      <vt:lpstr>Universal Set</vt:lpstr>
      <vt:lpstr>PowerPoint Presentation</vt:lpstr>
      <vt:lpstr>Example</vt:lpstr>
      <vt:lpstr>Cardinality of Set</vt:lpstr>
      <vt:lpstr>Power Set</vt:lpstr>
      <vt:lpstr>Example</vt:lpstr>
      <vt:lpstr>PowerPoint Presentation</vt:lpstr>
      <vt:lpstr>PowerPoint Presentation</vt:lpstr>
      <vt:lpstr>Exercise # 1</vt:lpstr>
      <vt:lpstr>Exercise # 1 - Answer</vt:lpstr>
      <vt:lpstr>Exercise # 2</vt:lpstr>
      <vt:lpstr>Exercise # 2 - Answer</vt:lpstr>
      <vt:lpstr>Exercise # 3</vt:lpstr>
      <vt:lpstr>Exercise # 3 - Answer</vt:lpstr>
      <vt:lpstr>CHAPTER 1</vt:lpstr>
      <vt:lpstr>Union</vt:lpstr>
      <vt:lpstr>Union (cont’d)</vt:lpstr>
      <vt:lpstr>PowerPoint Presentation</vt:lpstr>
      <vt:lpstr>Intersection</vt:lpstr>
      <vt:lpstr>Intersection (cont’d)</vt:lpstr>
      <vt:lpstr>PowerPoint Presentation</vt:lpstr>
      <vt:lpstr>Disjoint</vt:lpstr>
      <vt:lpstr>PowerPoint Presentation</vt:lpstr>
      <vt:lpstr>Difference</vt:lpstr>
      <vt:lpstr>Example:</vt:lpstr>
      <vt:lpstr>Symmetric Difference</vt:lpstr>
      <vt:lpstr>Example:</vt:lpstr>
      <vt:lpstr>Complement</vt:lpstr>
      <vt:lpstr>Example:</vt:lpstr>
      <vt:lpstr>Set Identities  (or Properties of Set)</vt:lpstr>
      <vt:lpstr>Set Identities (cont’d)</vt:lpstr>
      <vt:lpstr>PowerPoint Presentation</vt:lpstr>
      <vt:lpstr>Set Identities (cont’d)</vt:lpstr>
      <vt:lpstr>Set Identities (cont’d)</vt:lpstr>
      <vt:lpstr>Set Identities (cont’d)</vt:lpstr>
      <vt:lpstr>Set Identities (cont’d)</vt:lpstr>
      <vt:lpstr>Example:</vt:lpstr>
      <vt:lpstr>Example:</vt:lpstr>
      <vt:lpstr>Generalized Unions &amp; Intersection</vt:lpstr>
      <vt:lpstr>Example:</vt:lpstr>
      <vt:lpstr>Example:</vt:lpstr>
      <vt:lpstr>Cartesian Product</vt:lpstr>
      <vt:lpstr>Example:</vt:lpstr>
      <vt:lpstr>..Cartesian Product</vt:lpstr>
      <vt:lpstr>PowerPoint Presentation</vt:lpstr>
      <vt:lpstr>PowerPoint Presentation</vt:lpstr>
      <vt:lpstr>Example:</vt:lpstr>
      <vt:lpstr>Example:</vt:lpstr>
      <vt:lpstr>Example - Solution:</vt:lpstr>
      <vt:lpstr>PowerPoint Presentation</vt:lpstr>
      <vt:lpstr>Exercise #1</vt:lpstr>
      <vt:lpstr>Exercise #1: Solution</vt:lpstr>
      <vt:lpstr>Exercise #2</vt:lpstr>
      <vt:lpstr>Exercise #2 - Solution</vt:lpstr>
      <vt:lpstr>PowerPoint Presentation</vt:lpstr>
      <vt:lpstr>PowerPoint Presentation</vt:lpstr>
      <vt:lpstr>Exercise #4</vt:lpstr>
      <vt:lpstr>PowerPoint Presentation</vt:lpstr>
      <vt:lpstr>Exercise #4a(vi)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User</cp:lastModifiedBy>
  <cp:revision>110</cp:revision>
  <dcterms:created xsi:type="dcterms:W3CDTF">2019-01-07T08:53:08Z</dcterms:created>
  <dcterms:modified xsi:type="dcterms:W3CDTF">2024-10-06T07:59:56Z</dcterms:modified>
</cp:coreProperties>
</file>