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sldIdLst>
    <p:sldId id="257" r:id="rId2"/>
    <p:sldId id="258" r:id="rId3"/>
    <p:sldId id="304" r:id="rId4"/>
    <p:sldId id="260" r:id="rId5"/>
    <p:sldId id="261" r:id="rId6"/>
    <p:sldId id="264" r:id="rId7"/>
    <p:sldId id="262" r:id="rId8"/>
    <p:sldId id="263" r:id="rId9"/>
    <p:sldId id="265" r:id="rId10"/>
    <p:sldId id="266" r:id="rId11"/>
    <p:sldId id="294" r:id="rId12"/>
    <p:sldId id="305" r:id="rId13"/>
    <p:sldId id="267" r:id="rId14"/>
    <p:sldId id="268" r:id="rId15"/>
    <p:sldId id="269" r:id="rId16"/>
    <p:sldId id="270" r:id="rId17"/>
    <p:sldId id="271" r:id="rId18"/>
    <p:sldId id="273" r:id="rId19"/>
    <p:sldId id="272" r:id="rId20"/>
    <p:sldId id="275" r:id="rId21"/>
    <p:sldId id="276" r:id="rId22"/>
    <p:sldId id="274" r:id="rId23"/>
    <p:sldId id="277" r:id="rId24"/>
    <p:sldId id="278" r:id="rId25"/>
    <p:sldId id="279" r:id="rId26"/>
    <p:sldId id="283" r:id="rId27"/>
    <p:sldId id="280" r:id="rId28"/>
    <p:sldId id="281" r:id="rId29"/>
    <p:sldId id="282" r:id="rId30"/>
    <p:sldId id="284" r:id="rId31"/>
    <p:sldId id="285" r:id="rId32"/>
    <p:sldId id="286" r:id="rId33"/>
    <p:sldId id="289" r:id="rId34"/>
    <p:sldId id="287" r:id="rId35"/>
    <p:sldId id="290" r:id="rId36"/>
    <p:sldId id="291" r:id="rId37"/>
    <p:sldId id="288" r:id="rId38"/>
    <p:sldId id="292" r:id="rId39"/>
    <p:sldId id="293" r:id="rId40"/>
    <p:sldId id="302" r:id="rId41"/>
    <p:sldId id="303" r:id="rId42"/>
    <p:sldId id="295" r:id="rId43"/>
    <p:sldId id="296" r:id="rId44"/>
    <p:sldId id="297" r:id="rId45"/>
    <p:sldId id="298" r:id="rId46"/>
    <p:sldId id="299" r:id="rId47"/>
    <p:sldId id="300" r:id="rId48"/>
    <p:sldId id="301" r:id="rId49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0FF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03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442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3BEF4-8883-4626-8C3D-FB55BC970A17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85CF47-73E0-4A87-8BE5-A22D79E3C5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51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5CF47-73E0-4A87-8BE5-A22D79E3C52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101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5CF47-73E0-4A87-8BE5-A22D79E3C52E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284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15096-06BE-820C-2EEC-C134DBF0C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00F22-C68A-FFE7-AB92-3B4BE1BA40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6D2A6A-CFFF-7FC1-4182-E2C991E15E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54531-0E5E-CA26-3CDB-E5227A53E3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5CF47-73E0-4A87-8BE5-A22D79E3C52E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654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4667" y="173038"/>
            <a:ext cx="2760134" cy="368829"/>
          </a:xfrm>
        </p:spPr>
        <p:txBody>
          <a:bodyPr/>
          <a:lstStyle>
            <a:lvl1pPr marL="0" indent="0" algn="ctr">
              <a:buNone/>
              <a:defRPr sz="2000" baseline="0">
                <a:latin typeface="Bahnschrift Condensed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SECI1013: Discrete Structure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4667" y="6173787"/>
            <a:ext cx="2057400" cy="365125"/>
          </a:xfrm>
        </p:spPr>
        <p:txBody>
          <a:bodyPr/>
          <a:lstStyle>
            <a:lvl1pPr>
              <a:defRPr>
                <a:latin typeface="Bahnschrift Condensed" panose="020B0502040204020203" pitchFamily="34" charset="0"/>
              </a:defRPr>
            </a:lvl1pPr>
          </a:lstStyle>
          <a:p>
            <a:pPr>
              <a:defRPr/>
            </a:pPr>
            <a:fld id="{DB7AE9E9-B0C0-4942-9205-A15438FF67A8}" type="datetime1">
              <a:rPr lang="en-MY" smtClean="0"/>
              <a:t>14/10/2024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32083" y="6356349"/>
            <a:ext cx="20574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AA04A2-C734-40EE-BC75-C32540C934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279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751F2C-F996-C642-8F36-EAD34A2DB8C1}" type="datetime1">
              <a:rPr lang="en-MY" smtClean="0"/>
              <a:t>14/10/2024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7CD821-32F0-4921-85B8-393E69F49F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17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AF49C6-7E28-0542-99DA-D8284BA89B2F}" type="datetime1">
              <a:rPr lang="en-MY" smtClean="0"/>
              <a:t>14/10/2024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657DDD-B5C6-43F1-B07B-F805E5DFE3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699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79DCCE-7C81-C84E-8733-DDDBB1D84515}" type="datetime1">
              <a:rPr lang="en-MY" smtClean="0"/>
              <a:t>14/10/2024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5C8F2-1D4B-475E-AAED-9C6E6AE9ED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00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0018CE-1895-9946-8EF0-B261EE0EF836}" type="datetime1">
              <a:rPr lang="en-MY" smtClean="0"/>
              <a:t>14/10/2024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4C11D0-5731-4C38-B084-493D7559A3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9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23797-635D-334D-B212-ABAC30667AE6}" type="datetime1">
              <a:rPr lang="en-MY" smtClean="0"/>
              <a:t>14/10/2024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762858-6EBE-4958-AA9E-43B2C11F9C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146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AF201-1EE7-DD4B-8433-9E4CA9886E96}" type="datetime1">
              <a:rPr lang="en-MY" smtClean="0"/>
              <a:t>14/10/2024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CF4F49-FAD2-4EE7-B198-11EF145CB3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79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AB73A2-0830-2346-B120-EDCCDBA12F8A}" type="datetime1">
              <a:rPr lang="en-MY" smtClean="0"/>
              <a:t>14/10/2024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7DC13A-3688-4D3D-AAD0-4D8561CA3F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0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81DBE-EF11-6744-845E-682B7076663B}" type="datetime1">
              <a:rPr lang="en-MY" smtClean="0"/>
              <a:t>14/10/2024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462364-B06F-49F8-A6DC-ECDACC9764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7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D29630-C865-CB49-A063-4D456FE84F95}" type="datetime1">
              <a:rPr lang="en-MY" smtClean="0"/>
              <a:t>14/10/2024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FF3AD-4171-48D5-B862-858EAA09BC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26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0A11E6-0852-AC47-B283-E98201587A31}" type="datetime1">
              <a:rPr lang="en-MY" smtClean="0"/>
              <a:t>14/10/2024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F9322-8728-4138-8999-FA4BD7DE8D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11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3C808-0E5D-A341-B16F-54CBD8542FAD}" type="datetime1">
              <a:rPr lang="en-MY" smtClean="0"/>
              <a:t>14/10/2024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860E1-762D-44BC-AF2E-19101B6203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10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BB64D9D-BCD8-534C-A48F-66B54BC0B2F2}" type="datetime1">
              <a:rPr lang="en-MY" smtClean="0"/>
              <a:t>14/10/2024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4C1EDB-D35D-462E-A26F-7504C258E7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709738" y="1701405"/>
            <a:ext cx="5829300" cy="1102519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500" dirty="0">
                <a:latin typeface="Arial Black" panose="020B0A04020102020204" pitchFamily="34" charset="0"/>
                <a:ea typeface="ＭＳ Ｐゴシック" charset="-128"/>
              </a:rPr>
              <a:t>CHAPTER 2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709737" y="3211116"/>
            <a:ext cx="5940029" cy="1243013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68580" tIns="34290" rIns="68580" bIns="3429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MY" sz="33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NUMBER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303" y="246529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956" y="65502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B0E002-61CD-7F36-570C-48A9C1FA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402112"/>
            <a:ext cx="2057400" cy="365125"/>
          </a:xfrm>
        </p:spPr>
        <p:txBody>
          <a:bodyPr/>
          <a:lstStyle/>
          <a:p>
            <a:fld id="{175860E1-762D-44BC-AF2E-19101B62031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660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1714500"/>
            <a:ext cx="8686800" cy="797183"/>
          </a:xfrm>
        </p:spPr>
        <p:txBody>
          <a:bodyPr/>
          <a:lstStyle/>
          <a:p>
            <a:pPr marL="342900" indent="-342900">
              <a:defRPr/>
            </a:pPr>
            <a:r>
              <a:rPr lang="en-US" sz="2400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Number Theory or Theory of Numbers is a part of Discrete Mathematics, about integers and their properties. </a:t>
            </a:r>
          </a:p>
        </p:txBody>
      </p:sp>
      <p:sp>
        <p:nvSpPr>
          <p:cNvPr id="16386" name="Rectangle 3"/>
          <p:cNvSpPr>
            <a:spLocks noChangeArrowheads="1"/>
          </p:cNvSpPr>
          <p:nvPr/>
        </p:nvSpPr>
        <p:spPr bwMode="auto">
          <a:xfrm>
            <a:off x="3771900" y="1314450"/>
            <a:ext cx="3771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2100">
                <a:solidFill>
                  <a:schemeClr val="bg1"/>
                </a:solidFill>
              </a:rPr>
              <a:t>Sets</a:t>
            </a: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1949570" y="787479"/>
            <a:ext cx="5028171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5400" b="1" dirty="0">
                <a:latin typeface="Aptos" panose="020B0004020202020204" pitchFamily="34" charset="0"/>
              </a:rPr>
              <a:t>Number Theory</a:t>
            </a:r>
          </a:p>
        </p:txBody>
      </p:sp>
      <p:sp>
        <p:nvSpPr>
          <p:cNvPr id="16388" name="Slide Number Placeholder 1"/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pic>
        <p:nvPicPr>
          <p:cNvPr id="3" name="Picture 2" descr="A diagram of numbers with blue circles&#10;&#10;Description automatically generated">
            <a:extLst>
              <a:ext uri="{FF2B5EF4-FFF2-40B4-BE49-F238E27FC236}">
                <a16:creationId xmlns:a16="http://schemas.microsoft.com/office/drawing/2014/main" id="{4250FBEA-E9DE-0985-59B7-C173339FA7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722" y="2581027"/>
            <a:ext cx="5557137" cy="35305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F1E4BD-457A-31AF-C99C-784B43031235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95BB8-A646-FC8D-5687-6F394CFE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15150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33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992E2-218D-4E56-B944-E5E754FF0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</a:t>
            </a:r>
            <a:endParaRPr lang="en-MY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4D2D3-B112-4AAF-BAE6-CA9FF62BF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Cryptography: securing online transaction using large prime number</a:t>
            </a:r>
          </a:p>
          <a:p>
            <a:r>
              <a:rPr lang="en-US" dirty="0"/>
              <a:t>Computer science : algorithms for encryption and hashing</a:t>
            </a: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8636E-F89A-4DFC-9D6C-F23813648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3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16DEAD6-45F5-2B0D-42C5-BDDF06F70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8BD8FB81-1E07-4E67-7C52-6CADACBA51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845608"/>
            <a:ext cx="8525435" cy="4175383"/>
          </a:xfrm>
        </p:spPr>
        <p:txBody>
          <a:bodyPr/>
          <a:lstStyle/>
          <a:p>
            <a:pPr marL="342900" indent="-342900">
              <a:defRPr/>
            </a:pPr>
            <a:r>
              <a:rPr lang="en-US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In this syllabus, we will discuss the key concept of this theory as follows:</a:t>
            </a:r>
          </a:p>
          <a:p>
            <a:pPr marL="0" indent="0">
              <a:buNone/>
              <a:defRPr/>
            </a:pPr>
            <a:endParaRPr lang="en-US" dirty="0">
              <a:latin typeface="Aptos" panose="020B0004020202020204" pitchFamily="34" charset="0"/>
              <a:ea typeface="ＭＳ Ｐゴシック" charset="0"/>
              <a:cs typeface="Times New Roman" charset="0"/>
            </a:endParaRPr>
          </a:p>
          <a:p>
            <a:pPr marL="457200" lvl="1" indent="0">
              <a:buNone/>
              <a:defRPr/>
            </a:pPr>
            <a:r>
              <a:rPr lang="en-US" sz="2800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1.1: Divisibility and Modular Arithmetic</a:t>
            </a:r>
          </a:p>
          <a:p>
            <a:pPr marL="457200" lvl="1" indent="0">
              <a:buNone/>
              <a:defRPr/>
            </a:pPr>
            <a:endParaRPr lang="en-US" sz="2800" dirty="0">
              <a:latin typeface="Aptos" panose="020B0004020202020204" pitchFamily="34" charset="0"/>
              <a:ea typeface="ＭＳ Ｐゴシック" charset="0"/>
              <a:cs typeface="Times New Roman" charset="0"/>
            </a:endParaRPr>
          </a:p>
          <a:p>
            <a:pPr marL="457200" lvl="1" indent="0">
              <a:buNone/>
              <a:defRPr/>
            </a:pPr>
            <a:r>
              <a:rPr lang="en-US" sz="2800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1.2: Integer Representations and Algorithms</a:t>
            </a:r>
          </a:p>
          <a:p>
            <a:pPr marL="457200" lvl="1" indent="0">
              <a:buNone/>
              <a:defRPr/>
            </a:pPr>
            <a:endParaRPr lang="en-US" sz="2800" dirty="0">
              <a:latin typeface="Aptos" panose="020B0004020202020204" pitchFamily="34" charset="0"/>
              <a:ea typeface="ＭＳ Ｐゴシック" charset="0"/>
              <a:cs typeface="Times New Roman" charset="0"/>
            </a:endParaRPr>
          </a:p>
          <a:p>
            <a:pPr marL="457200" lvl="1" indent="0">
              <a:buNone/>
              <a:defRPr/>
            </a:pPr>
            <a:r>
              <a:rPr lang="en-US" sz="2800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 (GCD)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130E638D-264B-24D3-9F21-D971150DC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1900" y="1314450"/>
            <a:ext cx="3771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2100">
                <a:solidFill>
                  <a:schemeClr val="bg1"/>
                </a:solidFill>
              </a:rPr>
              <a:t>Sets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C9EB2C39-2F11-4C2B-2ECE-5BF78169A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9570" y="787479"/>
            <a:ext cx="5028171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altLang="en-US" sz="5400" b="1" dirty="0">
                <a:latin typeface="Aptos" panose="020B0004020202020204" pitchFamily="34" charset="0"/>
              </a:rPr>
              <a:t>Number Theory</a:t>
            </a:r>
          </a:p>
        </p:txBody>
      </p:sp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5EBDA601-C7A4-5288-30C0-BF1CD795CAB9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4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194CAF-7E06-CFA3-C759-2D4B7272F1A5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D71C2F-ACDD-7685-FACB-6E233C7FA4B5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37F29E-C05D-84B2-0739-7F05F5F8D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77741" y="6440575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61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F4585AF-F1B2-0194-6595-C52775A49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3C7E0499-692E-DB50-06F2-E4F02B30D7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9282" y="1994700"/>
            <a:ext cx="8525435" cy="1674535"/>
          </a:xfrm>
        </p:spPr>
        <p:txBody>
          <a:bodyPr/>
          <a:lstStyle/>
          <a:p>
            <a:pPr marL="342900" indent="-342900">
              <a:defRPr/>
            </a:pPr>
            <a:r>
              <a:rPr lang="en-US" sz="2400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Division of an integer by a positive integer produces a quotient and a reminder.</a:t>
            </a:r>
          </a:p>
          <a:p>
            <a:pPr marL="342900" indent="-342900">
              <a:defRPr/>
            </a:pPr>
            <a:r>
              <a:rPr lang="en-US" sz="2400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The remainders lead to modular arithmetic, which play an important role in mathematics and used in CS.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A2B9E74-C95C-D321-D6AD-1A46BD29B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55" y="1029701"/>
            <a:ext cx="74029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32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1.1: Divisibility and Modular Arithmetic</a:t>
            </a:r>
          </a:p>
        </p:txBody>
      </p:sp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0236BD95-FCA1-974F-7B2E-B2C78A435B03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333A01-817E-4D09-882A-7B628870ADA2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E9943E-5309-904C-7062-314FB318FF81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29480F-0CE0-7BC2-5667-C278F7EB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158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05011EE-33DE-2FCD-CABB-B25DE374A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>
            <a:extLst>
              <a:ext uri="{FF2B5EF4-FFF2-40B4-BE49-F238E27FC236}">
                <a16:creationId xmlns:a16="http://schemas.microsoft.com/office/drawing/2014/main" id="{0B313051-1CB6-68B9-89C3-ABA6294D9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925" y="649478"/>
            <a:ext cx="46955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1.1: Divisibility and Modular Arithmetic</a:t>
            </a:r>
          </a:p>
        </p:txBody>
      </p:sp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2740CFDD-77FE-D01A-483B-9515C770FCF9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CFE50-87C2-A2E0-905D-6E34120DEBD1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DDDEE0-09E5-9CD0-7F84-E22438899C34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579F594-08FF-8A0E-B455-C7E40CFAD3C0}"/>
                  </a:ext>
                </a:extLst>
              </p:cNvPr>
              <p:cNvSpPr txBox="1"/>
              <p:nvPr/>
            </p:nvSpPr>
            <p:spPr>
              <a:xfrm>
                <a:off x="448586" y="2116589"/>
                <a:ext cx="8308744" cy="28402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Definition 1: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are integers with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≠0,  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we say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𝑑𝑖𝑣𝑖𝑑𝑒𝑠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if there is an integer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𝑎𝑐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, or equivalently, if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is an integer. When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divides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we say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is 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𝑓𝑎𝑐𝑡𝑜𝑟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𝑑𝑖𝑣𝑖𝑠𝑜𝑟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, and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is a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𝑚𝑢𝑙𝑡𝑖𝑝𝑙𝑒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. The notation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denotes that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divides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We write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does not divides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579F594-08FF-8A0E-B455-C7E40CFAD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86" y="2116589"/>
                <a:ext cx="8308744" cy="2840265"/>
              </a:xfrm>
              <a:prstGeom prst="rect">
                <a:avLst/>
              </a:prstGeom>
              <a:blipFill>
                <a:blip r:embed="rId2"/>
                <a:stretch>
                  <a:fillRect l="-1221" t="-1778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637036F-CEB7-D4D7-2A78-F994B9C55D7E}"/>
              </a:ext>
            </a:extLst>
          </p:cNvPr>
          <p:cNvSpPr txBox="1"/>
          <p:nvPr/>
        </p:nvSpPr>
        <p:spPr>
          <a:xfrm>
            <a:off x="1678389" y="127925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3333FF"/>
                </a:solidFill>
                <a:latin typeface="Aptos" panose="020B0004020202020204" pitchFamily="34" charset="0"/>
              </a:rPr>
              <a:t>DIVISION  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C18A1-1F60-AD8E-F63F-387C3E0B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74809" y="6349812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60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635BA51-EBA7-9503-927F-DB71470FA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C5F61EF2-8602-DE0C-A4E7-19699F177269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AEA8CF-128A-A622-7319-0BA606B5B1E7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F946A9-1103-5644-E454-27FDB9590828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AC8996-C532-5973-611C-2E0A098D63F8}"/>
                  </a:ext>
                </a:extLst>
              </p:cNvPr>
              <p:cNvSpPr txBox="1"/>
              <p:nvPr/>
            </p:nvSpPr>
            <p:spPr>
              <a:xfrm>
                <a:off x="619185" y="2701696"/>
                <a:ext cx="575202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Aptos" panose="020B0004020202020204" pitchFamily="34" charset="0"/>
                  </a:rPr>
                  <a:t>Example: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Determine whether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3|7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and whether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3|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12.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AC8996-C532-5973-611C-2E0A098D6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85" y="2701696"/>
                <a:ext cx="5752024" cy="830997"/>
              </a:xfrm>
              <a:prstGeom prst="rect">
                <a:avLst/>
              </a:prstGeom>
              <a:blipFill>
                <a:blip r:embed="rId3"/>
                <a:stretch>
                  <a:fillRect l="-1542" t="-5970" b="-149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72D236-C8A3-4BD4-805E-D745B1BBFBE9}"/>
                  </a:ext>
                </a:extLst>
              </p:cNvPr>
              <p:cNvSpPr txBox="1"/>
              <p:nvPr/>
            </p:nvSpPr>
            <p:spPr>
              <a:xfrm>
                <a:off x="592804" y="3992283"/>
                <a:ext cx="5094408" cy="15864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Solution: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because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is not an integer. </a:t>
                </a:r>
              </a:p>
              <a:p>
                <a:endParaRPr lang="en-US" sz="2400" dirty="0">
                  <a:latin typeface="Aptos" panose="020B00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3|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12 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because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72D236-C8A3-4BD4-805E-D745B1BBF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04" y="3992283"/>
                <a:ext cx="5094408" cy="1586460"/>
              </a:xfrm>
              <a:prstGeom prst="rect">
                <a:avLst/>
              </a:prstGeom>
              <a:blipFill>
                <a:blip r:embed="rId4"/>
                <a:stretch>
                  <a:fillRect l="-1741" t="-15079" r="-995" b="-5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24D846F-29FD-FC48-F8FE-C282FB3E8207}"/>
              </a:ext>
            </a:extLst>
          </p:cNvPr>
          <p:cNvSpPr txBox="1"/>
          <p:nvPr/>
        </p:nvSpPr>
        <p:spPr>
          <a:xfrm>
            <a:off x="1678389" y="127925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3333FF"/>
                </a:solidFill>
                <a:latin typeface="Aptos" panose="020B0004020202020204" pitchFamily="34" charset="0"/>
              </a:rPr>
              <a:t>DIVISION  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DC7413-C60E-0542-80BC-04E8D3B13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641329B-DF83-235D-0ABC-AE4CFF0B1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925" y="649478"/>
            <a:ext cx="46955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1.1: Divisibility and Modular Arithmetic</a:t>
            </a:r>
          </a:p>
        </p:txBody>
      </p:sp>
    </p:spTree>
    <p:extLst>
      <p:ext uri="{BB962C8B-B14F-4D97-AF65-F5344CB8AC3E}">
        <p14:creationId xmlns:p14="http://schemas.microsoft.com/office/powerpoint/2010/main" val="212949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14EA1C0-4D80-ABE5-9B45-E7EAC8EA4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580D7917-46FE-6811-4BFF-B932B998E9B8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8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FCDDA2-0934-0106-4C44-BE0585428493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D220F8-9400-9FB6-13EB-E85DFAEC270E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8A2416E-C8C9-11EA-5D88-D84CC4B5D85C}"/>
                  </a:ext>
                </a:extLst>
              </p:cNvPr>
              <p:cNvSpPr txBox="1"/>
              <p:nvPr/>
            </p:nvSpPr>
            <p:spPr>
              <a:xfrm>
                <a:off x="448586" y="1981153"/>
                <a:ext cx="8308744" cy="29854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Theorem 1: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be integers,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≠0.  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Then</a:t>
                </a:r>
              </a:p>
              <a:p>
                <a:pPr marL="514350" indent="-514350">
                  <a:buFont typeface="+mj-lt"/>
                  <a:buAutoNum type="romanLcPeriod"/>
                </a:pPr>
                <a:r>
                  <a:rPr lang="en-US" sz="2400" dirty="0">
                    <a:latin typeface="Aptos" panose="020B00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0" dirty="0">
                  <a:latin typeface="Aptos" panose="020B0004020202020204" pitchFamily="34" charset="0"/>
                </a:endParaRPr>
              </a:p>
              <a:p>
                <a:pPr lvl="1"/>
                <a:r>
                  <a:rPr lang="en-US" sz="2000" dirty="0">
                    <a:solidFill>
                      <a:srgbClr val="FF0000"/>
                    </a:solidFill>
                    <a:latin typeface="Aptos" panose="020B0004020202020204" pitchFamily="34" charset="0"/>
                  </a:rPr>
                  <a:t>Example: if  5|25 and 5|30, the 5|(25+30)</a:t>
                </a:r>
                <a:endParaRPr lang="en-US" sz="2000" b="0" dirty="0">
                  <a:solidFill>
                    <a:srgbClr val="FF0000"/>
                  </a:solidFill>
                  <a:latin typeface="Aptos" panose="020B0004020202020204" pitchFamily="34" charset="0"/>
                </a:endParaRPr>
              </a:p>
              <a:p>
                <a:pPr marL="514350" indent="-514350">
                  <a:buFont typeface="+mj-lt"/>
                  <a:buAutoNum type="romanLcPeriod"/>
                </a:pPr>
                <a:r>
                  <a:rPr lang="en-US" sz="2400" dirty="0">
                    <a:latin typeface="Aptos" panose="020B00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𝑏𝑐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for all integers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2400" dirty="0">
                  <a:latin typeface="Aptos" panose="020B0004020202020204" pitchFamily="34" charset="0"/>
                </a:endParaRP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	</a:t>
                </a:r>
                <a:r>
                  <a:rPr lang="en-US" sz="2000" dirty="0">
                    <a:solidFill>
                      <a:srgbClr val="FF0000"/>
                    </a:solidFill>
                    <a:latin typeface="Aptos" panose="020B0004020202020204" pitchFamily="34" charset="0"/>
                  </a:rPr>
                  <a:t>Example: if 5|25, then 5|25*c for all int c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iii. 	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sz="2400" dirty="0">
                  <a:latin typeface="Aptos" panose="020B0004020202020204" pitchFamily="34" charset="0"/>
                </a:endParaRPr>
              </a:p>
              <a:p>
                <a:pPr lvl="1"/>
                <a:r>
                  <a:rPr lang="en-US" sz="2000" dirty="0">
                    <a:solidFill>
                      <a:srgbClr val="FF0000"/>
                    </a:solidFill>
                    <a:latin typeface="Aptos" panose="020B0004020202020204" pitchFamily="34" charset="0"/>
                  </a:rPr>
                  <a:t>Example: if 5|25 and 25|100, the 5|100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8A2416E-C8C9-11EA-5D88-D84CC4B5D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86" y="1981153"/>
                <a:ext cx="8308744" cy="2985433"/>
              </a:xfrm>
              <a:prstGeom prst="rect">
                <a:avLst/>
              </a:prstGeom>
              <a:blipFill>
                <a:blip r:embed="rId2"/>
                <a:stretch>
                  <a:fillRect l="-1174" t="-1633" b="-61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4A074CEF-7BF5-8713-8BB9-A4A7BF7F404B}"/>
              </a:ext>
            </a:extLst>
          </p:cNvPr>
          <p:cNvSpPr txBox="1"/>
          <p:nvPr/>
        </p:nvSpPr>
        <p:spPr>
          <a:xfrm>
            <a:off x="1678389" y="1279257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3333FF"/>
                </a:solidFill>
                <a:latin typeface="Aptos" panose="020B0004020202020204" pitchFamily="34" charset="0"/>
              </a:rPr>
              <a:t>DIVISION  </a:t>
            </a:r>
            <a:endParaRPr lang="en-US" sz="36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C70805-ED6B-3661-83D2-2822406B8EC1}"/>
                  </a:ext>
                </a:extLst>
              </p:cNvPr>
              <p:cNvSpPr txBox="1"/>
              <p:nvPr/>
            </p:nvSpPr>
            <p:spPr>
              <a:xfrm>
                <a:off x="516087" y="4820663"/>
                <a:ext cx="825744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Corollary 1: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are integers,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≠0, 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whenever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are integers.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CC70805-ED6B-3661-83D2-2822406B8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087" y="4820663"/>
                <a:ext cx="8257449" cy="1200329"/>
              </a:xfrm>
              <a:prstGeom prst="rect">
                <a:avLst/>
              </a:prstGeom>
              <a:blipFill>
                <a:blip r:embed="rId3"/>
                <a:stretch>
                  <a:fillRect l="-1182" t="-4061" b="-10660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CABDDC4-9165-4977-B706-37C621EAC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51C0227-C241-CF92-3AF4-0DA5771B1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925" y="649478"/>
            <a:ext cx="46955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1.1: Divisibility and Modular Arithmetic</a:t>
            </a:r>
          </a:p>
        </p:txBody>
      </p:sp>
    </p:spTree>
    <p:extLst>
      <p:ext uri="{BB962C8B-B14F-4D97-AF65-F5344CB8AC3E}">
        <p14:creationId xmlns:p14="http://schemas.microsoft.com/office/powerpoint/2010/main" val="4163080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21C8F5B-DD93-5E77-DDC4-579DE3C9C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CDE739FD-679F-8053-EA39-E78A892F2070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9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5FD319-7F2B-30CC-88E4-D72F2C96304D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8A4A58-7A9F-1F89-D984-8AF16C9C4258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435FCE-F22D-3DCB-1C93-D89F26830FEA}"/>
                  </a:ext>
                </a:extLst>
              </p:cNvPr>
              <p:cNvSpPr txBox="1"/>
              <p:nvPr/>
            </p:nvSpPr>
            <p:spPr>
              <a:xfrm>
                <a:off x="448586" y="2187782"/>
                <a:ext cx="830874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Theorem 2 - The Division Algorithm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be integer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a positive integer. Then there are unique integers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, with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, such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435FCE-F22D-3DCB-1C93-D89F26830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86" y="2187782"/>
                <a:ext cx="8308744" cy="1200329"/>
              </a:xfrm>
              <a:prstGeom prst="rect">
                <a:avLst/>
              </a:prstGeom>
              <a:blipFill>
                <a:blip r:embed="rId2"/>
                <a:stretch>
                  <a:fillRect l="-1221" t="-4211" r="-1221" b="-1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09158F00-F972-4EF6-1789-1016F19DFF0A}"/>
              </a:ext>
            </a:extLst>
          </p:cNvPr>
          <p:cNvSpPr txBox="1"/>
          <p:nvPr/>
        </p:nvSpPr>
        <p:spPr>
          <a:xfrm>
            <a:off x="246880" y="1254766"/>
            <a:ext cx="79692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3333FF"/>
                </a:solidFill>
                <a:latin typeface="Aptos" panose="020B0004020202020204" pitchFamily="34" charset="0"/>
              </a:rPr>
              <a:t>THE DIVISION ALGORITHM  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BB418-E80E-48DB-FB96-D4A22D18C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278DBB-D099-C3CE-5A17-28D4DB46B6E7}"/>
                  </a:ext>
                </a:extLst>
              </p:cNvPr>
              <p:cNvSpPr txBox="1"/>
              <p:nvPr/>
            </p:nvSpPr>
            <p:spPr>
              <a:xfrm>
                <a:off x="448586" y="3592078"/>
                <a:ext cx="8308744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Definition 2: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In the equality given in the division algorithm,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is called the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𝑑𝑖𝑣𝑖𝑠𝑜𝑟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is called the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3333FF"/>
                        </a:solidFill>
                        <a:latin typeface="Cambria Math" panose="02040503050406030204" pitchFamily="18" charset="0"/>
                      </a:rPr>
                      <m:t>𝑑𝑖𝑣𝑖𝑑𝑒𝑛𝑑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is called the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𝑞𝑢𝑜𝑡𝑖𝑒𝑛𝑡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400" dirty="0">
                    <a:solidFill>
                      <a:schemeClr val="accent2">
                        <a:lumMod val="75000"/>
                      </a:schemeClr>
                    </a:solidFill>
                    <a:latin typeface="Aptos" panose="020B0004020202020204" pitchFamily="34" charset="0"/>
                  </a:rPr>
                  <a:t> </a:t>
                </a:r>
                <a:r>
                  <a:rPr lang="en-US" sz="2400" dirty="0">
                    <a:latin typeface="Aptos" panose="020B0004020202020204" pitchFamily="34" charset="0"/>
                  </a:rPr>
                  <a:t>is called the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𝑟𝑒𝑚𝑎𝑖𝑛𝑑𝑒𝑟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. This notation is used to express the quotient and remainder: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              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𝐝𝐢𝐯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278DBB-D099-C3CE-5A17-28D4DB46B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586" y="3592078"/>
                <a:ext cx="8308744" cy="2308324"/>
              </a:xfrm>
              <a:prstGeom prst="rect">
                <a:avLst/>
              </a:prstGeom>
              <a:blipFill>
                <a:blip r:embed="rId3"/>
                <a:stretch>
                  <a:fillRect l="-1221" t="-2186" r="-1527" b="-5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>
            <a:extLst>
              <a:ext uri="{FF2B5EF4-FFF2-40B4-BE49-F238E27FC236}">
                <a16:creationId xmlns:a16="http://schemas.microsoft.com/office/drawing/2014/main" id="{E6C43B08-F4C9-3924-C7B9-B8DD64F57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925" y="649478"/>
            <a:ext cx="46955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1.1: Divisibility and Modular Arithmetic</a:t>
            </a:r>
          </a:p>
        </p:txBody>
      </p:sp>
    </p:spTree>
    <p:extLst>
      <p:ext uri="{BB962C8B-B14F-4D97-AF65-F5344CB8AC3E}">
        <p14:creationId xmlns:p14="http://schemas.microsoft.com/office/powerpoint/2010/main" val="2030481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FA3D03F-3EEF-5514-5438-F1CE12F73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EF0B1DAA-4F5E-C925-17BF-39E3A6A78B6E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10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F95465-52E1-0608-C892-41FBC53C19A2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CF42F1-A7FF-2443-AFB6-AC5EF3FA947C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EBFA99-B5E7-7E1C-0502-5534D4A1D2B1}"/>
                  </a:ext>
                </a:extLst>
              </p:cNvPr>
              <p:cNvSpPr txBox="1"/>
              <p:nvPr/>
            </p:nvSpPr>
            <p:spPr>
              <a:xfrm>
                <a:off x="592804" y="2242106"/>
                <a:ext cx="6987439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Aptos" panose="020B0004020202020204" pitchFamily="34" charset="0"/>
                  </a:rPr>
                  <a:t>Example: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When we divide 17 by 5, then</a:t>
                </a:r>
              </a:p>
              <a:p>
                <a:endParaRPr lang="en-US" sz="2400" dirty="0">
                  <a:latin typeface="Aptos" panose="020B0004020202020204" pitchFamily="34" charset="0"/>
                </a:endParaRPr>
              </a:p>
              <a:p>
                <a:pPr>
                  <a:tabLst>
                    <a:tab pos="538162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17=5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3+2</m:t>
                      </m:r>
                    </m:oMath>
                  </m:oMathPara>
                </a14:m>
                <a:endParaRPr lang="en-US" sz="2400" b="0" dirty="0">
                  <a:latin typeface="Aptos" panose="020B0004020202020204" pitchFamily="34" charset="0"/>
                </a:endParaRPr>
              </a:p>
              <a:p>
                <a:pPr marL="2628900" lvl="5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ptos" panose="020B0004020202020204" pitchFamily="34" charset="0"/>
                  </a:rPr>
                  <a:t>17 is dividend</a:t>
                </a:r>
              </a:p>
              <a:p>
                <a:pPr marL="2628900" lvl="5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ptos" panose="020B0004020202020204" pitchFamily="34" charset="0"/>
                  </a:rPr>
                  <a:t>5 is divisor</a:t>
                </a:r>
              </a:p>
              <a:p>
                <a:pPr marL="2628900" lvl="5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ptos" panose="020B0004020202020204" pitchFamily="34" charset="0"/>
                  </a:rPr>
                  <a:t>3 is quotient</a:t>
                </a:r>
              </a:p>
              <a:p>
                <a:pPr marL="2628900" lvl="5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ptos" panose="020B0004020202020204" pitchFamily="34" charset="0"/>
                  </a:rPr>
                  <a:t>2 is remainder</a:t>
                </a:r>
              </a:p>
              <a:p>
                <a:endParaRPr lang="en-US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EBFA99-B5E7-7E1C-0502-5534D4A1D2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04" y="2242106"/>
                <a:ext cx="6987439" cy="3416320"/>
              </a:xfrm>
              <a:prstGeom prst="rect">
                <a:avLst/>
              </a:prstGeom>
              <a:blipFill>
                <a:blip r:embed="rId2"/>
                <a:stretch>
                  <a:fillRect l="-1309" t="-1429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F117CD-1E9C-70D8-8179-26828C509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E7AE62-FBD6-3722-DE52-2873B5006666}"/>
              </a:ext>
            </a:extLst>
          </p:cNvPr>
          <p:cNvSpPr txBox="1"/>
          <p:nvPr/>
        </p:nvSpPr>
        <p:spPr>
          <a:xfrm>
            <a:off x="246880" y="1254766"/>
            <a:ext cx="79692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3333FF"/>
                </a:solidFill>
                <a:latin typeface="Aptos" panose="020B0004020202020204" pitchFamily="34" charset="0"/>
              </a:rPr>
              <a:t>THE DIVISION ALGORITHM  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A10A012-69F8-AB54-266C-74BFD9753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925" y="649478"/>
            <a:ext cx="46955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1.1: Divisibility and Modular Arithmetic</a:t>
            </a:r>
          </a:p>
        </p:txBody>
      </p:sp>
    </p:spTree>
    <p:extLst>
      <p:ext uri="{BB962C8B-B14F-4D97-AF65-F5344CB8AC3E}">
        <p14:creationId xmlns:p14="http://schemas.microsoft.com/office/powerpoint/2010/main" val="3751080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2A53378-5D48-643E-458C-D2878C0EA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0CD9650A-5442-EA06-8F66-BB47DEABD7B1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11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1C68E0-0D93-F03A-4DAC-DA1915B4D7BF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A592B3-E76A-59A3-CD32-4A4262A9621A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E82FF5-07E3-2C0D-95A0-93A5BA3D7AB6}"/>
              </a:ext>
            </a:extLst>
          </p:cNvPr>
          <p:cNvSpPr txBox="1"/>
          <p:nvPr/>
        </p:nvSpPr>
        <p:spPr>
          <a:xfrm>
            <a:off x="592804" y="2242106"/>
            <a:ext cx="84644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Example:</a:t>
            </a:r>
          </a:p>
          <a:p>
            <a:r>
              <a:rPr lang="en-US" sz="2400" dirty="0">
                <a:latin typeface="Aptos" panose="020B0004020202020204" pitchFamily="34" charset="0"/>
              </a:rPr>
              <a:t>What are the quotient and reminder when 101 is divided by 11?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68BA29-E004-3EB5-98E5-0D9020A6AD3A}"/>
                  </a:ext>
                </a:extLst>
              </p:cNvPr>
              <p:cNvSpPr txBox="1"/>
              <p:nvPr/>
            </p:nvSpPr>
            <p:spPr>
              <a:xfrm>
                <a:off x="592804" y="3585886"/>
                <a:ext cx="485421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Solution: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101=11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9+2</m:t>
                    </m:r>
                  </m:oMath>
                </a14:m>
                <a:endParaRPr lang="en-US" sz="2400" b="0" dirty="0">
                  <a:latin typeface="Aptos" panose="020B000402020202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ptos" panose="020B0004020202020204" pitchFamily="34" charset="0"/>
                  </a:rPr>
                  <a:t>The quotient: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101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𝐝𝐢𝐯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, 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Aptos" panose="020B0004020202020204" pitchFamily="34" charset="0"/>
                  </a:rPr>
                  <a:t>The remainder: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101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11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68BA29-E004-3EB5-98E5-0D9020A6A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04" y="3585886"/>
                <a:ext cx="4854214" cy="1569660"/>
              </a:xfrm>
              <a:prstGeom prst="rect">
                <a:avLst/>
              </a:prstGeom>
              <a:blipFill>
                <a:blip r:embed="rId2"/>
                <a:stretch>
                  <a:fillRect l="-1882" t="-3101" b="-7752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0CBB6D-E7C0-F281-8493-D53069A99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135F7B-7513-3A0E-85ED-FFA525E5A317}"/>
              </a:ext>
            </a:extLst>
          </p:cNvPr>
          <p:cNvSpPr txBox="1"/>
          <p:nvPr/>
        </p:nvSpPr>
        <p:spPr>
          <a:xfrm>
            <a:off x="246880" y="1254766"/>
            <a:ext cx="79692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3333FF"/>
                </a:solidFill>
                <a:latin typeface="Aptos" panose="020B0004020202020204" pitchFamily="34" charset="0"/>
              </a:rPr>
              <a:t>THE DIVISION ALGORITHM  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EF801C0-1878-52C2-7263-999187C41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925" y="649478"/>
            <a:ext cx="46955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1.1: Divisibility and Modular Arithmetic</a:t>
            </a:r>
          </a:p>
        </p:txBody>
      </p:sp>
    </p:spTree>
    <p:extLst>
      <p:ext uri="{BB962C8B-B14F-4D97-AF65-F5344CB8AC3E}">
        <p14:creationId xmlns:p14="http://schemas.microsoft.com/office/powerpoint/2010/main" val="1762752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6FC9A-A4F6-4D00-81B3-A5B9456B3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CF88186-C52C-4717-9A3C-C4944BE5DD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1.1: Divisibility and Modular Arithmetic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8E70F1-442D-4863-A41C-B696335D148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8650" y="1530657"/>
            <a:ext cx="788670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333FF"/>
                </a:solidFill>
                <a:latin typeface="Aptos" panose="020B0004020202020204" pitchFamily="34" charset="0"/>
              </a:rPr>
              <a:t>THE DIVISION ALGORITHM  </a:t>
            </a:r>
            <a:endParaRPr lang="en-US" sz="3600" dirty="0">
              <a:latin typeface="Aptos" panose="020B00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010E8AB-9772-48F2-A2D8-8ACA3B1BF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87" y="2037735"/>
            <a:ext cx="8610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1" hangingPunct="1">
              <a:spcBef>
                <a:spcPct val="0"/>
              </a:spcBef>
              <a:defRPr/>
            </a:pPr>
            <a:endParaRPr lang="en-US" altLang="en-US" sz="1600" b="1" dirty="0">
              <a:solidFill>
                <a:srgbClr val="00FFFF"/>
              </a:solidFill>
              <a:sym typeface="Symbol" panose="05050102010706020507" pitchFamily="18" charset="2"/>
            </a:endParaRPr>
          </a:p>
          <a:p>
            <a:pPr marL="0" indent="0" defTabSz="914400" eaLnBrk="1" hangingPunct="1">
              <a:spcBef>
                <a:spcPct val="0"/>
              </a:spcBef>
              <a:defRPr/>
            </a:pPr>
            <a:r>
              <a:rPr lang="en-US" altLang="en-US" dirty="0">
                <a:sym typeface="Symbol" panose="05050102010706020507" pitchFamily="18" charset="2"/>
              </a:rPr>
              <a:t>What happens when we divide -11 by 3 ?</a:t>
            </a:r>
          </a:p>
          <a:p>
            <a:pPr marL="0" indent="0" defTabSz="914400" eaLnBrk="1" hangingPunct="1">
              <a:spcBef>
                <a:spcPct val="0"/>
              </a:spcBef>
              <a:defRPr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marL="0" indent="0" defTabSz="914400" eaLnBrk="1" hangingPunct="1">
              <a:spcBef>
                <a:spcPct val="0"/>
              </a:spcBef>
              <a:defRPr/>
            </a:pPr>
            <a:r>
              <a:rPr lang="en-US" altLang="en-US" dirty="0">
                <a:solidFill>
                  <a:srgbClr val="FF3300"/>
                </a:solidFill>
                <a:sym typeface="Symbol" panose="05050102010706020507" pitchFamily="18" charset="2"/>
              </a:rPr>
              <a:t>Note that the remainder cannot be negative.</a:t>
            </a:r>
          </a:p>
          <a:p>
            <a:pPr marL="0" indent="0" defTabSz="914400" eaLnBrk="1" hangingPunct="1">
              <a:spcBef>
                <a:spcPct val="0"/>
              </a:spcBef>
              <a:defRPr/>
            </a:pPr>
            <a:endParaRPr lang="en-US" altLang="en-US" sz="1600" dirty="0">
              <a:solidFill>
                <a:srgbClr val="FF3300"/>
              </a:solidFill>
              <a:sym typeface="Symbol" panose="05050102010706020507" pitchFamily="18" charset="2"/>
            </a:endParaRPr>
          </a:p>
          <a:p>
            <a:pPr marL="0" indent="0" defTabSz="914400" eaLnBrk="1" hangingPunct="1">
              <a:spcBef>
                <a:spcPct val="0"/>
              </a:spcBef>
              <a:defRPr/>
            </a:pPr>
            <a:r>
              <a:rPr lang="en-US" altLang="en-US" dirty="0">
                <a:sym typeface="Symbol" panose="05050102010706020507" pitchFamily="18" charset="2"/>
              </a:rPr>
              <a:t>-11 = 3(-4) + 1.</a:t>
            </a:r>
          </a:p>
          <a:p>
            <a:pPr marL="0" indent="0" defTabSz="914400" eaLnBrk="1" hangingPunct="1">
              <a:spcBef>
                <a:spcPct val="0"/>
              </a:spcBef>
              <a:defRPr/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 defTabSz="914400" eaLnBrk="1" hangingPunct="1">
              <a:spcBef>
                <a:spcPct val="0"/>
              </a:spcBef>
              <a:buFontTx/>
              <a:buChar char="•"/>
              <a:defRPr/>
            </a:pPr>
            <a:r>
              <a:rPr lang="en-US" altLang="en-US" dirty="0">
                <a:sym typeface="Symbol" panose="05050102010706020507" pitchFamily="18" charset="2"/>
              </a:rPr>
              <a:t>  -11 is the dividend,</a:t>
            </a:r>
          </a:p>
          <a:p>
            <a:pPr marL="0" indent="0" defTabSz="914400" eaLnBrk="1" hangingPunct="1">
              <a:spcBef>
                <a:spcPct val="0"/>
              </a:spcBef>
              <a:buFontTx/>
              <a:buChar char="•"/>
              <a:defRPr/>
            </a:pPr>
            <a:r>
              <a:rPr lang="en-US" altLang="en-US" dirty="0">
                <a:sym typeface="Symbol" panose="05050102010706020507" pitchFamily="18" charset="2"/>
              </a:rPr>
              <a:t>  3  is the divisor,</a:t>
            </a:r>
          </a:p>
          <a:p>
            <a:pPr marL="0" indent="0" defTabSz="914400" eaLnBrk="1" hangingPunct="1">
              <a:spcBef>
                <a:spcPct val="0"/>
              </a:spcBef>
              <a:buFontTx/>
              <a:buChar char="•"/>
              <a:defRPr/>
            </a:pPr>
            <a:r>
              <a:rPr lang="en-US" altLang="en-US" dirty="0">
                <a:sym typeface="Symbol" panose="05050102010706020507" pitchFamily="18" charset="2"/>
              </a:rPr>
              <a:t>  -4 is called the quotient, and</a:t>
            </a:r>
          </a:p>
          <a:p>
            <a:pPr marL="0" indent="0" defTabSz="914400" eaLnBrk="1" hangingPunct="1">
              <a:spcBef>
                <a:spcPct val="0"/>
              </a:spcBef>
              <a:buFontTx/>
              <a:buChar char="•"/>
              <a:defRPr/>
            </a:pPr>
            <a:r>
              <a:rPr lang="en-US" altLang="en-US" dirty="0">
                <a:sym typeface="Symbol" panose="05050102010706020507" pitchFamily="18" charset="2"/>
              </a:rPr>
              <a:t>  1  is called the remainder.</a:t>
            </a:r>
          </a:p>
        </p:txBody>
      </p:sp>
    </p:spTree>
    <p:extLst>
      <p:ext uri="{BB962C8B-B14F-4D97-AF65-F5344CB8AC3E}">
        <p14:creationId xmlns:p14="http://schemas.microsoft.com/office/powerpoint/2010/main" val="152281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41C580B-3BB7-8696-B467-6CDBB9C3E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079E3BA4-FD63-50E2-6074-EB7F709DA444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13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E9943F-3C08-65BC-09E0-121156B99489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26805D-E8D7-9FE9-856C-DC9875297ED1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80527C-DB23-0445-A2DC-B75A303D4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BF4834-E74B-A549-344E-E1E056125144}"/>
              </a:ext>
            </a:extLst>
          </p:cNvPr>
          <p:cNvSpPr txBox="1"/>
          <p:nvPr/>
        </p:nvSpPr>
        <p:spPr>
          <a:xfrm>
            <a:off x="246880" y="1254766"/>
            <a:ext cx="79692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3333FF"/>
                </a:solidFill>
                <a:latin typeface="Aptos" panose="020B0004020202020204" pitchFamily="34" charset="0"/>
              </a:rPr>
              <a:t>MODULAR ARITHMETIC</a:t>
            </a:r>
            <a:endParaRPr lang="en-US" sz="36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57E113-66BF-5CE2-44F6-7151C241F7B3}"/>
                  </a:ext>
                </a:extLst>
              </p:cNvPr>
              <p:cNvSpPr txBox="1"/>
              <p:nvPr/>
            </p:nvSpPr>
            <p:spPr>
              <a:xfrm>
                <a:off x="407476" y="2015331"/>
                <a:ext cx="8112358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Definition 3:</a:t>
                </a: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 are integers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 is a positive integer, then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𝑐𝑜𝑛𝑔𝑟𝑢𝑒𝑛𝑡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𝑡𝑜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𝑚𝑜𝑑𝑢𝑙𝑜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 divides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. We use the notation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 (mod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) to indicate that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 is congruent to b modulo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. We say that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 (mod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) is a </a:t>
                </a:r>
                <a:r>
                  <a:rPr lang="en-US" sz="2000" b="1" dirty="0">
                    <a:latin typeface="Aptos" panose="020B0004020202020204" pitchFamily="34" charset="0"/>
                  </a:rPr>
                  <a:t>congruence</a:t>
                </a:r>
                <a:r>
                  <a:rPr lang="en-US" sz="2000" dirty="0">
                    <a:latin typeface="Aptos" panose="020B0004020202020204" pitchFamily="34" charset="0"/>
                  </a:rPr>
                  <a:t> and that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is its </a:t>
                </a:r>
                <a:r>
                  <a:rPr lang="en-US" sz="2000" b="1" dirty="0">
                    <a:latin typeface="Aptos" panose="020B0004020202020204" pitchFamily="34" charset="0"/>
                  </a:rPr>
                  <a:t>modulus</a:t>
                </a:r>
                <a:r>
                  <a:rPr lang="en-US" sz="2000" dirty="0">
                    <a:latin typeface="Aptos" panose="020B0004020202020204" pitchFamily="34" charset="0"/>
                  </a:rPr>
                  <a:t> (plural moduli). If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 are not congruent modulo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, we write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≢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 (mod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57E113-66BF-5CE2-44F6-7151C241F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76" y="2015331"/>
                <a:ext cx="8112358" cy="1938992"/>
              </a:xfrm>
              <a:prstGeom prst="rect">
                <a:avLst/>
              </a:prstGeom>
              <a:blipFill>
                <a:blip r:embed="rId2"/>
                <a:stretch>
                  <a:fillRect l="-938" t="-1299" b="-5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EE2A94-C1EB-321A-491B-0EC5DF9F1F05}"/>
                  </a:ext>
                </a:extLst>
              </p:cNvPr>
              <p:cNvSpPr txBox="1"/>
              <p:nvPr/>
            </p:nvSpPr>
            <p:spPr>
              <a:xfrm>
                <a:off x="515821" y="4250571"/>
                <a:ext cx="811235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Theorem 3:</a:t>
                </a: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 be integers and let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 be a positive integer. </a:t>
                </a: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 (mod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) if and only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2EE2A94-C1EB-321A-491B-0EC5DF9F1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21" y="4250571"/>
                <a:ext cx="8112358" cy="1015663"/>
              </a:xfrm>
              <a:prstGeom prst="rect">
                <a:avLst/>
              </a:prstGeom>
              <a:blipFill>
                <a:blip r:embed="rId3"/>
                <a:stretch>
                  <a:fillRect l="-781" t="-2469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3">
            <a:extLst>
              <a:ext uri="{FF2B5EF4-FFF2-40B4-BE49-F238E27FC236}">
                <a16:creationId xmlns:a16="http://schemas.microsoft.com/office/drawing/2014/main" id="{28FA46E5-D65A-5C6B-7580-63E6C8E59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925" y="649478"/>
            <a:ext cx="46955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1.1: Divisibility and Modular Arithmetic</a:t>
            </a:r>
          </a:p>
        </p:txBody>
      </p:sp>
    </p:spTree>
    <p:extLst>
      <p:ext uri="{BB962C8B-B14F-4D97-AF65-F5344CB8AC3E}">
        <p14:creationId xmlns:p14="http://schemas.microsoft.com/office/powerpoint/2010/main" val="178921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59B0FFF-4439-037A-DEC7-FC941D6E7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186B4C95-D835-9581-4310-CD74E1E2B75D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14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F5E82A-B252-A0A5-2F18-C01760C4CBC7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E96A98-BA64-E2D5-B929-B56D54933CC9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88DF9A-5CC8-B3A8-B6DF-4D2AF85E6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ACD55D-FC67-0BDB-937C-057BE8141976}"/>
              </a:ext>
            </a:extLst>
          </p:cNvPr>
          <p:cNvSpPr txBox="1"/>
          <p:nvPr/>
        </p:nvSpPr>
        <p:spPr>
          <a:xfrm>
            <a:off x="246880" y="1254766"/>
            <a:ext cx="79692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3333FF"/>
                </a:solidFill>
                <a:latin typeface="Aptos" panose="020B0004020202020204" pitchFamily="34" charset="0"/>
              </a:rPr>
              <a:t>MODULAR ARITHMETIC</a:t>
            </a:r>
            <a:endParaRPr lang="en-US" sz="36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DE0905-996D-85A1-7AA8-FB620FBCE9FE}"/>
                  </a:ext>
                </a:extLst>
              </p:cNvPr>
              <p:cNvSpPr txBox="1"/>
              <p:nvPr/>
            </p:nvSpPr>
            <p:spPr>
              <a:xfrm>
                <a:off x="406811" y="2079857"/>
                <a:ext cx="8306883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Aptos" panose="020B0004020202020204" pitchFamily="34" charset="0"/>
                  </a:rPr>
                  <a:t>Example: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Determine whether  17 is congruent to 5 modulo 6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  <a:latin typeface="Aptos" panose="020B0004020202020204" pitchFamily="34" charset="0"/>
                  </a:rPr>
                  <a:t>17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5(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6)</m:t>
                    </m:r>
                  </m:oMath>
                </a14:m>
                <a:endParaRPr lang="en-US" sz="2400" dirty="0">
                  <a:solidFill>
                    <a:srgbClr val="FF0000"/>
                  </a:solidFill>
                  <a:latin typeface="Aptos" panose="020B0004020202020204" pitchFamily="34" charset="0"/>
                </a:endParaRP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and whether 24 and 14 are congruent modulo 6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 </a:t>
                </a:r>
                <a:r>
                  <a:rPr lang="en-US" sz="2400" dirty="0">
                    <a:solidFill>
                      <a:srgbClr val="FF0000"/>
                    </a:solidFill>
                    <a:latin typeface="Aptos" panose="020B0004020202020204" pitchFamily="34" charset="0"/>
                  </a:rPr>
                  <a:t>24</a:t>
                </a:r>
                <a:r>
                  <a:rPr lang="en-US" sz="24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  <a:latin typeface="Aptos" panose="020B0004020202020204" pitchFamily="34" charset="0"/>
                  </a:rPr>
                  <a:t> 14(mod 6)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DE0905-996D-85A1-7AA8-FB620FBCE9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11" y="2079857"/>
                <a:ext cx="8306883" cy="1938992"/>
              </a:xfrm>
              <a:prstGeom prst="rect">
                <a:avLst/>
              </a:prstGeom>
              <a:blipFill>
                <a:blip r:embed="rId2"/>
                <a:stretch>
                  <a:fillRect l="-1175" t="-2516" b="-6289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C6ADF2-2AEC-3926-5918-CF07C81A6545}"/>
                  </a:ext>
                </a:extLst>
              </p:cNvPr>
              <p:cNvSpPr txBox="1"/>
              <p:nvPr/>
            </p:nvSpPr>
            <p:spPr>
              <a:xfrm>
                <a:off x="406811" y="4177488"/>
                <a:ext cx="830688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Solution: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- Yes because 6 |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17−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5)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; </a:t>
                </a:r>
                <a:r>
                  <a:rPr lang="en-US" sz="2400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17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≡5(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6)</m:t>
                    </m:r>
                  </m:oMath>
                </a14:m>
                <a:endParaRPr lang="en-US" sz="2400" dirty="0">
                  <a:solidFill>
                    <a:schemeClr val="tx1"/>
                  </a:solidFill>
                  <a:latin typeface="Aptos" panose="020B0004020202020204" pitchFamily="34" charset="0"/>
                </a:endParaRP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- No because 6</a:t>
                </a: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is not divisible by 6;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≢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(mod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)</a:t>
                </a:r>
              </a:p>
              <a:p>
                <a:endParaRPr lang="en-US" sz="2400" dirty="0"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5C6ADF2-2AEC-3926-5918-CF07C81A65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11" y="4177488"/>
                <a:ext cx="8306882" cy="1938992"/>
              </a:xfrm>
              <a:prstGeom prst="rect">
                <a:avLst/>
              </a:prstGeom>
              <a:blipFill>
                <a:blip r:embed="rId3"/>
                <a:stretch>
                  <a:fillRect l="-1175" t="-2516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3">
            <a:extLst>
              <a:ext uri="{FF2B5EF4-FFF2-40B4-BE49-F238E27FC236}">
                <a16:creationId xmlns:a16="http://schemas.microsoft.com/office/drawing/2014/main" id="{3840F62B-5E72-18DD-89FC-847BE9F4B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925" y="649478"/>
            <a:ext cx="46955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1.1: Divisibility and Modular Arithmetic</a:t>
            </a:r>
          </a:p>
        </p:txBody>
      </p:sp>
    </p:spTree>
    <p:extLst>
      <p:ext uri="{BB962C8B-B14F-4D97-AF65-F5344CB8AC3E}">
        <p14:creationId xmlns:p14="http://schemas.microsoft.com/office/powerpoint/2010/main" val="4269172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EAECE1D-FA4F-C81C-73B9-7DA3CE4EF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1C3ABF0D-BDA0-761F-2C9B-A602EFAFE66E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15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144E3E-BE6A-5590-82E2-9E4853958877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A0693-3A65-C2FD-763C-20EB67AD374C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D0419F-AA13-E725-9092-FA08357EB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2157E9-D4DD-5FA3-7F61-28A6756C0B11}"/>
              </a:ext>
            </a:extLst>
          </p:cNvPr>
          <p:cNvSpPr txBox="1"/>
          <p:nvPr/>
        </p:nvSpPr>
        <p:spPr>
          <a:xfrm>
            <a:off x="246880" y="1254766"/>
            <a:ext cx="79692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3333FF"/>
                </a:solidFill>
                <a:latin typeface="Aptos" panose="020B0004020202020204" pitchFamily="34" charset="0"/>
              </a:rPr>
              <a:t>MODULAR ARITHMETIC</a:t>
            </a:r>
            <a:endParaRPr lang="en-US" sz="36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25A922-1681-8BD7-8DEB-F4CB72C6A5C7}"/>
                  </a:ext>
                </a:extLst>
              </p:cNvPr>
              <p:cNvSpPr txBox="1"/>
              <p:nvPr/>
            </p:nvSpPr>
            <p:spPr>
              <a:xfrm>
                <a:off x="407476" y="1990714"/>
                <a:ext cx="8112358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Theorem 4: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be a positive integer. The integers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are congruent modulo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if and only if there is an integer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2400" b="0" i="1" dirty="0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𝑘𝑚</m:t>
                    </m:r>
                    <m:r>
                      <a:rPr lang="en-US" sz="2400" b="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A25A922-1681-8BD7-8DEB-F4CB72C6A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76" y="1990714"/>
                <a:ext cx="8112358" cy="1569660"/>
              </a:xfrm>
              <a:prstGeom prst="rect">
                <a:avLst/>
              </a:prstGeom>
              <a:blipFill>
                <a:blip r:embed="rId2"/>
                <a:stretch>
                  <a:fillRect l="-1202" t="-3113"/>
                </a:stretch>
              </a:blipFill>
            </p:spPr>
            <p:txBody>
              <a:bodyPr/>
              <a:lstStyle/>
              <a:p>
                <a:r>
                  <a:rPr lang="en-M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658C43-F744-8786-35D6-02DD5D91E014}"/>
                  </a:ext>
                </a:extLst>
              </p:cNvPr>
              <p:cNvSpPr txBox="1"/>
              <p:nvPr/>
            </p:nvSpPr>
            <p:spPr>
              <a:xfrm>
                <a:off x="407476" y="3913609"/>
                <a:ext cx="811235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Theorem 5: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be a positive integer. I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(mod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) and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(mod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),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(mod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)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𝑏𝑑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(mod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E658C43-F744-8786-35D6-02DD5D91E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76" y="3913609"/>
                <a:ext cx="8112358" cy="1200329"/>
              </a:xfrm>
              <a:prstGeom prst="rect">
                <a:avLst/>
              </a:prstGeom>
              <a:blipFill>
                <a:blip r:embed="rId3"/>
                <a:stretch>
                  <a:fillRect l="-1250" t="-4211" b="-1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3">
            <a:extLst>
              <a:ext uri="{FF2B5EF4-FFF2-40B4-BE49-F238E27FC236}">
                <a16:creationId xmlns:a16="http://schemas.microsoft.com/office/drawing/2014/main" id="{701B94CE-D946-213A-6EA1-1A01EE42C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925" y="649478"/>
            <a:ext cx="46955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1.1: Divisibility and Modular Arithmetic</a:t>
            </a:r>
          </a:p>
        </p:txBody>
      </p:sp>
    </p:spTree>
    <p:extLst>
      <p:ext uri="{BB962C8B-B14F-4D97-AF65-F5344CB8AC3E}">
        <p14:creationId xmlns:p14="http://schemas.microsoft.com/office/powerpoint/2010/main" val="201477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A21473B-5F0F-FF84-E82D-E97AC7609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472F8AFE-4BB1-1EA3-C668-5624F89BDDEF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16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E59994-F476-5990-6982-F8EBB9F2090F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5922C9-DBA6-692E-A616-B98CC397148B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7E0250-74AC-B1CE-22F6-DBA8D694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C5D9F7-49CB-A340-0883-35E452CDACCE}"/>
              </a:ext>
            </a:extLst>
          </p:cNvPr>
          <p:cNvSpPr txBox="1"/>
          <p:nvPr/>
        </p:nvSpPr>
        <p:spPr>
          <a:xfrm>
            <a:off x="246880" y="1254766"/>
            <a:ext cx="79692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3333FF"/>
                </a:solidFill>
                <a:latin typeface="Aptos" panose="020B0004020202020204" pitchFamily="34" charset="0"/>
              </a:rPr>
              <a:t>MODULAR ARITHMETIC</a:t>
            </a:r>
            <a:endParaRPr lang="en-US" sz="36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4813EE-CA4C-C05B-4C06-C0FDA563DCD6}"/>
                  </a:ext>
                </a:extLst>
              </p:cNvPr>
              <p:cNvSpPr txBox="1"/>
              <p:nvPr/>
            </p:nvSpPr>
            <p:spPr>
              <a:xfrm>
                <a:off x="406811" y="2079857"/>
                <a:ext cx="8306883" cy="3178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Aptos" panose="020B0004020202020204" pitchFamily="34" charset="0"/>
                  </a:rPr>
                  <a:t>Example: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ptos" panose="020B0004020202020204" pitchFamily="34" charset="0"/>
                  </a:rPr>
                  <a:t>Because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≡2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5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11 ≡1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5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it follows from Theorem 5 that,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ptos" panose="020B000402020202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18=7+11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≡2+1=3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5</m:t>
                        </m:r>
                      </m:e>
                    </m:d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;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ptos" panose="020B0004020202020204" pitchFamily="34" charset="0"/>
                  </a:rPr>
                  <a:t>and that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ptos" panose="020B0004020202020204" pitchFamily="34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7=7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11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≡2∙1=2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5</m:t>
                        </m:r>
                      </m:e>
                    </m:d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;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4813EE-CA4C-C05B-4C06-C0FDA563D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11" y="2079857"/>
                <a:ext cx="8306883" cy="3178371"/>
              </a:xfrm>
              <a:prstGeom prst="rect">
                <a:avLst/>
              </a:prstGeom>
              <a:blipFill>
                <a:blip r:embed="rId2"/>
                <a:stretch>
                  <a:fillRect l="-1223" t="-1587"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3">
            <a:extLst>
              <a:ext uri="{FF2B5EF4-FFF2-40B4-BE49-F238E27FC236}">
                <a16:creationId xmlns:a16="http://schemas.microsoft.com/office/drawing/2014/main" id="{E0710243-E079-AD36-6097-F0C385248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925" y="649478"/>
            <a:ext cx="46955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1.1: Divisibility and Modular Arithmetic</a:t>
            </a:r>
          </a:p>
        </p:txBody>
      </p:sp>
    </p:spTree>
    <p:extLst>
      <p:ext uri="{BB962C8B-B14F-4D97-AF65-F5344CB8AC3E}">
        <p14:creationId xmlns:p14="http://schemas.microsoft.com/office/powerpoint/2010/main" val="1009787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279BF25-F153-2002-46DA-BA820A06E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337" name="Rectangle 2">
                <a:extLst>
                  <a:ext uri="{FF2B5EF4-FFF2-40B4-BE49-F238E27FC236}">
                    <a16:creationId xmlns:a16="http://schemas.microsoft.com/office/drawing/2014/main" id="{B1F9990E-3866-A2AF-DC3A-BEDB7B915067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40240" y="2187324"/>
                <a:ext cx="8525435" cy="2389041"/>
              </a:xfrm>
            </p:spPr>
            <p:txBody>
              <a:bodyPr/>
              <a:lstStyle/>
              <a:p>
                <a:pPr marL="342900" indent="-342900">
                  <a:defRPr/>
                </a:pPr>
                <a:r>
                  <a:rPr lang="en-US" sz="2400" dirty="0">
                    <a:latin typeface="Aptos" panose="020B0004020202020204" pitchFamily="34" charset="0"/>
                    <a:ea typeface="ＭＳ Ｐゴシック" charset="0"/>
                    <a:cs typeface="Times New Roman" charset="0"/>
                  </a:rPr>
                  <a:t>Integer can be expressed using any integer greater than one as a base.</a:t>
                </a:r>
              </a:p>
              <a:p>
                <a:pPr marL="342900" indent="-342900">
                  <a:defRPr/>
                </a:pPr>
                <a:r>
                  <a:rPr lang="en-US" sz="2400" dirty="0">
                    <a:latin typeface="Aptos" panose="020B0004020202020204" pitchFamily="34" charset="0"/>
                    <a:ea typeface="ＭＳ Ｐゴシック" charset="0"/>
                    <a:cs typeface="Times New Roman" charset="0"/>
                  </a:rPr>
                  <a:t>Example of commonly use -  decimal (base 10), binary (base 2), octal (base 8), hexadecimal (base 16).</a:t>
                </a:r>
              </a:p>
              <a:p>
                <a:pPr marL="342900" indent="-342900">
                  <a:defRPr/>
                </a:pPr>
                <a:r>
                  <a:rPr lang="en-US" sz="2400" dirty="0">
                    <a:latin typeface="Aptos" panose="020B0004020202020204" pitchFamily="34" charset="0"/>
                    <a:ea typeface="ＭＳ Ｐゴシック" charset="0"/>
                    <a:cs typeface="Times New Roman" charset="0"/>
                  </a:rPr>
                  <a:t>Given a base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ＭＳ Ｐゴシック" charset="0"/>
                        <a:cs typeface="Times New Roman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  <a:ea typeface="ＭＳ Ｐゴシック" charset="0"/>
                    <a:cs typeface="Times New Roman" charset="0"/>
                  </a:rPr>
                  <a:t> and integer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ＭＳ Ｐゴシック" charset="0"/>
                        <a:cs typeface="Times New Roman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  <a:ea typeface="ＭＳ Ｐゴシック" charset="0"/>
                    <a:cs typeface="Times New Roman" charset="0"/>
                  </a:rPr>
                  <a:t>, we can construct the base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ＭＳ Ｐゴシック" charset="0"/>
                        <a:cs typeface="Times New Roman" charset="0"/>
                      </a:rPr>
                      <m:t>𝑏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ＭＳ Ｐゴシック" charset="0"/>
                        <a:cs typeface="Times New Roman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  <a:ea typeface="ＭＳ Ｐゴシック" charset="0"/>
                    <a:cs typeface="Times New Roman" charset="0"/>
                  </a:rPr>
                  <a:t>representation of that integer. </a:t>
                </a:r>
              </a:p>
            </p:txBody>
          </p:sp>
        </mc:Choice>
        <mc:Fallback xmlns="">
          <p:sp>
            <p:nvSpPr>
              <p:cNvPr id="14337" name="Rectangle 2">
                <a:extLst>
                  <a:ext uri="{FF2B5EF4-FFF2-40B4-BE49-F238E27FC236}">
                    <a16:creationId xmlns:a16="http://schemas.microsoft.com/office/drawing/2014/main" id="{B1F9990E-3866-A2AF-DC3A-BEDB7B9150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40240" y="2187324"/>
                <a:ext cx="8525435" cy="2389041"/>
              </a:xfrm>
              <a:blipFill>
                <a:blip r:embed="rId2"/>
                <a:stretch>
                  <a:fillRect l="-893" t="-3704" r="-149"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87" name="Rectangle 3">
            <a:extLst>
              <a:ext uri="{FF2B5EF4-FFF2-40B4-BE49-F238E27FC236}">
                <a16:creationId xmlns:a16="http://schemas.microsoft.com/office/drawing/2014/main" id="{F8074E3A-3847-9E30-B102-553C9DF84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62" y="1029701"/>
            <a:ext cx="81397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32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1.2: Integer Representations and Algorithm</a:t>
            </a:r>
          </a:p>
        </p:txBody>
      </p:sp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878E5775-12C4-495A-EB79-E22A3E49FB05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17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8486CA-C1BB-67BF-78B4-0FE68EA91BCF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B71B41-5075-9BC0-57D4-27761BF84F27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6EF661-7F99-358B-476B-5BA3453F6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32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AD45CD2-CE02-3F36-CEBA-D9385F70C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7D6FBAA8-8166-2009-2062-6FF5103A9E93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18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880DFD-609A-A103-FC1B-D0200955399A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5AE5E8-3F34-4CC0-D71B-B6C4A9B26C02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D0C2A1-80A3-2AD6-28FB-B7E16BDED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57A6F27-80BD-86B1-1624-B1A049F27046}"/>
                  </a:ext>
                </a:extLst>
              </p:cNvPr>
              <p:cNvSpPr txBox="1"/>
              <p:nvPr/>
            </p:nvSpPr>
            <p:spPr>
              <a:xfrm>
                <a:off x="425371" y="2163721"/>
                <a:ext cx="8355173" cy="3370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Theorem 1: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ptos" panose="020B00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be an integer greater than 1. Then, </a:t>
                </a:r>
                <a:r>
                  <a:rPr lang="en-US" sz="2400" dirty="0" err="1">
                    <a:latin typeface="Aptos" panose="020B0004020202020204" pitchFamily="34" charset="0"/>
                  </a:rPr>
                  <a:t>i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is a positive integer, it can be expressed uniquely in the form: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b="0" dirty="0"/>
                  <a:t>   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400" b="0" dirty="0"/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ptos" panose="020B00040202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is a nonnegative integer,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are nonnegative integers less than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57A6F27-80BD-86B1-1624-B1A049F270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371" y="2163721"/>
                <a:ext cx="8355173" cy="3370987"/>
              </a:xfrm>
              <a:prstGeom prst="rect">
                <a:avLst/>
              </a:prstGeom>
              <a:blipFill>
                <a:blip r:embed="rId2"/>
                <a:stretch>
                  <a:fillRect l="-1214" b="-3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3B40E63-941B-5295-CA04-355758F59F1D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REPRESENTATIONS OF INTEGERS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E4BA6D1-D716-7C2F-14E2-239CB9560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0496" y="649478"/>
            <a:ext cx="51623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1.2: Integer Representations and Algorithm</a:t>
            </a:r>
          </a:p>
        </p:txBody>
      </p:sp>
    </p:spTree>
    <p:extLst>
      <p:ext uri="{BB962C8B-B14F-4D97-AF65-F5344CB8AC3E}">
        <p14:creationId xmlns:p14="http://schemas.microsoft.com/office/powerpoint/2010/main" val="3854484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941E162-2843-C6B1-2BE1-E11F83E4B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4401BF7B-B1AC-C1E5-CBD7-21CFD240137F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19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280331-AEB5-DB48-D490-177DCA2D0825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4CB227-A3E8-92C0-D706-81D866535455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ED96DF-14AD-0534-4787-4772A74F5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90B2-76D0-976D-F901-B9D323BFC703}"/>
              </a:ext>
            </a:extLst>
          </p:cNvPr>
          <p:cNvSpPr txBox="1"/>
          <p:nvPr/>
        </p:nvSpPr>
        <p:spPr>
          <a:xfrm>
            <a:off x="567650" y="2128942"/>
            <a:ext cx="8306883" cy="3178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Binary Expansions: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Choosing 2 as the base gives binary expansions of integers.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In binary notation each digit is either 0 or 1.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Binary expansion of an integer is just a bit string.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It’s used by computer to represent and do arithmetic with integer. 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AF98289-6DFF-BD96-6A36-06392468B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0496" y="649478"/>
            <a:ext cx="51623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1.2: Integer Representations and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594C1B-7BAC-A439-C2E5-00591F070289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REPRESENTATIONS OF INTEGERS</a:t>
            </a:r>
            <a:endParaRPr lang="en-US" sz="3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554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4A3F2A7-0BFF-7350-76AD-1766EE780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54B3F265-CDBC-E3CA-EF4A-3495CB4E3BFC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20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015A1-8FB5-2820-2707-7531D8A90412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9FAFCF-09F6-4B0F-8ED4-36BF8E79A2FB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6F44E-D520-BFD6-3E9B-12F63FA56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147303-2292-479C-9147-B645892A985D}"/>
                  </a:ext>
                </a:extLst>
              </p:cNvPr>
              <p:cNvSpPr txBox="1"/>
              <p:nvPr/>
            </p:nvSpPr>
            <p:spPr>
              <a:xfrm>
                <a:off x="763161" y="2313272"/>
                <a:ext cx="8306883" cy="1514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Aptos" panose="020B0004020202020204" pitchFamily="34" charset="0"/>
                  </a:rPr>
                  <a:t>Example: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400" dirty="0">
                    <a:latin typeface="Aptos" panose="020B0004020202020204" pitchFamily="34" charset="0"/>
                  </a:rPr>
                  <a:t>What is the decimal expansion of the integer that has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(1 0101 1111)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as its binary expansion?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0147303-2292-479C-9147-B645892A9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61" y="2313272"/>
                <a:ext cx="8306883" cy="1514517"/>
              </a:xfrm>
              <a:prstGeom prst="rect">
                <a:avLst/>
              </a:prstGeom>
              <a:blipFill>
                <a:blip r:embed="rId2"/>
                <a:stretch>
                  <a:fillRect l="-1221" t="-2479" b="-8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3">
            <a:extLst>
              <a:ext uri="{FF2B5EF4-FFF2-40B4-BE49-F238E27FC236}">
                <a16:creationId xmlns:a16="http://schemas.microsoft.com/office/drawing/2014/main" id="{1032E3A3-494F-7DA4-16D2-3F9091959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0496" y="649478"/>
            <a:ext cx="51623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1.2: Integer Representations and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22FF97-20F2-8456-371B-F64A9963B152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REPRESENTATIONS OF INTEGERS</a:t>
            </a:r>
            <a:endParaRPr lang="en-US" sz="32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19EB5B-16D3-C93A-DF74-6F90E23BF22B}"/>
                  </a:ext>
                </a:extLst>
              </p:cNvPr>
              <p:cNvSpPr txBox="1"/>
              <p:nvPr/>
            </p:nvSpPr>
            <p:spPr>
              <a:xfrm>
                <a:off x="592804" y="4195540"/>
                <a:ext cx="8306883" cy="1565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Solution: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(1 0101 1111)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+0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+ 1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=351</m:t>
                      </m:r>
                    </m:oMath>
                  </m:oMathPara>
                </a14:m>
                <a:endParaRPr lang="en-US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519EB5B-16D3-C93A-DF74-6F90E23BF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04" y="4195540"/>
                <a:ext cx="8306883" cy="1565300"/>
              </a:xfrm>
              <a:prstGeom prst="rect">
                <a:avLst/>
              </a:prstGeom>
              <a:blipFill>
                <a:blip r:embed="rId3"/>
                <a:stretch>
                  <a:fillRect l="-1069" t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5350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1F060F6-2097-3DD6-3BB2-B433CFA97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72ED0A63-3FC4-00CD-5473-6A273BA34051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21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421FA9-4FFA-D92F-E675-6AE8F5E51CF3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EE5627-CD33-6769-3FD3-D9478AE249AC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9D7C8A-1D3D-84AC-4556-8336FE63A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7BACC2-4A27-AF95-AF9C-91D337CE192B}"/>
              </a:ext>
            </a:extLst>
          </p:cNvPr>
          <p:cNvSpPr txBox="1"/>
          <p:nvPr/>
        </p:nvSpPr>
        <p:spPr>
          <a:xfrm>
            <a:off x="246880" y="1839541"/>
            <a:ext cx="8478561" cy="3587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ptos" panose="020B0004020202020204" pitchFamily="34" charset="0"/>
              </a:rPr>
              <a:t>Octal and Hexadecimal Expansions: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Among the most important bases in CS are base 2, 8 and 16.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Base 8 expansions are called </a:t>
            </a:r>
            <a:r>
              <a:rPr lang="en-US" sz="2000" b="1" dirty="0">
                <a:latin typeface="Aptos" panose="020B0004020202020204" pitchFamily="34" charset="0"/>
              </a:rPr>
              <a:t>octal</a:t>
            </a:r>
            <a:r>
              <a:rPr lang="en-US" sz="2000" dirty="0">
                <a:latin typeface="Aptos" panose="020B0004020202020204" pitchFamily="34" charset="0"/>
              </a:rPr>
              <a:t> expansions.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Base 16 expansions are </a:t>
            </a:r>
            <a:r>
              <a:rPr lang="en-US" sz="2000" b="1" dirty="0">
                <a:latin typeface="Aptos" panose="020B0004020202020204" pitchFamily="34" charset="0"/>
              </a:rPr>
              <a:t>hexadecimal</a:t>
            </a:r>
            <a:r>
              <a:rPr lang="en-US" sz="2000" dirty="0">
                <a:latin typeface="Aptos" panose="020B0004020202020204" pitchFamily="34" charset="0"/>
              </a:rPr>
              <a:t> expansions.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Sixteen different digits are required for hexadecimal expansions. Usually, the hexadecimal digits used are 0,1, 2, 3, 4, 5, 6, 7, 8, 9, A, B, C, D, E and F, where the letters A through F represent the digits corresponding to the numbers 10 through 15 (in decimal notation).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5BFBC97-C6D2-8094-A14D-DD913BBF8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0496" y="649478"/>
            <a:ext cx="51623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1.2: Integer Representations and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C298A9-196F-143B-EFC2-499FE1404B2E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REPRESENTATIONS OF INTEGERS</a:t>
            </a:r>
            <a:endParaRPr lang="en-US" sz="32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4157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30FDCC0-7D41-5045-2CFC-3BEBDD55C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2FCD415D-BC23-1EB9-3C03-FE61D10AFE41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C0AD14-D6BA-538A-E7BF-109731416D6C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430C07-5A65-A605-F9B8-E27D39123D2A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DBE5E6-8B4F-A043-580C-0658A77F1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915189-A697-1A49-EB5A-F095CC075C5A}"/>
                  </a:ext>
                </a:extLst>
              </p:cNvPr>
              <p:cNvSpPr txBox="1"/>
              <p:nvPr/>
            </p:nvSpPr>
            <p:spPr>
              <a:xfrm>
                <a:off x="406811" y="2079857"/>
                <a:ext cx="8306883" cy="1514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Aptos" panose="020B0004020202020204" pitchFamily="34" charset="0"/>
                  </a:rPr>
                  <a:t>Example:</a:t>
                </a:r>
              </a:p>
              <a:p>
                <a:pPr>
                  <a:lnSpc>
                    <a:spcPct val="150000"/>
                  </a:lnSpc>
                  <a:tabLst>
                    <a:tab pos="8034338" algn="l"/>
                  </a:tabLst>
                </a:pPr>
                <a:r>
                  <a:rPr lang="en-US" sz="2400" dirty="0">
                    <a:latin typeface="Aptos" panose="020B0004020202020204" pitchFamily="34" charset="0"/>
                  </a:rPr>
                  <a:t>What is the decimal expansion of the number with octal expansion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7016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A915189-A697-1A49-EB5A-F095CC075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11" y="2079857"/>
                <a:ext cx="8306883" cy="1514517"/>
              </a:xfrm>
              <a:prstGeom prst="rect">
                <a:avLst/>
              </a:prstGeom>
              <a:blipFill>
                <a:blip r:embed="rId2"/>
                <a:stretch>
                  <a:fillRect l="-1223" t="-3306" b="-8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3">
            <a:extLst>
              <a:ext uri="{FF2B5EF4-FFF2-40B4-BE49-F238E27FC236}">
                <a16:creationId xmlns:a16="http://schemas.microsoft.com/office/drawing/2014/main" id="{477A8860-C462-6995-D1A1-DAD31717F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0496" y="649478"/>
            <a:ext cx="51623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1.2: Integer Representations and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27AA66-B128-C0DC-4E80-A61BF50720EE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REPRESENTATIONS OF INTEGERS</a:t>
            </a:r>
            <a:endParaRPr lang="en-US" sz="32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AB69D7-3E79-9FDA-6FFC-AA83D5E7BFEC}"/>
                  </a:ext>
                </a:extLst>
              </p:cNvPr>
              <p:cNvSpPr txBox="1"/>
              <p:nvPr/>
            </p:nvSpPr>
            <p:spPr>
              <a:xfrm>
                <a:off x="406810" y="3864070"/>
                <a:ext cx="8306883" cy="8626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Solution: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7016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7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+6=3598</m:t>
                      </m:r>
                    </m:oMath>
                  </m:oMathPara>
                </a14:m>
                <a:endParaRPr lang="en-US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AB69D7-3E79-9FDA-6FFC-AA83D5E7BF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10" y="3864070"/>
                <a:ext cx="8306883" cy="862608"/>
              </a:xfrm>
              <a:prstGeom prst="rect">
                <a:avLst/>
              </a:prstGeom>
              <a:blipFill>
                <a:blip r:embed="rId3"/>
                <a:stretch>
                  <a:fillRect l="-1223" t="-5882" b="-7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848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485F1D0-B2C8-1763-D30F-078704AD7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81A00E52-6D37-04D5-6EEF-20EF3B48C652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A92823-AC08-6DAE-B81A-8C2454CAD082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CD7FE-0989-2FB7-9326-A188D147F4E2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094406-A194-E035-F08A-0E5EE94D9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131FEA-C64B-CBD0-0327-F73700376362}"/>
                  </a:ext>
                </a:extLst>
              </p:cNvPr>
              <p:cNvSpPr txBox="1"/>
              <p:nvPr/>
            </p:nvSpPr>
            <p:spPr>
              <a:xfrm>
                <a:off x="406810" y="2237377"/>
                <a:ext cx="8306883" cy="1514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Aptos" panose="020B0004020202020204" pitchFamily="34" charset="0"/>
                  </a:rPr>
                  <a:t>Example:</a:t>
                </a:r>
              </a:p>
              <a:p>
                <a:pPr>
                  <a:lnSpc>
                    <a:spcPct val="150000"/>
                  </a:lnSpc>
                  <a:tabLst>
                    <a:tab pos="8034338" algn="l"/>
                  </a:tabLst>
                </a:pPr>
                <a:r>
                  <a:rPr lang="en-US" sz="2400" dirty="0">
                    <a:latin typeface="Aptos" panose="020B0004020202020204" pitchFamily="34" charset="0"/>
                  </a:rPr>
                  <a:t>What is the decimal expansion of the number with hexadecimal expansion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𝐴𝐸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131FEA-C64B-CBD0-0327-F73700376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10" y="2237377"/>
                <a:ext cx="8306883" cy="1514517"/>
              </a:xfrm>
              <a:prstGeom prst="rect">
                <a:avLst/>
              </a:prstGeom>
              <a:blipFill>
                <a:blip r:embed="rId2"/>
                <a:stretch>
                  <a:fillRect l="-1223" t="-3333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3">
            <a:extLst>
              <a:ext uri="{FF2B5EF4-FFF2-40B4-BE49-F238E27FC236}">
                <a16:creationId xmlns:a16="http://schemas.microsoft.com/office/drawing/2014/main" id="{D27B863F-6643-BECA-4F48-09137BC1B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0496" y="649478"/>
            <a:ext cx="51623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1.2: Integer Representations and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4D996B-D5C3-CA85-998C-667FD48E6345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REPRESENTATIONS OF INTEGERS</a:t>
            </a:r>
            <a:endParaRPr lang="en-US" sz="32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2DF065-6314-9643-0DD4-09F846C662EC}"/>
                  </a:ext>
                </a:extLst>
              </p:cNvPr>
              <p:cNvSpPr txBox="1"/>
              <p:nvPr/>
            </p:nvSpPr>
            <p:spPr>
              <a:xfrm>
                <a:off x="406810" y="3910525"/>
                <a:ext cx="8548931" cy="11992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Solution: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𝐴𝐸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16+11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r>
                  <a:rPr lang="en-US" sz="2400" b="0" dirty="0"/>
                  <a:t>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=175627</m:t>
                    </m:r>
                  </m:oMath>
                </a14:m>
                <a:endParaRPr lang="en-US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2DF065-6314-9643-0DD4-09F846C66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10" y="3910525"/>
                <a:ext cx="8548931" cy="1199239"/>
              </a:xfrm>
              <a:prstGeom prst="rect">
                <a:avLst/>
              </a:prstGeom>
              <a:blipFill>
                <a:blip r:embed="rId3"/>
                <a:stretch>
                  <a:fillRect l="-1187" t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1485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15943C7-5F39-4782-8113-96ABF0B13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5A524EF0-41A4-9357-6CA5-A4DC0D5A8789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24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358CB1-3115-33D6-1A8B-5E0AF52E7C90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ED50BB-0084-C94C-4E2E-4C87AF80047C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4791EC-F654-0BF5-24BA-9251F8B43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96D588E-6107-4096-B2D5-8E5B36579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0496" y="649478"/>
            <a:ext cx="51623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1.2: Integer Representations and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E56461-20D1-C253-E1EE-029D6DFAE3AC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REPRESENTATIONS OF INTEGERS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BCF8B7-B546-BDB9-D917-AF5DD120B2A8}"/>
              </a:ext>
            </a:extLst>
          </p:cNvPr>
          <p:cNvSpPr txBox="1"/>
          <p:nvPr/>
        </p:nvSpPr>
        <p:spPr>
          <a:xfrm>
            <a:off x="592804" y="2231949"/>
            <a:ext cx="6952609" cy="9712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Each hexadecimal digit can be represented using four bits.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ptos" panose="020B0004020202020204" pitchFamily="34" charset="0"/>
              </a:rPr>
              <a:t>For example: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85A8A9-68DD-6312-1FFB-5D0E3EF74BCF}"/>
                  </a:ext>
                </a:extLst>
              </p:cNvPr>
              <p:cNvSpPr txBox="1"/>
              <p:nvPr/>
            </p:nvSpPr>
            <p:spPr>
              <a:xfrm>
                <a:off x="4921624" y="3335739"/>
                <a:ext cx="24117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400" dirty="0">
                              <a:latin typeface="Aptos" panose="020B0004020202020204" pitchFamily="34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1110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85A8A9-68DD-6312-1FFB-5D0E3EF74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624" y="3335739"/>
                <a:ext cx="2411750" cy="461665"/>
              </a:xfrm>
              <a:prstGeom prst="rect">
                <a:avLst/>
              </a:prstGeom>
              <a:blipFill>
                <a:blip r:embed="rId2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8016C0-521D-C3BC-4AF7-D791D946E4ED}"/>
                  </a:ext>
                </a:extLst>
              </p:cNvPr>
              <p:cNvSpPr txBox="1"/>
              <p:nvPr/>
            </p:nvSpPr>
            <p:spPr>
              <a:xfrm>
                <a:off x="4946695" y="4389936"/>
                <a:ext cx="23596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(0101)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(5)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D8016C0-521D-C3BC-4AF7-D791D946E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695" y="4389936"/>
                <a:ext cx="2359620" cy="461665"/>
              </a:xfrm>
              <a:prstGeom prst="rect">
                <a:avLst/>
              </a:prstGeo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510878B-0A2C-172D-17DD-DCEC248A1268}"/>
                  </a:ext>
                </a:extLst>
              </p:cNvPr>
              <p:cNvSpPr txBox="1"/>
              <p:nvPr/>
            </p:nvSpPr>
            <p:spPr>
              <a:xfrm>
                <a:off x="871016" y="3832079"/>
                <a:ext cx="352236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1110  0101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5)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510878B-0A2C-172D-17DD-DCEC248A1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016" y="3832079"/>
                <a:ext cx="3522362" cy="461665"/>
              </a:xfrm>
              <a:prstGeom prst="rect">
                <a:avLst/>
              </a:prstGeom>
              <a:blipFill>
                <a:blip r:embed="rId4"/>
                <a:stretch>
                  <a:fillRect l="-1434" b="-24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3483860-930C-CB23-A96E-5FFF2F8FA508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4222377" y="3566572"/>
            <a:ext cx="699247" cy="49052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C785BF-8CC2-192C-55BC-33E4C773BCEB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4222377" y="4057096"/>
            <a:ext cx="724318" cy="5636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998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A24F822-115D-B749-47E4-12347CE77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7C67030C-FDA0-36DA-787C-F65B556A192D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010FC0-4D6D-B149-F580-7A00B9BD165B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1DBD3B-4FD9-0960-2116-45697775746E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A12D94-A2CC-BEF2-0893-7990FF4D1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EC7F716-3FA7-63BA-15EA-58B117135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0496" y="649478"/>
            <a:ext cx="51623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1.2: Integer Representations and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0E558D-BF08-FCB8-F5F1-5D8CEB875452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REPRESENTATIONS OF INTEGERS</a:t>
            </a:r>
            <a:endParaRPr lang="en-US" sz="32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091D045-F503-7041-367F-518878C8CBE1}"/>
                  </a:ext>
                </a:extLst>
              </p:cNvPr>
              <p:cNvSpPr txBox="1"/>
              <p:nvPr/>
            </p:nvSpPr>
            <p:spPr>
              <a:xfrm>
                <a:off x="441660" y="1875053"/>
                <a:ext cx="8322596" cy="42059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dirty="0">
                    <a:solidFill>
                      <a:srgbClr val="C00000"/>
                    </a:solidFill>
                    <a:latin typeface="Aptos" panose="020B0004020202020204" pitchFamily="34" charset="0"/>
                  </a:rPr>
                  <a:t>Base Conversion Algorithm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Aptos" panose="020B0004020202020204" pitchFamily="34" charset="0"/>
                  </a:rPr>
                  <a:t>For constructing the base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expansion of an integer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solidFill>
                      <a:srgbClr val="C00000"/>
                    </a:solidFill>
                    <a:latin typeface="Aptos" panose="020B0004020202020204" pitchFamily="34" charset="0"/>
                  </a:rPr>
                  <a:t>Step 1: </a:t>
                </a:r>
                <a:r>
                  <a:rPr lang="en-US" dirty="0">
                    <a:latin typeface="Aptos" panose="020B0004020202020204" pitchFamily="34" charset="0"/>
                  </a:rPr>
                  <a:t>Divide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to obtain a quotient and reminder: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Aptos" panose="020B0004020202020204" pitchFamily="34" charset="0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  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US" b="0" dirty="0"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Aptos" panose="020B0004020202020204" pitchFamily="34" charset="0"/>
                  </a:rPr>
                  <a:t>The remainder,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, is the rightmost digit in the base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expansion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solidFill>
                      <a:srgbClr val="C00000"/>
                    </a:solidFill>
                    <a:latin typeface="Aptos" panose="020B0004020202020204" pitchFamily="34" charset="0"/>
                  </a:rPr>
                  <a:t>Step 2: </a:t>
                </a:r>
                <a:r>
                  <a:rPr lang="en-US" dirty="0">
                    <a:latin typeface="Aptos" panose="020B0004020202020204" pitchFamily="34" charset="0"/>
                  </a:rPr>
                  <a:t>Divide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to obtain,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b="0" dirty="0">
                    <a:latin typeface="Aptos" panose="020B0004020202020204" pitchFamily="34" charset="0"/>
                  </a:rPr>
                  <a:t>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     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solidFill>
                      <a:srgbClr val="C00000"/>
                    </a:solidFill>
                    <a:latin typeface="Aptos" panose="020B0004020202020204" pitchFamily="34" charset="0"/>
                  </a:rPr>
                  <a:t>Step 3:</a:t>
                </a:r>
                <a:r>
                  <a:rPr lang="en-US" dirty="0">
                    <a:latin typeface="Aptos" panose="020B0004020202020204" pitchFamily="34" charset="0"/>
                  </a:rPr>
                  <a:t> Repeat Step 2, successively dividing the quotients by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, obtaining additional base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digits as the remainders. Terminate this process when we obtain a quotient equal to zero. It produces the base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 digits of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Aptos" panose="020B0004020202020204" pitchFamily="34" charset="0"/>
                  </a:rPr>
                  <a:t>from the right to the left.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091D045-F503-7041-367F-518878C8C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60" y="1875053"/>
                <a:ext cx="8322596" cy="4205960"/>
              </a:xfrm>
              <a:prstGeom prst="rect">
                <a:avLst/>
              </a:prstGeom>
              <a:blipFill>
                <a:blip r:embed="rId2"/>
                <a:stretch>
                  <a:fillRect l="-609" b="-12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85992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0FEA5B2-505C-DA90-83AC-CFA43A8F1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605D74E4-E4A1-0D6E-1C59-15ACB871247E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017370-A157-D345-1F74-8C55F9B02511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F08F50-8A83-FA55-8C73-43E29A1D5175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62891D-0793-CB8F-BF8D-B1CE8B61B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0F5C55F-4A79-C5F6-2B4D-C24593F53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0496" y="649478"/>
            <a:ext cx="51623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1.2: Integer Representations and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F57A02-2F55-E2A4-9517-17C31C09E43C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REPRESENTATIONS OF INTEGERS</a:t>
            </a:r>
            <a:endParaRPr lang="en-US" sz="32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BAA0D3-9886-11DA-2E1F-1F44B25542CC}"/>
                  </a:ext>
                </a:extLst>
              </p:cNvPr>
              <p:cNvSpPr txBox="1"/>
              <p:nvPr/>
            </p:nvSpPr>
            <p:spPr>
              <a:xfrm>
                <a:off x="592804" y="1839541"/>
                <a:ext cx="6574478" cy="467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dirty="0">
                    <a:solidFill>
                      <a:srgbClr val="C00000"/>
                    </a:solidFill>
                    <a:latin typeface="Aptos" panose="020B0004020202020204" pitchFamily="34" charset="0"/>
                  </a:rPr>
                  <a:t>Algorithm 1: </a:t>
                </a:r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Constructing Base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Aptos" panose="020B0004020202020204" pitchFamily="34" charset="0"/>
                  </a:rPr>
                  <a:t> Expansions</a:t>
                </a:r>
                <a:endParaRPr lang="en-US" dirty="0">
                  <a:solidFill>
                    <a:srgbClr val="C00000"/>
                  </a:solidFill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BAA0D3-9886-11DA-2E1F-1F44B2554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04" y="1839541"/>
                <a:ext cx="6574478" cy="467885"/>
              </a:xfrm>
              <a:prstGeom prst="rect">
                <a:avLst/>
              </a:prstGeom>
              <a:blipFill>
                <a:blip r:embed="rId2"/>
                <a:stretch>
                  <a:fillRect l="-771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0692A9-6F91-CD6B-79FE-044325A13A0E}"/>
                  </a:ext>
                </a:extLst>
              </p:cNvPr>
              <p:cNvSpPr txBox="1"/>
              <p:nvPr/>
            </p:nvSpPr>
            <p:spPr>
              <a:xfrm>
                <a:off x="835890" y="2596126"/>
                <a:ext cx="7812741" cy="28623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procedure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base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expansion(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positive integer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&gt; 1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≔0</m:t>
                      </m:r>
                    </m:oMath>
                  </m:oMathPara>
                </a14:m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endParaRPr lang="en-US" b="0" dirty="0">
                  <a:latin typeface="Times New Roman" panose="02020603050405020304" pitchFamily="18" charset="0"/>
                  <a:ea typeface="Cambria Math" panose="02040503050406030204" pitchFamily="18" charset="0"/>
                </a:endParaRPr>
              </a:p>
              <a:p>
                <a:r>
                  <a:rPr 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b="0" dirty="0">
                  <a:latin typeface="Times New Roman" panose="02020603050405020304" pitchFamily="18" charset="0"/>
                </a:endParaRPr>
              </a:p>
              <a:p>
                <a:r>
                  <a:rPr lang="en-US" b="0" dirty="0"/>
                  <a:t>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𝐝𝐢𝐯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b="0" dirty="0">
                  <a:latin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b="0" dirty="0">
                  <a:latin typeface="Times New Roman" panose="02020603050405020304" pitchFamily="18" charset="0"/>
                </a:endParaRPr>
              </a:p>
              <a:p>
                <a:endParaRPr lang="en-US" b="0" dirty="0">
                  <a:latin typeface="Times New Roman" panose="02020603050405020304" pitchFamily="18" charset="0"/>
                </a:endParaRP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return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,…..,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….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dirty="0">
                            <a:latin typeface="Times New Roman" panose="020206030504050203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base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expansion of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10692A9-6F91-CD6B-79FE-044325A13A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90" y="2596126"/>
                <a:ext cx="7812741" cy="2862322"/>
              </a:xfrm>
              <a:prstGeom prst="rect">
                <a:avLst/>
              </a:prstGeom>
              <a:blipFill>
                <a:blip r:embed="rId3"/>
                <a:stretch>
                  <a:fillRect l="-648" t="-881" b="-22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74588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5FC939C-737B-980C-EF1D-FC310A0F5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1CE75BA5-2589-1404-C5E8-34C673A0B701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E7A373-E6D1-A58F-103D-48CE6040072F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1A7CED-79C9-8A18-0C19-A5D8A68EEB5B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6CE82F-A9A2-72B9-5EB8-E190045B8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EF1C35-2FF2-AF02-9A2E-622AD5F055A2}"/>
                  </a:ext>
                </a:extLst>
              </p:cNvPr>
              <p:cNvSpPr txBox="1"/>
              <p:nvPr/>
            </p:nvSpPr>
            <p:spPr>
              <a:xfrm>
                <a:off x="406808" y="1977179"/>
                <a:ext cx="8306883" cy="9605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Aptos" panose="020B0004020202020204" pitchFamily="34" charset="0"/>
                  </a:rPr>
                  <a:t>Example:</a:t>
                </a:r>
              </a:p>
              <a:p>
                <a:pPr>
                  <a:lnSpc>
                    <a:spcPct val="150000"/>
                  </a:lnSpc>
                  <a:tabLst>
                    <a:tab pos="8034338" algn="l"/>
                  </a:tabLst>
                </a:pPr>
                <a:r>
                  <a:rPr lang="en-US" sz="2400" dirty="0">
                    <a:latin typeface="Aptos" panose="020B0004020202020204" pitchFamily="34" charset="0"/>
                  </a:rPr>
                  <a:t>Find the octal expansion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12345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0EF1C35-2FF2-AF02-9A2E-622AD5F05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8" y="1977179"/>
                <a:ext cx="8306883" cy="960519"/>
              </a:xfrm>
              <a:prstGeom prst="rect">
                <a:avLst/>
              </a:prstGeom>
              <a:blipFill>
                <a:blip r:embed="rId2"/>
                <a:stretch>
                  <a:fillRect l="-1223" t="-5195" b="-12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3">
            <a:extLst>
              <a:ext uri="{FF2B5EF4-FFF2-40B4-BE49-F238E27FC236}">
                <a16:creationId xmlns:a16="http://schemas.microsoft.com/office/drawing/2014/main" id="{E7C640C3-8716-21E8-357D-DFBFEB5A11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0496" y="649478"/>
            <a:ext cx="51623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1.2: Integer Representations and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D7B005-F92D-0446-B8BA-6F932127B5B3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REPRESENTATIONS OF INTEGERS</a:t>
            </a:r>
            <a:endParaRPr lang="en-US" sz="32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D73A73-745B-BF0C-0728-BFE0CA478724}"/>
                  </a:ext>
                </a:extLst>
              </p:cNvPr>
              <p:cNvSpPr txBox="1"/>
              <p:nvPr/>
            </p:nvSpPr>
            <p:spPr>
              <a:xfrm>
                <a:off x="406809" y="2947819"/>
                <a:ext cx="4972016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Solution: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2345=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1543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 b="0" dirty="0"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Aptos" panose="020B0004020202020204" pitchFamily="34" charset="0"/>
                  </a:rPr>
                  <a:t>Successively dividing quotients by 8 gives,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543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000" b="0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192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sz="2000" b="0" dirty="0"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192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24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0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+0</m:t>
                      </m:r>
                    </m:oMath>
                  </m:oMathPara>
                </a14:m>
                <a:endParaRPr lang="en-US" sz="2000" dirty="0"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5D73A73-745B-BF0C-0728-BFE0CA478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9" y="2947819"/>
                <a:ext cx="4972016" cy="3323987"/>
              </a:xfrm>
              <a:prstGeom prst="rect">
                <a:avLst/>
              </a:prstGeom>
              <a:blipFill>
                <a:blip r:embed="rId3"/>
                <a:stretch>
                  <a:fillRect l="-1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Arrow 1">
            <a:extLst>
              <a:ext uri="{FF2B5EF4-FFF2-40B4-BE49-F238E27FC236}">
                <a16:creationId xmlns:a16="http://schemas.microsoft.com/office/drawing/2014/main" id="{3731F538-10DC-B587-262A-43038489DB7F}"/>
              </a:ext>
            </a:extLst>
          </p:cNvPr>
          <p:cNvSpPr/>
          <p:nvPr/>
        </p:nvSpPr>
        <p:spPr>
          <a:xfrm>
            <a:off x="3741675" y="4755538"/>
            <a:ext cx="1074996" cy="3899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EA8F57-BD48-E0B3-73D4-F31CCDFFA1E6}"/>
                  </a:ext>
                </a:extLst>
              </p:cNvPr>
              <p:cNvSpPr txBox="1"/>
              <p:nvPr/>
            </p:nvSpPr>
            <p:spPr>
              <a:xfrm>
                <a:off x="5022928" y="4755538"/>
                <a:ext cx="369076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12345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(30071)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EA8F57-BD48-E0B3-73D4-F31CCDFFA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928" y="4755538"/>
                <a:ext cx="3690763" cy="461665"/>
              </a:xfrm>
              <a:prstGeom prst="rect">
                <a:avLst/>
              </a:prstGeom>
              <a:blipFill>
                <a:blip r:embed="rId4"/>
                <a:stretch>
                  <a:fillRect l="-1375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E3A966F-A4C0-E18B-A0F1-473A15652894}"/>
              </a:ext>
            </a:extLst>
          </p:cNvPr>
          <p:cNvCxnSpPr>
            <a:cxnSpLocks/>
          </p:cNvCxnSpPr>
          <p:nvPr/>
        </p:nvCxnSpPr>
        <p:spPr>
          <a:xfrm flipH="1" flipV="1">
            <a:off x="7293461" y="5095924"/>
            <a:ext cx="1" cy="506197"/>
          </a:xfrm>
          <a:prstGeom prst="straightConnector1">
            <a:avLst/>
          </a:prstGeom>
          <a:ln w="38100">
            <a:headEnd type="oval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668FF22-8AE1-0CA0-5548-8C8037B7FD55}"/>
              </a:ext>
            </a:extLst>
          </p:cNvPr>
          <p:cNvSpPr txBox="1"/>
          <p:nvPr/>
        </p:nvSpPr>
        <p:spPr>
          <a:xfrm>
            <a:off x="5873232" y="5629015"/>
            <a:ext cx="2840459" cy="3385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Digit from the right to the left</a:t>
            </a:r>
          </a:p>
        </p:txBody>
      </p:sp>
    </p:spTree>
    <p:extLst>
      <p:ext uri="{BB962C8B-B14F-4D97-AF65-F5344CB8AC3E}">
        <p14:creationId xmlns:p14="http://schemas.microsoft.com/office/powerpoint/2010/main" val="2655629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5B7DB5A-7C67-5FCE-297E-D38B27A0A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2754031D-0E46-5301-6CA4-2E022E1FC02F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28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FABBA7-9572-659B-4E6F-3CA5EE72C999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257084-8BFF-DAC9-661C-322E8E156D7C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6566DD-CC9E-99E4-B9E6-97AEC24E6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9DA47C-72F2-621C-F87C-485837FE2BA5}"/>
                  </a:ext>
                </a:extLst>
              </p:cNvPr>
              <p:cNvSpPr txBox="1"/>
              <p:nvPr/>
            </p:nvSpPr>
            <p:spPr>
              <a:xfrm>
                <a:off x="406808" y="1977179"/>
                <a:ext cx="8306883" cy="9605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Aptos" panose="020B0004020202020204" pitchFamily="34" charset="0"/>
                  </a:rPr>
                  <a:t>Example:</a:t>
                </a:r>
              </a:p>
              <a:p>
                <a:pPr>
                  <a:lnSpc>
                    <a:spcPct val="150000"/>
                  </a:lnSpc>
                  <a:tabLst>
                    <a:tab pos="8034338" algn="l"/>
                  </a:tabLst>
                </a:pPr>
                <a:r>
                  <a:rPr lang="en-US" sz="2400" dirty="0">
                    <a:latin typeface="Aptos" panose="020B0004020202020204" pitchFamily="34" charset="0"/>
                  </a:rPr>
                  <a:t>Find the hexadecimal expansion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177130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9DA47C-72F2-621C-F87C-485837FE2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8" y="1977179"/>
                <a:ext cx="8306883" cy="960519"/>
              </a:xfrm>
              <a:prstGeom prst="rect">
                <a:avLst/>
              </a:prstGeom>
              <a:blipFill>
                <a:blip r:embed="rId2"/>
                <a:stretch>
                  <a:fillRect l="-1223" t="-5195" b="-12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3">
            <a:extLst>
              <a:ext uri="{FF2B5EF4-FFF2-40B4-BE49-F238E27FC236}">
                <a16:creationId xmlns:a16="http://schemas.microsoft.com/office/drawing/2014/main" id="{F53DFC11-8B40-CFBB-41BE-42A822476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0496" y="649478"/>
            <a:ext cx="51623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1.2: Integer Representations and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365751-B7AB-479A-F34A-21B7BD4CFEBE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REPRESENTATIONS OF INTEGERS</a:t>
            </a:r>
            <a:endParaRPr lang="en-US" sz="32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08FC69-BB6E-CCC4-EE04-DCB602793540}"/>
                  </a:ext>
                </a:extLst>
              </p:cNvPr>
              <p:cNvSpPr txBox="1"/>
              <p:nvPr/>
            </p:nvSpPr>
            <p:spPr>
              <a:xfrm>
                <a:off x="406809" y="2947819"/>
                <a:ext cx="4972016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Solution: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77130=16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11070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+10</m:t>
                      </m:r>
                    </m:oMath>
                  </m:oMathPara>
                </a14:m>
                <a:endParaRPr lang="en-US" sz="2000" b="0" dirty="0"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dirty="0">
                    <a:latin typeface="Aptos" panose="020B0004020202020204" pitchFamily="34" charset="0"/>
                  </a:rPr>
                  <a:t>Successively dividing quotients by 16 gives,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1070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000" b="0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691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14</m:t>
                      </m:r>
                    </m:oMath>
                  </m:oMathPara>
                </a14:m>
                <a:endParaRPr lang="en-US" sz="2000" b="0" dirty="0"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691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43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sz="2000" dirty="0"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43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0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US" sz="2000" dirty="0">
                  <a:latin typeface="Aptos" panose="020B00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16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0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C08FC69-BB6E-CCC4-EE04-DCB602793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9" y="2947819"/>
                <a:ext cx="4972016" cy="3323987"/>
              </a:xfrm>
              <a:prstGeom prst="rect">
                <a:avLst/>
              </a:prstGeom>
              <a:blipFill>
                <a:blip r:embed="rId3"/>
                <a:stretch>
                  <a:fillRect l="-1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Arrow 1">
            <a:extLst>
              <a:ext uri="{FF2B5EF4-FFF2-40B4-BE49-F238E27FC236}">
                <a16:creationId xmlns:a16="http://schemas.microsoft.com/office/drawing/2014/main" id="{2A823FBC-3D60-B7DC-2C48-9C374E9B2D4C}"/>
              </a:ext>
            </a:extLst>
          </p:cNvPr>
          <p:cNvSpPr/>
          <p:nvPr/>
        </p:nvSpPr>
        <p:spPr>
          <a:xfrm>
            <a:off x="3667265" y="5131066"/>
            <a:ext cx="1074996" cy="3899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A78665-E3B1-EB01-53C7-4002F596FE57}"/>
                  </a:ext>
                </a:extLst>
              </p:cNvPr>
              <p:cNvSpPr txBox="1"/>
              <p:nvPr/>
            </p:nvSpPr>
            <p:spPr>
              <a:xfrm>
                <a:off x="4948518" y="5131066"/>
                <a:ext cx="369076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177130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A78665-E3B1-EB01-53C7-4002F596F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8518" y="5131066"/>
                <a:ext cx="3690763" cy="461665"/>
              </a:xfrm>
              <a:prstGeom prst="rect">
                <a:avLst/>
              </a:prstGeom>
              <a:blipFill>
                <a:blip r:embed="rId4"/>
                <a:stretch>
                  <a:fillRect l="-1370" b="-13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22E97FAC-8FA6-6D0F-02C6-E8100C534A63}"/>
              </a:ext>
            </a:extLst>
          </p:cNvPr>
          <p:cNvSpPr/>
          <p:nvPr/>
        </p:nvSpPr>
        <p:spPr>
          <a:xfrm>
            <a:off x="310213" y="3429000"/>
            <a:ext cx="8306883" cy="28428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00422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3A5883D-7195-1AF9-7C5B-04782A83D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467799BC-EA33-2579-2D02-F6D31761EEB4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29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2F6E23-C170-8230-4FF3-548627A6220E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40EDE5-BCAA-0694-6DD7-2B93468D284A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8B4E33-9042-C050-6B3D-A887C11A7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A23558-49C0-5201-86E1-22B2CE51BCD7}"/>
                  </a:ext>
                </a:extLst>
              </p:cNvPr>
              <p:cNvSpPr txBox="1"/>
              <p:nvPr/>
            </p:nvSpPr>
            <p:spPr>
              <a:xfrm>
                <a:off x="406808" y="1977179"/>
                <a:ext cx="8306883" cy="9605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Aptos" panose="020B0004020202020204" pitchFamily="34" charset="0"/>
                  </a:rPr>
                  <a:t>Example:</a:t>
                </a:r>
              </a:p>
              <a:p>
                <a:pPr>
                  <a:lnSpc>
                    <a:spcPct val="150000"/>
                  </a:lnSpc>
                  <a:tabLst>
                    <a:tab pos="8034338" algn="l"/>
                  </a:tabLst>
                </a:pPr>
                <a:r>
                  <a:rPr lang="en-US" sz="2400" dirty="0">
                    <a:latin typeface="Aptos" panose="020B0004020202020204" pitchFamily="34" charset="0"/>
                  </a:rPr>
                  <a:t>Find the binary expansion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241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A23558-49C0-5201-86E1-22B2CE51B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8" y="1977179"/>
                <a:ext cx="8306883" cy="960519"/>
              </a:xfrm>
              <a:prstGeom prst="rect">
                <a:avLst/>
              </a:prstGeom>
              <a:blipFill>
                <a:blip r:embed="rId2"/>
                <a:stretch>
                  <a:fillRect l="-1223" t="-5195" b="-129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3">
            <a:extLst>
              <a:ext uri="{FF2B5EF4-FFF2-40B4-BE49-F238E27FC236}">
                <a16:creationId xmlns:a16="http://schemas.microsoft.com/office/drawing/2014/main" id="{A4AC5DB7-C707-959C-FF31-2C888BDE5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0496" y="649478"/>
            <a:ext cx="51623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1.2: Integer Representations and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23CDE6-455D-B530-A917-F43B0FDA2849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REPRESENTATIONS OF INTEGERS</a:t>
            </a:r>
            <a:endParaRPr lang="en-US" sz="32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F2B7C0-56DE-DAA6-BD3A-83DC7AC3CEAD}"/>
                  </a:ext>
                </a:extLst>
              </p:cNvPr>
              <p:cNvSpPr txBox="1"/>
              <p:nvPr/>
            </p:nvSpPr>
            <p:spPr>
              <a:xfrm>
                <a:off x="406808" y="2947819"/>
                <a:ext cx="8481697" cy="2295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400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Solution: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41=2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120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+1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sz="2400" b="0" i="1" smtClean="0">
                          <a:solidFill>
                            <a:srgbClr val="3333FF"/>
                          </a:solidFill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; </m:t>
                      </m:r>
                    </m:oMath>
                  </m:oMathPara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0;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sz="24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; </m:t>
                      </m:r>
                    </m:oMath>
                  </m:oMathPara>
                </a14:m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smtClean="0">
                          <a:solidFill>
                            <a:srgbClr val="FF4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sz="2400" b="0" i="1" smtClean="0">
                          <a:solidFill>
                            <a:srgbClr val="FF4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400" b="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4F2B7C0-56DE-DAA6-BD3A-83DC7AC3C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8" y="2947819"/>
                <a:ext cx="8481697" cy="2295565"/>
              </a:xfrm>
              <a:prstGeom prst="rect">
                <a:avLst/>
              </a:prstGeom>
              <a:blipFill>
                <a:blip r:embed="rId3"/>
                <a:stretch>
                  <a:fillRect l="-1198" b="-16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A87069-F50C-D377-89A2-B81723209D71}"/>
                  </a:ext>
                </a:extLst>
              </p:cNvPr>
              <p:cNvSpPr txBox="1"/>
              <p:nvPr/>
            </p:nvSpPr>
            <p:spPr>
              <a:xfrm>
                <a:off x="406808" y="5399766"/>
                <a:ext cx="369076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.: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241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(1111 0001)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A87069-F50C-D377-89A2-B81723209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08" y="5399766"/>
                <a:ext cx="3690763" cy="461665"/>
              </a:xfrm>
              <a:prstGeom prst="rect">
                <a:avLst/>
              </a:prstGeom>
              <a:blipFill>
                <a:blip r:embed="rId4"/>
                <a:stretch>
                  <a:fillRect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>
            <a:extLst>
              <a:ext uri="{FF2B5EF4-FFF2-40B4-BE49-F238E27FC236}">
                <a16:creationId xmlns:a16="http://schemas.microsoft.com/office/drawing/2014/main" id="{D5E2161E-E4D9-033A-41FF-E77AD46154E1}"/>
              </a:ext>
            </a:extLst>
          </p:cNvPr>
          <p:cNvSpPr/>
          <p:nvPr/>
        </p:nvSpPr>
        <p:spPr>
          <a:xfrm>
            <a:off x="310213" y="3162057"/>
            <a:ext cx="8306883" cy="28428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097136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A5C1E8E-AFFD-AA00-BAE9-5BF8E7033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9AD8CCBF-FFDA-CEA5-F90E-03CFFB360B7A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30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C8A4DF-365D-10B4-C1A3-A75F19FF114E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28E10E-FE0F-BD78-01D6-7A2BC03A4D5D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35EC09-C82F-C101-30A0-B525CADAB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6839FB-19C8-500B-8A9C-7E7F238A1D7B}"/>
              </a:ext>
            </a:extLst>
          </p:cNvPr>
          <p:cNvSpPr txBox="1"/>
          <p:nvPr/>
        </p:nvSpPr>
        <p:spPr>
          <a:xfrm>
            <a:off x="72071" y="1822080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PRIMES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DF9670A-5360-6641-22A4-698183651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962" y="1029701"/>
            <a:ext cx="81397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32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7B7DDB-8CA4-5CCF-6995-31A742561FC8}"/>
                  </a:ext>
                </a:extLst>
              </p:cNvPr>
              <p:cNvSpPr txBox="1"/>
              <p:nvPr/>
            </p:nvSpPr>
            <p:spPr>
              <a:xfrm>
                <a:off x="345541" y="2565709"/>
                <a:ext cx="8374389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Definition 1: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An integer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greater than 1 is called </a:t>
                </a:r>
                <a:r>
                  <a:rPr lang="en-US" sz="2400" b="1" dirty="0">
                    <a:latin typeface="Aptos" panose="020B0004020202020204" pitchFamily="34" charset="0"/>
                  </a:rPr>
                  <a:t>prime</a:t>
                </a:r>
                <a:r>
                  <a:rPr lang="en-US" sz="2400" dirty="0">
                    <a:latin typeface="Aptos" panose="020B0004020202020204" pitchFamily="34" charset="0"/>
                  </a:rPr>
                  <a:t> if the only positive factors of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are 1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A positive integer that is greater than 1 and is not prime is called </a:t>
                </a:r>
                <a:r>
                  <a:rPr lang="en-US" sz="2400" b="1" dirty="0">
                    <a:latin typeface="Aptos" panose="020B0004020202020204" pitchFamily="34" charset="0"/>
                  </a:rPr>
                  <a:t>composite</a:t>
                </a:r>
                <a:r>
                  <a:rPr lang="en-US" sz="2400" dirty="0">
                    <a:latin typeface="Aptos" panose="020B0004020202020204" pitchFamily="34" charset="0"/>
                  </a:rPr>
                  <a:t>.  </a:t>
                </a:r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7B7DDB-8CA4-5CCF-6995-31A742561F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541" y="2565709"/>
                <a:ext cx="8374389" cy="1569660"/>
              </a:xfrm>
              <a:prstGeom prst="rect">
                <a:avLst/>
              </a:prstGeom>
              <a:blipFill>
                <a:blip r:embed="rId2"/>
                <a:stretch>
                  <a:fillRect l="-1212" t="-3226" r="-606" b="-8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C2339D12-E9BB-5574-E17A-A0423C102934}"/>
              </a:ext>
            </a:extLst>
          </p:cNvPr>
          <p:cNvSpPr txBox="1"/>
          <p:nvPr/>
        </p:nvSpPr>
        <p:spPr>
          <a:xfrm>
            <a:off x="345540" y="4387260"/>
            <a:ext cx="82153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Example:</a:t>
            </a:r>
          </a:p>
          <a:p>
            <a:r>
              <a:rPr lang="en-US" sz="2400" dirty="0">
                <a:latin typeface="Aptos" panose="020B0004020202020204" pitchFamily="34" charset="0"/>
              </a:rPr>
              <a:t>Prime =&gt; 2, 3, 5, 7,….</a:t>
            </a:r>
          </a:p>
          <a:p>
            <a:r>
              <a:rPr lang="en-US" sz="2400" dirty="0">
                <a:latin typeface="Aptos" panose="020B0004020202020204" pitchFamily="34" charset="0"/>
              </a:rPr>
              <a:t>Composite =&gt; 4, 6, 8, 9,……</a:t>
            </a:r>
          </a:p>
        </p:txBody>
      </p:sp>
    </p:spTree>
    <p:extLst>
      <p:ext uri="{BB962C8B-B14F-4D97-AF65-F5344CB8AC3E}">
        <p14:creationId xmlns:p14="http://schemas.microsoft.com/office/powerpoint/2010/main" val="332695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63ADE0F-0735-A5DE-9D9B-9AAD73D9C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C2292586-42FD-8B37-246C-70C13F2150F9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31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8B98F-DC8F-1707-836D-2CF019313DFB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8B12EB-2A4D-0DBF-C456-11310041FDFC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04E104-BD57-2F5C-2ED0-76CD00B8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79CDA48-850E-2B24-2A22-9EADC3D56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111" y="649478"/>
            <a:ext cx="5181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C239D-6B13-019A-3CC2-352E353FAD20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PRIMES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C32083-FCC9-8DE3-727B-E055FD36F4FB}"/>
              </a:ext>
            </a:extLst>
          </p:cNvPr>
          <p:cNvSpPr txBox="1"/>
          <p:nvPr/>
        </p:nvSpPr>
        <p:spPr>
          <a:xfrm>
            <a:off x="425371" y="1814242"/>
            <a:ext cx="82282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3333FF"/>
                </a:solidFill>
                <a:latin typeface="Aptos" panose="020B0004020202020204" pitchFamily="34" charset="0"/>
              </a:rPr>
              <a:t>Theorem 1:</a:t>
            </a:r>
          </a:p>
          <a:p>
            <a:r>
              <a:rPr lang="en-US" sz="2400" dirty="0">
                <a:latin typeface="Aptos" panose="020B0004020202020204" pitchFamily="34" charset="0"/>
              </a:rPr>
              <a:t>Every integer greater than 1 can be written uniquely as a prime or as the product of two or more primes where the prime factors are written in order of nondecreasing size.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850B70-2955-B0E7-763E-C284FDE653B6}"/>
                  </a:ext>
                </a:extLst>
              </p:cNvPr>
              <p:cNvSpPr txBox="1"/>
              <p:nvPr/>
            </p:nvSpPr>
            <p:spPr>
              <a:xfrm>
                <a:off x="464318" y="3885572"/>
                <a:ext cx="8215363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Aptos" panose="020B0004020202020204" pitchFamily="34" charset="0"/>
                  </a:rPr>
                  <a:t>Example: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The prime factorizations of 100, 999 and 1024 are given by,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100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2∙5∙5=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>
                  <a:latin typeface="Aptos" panose="020B00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99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37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37</m:t>
                      </m:r>
                    </m:oMath>
                  </m:oMathPara>
                </a14:m>
                <a:endParaRPr lang="en-US" sz="2400" b="0" dirty="0"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sup>
                      </m:sSup>
                    </m:oMath>
                  </m:oMathPara>
                </a14:m>
                <a:endParaRPr lang="en-US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850B70-2955-B0E7-763E-C284FDE65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18" y="3885572"/>
                <a:ext cx="8215363" cy="1938992"/>
              </a:xfrm>
              <a:prstGeom prst="rect">
                <a:avLst/>
              </a:prstGeom>
              <a:blipFill>
                <a:blip r:embed="rId2"/>
                <a:stretch>
                  <a:fillRect l="-1235" t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354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73F3461-79DF-2173-9579-B92F3F17A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EF777EB3-CC31-48D0-1559-C2833B81C40A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32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62DC84-7243-E210-3C11-961162384168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E7E14C-CAF2-C5CD-099C-5014A3A1665D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900731-C941-78BB-57F8-25805714E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89EB2A7-AC83-7A4E-A638-6823061FF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111" y="649478"/>
            <a:ext cx="5181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117652-7D03-A49D-D39D-D8D11DBB8A54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TRIAL DIVISION</a:t>
            </a:r>
            <a:endParaRPr lang="en-US" sz="32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E04EE44-E9F9-372D-BA57-073561BA65FC}"/>
                  </a:ext>
                </a:extLst>
              </p:cNvPr>
              <p:cNvSpPr txBox="1"/>
              <p:nvPr/>
            </p:nvSpPr>
            <p:spPr>
              <a:xfrm>
                <a:off x="457850" y="2181757"/>
                <a:ext cx="8228299" cy="12522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Theorem 2: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is a composite integer, 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has a prime divisor less than or equal 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endParaRPr lang="en-US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E04EE44-E9F9-372D-BA57-073561BA6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850" y="2181757"/>
                <a:ext cx="8228299" cy="1252266"/>
              </a:xfrm>
              <a:prstGeom prst="rect">
                <a:avLst/>
              </a:prstGeom>
              <a:blipFill>
                <a:blip r:embed="rId2"/>
                <a:stretch>
                  <a:fillRect l="-1235" t="-3000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073F039-8DE4-7C22-D404-0A5252093C7D}"/>
              </a:ext>
            </a:extLst>
          </p:cNvPr>
          <p:cNvSpPr txBox="1"/>
          <p:nvPr/>
        </p:nvSpPr>
        <p:spPr>
          <a:xfrm>
            <a:off x="422166" y="3952413"/>
            <a:ext cx="82282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3333FF"/>
                </a:solidFill>
                <a:latin typeface="Aptos" panose="020B0004020202020204" pitchFamily="34" charset="0"/>
              </a:rPr>
              <a:t>Theorem 3:</a:t>
            </a:r>
          </a:p>
          <a:p>
            <a:r>
              <a:rPr lang="en-US" sz="2400" dirty="0">
                <a:latin typeface="Aptos" panose="020B0004020202020204" pitchFamily="34" charset="0"/>
              </a:rPr>
              <a:t>There are infinitely many prime. </a:t>
            </a:r>
          </a:p>
        </p:txBody>
      </p:sp>
    </p:spTree>
    <p:extLst>
      <p:ext uri="{BB962C8B-B14F-4D97-AF65-F5344CB8AC3E}">
        <p14:creationId xmlns:p14="http://schemas.microsoft.com/office/powerpoint/2010/main" val="262784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52D7D4E-BDC8-3562-53B6-ED01397CF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CA42C608-F29A-DAE9-6D9A-77F0ADF04BAE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33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5BAACE-E146-F24E-D0C2-29F967E79A5F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9D8F4A-AE60-B089-8F8E-396A9289A8EA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9D280-C6A0-02C8-37DE-A0F4945DE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E146DF7-08EF-865D-DEE1-B24950401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111" y="649478"/>
            <a:ext cx="5181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892694-6243-6616-8A7D-C56596CEEF7D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TRIAL DIVISION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3E3798-7457-0E54-0C0B-330C74464E73}"/>
              </a:ext>
            </a:extLst>
          </p:cNvPr>
          <p:cNvSpPr txBox="1"/>
          <p:nvPr/>
        </p:nvSpPr>
        <p:spPr>
          <a:xfrm>
            <a:off x="464317" y="2228687"/>
            <a:ext cx="82153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Example:</a:t>
            </a:r>
          </a:p>
          <a:p>
            <a:r>
              <a:rPr lang="en-US" sz="2400" dirty="0">
                <a:latin typeface="Aptos" panose="020B0004020202020204" pitchFamily="34" charset="0"/>
              </a:rPr>
              <a:t>Show that 101 is prime.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890E73-C135-88CA-08F1-78884F9B3F2F}"/>
                  </a:ext>
                </a:extLst>
              </p:cNvPr>
              <p:cNvSpPr txBox="1"/>
              <p:nvPr/>
            </p:nvSpPr>
            <p:spPr>
              <a:xfrm>
                <a:off x="464316" y="3551159"/>
                <a:ext cx="8215363" cy="12351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FF40FF"/>
                    </a:solidFill>
                    <a:latin typeface="Aptos" panose="020B0004020202020204" pitchFamily="34" charset="0"/>
                  </a:rPr>
                  <a:t>Solution: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The only primes not exceeding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101</m:t>
                        </m:r>
                      </m:e>
                    </m:ra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are 2, 3, 5, 7. Because 101 is not divisible by 2, 3, 5, or 7, it follows that 101 is prime.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890E73-C135-88CA-08F1-78884F9B3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16" y="3551159"/>
                <a:ext cx="8215363" cy="1235146"/>
              </a:xfrm>
              <a:prstGeom prst="rect">
                <a:avLst/>
              </a:prstGeom>
              <a:blipFill>
                <a:blip r:embed="rId2"/>
                <a:stretch>
                  <a:fillRect l="-1235" t="-4082" r="-772" b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039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33636BC-057B-8D94-3E72-DE889B297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699107F5-780C-88CD-3BC4-F20A502ECD67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34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3353CA-EBC8-568B-8827-D4A984DA9C30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D8E735-533F-96AD-607D-AA3E73C5F780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90D9B-EF0D-9C79-D764-19DD105B7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68142481-3A1D-B89B-BB41-0184311ED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111" y="649478"/>
            <a:ext cx="5181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D0AD2C-AB6A-DF65-FD82-0D9B7E4FFD0A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TRIAL DIVISION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199BE4-3B04-8831-F478-06F55ABFA1AB}"/>
              </a:ext>
            </a:extLst>
          </p:cNvPr>
          <p:cNvSpPr txBox="1"/>
          <p:nvPr/>
        </p:nvSpPr>
        <p:spPr>
          <a:xfrm>
            <a:off x="495275" y="1912379"/>
            <a:ext cx="82153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Example:</a:t>
            </a:r>
          </a:p>
          <a:p>
            <a:r>
              <a:rPr lang="en-US" sz="2400" dirty="0">
                <a:latin typeface="Aptos" panose="020B0004020202020204" pitchFamily="34" charset="0"/>
              </a:rPr>
              <a:t>Find the prime factorization of 7007.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3142AB-E7DE-7F8A-58D4-E1AFE73129A8}"/>
                  </a:ext>
                </a:extLst>
              </p:cNvPr>
              <p:cNvSpPr txBox="1"/>
              <p:nvPr/>
            </p:nvSpPr>
            <p:spPr>
              <a:xfrm>
                <a:off x="495275" y="2991660"/>
                <a:ext cx="8215363" cy="32444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rgbClr val="FF40FF"/>
                    </a:solidFill>
                    <a:latin typeface="Aptos" panose="020B0004020202020204" pitchFamily="34" charset="0"/>
                  </a:rPr>
                  <a:t>Solution:</a:t>
                </a:r>
              </a:p>
              <a:p>
                <a:pPr marL="457200" indent="-457200">
                  <a:buAutoNum type="arabicParenR"/>
                </a:pPr>
                <a:r>
                  <a:rPr lang="en-US" sz="2000" dirty="0">
                    <a:latin typeface="Aptos" panose="020B0004020202020204" pitchFamily="34" charset="0"/>
                  </a:rPr>
                  <a:t>Perform divisions of 7007 by successive primes, beginning with 2:</a:t>
                </a: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       .: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7007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=1001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 </a:t>
                </a: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      (note: none of the prime 2, 3, and 5 divides 7007)</a:t>
                </a: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2) Next, divide 1001 by successive primes, beginning with 7.</a:t>
                </a: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       .: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1001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143</m:t>
                    </m:r>
                  </m:oMath>
                </a14:m>
                <a:endParaRPr lang="en-US" sz="2000" dirty="0">
                  <a:latin typeface="Aptos" panose="020B0004020202020204" pitchFamily="34" charset="0"/>
                </a:endParaRP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3) Continue dividing 143 by successive primes, beginning with 7.</a:t>
                </a: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      .: .: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143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r>
                  <a:rPr lang="en-US" sz="2000" dirty="0">
                    <a:latin typeface="Aptos" panose="020B0004020202020204" pitchFamily="34" charset="0"/>
                  </a:rPr>
                  <a:t> (note: prime 7 doesn’t work)</a:t>
                </a: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4) Stop because 13 is prime. Thus, the prime factorization of 7007 is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00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11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13=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∙11∙13</m:t>
                      </m:r>
                    </m:oMath>
                  </m:oMathPara>
                </a14:m>
                <a:endParaRPr lang="en-US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D3142AB-E7DE-7F8A-58D4-E1AFE7312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275" y="2991660"/>
                <a:ext cx="8215363" cy="3244414"/>
              </a:xfrm>
              <a:prstGeom prst="rect">
                <a:avLst/>
              </a:prstGeom>
              <a:blipFill>
                <a:blip r:embed="rId2"/>
                <a:stretch>
                  <a:fillRect l="-617" t="-1167" b="-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2604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50DC912-FB07-76A5-4E62-C838A304E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BCC58958-1E66-1D81-95D6-2D6B5C4B43CA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35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6AAB9-357E-06B4-B68B-6463B3219136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7120A-0726-E219-D2C9-77A995453895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08CBA2-618E-0273-FDFC-F031524B3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1692ADB-7750-B507-74D0-2DC5979B3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111" y="649478"/>
            <a:ext cx="5181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62C71A-C9B9-F507-CA0C-49BE1F33AC1A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Aptos" panose="020B0004020202020204" pitchFamily="34" charset="0"/>
              </a:rPr>
              <a:t>EXERCISE</a:t>
            </a:r>
            <a:endParaRPr lang="en-US" sz="3200" dirty="0">
              <a:solidFill>
                <a:srgbClr val="7030A0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5D8532-1F39-5739-D6D9-D20F5CDDE1A9}"/>
              </a:ext>
            </a:extLst>
          </p:cNvPr>
          <p:cNvSpPr txBox="1"/>
          <p:nvPr/>
        </p:nvSpPr>
        <p:spPr>
          <a:xfrm>
            <a:off x="464318" y="1935215"/>
            <a:ext cx="821536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Aptos" panose="020B0004020202020204" pitchFamily="34" charset="0"/>
              </a:rPr>
              <a:t>Find the prime factorizations for the followings: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Aptos" panose="020B0004020202020204" pitchFamily="34" charset="0"/>
              </a:rPr>
              <a:t>15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Aptos" panose="020B0004020202020204" pitchFamily="34" charset="0"/>
              </a:rPr>
              <a:t>48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Aptos" panose="020B0004020202020204" pitchFamily="34" charset="0"/>
              </a:rPr>
              <a:t>512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Aptos" panose="020B0004020202020204" pitchFamily="34" charset="0"/>
              </a:rPr>
              <a:t>515</a:t>
            </a:r>
          </a:p>
        </p:txBody>
      </p:sp>
    </p:spTree>
    <p:extLst>
      <p:ext uri="{BB962C8B-B14F-4D97-AF65-F5344CB8AC3E}">
        <p14:creationId xmlns:p14="http://schemas.microsoft.com/office/powerpoint/2010/main" val="18182761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7DB01D62-149E-686E-FD57-15EDD8D0C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833E6D32-3210-9A76-E9FD-7ADFDB61F0D2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36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372C8F-855C-4702-AB39-0D24C27C999C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CBFE0-B15A-F394-7916-0EC456B3C259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5FC688-752E-4B24-CAD0-0E1D83549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A7DD57C-3996-A4F0-1D84-48FCE7A5B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111" y="649478"/>
            <a:ext cx="5181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3C5F68-CAD8-898B-C4A6-6DED4299609D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PRIMES</a:t>
            </a:r>
            <a:endParaRPr lang="en-US" sz="32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DB84020-414C-961B-6237-4916CAAC03FE}"/>
                  </a:ext>
                </a:extLst>
              </p:cNvPr>
              <p:cNvSpPr txBox="1"/>
              <p:nvPr/>
            </p:nvSpPr>
            <p:spPr>
              <a:xfrm>
                <a:off x="464318" y="1935215"/>
                <a:ext cx="8215363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7030A0"/>
                    </a:solidFill>
                    <a:latin typeface="Aptos" panose="020B0004020202020204" pitchFamily="34" charset="0"/>
                  </a:rPr>
                  <a:t>Exercise: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Find the prime factorizations for the followings:</a:t>
                </a:r>
              </a:p>
              <a:p>
                <a:pPr marL="457200" indent="-457200">
                  <a:buFontTx/>
                  <a:buAutoNum type="alphaLcParenR"/>
                </a:pPr>
                <a:r>
                  <a:rPr lang="en-US" sz="2400" dirty="0">
                    <a:latin typeface="Aptos" panose="020B0004020202020204" pitchFamily="34" charset="0"/>
                  </a:rPr>
                  <a:t>15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∙5</m:t>
                    </m:r>
                  </m:oMath>
                </a14:m>
                <a:endParaRPr lang="en-US" sz="2400" dirty="0">
                  <a:latin typeface="Aptos" panose="020B0004020202020204" pitchFamily="34" charset="0"/>
                </a:endParaRPr>
              </a:p>
              <a:p>
                <a:pPr marL="457200" indent="-457200">
                  <a:buAutoNum type="alphaLcParenR"/>
                </a:pPr>
                <a:r>
                  <a:rPr lang="en-US" sz="2400" dirty="0">
                    <a:latin typeface="Aptos" panose="020B0004020202020204" pitchFamily="34" charset="0"/>
                  </a:rPr>
                  <a:t>48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∙3</m:t>
                    </m:r>
                  </m:oMath>
                </a14:m>
                <a:endParaRPr lang="en-US" sz="2400" dirty="0">
                  <a:latin typeface="Aptos" panose="020B0004020202020204" pitchFamily="34" charset="0"/>
                </a:endParaRPr>
              </a:p>
              <a:p>
                <a:pPr marL="457200" indent="-457200">
                  <a:buAutoNum type="alphaLcParenR"/>
                </a:pPr>
                <a:r>
                  <a:rPr lang="en-US" sz="2400" dirty="0">
                    <a:latin typeface="Aptos" panose="020B0004020202020204" pitchFamily="34" charset="0"/>
                  </a:rPr>
                  <a:t>512</a:t>
                </a:r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endParaRPr lang="en-US" sz="2400" dirty="0">
                  <a:latin typeface="Aptos" panose="020B0004020202020204" pitchFamily="34" charset="0"/>
                </a:endParaRPr>
              </a:p>
              <a:p>
                <a:pPr marL="457200" indent="-457200">
                  <a:buAutoNum type="alphaLcParenR"/>
                </a:pPr>
                <a:r>
                  <a:rPr lang="en-US" sz="2400" dirty="0">
                    <a:latin typeface="Aptos" panose="020B0004020202020204" pitchFamily="34" charset="0"/>
                  </a:rPr>
                  <a:t>515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103</m:t>
                    </m:r>
                  </m:oMath>
                </a14:m>
                <a:endParaRPr lang="en-US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DB84020-414C-961B-6237-4916CAAC0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18" y="1935215"/>
                <a:ext cx="8215363" cy="2308324"/>
              </a:xfrm>
              <a:prstGeom prst="rect">
                <a:avLst/>
              </a:prstGeom>
              <a:blipFill>
                <a:blip r:embed="rId2"/>
                <a:stretch>
                  <a:fillRect l="-1235" t="-2186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9035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7350161-B8E0-4582-019F-A6BEBF5C7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9A5FD548-74A4-BB6D-5E51-1951F2BEA5E3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37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37F172-D72E-027E-227B-47D2F1C12A31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DC3386-5236-EC61-EF7C-0B8FB5435942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9D5012-4B99-B0FC-E920-3C90F1E49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175972B-D650-1120-DF11-B367BB00C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111" y="649478"/>
            <a:ext cx="5181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62E3EC-636A-8D10-A362-27D8A978D1EF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GREATEST COMMON DIVISORS</a:t>
            </a:r>
            <a:endParaRPr lang="en-US" sz="32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2B420C-8DB8-450B-6F41-F45CA8DF1A5F}"/>
                  </a:ext>
                </a:extLst>
              </p:cNvPr>
              <p:cNvSpPr txBox="1"/>
              <p:nvPr/>
            </p:nvSpPr>
            <p:spPr>
              <a:xfrm>
                <a:off x="415763" y="2606734"/>
                <a:ext cx="8374389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Definition 2: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be integers, not both zero. The largest integer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such that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|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is called the greatest common divisor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0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denoted by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𝐠𝐜𝐝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2B420C-8DB8-450B-6F41-F45CA8DF1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63" y="2606734"/>
                <a:ext cx="8374389" cy="1569660"/>
              </a:xfrm>
              <a:prstGeom prst="rect">
                <a:avLst/>
              </a:prstGeom>
              <a:blipFill>
                <a:blip r:embed="rId2"/>
                <a:stretch>
                  <a:fillRect l="-1210" t="-3226" r="-908" b="-33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73173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1A73895-6710-552B-A411-4157F7D79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2BB13F0C-14F3-99C1-9A14-DA7984195A1C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38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5135E-A72A-4D62-384E-633DFD92193A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99A17F-29AE-A7B5-389F-2AF5F5D60786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035619-5A03-5D7E-ACAE-6618B8E7C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F0A88B3-95D7-FAC3-C8EB-DF99A0558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111" y="649478"/>
            <a:ext cx="5181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D43D84-9AD5-165C-07C4-CA9D214D60CC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GREATEST COMMON DIVISORS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4ABDC3-A661-9B37-646B-763F5BEA4D30}"/>
              </a:ext>
            </a:extLst>
          </p:cNvPr>
          <p:cNvSpPr txBox="1"/>
          <p:nvPr/>
        </p:nvSpPr>
        <p:spPr>
          <a:xfrm>
            <a:off x="495275" y="2242991"/>
            <a:ext cx="82153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Example:</a:t>
            </a:r>
          </a:p>
          <a:p>
            <a:r>
              <a:rPr lang="en-US" sz="2400" dirty="0">
                <a:latin typeface="Aptos" panose="020B0004020202020204" pitchFamily="34" charset="0"/>
              </a:rPr>
              <a:t>What is the greatest common divisor of 24 and 36?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6D9189-5896-6EF5-B324-40D8A5C97059}"/>
              </a:ext>
            </a:extLst>
          </p:cNvPr>
          <p:cNvSpPr txBox="1"/>
          <p:nvPr/>
        </p:nvSpPr>
        <p:spPr>
          <a:xfrm>
            <a:off x="495275" y="3324450"/>
            <a:ext cx="78800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40FF"/>
                </a:solidFill>
                <a:latin typeface="Aptos" panose="020B0004020202020204" pitchFamily="34" charset="0"/>
              </a:rPr>
              <a:t>Solution:</a:t>
            </a:r>
          </a:p>
          <a:p>
            <a:endParaRPr lang="en-US" sz="2400" i="1" dirty="0">
              <a:solidFill>
                <a:srgbClr val="FF40FF"/>
              </a:solidFill>
              <a:latin typeface="Aptos" panose="020B0004020202020204" pitchFamily="34" charset="0"/>
            </a:endParaRPr>
          </a:p>
          <a:p>
            <a:r>
              <a:rPr lang="en-US" sz="2400" dirty="0">
                <a:latin typeface="Aptos" panose="020B0004020202020204" pitchFamily="34" charset="0"/>
              </a:rPr>
              <a:t>The positive common divisors of 24 &amp; 36 are 1, 2, 3, 4, 6 and 12. Hence, </a:t>
            </a:r>
            <a:r>
              <a:rPr lang="en-US" sz="2400" dirty="0" err="1">
                <a:latin typeface="Aptos" panose="020B0004020202020204" pitchFamily="34" charset="0"/>
              </a:rPr>
              <a:t>gcd</a:t>
            </a:r>
            <a:r>
              <a:rPr lang="en-US" sz="2400" dirty="0">
                <a:latin typeface="Aptos" panose="020B0004020202020204" pitchFamily="34" charset="0"/>
              </a:rPr>
              <a:t>(24,36) = 12.</a:t>
            </a:r>
          </a:p>
        </p:txBody>
      </p:sp>
    </p:spTree>
    <p:extLst>
      <p:ext uri="{BB962C8B-B14F-4D97-AF65-F5344CB8AC3E}">
        <p14:creationId xmlns:p14="http://schemas.microsoft.com/office/powerpoint/2010/main" val="3704508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D3E21F4-56D5-DA16-E931-E123E1CB2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322E1A9C-A36F-DF7B-477E-8E84DF97CB2C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39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8C02DC-2F4F-E96E-F293-B41F31DD41CA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07DBCE-2C08-BA99-E719-B13921394123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D46F17-A7B8-9AEC-F1BD-869C57879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4FB0C13-ECAC-D899-53EA-20A00D645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111" y="649478"/>
            <a:ext cx="5181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45EC4C-2324-5ADB-3BCA-80BDB648B1C6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GREATEST COMMON DIVISORS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C4CDBA-84A2-5AFD-7CC9-763F322F710A}"/>
              </a:ext>
            </a:extLst>
          </p:cNvPr>
          <p:cNvSpPr txBox="1"/>
          <p:nvPr/>
        </p:nvSpPr>
        <p:spPr>
          <a:xfrm>
            <a:off x="495275" y="2242991"/>
            <a:ext cx="82153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Example:</a:t>
            </a:r>
          </a:p>
          <a:p>
            <a:r>
              <a:rPr lang="en-US" sz="2400" dirty="0">
                <a:latin typeface="Aptos" panose="020B0004020202020204" pitchFamily="34" charset="0"/>
              </a:rPr>
              <a:t>What is the greatest common divisor of 17 and 22?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44A7B9-01A4-6A9F-CF6C-7F95CE07B17F}"/>
              </a:ext>
            </a:extLst>
          </p:cNvPr>
          <p:cNvSpPr txBox="1"/>
          <p:nvPr/>
        </p:nvSpPr>
        <p:spPr>
          <a:xfrm>
            <a:off x="495275" y="3324450"/>
            <a:ext cx="78800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40FF"/>
                </a:solidFill>
                <a:latin typeface="Aptos" panose="020B0004020202020204" pitchFamily="34" charset="0"/>
              </a:rPr>
              <a:t>Solution:</a:t>
            </a:r>
          </a:p>
          <a:p>
            <a:endParaRPr lang="en-US" sz="2400" i="1" dirty="0">
              <a:solidFill>
                <a:srgbClr val="FF40FF"/>
              </a:solidFill>
              <a:latin typeface="Aptos" panose="020B0004020202020204" pitchFamily="34" charset="0"/>
            </a:endParaRPr>
          </a:p>
          <a:p>
            <a:r>
              <a:rPr lang="en-US" sz="2400" dirty="0">
                <a:latin typeface="Aptos" panose="020B0004020202020204" pitchFamily="34" charset="0"/>
              </a:rPr>
              <a:t>The integer 17 and 22 have no positive common divisors other than 1. So, </a:t>
            </a:r>
            <a:r>
              <a:rPr lang="en-US" sz="2400" dirty="0" err="1">
                <a:latin typeface="Aptos" panose="020B0004020202020204" pitchFamily="34" charset="0"/>
              </a:rPr>
              <a:t>gcd</a:t>
            </a:r>
            <a:r>
              <a:rPr lang="en-US" sz="2400" dirty="0">
                <a:latin typeface="Aptos" panose="020B0004020202020204" pitchFamily="34" charset="0"/>
              </a:rPr>
              <a:t>(17,22) = 1.</a:t>
            </a:r>
          </a:p>
        </p:txBody>
      </p:sp>
    </p:spTree>
    <p:extLst>
      <p:ext uri="{BB962C8B-B14F-4D97-AF65-F5344CB8AC3E}">
        <p14:creationId xmlns:p14="http://schemas.microsoft.com/office/powerpoint/2010/main" val="347623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3AF1224-A7A7-EAC7-CCE8-2FE808E6E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6A6A8C37-CBD5-5AF1-67ED-E6AC4272D5A7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40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F574A9-8E1A-A649-B4E3-568214943766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3B43E0-F184-1C49-6B46-D364D355DD0F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FE8321-D089-376A-5663-F5B9C00C4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50030A1-3736-FE97-393B-83E92798D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111" y="649478"/>
            <a:ext cx="5181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9557E1-C73E-4C80-0F06-382833306731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GCD &amp; LEAST COMMON MULTIPLES</a:t>
            </a:r>
            <a:endParaRPr lang="en-US" sz="32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73FBFB-EEDC-3BAE-6F0C-E10718B8EDDD}"/>
                  </a:ext>
                </a:extLst>
              </p:cNvPr>
              <p:cNvSpPr txBox="1"/>
              <p:nvPr/>
            </p:nvSpPr>
            <p:spPr>
              <a:xfrm>
                <a:off x="415763" y="2606734"/>
                <a:ext cx="8374389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Definition 3: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𝑙𝑒𝑎𝑠𝑡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𝑐𝑜𝑚𝑚𝑜𝑛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𝑚𝑢𝑙𝑡𝑖𝑝𝑙𝑒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of the positive integers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is the smallest positive integer that is divisible by both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. The least common multiple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is denoted by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pitchFamily="18" charset="0"/>
                      </a:rPr>
                      <m:t>𝐥𝐜𝐦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73FBFB-EEDC-3BAE-6F0C-E10718B8E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63" y="2606734"/>
                <a:ext cx="8374389" cy="1569660"/>
              </a:xfrm>
              <a:prstGeom prst="rect">
                <a:avLst/>
              </a:prstGeom>
              <a:blipFill>
                <a:blip r:embed="rId3"/>
                <a:stretch>
                  <a:fillRect l="-1210" t="-3226" b="-8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B0D7A0-B7AF-B9B4-1155-4C847C5A8EE9}"/>
                  </a:ext>
                </a:extLst>
              </p:cNvPr>
              <p:cNvSpPr txBox="1"/>
              <p:nvPr/>
            </p:nvSpPr>
            <p:spPr>
              <a:xfrm>
                <a:off x="415763" y="4739097"/>
                <a:ext cx="822829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3333FF"/>
                    </a:solidFill>
                    <a:latin typeface="Aptos" panose="020B0004020202020204" pitchFamily="34" charset="0"/>
                  </a:rPr>
                  <a:t>Theorem 4: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Aptos" panose="020B0004020202020204" pitchFamily="34" charset="0"/>
                  </a:rPr>
                  <a:t>be positive integer. Then, 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gcd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lcm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B0D7A0-B7AF-B9B4-1155-4C847C5A8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63" y="4739097"/>
                <a:ext cx="8228299" cy="1200329"/>
              </a:xfrm>
              <a:prstGeom prst="rect">
                <a:avLst/>
              </a:prstGeom>
              <a:blipFill>
                <a:blip r:embed="rId4"/>
                <a:stretch>
                  <a:fillRect l="-1233" t="-3125" b="-5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947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4012C39-8B76-7B48-4D9D-F40E26F37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EF42AAF0-4B5E-6AA1-819D-92BAECBB81CC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41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7B311C-B865-8DFB-C5E3-BE26E0A84614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69C999-E6E9-F44D-ADAA-E65E710F6153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A6945D-E54A-4561-CF2C-7998EDB23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232EF44-9ACE-8E5D-F27B-BB0951ACA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111" y="649478"/>
            <a:ext cx="5181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3306C3-10B5-739B-4C17-DF05B9C287F1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GCD &amp; LEAST COMMON MULTIPLES</a:t>
            </a:r>
            <a:endParaRPr lang="en-US" sz="32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5965A3C-CB1F-1B94-D181-2CFBC3EF96A0}"/>
                  </a:ext>
                </a:extLst>
              </p:cNvPr>
              <p:cNvSpPr txBox="1"/>
              <p:nvPr/>
            </p:nvSpPr>
            <p:spPr>
              <a:xfrm>
                <a:off x="495275" y="2242991"/>
                <a:ext cx="8215363" cy="8626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FF0000"/>
                    </a:solidFill>
                    <a:latin typeface="Aptos" panose="020B0004020202020204" pitchFamily="34" charset="0"/>
                  </a:rPr>
                  <a:t>Example:</a:t>
                </a:r>
              </a:p>
              <a:p>
                <a:r>
                  <a:rPr lang="en-US" sz="2400" dirty="0">
                    <a:latin typeface="Aptos" panose="020B0004020202020204" pitchFamily="34" charset="0"/>
                  </a:rPr>
                  <a:t>What is the least common multiple of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6?</m:t>
                    </m:r>
                  </m:oMath>
                </a14:m>
                <a:endParaRPr lang="en-US" sz="24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5965A3C-CB1F-1B94-D181-2CFBC3EF9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275" y="2242991"/>
                <a:ext cx="8215363" cy="862608"/>
              </a:xfrm>
              <a:prstGeom prst="rect">
                <a:avLst/>
              </a:prstGeom>
              <a:blipFill>
                <a:blip r:embed="rId3"/>
                <a:stretch>
                  <a:fillRect l="-1080" t="-5797" b="-115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27A57F2-8EB9-3CE9-4132-F5113CC98474}"/>
              </a:ext>
            </a:extLst>
          </p:cNvPr>
          <p:cNvSpPr txBox="1"/>
          <p:nvPr/>
        </p:nvSpPr>
        <p:spPr>
          <a:xfrm>
            <a:off x="495275" y="3324450"/>
            <a:ext cx="78800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40FF"/>
                </a:solidFill>
                <a:latin typeface="Aptos" panose="020B0004020202020204" pitchFamily="34" charset="0"/>
              </a:rPr>
              <a:t>Solution:</a:t>
            </a:r>
          </a:p>
          <a:p>
            <a:r>
              <a:rPr lang="en-US" sz="2400" dirty="0">
                <a:latin typeface="Aptos" panose="020B0004020202020204" pitchFamily="34" charset="0"/>
              </a:rPr>
              <a:t>The multiples of 4 are: 4, 8, 12, 16, 20, 24, ...</a:t>
            </a:r>
          </a:p>
          <a:p>
            <a:r>
              <a:rPr lang="en-US" sz="2400" dirty="0">
                <a:latin typeface="Aptos" panose="020B0004020202020204" pitchFamily="34" charset="0"/>
              </a:rPr>
              <a:t>The multiples of 6 are: 6, 12, 18, 24, 30, ...</a:t>
            </a:r>
          </a:p>
          <a:p>
            <a:r>
              <a:rPr lang="en-US" sz="2400" dirty="0">
                <a:latin typeface="Aptos" panose="020B0004020202020204" pitchFamily="34" charset="0"/>
              </a:rPr>
              <a:t>The smallest number that appears in both lists is 12, so the lcm(4,6) is 12.</a:t>
            </a:r>
          </a:p>
          <a:p>
            <a:endParaRPr lang="en-US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44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F7DCC70-57D8-0DB5-0B07-83BEB7552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BC8CAB70-F6A8-DCD6-11E8-205687C4DC67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42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82BE09-7863-9CFF-9954-5901994F89D5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0AAB91-5EE8-E234-E960-36A541A965D6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E74D98-426B-8C7E-2CDB-4F1E9E90E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E115AEE-45E9-62A0-F081-AAA1681C1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111" y="649478"/>
            <a:ext cx="5181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DA360B-827D-371D-7BB8-277F5636C946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THE EUCLIDEAN ALGORITHM 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2DB140-F52D-A6A0-4AE9-9F7B3A2B5E2E}"/>
              </a:ext>
            </a:extLst>
          </p:cNvPr>
          <p:cNvSpPr txBox="1"/>
          <p:nvPr/>
        </p:nvSpPr>
        <p:spPr>
          <a:xfrm>
            <a:off x="495275" y="2242991"/>
            <a:ext cx="821536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Computing GCD of two integers directly from the prime factorization is inefficient because it’s time consuming.</a:t>
            </a:r>
          </a:p>
          <a:p>
            <a:endParaRPr lang="en-US" sz="2400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ptos" panose="020B0004020202020204" pitchFamily="34" charset="0"/>
              </a:rPr>
              <a:t>The Euclidean algorithm is more efficient to compute GCD.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2493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5AB04B0-706B-A9C7-AAEC-A1A1CC417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C21F7EE9-ED3F-D5F3-135E-3D206A5F7583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43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776D0D-034C-C32C-C8F8-72CC252FE7E3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A47BF-D367-6478-E7AF-BEF266896224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9E8DAD-F716-6F60-B711-D2EC47F8E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0960E76-995E-384E-3D09-F5A0D8D0C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111" y="649478"/>
            <a:ext cx="5181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0CADB0-1BC7-565A-63C1-FC3064A0F43B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THE EUCLIDEAN ALGORITHM </a:t>
            </a:r>
            <a:endParaRPr lang="en-US" sz="32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3D4A61-679C-4E21-4F78-0EDED539FDFA}"/>
                  </a:ext>
                </a:extLst>
              </p:cNvPr>
              <p:cNvSpPr txBox="1"/>
              <p:nvPr/>
            </p:nvSpPr>
            <p:spPr>
              <a:xfrm>
                <a:off x="835890" y="2371580"/>
                <a:ext cx="7812741" cy="286232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procedure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gcd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positive integer)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endParaRPr lang="en-US" b="0" dirty="0">
                  <a:latin typeface="Times New Roman" panose="02020603050405020304" pitchFamily="18" charset="0"/>
                  <a:ea typeface="Cambria Math" panose="02040503050406030204" pitchFamily="18" charset="0"/>
                </a:endParaRPr>
              </a:p>
              <a:p>
                <a:r>
                  <a:rPr 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𝐦𝐨𝐝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dirty="0">
                  <a:latin typeface="Times New Roman" panose="02020603050405020304" pitchFamily="18" charset="0"/>
                </a:endParaRPr>
              </a:p>
              <a:p>
                <a:r>
                  <a:rPr lang="en-US" b="0" dirty="0"/>
                  <a:t>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dirty="0">
                  <a:latin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b="0" dirty="0">
                  <a:latin typeface="Times New Roman" panose="02020603050405020304" pitchFamily="18" charset="0"/>
                </a:endParaRPr>
              </a:p>
              <a:p>
                <a:endParaRPr lang="en-US" b="0" dirty="0">
                  <a:latin typeface="Times New Roman" panose="02020603050405020304" pitchFamily="18" charset="0"/>
                </a:endParaRP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return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𝑔𝑐𝑑</m:t>
                    </m:r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3D4A61-679C-4E21-4F78-0EDED539FD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90" y="2371580"/>
                <a:ext cx="7812741" cy="2862322"/>
              </a:xfrm>
              <a:prstGeom prst="rect">
                <a:avLst/>
              </a:prstGeom>
              <a:blipFill>
                <a:blip r:embed="rId2"/>
                <a:stretch>
                  <a:fillRect l="-648" t="-881" b="-220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10801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C3CE057-32EC-6944-609B-B5F64BE0B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1E406653-5B2E-EFBD-DF85-1262729246FC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44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B6133-F394-BD12-D8B2-A639292D6C73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31A463-56CF-5E35-210B-67963D95067D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EA9D7-1A74-EB9C-68AA-90C6636E9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E039AC0-6DCE-B09A-E89F-E2BF33F86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111" y="649478"/>
            <a:ext cx="5181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5BCA66-7957-655A-864A-7D6FC66EE9A3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THE EUCLIDEAN ALGORITHM 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2C3013-1A51-0C6D-7788-B6A04A0CC0EB}"/>
              </a:ext>
            </a:extLst>
          </p:cNvPr>
          <p:cNvSpPr txBox="1"/>
          <p:nvPr/>
        </p:nvSpPr>
        <p:spPr>
          <a:xfrm>
            <a:off x="495276" y="2053762"/>
            <a:ext cx="82153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Aptos" panose="020B0004020202020204" pitchFamily="34" charset="0"/>
              </a:rPr>
              <a:t>Example:</a:t>
            </a:r>
          </a:p>
          <a:p>
            <a:r>
              <a:rPr lang="en-US" sz="2400" dirty="0">
                <a:latin typeface="Aptos" panose="020B0004020202020204" pitchFamily="34" charset="0"/>
              </a:rPr>
              <a:t>Find the greatest common divisor of 414 and 662 using the Euclidean algorithm.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CBD45D-0487-6A69-396A-6344D1CA5B84}"/>
                  </a:ext>
                </a:extLst>
              </p:cNvPr>
              <p:cNvSpPr txBox="1"/>
              <p:nvPr/>
            </p:nvSpPr>
            <p:spPr>
              <a:xfrm>
                <a:off x="592804" y="3468313"/>
                <a:ext cx="7742813" cy="2554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rgbClr val="FF40FF"/>
                    </a:solidFill>
                    <a:latin typeface="Aptos" panose="020B0004020202020204" pitchFamily="34" charset="0"/>
                  </a:rPr>
                  <a:t>Solution:</a:t>
                </a: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Successive uses of the division algorithm give:</a:t>
                </a: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662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414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1+248</m:t>
                    </m:r>
                  </m:oMath>
                </a14:m>
                <a:endParaRPr lang="en-US" sz="2000" b="0" dirty="0"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414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248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∙1+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166</m:t>
                    </m:r>
                  </m:oMath>
                </a14:m>
                <a:endParaRPr lang="en-US" sz="2000" b="0" dirty="0"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248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166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∙1+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82</m:t>
                    </m:r>
                  </m:oMath>
                </a14:m>
                <a:endParaRPr lang="en-US" sz="2000" b="0" dirty="0"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166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82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000" b="0" dirty="0"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82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41</m:t>
                    </m:r>
                  </m:oMath>
                </a14:m>
                <a:endParaRPr lang="en-US" sz="2000" dirty="0"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latin typeface="Aptos" panose="020B0004020202020204" pitchFamily="34" charset="0"/>
                    <a:ea typeface="Cambria Math" panose="02040503050406030204" pitchFamily="18" charset="0"/>
                  </a:rPr>
                  <a:t>Hence, </a:t>
                </a:r>
                <a:r>
                  <a:rPr lang="en-US" sz="2000" dirty="0" err="1">
                    <a:latin typeface="Aptos" panose="020B0004020202020204" pitchFamily="34" charset="0"/>
                    <a:ea typeface="Cambria Math" panose="02040503050406030204" pitchFamily="18" charset="0"/>
                  </a:rPr>
                  <a:t>gcd</a:t>
                </a:r>
                <a:r>
                  <a:rPr lang="en-US" sz="2000" dirty="0">
                    <a:latin typeface="Aptos" panose="020B0004020202020204" pitchFamily="34" charset="0"/>
                    <a:ea typeface="Cambria Math" panose="02040503050406030204" pitchFamily="18" charset="0"/>
                  </a:rPr>
                  <a:t>(414, 662) = 2, because 2 is the last nonzero remainder.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8CBD45D-0487-6A69-396A-6344D1CA5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04" y="3468313"/>
                <a:ext cx="7742813" cy="2554545"/>
              </a:xfrm>
              <a:prstGeom prst="rect">
                <a:avLst/>
              </a:prstGeom>
              <a:blipFill>
                <a:blip r:embed="rId2"/>
                <a:stretch>
                  <a:fillRect l="-818" t="-1485" b="-2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2819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6439FC6-8E46-59F4-BE2C-2205CFD7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9A7C00D2-46F0-14FE-9FD4-92E7A18008B2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45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9E3207-0104-3A8D-E71A-0EF4B966797F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9529AE-4A7B-2D43-B5B9-C3C226C01208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C969BB-082C-BC6B-8982-EB131476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793B233-D1E3-6D79-1A7D-597C34C98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111" y="649478"/>
            <a:ext cx="5181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4B3E54-F0A9-FDBA-0A3B-FA5423520AB3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EXERCISES</a:t>
            </a:r>
            <a:endParaRPr lang="en-US" sz="3200" dirty="0"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73ADCD-4125-C8C4-3B56-ADC209BBCE80}"/>
              </a:ext>
            </a:extLst>
          </p:cNvPr>
          <p:cNvSpPr txBox="1"/>
          <p:nvPr/>
        </p:nvSpPr>
        <p:spPr>
          <a:xfrm>
            <a:off x="495276" y="2053762"/>
            <a:ext cx="821536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Aptos" panose="020B0004020202020204" pitchFamily="34" charset="0"/>
              </a:rPr>
              <a:t>How many divisions are required to find the GCD of 34 and 55 using the Euclidean algorithm? Then, write the </a:t>
            </a:r>
            <a:r>
              <a:rPr lang="en-US" sz="2400" dirty="0" err="1">
                <a:latin typeface="Aptos" panose="020B0004020202020204" pitchFamily="34" charset="0"/>
              </a:rPr>
              <a:t>gcd</a:t>
            </a:r>
            <a:r>
              <a:rPr lang="en-US" sz="2400" dirty="0">
                <a:latin typeface="Aptos" panose="020B0004020202020204" pitchFamily="34" charset="0"/>
              </a:rPr>
              <a:t>(34,55) value.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ptos" panose="020B00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Aptos" panose="020B0004020202020204" pitchFamily="34" charset="0"/>
              </a:rPr>
              <a:t>Find the GCD of 56 and 98 using the Euclidean algorithm.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ptos" panose="020B00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MY" sz="2400" dirty="0">
                <a:latin typeface="Aptos" panose="020B0004020202020204" pitchFamily="34" charset="0"/>
              </a:rPr>
              <a:t>Determine the greatest common divisor of 120 and 45 by applying the prime factorization method.</a:t>
            </a:r>
            <a:r>
              <a:rPr lang="en-US" sz="2400" dirty="0">
                <a:latin typeface="Aptos" panose="020B0004020202020204" pitchFamily="34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Aptos" panose="020B0004020202020204" pitchFamily="34" charset="0"/>
            </a:endParaRPr>
          </a:p>
          <a:p>
            <a:endParaRPr lang="en-US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9002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BEC4D9FC-9969-864C-C9C8-7FC80FC4F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C68BF2AE-4146-5CC4-E71C-459715BC9F1C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46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727B63-7E29-77C0-D9AA-1BCD8BA95CBC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849A67-3714-0D20-BDBF-E6B578EF04DA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600509-040A-182C-20C8-961E2B7AD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26D77F7-CFFB-EF54-FDB2-00817FB33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111" y="649478"/>
            <a:ext cx="5181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9CE034-6B42-F61D-0043-E15D837661E7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EXERCISES - Solution (1)</a:t>
            </a:r>
            <a:endParaRPr lang="en-US" sz="32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F71014-9183-9611-139E-4086C0B595F4}"/>
                  </a:ext>
                </a:extLst>
              </p:cNvPr>
              <p:cNvSpPr txBox="1"/>
              <p:nvPr/>
            </p:nvSpPr>
            <p:spPr>
              <a:xfrm>
                <a:off x="480285" y="1862732"/>
                <a:ext cx="7742813" cy="3170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solidFill>
                      <a:srgbClr val="FF40FF"/>
                    </a:solidFill>
                    <a:latin typeface="Aptos" panose="020B0004020202020204" pitchFamily="34" charset="0"/>
                  </a:rPr>
                  <a:t>Answer = 8 division</a:t>
                </a: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55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34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1+21</m:t>
                    </m:r>
                  </m:oMath>
                </a14:m>
                <a:endParaRPr lang="en-US" sz="2000" b="0" dirty="0"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34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21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∙1+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13</m:t>
                    </m:r>
                  </m:oMath>
                </a14:m>
                <a:endParaRPr lang="en-US" sz="2000" b="0" dirty="0"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21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∙1+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endParaRPr lang="en-US" sz="2000" b="0" dirty="0"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13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2000" b="0" dirty="0"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8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1+3</m:t>
                    </m:r>
                  </m:oMath>
                </a14:m>
                <a:endParaRPr lang="en-US" sz="2000" b="0" dirty="0"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5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∙1+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2000" b="0" dirty="0"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3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2000" b="0" dirty="0"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latin typeface="Aptos" panose="020B0004020202020204" pitchFamily="34" charset="0"/>
                  </a:rPr>
                  <a:t>2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</m:t>
                    </m:r>
                  </m:oMath>
                </a14:m>
                <a:endParaRPr lang="en-US" sz="2000" dirty="0"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solidFill>
                      <a:srgbClr val="FF40FF"/>
                    </a:solidFill>
                    <a:latin typeface="Aptos" panose="020B0004020202020204" pitchFamily="34" charset="0"/>
                    <a:ea typeface="Cambria Math" panose="02040503050406030204" pitchFamily="18" charset="0"/>
                  </a:rPr>
                  <a:t>Hence, </a:t>
                </a:r>
                <a:r>
                  <a:rPr lang="en-US" sz="2000" dirty="0" err="1">
                    <a:solidFill>
                      <a:srgbClr val="FF40FF"/>
                    </a:solidFill>
                    <a:latin typeface="Aptos" panose="020B0004020202020204" pitchFamily="34" charset="0"/>
                    <a:ea typeface="Cambria Math" panose="02040503050406030204" pitchFamily="18" charset="0"/>
                  </a:rPr>
                  <a:t>gcd</a:t>
                </a:r>
                <a:r>
                  <a:rPr lang="en-US" sz="2000" dirty="0">
                    <a:solidFill>
                      <a:srgbClr val="FF40FF"/>
                    </a:solidFill>
                    <a:latin typeface="Aptos" panose="020B0004020202020204" pitchFamily="34" charset="0"/>
                    <a:ea typeface="Cambria Math" panose="02040503050406030204" pitchFamily="18" charset="0"/>
                  </a:rPr>
                  <a:t>(34, 55) =1</a:t>
                </a:r>
                <a:r>
                  <a:rPr lang="en-US" sz="2000" dirty="0">
                    <a:latin typeface="Aptos" panose="020B0004020202020204" pitchFamily="34" charset="0"/>
                    <a:ea typeface="Cambria Math" panose="02040503050406030204" pitchFamily="18" charset="0"/>
                  </a:rPr>
                  <a:t>, because 1 is the last nonzero remainder.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9F71014-9183-9611-139E-4086C0B595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85" y="1862732"/>
                <a:ext cx="7742813" cy="3170099"/>
              </a:xfrm>
              <a:prstGeom prst="rect">
                <a:avLst/>
              </a:prstGeom>
              <a:blipFill>
                <a:blip r:embed="rId2"/>
                <a:stretch>
                  <a:fillRect l="-818" t="-797" b="-2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61964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CAC14D86-EB18-9A43-78F1-D956084B1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F5015F1A-199D-43B6-445B-D41B57282EFC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47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7817B-3E75-4377-386A-C7DDDF56E3DB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EA80D2-A657-233B-3DA4-6B04A7BE0B83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1371FA-13C4-C133-614C-853B796CB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B47A887-EF62-EF7C-ED03-D8E3C8264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111" y="649478"/>
            <a:ext cx="5181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C5A953-55A2-3C77-17AE-6B3A41001A59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EXERCISES - Solution (2)</a:t>
            </a:r>
            <a:endParaRPr lang="en-US" sz="32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E00700-CFC9-4B65-558F-5AD7A3BEE57D}"/>
                  </a:ext>
                </a:extLst>
              </p:cNvPr>
              <p:cNvSpPr txBox="1"/>
              <p:nvPr/>
            </p:nvSpPr>
            <p:spPr>
              <a:xfrm>
                <a:off x="1111653" y="2042208"/>
                <a:ext cx="7111445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Aptos" panose="020B0004020202020204" pitchFamily="34" charset="0"/>
                  </a:rPr>
                  <a:t>98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56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1+42</m:t>
                    </m:r>
                  </m:oMath>
                </a14:m>
                <a:endParaRPr lang="en-US" sz="2800" b="0" dirty="0"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800" dirty="0">
                    <a:latin typeface="Aptos" panose="020B0004020202020204" pitchFamily="34" charset="0"/>
                  </a:rPr>
                  <a:t>56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42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∙1+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</m:t>
                    </m:r>
                  </m:oMath>
                </a14:m>
                <a:endParaRPr lang="en-US" sz="2800" b="0" dirty="0"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800" dirty="0">
                    <a:latin typeface="Aptos" panose="020B0004020202020204" pitchFamily="34" charset="0"/>
                  </a:rPr>
                  <a:t>42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14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2800" b="0" dirty="0"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800" dirty="0">
                    <a:solidFill>
                      <a:srgbClr val="FF40FF"/>
                    </a:solidFill>
                    <a:latin typeface="Aptos" panose="020B0004020202020204" pitchFamily="34" charset="0"/>
                    <a:ea typeface="Cambria Math" panose="02040503050406030204" pitchFamily="18" charset="0"/>
                  </a:rPr>
                  <a:t>Hence, </a:t>
                </a:r>
                <a:r>
                  <a:rPr lang="en-US" sz="2800" dirty="0" err="1">
                    <a:solidFill>
                      <a:srgbClr val="FF40FF"/>
                    </a:solidFill>
                    <a:latin typeface="Aptos" panose="020B0004020202020204" pitchFamily="34" charset="0"/>
                    <a:ea typeface="Cambria Math" panose="02040503050406030204" pitchFamily="18" charset="0"/>
                  </a:rPr>
                  <a:t>gcd</a:t>
                </a:r>
                <a:r>
                  <a:rPr lang="en-US" sz="2800" dirty="0">
                    <a:solidFill>
                      <a:srgbClr val="FF40FF"/>
                    </a:solidFill>
                    <a:latin typeface="Aptos" panose="020B0004020202020204" pitchFamily="34" charset="0"/>
                    <a:ea typeface="Cambria Math" panose="02040503050406030204" pitchFamily="18" charset="0"/>
                  </a:rPr>
                  <a:t>(56, 98) =14</a:t>
                </a:r>
                <a:r>
                  <a:rPr lang="en-US" sz="2800" dirty="0">
                    <a:latin typeface="Aptos" panose="020B0004020202020204" pitchFamily="34" charset="0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3E00700-CFC9-4B65-558F-5AD7A3BEE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653" y="2042208"/>
                <a:ext cx="7111445" cy="1815882"/>
              </a:xfrm>
              <a:prstGeom prst="rect">
                <a:avLst/>
              </a:prstGeom>
              <a:blipFill>
                <a:blip r:embed="rId2"/>
                <a:stretch>
                  <a:fillRect l="-1783" t="-3472" b="-9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13551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3A740A-D939-F452-7AA5-C6088FBC6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1">
            <a:extLst>
              <a:ext uri="{FF2B5EF4-FFF2-40B4-BE49-F238E27FC236}">
                <a16:creationId xmlns:a16="http://schemas.microsoft.com/office/drawing/2014/main" id="{F91E8140-F370-8395-ABB9-DFF00BFB8B76}"/>
              </a:ext>
            </a:extLst>
          </p:cNvPr>
          <p:cNvSpPr txBox="1">
            <a:spLocks/>
          </p:cNvSpPr>
          <p:nvPr/>
        </p:nvSpPr>
        <p:spPr bwMode="auto">
          <a:xfrm>
            <a:off x="4463655" y="5747148"/>
            <a:ext cx="278606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r" eaLnBrk="1" hangingPunct="1"/>
            <a:fld id="{16D97E07-83FF-9A4A-8513-7763AEB8EFE5}" type="slidenum">
              <a:rPr lang="en-US" altLang="en-US" sz="900">
                <a:solidFill>
                  <a:schemeClr val="bg1"/>
                </a:solidFill>
              </a:rPr>
              <a:pPr algn="r" eaLnBrk="1" hangingPunct="1"/>
              <a:t>48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1C1D17-4562-93BB-FECB-C7960EFFA122}"/>
              </a:ext>
            </a:extLst>
          </p:cNvPr>
          <p:cNvSpPr txBox="1"/>
          <p:nvPr/>
        </p:nvSpPr>
        <p:spPr>
          <a:xfrm>
            <a:off x="73956" y="6497923"/>
            <a:ext cx="1037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 SemiBold Condensed" panose="020B0502040204020203" pitchFamily="34" charset="0"/>
              </a:rPr>
              <a:t>nzah@utm.my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A49834-9701-E65A-675C-5FBDEF24DD9C}"/>
              </a:ext>
            </a:extLst>
          </p:cNvPr>
          <p:cNvSpPr txBox="1"/>
          <p:nvPr/>
        </p:nvSpPr>
        <p:spPr>
          <a:xfrm>
            <a:off x="73956" y="206188"/>
            <a:ext cx="320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002060"/>
                </a:solidFill>
                <a:latin typeface="Aptos" panose="020B0004020202020204" pitchFamily="34" charset="0"/>
              </a:rPr>
              <a:t>SCST1213 Mathematics For SE</a:t>
            </a:r>
            <a:endParaRPr lang="en-US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516A27-2359-0AD4-661B-622CED0BB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2644" y="6315360"/>
            <a:ext cx="2057400" cy="365125"/>
          </a:xfrm>
        </p:spPr>
        <p:txBody>
          <a:bodyPr/>
          <a:lstStyle/>
          <a:p>
            <a:pPr>
              <a:defRPr/>
            </a:pPr>
            <a:fld id="{ED7CD821-32F0-4921-85B8-393E69F49F82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03CF8F2-A5A6-6AE3-175B-051855385E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111" y="649478"/>
            <a:ext cx="5181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algn="ctr" eaLnBrk="1" hangingPunct="1"/>
            <a:r>
              <a:rPr lang="en-US" sz="2000" b="1" dirty="0">
                <a:latin typeface="Aptos" panose="020B0004020202020204" pitchFamily="34" charset="0"/>
                <a:ea typeface="ＭＳ Ｐゴシック" charset="0"/>
                <a:cs typeface="Times New Roman" charset="0"/>
              </a:rPr>
              <a:t>1.3: Primes and Greatest Common Divisors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C937B3-821C-D858-94C7-56B9071A1AA7}"/>
              </a:ext>
            </a:extLst>
          </p:cNvPr>
          <p:cNvSpPr txBox="1"/>
          <p:nvPr/>
        </p:nvSpPr>
        <p:spPr>
          <a:xfrm>
            <a:off x="246880" y="1254766"/>
            <a:ext cx="79692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  <a:latin typeface="Aptos" panose="020B0004020202020204" pitchFamily="34" charset="0"/>
              </a:rPr>
              <a:t>EXERCISES - Solution (3)</a:t>
            </a:r>
            <a:endParaRPr lang="en-US" sz="32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9C59B8-A2F6-FB58-CBD4-3FEFD4B568DE}"/>
                  </a:ext>
                </a:extLst>
              </p:cNvPr>
              <p:cNvSpPr txBox="1"/>
              <p:nvPr/>
            </p:nvSpPr>
            <p:spPr>
              <a:xfrm>
                <a:off x="592804" y="2239073"/>
                <a:ext cx="7111445" cy="31085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>
                    <a:latin typeface="Aptos" panose="020B0004020202020204" pitchFamily="34" charset="0"/>
                  </a:rPr>
                  <a:t>a) 120:</a:t>
                </a:r>
              </a:p>
              <a:p>
                <a:r>
                  <a:rPr lang="en-US" sz="2800" dirty="0">
                    <a:latin typeface="Aptos" panose="020B0004020202020204" pitchFamily="34" charset="0"/>
                  </a:rPr>
                  <a:t>=&gt; 120/2 = 60; 60/2 = 30; 30/2 = 15; 15/3 = 5</a:t>
                </a:r>
              </a:p>
              <a:p>
                <a:r>
                  <a:rPr lang="en-US" sz="2800" dirty="0">
                    <a:solidFill>
                      <a:srgbClr val="FF40FF"/>
                    </a:solidFill>
                    <a:latin typeface="Aptos" panose="020B0004020202020204" pitchFamily="34" charset="0"/>
                  </a:rPr>
                  <a:t>.: 120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FF4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i="1" dirty="0" smtClean="0">
                            <a:solidFill>
                              <a:srgbClr val="FF40F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solidFill>
                              <a:srgbClr val="FF4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800" b="0" i="1" dirty="0" smtClean="0">
                            <a:solidFill>
                              <a:srgbClr val="FF40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800" i="1">
                        <a:solidFill>
                          <a:srgbClr val="FF4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800" b="0" i="1" smtClean="0">
                        <a:solidFill>
                          <a:srgbClr val="FF4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US" sz="2800" i="1">
                        <a:solidFill>
                          <a:srgbClr val="FF4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800" b="0" i="1" smtClean="0">
                        <a:solidFill>
                          <a:srgbClr val="FF4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</m:oMath>
                </a14:m>
                <a:endParaRPr lang="en-US" sz="2800" b="0" dirty="0">
                  <a:solidFill>
                    <a:srgbClr val="FF40FF"/>
                  </a:solidFill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endParaRPr lang="en-US" sz="2800" b="0" dirty="0">
                  <a:solidFill>
                    <a:srgbClr val="FF40FF"/>
                  </a:solidFill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  <a:p>
                <a:r>
                  <a:rPr lang="en-US" sz="2800" dirty="0">
                    <a:latin typeface="Aptos" panose="020B0004020202020204" pitchFamily="34" charset="0"/>
                  </a:rPr>
                  <a:t>b) 45: </a:t>
                </a:r>
                <a:endParaRPr lang="en-US" sz="2800" i="1" dirty="0">
                  <a:latin typeface="Cambria Math" panose="02040503050406030204" pitchFamily="18" charset="0"/>
                </a:endParaRPr>
              </a:p>
              <a:p>
                <a:r>
                  <a:rPr lang="en-US" sz="2800" dirty="0">
                    <a:latin typeface="Cambria Math" panose="02040503050406030204" pitchFamily="18" charset="0"/>
                  </a:rPr>
                  <a:t>=&gt; 45/3 =15; 15/3 = 5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solidFill>
                            <a:srgbClr val="FF40FF"/>
                          </a:solidFill>
                          <a:latin typeface="Cambria Math" panose="02040503050406030204" pitchFamily="18" charset="0"/>
                        </a:rPr>
                        <m:t>.:45</m:t>
                      </m:r>
                      <m:r>
                        <a:rPr lang="en-US" sz="2800" i="1" dirty="0">
                          <a:solidFill>
                            <a:srgbClr val="FF4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i="1" dirty="0" smtClean="0">
                              <a:solidFill>
                                <a:srgbClr val="FF4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solidFill>
                                <a:srgbClr val="FF40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2800" b="0" i="1" dirty="0" smtClean="0">
                              <a:solidFill>
                                <a:srgbClr val="FF40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solidFill>
                            <a:srgbClr val="FF4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2800" b="0" i="1" smtClean="0">
                          <a:solidFill>
                            <a:srgbClr val="FF4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sz="2800" b="0" dirty="0">
                  <a:solidFill>
                    <a:srgbClr val="FF40FF"/>
                  </a:solidFill>
                  <a:latin typeface="Aptos" panose="020B00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9C59B8-A2F6-FB58-CBD4-3FEFD4B56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04" y="2239073"/>
                <a:ext cx="7111445" cy="3108543"/>
              </a:xfrm>
              <a:prstGeom prst="rect">
                <a:avLst/>
              </a:prstGeom>
              <a:blipFill>
                <a:blip r:embed="rId2"/>
                <a:stretch>
                  <a:fillRect l="-1783" t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008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1817</TotalTime>
  <Words>3525</Words>
  <Application>Microsoft Office PowerPoint</Application>
  <PresentationFormat>On-screen Show (4:3)</PresentationFormat>
  <Paragraphs>563</Paragraphs>
  <Slides>48</Slides>
  <Notes>3</Notes>
  <HiddenSlides>4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61" baseType="lpstr">
      <vt:lpstr>ＭＳ Ｐゴシック</vt:lpstr>
      <vt:lpstr>Aptos</vt:lpstr>
      <vt:lpstr>Arial</vt:lpstr>
      <vt:lpstr>Arial Black</vt:lpstr>
      <vt:lpstr>Bahnschrift</vt:lpstr>
      <vt:lpstr>Bahnschrift Condensed</vt:lpstr>
      <vt:lpstr>Bahnschrift SemiBold Condensed</vt:lpstr>
      <vt:lpstr>Calibri</vt:lpstr>
      <vt:lpstr>Calibri Light</vt:lpstr>
      <vt:lpstr>Cambria Math</vt:lpstr>
      <vt:lpstr>Symbol</vt:lpstr>
      <vt:lpstr>Times New Roman</vt:lpstr>
      <vt:lpstr>Office Theme</vt:lpstr>
      <vt:lpstr>PowerPoint Presentation</vt:lpstr>
      <vt:lpstr>PowerPoint Presentation</vt:lpstr>
      <vt:lpstr>Application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1.1: Divisibility and Modular Arithmetic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acidfed</dc:creator>
  <cp:lastModifiedBy>User</cp:lastModifiedBy>
  <cp:revision>179</cp:revision>
  <cp:lastPrinted>2024-10-13T08:16:07Z</cp:lastPrinted>
  <dcterms:created xsi:type="dcterms:W3CDTF">2019-01-07T08:53:08Z</dcterms:created>
  <dcterms:modified xsi:type="dcterms:W3CDTF">2024-10-14T02:08:27Z</dcterms:modified>
</cp:coreProperties>
</file>