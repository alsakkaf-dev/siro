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424" r:id="rId2"/>
    <p:sldId id="301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20" autoAdjust="0"/>
    <p:restoredTop sz="94660"/>
  </p:normalViewPr>
  <p:slideViewPr>
    <p:cSldViewPr snapToGrid="0">
      <p:cViewPr varScale="1">
        <p:scale>
          <a:sx n="45" d="100"/>
          <a:sy n="45" d="100"/>
        </p:scale>
        <p:origin x="58" y="8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2889" y="173039"/>
            <a:ext cx="3680179" cy="368829"/>
          </a:xfrm>
        </p:spPr>
        <p:txBody>
          <a:bodyPr/>
          <a:lstStyle>
            <a:lvl1pPr marL="0" indent="0" algn="ctr">
              <a:buNone/>
              <a:defRPr sz="2000" baseline="0">
                <a:latin typeface="Bahnschrift Condensed" panose="020B05020402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SECI1013: Discrete Structure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2889" y="6173788"/>
            <a:ext cx="2743200" cy="365125"/>
          </a:xfrm>
        </p:spPr>
        <p:txBody>
          <a:bodyPr/>
          <a:lstStyle>
            <a:lvl1pPr>
              <a:defRPr>
                <a:latin typeface="Bahnschrift Condensed" panose="020B0502040204020203" pitchFamily="34" charset="0"/>
              </a:defRPr>
            </a:lvl1pPr>
          </a:lstStyle>
          <a:p>
            <a:pPr>
              <a:defRPr/>
            </a:pPr>
            <a:fld id="{DB7AE9E9-B0C0-4942-9205-A15438FF67A8}" type="datetime1">
              <a:rPr lang="en-MY" smtClean="0"/>
              <a:t>21/10/2024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42777" y="6356350"/>
            <a:ext cx="27432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AA04A2-C734-40EE-BC75-C32540C9349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9748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751F2C-F996-C642-8F36-EAD34A2DB8C1}" type="datetime1">
              <a:rPr lang="en-MY" smtClean="0"/>
              <a:t>21/10/2024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7CD821-32F0-4921-85B8-393E69F49F8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864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AF49C6-7E28-0542-99DA-D8284BA89B2F}" type="datetime1">
              <a:rPr lang="en-MY" smtClean="0"/>
              <a:t>21/10/2024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657DDD-B5C6-43F1-B07B-F805E5DFE3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37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79DCCE-7C81-C84E-8733-DDDBB1D84515}" type="datetime1">
              <a:rPr lang="en-MY" smtClean="0"/>
              <a:t>21/10/2024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85C8F2-1D4B-475E-AAED-9C6E6AE9EDF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672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0018CE-1895-9946-8EF0-B261EE0EF836}" type="datetime1">
              <a:rPr lang="en-MY" smtClean="0"/>
              <a:t>21/10/2024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4C11D0-5731-4C38-B084-493D7559A37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624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F23797-635D-334D-B212-ABAC30667AE6}" type="datetime1">
              <a:rPr lang="en-MY" smtClean="0"/>
              <a:t>21/10/2024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762858-6EBE-4958-AA9E-43B2C11F9C2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509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1AF201-1EE7-DD4B-8433-9E4CA9886E96}" type="datetime1">
              <a:rPr lang="en-MY" smtClean="0"/>
              <a:t>21/10/2024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CF4F49-FAD2-4EE7-B198-11EF145CB34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662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AB73A2-0830-2346-B120-EDCCDBA12F8A}" type="datetime1">
              <a:rPr lang="en-MY" smtClean="0"/>
              <a:t>21/10/2024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7DC13A-3688-4D3D-AAD0-4D8561CA3F0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686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F81DBE-EF11-6744-845E-682B7076663B}" type="datetime1">
              <a:rPr lang="en-MY" smtClean="0"/>
              <a:t>21/10/2024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462364-B06F-49F8-A6DC-ECDACC97647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572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D29630-C865-CB49-A063-4D456FE84F95}" type="datetime1">
              <a:rPr lang="en-MY" smtClean="0"/>
              <a:t>21/10/2024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4FF3AD-4171-48D5-B862-858EAA09BCF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709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0A11E6-0852-AC47-B283-E98201587A31}" type="datetime1">
              <a:rPr lang="en-MY" smtClean="0"/>
              <a:t>21/10/2024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FF9322-8728-4138-8999-FA4BD7DE8D7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6639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3C808-0E5D-A341-B16F-54CBD8542FAD}" type="datetime1">
              <a:rPr lang="en-MY" smtClean="0"/>
              <a:t>21/10/2024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860E1-762D-44BC-AF2E-19101B6203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247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2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8" y="0"/>
            <a:ext cx="12187767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Title Placeholder 1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6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BBB64D9D-BCD8-534C-A48F-66B54BC0B2F2}" type="datetime1">
              <a:rPr lang="en-MY" smtClean="0"/>
              <a:t>21/10/2024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994C1EDB-D35D-462E-A26F-7504C258E76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35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Date Placeholder 3">
            <a:extLst>
              <a:ext uri="{FF2B5EF4-FFF2-40B4-BE49-F238E27FC236}">
                <a16:creationId xmlns:a16="http://schemas.microsoft.com/office/drawing/2014/main" id="{58C7D437-5F97-438E-A26F-0159E1CB796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algn="ctr">
              <a:spcBef>
                <a:spcPct val="20000"/>
              </a:spcBef>
              <a:defRPr sz="2800">
                <a:solidFill>
                  <a:srgbClr val="FFFF00"/>
                </a:solidFill>
                <a:latin typeface="Comic Sans MS" panose="030F0702030302020204" pitchFamily="66" charset="0"/>
                <a:sym typeface="Symbol" panose="05050102010706020507" pitchFamily="18" charset="2"/>
              </a:defRPr>
            </a:lvl1pPr>
            <a:lvl2pPr marL="742950" indent="-285750" algn="ctr">
              <a:spcBef>
                <a:spcPct val="20000"/>
              </a:spcBef>
              <a:defRPr sz="2800">
                <a:solidFill>
                  <a:srgbClr val="FFFF00"/>
                </a:solidFill>
                <a:latin typeface="Comic Sans MS" panose="030F0702030302020204" pitchFamily="66" charset="0"/>
                <a:sym typeface="Symbol" panose="05050102010706020507" pitchFamily="18" charset="2"/>
              </a:defRPr>
            </a:lvl2pPr>
            <a:lvl3pPr marL="1143000" indent="-228600" algn="ctr">
              <a:spcBef>
                <a:spcPct val="20000"/>
              </a:spcBef>
              <a:defRPr sz="2800">
                <a:solidFill>
                  <a:srgbClr val="FFFF00"/>
                </a:solidFill>
                <a:latin typeface="Comic Sans MS" panose="030F0702030302020204" pitchFamily="66" charset="0"/>
                <a:sym typeface="Symbol" panose="05050102010706020507" pitchFamily="18" charset="2"/>
              </a:defRPr>
            </a:lvl3pPr>
            <a:lvl4pPr marL="1600200" indent="-228600" algn="ctr">
              <a:spcBef>
                <a:spcPct val="20000"/>
              </a:spcBef>
              <a:defRPr sz="2800">
                <a:solidFill>
                  <a:srgbClr val="FFFF00"/>
                </a:solidFill>
                <a:latin typeface="Comic Sans MS" panose="030F0702030302020204" pitchFamily="66" charset="0"/>
                <a:sym typeface="Symbol" panose="05050102010706020507" pitchFamily="18" charset="2"/>
              </a:defRPr>
            </a:lvl4pPr>
            <a:lvl5pPr marL="2057400" indent="-228600" algn="ctr">
              <a:spcBef>
                <a:spcPct val="20000"/>
              </a:spcBef>
              <a:defRPr sz="2800">
                <a:solidFill>
                  <a:srgbClr val="FFFF00"/>
                </a:solidFill>
                <a:latin typeface="Comic Sans MS" panose="030F0702030302020204" pitchFamily="66" charset="0"/>
                <a:sym typeface="Symbol" panose="05050102010706020507" pitchFamily="18" charset="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rgbClr val="FFFF00"/>
                </a:solidFill>
                <a:latin typeface="Comic Sans MS" panose="030F0702030302020204" pitchFamily="66" charset="0"/>
                <a:sym typeface="Symbol" panose="05050102010706020507" pitchFamily="18" charset="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rgbClr val="FFFF00"/>
                </a:solidFill>
                <a:latin typeface="Comic Sans MS" panose="030F0702030302020204" pitchFamily="66" charset="0"/>
                <a:sym typeface="Symbol" panose="05050102010706020507" pitchFamily="18" charset="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rgbClr val="FFFF00"/>
                </a:solidFill>
                <a:latin typeface="Comic Sans MS" panose="030F0702030302020204" pitchFamily="66" charset="0"/>
                <a:sym typeface="Symbol" panose="05050102010706020507" pitchFamily="18" charset="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rgbClr val="FFFF00"/>
                </a:solidFill>
                <a:latin typeface="Comic Sans MS" panose="030F0702030302020204" pitchFamily="66" charset="0"/>
                <a:sym typeface="Symbol" panose="05050102010706020507" pitchFamily="18" charset="2"/>
              </a:defRPr>
            </a:lvl9pPr>
          </a:lstStyle>
          <a:p>
            <a:pPr algn="l" defTabSz="457200">
              <a:spcBef>
                <a:spcPct val="0"/>
              </a:spcBef>
            </a:pPr>
            <a:r>
              <a:rPr lang="en-US" altLang="en-US" sz="1400">
                <a:solidFill>
                  <a:srgbClr val="00CCFF"/>
                </a:solidFill>
                <a:latin typeface="Times New Roman" panose="02020603050405020304" pitchFamily="18" charset="0"/>
              </a:rPr>
              <a:t>Fall 2002</a:t>
            </a:r>
            <a:endParaRPr lang="en-CA" altLang="en-US" sz="1400">
              <a:solidFill>
                <a:srgbClr val="00CC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340" name="Slide Number Placeholder 5">
            <a:extLst>
              <a:ext uri="{FF2B5EF4-FFF2-40B4-BE49-F238E27FC236}">
                <a16:creationId xmlns:a16="http://schemas.microsoft.com/office/drawing/2014/main" id="{18B93689-A437-4DB8-BF3C-F06875257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ctr">
              <a:spcBef>
                <a:spcPct val="20000"/>
              </a:spcBef>
              <a:defRPr sz="2800">
                <a:solidFill>
                  <a:srgbClr val="FFFF00"/>
                </a:solidFill>
                <a:latin typeface="Comic Sans MS" panose="030F0702030302020204" pitchFamily="66" charset="0"/>
                <a:sym typeface="Symbol" panose="05050102010706020507" pitchFamily="18" charset="2"/>
              </a:defRPr>
            </a:lvl1pPr>
            <a:lvl2pPr marL="742950" indent="-285750" algn="ctr">
              <a:spcBef>
                <a:spcPct val="20000"/>
              </a:spcBef>
              <a:defRPr sz="2800">
                <a:solidFill>
                  <a:srgbClr val="FFFF00"/>
                </a:solidFill>
                <a:latin typeface="Comic Sans MS" panose="030F0702030302020204" pitchFamily="66" charset="0"/>
                <a:sym typeface="Symbol" panose="05050102010706020507" pitchFamily="18" charset="2"/>
              </a:defRPr>
            </a:lvl2pPr>
            <a:lvl3pPr marL="1143000" indent="-228600" algn="ctr">
              <a:spcBef>
                <a:spcPct val="20000"/>
              </a:spcBef>
              <a:defRPr sz="2800">
                <a:solidFill>
                  <a:srgbClr val="FFFF00"/>
                </a:solidFill>
                <a:latin typeface="Comic Sans MS" panose="030F0702030302020204" pitchFamily="66" charset="0"/>
                <a:sym typeface="Symbol" panose="05050102010706020507" pitchFamily="18" charset="2"/>
              </a:defRPr>
            </a:lvl3pPr>
            <a:lvl4pPr marL="1600200" indent="-228600" algn="ctr">
              <a:spcBef>
                <a:spcPct val="20000"/>
              </a:spcBef>
              <a:defRPr sz="2800">
                <a:solidFill>
                  <a:srgbClr val="FFFF00"/>
                </a:solidFill>
                <a:latin typeface="Comic Sans MS" panose="030F0702030302020204" pitchFamily="66" charset="0"/>
                <a:sym typeface="Symbol" panose="05050102010706020507" pitchFamily="18" charset="2"/>
              </a:defRPr>
            </a:lvl4pPr>
            <a:lvl5pPr marL="2057400" indent="-228600" algn="ctr">
              <a:spcBef>
                <a:spcPct val="20000"/>
              </a:spcBef>
              <a:defRPr sz="2800">
                <a:solidFill>
                  <a:srgbClr val="FFFF00"/>
                </a:solidFill>
                <a:latin typeface="Comic Sans MS" panose="030F0702030302020204" pitchFamily="66" charset="0"/>
                <a:sym typeface="Symbol" panose="05050102010706020507" pitchFamily="18" charset="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rgbClr val="FFFF00"/>
                </a:solidFill>
                <a:latin typeface="Comic Sans MS" panose="030F0702030302020204" pitchFamily="66" charset="0"/>
                <a:sym typeface="Symbol" panose="05050102010706020507" pitchFamily="18" charset="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rgbClr val="FFFF00"/>
                </a:solidFill>
                <a:latin typeface="Comic Sans MS" panose="030F0702030302020204" pitchFamily="66" charset="0"/>
                <a:sym typeface="Symbol" panose="05050102010706020507" pitchFamily="18" charset="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rgbClr val="FFFF00"/>
                </a:solidFill>
                <a:latin typeface="Comic Sans MS" panose="030F0702030302020204" pitchFamily="66" charset="0"/>
                <a:sym typeface="Symbol" panose="05050102010706020507" pitchFamily="18" charset="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rgbClr val="FFFF00"/>
                </a:solidFill>
                <a:latin typeface="Comic Sans MS" panose="030F0702030302020204" pitchFamily="66" charset="0"/>
                <a:sym typeface="Symbol" panose="05050102010706020507" pitchFamily="18" charset="2"/>
              </a:defRPr>
            </a:lvl9pPr>
          </a:lstStyle>
          <a:p>
            <a:pPr algn="r" defTabSz="457200">
              <a:spcBef>
                <a:spcPct val="0"/>
              </a:spcBef>
            </a:pPr>
            <a:fld id="{CD625E2B-AFA7-4A56-B015-36172CD516A7}" type="slidenum">
              <a:rPr lang="en-CA" altLang="en-US" sz="1400">
                <a:solidFill>
                  <a:srgbClr val="00CCFF"/>
                </a:solidFill>
                <a:latin typeface="Times New Roman" panose="02020603050405020304" pitchFamily="18" charset="0"/>
              </a:rPr>
              <a:pPr algn="r" defTabSz="457200">
                <a:spcBef>
                  <a:spcPct val="0"/>
                </a:spcBef>
              </a:pPr>
              <a:t>1</a:t>
            </a:fld>
            <a:endParaRPr lang="en-CA" altLang="en-US" sz="1400">
              <a:solidFill>
                <a:srgbClr val="00CCFF"/>
              </a:solidFill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0467" name="Rectangle 3">
                <a:extLst>
                  <a:ext uri="{FF2B5EF4-FFF2-40B4-BE49-F238E27FC236}">
                    <a16:creationId xmlns:a16="http://schemas.microsoft.com/office/drawing/2014/main" id="{48885632-5A72-4562-A2C7-C505C1A84A68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790700" y="1554958"/>
                <a:ext cx="8453230" cy="2738747"/>
              </a:xfrm>
            </p:spPr>
            <p:txBody>
              <a:bodyPr/>
              <a:lstStyle/>
              <a:p>
                <a:pPr marL="0" indent="0">
                  <a:spcBef>
                    <a:spcPct val="0"/>
                  </a:spcBef>
                  <a:defRPr/>
                </a:pPr>
                <a:endParaRPr lang="en-US" altLang="en-US" sz="2000" b="1" dirty="0">
                  <a:sym typeface="Symbol" panose="05050102010706020507" pitchFamily="18" charset="2"/>
                </a:endParaRPr>
              </a:p>
              <a:p>
                <a:pPr marL="0" indent="0">
                  <a:spcBef>
                    <a:spcPct val="0"/>
                  </a:spcBef>
                  <a:defRPr/>
                </a:pPr>
                <a:r>
                  <a:rPr lang="en-US" altLang="en-US" sz="2000" b="1" dirty="0">
                    <a:sym typeface="Symbol" panose="05050102010706020507" pitchFamily="18" charset="2"/>
                  </a:rPr>
                  <a:t>Using prime factorizations:</a:t>
                </a:r>
              </a:p>
              <a:p>
                <a:pPr marL="0" indent="0">
                  <a:spcBef>
                    <a:spcPct val="0"/>
                  </a:spcBef>
                  <a:defRPr/>
                </a:pPr>
                <a:endParaRPr lang="en-US" altLang="en-US" sz="2000" b="1" dirty="0">
                  <a:solidFill>
                    <a:srgbClr val="00FFFF"/>
                  </a:solidFill>
                  <a:sym typeface="Symbol" panose="05050102010706020507" pitchFamily="18" charset="2"/>
                </a:endParaRPr>
              </a:p>
              <a:p>
                <a:pPr marL="0" indent="0">
                  <a:lnSpc>
                    <a:spcPct val="110000"/>
                  </a:lnSpc>
                  <a:spcBef>
                    <a:spcPct val="0"/>
                  </a:spcBef>
                  <a:buNone/>
                  <a:defRPr/>
                </a:pPr>
                <a:r>
                  <a:rPr lang="en-US" altLang="en-US" sz="2400" dirty="0">
                    <a:sym typeface="Symbol" panose="05050102010706020507" pitchFamily="18" charset="2"/>
                  </a:rPr>
                  <a:t>a = p</a:t>
                </a:r>
                <a:r>
                  <a:rPr lang="en-US" altLang="en-US" sz="2400" baseline="-25000" dirty="0">
                    <a:sym typeface="Symbol" panose="05050102010706020507" pitchFamily="18" charset="2"/>
                  </a:rPr>
                  <a:t>1</a:t>
                </a:r>
                <a:r>
                  <a:rPr lang="en-US" altLang="en-US" sz="2400" baseline="30000" dirty="0">
                    <a:sym typeface="Symbol" panose="05050102010706020507" pitchFamily="18" charset="2"/>
                  </a:rPr>
                  <a:t>a</a:t>
                </a:r>
                <a:r>
                  <a:rPr lang="en-US" altLang="en-US" sz="2400" dirty="0">
                    <a:sym typeface="Symbol" panose="05050102010706020507" pitchFamily="18" charset="2"/>
                  </a:rPr>
                  <a:t>1  p</a:t>
                </a:r>
                <a:r>
                  <a:rPr lang="en-US" altLang="en-US" sz="2400" baseline="-25000" dirty="0">
                    <a:sym typeface="Symbol" panose="05050102010706020507" pitchFamily="18" charset="2"/>
                  </a:rPr>
                  <a:t>2</a:t>
                </a:r>
                <a:r>
                  <a:rPr lang="en-US" altLang="en-US" sz="2400" baseline="30000" dirty="0">
                    <a:sym typeface="Symbol" panose="05050102010706020507" pitchFamily="18" charset="2"/>
                  </a:rPr>
                  <a:t>a</a:t>
                </a:r>
                <a:r>
                  <a:rPr lang="en-US" altLang="en-US" sz="2400" dirty="0">
                    <a:sym typeface="Symbol" panose="05050102010706020507" pitchFamily="18" charset="2"/>
                  </a:rPr>
                  <a:t>2 … </a:t>
                </a:r>
                <a:r>
                  <a:rPr lang="en-US" altLang="en-US" sz="2400" dirty="0" err="1">
                    <a:sym typeface="Symbol" panose="05050102010706020507" pitchFamily="18" charset="2"/>
                  </a:rPr>
                  <a:t>p</a:t>
                </a:r>
                <a:r>
                  <a:rPr lang="en-US" altLang="en-US" sz="2400" baseline="-25000" dirty="0" err="1">
                    <a:sym typeface="Symbol" panose="05050102010706020507" pitchFamily="18" charset="2"/>
                  </a:rPr>
                  <a:t>n</a:t>
                </a:r>
                <a:r>
                  <a:rPr lang="en-US" altLang="en-US" sz="2400" baseline="30000" dirty="0" err="1">
                    <a:sym typeface="Symbol" panose="05050102010706020507" pitchFamily="18" charset="2"/>
                  </a:rPr>
                  <a:t>a</a:t>
                </a:r>
                <a:r>
                  <a:rPr lang="en-US" altLang="en-US" sz="2400" dirty="0" err="1">
                    <a:sym typeface="Symbol" panose="05050102010706020507" pitchFamily="18" charset="2"/>
                  </a:rPr>
                  <a:t>n</a:t>
                </a:r>
                <a:r>
                  <a:rPr lang="en-US" altLang="en-US" sz="2400" dirty="0">
                    <a:sym typeface="Symbol" panose="05050102010706020507" pitchFamily="18" charset="2"/>
                  </a:rPr>
                  <a:t> ,  b = p</a:t>
                </a:r>
                <a:r>
                  <a:rPr lang="en-US" altLang="en-US" sz="2400" baseline="-25000" dirty="0">
                    <a:sym typeface="Symbol" panose="05050102010706020507" pitchFamily="18" charset="2"/>
                  </a:rPr>
                  <a:t>1</a:t>
                </a:r>
                <a:r>
                  <a:rPr lang="en-US" altLang="en-US" sz="2400" baseline="30000" dirty="0">
                    <a:sym typeface="Symbol" panose="05050102010706020507" pitchFamily="18" charset="2"/>
                  </a:rPr>
                  <a:t>b</a:t>
                </a:r>
                <a:r>
                  <a:rPr lang="en-US" altLang="en-US" sz="2400" dirty="0">
                    <a:sym typeface="Symbol" panose="05050102010706020507" pitchFamily="18" charset="2"/>
                  </a:rPr>
                  <a:t>1  p</a:t>
                </a:r>
                <a:r>
                  <a:rPr lang="en-US" altLang="en-US" sz="2400" baseline="-25000" dirty="0">
                    <a:sym typeface="Symbol" panose="05050102010706020507" pitchFamily="18" charset="2"/>
                  </a:rPr>
                  <a:t>2</a:t>
                </a:r>
                <a:r>
                  <a:rPr lang="en-US" altLang="en-US" sz="2400" baseline="30000" dirty="0">
                    <a:sym typeface="Symbol" panose="05050102010706020507" pitchFamily="18" charset="2"/>
                  </a:rPr>
                  <a:t>b</a:t>
                </a:r>
                <a:r>
                  <a:rPr lang="en-US" altLang="en-US" sz="2400" dirty="0">
                    <a:sym typeface="Symbol" panose="05050102010706020507" pitchFamily="18" charset="2"/>
                  </a:rPr>
                  <a:t>2 … </a:t>
                </a:r>
                <a:r>
                  <a:rPr lang="en-US" altLang="en-US" sz="2400" dirty="0" err="1">
                    <a:sym typeface="Symbol" panose="05050102010706020507" pitchFamily="18" charset="2"/>
                  </a:rPr>
                  <a:t>p</a:t>
                </a:r>
                <a:r>
                  <a:rPr lang="en-US" altLang="en-US" sz="2400" baseline="-25000" dirty="0" err="1">
                    <a:sym typeface="Symbol" panose="05050102010706020507" pitchFamily="18" charset="2"/>
                  </a:rPr>
                  <a:t>n</a:t>
                </a:r>
                <a:r>
                  <a:rPr lang="en-US" altLang="en-US" sz="2400" baseline="30000" dirty="0" err="1">
                    <a:sym typeface="Symbol" panose="05050102010706020507" pitchFamily="18" charset="2"/>
                  </a:rPr>
                  <a:t>b</a:t>
                </a:r>
                <a:r>
                  <a:rPr lang="en-US" altLang="en-US" sz="2400" dirty="0" err="1">
                    <a:sym typeface="Symbol" panose="05050102010706020507" pitchFamily="18" charset="2"/>
                  </a:rPr>
                  <a:t>n</a:t>
                </a:r>
                <a:r>
                  <a:rPr lang="en-US" altLang="en-US" sz="2400" dirty="0">
                    <a:sym typeface="Symbol" panose="05050102010706020507" pitchFamily="18" charset="2"/>
                  </a:rPr>
                  <a:t> ,</a:t>
                </a:r>
              </a:p>
              <a:p>
                <a:pPr marL="0" indent="0">
                  <a:lnSpc>
                    <a:spcPct val="110000"/>
                  </a:lnSpc>
                  <a:spcBef>
                    <a:spcPct val="0"/>
                  </a:spcBef>
                  <a:buNone/>
                  <a:defRPr/>
                </a:pPr>
                <a:r>
                  <a:rPr lang="en-US" altLang="en-US" sz="2400" dirty="0">
                    <a:sym typeface="Symbol" panose="05050102010706020507" pitchFamily="18" charset="2"/>
                  </a:rPr>
                  <a:t>where p</a:t>
                </a:r>
                <a:r>
                  <a:rPr lang="en-US" altLang="en-US" sz="2400" baseline="-25000" dirty="0">
                    <a:sym typeface="Symbol" panose="05050102010706020507" pitchFamily="18" charset="2"/>
                  </a:rPr>
                  <a:t>1</a:t>
                </a:r>
                <a:r>
                  <a:rPr lang="en-US" altLang="en-US" sz="2400" dirty="0">
                    <a:sym typeface="Symbol" panose="05050102010706020507" pitchFamily="18" charset="2"/>
                  </a:rPr>
                  <a:t> &lt; p</a:t>
                </a:r>
                <a:r>
                  <a:rPr lang="en-US" altLang="en-US" sz="2400" baseline="-25000" dirty="0">
                    <a:sym typeface="Symbol" panose="05050102010706020507" pitchFamily="18" charset="2"/>
                  </a:rPr>
                  <a:t>2</a:t>
                </a:r>
                <a:r>
                  <a:rPr lang="en-US" altLang="en-US" sz="2400" dirty="0">
                    <a:sym typeface="Symbol" panose="05050102010706020507" pitchFamily="18" charset="2"/>
                  </a:rPr>
                  <a:t> &lt; … &lt; </a:t>
                </a:r>
                <a:r>
                  <a:rPr lang="en-US" altLang="en-US" sz="2400" dirty="0" err="1">
                    <a:sym typeface="Symbol" panose="05050102010706020507" pitchFamily="18" charset="2"/>
                  </a:rPr>
                  <a:t>p</a:t>
                </a:r>
                <a:r>
                  <a:rPr lang="en-US" altLang="en-US" sz="2400" baseline="-25000" dirty="0" err="1">
                    <a:sym typeface="Symbol" panose="05050102010706020507" pitchFamily="18" charset="2"/>
                  </a:rPr>
                  <a:t>n</a:t>
                </a:r>
                <a:r>
                  <a:rPr lang="en-US" altLang="en-US" sz="2400" dirty="0">
                    <a:sym typeface="Symbol" panose="05050102010706020507" pitchFamily="18" charset="2"/>
                  </a:rPr>
                  <a:t> and a</a:t>
                </a:r>
                <a:r>
                  <a:rPr lang="en-US" altLang="en-US" sz="2400" baseline="-25000" dirty="0">
                    <a:sym typeface="Symbol" panose="05050102010706020507" pitchFamily="18" charset="2"/>
                  </a:rPr>
                  <a:t>i</a:t>
                </a:r>
                <a:r>
                  <a:rPr lang="en-US" altLang="en-US" sz="2400" dirty="0">
                    <a:sym typeface="Symbol" panose="05050102010706020507" pitchFamily="18" charset="2"/>
                  </a:rPr>
                  <a:t>, b</a:t>
                </a:r>
                <a:r>
                  <a:rPr lang="en-US" altLang="en-US" sz="2400" baseline="-25000" dirty="0">
                    <a:sym typeface="Symbol" panose="05050102010706020507" pitchFamily="18" charset="2"/>
                  </a:rPr>
                  <a:t>i</a:t>
                </a:r>
                <a:r>
                  <a:rPr lang="en-US" altLang="en-US" sz="2400" dirty="0">
                    <a:sym typeface="Symbol" panose="05050102010706020507" pitchFamily="18" charset="2"/>
                  </a:rPr>
                  <a:t>  </a:t>
                </a:r>
                <a:r>
                  <a:rPr lang="en-US" altLang="en-US" sz="2400" b="1" dirty="0">
                    <a:sym typeface="Symbol" panose="05050102010706020507" pitchFamily="18" charset="2"/>
                  </a:rPr>
                  <a:t>N</a:t>
                </a:r>
                <a:r>
                  <a:rPr lang="en-US" altLang="en-US" sz="2400" dirty="0">
                    <a:sym typeface="Symbol" panose="05050102010706020507" pitchFamily="18" charset="2"/>
                  </a:rPr>
                  <a:t> for 1  </a:t>
                </a:r>
                <a:r>
                  <a:rPr lang="en-US" altLang="en-US" sz="2400" dirty="0" err="1">
                    <a:sym typeface="Symbol" panose="05050102010706020507" pitchFamily="18" charset="2"/>
                  </a:rPr>
                  <a:t>i</a:t>
                </a:r>
                <a:r>
                  <a:rPr lang="en-US" altLang="en-US" sz="2400" dirty="0">
                    <a:sym typeface="Symbol" panose="05050102010706020507" pitchFamily="18" charset="2"/>
                  </a:rPr>
                  <a:t>  n</a:t>
                </a:r>
              </a:p>
              <a:p>
                <a:pPr marL="0" indent="0">
                  <a:lnSpc>
                    <a:spcPct val="110000"/>
                  </a:lnSpc>
                  <a:spcBef>
                    <a:spcPct val="0"/>
                  </a:spcBef>
                  <a:buNone/>
                  <a:defRPr/>
                </a:pPr>
                <a:r>
                  <a:rPr lang="en-US" altLang="en-US" sz="2400" dirty="0" err="1">
                    <a:sym typeface="Symbol" panose="05050102010706020507" pitchFamily="18" charset="2"/>
                  </a:rPr>
                  <a:t>gcd</a:t>
                </a:r>
                <a:r>
                  <a:rPr lang="en-US" altLang="en-US" sz="2400" dirty="0">
                    <a:sym typeface="Symbol" panose="05050102010706020507" pitchFamily="18" charset="2"/>
                  </a:rPr>
                  <a:t>(a, b) = p</a:t>
                </a:r>
                <a:r>
                  <a:rPr lang="en-US" altLang="en-US" sz="2400" baseline="-25000" dirty="0">
                    <a:sym typeface="Symbol" panose="05050102010706020507" pitchFamily="18" charset="2"/>
                  </a:rPr>
                  <a:t>1</a:t>
                </a:r>
                <a:r>
                  <a:rPr lang="en-US" altLang="en-US" sz="2400" baseline="30000" dirty="0">
                    <a:sym typeface="Symbol" panose="05050102010706020507" pitchFamily="18" charset="2"/>
                  </a:rPr>
                  <a:t>min(a</a:t>
                </a:r>
                <a:r>
                  <a:rPr lang="en-US" altLang="en-US" sz="2400" dirty="0">
                    <a:sym typeface="Symbol" panose="05050102010706020507" pitchFamily="18" charset="2"/>
                  </a:rPr>
                  <a:t>1</a:t>
                </a:r>
                <a:r>
                  <a:rPr lang="en-US" altLang="en-US" sz="2400" baseline="30000" dirty="0">
                    <a:sym typeface="Symbol" panose="05050102010706020507" pitchFamily="18" charset="2"/>
                  </a:rPr>
                  <a:t>, b</a:t>
                </a:r>
                <a:r>
                  <a:rPr lang="en-US" altLang="en-US" sz="2400" dirty="0">
                    <a:sym typeface="Symbol" panose="05050102010706020507" pitchFamily="18" charset="2"/>
                  </a:rPr>
                  <a:t>1 </a:t>
                </a:r>
                <a:r>
                  <a:rPr lang="en-US" altLang="en-US" sz="2400" baseline="30000" dirty="0">
                    <a:sym typeface="Symbol" panose="05050102010706020507" pitchFamily="18" charset="2"/>
                  </a:rPr>
                  <a:t>)</a:t>
                </a:r>
                <a:r>
                  <a:rPr lang="en-US" altLang="en-US" sz="2400" dirty="0">
                    <a:sym typeface="Symbol" panose="05050102010706020507" pitchFamily="18" charset="2"/>
                  </a:rPr>
                  <a:t> p</a:t>
                </a:r>
                <a:r>
                  <a:rPr lang="en-US" altLang="en-US" sz="2400" baseline="-25000" dirty="0">
                    <a:sym typeface="Symbol" panose="05050102010706020507" pitchFamily="18" charset="2"/>
                  </a:rPr>
                  <a:t>2</a:t>
                </a:r>
                <a:r>
                  <a:rPr lang="en-US" altLang="en-US" sz="2400" baseline="30000" dirty="0">
                    <a:sym typeface="Symbol" panose="05050102010706020507" pitchFamily="18" charset="2"/>
                  </a:rPr>
                  <a:t>min(a</a:t>
                </a:r>
                <a:r>
                  <a:rPr lang="en-US" altLang="en-US" sz="2400" dirty="0">
                    <a:sym typeface="Symbol" panose="05050102010706020507" pitchFamily="18" charset="2"/>
                  </a:rPr>
                  <a:t>2</a:t>
                </a:r>
                <a:r>
                  <a:rPr lang="en-US" altLang="en-US" sz="2400" baseline="30000" dirty="0">
                    <a:sym typeface="Symbol" panose="05050102010706020507" pitchFamily="18" charset="2"/>
                  </a:rPr>
                  <a:t>, b</a:t>
                </a:r>
                <a:r>
                  <a:rPr lang="en-US" altLang="en-US" sz="2400" dirty="0">
                    <a:sym typeface="Symbol" panose="05050102010706020507" pitchFamily="18" charset="2"/>
                  </a:rPr>
                  <a:t>2 </a:t>
                </a:r>
                <a:r>
                  <a:rPr lang="en-US" altLang="en-US" sz="2400" baseline="30000" dirty="0">
                    <a:sym typeface="Symbol" panose="05050102010706020507" pitchFamily="18" charset="2"/>
                  </a:rPr>
                  <a:t>)</a:t>
                </a:r>
                <a:r>
                  <a:rPr lang="en-US" altLang="en-US" sz="2400" dirty="0">
                    <a:sym typeface="Symbol" panose="05050102010706020507" pitchFamily="18" charset="2"/>
                  </a:rPr>
                  <a:t> … </a:t>
                </a:r>
                <a:r>
                  <a:rPr lang="en-US" altLang="en-US" sz="2400" dirty="0" err="1">
                    <a:sym typeface="Symbol" panose="05050102010706020507" pitchFamily="18" charset="2"/>
                  </a:rPr>
                  <a:t>p</a:t>
                </a:r>
                <a:r>
                  <a:rPr lang="en-US" altLang="en-US" sz="2400" baseline="-25000" dirty="0" err="1">
                    <a:sym typeface="Symbol" panose="05050102010706020507" pitchFamily="18" charset="2"/>
                  </a:rPr>
                  <a:t>n</a:t>
                </a:r>
                <a:r>
                  <a:rPr lang="en-US" altLang="en-US" sz="2400" baseline="30000" dirty="0" err="1">
                    <a:sym typeface="Symbol" panose="05050102010706020507" pitchFamily="18" charset="2"/>
                  </a:rPr>
                  <a:t>min</a:t>
                </a:r>
                <a:r>
                  <a:rPr lang="en-US" altLang="en-US" sz="2400" baseline="30000" dirty="0">
                    <a:sym typeface="Symbol" panose="05050102010706020507" pitchFamily="18" charset="2"/>
                  </a:rPr>
                  <a:t>(a</a:t>
                </a:r>
                <a:r>
                  <a:rPr lang="en-US" altLang="en-US" sz="2400" dirty="0">
                    <a:sym typeface="Symbol" panose="05050102010706020507" pitchFamily="18" charset="2"/>
                  </a:rPr>
                  <a:t>n</a:t>
                </a:r>
                <a:r>
                  <a:rPr lang="en-US" altLang="en-US" sz="2400" baseline="30000" dirty="0">
                    <a:sym typeface="Symbol" panose="05050102010706020507" pitchFamily="18" charset="2"/>
                  </a:rPr>
                  <a:t>, b</a:t>
                </a:r>
                <a:r>
                  <a:rPr lang="en-US" altLang="en-US" sz="2400" dirty="0">
                    <a:sym typeface="Symbol" panose="05050102010706020507" pitchFamily="18" charset="2"/>
                  </a:rPr>
                  <a:t>n </a:t>
                </a:r>
                <a:r>
                  <a:rPr lang="en-US" altLang="en-US" sz="2400" baseline="30000" dirty="0">
                    <a:sym typeface="Symbol" panose="05050102010706020507" pitchFamily="18" charset="2"/>
                  </a:rPr>
                  <a:t>)</a:t>
                </a:r>
                <a:r>
                  <a:rPr lang="en-US" altLang="en-US" sz="2400" dirty="0">
                    <a:sym typeface="Symbol" panose="05050102010706020507" pitchFamily="18" charset="2"/>
                  </a:rPr>
                  <a:t> </a:t>
                </a:r>
              </a:p>
              <a:p>
                <a:pPr marL="0" indent="0">
                  <a:lnSpc>
                    <a:spcPct val="110000"/>
                  </a:lnSpc>
                  <a:spcBef>
                    <a:spcPct val="0"/>
                  </a:spcBef>
                  <a:defRPr/>
                </a:pPr>
                <a:endParaRPr lang="en-US" altLang="en-US" sz="2400" dirty="0">
                  <a:sym typeface="Symbol" panose="05050102010706020507" pitchFamily="18" charset="2"/>
                </a:endParaRPr>
              </a:p>
              <a:p>
                <a:pPr marL="0" indent="0">
                  <a:lnSpc>
                    <a:spcPct val="110000"/>
                  </a:lnSpc>
                  <a:spcBef>
                    <a:spcPct val="0"/>
                  </a:spcBef>
                  <a:buNone/>
                  <a:defRPr/>
                </a:pPr>
                <a:r>
                  <a:rPr lang="en-US" altLang="en-US" sz="2400" b="1" dirty="0">
                    <a:sym typeface="Symbol" panose="05050102010706020507" pitchFamily="18" charset="2"/>
                  </a:rPr>
                  <a:t>Example:</a:t>
                </a:r>
              </a:p>
              <a:p>
                <a:pPr marL="0" indent="0">
                  <a:lnSpc>
                    <a:spcPct val="110000"/>
                  </a:lnSpc>
                  <a:spcBef>
                    <a:spcPct val="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𝑎</m:t>
                      </m:r>
                      <m:r>
                        <a:rPr lang="en-US" alt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=60=</m:t>
                      </m:r>
                      <m:sSup>
                        <m:sSupPr>
                          <m:ctrlPr>
                            <a:rPr lang="en-US" alt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lang="en-US" alt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  <m:t>2</m:t>
                          </m:r>
                        </m:e>
                        <m:sup>
                          <m:r>
                            <a:rPr lang="en-US" alt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en-US" alt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lang="en-US" alt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  <m:t>3</m:t>
                          </m:r>
                        </m:e>
                        <m:sup>
                          <m:r>
                            <a:rPr lang="en-US" alt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alt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lang="en-US" alt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  <m:t>5</m:t>
                          </m:r>
                        </m:e>
                        <m:sup>
                          <m:r>
                            <a:rPr lang="en-US" alt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en-US" altLang="en-US" sz="2400" dirty="0">
                  <a:sym typeface="Symbol" panose="05050102010706020507" pitchFamily="18" charset="2"/>
                </a:endParaRPr>
              </a:p>
              <a:p>
                <a:pPr marL="0" indent="0" algn="just">
                  <a:lnSpc>
                    <a:spcPct val="110000"/>
                  </a:lnSpc>
                  <a:spcBef>
                    <a:spcPct val="0"/>
                  </a:spcBef>
                  <a:buNone/>
                  <a:tabLst>
                    <a:tab pos="6546850" algn="l"/>
                  </a:tabLs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𝑏</m:t>
                      </m:r>
                      <m:r>
                        <a:rPr lang="en-US" alt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=54=</m:t>
                      </m:r>
                      <m:sSup>
                        <m:sSupPr>
                          <m:ctrlPr>
                            <a:rPr lang="en-US" alt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lang="en-US" alt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  <m:t>2</m:t>
                          </m:r>
                        </m:e>
                        <m:sup>
                          <m:r>
                            <a:rPr lang="en-US" alt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alt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lang="en-US" alt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  <m:t>3</m:t>
                          </m:r>
                        </m:e>
                        <m:sup>
                          <m:r>
                            <a:rPr lang="en-US" alt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  <m:t>3</m:t>
                          </m:r>
                        </m:sup>
                      </m:sSup>
                      <m:sSup>
                        <m:sSupPr>
                          <m:ctrlPr>
                            <a:rPr lang="en-US" alt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lang="en-US" alt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  <m:t>5</m:t>
                          </m:r>
                        </m:e>
                        <m:sup>
                          <m:r>
                            <a:rPr lang="en-US" alt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  <m:t>0</m:t>
                          </m:r>
                        </m:sup>
                      </m:sSup>
                    </m:oMath>
                  </m:oMathPara>
                </a14:m>
                <a:endParaRPr lang="en-US" altLang="en-US" sz="2400" dirty="0">
                  <a:sym typeface="Symbol" panose="05050102010706020507" pitchFamily="18" charset="2"/>
                </a:endParaRPr>
              </a:p>
              <a:p>
                <a:pPr marL="0" indent="0" algn="just">
                  <a:lnSpc>
                    <a:spcPct val="110000"/>
                  </a:lnSpc>
                  <a:spcBef>
                    <a:spcPct val="0"/>
                  </a:spcBef>
                  <a:buNone/>
                  <a:tabLst>
                    <a:tab pos="6546850" algn="l"/>
                  </a:tabLst>
                  <a:defRPr/>
                </a:pPr>
                <a:r>
                  <a:rPr lang="en-US" altLang="en-US" sz="2400" dirty="0" err="1">
                    <a:sym typeface="Symbol" panose="05050102010706020507" pitchFamily="18" charset="2"/>
                  </a:rPr>
                  <a:t>gcd</a:t>
                </a:r>
                <a:r>
                  <a:rPr lang="en-US" altLang="en-US" sz="2400" dirty="0">
                    <a:sym typeface="Symbol" panose="05050102010706020507" pitchFamily="18" charset="2"/>
                  </a:rPr>
                  <a:t>(</a:t>
                </a:r>
                <a:r>
                  <a:rPr lang="en-US" altLang="en-US" sz="2400" dirty="0" err="1">
                    <a:sym typeface="Symbol" panose="05050102010706020507" pitchFamily="18" charset="2"/>
                  </a:rPr>
                  <a:t>a,b</a:t>
                </a:r>
                <a:r>
                  <a:rPr lang="en-US" altLang="en-US" sz="2400" dirty="0">
                    <a:sym typeface="Symbol" panose="05050102010706020507" pitchFamily="18" charset="2"/>
                  </a:rPr>
                  <a:t>)</a:t>
                </a:r>
                <a14:m>
                  <m:oMath xmlns:m="http://schemas.openxmlformats.org/officeDocument/2006/math">
                    <m:r>
                      <a:rPr lang="en-US" alt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  <m:sSup>
                      <m:sSupPr>
                        <m:ctrlPr>
                          <a:rPr lang="en-US" alt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pPr>
                      <m:e>
                        <m:r>
                          <a:rPr lang="en-US" alt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2</m:t>
                        </m:r>
                      </m:e>
                      <m:sup>
                        <m:r>
                          <a:rPr lang="en-US" alt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1</m:t>
                        </m:r>
                      </m:sup>
                    </m:sSup>
                    <m:sSup>
                      <m:sSupPr>
                        <m:ctrlPr>
                          <a:rPr lang="en-US" alt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pPr>
                      <m:e>
                        <m:r>
                          <a:rPr lang="en-US" alt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3</m:t>
                        </m:r>
                      </m:e>
                      <m:sup>
                        <m:r>
                          <a:rPr lang="en-US" alt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1</m:t>
                        </m:r>
                      </m:sup>
                    </m:sSup>
                    <m:sSup>
                      <m:sSupPr>
                        <m:ctrlPr>
                          <a:rPr lang="en-US" alt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pPr>
                      <m:e>
                        <m:r>
                          <a:rPr lang="en-US" alt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5</m:t>
                        </m:r>
                      </m:e>
                      <m:sup>
                        <m:r>
                          <a:rPr lang="en-US" alt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0</m:t>
                        </m:r>
                      </m:sup>
                    </m:sSup>
                    <m:r>
                      <a:rPr lang="en-US" alt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=6</m:t>
                    </m:r>
                  </m:oMath>
                </a14:m>
                <a:endParaRPr lang="en-US" altLang="en-US" sz="2400" dirty="0">
                  <a:sym typeface="Symbol" panose="05050102010706020507" pitchFamily="18" charset="2"/>
                </a:endParaRPr>
              </a:p>
            </p:txBody>
          </p:sp>
        </mc:Choice>
        <mc:Fallback>
          <p:sp>
            <p:nvSpPr>
              <p:cNvPr id="190467" name="Rectangle 3">
                <a:extLst>
                  <a:ext uri="{FF2B5EF4-FFF2-40B4-BE49-F238E27FC236}">
                    <a16:creationId xmlns:a16="http://schemas.microsoft.com/office/drawing/2014/main" id="{48885632-5A72-4562-A2C7-C505C1A84A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790700" y="1554958"/>
                <a:ext cx="8453230" cy="2738747"/>
              </a:xfrm>
              <a:blipFill>
                <a:blip r:embed="rId2"/>
                <a:stretch>
                  <a:fillRect l="-1154" b="-55457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3385BCE0-1FF6-4016-A716-F71221946851}"/>
              </a:ext>
            </a:extLst>
          </p:cNvPr>
          <p:cNvSpPr txBox="1"/>
          <p:nvPr/>
        </p:nvSpPr>
        <p:spPr>
          <a:xfrm>
            <a:off x="1790701" y="1016124"/>
            <a:ext cx="796927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2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200" b="1" dirty="0">
                <a:solidFill>
                  <a:srgbClr val="3333FF"/>
                </a:solidFill>
                <a:latin typeface="Aptos" panose="020B0004020202020204" pitchFamily="34" charset="0"/>
              </a:rPr>
              <a:t>GREATEST COMMON DIVISORS</a:t>
            </a:r>
            <a:endParaRPr lang="en-US" sz="3200" dirty="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2E6B9300-2330-4B4E-94A1-7AE8F0E7CE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0067" y="515093"/>
            <a:ext cx="472116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defTabSz="45720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prstClr val="black"/>
                </a:solidFill>
                <a:latin typeface="Aptos" panose="020B0004020202020204" pitchFamily="34" charset="0"/>
                <a:ea typeface="ＭＳ Ｐゴシック" charset="0"/>
                <a:cs typeface="Times New Roman" charset="0"/>
              </a:rPr>
              <a:t>1.3: Primes and Greatest Common Divisors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 show="0">
  <p:cSld>
    <p:spTree>
      <p:nvGrpSpPr>
        <p:cNvPr id="1" name="">
          <a:extLst>
            <a:ext uri="{FF2B5EF4-FFF2-40B4-BE49-F238E27FC236}">
              <a16:creationId xmlns:a16="http://schemas.microsoft.com/office/drawing/2014/main" id="{4E3A740A-D939-F452-7AA5-C6088FBC6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Slide Number Placeholder 1">
            <a:extLst>
              <a:ext uri="{FF2B5EF4-FFF2-40B4-BE49-F238E27FC236}">
                <a16:creationId xmlns:a16="http://schemas.microsoft.com/office/drawing/2014/main" id="{F91E8140-F370-8395-ABB9-DFF00BFB8B76}"/>
              </a:ext>
            </a:extLst>
          </p:cNvPr>
          <p:cNvSpPr txBox="1">
            <a:spLocks/>
          </p:cNvSpPr>
          <p:nvPr/>
        </p:nvSpPr>
        <p:spPr bwMode="auto">
          <a:xfrm>
            <a:off x="5987655" y="5747148"/>
            <a:ext cx="278606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defTabSz="457200" eaLnBrk="1" fontAlgn="base" hangingPunct="1">
              <a:spcBef>
                <a:spcPct val="0"/>
              </a:spcBef>
              <a:spcAft>
                <a:spcPct val="0"/>
              </a:spcAft>
            </a:pPr>
            <a:fld id="{16D97E07-83FF-9A4A-8513-7763AEB8EFE5}" type="slidenum">
              <a:rPr lang="en-US" altLang="en-US" sz="900">
                <a:solidFill>
                  <a:prstClr val="white"/>
                </a:solidFill>
              </a:rPr>
              <a:pPr algn="r" defTabSz="457200" eaLnBrk="1" fontAlgn="base" hangingPunct="1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US" altLang="en-US" sz="900">
              <a:solidFill>
                <a:prstClr val="white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1C1D17-4562-93BB-FECB-C7960EFFA122}"/>
              </a:ext>
            </a:extLst>
          </p:cNvPr>
          <p:cNvSpPr txBox="1"/>
          <p:nvPr/>
        </p:nvSpPr>
        <p:spPr>
          <a:xfrm>
            <a:off x="1597957" y="6497924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MY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prstClr val="black">
                  <a:lumMod val="50000"/>
                  <a:lumOff val="50000"/>
                </a:prst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A49834-9701-E65A-675C-5FBDEF24DD9C}"/>
              </a:ext>
            </a:extLst>
          </p:cNvPr>
          <p:cNvSpPr txBox="1"/>
          <p:nvPr/>
        </p:nvSpPr>
        <p:spPr>
          <a:xfrm>
            <a:off x="1597957" y="206188"/>
            <a:ext cx="3208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SCST1213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516A27-2359-0AD4-661B-622CED0BB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6644" y="6315361"/>
            <a:ext cx="2057400" cy="365125"/>
          </a:xfrm>
        </p:spPr>
        <p:txBody>
          <a:bodyPr/>
          <a:lstStyle/>
          <a:p>
            <a:pPr defTabSz="457200">
              <a:defRPr/>
            </a:pPr>
            <a:fld id="{ED7CD821-32F0-4921-85B8-393E69F49F82}" type="slidenum">
              <a:rPr lang="en-US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pPr defTabSz="457200">
                <a:defRPr/>
              </a:pPr>
              <a:t>2</a:t>
            </a:fld>
            <a:endParaRPr lang="en-US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003CF8F2-A5A6-6AE3-175B-051855385E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5110" y="649478"/>
            <a:ext cx="472116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defTabSz="45720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prstClr val="black"/>
                </a:solidFill>
                <a:latin typeface="Aptos" panose="020B0004020202020204" pitchFamily="34" charset="0"/>
                <a:ea typeface="ＭＳ Ｐゴシック" charset="0"/>
                <a:cs typeface="Times New Roman" charset="0"/>
              </a:rPr>
              <a:t>1.3: Primes and Greatest Common Divisors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C937B3-821C-D858-94C7-56B9071A1AA7}"/>
              </a:ext>
            </a:extLst>
          </p:cNvPr>
          <p:cNvSpPr txBox="1"/>
          <p:nvPr/>
        </p:nvSpPr>
        <p:spPr>
          <a:xfrm>
            <a:off x="1770881" y="1254767"/>
            <a:ext cx="796927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2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200" b="1" dirty="0">
                <a:solidFill>
                  <a:srgbClr val="3333FF"/>
                </a:solidFill>
                <a:latin typeface="Aptos" panose="020B0004020202020204" pitchFamily="34" charset="0"/>
              </a:rPr>
              <a:t>EXERCISES - Solution (3)</a:t>
            </a:r>
            <a:endParaRPr lang="en-US" sz="3200" dirty="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D9C59B8-A2F6-FB58-CBD4-3FEFD4B568DE}"/>
                  </a:ext>
                </a:extLst>
              </p:cNvPr>
              <p:cNvSpPr txBox="1"/>
              <p:nvPr/>
            </p:nvSpPr>
            <p:spPr>
              <a:xfrm>
                <a:off x="2116805" y="2239074"/>
                <a:ext cx="7111445" cy="36434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4572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800" dirty="0">
                    <a:solidFill>
                      <a:prstClr val="black"/>
                    </a:solidFill>
                    <a:latin typeface="Aptos" panose="020B0004020202020204" pitchFamily="34" charset="0"/>
                  </a:rPr>
                  <a:t>a) 120:</a:t>
                </a:r>
              </a:p>
              <a:p>
                <a:pPr defTabSz="4572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800" dirty="0">
                    <a:solidFill>
                      <a:prstClr val="black"/>
                    </a:solidFill>
                    <a:latin typeface="Aptos" panose="020B0004020202020204" pitchFamily="34" charset="0"/>
                  </a:rPr>
                  <a:t>=&gt; 120/2 = 60; 60/2 = 30; 30/2 = 15; 15/3 = 5</a:t>
                </a:r>
              </a:p>
              <a:p>
                <a:pPr defTabSz="4572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800" dirty="0">
                    <a:solidFill>
                      <a:srgbClr val="FF40FF"/>
                    </a:solidFill>
                    <a:latin typeface="Aptos" panose="020B0004020202020204" pitchFamily="34" charset="0"/>
                  </a:rPr>
                  <a:t>.: 120 </a:t>
                </a:r>
                <a14:m>
                  <m:oMath xmlns:m="http://schemas.openxmlformats.org/officeDocument/2006/math">
                    <m:r>
                      <a:rPr lang="en-US" sz="2800" i="1" dirty="0">
                        <a:solidFill>
                          <a:srgbClr val="FF4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800" i="1" dirty="0">
                            <a:solidFill>
                              <a:srgbClr val="FF40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 dirty="0">
                            <a:solidFill>
                              <a:srgbClr val="FF40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800" i="1" dirty="0">
                            <a:solidFill>
                              <a:srgbClr val="FF40F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800" i="1">
                        <a:solidFill>
                          <a:srgbClr val="FF4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sz="2800" i="1">
                        <a:solidFill>
                          <a:srgbClr val="FF4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  <m:r>
                      <a:rPr lang="en-US" sz="2800" i="1">
                        <a:solidFill>
                          <a:srgbClr val="FF4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sz="2800" i="1">
                        <a:solidFill>
                          <a:srgbClr val="FF4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</m:t>
                    </m:r>
                  </m:oMath>
                </a14:m>
                <a:endParaRPr lang="en-US" sz="2800" dirty="0">
                  <a:solidFill>
                    <a:srgbClr val="FF40FF"/>
                  </a:solidFill>
                  <a:latin typeface="Aptos" panose="020B0004020202020204" pitchFamily="34" charset="0"/>
                  <a:ea typeface="Cambria Math" panose="02040503050406030204" pitchFamily="18" charset="0"/>
                </a:endParaRPr>
              </a:p>
              <a:p>
                <a:pPr defTabSz="4572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 dirty="0">
                  <a:solidFill>
                    <a:srgbClr val="FF40FF"/>
                  </a:solidFill>
                  <a:latin typeface="Aptos" panose="020B0004020202020204" pitchFamily="34" charset="0"/>
                  <a:ea typeface="Cambria Math" panose="02040503050406030204" pitchFamily="18" charset="0"/>
                </a:endParaRPr>
              </a:p>
              <a:p>
                <a:pPr defTabSz="4572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800" dirty="0">
                    <a:solidFill>
                      <a:prstClr val="black"/>
                    </a:solidFill>
                    <a:latin typeface="Aptos" panose="020B0004020202020204" pitchFamily="34" charset="0"/>
                  </a:rPr>
                  <a:t>b) 45: </a:t>
                </a:r>
                <a:endParaRPr lang="en-US" sz="2800" i="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defTabSz="4572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800" dirty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=&gt; 45/3 =15; 15/3 = 5</a:t>
                </a:r>
              </a:p>
              <a:p>
                <a:pPr defTabSz="4572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dirty="0">
                          <a:solidFill>
                            <a:srgbClr val="FF40FF"/>
                          </a:solidFill>
                          <a:latin typeface="Cambria Math" panose="02040503050406030204" pitchFamily="18" charset="0"/>
                        </a:rPr>
                        <m:t>.:45</m:t>
                      </m:r>
                      <m:r>
                        <a:rPr lang="en-US" sz="2800" i="1" dirty="0">
                          <a:solidFill>
                            <a:srgbClr val="FF4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i="1" dirty="0">
                              <a:solidFill>
                                <a:srgbClr val="FF4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>
                              <a:solidFill>
                                <a:srgbClr val="FF40F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US" sz="2800" i="1" dirty="0">
                              <a:solidFill>
                                <a:srgbClr val="FF4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i="1">
                          <a:solidFill>
                            <a:srgbClr val="FF4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2800" i="1">
                          <a:solidFill>
                            <a:srgbClr val="FF4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sz="2800" dirty="0">
                  <a:solidFill>
                    <a:srgbClr val="FF40FF"/>
                  </a:solidFill>
                  <a:latin typeface="Aptos" panose="020B0004020202020204" pitchFamily="34" charset="0"/>
                  <a:ea typeface="Cambria Math" panose="02040503050406030204" pitchFamily="18" charset="0"/>
                </a:endParaRPr>
              </a:p>
              <a:p>
                <a:pPr defTabSz="4572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FF4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rgbClr val="FF4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solidFill>
                                <a:srgbClr val="FF4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US" sz="2800" i="1">
                              <a:solidFill>
                                <a:srgbClr val="FF4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800" i="1">
                          <a:solidFill>
                            <a:srgbClr val="FF4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.5=15</m:t>
                      </m:r>
                    </m:oMath>
                  </m:oMathPara>
                </a14:m>
                <a:endParaRPr lang="en-US" sz="2800" dirty="0">
                  <a:solidFill>
                    <a:srgbClr val="FF40FF"/>
                  </a:solidFill>
                  <a:latin typeface="Aptos" panose="020B0004020202020204" pitchFamily="34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D9C59B8-A2F6-FB58-CBD4-3FEFD4B568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6805" y="2239074"/>
                <a:ext cx="7111445" cy="3643433"/>
              </a:xfrm>
              <a:prstGeom prst="rect">
                <a:avLst/>
              </a:prstGeom>
              <a:blipFill>
                <a:blip r:embed="rId2"/>
                <a:stretch>
                  <a:fillRect l="-1714" t="-1505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00854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178</Words>
  <Application>Microsoft Office PowerPoint</Application>
  <PresentationFormat>Widescreen</PresentationFormat>
  <Paragraphs>29</Paragraphs>
  <Slides>2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3" baseType="lpstr">
      <vt:lpstr>ＭＳ Ｐゴシック</vt:lpstr>
      <vt:lpstr>Aptos</vt:lpstr>
      <vt:lpstr>Arial</vt:lpstr>
      <vt:lpstr>Bahnschrift Condensed</vt:lpstr>
      <vt:lpstr>Bahnschrift SemiBold Condensed</vt:lpstr>
      <vt:lpstr>Calibri</vt:lpstr>
      <vt:lpstr>Calibri Light</vt:lpstr>
      <vt:lpstr>Cambria Math</vt:lpstr>
      <vt:lpstr>Symbol</vt:lpstr>
      <vt:lpstr>Times New Roman</vt:lpstr>
      <vt:lpstr>1_Office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1</cp:revision>
  <dcterms:created xsi:type="dcterms:W3CDTF">2024-10-21T01:31:29Z</dcterms:created>
  <dcterms:modified xsi:type="dcterms:W3CDTF">2024-10-21T01:33:49Z</dcterms:modified>
</cp:coreProperties>
</file>