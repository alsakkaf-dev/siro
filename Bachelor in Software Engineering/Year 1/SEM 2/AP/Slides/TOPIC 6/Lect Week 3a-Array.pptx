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3" name="Google Shape;3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7" name="Google Shape;3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1" name="Google Shape;4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7" name="Google Shape;4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3" name="Google Shape;4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9" name="Google Shape;4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27" name="Google Shape;4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8" name="Google Shape;42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" name="Google Shape;4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2" name="Google Shape;4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9" name="Google Shape;4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5" name="Google Shape;5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2" name="Google Shape;5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6" name="Google Shape;5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3" name="Google Shape;5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2" name="Google Shape;59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" name="Google Shape;6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5" name="Google Shape;6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" name="Google Shape;62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9" name="Google Shape;63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0" name="Google Shape;6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1" name="Google Shape;6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4" name="Google Shape;6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5" name="Google Shape;68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6" name="Google Shape;6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9" name="Google Shape;70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0" name="Google Shape;72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1" name="Google Shape;7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4" name="Google Shape;74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5" name="Google Shape;75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6" name="Google Shape;76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9" name="Google Shape;77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6" name="Google Shape;78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3" name="Google Shape;79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5" name="Google Shape;80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3" name="Google Shape;81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9" name="Google Shape;81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5" name="Google Shape;82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7" name="Google Shape;83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3" name="Google Shape;84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9" name="Google Shape;84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6" name="Google Shape;85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7"/>
          <p:cNvSpPr txBox="1">
            <a:spLocks noGrp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7"/>
          <p:cNvSpPr txBox="1">
            <a:spLocks noGrp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25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57"/>
          <p:cNvSpPr txBox="1">
            <a:spLocks noGrp="1"/>
          </p:cNvSpPr>
          <p:nvPr>
            <p:ph type="dt" idx="10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7"/>
          <p:cNvSpPr txBox="1">
            <a:spLocks noGrp="1"/>
          </p:cNvSpPr>
          <p:nvPr>
            <p:ph type="ftr" idx="11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9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5" name="Google Shape;45;p59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9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0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0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matchingName="Title, Text, and Content">
  <p:cSld name="TEXT_AND_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1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6" name="Google Shape;56;p61"/>
          <p:cNvSpPr txBox="1">
            <a:spLocks noGrp="1"/>
          </p:cNvSpPr>
          <p:nvPr>
            <p:ph type="body" idx="2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7" name="Google Shape;57;p61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1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1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2"/>
          <p:cNvSpPr txBox="1">
            <a:spLocks noGrp="1"/>
          </p:cNvSpPr>
          <p:nvPr>
            <p:ph type="title"/>
          </p:nvPr>
        </p:nvSpPr>
        <p:spPr>
          <a:xfrm rot="5400000">
            <a:off x="4788694" y="2232819"/>
            <a:ext cx="5853112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2"/>
          <p:cNvSpPr txBox="1">
            <a:spLocks noGrp="1"/>
          </p:cNvSpPr>
          <p:nvPr>
            <p:ph type="body" idx="1"/>
          </p:nvPr>
        </p:nvSpPr>
        <p:spPr>
          <a:xfrm rot="5400000">
            <a:off x="826294" y="365919"/>
            <a:ext cx="5853112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3" name="Google Shape;63;p62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2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2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3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 rot="5400000">
            <a:off x="2535237" y="-20638"/>
            <a:ext cx="4530725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5" name="Google Shape;75;p6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64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4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1480" algn="l">
              <a:spcBef>
                <a:spcPts val="640"/>
              </a:spcBef>
              <a:spcAft>
                <a:spcPts val="0"/>
              </a:spcAft>
              <a:buSzPts val="2880"/>
              <a:buChar char="■"/>
              <a:defRPr sz="3200"/>
            </a:lvl1pPr>
            <a:lvl2pPr marL="914400" lvl="1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marL="1371600" lvl="2" indent="-31242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82" name="Google Shape;82;p6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65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5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5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6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6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6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1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93" name="Google Shape;93;p6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94" name="Google Shape;94;p6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1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95" name="Google Shape;95;p6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96" name="Google Shape;96;p67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7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7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8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8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102" name="Google Shape;102;p68"/>
          <p:cNvSpPr txBox="1">
            <a:spLocks noGrp="1"/>
          </p:cNvSpPr>
          <p:nvPr>
            <p:ph type="body" idx="2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103" name="Google Shape;103;p68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8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9" name="Google Shape;109;p69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9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9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6"/>
          <p:cNvGrpSpPr/>
          <p:nvPr/>
        </p:nvGrpSpPr>
        <p:grpSpPr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1" name="Google Shape;11;p56"/>
            <p:cNvSpPr txBox="1"/>
            <p:nvPr/>
          </p:nvSpPr>
          <p:spPr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2;p56"/>
            <p:cNvGrpSpPr/>
            <p:nvPr/>
          </p:nvGrpSpPr>
          <p:grpSpPr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3" name="Google Shape;13;p56"/>
              <p:cNvSpPr txBox="1"/>
              <p:nvPr/>
            </p:nvSpPr>
            <p:spPr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" name="Google Shape;14;p56"/>
              <p:cNvSpPr txBox="1"/>
              <p:nvPr/>
            </p:nvSpPr>
            <p:spPr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5" name="Google Shape;15;p56"/>
              <p:cNvCxnSpPr/>
              <p:nvPr/>
            </p:nvCxnSpPr>
            <p:spPr>
              <a:xfrm>
                <a:off x="0" y="3072"/>
                <a:ext cx="624" cy="0"/>
              </a:xfrm>
              <a:prstGeom prst="straightConnector1">
                <a:avLst/>
              </a:prstGeom>
              <a:noFill/>
              <a:ln w="50800" cap="flat" cmpd="sng">
                <a:solidFill>
                  <a:schemeClr val="l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56"/>
            <p:cNvGrpSpPr/>
            <p:nvPr/>
          </p:nvGrpSpPr>
          <p:grpSpPr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7" name="Google Shape;17;p56"/>
              <p:cNvSpPr txBox="1"/>
              <p:nvPr/>
            </p:nvSpPr>
            <p:spPr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8" name="Google Shape;18;p56"/>
              <p:cNvCxnSpPr/>
              <p:nvPr/>
            </p:nvCxnSpPr>
            <p:spPr>
              <a:xfrm>
                <a:off x="400" y="432"/>
                <a:ext cx="5088" cy="0"/>
              </a:xfrm>
              <a:prstGeom prst="straightConnector1">
                <a:avLst/>
              </a:prstGeom>
              <a:noFill/>
              <a:ln w="44450" cap="flat" cmpd="sng">
                <a:solidFill>
                  <a:schemeClr val="l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sp>
        <p:nvSpPr>
          <p:cNvPr id="19" name="Google Shape;19;p56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20" name="Google Shape;20;p56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862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2425" algn="l" rtl="0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08610" algn="l" rtl="0"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1" name="Google Shape;21;p56"/>
          <p:cNvSpPr txBox="1">
            <a:spLocks noGrp="1"/>
          </p:cNvSpPr>
          <p:nvPr>
            <p:ph type="dt" idx="10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2" name="Google Shape;22;p56"/>
          <p:cNvSpPr txBox="1">
            <a:spLocks noGrp="1"/>
          </p:cNvSpPr>
          <p:nvPr>
            <p:ph type="ftr" idx="11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3" name="Google Shape;23;p56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8"/>
          <p:cNvGrpSpPr/>
          <p:nvPr/>
        </p:nvGrpSpPr>
        <p:grpSpPr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32" name="Google Shape;32;p58"/>
            <p:cNvSpPr txBox="1"/>
            <p:nvPr/>
          </p:nvSpPr>
          <p:spPr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3" name="Google Shape;33;p58"/>
            <p:cNvGrpSpPr/>
            <p:nvPr/>
          </p:nvGrpSpPr>
          <p:grpSpPr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34" name="Google Shape;34;p58"/>
              <p:cNvSpPr txBox="1"/>
              <p:nvPr/>
            </p:nvSpPr>
            <p:spPr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35" name="Google Shape;35;p58"/>
              <p:cNvCxnSpPr/>
              <p:nvPr/>
            </p:nvCxnSpPr>
            <p:spPr>
              <a:xfrm>
                <a:off x="240" y="941"/>
                <a:ext cx="5232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</p:grpSp>
      <p:sp>
        <p:nvSpPr>
          <p:cNvPr id="36" name="Google Shape;36;p58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7" name="Google Shape;37;p58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862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2425" algn="l" rtl="0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08610" algn="l" rtl="0"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8" name="Google Shape;38;p58"/>
          <p:cNvSpPr txBox="1">
            <a:spLocks noGrp="1"/>
          </p:cNvSpPr>
          <p:nvPr>
            <p:ph type="dt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9" name="Google Shape;39;p58"/>
          <p:cNvSpPr txBox="1">
            <a:spLocks noGrp="1"/>
          </p:cNvSpPr>
          <p:nvPr>
            <p:ph type="ft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0" name="Google Shape;40;p58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</a:endParaRPr>
          </a:p>
        </p:txBody>
      </p:sp>
      <p:cxnSp>
        <p:nvCxnSpPr>
          <p:cNvPr id="41" name="Google Shape;41;p58"/>
          <p:cNvCxnSpPr/>
          <p:nvPr/>
        </p:nvCxnSpPr>
        <p:spPr>
          <a:xfrm>
            <a:off x="0" y="4876800"/>
            <a:ext cx="609600" cy="0"/>
          </a:xfrm>
          <a:prstGeom prst="straightConnector1">
            <a:avLst/>
          </a:prstGeom>
          <a:noFill/>
          <a:ln w="44450" cap="flat" cmpd="sng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3.bin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6.bin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7.bin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9.bin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10.bin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11.bin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12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oleObject" Target="../embeddings/oleObject13.bin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oleObject" Target="../embeddings/oleObject14.bin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oleObject" Target="../embeddings/oleObject15.bin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oleObject" Target="../embeddings/oleObject16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1"/>
          <p:cNvSpPr txBox="1">
            <a:spLocks noGrp="1"/>
          </p:cNvSpPr>
          <p:nvPr>
            <p:ph type="ctrTitle"/>
          </p:nvPr>
        </p:nvSpPr>
        <p:spPr>
          <a:xfrm>
            <a:off x="2057400" y="1377950"/>
            <a:ext cx="6629400" cy="171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imes New Roman" panose="02020603050405020304"/>
              <a:buNone/>
            </a:pPr>
            <a:r>
              <a:rPr lang="en-US" sz="4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</a:t>
            </a:r>
            <a:endParaRPr lang="en-US" sz="4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1"/>
          <p:cNvSpPr txBox="1">
            <a:spLocks noGrp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Lecture Week 3</a:t>
            </a:r>
            <a:endParaRPr lang="en-US" sz="4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Based on Slides of Dr. Norazah Yusof</a:t>
            </a:r>
            <a:endParaRPr lang="en-US" sz="16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Introducing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4" name="Google Shape;124;p2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600"/>
              <a:buFont typeface="Noto Sans Symbols"/>
              <a:buChar char="■"/>
            </a:pPr>
            <a:r>
              <a:rPr lang="en-US" sz="4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 is a data structure that represents a </a:t>
            </a:r>
            <a:r>
              <a:rPr lang="en-US" sz="4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collection of the same types of data</a:t>
            </a:r>
            <a:r>
              <a:rPr lang="en-US" sz="4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4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3600"/>
              <a:buFont typeface="Noto Sans Symbols"/>
              <a:buChar char="■"/>
            </a:pPr>
            <a:r>
              <a:rPr lang="en-US" sz="4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Java, array is an object that can store a group of values, all of the same type.</a:t>
            </a:r>
            <a:endParaRPr lang="en-US" sz="4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Declare and create an array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Google Shape;130;p3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240"/>
              <a:buFont typeface="Noto Sans Symbols"/>
              <a:buChar char="■"/>
            </a:pPr>
            <a:r>
              <a:rPr lang="en-US" sz="36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</a:t>
            </a:r>
            <a:r>
              <a:rPr lang="en-US" sz="3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and </a:t>
            </a:r>
            <a:r>
              <a:rPr lang="en-US" sz="36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</a:t>
            </a:r>
            <a:r>
              <a:rPr lang="en-US" sz="3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array is similar to create and create any other type of object.</a:t>
            </a:r>
            <a:endParaRPr lang="en-US" sz="3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3240"/>
              <a:buFont typeface="Noto Sans Symbols"/>
              <a:buChar char="■"/>
            </a:pPr>
            <a:r>
              <a:rPr lang="en-US" sz="3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Example question:</a:t>
            </a:r>
            <a:endParaRPr lang="en-US" sz="3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550"/>
              <a:buNone/>
            </a:pPr>
            <a:r>
              <a:rPr lang="en-US" sz="3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US" sz="3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 and create 10-element double array referenced by the variable, myList.</a:t>
            </a:r>
            <a:endParaRPr lang="en-US" sz="3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914400" y="296862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 panose="02020603050405020304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Declare and create an array in two steps</a:t>
            </a:r>
            <a:endParaRPr lang="en-US" sz="44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Step 1: declare an array reference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datatype[] arrayRefVar;</a:t>
            </a:r>
            <a:endParaRPr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	</a:t>
            </a: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</a:t>
            </a:r>
            <a:r>
              <a:rPr lang="en-US" sz="26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 arrayRefVar[];</a:t>
            </a:r>
            <a:r>
              <a:rPr lang="en-US" sz="26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b="1" i="0" u="none">
                <a:solidFill>
                  <a:srgbClr val="FF66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</a:t>
            </a:r>
            <a:r>
              <a:rPr lang="en-US" sz="2000" b="1" i="0" u="sng">
                <a:solidFill>
                  <a:srgbClr val="FF66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style is allowed, </a:t>
            </a:r>
            <a:r>
              <a:rPr lang="en-US" sz="2000" b="1" i="0" u="none">
                <a:solidFill>
                  <a:srgbClr val="FF66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       		       // </a:t>
            </a:r>
            <a:r>
              <a:rPr lang="en-US" sz="2000" b="1" i="0" u="sng">
                <a:solidFill>
                  <a:srgbClr val="FF66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but not preferred</a:t>
            </a:r>
            <a:endParaRPr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Step 2: create an array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arrayRefVar = new datatype[arraySize];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Example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</a:t>
            </a: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myList = new double[10];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xfrm>
            <a:off x="914400" y="296862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 panose="02020603050405020304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Declare and create an array in one step</a:t>
            </a:r>
            <a:endParaRPr lang="en-US" sz="44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534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 and create the array</a:t>
            </a:r>
            <a:endParaRPr sz="26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datatype[] arrayRefVar = new datatype[arraySize];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or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 arrayRefVar[] = new datatype[arraySize];</a:t>
            </a:r>
            <a:endParaRPr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None/>
            </a:pPr>
            <a:endParaRPr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Example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	</a:t>
            </a: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 = new double[10];</a:t>
            </a:r>
            <a:endParaRPr lang="en-US" sz="28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or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 myList[] = new double[10];</a:t>
            </a:r>
            <a:endParaRPr lang="en-US" sz="28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Length of an Array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6"/>
          <p:cNvSpPr txBox="1">
            <a:spLocks noGrp="1"/>
          </p:cNvSpPr>
          <p:nvPr>
            <p:ph type="body" idx="1"/>
          </p:nvPr>
        </p:nvSpPr>
        <p:spPr>
          <a:xfrm>
            <a:off x="685800" y="17526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3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Once an array is created, its size is fixed. It cannot be changed. You can find its size using </a:t>
            </a:r>
            <a:endParaRPr lang="en-US" sz="3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2790"/>
              <a:buNone/>
            </a:pPr>
            <a:r>
              <a:rPr lang="en-US" sz="31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arrayRefVar.length</a:t>
            </a:r>
            <a:endParaRPr lang="en-US" sz="31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0" lvl="2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endParaRPr sz="28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80"/>
              <a:buNone/>
            </a:pPr>
            <a:r>
              <a:rPr lang="en-US" sz="3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example,</a:t>
            </a:r>
            <a:endParaRPr lang="en-US" sz="3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myList.length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returns 10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Google Shape;159;p7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Default Values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0" name="Google Shape;160;p7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8610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3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When an array is created, its elements are assigned the </a:t>
            </a:r>
            <a:r>
              <a:rPr lang="en-US" sz="3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default value</a:t>
            </a:r>
            <a:r>
              <a:rPr lang="en-US" sz="3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of </a:t>
            </a:r>
            <a:endParaRPr lang="en-US" sz="3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</a:pPr>
            <a:endParaRPr sz="3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sz="28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</a:t>
            </a:r>
            <a:r>
              <a:rPr lang="en-US" sz="28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the numeric primitive data types,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sz="28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'\u0000'</a:t>
            </a: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(unicode value) for </a:t>
            </a:r>
            <a:r>
              <a:rPr lang="en-US" sz="2800" b="1" i="0" u="sng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char</a:t>
            </a: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types, and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sz="28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false</a:t>
            </a: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for </a:t>
            </a:r>
            <a:r>
              <a:rPr lang="en-US" sz="2800" b="1" i="0" u="sng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boolean</a:t>
            </a: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types.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693737" y="203200"/>
            <a:ext cx="7772400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66800" y="1981200"/>
            <a:ext cx="7162800" cy="45243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68" name="Google Shape;168;p8"/>
          <p:cNvGrpSpPr/>
          <p:nvPr/>
        </p:nvGrpSpPr>
        <p:grpSpPr>
          <a:xfrm>
            <a:off x="1157287" y="2684462"/>
            <a:ext cx="6983412" cy="4097337"/>
            <a:chOff x="729" y="1420"/>
            <a:chExt cx="4399" cy="2745"/>
          </a:xfrm>
        </p:grpSpPr>
        <p:sp>
          <p:nvSpPr>
            <p:cNvPr id="169" name="Google Shape;169;p8"/>
            <p:cNvSpPr txBox="1"/>
            <p:nvPr/>
          </p:nvSpPr>
          <p:spPr>
            <a:xfrm>
              <a:off x="3121" y="1771"/>
              <a:ext cx="689" cy="223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3389" y="179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3540" y="17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3389" y="2016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3389" y="2239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3540" y="22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3395" y="2461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6" name="Google Shape;176;p8"/>
            <p:cNvSpPr txBox="1"/>
            <p:nvPr/>
          </p:nvSpPr>
          <p:spPr>
            <a:xfrm>
              <a:off x="3570" y="246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3408" y="2684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3495" y="268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3395" y="2907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3600" y="29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3405" y="3130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3525" y="313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3395" y="335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3600" y="335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3395" y="3575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3630" y="357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3395" y="3798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3616" y="379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3465" y="402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2312" y="1420"/>
              <a:ext cx="24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2325" y="1439"/>
              <a:ext cx="237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ourier New" panose="020703090202050204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double[] myList = new double[10];</a:t>
              </a:r>
              <a:endParaRPr lang="en-US" sz="1500" b="0" i="0" u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192" name="Google Shape;192;p8"/>
            <p:cNvSpPr txBox="1"/>
            <p:nvPr/>
          </p:nvSpPr>
          <p:spPr>
            <a:xfrm>
              <a:off x="4002" y="14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1009" y="1700"/>
              <a:ext cx="388" cy="17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" name="Google Shape;194;p8"/>
            <p:cNvSpPr txBox="1"/>
            <p:nvPr/>
          </p:nvSpPr>
          <p:spPr>
            <a:xfrm>
              <a:off x="1036" y="1718"/>
              <a:ext cx="30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1334" y="1718"/>
              <a:ext cx="33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6" name="Google Shape;196;p8"/>
            <p:cNvSpPr txBox="1"/>
            <p:nvPr/>
          </p:nvSpPr>
          <p:spPr>
            <a:xfrm>
              <a:off x="1367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1453" y="1700"/>
              <a:ext cx="553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" name="Google Shape;198;p8"/>
            <p:cNvSpPr txBox="1"/>
            <p:nvPr/>
          </p:nvSpPr>
          <p:spPr>
            <a:xfrm>
              <a:off x="1507" y="1718"/>
              <a:ext cx="445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reference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9" name="Google Shape;199;p8"/>
            <p:cNvSpPr txBox="1"/>
            <p:nvPr/>
          </p:nvSpPr>
          <p:spPr>
            <a:xfrm>
              <a:off x="1950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200" name="Google Shape;200;p8"/>
            <p:cNvGrpSpPr/>
            <p:nvPr/>
          </p:nvGrpSpPr>
          <p:grpSpPr>
            <a:xfrm>
              <a:off x="1954" y="1733"/>
              <a:ext cx="1167" cy="93"/>
              <a:chOff x="1954" y="1829"/>
              <a:chExt cx="1167" cy="93"/>
            </a:xfrm>
          </p:grpSpPr>
          <p:cxnSp>
            <p:nvCxnSpPr>
              <p:cNvPr id="201" name="Google Shape;201;p8"/>
              <p:cNvCxnSpPr/>
              <p:nvPr/>
            </p:nvCxnSpPr>
            <p:spPr>
              <a:xfrm flipH="1">
                <a:off x="1954" y="1874"/>
                <a:ext cx="1107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02" name="Google Shape;202;p8"/>
              <p:cNvSpPr/>
              <p:nvPr/>
            </p:nvSpPr>
            <p:spPr>
              <a:xfrm>
                <a:off x="3028" y="1829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0" y="93"/>
                    </a:moveTo>
                    <a:lnTo>
                      <a:pt x="93" y="45"/>
                    </a:lnTo>
                    <a:lnTo>
                      <a:pt x="0" y="0"/>
                    </a:lnTo>
                    <a:lnTo>
                      <a:pt x="30" y="45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03" name="Google Shape;203;p8"/>
            <p:cNvSpPr txBox="1"/>
            <p:nvPr/>
          </p:nvSpPr>
          <p:spPr>
            <a:xfrm>
              <a:off x="2520" y="1807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2553" y="182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myList[0]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5" name="Google Shape;205;p8"/>
            <p:cNvSpPr txBox="1"/>
            <p:nvPr/>
          </p:nvSpPr>
          <p:spPr>
            <a:xfrm>
              <a:off x="3024" y="182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206" name="Google Shape;206;p8"/>
            <p:cNvCxnSpPr/>
            <p:nvPr/>
          </p:nvCxnSpPr>
          <p:spPr>
            <a:xfrm>
              <a:off x="3121" y="1972"/>
              <a:ext cx="674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7" name="Google Shape;207;p8"/>
            <p:cNvCxnSpPr/>
            <p:nvPr/>
          </p:nvCxnSpPr>
          <p:spPr>
            <a:xfrm>
              <a:off x="3129" y="2187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8" name="Google Shape;208;p8"/>
            <p:cNvCxnSpPr/>
            <p:nvPr/>
          </p:nvCxnSpPr>
          <p:spPr>
            <a:xfrm>
              <a:off x="3129" y="2424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9" name="Google Shape;209;p8"/>
            <p:cNvCxnSpPr/>
            <p:nvPr/>
          </p:nvCxnSpPr>
          <p:spPr>
            <a:xfrm>
              <a:off x="3121" y="2646"/>
              <a:ext cx="674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0" name="Google Shape;210;p8"/>
            <p:cNvCxnSpPr/>
            <p:nvPr/>
          </p:nvCxnSpPr>
          <p:spPr>
            <a:xfrm>
              <a:off x="3129" y="2854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1" name="Google Shape;211;p8"/>
            <p:cNvCxnSpPr/>
            <p:nvPr/>
          </p:nvCxnSpPr>
          <p:spPr>
            <a:xfrm>
              <a:off x="3129" y="3090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2" name="Google Shape;212;p8"/>
            <p:cNvCxnSpPr/>
            <p:nvPr/>
          </p:nvCxnSpPr>
          <p:spPr>
            <a:xfrm>
              <a:off x="3143" y="3305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3" name="Google Shape;213;p8"/>
            <p:cNvCxnSpPr/>
            <p:nvPr/>
          </p:nvCxnSpPr>
          <p:spPr>
            <a:xfrm>
              <a:off x="3136" y="3542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14" name="Google Shape;214;p8"/>
            <p:cNvCxnSpPr/>
            <p:nvPr/>
          </p:nvCxnSpPr>
          <p:spPr>
            <a:xfrm>
              <a:off x="3136" y="3778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15" name="Google Shape;215;p8"/>
            <p:cNvSpPr txBox="1"/>
            <p:nvPr/>
          </p:nvSpPr>
          <p:spPr>
            <a:xfrm>
              <a:off x="2520" y="2001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2553" y="2019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myList[1]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7" name="Google Shape;217;p8"/>
            <p:cNvSpPr txBox="1"/>
            <p:nvPr/>
          </p:nvSpPr>
          <p:spPr>
            <a:xfrm>
              <a:off x="3024" y="201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2520" y="2237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2553" y="225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myList[2]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3024" y="225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2513" y="2445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2546" y="2464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myList[3]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3017" y="246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2513" y="2689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8"/>
            <p:cNvSpPr txBox="1"/>
            <p:nvPr/>
          </p:nvSpPr>
          <p:spPr>
            <a:xfrm>
              <a:off x="2546" y="2707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myList[4]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3017" y="27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2505" y="2897"/>
              <a:ext cx="539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2538" y="291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myList[5]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9" name="Google Shape;229;p8"/>
            <p:cNvSpPr txBox="1"/>
            <p:nvPr/>
          </p:nvSpPr>
          <p:spPr>
            <a:xfrm>
              <a:off x="3010" y="291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0" name="Google Shape;230;p8"/>
            <p:cNvSpPr txBox="1"/>
            <p:nvPr/>
          </p:nvSpPr>
          <p:spPr>
            <a:xfrm>
              <a:off x="2513" y="3148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" name="Google Shape;231;p8"/>
            <p:cNvSpPr txBox="1"/>
            <p:nvPr/>
          </p:nvSpPr>
          <p:spPr>
            <a:xfrm>
              <a:off x="2546" y="316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myList[6]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3017" y="316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2513" y="3370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2546" y="3388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myList[7]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5" name="Google Shape;235;p8"/>
            <p:cNvSpPr txBox="1"/>
            <p:nvPr/>
          </p:nvSpPr>
          <p:spPr>
            <a:xfrm>
              <a:off x="3017" y="338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2505" y="3606"/>
              <a:ext cx="539" cy="1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" name="Google Shape;237;p8"/>
            <p:cNvSpPr txBox="1"/>
            <p:nvPr/>
          </p:nvSpPr>
          <p:spPr>
            <a:xfrm>
              <a:off x="2538" y="362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myList[8]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3010" y="362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2505" y="3821"/>
              <a:ext cx="539" cy="1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2538" y="3840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myList[9]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3010" y="384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242" name="Google Shape;242;p8"/>
            <p:cNvGrpSpPr/>
            <p:nvPr/>
          </p:nvGrpSpPr>
          <p:grpSpPr>
            <a:xfrm>
              <a:off x="3717" y="2937"/>
              <a:ext cx="615" cy="93"/>
              <a:chOff x="3717" y="3033"/>
              <a:chExt cx="615" cy="93"/>
            </a:xfrm>
          </p:grpSpPr>
          <p:cxnSp>
            <p:nvCxnSpPr>
              <p:cNvPr id="243" name="Google Shape;243;p8"/>
              <p:cNvCxnSpPr/>
              <p:nvPr/>
            </p:nvCxnSpPr>
            <p:spPr>
              <a:xfrm>
                <a:off x="3776" y="3079"/>
                <a:ext cx="556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44" name="Google Shape;244;p8"/>
              <p:cNvSpPr/>
              <p:nvPr/>
            </p:nvSpPr>
            <p:spPr>
              <a:xfrm>
                <a:off x="3717" y="3033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0"/>
                    </a:moveTo>
                    <a:lnTo>
                      <a:pt x="0" y="46"/>
                    </a:lnTo>
                    <a:lnTo>
                      <a:pt x="93" y="93"/>
                    </a:lnTo>
                    <a:lnTo>
                      <a:pt x="63" y="4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45" name="Google Shape;245;p8"/>
            <p:cNvSpPr txBox="1"/>
            <p:nvPr/>
          </p:nvSpPr>
          <p:spPr>
            <a:xfrm>
              <a:off x="4325" y="2904"/>
              <a:ext cx="803" cy="18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4385" y="2922"/>
              <a:ext cx="687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Element value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5065" y="2922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729" y="2237"/>
              <a:ext cx="883" cy="3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795" y="2254"/>
              <a:ext cx="851" cy="1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 panose="02020603050405020304"/>
                <a:buNone/>
              </a:pPr>
              <a:r>
                <a:rPr lang="en-US" sz="1500" b="1" i="0" u="none">
                  <a:solidFill>
                    <a:srgbClr val="0000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Array reference </a:t>
              </a:r>
              <a:endParaRPr lang="en-US" sz="1500" b="1" i="0" u="none">
                <a:solidFill>
                  <a:srgbClr val="0000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977" y="2393"/>
              <a:ext cx="419" cy="1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 panose="02020603050405020304"/>
                <a:buNone/>
              </a:pPr>
              <a:r>
                <a:rPr lang="en-US" sz="1500" b="1" i="0" u="none">
                  <a:solidFill>
                    <a:srgbClr val="0000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variable</a:t>
              </a:r>
              <a:endParaRPr lang="en-US" sz="1500" b="1" i="0" u="none">
                <a:solidFill>
                  <a:srgbClr val="0000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1361" y="23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252" name="Google Shape;252;p8"/>
            <p:cNvGrpSpPr/>
            <p:nvPr/>
          </p:nvGrpSpPr>
          <p:grpSpPr>
            <a:xfrm>
              <a:off x="1149" y="1859"/>
              <a:ext cx="93" cy="393"/>
              <a:chOff x="1149" y="1955"/>
              <a:chExt cx="93" cy="393"/>
            </a:xfrm>
          </p:grpSpPr>
          <p:cxnSp>
            <p:nvCxnSpPr>
              <p:cNvPr id="253" name="Google Shape;253;p8"/>
              <p:cNvCxnSpPr/>
              <p:nvPr/>
            </p:nvCxnSpPr>
            <p:spPr>
              <a:xfrm>
                <a:off x="1195" y="2013"/>
                <a:ext cx="1" cy="335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54" name="Google Shape;254;p8"/>
              <p:cNvSpPr/>
              <p:nvPr/>
            </p:nvSpPr>
            <p:spPr>
              <a:xfrm>
                <a:off x="1149" y="1955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93"/>
                    </a:moveTo>
                    <a:lnTo>
                      <a:pt x="47" y="0"/>
                    </a:lnTo>
                    <a:lnTo>
                      <a:pt x="0" y="93"/>
                    </a:lnTo>
                    <a:lnTo>
                      <a:pt x="47" y="63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55" name="Google Shape;255;p8"/>
            <p:cNvSpPr txBox="1"/>
            <p:nvPr/>
          </p:nvSpPr>
          <p:spPr>
            <a:xfrm>
              <a:off x="1059" y="2825"/>
              <a:ext cx="882" cy="3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" name="Google Shape;256;p8"/>
            <p:cNvSpPr txBox="1"/>
            <p:nvPr/>
          </p:nvSpPr>
          <p:spPr>
            <a:xfrm>
              <a:off x="1102" y="2842"/>
              <a:ext cx="834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Array element at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57" name="Google Shape;257;p8"/>
            <p:cNvSpPr txBox="1"/>
            <p:nvPr/>
          </p:nvSpPr>
          <p:spPr>
            <a:xfrm>
              <a:off x="1322" y="2981"/>
              <a:ext cx="35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index 5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58" name="Google Shape;258;p8"/>
            <p:cNvSpPr txBox="1"/>
            <p:nvPr/>
          </p:nvSpPr>
          <p:spPr>
            <a:xfrm>
              <a:off x="1676" y="298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259" name="Google Shape;259;p8"/>
            <p:cNvGrpSpPr/>
            <p:nvPr/>
          </p:nvGrpSpPr>
          <p:grpSpPr>
            <a:xfrm>
              <a:off x="1932" y="2930"/>
              <a:ext cx="582" cy="93"/>
              <a:chOff x="1932" y="3026"/>
              <a:chExt cx="582" cy="93"/>
            </a:xfrm>
          </p:grpSpPr>
          <p:cxnSp>
            <p:nvCxnSpPr>
              <p:cNvPr id="260" name="Google Shape;260;p8"/>
              <p:cNvCxnSpPr/>
              <p:nvPr/>
            </p:nvCxnSpPr>
            <p:spPr>
              <a:xfrm flipH="1">
                <a:off x="1932" y="3071"/>
                <a:ext cx="520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61" name="Google Shape;261;p8"/>
              <p:cNvSpPr/>
              <p:nvPr/>
            </p:nvSpPr>
            <p:spPr>
              <a:xfrm>
                <a:off x="2420" y="3026"/>
                <a:ext cx="94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4" h="93" extrusionOk="0">
                    <a:moveTo>
                      <a:pt x="0" y="93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30" y="47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262" name="Google Shape;262;p8"/>
          <p:cNvSpPr txBox="1"/>
          <p:nvPr/>
        </p:nvSpPr>
        <p:spPr>
          <a:xfrm>
            <a:off x="609600" y="1447800"/>
            <a:ext cx="7848600" cy="115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Subscript 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1" indent="-127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Integer contained within square brackets </a:t>
            </a:r>
            <a:endParaRPr lang="en-US" sz="20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Indicates one of array’s variables or elements</a:t>
            </a:r>
            <a:endParaRPr lang="en-US" sz="20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p9"/>
          <p:cNvSpPr txBox="1">
            <a:spLocks noGrp="1"/>
          </p:cNvSpPr>
          <p:nvPr>
            <p:ph type="title"/>
          </p:nvPr>
        </p:nvSpPr>
        <p:spPr>
          <a:xfrm>
            <a:off x="693737" y="203200"/>
            <a:ext cx="7772400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609600" y="1600200"/>
            <a:ext cx="7848600" cy="112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Array’s elements numbered beginning with zero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 legally use any subscript from 0 through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myList.length-1</a:t>
            </a:r>
            <a:endParaRPr lang="en-US" sz="2000" b="1" i="0" u="none" strike="noStrike" cap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pSp>
        <p:nvGrpSpPr>
          <p:cNvPr id="270" name="Google Shape;270;p9"/>
          <p:cNvGrpSpPr/>
          <p:nvPr/>
        </p:nvGrpSpPr>
        <p:grpSpPr>
          <a:xfrm>
            <a:off x="1157287" y="2684462"/>
            <a:ext cx="6983412" cy="4097337"/>
            <a:chOff x="729" y="1420"/>
            <a:chExt cx="4399" cy="2745"/>
          </a:xfrm>
        </p:grpSpPr>
        <p:sp>
          <p:nvSpPr>
            <p:cNvPr id="271" name="Google Shape;271;p9"/>
            <p:cNvSpPr txBox="1"/>
            <p:nvPr/>
          </p:nvSpPr>
          <p:spPr>
            <a:xfrm>
              <a:off x="3121" y="1771"/>
              <a:ext cx="689" cy="223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3389" y="179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3" name="Google Shape;273;p9"/>
            <p:cNvSpPr txBox="1"/>
            <p:nvPr/>
          </p:nvSpPr>
          <p:spPr>
            <a:xfrm>
              <a:off x="3540" y="17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4" name="Google Shape;274;p9"/>
            <p:cNvSpPr txBox="1"/>
            <p:nvPr/>
          </p:nvSpPr>
          <p:spPr>
            <a:xfrm>
              <a:off x="3389" y="2016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3389" y="2239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3540" y="22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7" name="Google Shape;277;p9"/>
            <p:cNvSpPr txBox="1"/>
            <p:nvPr/>
          </p:nvSpPr>
          <p:spPr>
            <a:xfrm>
              <a:off x="3395" y="2461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3570" y="246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3408" y="2684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0" name="Google Shape;280;p9"/>
            <p:cNvSpPr txBox="1"/>
            <p:nvPr/>
          </p:nvSpPr>
          <p:spPr>
            <a:xfrm>
              <a:off x="3495" y="268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3395" y="2907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2" name="Google Shape;282;p9"/>
            <p:cNvSpPr txBox="1"/>
            <p:nvPr/>
          </p:nvSpPr>
          <p:spPr>
            <a:xfrm>
              <a:off x="3600" y="29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3405" y="3130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3525" y="313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5" name="Google Shape;285;p9"/>
            <p:cNvSpPr txBox="1"/>
            <p:nvPr/>
          </p:nvSpPr>
          <p:spPr>
            <a:xfrm>
              <a:off x="3395" y="3353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6" name="Google Shape;286;p9"/>
            <p:cNvSpPr txBox="1"/>
            <p:nvPr/>
          </p:nvSpPr>
          <p:spPr>
            <a:xfrm>
              <a:off x="3600" y="335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7" name="Google Shape;287;p9"/>
            <p:cNvSpPr txBox="1"/>
            <p:nvPr/>
          </p:nvSpPr>
          <p:spPr>
            <a:xfrm>
              <a:off x="3395" y="3575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8" name="Google Shape;288;p9"/>
            <p:cNvSpPr txBox="1"/>
            <p:nvPr/>
          </p:nvSpPr>
          <p:spPr>
            <a:xfrm>
              <a:off x="3630" y="357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9" name="Google Shape;289;p9"/>
            <p:cNvSpPr txBox="1"/>
            <p:nvPr/>
          </p:nvSpPr>
          <p:spPr>
            <a:xfrm>
              <a:off x="3395" y="3798"/>
              <a:ext cx="61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3616" y="379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1" name="Google Shape;291;p9"/>
            <p:cNvSpPr txBox="1"/>
            <p:nvPr/>
          </p:nvSpPr>
          <p:spPr>
            <a:xfrm>
              <a:off x="3465" y="402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2" name="Google Shape;292;p9"/>
            <p:cNvSpPr txBox="1"/>
            <p:nvPr/>
          </p:nvSpPr>
          <p:spPr>
            <a:xfrm>
              <a:off x="2312" y="1420"/>
              <a:ext cx="24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" name="Google Shape;293;p9"/>
            <p:cNvSpPr txBox="1"/>
            <p:nvPr/>
          </p:nvSpPr>
          <p:spPr>
            <a:xfrm>
              <a:off x="2325" y="1439"/>
              <a:ext cx="237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ourier New" panose="020703090202050204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double[] myList = new double[10];</a:t>
              </a:r>
              <a:endParaRPr lang="en-US" sz="1500" b="0" i="0" u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294" name="Google Shape;294;p9"/>
            <p:cNvSpPr txBox="1"/>
            <p:nvPr/>
          </p:nvSpPr>
          <p:spPr>
            <a:xfrm>
              <a:off x="4002" y="14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5" name="Google Shape;295;p9"/>
            <p:cNvSpPr txBox="1"/>
            <p:nvPr/>
          </p:nvSpPr>
          <p:spPr>
            <a:xfrm>
              <a:off x="1009" y="1700"/>
              <a:ext cx="388" cy="17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6" name="Google Shape;296;p9"/>
            <p:cNvSpPr txBox="1"/>
            <p:nvPr/>
          </p:nvSpPr>
          <p:spPr>
            <a:xfrm>
              <a:off x="1036" y="1718"/>
              <a:ext cx="30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7" name="Google Shape;297;p9"/>
            <p:cNvSpPr txBox="1"/>
            <p:nvPr/>
          </p:nvSpPr>
          <p:spPr>
            <a:xfrm>
              <a:off x="1334" y="1718"/>
              <a:ext cx="33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1367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9" name="Google Shape;299;p9"/>
            <p:cNvSpPr txBox="1"/>
            <p:nvPr/>
          </p:nvSpPr>
          <p:spPr>
            <a:xfrm>
              <a:off x="1453" y="1700"/>
              <a:ext cx="553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0" name="Google Shape;300;p9"/>
            <p:cNvSpPr txBox="1"/>
            <p:nvPr/>
          </p:nvSpPr>
          <p:spPr>
            <a:xfrm>
              <a:off x="1507" y="1718"/>
              <a:ext cx="445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reference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1" name="Google Shape;301;p9"/>
            <p:cNvSpPr txBox="1"/>
            <p:nvPr/>
          </p:nvSpPr>
          <p:spPr>
            <a:xfrm>
              <a:off x="1950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302" name="Google Shape;302;p9"/>
            <p:cNvGrpSpPr/>
            <p:nvPr/>
          </p:nvGrpSpPr>
          <p:grpSpPr>
            <a:xfrm>
              <a:off x="1954" y="1733"/>
              <a:ext cx="1167" cy="93"/>
              <a:chOff x="1954" y="1829"/>
              <a:chExt cx="1167" cy="93"/>
            </a:xfrm>
          </p:grpSpPr>
          <p:cxnSp>
            <p:nvCxnSpPr>
              <p:cNvPr id="303" name="Google Shape;303;p9"/>
              <p:cNvCxnSpPr/>
              <p:nvPr/>
            </p:nvCxnSpPr>
            <p:spPr>
              <a:xfrm flipH="1">
                <a:off x="1954" y="1874"/>
                <a:ext cx="1107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304" name="Google Shape;304;p9"/>
              <p:cNvSpPr/>
              <p:nvPr/>
            </p:nvSpPr>
            <p:spPr>
              <a:xfrm>
                <a:off x="3028" y="1829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0" y="93"/>
                    </a:moveTo>
                    <a:lnTo>
                      <a:pt x="93" y="45"/>
                    </a:lnTo>
                    <a:lnTo>
                      <a:pt x="0" y="0"/>
                    </a:lnTo>
                    <a:lnTo>
                      <a:pt x="30" y="45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05" name="Google Shape;305;p9"/>
            <p:cNvSpPr txBox="1"/>
            <p:nvPr/>
          </p:nvSpPr>
          <p:spPr>
            <a:xfrm>
              <a:off x="2520" y="1807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6" name="Google Shape;306;p9"/>
            <p:cNvSpPr txBox="1"/>
            <p:nvPr/>
          </p:nvSpPr>
          <p:spPr>
            <a:xfrm>
              <a:off x="2553" y="182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myList[0]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7" name="Google Shape;307;p9"/>
            <p:cNvSpPr txBox="1"/>
            <p:nvPr/>
          </p:nvSpPr>
          <p:spPr>
            <a:xfrm>
              <a:off x="3024" y="182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308" name="Google Shape;308;p9"/>
            <p:cNvCxnSpPr/>
            <p:nvPr/>
          </p:nvCxnSpPr>
          <p:spPr>
            <a:xfrm>
              <a:off x="3121" y="1972"/>
              <a:ext cx="674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09" name="Google Shape;309;p9"/>
            <p:cNvCxnSpPr/>
            <p:nvPr/>
          </p:nvCxnSpPr>
          <p:spPr>
            <a:xfrm>
              <a:off x="3129" y="2187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0" name="Google Shape;310;p9"/>
            <p:cNvCxnSpPr/>
            <p:nvPr/>
          </p:nvCxnSpPr>
          <p:spPr>
            <a:xfrm>
              <a:off x="3129" y="2424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1" name="Google Shape;311;p9"/>
            <p:cNvCxnSpPr/>
            <p:nvPr/>
          </p:nvCxnSpPr>
          <p:spPr>
            <a:xfrm>
              <a:off x="3121" y="2646"/>
              <a:ext cx="674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2" name="Google Shape;312;p9"/>
            <p:cNvCxnSpPr/>
            <p:nvPr/>
          </p:nvCxnSpPr>
          <p:spPr>
            <a:xfrm>
              <a:off x="3129" y="2854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3129" y="3090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4" name="Google Shape;314;p9"/>
            <p:cNvCxnSpPr/>
            <p:nvPr/>
          </p:nvCxnSpPr>
          <p:spPr>
            <a:xfrm>
              <a:off x="3143" y="3305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3136" y="3542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3136" y="3778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7" name="Google Shape;317;p9"/>
            <p:cNvSpPr txBox="1"/>
            <p:nvPr/>
          </p:nvSpPr>
          <p:spPr>
            <a:xfrm>
              <a:off x="2520" y="2001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8" name="Google Shape;318;p9"/>
            <p:cNvSpPr txBox="1"/>
            <p:nvPr/>
          </p:nvSpPr>
          <p:spPr>
            <a:xfrm>
              <a:off x="2553" y="2019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myList[1]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19" name="Google Shape;319;p9"/>
            <p:cNvSpPr txBox="1"/>
            <p:nvPr/>
          </p:nvSpPr>
          <p:spPr>
            <a:xfrm>
              <a:off x="3024" y="201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2520" y="2237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1" name="Google Shape;321;p9"/>
            <p:cNvSpPr txBox="1"/>
            <p:nvPr/>
          </p:nvSpPr>
          <p:spPr>
            <a:xfrm>
              <a:off x="2553" y="225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myList[2]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3024" y="225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3" name="Google Shape;323;p9"/>
            <p:cNvSpPr txBox="1"/>
            <p:nvPr/>
          </p:nvSpPr>
          <p:spPr>
            <a:xfrm>
              <a:off x="2513" y="2445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4" name="Google Shape;324;p9"/>
            <p:cNvSpPr txBox="1"/>
            <p:nvPr/>
          </p:nvSpPr>
          <p:spPr>
            <a:xfrm>
              <a:off x="2546" y="2464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myList[3]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3017" y="246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6" name="Google Shape;326;p9"/>
            <p:cNvSpPr txBox="1"/>
            <p:nvPr/>
          </p:nvSpPr>
          <p:spPr>
            <a:xfrm>
              <a:off x="2513" y="2689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7" name="Google Shape;327;p9"/>
            <p:cNvSpPr txBox="1"/>
            <p:nvPr/>
          </p:nvSpPr>
          <p:spPr>
            <a:xfrm>
              <a:off x="2546" y="2707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myList[4]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3017" y="27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29" name="Google Shape;329;p9"/>
            <p:cNvSpPr txBox="1"/>
            <p:nvPr/>
          </p:nvSpPr>
          <p:spPr>
            <a:xfrm>
              <a:off x="2505" y="2897"/>
              <a:ext cx="539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0" name="Google Shape;330;p9"/>
            <p:cNvSpPr txBox="1"/>
            <p:nvPr/>
          </p:nvSpPr>
          <p:spPr>
            <a:xfrm>
              <a:off x="2538" y="291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myList[5]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3010" y="291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2" name="Google Shape;332;p9"/>
            <p:cNvSpPr txBox="1"/>
            <p:nvPr/>
          </p:nvSpPr>
          <p:spPr>
            <a:xfrm>
              <a:off x="2513" y="3148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3" name="Google Shape;333;p9"/>
            <p:cNvSpPr txBox="1"/>
            <p:nvPr/>
          </p:nvSpPr>
          <p:spPr>
            <a:xfrm>
              <a:off x="2546" y="316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myList[6]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3017" y="316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5" name="Google Shape;335;p9"/>
            <p:cNvSpPr txBox="1"/>
            <p:nvPr/>
          </p:nvSpPr>
          <p:spPr>
            <a:xfrm>
              <a:off x="2513" y="3370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6" name="Google Shape;336;p9"/>
            <p:cNvSpPr txBox="1"/>
            <p:nvPr/>
          </p:nvSpPr>
          <p:spPr>
            <a:xfrm>
              <a:off x="2546" y="3388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myList[7]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3017" y="338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2505" y="3606"/>
              <a:ext cx="539" cy="1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9" name="Google Shape;339;p9"/>
            <p:cNvSpPr txBox="1"/>
            <p:nvPr/>
          </p:nvSpPr>
          <p:spPr>
            <a:xfrm>
              <a:off x="2538" y="362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myList[8]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40" name="Google Shape;340;p9"/>
            <p:cNvSpPr txBox="1"/>
            <p:nvPr/>
          </p:nvSpPr>
          <p:spPr>
            <a:xfrm>
              <a:off x="3010" y="362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41" name="Google Shape;341;p9"/>
            <p:cNvSpPr txBox="1"/>
            <p:nvPr/>
          </p:nvSpPr>
          <p:spPr>
            <a:xfrm>
              <a:off x="2505" y="3821"/>
              <a:ext cx="539" cy="1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2" name="Google Shape;342;p9"/>
            <p:cNvSpPr txBox="1"/>
            <p:nvPr/>
          </p:nvSpPr>
          <p:spPr>
            <a:xfrm>
              <a:off x="2538" y="3840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myList[9]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43" name="Google Shape;343;p9"/>
            <p:cNvSpPr txBox="1"/>
            <p:nvPr/>
          </p:nvSpPr>
          <p:spPr>
            <a:xfrm>
              <a:off x="3010" y="384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344" name="Google Shape;344;p9"/>
            <p:cNvGrpSpPr/>
            <p:nvPr/>
          </p:nvGrpSpPr>
          <p:grpSpPr>
            <a:xfrm>
              <a:off x="3717" y="2937"/>
              <a:ext cx="615" cy="93"/>
              <a:chOff x="3717" y="3033"/>
              <a:chExt cx="615" cy="93"/>
            </a:xfrm>
          </p:grpSpPr>
          <p:cxnSp>
            <p:nvCxnSpPr>
              <p:cNvPr id="345" name="Google Shape;345;p9"/>
              <p:cNvCxnSpPr/>
              <p:nvPr/>
            </p:nvCxnSpPr>
            <p:spPr>
              <a:xfrm>
                <a:off x="3776" y="3079"/>
                <a:ext cx="556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346" name="Google Shape;346;p9"/>
              <p:cNvSpPr/>
              <p:nvPr/>
            </p:nvSpPr>
            <p:spPr>
              <a:xfrm>
                <a:off x="3717" y="3033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0"/>
                    </a:moveTo>
                    <a:lnTo>
                      <a:pt x="0" y="46"/>
                    </a:lnTo>
                    <a:lnTo>
                      <a:pt x="93" y="93"/>
                    </a:lnTo>
                    <a:lnTo>
                      <a:pt x="63" y="4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47" name="Google Shape;347;p9"/>
            <p:cNvSpPr txBox="1"/>
            <p:nvPr/>
          </p:nvSpPr>
          <p:spPr>
            <a:xfrm>
              <a:off x="4325" y="2904"/>
              <a:ext cx="803" cy="18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8" name="Google Shape;348;p9"/>
            <p:cNvSpPr txBox="1"/>
            <p:nvPr/>
          </p:nvSpPr>
          <p:spPr>
            <a:xfrm>
              <a:off x="4385" y="2922"/>
              <a:ext cx="687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Element value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49" name="Google Shape;349;p9"/>
            <p:cNvSpPr txBox="1"/>
            <p:nvPr/>
          </p:nvSpPr>
          <p:spPr>
            <a:xfrm>
              <a:off x="5065" y="2922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50" name="Google Shape;350;p9"/>
            <p:cNvSpPr txBox="1"/>
            <p:nvPr/>
          </p:nvSpPr>
          <p:spPr>
            <a:xfrm>
              <a:off x="729" y="2237"/>
              <a:ext cx="883" cy="3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1" name="Google Shape;351;p9"/>
            <p:cNvSpPr txBox="1"/>
            <p:nvPr/>
          </p:nvSpPr>
          <p:spPr>
            <a:xfrm>
              <a:off x="795" y="2254"/>
              <a:ext cx="851" cy="1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 panose="02020603050405020304"/>
                <a:buNone/>
              </a:pPr>
              <a:r>
                <a:rPr lang="en-US" sz="1500" b="1" i="0" u="none">
                  <a:solidFill>
                    <a:srgbClr val="0000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Array reference</a:t>
              </a: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52" name="Google Shape;352;p9"/>
            <p:cNvSpPr txBox="1"/>
            <p:nvPr/>
          </p:nvSpPr>
          <p:spPr>
            <a:xfrm>
              <a:off x="977" y="2393"/>
              <a:ext cx="419" cy="1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CC"/>
                </a:buClr>
                <a:buSzPts val="1500"/>
                <a:buFont typeface="Times New Roman" panose="02020603050405020304"/>
                <a:buNone/>
              </a:pPr>
              <a:r>
                <a:rPr lang="en-US" sz="1500" b="1" i="0" u="none">
                  <a:solidFill>
                    <a:srgbClr val="0000C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variable</a:t>
              </a:r>
              <a:endParaRPr lang="en-US" sz="1500" b="1" i="0" u="none">
                <a:solidFill>
                  <a:srgbClr val="0000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53" name="Google Shape;353;p9"/>
            <p:cNvSpPr txBox="1"/>
            <p:nvPr/>
          </p:nvSpPr>
          <p:spPr>
            <a:xfrm>
              <a:off x="1361" y="23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354" name="Google Shape;354;p9"/>
            <p:cNvGrpSpPr/>
            <p:nvPr/>
          </p:nvGrpSpPr>
          <p:grpSpPr>
            <a:xfrm>
              <a:off x="1149" y="1859"/>
              <a:ext cx="93" cy="393"/>
              <a:chOff x="1149" y="1955"/>
              <a:chExt cx="93" cy="393"/>
            </a:xfrm>
          </p:grpSpPr>
          <p:cxnSp>
            <p:nvCxnSpPr>
              <p:cNvPr id="355" name="Google Shape;355;p9"/>
              <p:cNvCxnSpPr/>
              <p:nvPr/>
            </p:nvCxnSpPr>
            <p:spPr>
              <a:xfrm>
                <a:off x="1195" y="2013"/>
                <a:ext cx="1" cy="335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356" name="Google Shape;356;p9"/>
              <p:cNvSpPr/>
              <p:nvPr/>
            </p:nvSpPr>
            <p:spPr>
              <a:xfrm>
                <a:off x="1149" y="1955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93"/>
                    </a:moveTo>
                    <a:lnTo>
                      <a:pt x="47" y="0"/>
                    </a:lnTo>
                    <a:lnTo>
                      <a:pt x="0" y="93"/>
                    </a:lnTo>
                    <a:lnTo>
                      <a:pt x="47" y="63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57" name="Google Shape;357;p9"/>
            <p:cNvSpPr txBox="1"/>
            <p:nvPr/>
          </p:nvSpPr>
          <p:spPr>
            <a:xfrm>
              <a:off x="1059" y="2825"/>
              <a:ext cx="882" cy="3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8" name="Google Shape;358;p9"/>
            <p:cNvSpPr txBox="1"/>
            <p:nvPr/>
          </p:nvSpPr>
          <p:spPr>
            <a:xfrm>
              <a:off x="1102" y="2842"/>
              <a:ext cx="834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Array element at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59" name="Google Shape;359;p9"/>
            <p:cNvSpPr txBox="1"/>
            <p:nvPr/>
          </p:nvSpPr>
          <p:spPr>
            <a:xfrm>
              <a:off x="1322" y="2981"/>
              <a:ext cx="35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index 5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60" name="Google Shape;360;p9"/>
            <p:cNvSpPr txBox="1"/>
            <p:nvPr/>
          </p:nvSpPr>
          <p:spPr>
            <a:xfrm>
              <a:off x="1676" y="298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361" name="Google Shape;361;p9"/>
            <p:cNvGrpSpPr/>
            <p:nvPr/>
          </p:nvGrpSpPr>
          <p:grpSpPr>
            <a:xfrm>
              <a:off x="1932" y="2930"/>
              <a:ext cx="582" cy="93"/>
              <a:chOff x="1932" y="3026"/>
              <a:chExt cx="582" cy="93"/>
            </a:xfrm>
          </p:grpSpPr>
          <p:cxnSp>
            <p:nvCxnSpPr>
              <p:cNvPr id="362" name="Google Shape;362;p9"/>
              <p:cNvCxnSpPr/>
              <p:nvPr/>
            </p:nvCxnSpPr>
            <p:spPr>
              <a:xfrm flipH="1">
                <a:off x="1932" y="3071"/>
                <a:ext cx="520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363" name="Google Shape;363;p9"/>
              <p:cNvSpPr/>
              <p:nvPr/>
            </p:nvSpPr>
            <p:spPr>
              <a:xfrm>
                <a:off x="2420" y="3026"/>
                <a:ext cx="94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4" h="93" extrusionOk="0">
                    <a:moveTo>
                      <a:pt x="0" y="93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30" y="47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9" name="Google Shape;369;p10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 test 1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608012" y="1666875"/>
            <a:ext cx="7897812" cy="25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Identify and correct the syntax error in each of the following array declaration.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(a) 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 arr = new int[15];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(b) 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 arr[] = new int(15);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(c) 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float arr[] = new [3];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6" name="Google Shape;376;p11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Answer of Self- test 1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608012" y="1590675"/>
            <a:ext cx="789781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marR="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Identify and correct the syntax error in each of the following array declaration.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Arial" panose="020B0604020202020204"/>
              <a:buAutoNum type="alphaLcParenBoth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 arr = new int[15];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90600" marR="0" lvl="1" indent="-5334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Arial" panose="020B0604020202020204"/>
              <a:buNone/>
            </a:pPr>
            <a:r>
              <a:rPr lang="en-US" sz="2600" b="1" i="0" u="none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are missing brackets after arr.</a:t>
            </a:r>
            <a:endParaRPr lang="en-US" sz="2600" b="1" i="0" u="none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(b) int arr[] = new int(15);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US" sz="24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are parentheses instead of brackets around 15</a:t>
            </a:r>
            <a:endParaRPr lang="en-US" sz="24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(c) float arr[] = new [3];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90600" marR="0" lvl="1" indent="-5334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Arial" panose="020B0604020202020204"/>
              <a:buNone/>
            </a:pPr>
            <a:r>
              <a:rPr lang="en-US" sz="2600" b="1" i="0" u="none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It should be new float[3] instead of new [3].</a:t>
            </a:r>
            <a:endParaRPr lang="en-US" sz="2600" b="1" i="0" u="none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 i="0" u="none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3" name="Google Shape;383;p12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 test - 2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4" name="Google Shape;384;p12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Lab 5 Exercise 3: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-1143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arabicPeriod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Write the correct Java statement that declare and create the following arrays: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-1143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15-element double array referenced by the variable areaOfCircle.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-1143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50-element string array referenced by the variable staffName.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-1143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25-element int array referenced by the variable total.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-1143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AutoNum type="romanLcPeriod"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100-element double array referenced by the variable gpa that stores the Grade Point Average of the students.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datatype[] arrayRefVar = new datatype[arraySize];</a:t>
            </a:r>
            <a:endParaRPr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0" name="Google Shape;390;p13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Accessing Array Elements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91" name="Google Shape;391;p13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8153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-14859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array elements are accessed through the index, known as indexed variable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23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arrayRefVar[index];</a:t>
            </a:r>
            <a:endParaRPr lang="en-US" sz="23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-13716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An indexed variable can be used in the same way as a regular variable.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-13716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example, the value of the array element may be assigned as follows: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myList[0] =  5.6;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myList[1] =  myList[0] – 1.1;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Scanner inp = new Scanner(System.in);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myList[2] = inp.nextDouble();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7" name="Google Shape;397;p14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Accessing Array Elements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98" name="Google Shape;398;p14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8153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-14859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array elements can be output using the println method.</a:t>
            </a:r>
            <a:endParaRPr lang="en-US" sz="26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340"/>
              <a:buNone/>
            </a:pPr>
            <a:r>
              <a:rPr lang="en-US" sz="26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</a:t>
            </a:r>
            <a:r>
              <a:rPr lang="en-US" sz="23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System.out.println (myList[0]);</a:t>
            </a:r>
            <a:endParaRPr lang="en-US" sz="23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2070"/>
              <a:buNone/>
            </a:pPr>
            <a:r>
              <a:rPr lang="en-US" sz="23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System.out.println (myList[1]);</a:t>
            </a:r>
            <a:endParaRPr lang="en-US" sz="23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SzPts val="2070"/>
              <a:buNone/>
            </a:pPr>
            <a:r>
              <a:rPr lang="en-US" sz="23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System.out.println (myList[2]);</a:t>
            </a:r>
            <a:endParaRPr lang="en-US" sz="23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11455" algn="l" rtl="0">
              <a:spcBef>
                <a:spcPts val="460"/>
              </a:spcBef>
              <a:spcAft>
                <a:spcPts val="0"/>
              </a:spcAft>
              <a:buSzPts val="2070"/>
              <a:buNone/>
            </a:pPr>
            <a:endParaRPr sz="23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Write &amp; Trace the output</a:t>
            </a:r>
            <a:endParaRPr lang="en-US" sz="42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04" name="Google Shape;404;p15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 ArrayDemo {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65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static void main(String[] args) {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 anArray; // declares an array of integers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 = new int[10]; </a:t>
            </a: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allocates memory for 10 integers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anArray[0] = 100; // initialize first element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anArray[1] = 200; // initialize second element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anArray[2] = 300; // etc.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anArray[3] = 400;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anArray[4] = 500;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anArray[5] = 600;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anArray[6] = 700;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anArray[7] = 800;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anArray[8] = 900;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anArray[9] = 1000;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0" name="Google Shape;410;p16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0: " + anArray[0]);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1: " + anArray[1]);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2: " + anArray[2]);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3: " + anArray[3]);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4: " + anArray[4]);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5: " + anArray[5]);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6: " + anArray[6]);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7: " + anArray[7]);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8: " + anArray[8]);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9: " + anArray[9]);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}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980"/>
              <a:buNone/>
            </a:pPr>
            <a:r>
              <a:rPr lang="en-US" sz="22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 </a:t>
            </a:r>
            <a:endParaRPr lang="en-US" sz="22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6" name="Google Shape;416;p17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output from this program is: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US" sz="26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0: 100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1: 200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2: 300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3: 400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4: 500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5: 600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6: 700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7: 800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8: 900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9: 1000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"/>
          <p:cNvSpPr txBox="1"/>
          <p:nvPr/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r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 Programming, Fourth Edition</a:t>
            </a:r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3" name="Google Shape;423;p18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Using loop to cycle through the entire array 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24" name="Google Shape;424;p18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50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Perform loops that vary loop control variable 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Start at 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End at one less than size of array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Using constant that is equal to size of array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final int SIZE = 10;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for(int i = 0; i &lt; SIZE; i++)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myList[i] += 3;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 using the </a:t>
            </a:r>
            <a:r>
              <a:rPr lang="en-US" sz="2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length</a:t>
            </a: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field, that contains  the number of elements in array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for(int i = 0; i &lt; myList.length; i++)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myList[i] += 3;</a:t>
            </a:r>
            <a:endParaRPr lang="en-US"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05740" algn="l" rtl="0">
              <a:spcBef>
                <a:spcPts val="48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1" name="Google Shape;431;p19"/>
          <p:cNvSpPr txBox="1">
            <a:spLocks noGrp="1"/>
          </p:cNvSpPr>
          <p:nvPr>
            <p:ph type="title"/>
          </p:nvPr>
        </p:nvSpPr>
        <p:spPr>
          <a:xfrm>
            <a:off x="914400" y="296862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 panose="02020603050405020304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Declaring, creating, initializing Using the Shorthand Notation</a:t>
            </a:r>
            <a:endParaRPr lang="en-US" sz="44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32" name="Google Shape;432;p19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Char char="■"/>
            </a:pPr>
            <a:r>
              <a:rPr lang="en-US" sz="3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 and create the array</a:t>
            </a:r>
            <a:endParaRPr sz="3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datatype[] arrayRefVar =  </a:t>
            </a:r>
            <a:endParaRPr lang="en-US" sz="28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{arrylist1, arrylist2,…};</a:t>
            </a:r>
            <a:endParaRPr sz="3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None/>
            </a:pPr>
            <a:endParaRPr sz="3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Char char="■"/>
            </a:pPr>
            <a:r>
              <a:rPr lang="en-US" sz="3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Example</a:t>
            </a:r>
            <a:endParaRPr lang="en-US" sz="3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700"/>
              <a:buNone/>
            </a:pPr>
            <a:r>
              <a:rPr lang="en-US" sz="3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	</a:t>
            </a:r>
            <a:r>
              <a:rPr lang="en-US" sz="28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 = {5.6, 4.5, 3.3, 13.2, 4, 34.33, 34, 45.45, 99.993, 11.3};</a:t>
            </a: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182880" algn="l" rtl="0">
              <a:spcBef>
                <a:spcPts val="560"/>
              </a:spcBef>
              <a:spcAft>
                <a:spcPts val="0"/>
              </a:spcAft>
              <a:buSzPts val="2520"/>
              <a:buNone/>
            </a:pP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8" name="Google Shape;438;p2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Declaring, creating, initializing Using the Shorthand Notation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39" name="Google Shape;439;p20"/>
          <p:cNvSpPr txBox="1">
            <a:spLocks noGrp="1"/>
          </p:cNvSpPr>
          <p:nvPr>
            <p:ph type="body" idx="1"/>
          </p:nvPr>
        </p:nvSpPr>
        <p:spPr>
          <a:xfrm>
            <a:off x="533400" y="1905000"/>
            <a:ext cx="861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 = {5.6, 4.5, 3.3, 13.2, 4, 34.33, 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	34, 45.45, 99.993, 11.3};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shorthand notation is equivalent to the following statements: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 = new double[10];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myList[0] = 5.6;  myList[1] = 4.5; myList[2] = 3.3; 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myList[3] = 13.2; myList[4] = 4;   myList[5] = 34.33;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myList[6] = 34;   myList[7] = 45.45; 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myList[8] = 99.993; myList[9] = 11.3;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5" name="Google Shape;445;p21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Times New Roman" panose="02020603050405020304"/>
              <a:buNone/>
            </a:pPr>
            <a:r>
              <a:rPr lang="en-US" sz="46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CAUTION!!</a:t>
            </a:r>
            <a:endParaRPr lang="en-US" sz="46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46" name="Google Shape;446;p21"/>
          <p:cNvSpPr txBox="1">
            <a:spLocks noGrp="1"/>
          </p:cNvSpPr>
          <p:nvPr>
            <p:ph type="body" idx="1"/>
          </p:nvPr>
        </p:nvSpPr>
        <p:spPr>
          <a:xfrm>
            <a:off x="762000" y="1600200"/>
            <a:ext cx="7620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Using the shorthand notation, you have to declare, create, and initialize the array all in one statement. 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Splitting it would cause a syntax error. For example, the following is wrong: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myList;</a:t>
            </a:r>
            <a:endParaRPr lang="en-US"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myList = {1.9, 2.9, 3.4, 3.5};</a:t>
            </a:r>
            <a:r>
              <a:rPr lang="en-US" sz="24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2400" b="1" i="0" u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2" name="Google Shape;452;p22"/>
          <p:cNvSpPr txBox="1">
            <a:spLocks noGrp="1"/>
          </p:cNvSpPr>
          <p:nvPr>
            <p:ph type="title"/>
          </p:nvPr>
        </p:nvSpPr>
        <p:spPr>
          <a:xfrm>
            <a:off x="693737" y="203200"/>
            <a:ext cx="7772400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2770187" y="2198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2171700" y="191293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1066800" y="1981200"/>
            <a:ext cx="7162800" cy="45243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>
            <a:off x="1066800" y="1981200"/>
            <a:ext cx="5715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8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457" name="Google Shape;457;p22"/>
          <p:cNvGrpSpPr/>
          <p:nvPr/>
        </p:nvGrpSpPr>
        <p:grpSpPr>
          <a:xfrm>
            <a:off x="1157287" y="2684462"/>
            <a:ext cx="6983412" cy="4097337"/>
            <a:chOff x="729" y="1420"/>
            <a:chExt cx="4399" cy="2745"/>
          </a:xfrm>
        </p:grpSpPr>
        <p:sp>
          <p:nvSpPr>
            <p:cNvPr id="458" name="Google Shape;458;p22"/>
            <p:cNvSpPr txBox="1"/>
            <p:nvPr/>
          </p:nvSpPr>
          <p:spPr>
            <a:xfrm>
              <a:off x="3121" y="1771"/>
              <a:ext cx="689" cy="223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9" name="Google Shape;459;p22"/>
            <p:cNvSpPr txBox="1"/>
            <p:nvPr/>
          </p:nvSpPr>
          <p:spPr>
            <a:xfrm>
              <a:off x="3389" y="1793"/>
              <a:ext cx="15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5.6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0" name="Google Shape;460;p22"/>
            <p:cNvSpPr txBox="1"/>
            <p:nvPr/>
          </p:nvSpPr>
          <p:spPr>
            <a:xfrm>
              <a:off x="3540" y="17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1" name="Google Shape;461;p22"/>
            <p:cNvSpPr txBox="1"/>
            <p:nvPr/>
          </p:nvSpPr>
          <p:spPr>
            <a:xfrm>
              <a:off x="3389" y="2016"/>
              <a:ext cx="15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4.5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2" name="Google Shape;462;p22"/>
            <p:cNvSpPr txBox="1"/>
            <p:nvPr/>
          </p:nvSpPr>
          <p:spPr>
            <a:xfrm>
              <a:off x="3540" y="201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3389" y="2239"/>
              <a:ext cx="15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3.3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3540" y="22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5" name="Google Shape;465;p22"/>
            <p:cNvSpPr txBox="1"/>
            <p:nvPr/>
          </p:nvSpPr>
          <p:spPr>
            <a:xfrm>
              <a:off x="3359" y="2461"/>
              <a:ext cx="21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13.2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6" name="Google Shape;466;p22"/>
            <p:cNvSpPr txBox="1"/>
            <p:nvPr/>
          </p:nvSpPr>
          <p:spPr>
            <a:xfrm>
              <a:off x="3570" y="246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7" name="Google Shape;467;p22"/>
            <p:cNvSpPr txBox="1"/>
            <p:nvPr/>
          </p:nvSpPr>
          <p:spPr>
            <a:xfrm>
              <a:off x="3435" y="2684"/>
              <a:ext cx="6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4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8" name="Google Shape;468;p22"/>
            <p:cNvSpPr txBox="1"/>
            <p:nvPr/>
          </p:nvSpPr>
          <p:spPr>
            <a:xfrm>
              <a:off x="3495" y="268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9" name="Google Shape;469;p22"/>
            <p:cNvSpPr txBox="1"/>
            <p:nvPr/>
          </p:nvSpPr>
          <p:spPr>
            <a:xfrm>
              <a:off x="3329" y="2907"/>
              <a:ext cx="27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34.33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3600" y="29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1" name="Google Shape;471;p22"/>
            <p:cNvSpPr txBox="1"/>
            <p:nvPr/>
          </p:nvSpPr>
          <p:spPr>
            <a:xfrm>
              <a:off x="3405" y="3130"/>
              <a:ext cx="12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34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2" name="Google Shape;472;p22"/>
            <p:cNvSpPr txBox="1"/>
            <p:nvPr/>
          </p:nvSpPr>
          <p:spPr>
            <a:xfrm>
              <a:off x="3525" y="313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3" name="Google Shape;473;p22"/>
            <p:cNvSpPr txBox="1"/>
            <p:nvPr/>
          </p:nvSpPr>
          <p:spPr>
            <a:xfrm>
              <a:off x="3329" y="3353"/>
              <a:ext cx="27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45.45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3600" y="335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5" name="Google Shape;475;p22"/>
            <p:cNvSpPr txBox="1"/>
            <p:nvPr/>
          </p:nvSpPr>
          <p:spPr>
            <a:xfrm>
              <a:off x="3299" y="3575"/>
              <a:ext cx="3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99.993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6" name="Google Shape;476;p22"/>
            <p:cNvSpPr txBox="1"/>
            <p:nvPr/>
          </p:nvSpPr>
          <p:spPr>
            <a:xfrm>
              <a:off x="3630" y="357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7" name="Google Shape;477;p22"/>
            <p:cNvSpPr txBox="1"/>
            <p:nvPr/>
          </p:nvSpPr>
          <p:spPr>
            <a:xfrm>
              <a:off x="3315" y="3798"/>
              <a:ext cx="208" cy="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11.3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8" name="Google Shape;478;p22"/>
            <p:cNvSpPr txBox="1"/>
            <p:nvPr/>
          </p:nvSpPr>
          <p:spPr>
            <a:xfrm>
              <a:off x="3616" y="379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9" name="Google Shape;479;p22"/>
            <p:cNvSpPr txBox="1"/>
            <p:nvPr/>
          </p:nvSpPr>
          <p:spPr>
            <a:xfrm>
              <a:off x="3465" y="402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0" name="Google Shape;480;p22"/>
            <p:cNvSpPr txBox="1"/>
            <p:nvPr/>
          </p:nvSpPr>
          <p:spPr>
            <a:xfrm>
              <a:off x="2312" y="1420"/>
              <a:ext cx="248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1" name="Google Shape;481;p22"/>
            <p:cNvSpPr txBox="1"/>
            <p:nvPr/>
          </p:nvSpPr>
          <p:spPr>
            <a:xfrm>
              <a:off x="2325" y="1439"/>
              <a:ext cx="237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ourier New" panose="020703090202050204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  <a:sym typeface="Courier New" panose="02070309020205020404"/>
                </a:rPr>
                <a:t>double[] myList = new double[10];</a:t>
              </a:r>
              <a:endParaRPr lang="en-US" sz="1500" b="0" i="0" u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endParaRPr>
            </a:p>
          </p:txBody>
        </p:sp>
        <p:sp>
          <p:nvSpPr>
            <p:cNvPr id="482" name="Google Shape;482;p22"/>
            <p:cNvSpPr txBox="1"/>
            <p:nvPr/>
          </p:nvSpPr>
          <p:spPr>
            <a:xfrm>
              <a:off x="4002" y="143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3" name="Google Shape;483;p22"/>
            <p:cNvSpPr txBox="1"/>
            <p:nvPr/>
          </p:nvSpPr>
          <p:spPr>
            <a:xfrm>
              <a:off x="1009" y="1700"/>
              <a:ext cx="388" cy="17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22"/>
            <p:cNvSpPr txBox="1"/>
            <p:nvPr/>
          </p:nvSpPr>
          <p:spPr>
            <a:xfrm>
              <a:off x="1036" y="1718"/>
              <a:ext cx="30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5" name="Google Shape;485;p22"/>
            <p:cNvSpPr txBox="1"/>
            <p:nvPr/>
          </p:nvSpPr>
          <p:spPr>
            <a:xfrm>
              <a:off x="1334" y="1718"/>
              <a:ext cx="33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6" name="Google Shape;486;p22"/>
            <p:cNvSpPr txBox="1"/>
            <p:nvPr/>
          </p:nvSpPr>
          <p:spPr>
            <a:xfrm>
              <a:off x="1367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7" name="Google Shape;487;p22"/>
            <p:cNvSpPr txBox="1"/>
            <p:nvPr/>
          </p:nvSpPr>
          <p:spPr>
            <a:xfrm>
              <a:off x="1453" y="1700"/>
              <a:ext cx="553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8" name="Google Shape;488;p22"/>
            <p:cNvSpPr txBox="1"/>
            <p:nvPr/>
          </p:nvSpPr>
          <p:spPr>
            <a:xfrm>
              <a:off x="1507" y="1718"/>
              <a:ext cx="445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reference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9" name="Google Shape;489;p22"/>
            <p:cNvSpPr txBox="1"/>
            <p:nvPr/>
          </p:nvSpPr>
          <p:spPr>
            <a:xfrm>
              <a:off x="1950" y="171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490" name="Google Shape;490;p22"/>
            <p:cNvGrpSpPr/>
            <p:nvPr/>
          </p:nvGrpSpPr>
          <p:grpSpPr>
            <a:xfrm>
              <a:off x="1954" y="1733"/>
              <a:ext cx="1167" cy="93"/>
              <a:chOff x="1954" y="1829"/>
              <a:chExt cx="1167" cy="93"/>
            </a:xfrm>
          </p:grpSpPr>
          <p:cxnSp>
            <p:nvCxnSpPr>
              <p:cNvPr id="491" name="Google Shape;491;p22"/>
              <p:cNvCxnSpPr/>
              <p:nvPr/>
            </p:nvCxnSpPr>
            <p:spPr>
              <a:xfrm flipH="1">
                <a:off x="1954" y="1874"/>
                <a:ext cx="1107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492" name="Google Shape;492;p22"/>
              <p:cNvSpPr/>
              <p:nvPr/>
            </p:nvSpPr>
            <p:spPr>
              <a:xfrm>
                <a:off x="3028" y="1829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0" y="93"/>
                    </a:moveTo>
                    <a:lnTo>
                      <a:pt x="93" y="45"/>
                    </a:lnTo>
                    <a:lnTo>
                      <a:pt x="0" y="0"/>
                    </a:lnTo>
                    <a:lnTo>
                      <a:pt x="30" y="45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93" name="Google Shape;493;p22"/>
            <p:cNvSpPr txBox="1"/>
            <p:nvPr/>
          </p:nvSpPr>
          <p:spPr>
            <a:xfrm>
              <a:off x="2520" y="1807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4" name="Google Shape;494;p22"/>
            <p:cNvSpPr txBox="1"/>
            <p:nvPr/>
          </p:nvSpPr>
          <p:spPr>
            <a:xfrm>
              <a:off x="2553" y="182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myList[0]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95" name="Google Shape;495;p22"/>
            <p:cNvSpPr txBox="1"/>
            <p:nvPr/>
          </p:nvSpPr>
          <p:spPr>
            <a:xfrm>
              <a:off x="3024" y="182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496" name="Google Shape;496;p22"/>
            <p:cNvCxnSpPr/>
            <p:nvPr/>
          </p:nvCxnSpPr>
          <p:spPr>
            <a:xfrm>
              <a:off x="3121" y="1972"/>
              <a:ext cx="674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7" name="Google Shape;497;p22"/>
            <p:cNvCxnSpPr/>
            <p:nvPr/>
          </p:nvCxnSpPr>
          <p:spPr>
            <a:xfrm>
              <a:off x="3129" y="2187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8" name="Google Shape;498;p22"/>
            <p:cNvCxnSpPr/>
            <p:nvPr/>
          </p:nvCxnSpPr>
          <p:spPr>
            <a:xfrm>
              <a:off x="3129" y="2424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9" name="Google Shape;499;p22"/>
            <p:cNvCxnSpPr/>
            <p:nvPr/>
          </p:nvCxnSpPr>
          <p:spPr>
            <a:xfrm>
              <a:off x="3121" y="2646"/>
              <a:ext cx="674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0" name="Google Shape;500;p22"/>
            <p:cNvCxnSpPr/>
            <p:nvPr/>
          </p:nvCxnSpPr>
          <p:spPr>
            <a:xfrm>
              <a:off x="3129" y="2854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1" name="Google Shape;501;p22"/>
            <p:cNvCxnSpPr/>
            <p:nvPr/>
          </p:nvCxnSpPr>
          <p:spPr>
            <a:xfrm>
              <a:off x="3129" y="3090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2" name="Google Shape;502;p22"/>
            <p:cNvCxnSpPr/>
            <p:nvPr/>
          </p:nvCxnSpPr>
          <p:spPr>
            <a:xfrm>
              <a:off x="3143" y="3305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3" name="Google Shape;503;p22"/>
            <p:cNvCxnSpPr/>
            <p:nvPr/>
          </p:nvCxnSpPr>
          <p:spPr>
            <a:xfrm>
              <a:off x="3136" y="3542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4" name="Google Shape;504;p22"/>
            <p:cNvCxnSpPr/>
            <p:nvPr/>
          </p:nvCxnSpPr>
          <p:spPr>
            <a:xfrm>
              <a:off x="3136" y="3778"/>
              <a:ext cx="673" cy="1"/>
            </a:xfrm>
            <a:prstGeom prst="straightConnector1">
              <a:avLst/>
            </a:prstGeom>
            <a:noFill/>
            <a:ln w="1427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505" name="Google Shape;505;p22"/>
            <p:cNvSpPr txBox="1"/>
            <p:nvPr/>
          </p:nvSpPr>
          <p:spPr>
            <a:xfrm>
              <a:off x="2520" y="2001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6" name="Google Shape;506;p22"/>
            <p:cNvSpPr txBox="1"/>
            <p:nvPr/>
          </p:nvSpPr>
          <p:spPr>
            <a:xfrm>
              <a:off x="2553" y="2019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myList[1]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07" name="Google Shape;507;p22"/>
            <p:cNvSpPr txBox="1"/>
            <p:nvPr/>
          </p:nvSpPr>
          <p:spPr>
            <a:xfrm>
              <a:off x="3024" y="2019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08" name="Google Shape;508;p22"/>
            <p:cNvSpPr txBox="1"/>
            <p:nvPr/>
          </p:nvSpPr>
          <p:spPr>
            <a:xfrm>
              <a:off x="2520" y="2237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9" name="Google Shape;509;p22"/>
            <p:cNvSpPr txBox="1"/>
            <p:nvPr/>
          </p:nvSpPr>
          <p:spPr>
            <a:xfrm>
              <a:off x="2553" y="225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myList[2]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0" name="Google Shape;510;p22"/>
            <p:cNvSpPr txBox="1"/>
            <p:nvPr/>
          </p:nvSpPr>
          <p:spPr>
            <a:xfrm>
              <a:off x="3024" y="225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1" name="Google Shape;511;p22"/>
            <p:cNvSpPr txBox="1"/>
            <p:nvPr/>
          </p:nvSpPr>
          <p:spPr>
            <a:xfrm>
              <a:off x="2513" y="2445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2" name="Google Shape;512;p22"/>
            <p:cNvSpPr txBox="1"/>
            <p:nvPr/>
          </p:nvSpPr>
          <p:spPr>
            <a:xfrm>
              <a:off x="2546" y="2464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myList[3]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3" name="Google Shape;513;p22"/>
            <p:cNvSpPr txBox="1"/>
            <p:nvPr/>
          </p:nvSpPr>
          <p:spPr>
            <a:xfrm>
              <a:off x="3017" y="2464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4" name="Google Shape;514;p22"/>
            <p:cNvSpPr txBox="1"/>
            <p:nvPr/>
          </p:nvSpPr>
          <p:spPr>
            <a:xfrm>
              <a:off x="2513" y="2689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5" name="Google Shape;515;p22"/>
            <p:cNvSpPr txBox="1"/>
            <p:nvPr/>
          </p:nvSpPr>
          <p:spPr>
            <a:xfrm>
              <a:off x="2546" y="2707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myList[4]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6" name="Google Shape;516;p22"/>
            <p:cNvSpPr txBox="1"/>
            <p:nvPr/>
          </p:nvSpPr>
          <p:spPr>
            <a:xfrm>
              <a:off x="3017" y="2707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7" name="Google Shape;517;p22"/>
            <p:cNvSpPr txBox="1"/>
            <p:nvPr/>
          </p:nvSpPr>
          <p:spPr>
            <a:xfrm>
              <a:off x="2505" y="2897"/>
              <a:ext cx="539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8" name="Google Shape;518;p22"/>
            <p:cNvSpPr txBox="1"/>
            <p:nvPr/>
          </p:nvSpPr>
          <p:spPr>
            <a:xfrm>
              <a:off x="2538" y="291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myList[5]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9" name="Google Shape;519;p22"/>
            <p:cNvSpPr txBox="1"/>
            <p:nvPr/>
          </p:nvSpPr>
          <p:spPr>
            <a:xfrm>
              <a:off x="3010" y="291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0" name="Google Shape;520;p22"/>
            <p:cNvSpPr txBox="1"/>
            <p:nvPr/>
          </p:nvSpPr>
          <p:spPr>
            <a:xfrm>
              <a:off x="2513" y="3148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22"/>
            <p:cNvSpPr txBox="1"/>
            <p:nvPr/>
          </p:nvSpPr>
          <p:spPr>
            <a:xfrm>
              <a:off x="2546" y="3166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myList[6]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2" name="Google Shape;522;p22"/>
            <p:cNvSpPr txBox="1"/>
            <p:nvPr/>
          </p:nvSpPr>
          <p:spPr>
            <a:xfrm>
              <a:off x="3017" y="3166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3" name="Google Shape;523;p22"/>
            <p:cNvSpPr txBox="1"/>
            <p:nvPr/>
          </p:nvSpPr>
          <p:spPr>
            <a:xfrm>
              <a:off x="2513" y="3370"/>
              <a:ext cx="538" cy="16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4" name="Google Shape;524;p22"/>
            <p:cNvSpPr txBox="1"/>
            <p:nvPr/>
          </p:nvSpPr>
          <p:spPr>
            <a:xfrm>
              <a:off x="2546" y="3388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myList[7]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5" name="Google Shape;525;p22"/>
            <p:cNvSpPr txBox="1"/>
            <p:nvPr/>
          </p:nvSpPr>
          <p:spPr>
            <a:xfrm>
              <a:off x="3017" y="3388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6" name="Google Shape;526;p22"/>
            <p:cNvSpPr txBox="1"/>
            <p:nvPr/>
          </p:nvSpPr>
          <p:spPr>
            <a:xfrm>
              <a:off x="2505" y="3606"/>
              <a:ext cx="539" cy="1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7" name="Google Shape;527;p22"/>
            <p:cNvSpPr txBox="1"/>
            <p:nvPr/>
          </p:nvSpPr>
          <p:spPr>
            <a:xfrm>
              <a:off x="2538" y="3625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myList[8]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8" name="Google Shape;528;p22"/>
            <p:cNvSpPr txBox="1"/>
            <p:nvPr/>
          </p:nvSpPr>
          <p:spPr>
            <a:xfrm>
              <a:off x="3010" y="3625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9" name="Google Shape;529;p22"/>
            <p:cNvSpPr txBox="1"/>
            <p:nvPr/>
          </p:nvSpPr>
          <p:spPr>
            <a:xfrm>
              <a:off x="2505" y="3821"/>
              <a:ext cx="539" cy="16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0" name="Google Shape;530;p22"/>
            <p:cNvSpPr txBox="1"/>
            <p:nvPr/>
          </p:nvSpPr>
          <p:spPr>
            <a:xfrm>
              <a:off x="2538" y="3840"/>
              <a:ext cx="479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myList[9]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31" name="Google Shape;531;p22"/>
            <p:cNvSpPr txBox="1"/>
            <p:nvPr/>
          </p:nvSpPr>
          <p:spPr>
            <a:xfrm>
              <a:off x="3010" y="3840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532" name="Google Shape;532;p22"/>
            <p:cNvGrpSpPr/>
            <p:nvPr/>
          </p:nvGrpSpPr>
          <p:grpSpPr>
            <a:xfrm>
              <a:off x="3717" y="2937"/>
              <a:ext cx="615" cy="93"/>
              <a:chOff x="3717" y="3033"/>
              <a:chExt cx="615" cy="93"/>
            </a:xfrm>
          </p:grpSpPr>
          <p:cxnSp>
            <p:nvCxnSpPr>
              <p:cNvPr id="533" name="Google Shape;533;p22"/>
              <p:cNvCxnSpPr/>
              <p:nvPr/>
            </p:nvCxnSpPr>
            <p:spPr>
              <a:xfrm>
                <a:off x="3776" y="3079"/>
                <a:ext cx="556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534" name="Google Shape;534;p22"/>
              <p:cNvSpPr/>
              <p:nvPr/>
            </p:nvSpPr>
            <p:spPr>
              <a:xfrm>
                <a:off x="3717" y="3033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0"/>
                    </a:moveTo>
                    <a:lnTo>
                      <a:pt x="0" y="46"/>
                    </a:lnTo>
                    <a:lnTo>
                      <a:pt x="93" y="93"/>
                    </a:lnTo>
                    <a:lnTo>
                      <a:pt x="63" y="4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535" name="Google Shape;535;p22"/>
            <p:cNvSpPr txBox="1"/>
            <p:nvPr/>
          </p:nvSpPr>
          <p:spPr>
            <a:xfrm>
              <a:off x="4325" y="2904"/>
              <a:ext cx="803" cy="18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6" name="Google Shape;536;p22"/>
            <p:cNvSpPr txBox="1"/>
            <p:nvPr/>
          </p:nvSpPr>
          <p:spPr>
            <a:xfrm>
              <a:off x="4385" y="2922"/>
              <a:ext cx="687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Element value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37" name="Google Shape;537;p22"/>
            <p:cNvSpPr txBox="1"/>
            <p:nvPr/>
          </p:nvSpPr>
          <p:spPr>
            <a:xfrm>
              <a:off x="5065" y="2922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38" name="Google Shape;538;p22"/>
            <p:cNvSpPr txBox="1"/>
            <p:nvPr/>
          </p:nvSpPr>
          <p:spPr>
            <a:xfrm>
              <a:off x="729" y="2237"/>
              <a:ext cx="883" cy="3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9" name="Google Shape;539;p22"/>
            <p:cNvSpPr txBox="1"/>
            <p:nvPr/>
          </p:nvSpPr>
          <p:spPr>
            <a:xfrm>
              <a:off x="795" y="2254"/>
              <a:ext cx="785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Array reference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40" name="Google Shape;540;p22"/>
            <p:cNvSpPr txBox="1"/>
            <p:nvPr/>
          </p:nvSpPr>
          <p:spPr>
            <a:xfrm>
              <a:off x="977" y="2393"/>
              <a:ext cx="385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variable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41" name="Google Shape;541;p22"/>
            <p:cNvSpPr txBox="1"/>
            <p:nvPr/>
          </p:nvSpPr>
          <p:spPr>
            <a:xfrm>
              <a:off x="1361" y="2393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542" name="Google Shape;542;p22"/>
            <p:cNvGrpSpPr/>
            <p:nvPr/>
          </p:nvGrpSpPr>
          <p:grpSpPr>
            <a:xfrm>
              <a:off x="1149" y="1859"/>
              <a:ext cx="93" cy="393"/>
              <a:chOff x="1149" y="1955"/>
              <a:chExt cx="93" cy="393"/>
            </a:xfrm>
          </p:grpSpPr>
          <p:cxnSp>
            <p:nvCxnSpPr>
              <p:cNvPr id="543" name="Google Shape;543;p22"/>
              <p:cNvCxnSpPr/>
              <p:nvPr/>
            </p:nvCxnSpPr>
            <p:spPr>
              <a:xfrm>
                <a:off x="1195" y="2013"/>
                <a:ext cx="1" cy="335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544" name="Google Shape;544;p22"/>
              <p:cNvSpPr/>
              <p:nvPr/>
            </p:nvSpPr>
            <p:spPr>
              <a:xfrm>
                <a:off x="1149" y="1955"/>
                <a:ext cx="93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93"/>
                    </a:moveTo>
                    <a:lnTo>
                      <a:pt x="47" y="0"/>
                    </a:lnTo>
                    <a:lnTo>
                      <a:pt x="0" y="93"/>
                    </a:lnTo>
                    <a:lnTo>
                      <a:pt x="47" y="63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545" name="Google Shape;545;p22"/>
            <p:cNvSpPr txBox="1"/>
            <p:nvPr/>
          </p:nvSpPr>
          <p:spPr>
            <a:xfrm>
              <a:off x="1059" y="2825"/>
              <a:ext cx="882" cy="31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6" name="Google Shape;546;p22"/>
            <p:cNvSpPr txBox="1"/>
            <p:nvPr/>
          </p:nvSpPr>
          <p:spPr>
            <a:xfrm>
              <a:off x="1102" y="2842"/>
              <a:ext cx="834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Array element at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47" name="Google Shape;547;p22"/>
            <p:cNvSpPr txBox="1"/>
            <p:nvPr/>
          </p:nvSpPr>
          <p:spPr>
            <a:xfrm>
              <a:off x="1322" y="2981"/>
              <a:ext cx="356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index 5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48" name="Google Shape;548;p22"/>
            <p:cNvSpPr txBox="1"/>
            <p:nvPr/>
          </p:nvSpPr>
          <p:spPr>
            <a:xfrm>
              <a:off x="1676" y="2981"/>
              <a:ext cx="30" cy="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Times New Roman" panose="02020603050405020304"/>
                <a:buNone/>
              </a:pPr>
              <a:r>
                <a:rPr lang="en-US" sz="1500" b="0" i="0" u="none">
                  <a:solidFill>
                    <a:srgbClr val="0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endParaRPr lang="en-US" sz="15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549" name="Google Shape;549;p22"/>
            <p:cNvGrpSpPr/>
            <p:nvPr/>
          </p:nvGrpSpPr>
          <p:grpSpPr>
            <a:xfrm>
              <a:off x="1932" y="2930"/>
              <a:ext cx="582" cy="93"/>
              <a:chOff x="1932" y="3026"/>
              <a:chExt cx="582" cy="93"/>
            </a:xfrm>
          </p:grpSpPr>
          <p:cxnSp>
            <p:nvCxnSpPr>
              <p:cNvPr id="550" name="Google Shape;550;p22"/>
              <p:cNvCxnSpPr/>
              <p:nvPr/>
            </p:nvCxnSpPr>
            <p:spPr>
              <a:xfrm flipH="1">
                <a:off x="1932" y="3071"/>
                <a:ext cx="520" cy="1"/>
              </a:xfrm>
              <a:prstGeom prst="straightConnector1">
                <a:avLst/>
              </a:prstGeom>
              <a:noFill/>
              <a:ln w="14275" cap="flat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551" name="Google Shape;551;p22"/>
              <p:cNvSpPr/>
              <p:nvPr/>
            </p:nvSpPr>
            <p:spPr>
              <a:xfrm>
                <a:off x="2420" y="3026"/>
                <a:ext cx="94" cy="93"/>
              </a:xfrm>
              <a:custGeom>
                <a:avLst/>
                <a:gdLst/>
                <a:ahLst/>
                <a:cxnLst/>
                <a:rect l="l" t="t" r="r" b="b"/>
                <a:pathLst>
                  <a:path w="94" h="93" extrusionOk="0">
                    <a:moveTo>
                      <a:pt x="0" y="93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30" y="47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552" name="Google Shape;552;p22"/>
          <p:cNvSpPr txBox="1"/>
          <p:nvPr/>
        </p:nvSpPr>
        <p:spPr>
          <a:xfrm>
            <a:off x="609600" y="1600200"/>
            <a:ext cx="78486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Array’s elements numbered beginning with zero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 legally use any subscript from 0 through 9</a:t>
            </a:r>
            <a:endParaRPr lang="en-US" sz="24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8" name="Google Shape;558;p23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 test 3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608012" y="1666875"/>
            <a:ext cx="7897812" cy="191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Identify and correct the syntax error in each of the following array declaration.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(a) float arr[] = new float {1.0,2.0,3.0};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5" name="Google Shape;565;p24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Answer of Self- test 3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66" name="Google Shape;566;p24"/>
          <p:cNvSpPr txBox="1"/>
          <p:nvPr/>
        </p:nvSpPr>
        <p:spPr>
          <a:xfrm>
            <a:off x="608012" y="1590675"/>
            <a:ext cx="789781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marR="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Identify and correct the syntax error in each of the following array declaration.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Arial" panose="020B0604020202020204"/>
              <a:buAutoNum type="alphaLcParenBoth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float arr[] = new float {1.0,2.0,3.0};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90600" marR="0" lvl="1" indent="-5334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 panose="020B0604020202020204"/>
              <a:buNone/>
            </a:pPr>
            <a:r>
              <a:rPr lang="en-US" sz="2600" b="1" i="0" u="none" strike="noStrike" cap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new should not be there.</a:t>
            </a:r>
            <a:endParaRPr lang="en-US" sz="2600" b="1" i="0" u="none" strike="noStrike" cap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2" name="Google Shape;572;p25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 test 4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608000" y="1819275"/>
            <a:ext cx="7897800" cy="4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Assume the array declaration and initialization is as follows.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 panose="02070309020205020404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 arr[] = {2,4,6,8,10};</a:t>
            </a:r>
            <a:endParaRPr lang="en-US" sz="2600" b="1" i="0" u="none" strike="noStrike" cap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State whether it is valid/invalid?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(a) arr[4] 			(f) arr[ 5 % 2 ]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(b) arr[ arr.length ] 		(g) arr[ arr[ arr[0] ] ]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(c) arr[ arr[0] ] 		(h) arr[ 5 / 2.0 ]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(d) arr[ arr.length / 2 ] 	(i) arr[ arr[3] / 2]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(e) arr[ arr[1] ] 		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9" name="Google Shape;579;p26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Answer of Self- test 4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80" name="Google Shape;580;p26"/>
          <p:cNvSpPr txBox="1"/>
          <p:nvPr/>
        </p:nvSpPr>
        <p:spPr>
          <a:xfrm>
            <a:off x="608012" y="1743075"/>
            <a:ext cx="789781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Assume the array declaration and initialization is as follows.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 panose="02070309020205020404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 arr[] = {2,4,6,8,10};</a:t>
            </a:r>
            <a:endParaRPr lang="en-US" sz="2600" b="1" i="0" u="none" strike="noStrike" cap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State whether it is valid/invalid?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(a) 10, 			 (f) 4,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(b) invalid, 		 (g) invalid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(c) 6, 			 (h) invalid,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(d) 6, 			 </a:t>
            </a:r>
            <a:r>
              <a:rPr lang="en-US" sz="2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(i) 10</a:t>
            </a:r>
            <a:endParaRPr lang="en-US" sz="2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(e) 10, 			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6" name="Google Shape;586;p27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87" name="Google Shape;587;p27"/>
          <p:cNvSpPr txBox="1">
            <a:spLocks noGrp="1"/>
          </p:cNvSpPr>
          <p:nvPr>
            <p:ph type="body" idx="1"/>
          </p:nvPr>
        </p:nvSpPr>
        <p:spPr>
          <a:xfrm>
            <a:off x="914400" y="2286000"/>
            <a:ext cx="7924800" cy="3200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 class Test {</a:t>
            </a:r>
            <a:endParaRPr lang="en-US" sz="2400" b="1" i="0" u="none">
              <a:solidFill>
                <a:schemeClr val="lt2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public static void main(String[] args) {</a:t>
            </a:r>
            <a:endParaRPr lang="en-US" sz="2400" b="1" i="0" u="none">
              <a:solidFill>
                <a:schemeClr val="lt2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int[] values = new int[5];</a:t>
            </a:r>
            <a:endParaRPr lang="en-US" sz="2400" b="1" i="0" u="none">
              <a:solidFill>
                <a:schemeClr val="lt2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</a:t>
            </a: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(int i = 1; i &lt; 5; i++) {</a:t>
            </a:r>
            <a:endParaRPr lang="en-US"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values[i] = i + values[i-1];</a:t>
            </a:r>
            <a:endParaRPr lang="en-US"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}</a:t>
            </a:r>
            <a:endParaRPr lang="en-US"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values[0] = values[1] + values[4];</a:t>
            </a:r>
            <a:endParaRPr lang="en-US" sz="2400" b="1" i="0" u="none">
              <a:solidFill>
                <a:schemeClr val="lt2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sz="2400" b="1" i="0" u="none">
              <a:solidFill>
                <a:schemeClr val="lt2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lt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sz="2400" b="1" i="0" u="none">
              <a:solidFill>
                <a:schemeClr val="lt2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588" name="Google Shape;588;p27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9" name="Google Shape;589;p27"/>
          <p:cNvSpPr txBox="1"/>
          <p:nvPr/>
        </p:nvSpPr>
        <p:spPr>
          <a:xfrm>
            <a:off x="685800" y="1676400"/>
            <a:ext cx="784860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Given the following program, what will be the output?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5" name="Google Shape;595;p28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96" name="Google Shape;596;p28"/>
          <p:cNvSpPr txBox="1">
            <a:spLocks noGrp="1"/>
          </p:cNvSpPr>
          <p:nvPr>
            <p:ph type="body" idx="1"/>
          </p:nvPr>
        </p:nvSpPr>
        <p:spPr>
          <a:xfrm>
            <a:off x="231775" y="1970087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values[i]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2382837" y="1047750"/>
            <a:ext cx="4186237" cy="768350"/>
          </a:xfrm>
          <a:prstGeom prst="wedgeRoundRectCallout">
            <a:avLst>
              <a:gd name="adj1" fmla="val 4186"/>
              <a:gd name="adj2" fmla="val 46235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Declare array variable values, create an array, and assign its reference to values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98" name="Google Shape;598;p28"/>
          <p:cNvSpPr txBox="1"/>
          <p:nvPr/>
        </p:nvSpPr>
        <p:spPr>
          <a:xfrm>
            <a:off x="539750" y="2514600"/>
            <a:ext cx="396240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00" name="Google Shape;600;p28"/>
          <p:cNvGraphicFramePr/>
          <p:nvPr/>
        </p:nvGraphicFramePr>
        <p:xfrm>
          <a:off x="5838825" y="2046287"/>
          <a:ext cx="195897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201150" imgH="9858375" progId="Word.Picture.8">
                  <p:embed/>
                </p:oleObj>
              </mc:Choice>
              <mc:Fallback>
                <p:oleObj name="" r:id="rId1" imgW="9201150" imgH="9858375" progId="Word.Picture.8">
                  <p:embed/>
                  <p:pic>
                    <p:nvPicPr>
                      <p:cNvPr id="0" name="Google Shape;600;p28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6287"/>
                        <a:ext cx="195897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1" name="Google Shape;601;p28"/>
          <p:cNvCxnSpPr/>
          <p:nvPr/>
        </p:nvCxnSpPr>
        <p:spPr>
          <a:xfrm>
            <a:off x="4071937" y="2738437"/>
            <a:ext cx="2189162" cy="762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7" name="Google Shape;607;p29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08" name="Google Shape;608;p29"/>
          <p:cNvSpPr txBox="1">
            <a:spLocks noGrp="1"/>
          </p:cNvSpPr>
          <p:nvPr>
            <p:ph type="body" idx="1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values[i]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name="adj1" fmla="val -4292"/>
              <a:gd name="adj2" fmla="val 108179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becomes 1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10" name="Google Shape;610;p29"/>
          <p:cNvSpPr txBox="1"/>
          <p:nvPr/>
        </p:nvSpPr>
        <p:spPr>
          <a:xfrm>
            <a:off x="1000125" y="2928937"/>
            <a:ext cx="80645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1" name="Google Shape;611;p29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12" name="Google Shape;612;p29"/>
          <p:cNvGraphicFramePr/>
          <p:nvPr/>
        </p:nvGraphicFramePr>
        <p:xfrm>
          <a:off x="5838825" y="2238375"/>
          <a:ext cx="195897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201150" imgH="9858375" progId="Word.Picture.8">
                  <p:embed/>
                </p:oleObj>
              </mc:Choice>
              <mc:Fallback>
                <p:oleObj name="" r:id="rId1" imgW="9201150" imgH="9858375" progId="Word.Picture.8">
                  <p:embed/>
                  <p:pic>
                    <p:nvPicPr>
                      <p:cNvPr id="0" name="Google Shape;612;p29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238375"/>
                        <a:ext cx="195897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8" name="Google Shape;618;p3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19" name="Google Shape;619;p30"/>
          <p:cNvSpPr txBox="1">
            <a:spLocks noGrp="1"/>
          </p:cNvSpPr>
          <p:nvPr>
            <p:ph type="body" idx="1"/>
          </p:nvPr>
        </p:nvSpPr>
        <p:spPr>
          <a:xfrm>
            <a:off x="3810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values[i]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name="adj1" fmla="val -893"/>
              <a:gd name="adj2" fmla="val 106840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(=1) is less than 5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21" name="Google Shape;621;p30"/>
          <p:cNvSpPr txBox="1"/>
          <p:nvPr/>
        </p:nvSpPr>
        <p:spPr>
          <a:xfrm>
            <a:off x="1922462" y="2928937"/>
            <a:ext cx="576262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2" name="Google Shape;622;p30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23" name="Google Shape;623;p30"/>
          <p:cNvGraphicFramePr/>
          <p:nvPr/>
        </p:nvGraphicFramePr>
        <p:xfrm>
          <a:off x="5838825" y="2314575"/>
          <a:ext cx="195897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201150" imgH="9858375" progId="Word.Picture.8">
                  <p:embed/>
                </p:oleObj>
              </mc:Choice>
              <mc:Fallback>
                <p:oleObj name="" r:id="rId1" imgW="9201150" imgH="9858375" progId="Word.Picture.8">
                  <p:embed/>
                  <p:pic>
                    <p:nvPicPr>
                      <p:cNvPr id="0" name="Google Shape;623;p30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314575"/>
                        <a:ext cx="195897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9" name="Google Shape;629;p31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30" name="Google Shape;630;p31"/>
          <p:cNvSpPr txBox="1">
            <a:spLocks noGrp="1"/>
          </p:cNvSpPr>
          <p:nvPr>
            <p:ph type="body" idx="1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2382837" y="1047750"/>
            <a:ext cx="4186237" cy="768350"/>
          </a:xfrm>
          <a:prstGeom prst="wedgeRoundRectCallout">
            <a:avLst>
              <a:gd name="adj1" fmla="val 5873"/>
              <a:gd name="adj2" fmla="val 63015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 line is executed, value[1] is 1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501650" y="3236912"/>
            <a:ext cx="396240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3" name="Google Shape;633;p31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34" name="Google Shape;634;p31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634;p31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" name="Google Shape;635;p31"/>
          <p:cNvSpPr txBox="1"/>
          <p:nvPr/>
        </p:nvSpPr>
        <p:spPr>
          <a:xfrm>
            <a:off x="6376987" y="3006725"/>
            <a:ext cx="73025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36" name="Google Shape;636;p31"/>
          <p:cNvCxnSpPr/>
          <p:nvPr/>
        </p:nvCxnSpPr>
        <p:spPr>
          <a:xfrm rot="10800000" flipH="1">
            <a:off x="4149725" y="3160712"/>
            <a:ext cx="2189162" cy="192087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2" name="Google Shape;642;p32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56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3" name="Google Shape;643;p32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4346575" cy="4114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values[i]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4187825" y="1201737"/>
            <a:ext cx="4186237" cy="384175"/>
          </a:xfrm>
          <a:prstGeom prst="wedgeRoundRectCallout">
            <a:avLst>
              <a:gd name="adj1" fmla="val -5005"/>
              <a:gd name="adj2" fmla="val 98182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i++, i becomes 2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5" name="Google Shape;645;p32"/>
          <p:cNvSpPr txBox="1"/>
          <p:nvPr/>
        </p:nvSpPr>
        <p:spPr>
          <a:xfrm>
            <a:off x="2997200" y="2968625"/>
            <a:ext cx="384175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6" name="Google Shape;646;p32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47" name="Google Shape;647;p32"/>
          <p:cNvGraphicFramePr/>
          <p:nvPr/>
        </p:nvGraphicFramePr>
        <p:xfrm>
          <a:off x="6259512" y="2493962"/>
          <a:ext cx="18288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772525" imgH="10334625" progId="Word.Picture.8">
                  <p:embed/>
                </p:oleObj>
              </mc:Choice>
              <mc:Fallback>
                <p:oleObj name="" r:id="rId1" imgW="8772525" imgH="10334625" progId="Word.Picture.8">
                  <p:embed/>
                  <p:pic>
                    <p:nvPicPr>
                      <p:cNvPr id="0" name="Google Shape;647;p32"/>
                      <p:cNvPicPr preferRelativeResize="0"/>
                      <p:nvPr>
                        <p:ph type="body" idx="1"/>
                      </p:nvPr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259512" y="2493962"/>
                        <a:ext cx="182880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3" name="Google Shape;653;p33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54" name="Google Shape;654;p33"/>
          <p:cNvSpPr txBox="1">
            <a:spLocks noGrp="1"/>
          </p:cNvSpPr>
          <p:nvPr>
            <p:ph type="body" idx="1"/>
          </p:nvPr>
        </p:nvSpPr>
        <p:spPr>
          <a:xfrm>
            <a:off x="835025" y="1793875"/>
            <a:ext cx="4346575" cy="45307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values[i]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4840287" y="1277937"/>
            <a:ext cx="3533775" cy="384175"/>
          </a:xfrm>
          <a:prstGeom prst="wedgeRoundRectCallout">
            <a:avLst>
              <a:gd name="adj1" fmla="val -12197"/>
              <a:gd name="adj2" fmla="val 85061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(= 2) is less than 5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56" name="Google Shape;656;p33"/>
          <p:cNvSpPr txBox="1"/>
          <p:nvPr/>
        </p:nvSpPr>
        <p:spPr>
          <a:xfrm>
            <a:off x="2382837" y="2738437"/>
            <a:ext cx="500062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7" name="Google Shape;657;p33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58" name="Google Shape;658;p33"/>
          <p:cNvGraphicFramePr/>
          <p:nvPr/>
        </p:nvGraphicFramePr>
        <p:xfrm>
          <a:off x="6145212" y="2535237"/>
          <a:ext cx="2078037" cy="245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763000" imgH="10344150" progId="Word.Picture.8">
                  <p:embed/>
                </p:oleObj>
              </mc:Choice>
              <mc:Fallback>
                <p:oleObj name="" r:id="rId1" imgW="8763000" imgH="10344150" progId="Word.Picture.8">
                  <p:embed/>
                  <p:pic>
                    <p:nvPicPr>
                      <p:cNvPr id="0" name="Google Shape;658;p33"/>
                      <p:cNvPicPr preferRelativeResize="0"/>
                      <p:nvPr>
                        <p:ph type="body" idx="1"/>
                      </p:nvPr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145212" y="2535237"/>
                        <a:ext cx="2078037" cy="245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4" name="Google Shape;664;p34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65" name="Google Shape;665;p34"/>
          <p:cNvSpPr txBox="1">
            <a:spLocks noGrp="1"/>
          </p:cNvSpPr>
          <p:nvPr>
            <p:ph type="body" idx="1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6" name="Google Shape;666;p34"/>
          <p:cNvSpPr/>
          <p:nvPr/>
        </p:nvSpPr>
        <p:spPr>
          <a:xfrm>
            <a:off x="2382837" y="1047750"/>
            <a:ext cx="4186237" cy="768350"/>
          </a:xfrm>
          <a:prstGeom prst="wedgeRoundRectCallout">
            <a:avLst>
              <a:gd name="adj1" fmla="val 5873"/>
              <a:gd name="adj2" fmla="val 63015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 line is executed, 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values[2] is 3 (2 + 1)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67" name="Google Shape;667;p34"/>
          <p:cNvSpPr txBox="1"/>
          <p:nvPr/>
        </p:nvSpPr>
        <p:spPr>
          <a:xfrm>
            <a:off x="501650" y="3236912"/>
            <a:ext cx="396240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8" name="Google Shape;668;p34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69" name="Google Shape;669;p34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669;p34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" name="Google Shape;670;p34"/>
          <p:cNvSpPr txBox="1"/>
          <p:nvPr/>
        </p:nvSpPr>
        <p:spPr>
          <a:xfrm>
            <a:off x="6376987" y="3275012"/>
            <a:ext cx="73025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71" name="Google Shape;671;p34"/>
          <p:cNvCxnSpPr/>
          <p:nvPr/>
        </p:nvCxnSpPr>
        <p:spPr>
          <a:xfrm>
            <a:off x="4149725" y="3352800"/>
            <a:ext cx="2227262" cy="762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7" name="Google Shape;677;p3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78" name="Google Shape;678;p35"/>
          <p:cNvSpPr txBox="1">
            <a:spLocks noGrp="1"/>
          </p:cNvSpPr>
          <p:nvPr>
            <p:ph type="body" idx="1"/>
          </p:nvPr>
        </p:nvSpPr>
        <p:spPr>
          <a:xfrm>
            <a:off x="3810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name="adj1" fmla="val 2318"/>
              <a:gd name="adj2" fmla="val 106036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this, i becomes 3.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80" name="Google Shape;680;p35"/>
          <p:cNvSpPr txBox="1"/>
          <p:nvPr/>
        </p:nvSpPr>
        <p:spPr>
          <a:xfrm>
            <a:off x="2536825" y="2928937"/>
            <a:ext cx="346075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1" name="Google Shape;681;p35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82" name="Google Shape;682;p35"/>
          <p:cNvGraphicFramePr/>
          <p:nvPr/>
        </p:nvGraphicFramePr>
        <p:xfrm>
          <a:off x="5838825" y="2046287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682;p35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6287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8" name="Google Shape;688;p36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89" name="Google Shape;689;p36"/>
          <p:cNvSpPr txBox="1">
            <a:spLocks noGrp="1"/>
          </p:cNvSpPr>
          <p:nvPr>
            <p:ph type="body" idx="1"/>
          </p:nvPr>
        </p:nvSpPr>
        <p:spPr>
          <a:xfrm>
            <a:off x="3810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4111625" y="1163637"/>
            <a:ext cx="4186237" cy="384175"/>
          </a:xfrm>
          <a:prstGeom prst="wedgeRoundRectCallout">
            <a:avLst>
              <a:gd name="adj1" fmla="val -8773"/>
              <a:gd name="adj2" fmla="val 99521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(=3) is still less than 5.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91" name="Google Shape;691;p36"/>
          <p:cNvSpPr txBox="1"/>
          <p:nvPr/>
        </p:nvSpPr>
        <p:spPr>
          <a:xfrm>
            <a:off x="1922462" y="2928937"/>
            <a:ext cx="536575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2" name="Google Shape;692;p36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693" name="Google Shape;693;p36"/>
          <p:cNvGraphicFramePr/>
          <p:nvPr/>
        </p:nvGraphicFramePr>
        <p:xfrm>
          <a:off x="5838825" y="2046287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693;p36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6287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9" name="Google Shape;699;p37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00" name="Google Shape;700;p37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1" name="Google Shape;701;p37"/>
          <p:cNvSpPr/>
          <p:nvPr/>
        </p:nvSpPr>
        <p:spPr>
          <a:xfrm>
            <a:off x="4149725" y="1163637"/>
            <a:ext cx="4724400" cy="384175"/>
          </a:xfrm>
          <a:prstGeom prst="wedgeRoundRectCallout">
            <a:avLst>
              <a:gd name="adj1" fmla="val -3970"/>
              <a:gd name="adj2" fmla="val 114337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 line, values[3] becomes 6 (3 + 3)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02" name="Google Shape;702;p37"/>
          <p:cNvSpPr txBox="1"/>
          <p:nvPr/>
        </p:nvSpPr>
        <p:spPr>
          <a:xfrm>
            <a:off x="654050" y="3048000"/>
            <a:ext cx="3417887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3" name="Google Shape;703;p37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04" name="Google Shape;704;p37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704;p37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05" name="Google Shape;705;p37"/>
          <p:cNvCxnSpPr/>
          <p:nvPr/>
        </p:nvCxnSpPr>
        <p:spPr>
          <a:xfrm>
            <a:off x="4149725" y="3352800"/>
            <a:ext cx="2111375" cy="306387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  <p:sp>
        <p:nvSpPr>
          <p:cNvPr id="706" name="Google Shape;706;p37"/>
          <p:cNvSpPr txBox="1"/>
          <p:nvPr/>
        </p:nvSpPr>
        <p:spPr>
          <a:xfrm>
            <a:off x="6261100" y="3544887"/>
            <a:ext cx="922337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2" name="Google Shape;712;p38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13" name="Google Shape;713;p38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4456112" y="1047750"/>
            <a:ext cx="4186237" cy="384175"/>
          </a:xfrm>
          <a:prstGeom prst="wedgeRoundRectCallout">
            <a:avLst>
              <a:gd name="adj1" fmla="val -8347"/>
              <a:gd name="adj2" fmla="val 106929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this, i becomes 4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15" name="Google Shape;715;p38"/>
          <p:cNvSpPr txBox="1"/>
          <p:nvPr/>
        </p:nvSpPr>
        <p:spPr>
          <a:xfrm>
            <a:off x="2536825" y="2928937"/>
            <a:ext cx="346075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6" name="Google Shape;716;p38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17" name="Google Shape;717;p38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717;p38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3" name="Google Shape;723;p39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24" name="Google Shape;724;p39"/>
          <p:cNvSpPr txBox="1">
            <a:spLocks noGrp="1"/>
          </p:cNvSpPr>
          <p:nvPr>
            <p:ph type="body" idx="1"/>
          </p:nvPr>
        </p:nvSpPr>
        <p:spPr>
          <a:xfrm>
            <a:off x="304800" y="20574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5" name="Google Shape;725;p39"/>
          <p:cNvSpPr/>
          <p:nvPr/>
        </p:nvSpPr>
        <p:spPr>
          <a:xfrm>
            <a:off x="4456112" y="1047750"/>
            <a:ext cx="4186237" cy="384175"/>
          </a:xfrm>
          <a:prstGeom prst="wedgeRoundRectCallout">
            <a:avLst>
              <a:gd name="adj1" fmla="val -10984"/>
              <a:gd name="adj2" fmla="val 106929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(=4) is still less than 5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1922462" y="2890837"/>
            <a:ext cx="498475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7" name="Google Shape;727;p39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28" name="Google Shape;728;p39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728;p39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4" name="Google Shape;734;p4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35" name="Google Shape;735;p40"/>
          <p:cNvSpPr txBox="1">
            <a:spLocks noGrp="1"/>
          </p:cNvSpPr>
          <p:nvPr>
            <p:ph type="body" idx="1"/>
          </p:nvPr>
        </p:nvSpPr>
        <p:spPr>
          <a:xfrm>
            <a:off x="2286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6" name="Google Shape;736;p40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name="adj1" fmla="val 5226"/>
              <a:gd name="adj2" fmla="val 122638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this, values[4] becomes 10 (4 + 6)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615950" y="3236912"/>
            <a:ext cx="3417887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8" name="Google Shape;738;p40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39" name="Google Shape;739;p40"/>
          <p:cNvGraphicFramePr/>
          <p:nvPr/>
        </p:nvGraphicFramePr>
        <p:xfrm>
          <a:off x="5838825" y="2044700"/>
          <a:ext cx="195897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739;p40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1958975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40" name="Google Shape;740;p40"/>
          <p:cNvCxnSpPr/>
          <p:nvPr/>
        </p:nvCxnSpPr>
        <p:spPr>
          <a:xfrm>
            <a:off x="4071937" y="3390900"/>
            <a:ext cx="2189162" cy="536575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  <p:sp>
        <p:nvSpPr>
          <p:cNvPr id="741" name="Google Shape;741;p40"/>
          <p:cNvSpPr txBox="1"/>
          <p:nvPr/>
        </p:nvSpPr>
        <p:spPr>
          <a:xfrm>
            <a:off x="6376987" y="3813175"/>
            <a:ext cx="76835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7" name="Google Shape;747;p41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48" name="Google Shape;748;p41"/>
          <p:cNvSpPr txBox="1">
            <a:spLocks noGrp="1"/>
          </p:cNvSpPr>
          <p:nvPr>
            <p:ph type="body" idx="1"/>
          </p:nvPr>
        </p:nvSpPr>
        <p:spPr>
          <a:xfrm>
            <a:off x="838200" y="1946275"/>
            <a:ext cx="3810000" cy="45307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9" name="Google Shape;749;p41"/>
          <p:cNvSpPr/>
          <p:nvPr/>
        </p:nvSpPr>
        <p:spPr>
          <a:xfrm>
            <a:off x="4303712" y="1085850"/>
            <a:ext cx="4186237" cy="384175"/>
          </a:xfrm>
          <a:prstGeom prst="wedgeRoundRectCallout">
            <a:avLst>
              <a:gd name="adj1" fmla="val -6168"/>
              <a:gd name="adj2" fmla="val 92380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i++, i becomes 5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50" name="Google Shape;750;p41"/>
          <p:cNvSpPr txBox="1"/>
          <p:nvPr/>
        </p:nvSpPr>
        <p:spPr>
          <a:xfrm>
            <a:off x="2728912" y="2738437"/>
            <a:ext cx="384175" cy="2301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1" name="Google Shape;751;p41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52" name="Google Shape;752;p41"/>
          <p:cNvGraphicFramePr/>
          <p:nvPr/>
        </p:nvGraphicFramePr>
        <p:xfrm>
          <a:off x="6029325" y="2662237"/>
          <a:ext cx="2109787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763000" imgH="10344150" progId="Word.Picture.8">
                  <p:embed/>
                </p:oleObj>
              </mc:Choice>
              <mc:Fallback>
                <p:oleObj name="" r:id="rId1" imgW="8763000" imgH="10344150" progId="Word.Picture.8">
                  <p:embed/>
                  <p:pic>
                    <p:nvPicPr>
                      <p:cNvPr id="0" name="Google Shape;752;p41"/>
                      <p:cNvPicPr preferRelativeResize="0"/>
                      <p:nvPr>
                        <p:ph type="body" idx="1"/>
                      </p:nvPr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029325" y="2662237"/>
                        <a:ext cx="2109787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8" name="Google Shape;758;p42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59" name="Google Shape;759;p42"/>
          <p:cNvSpPr txBox="1">
            <a:spLocks noGrp="1"/>
          </p:cNvSpPr>
          <p:nvPr>
            <p:ph type="body" idx="1"/>
          </p:nvPr>
        </p:nvSpPr>
        <p:spPr>
          <a:xfrm>
            <a:off x="498475" y="2209800"/>
            <a:ext cx="4378325" cy="26511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lang="en-US" sz="16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6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0" name="Google Shape;760;p42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name="adj1" fmla="val -377"/>
              <a:gd name="adj2" fmla="val 107375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( =5) &lt; 5 is false. Exit the loop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61" name="Google Shape;761;p42"/>
          <p:cNvSpPr txBox="1"/>
          <p:nvPr/>
        </p:nvSpPr>
        <p:spPr>
          <a:xfrm>
            <a:off x="1922462" y="2928937"/>
            <a:ext cx="498475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2" name="Google Shape;762;p42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63" name="Google Shape;763;p42"/>
          <p:cNvGraphicFramePr/>
          <p:nvPr/>
        </p:nvGraphicFramePr>
        <p:xfrm>
          <a:off x="5981700" y="2921000"/>
          <a:ext cx="1600200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763000" imgH="10344150" progId="Word.Picture.8">
                  <p:embed/>
                </p:oleObj>
              </mc:Choice>
              <mc:Fallback>
                <p:oleObj name="" r:id="rId1" imgW="8763000" imgH="10344150" progId="Word.Picture.8">
                  <p:embed/>
                  <p:pic>
                    <p:nvPicPr>
                      <p:cNvPr id="0" name="Google Shape;763;p42"/>
                      <p:cNvPicPr preferRelativeResize="0"/>
                      <p:nvPr>
                        <p:ph type="body" idx="1"/>
                      </p:nvPr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981700" y="2921000"/>
                        <a:ext cx="1600200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9" name="Google Shape;769;p43"/>
          <p:cNvSpPr txBox="1">
            <a:spLocks noGrp="1"/>
          </p:cNvSpPr>
          <p:nvPr>
            <p:ph type="title"/>
          </p:nvPr>
        </p:nvSpPr>
        <p:spPr>
          <a:xfrm>
            <a:off x="1230312" y="228600"/>
            <a:ext cx="722788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Trace Program with Arrays</a:t>
            </a:r>
            <a:endParaRPr lang="en-US" sz="42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70" name="Google Shape;770;p43"/>
          <p:cNvSpPr txBox="1">
            <a:spLocks noGrp="1"/>
          </p:cNvSpPr>
          <p:nvPr>
            <p:ph type="body" idx="1"/>
          </p:nvPr>
        </p:nvSpPr>
        <p:spPr>
          <a:xfrm>
            <a:off x="304800" y="2133600"/>
            <a:ext cx="4343400" cy="2819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class Test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public static void main(String[] args)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int[] values = new int[5];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for (int i = 1; i &lt; 5; i++) {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values[i] = i + values[i-1];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values[0] = values[1] + values[4];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0" i="0" u="none">
                <a:solidFill>
                  <a:schemeClr val="l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0" i="0" u="none">
              <a:solidFill>
                <a:schemeClr val="l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1" name="Google Shape;771;p43"/>
          <p:cNvSpPr/>
          <p:nvPr/>
        </p:nvSpPr>
        <p:spPr>
          <a:xfrm>
            <a:off x="2382837" y="1047750"/>
            <a:ext cx="4186237" cy="384175"/>
          </a:xfrm>
          <a:prstGeom prst="wedgeRoundRectCallout">
            <a:avLst>
              <a:gd name="adj1" fmla="val -3940"/>
              <a:gd name="adj2" fmla="val 156555"/>
              <a:gd name="adj3" fmla="val 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After this line, values[0] is 11 (1 + 10)</a:t>
            </a:r>
            <a:endParaRPr lang="en-US" sz="18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72" name="Google Shape;772;p43"/>
          <p:cNvSpPr txBox="1"/>
          <p:nvPr/>
        </p:nvSpPr>
        <p:spPr>
          <a:xfrm>
            <a:off x="539750" y="3851275"/>
            <a:ext cx="3494087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3" name="Google Shape;773;p43"/>
          <p:cNvSpPr txBox="1"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74" name="Google Shape;774;p43"/>
          <p:cNvGraphicFramePr/>
          <p:nvPr/>
        </p:nvGraphicFramePr>
        <p:xfrm>
          <a:off x="5838825" y="2044700"/>
          <a:ext cx="2290762" cy="245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9191625" imgH="9867900" progId="Word.Picture.8">
                  <p:embed/>
                </p:oleObj>
              </mc:Choice>
              <mc:Fallback>
                <p:oleObj name="" r:id="rId1" imgW="9191625" imgH="9867900" progId="Word.Picture.8">
                  <p:embed/>
                  <p:pic>
                    <p:nvPicPr>
                      <p:cNvPr id="0" name="Google Shape;774;p43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5838825" y="2044700"/>
                        <a:ext cx="2290762" cy="245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5" name="Google Shape;775;p43"/>
          <p:cNvCxnSpPr/>
          <p:nvPr/>
        </p:nvCxnSpPr>
        <p:spPr>
          <a:xfrm rot="10800000" flipH="1">
            <a:off x="4033837" y="2890837"/>
            <a:ext cx="2381250" cy="998537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sm" len="sm"/>
          </a:ln>
        </p:spPr>
      </p:cxnSp>
      <p:sp>
        <p:nvSpPr>
          <p:cNvPr id="776" name="Google Shape;776;p43"/>
          <p:cNvSpPr txBox="1"/>
          <p:nvPr/>
        </p:nvSpPr>
        <p:spPr>
          <a:xfrm>
            <a:off x="6530975" y="2928937"/>
            <a:ext cx="768350" cy="268287"/>
          </a:xfrm>
          <a:prstGeom prst="rect">
            <a:avLst/>
          </a:prstGeom>
          <a:solidFill>
            <a:schemeClr val="accent1">
              <a:alpha val="44705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2" name="Google Shape;782;p44"/>
          <p:cNvSpPr txBox="1">
            <a:spLocks noGrp="1"/>
          </p:cNvSpPr>
          <p:nvPr>
            <p:ph type="title"/>
          </p:nvPr>
        </p:nvSpPr>
        <p:spPr>
          <a:xfrm>
            <a:off x="1219200" y="152400"/>
            <a:ext cx="7239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Times New Roman" panose="02020603050405020304"/>
              <a:buNone/>
            </a:pPr>
            <a:r>
              <a:rPr lang="en-US" sz="41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Enhanced </a:t>
            </a:r>
            <a:r>
              <a:rPr lang="en-US" sz="4100" b="1" i="0" u="sng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</a:t>
            </a:r>
            <a:r>
              <a:rPr lang="en-US" sz="41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Loop</a:t>
            </a:r>
            <a:endParaRPr lang="en-US" sz="41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83" name="Google Shape;783;p44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JDK 1.5 and above introduced a new for loop that enables you to traverse the complete array sequentially without using an index variable. For example, the following code displays all elements in the array </a:t>
            </a:r>
            <a:r>
              <a:rPr lang="en-US" sz="2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scoreArray</a:t>
            </a: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r>
              <a:rPr lang="en-US" sz="26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for(int val : scoreArray)</a:t>
            </a:r>
            <a:endParaRPr lang="en-US" sz="26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System.out.println(val);</a:t>
            </a:r>
            <a:endParaRPr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endParaRPr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general, the syntax is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r>
              <a:rPr lang="en-US" sz="26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(elementType value: arrayRefVar) {</a:t>
            </a:r>
            <a:endParaRPr sz="26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// Process the value</a:t>
            </a:r>
            <a:endParaRPr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2400" b="1" i="0" u="none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r>
              <a:rPr lang="en-US" sz="2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 still have to use an index variable if you wish to traverse the array in a different order or change the elements in the array. </a:t>
            </a:r>
            <a:endParaRPr lang="en-US" sz="2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9" name="Google Shape;789;p4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Array Processing</a:t>
            </a:r>
            <a:endParaRPr lang="en-US" sz="3800" b="0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90" name="Google Shape;790;p45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8153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 panose="020B0604020202020204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(Printing arrays)</a:t>
            </a:r>
            <a:endParaRPr lang="en-US" sz="32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 panose="020B0604020202020204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(Summing all elements)</a:t>
            </a:r>
            <a:endParaRPr lang="en-US" sz="32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 panose="020B0604020202020204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(Finding the largest element)</a:t>
            </a:r>
            <a:endParaRPr lang="en-US" sz="32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 panose="020B0604020202020204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(Finding the smallest index of the largest element)</a:t>
            </a:r>
            <a:endParaRPr lang="en-US" sz="32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6" name="Google Shape;796;p46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 Print an Array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97" name="Google Shape;797;p46"/>
          <p:cNvSpPr txBox="1"/>
          <p:nvPr/>
        </p:nvSpPr>
        <p:spPr>
          <a:xfrm>
            <a:off x="749300" y="2159000"/>
            <a:ext cx="7707312" cy="2870200"/>
          </a:xfrm>
          <a:prstGeom prst="rect">
            <a:avLst/>
          </a:prstGeom>
          <a:solidFill>
            <a:srgbClr val="DDDDDD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 class PrintArrays  {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static final int ARRSIZE = 10;    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The array's size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static int intArr[] = new int[ARRSIZE]; 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Create the int array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static double realArr[] = { 1.1, 2.2, 3.3, 4.4, 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5.5, 6.6, 7.7, 8.8, 9.9, 10.10 }; 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And a double array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public static void main(String args[]) {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System.out.println("Ints \t Reals"); 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for (int k = 0; k &lt; intArr.length; k++)</a:t>
            </a:r>
            <a:endParaRPr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System.out.println( intArr[k] + " \t " + realArr[k]);    </a:t>
            </a:r>
            <a:endParaRPr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}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main()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PrintArrays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798" name="Google Shape;798;p46"/>
          <p:cNvSpPr txBox="1"/>
          <p:nvPr/>
        </p:nvSpPr>
        <p:spPr>
          <a:xfrm>
            <a:off x="609600" y="1582737"/>
            <a:ext cx="7945437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Print an array of </a:t>
            </a:r>
            <a:r>
              <a:rPr lang="en-US" sz="24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</a:t>
            </a:r>
            <a:r>
              <a:rPr lang="en-US" sz="28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an array of </a:t>
            </a:r>
            <a:r>
              <a:rPr lang="en-US" sz="24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double</a:t>
            </a:r>
            <a:r>
              <a:rPr lang="en-US" sz="28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US" sz="28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99" name="Google Shape;799;p46"/>
          <p:cNvSpPr txBox="1"/>
          <p:nvPr/>
        </p:nvSpPr>
        <p:spPr>
          <a:xfrm>
            <a:off x="7307262" y="4562475"/>
            <a:ext cx="1608137" cy="1939925"/>
          </a:xfrm>
          <a:prstGeom prst="rect">
            <a:avLst/>
          </a:prstGeom>
          <a:solidFill>
            <a:srgbClr val="DDDDDD"/>
          </a:solidFill>
          <a:ln w="19050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sng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Program Output</a:t>
            </a:r>
            <a:endParaRPr lang="en-US" sz="1000" b="1" i="0" u="sng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Ints      Reals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0         1.1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0         2.2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0         3.3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0         4.4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0         5.5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0         6.6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0         7.7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0         8.8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0         9.9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0         10.1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800" name="Google Shape;800;p46"/>
          <p:cNvSpPr/>
          <p:nvPr/>
        </p:nvSpPr>
        <p:spPr>
          <a:xfrm>
            <a:off x="4868862" y="5486400"/>
            <a:ext cx="1957387" cy="1323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847" y="33403"/>
                </a:moveTo>
                <a:lnTo>
                  <a:pt x="2462" y="26929"/>
                </a:lnTo>
              </a:path>
            </a:pathLst>
          </a:custGeom>
          <a:solidFill>
            <a:schemeClr val="accent1"/>
          </a:solidFill>
          <a:ln w="12700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Uninitialized int array has default values of 0.</a:t>
            </a:r>
            <a:r>
              <a:rPr lang="en-US" sz="18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8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01" name="Google Shape;801;p46"/>
          <p:cNvSpPr/>
          <p:nvPr/>
        </p:nvSpPr>
        <p:spPr>
          <a:xfrm>
            <a:off x="7694612" y="2133600"/>
            <a:ext cx="1144587" cy="1019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18532" y="-115975"/>
                </a:moveTo>
                <a:lnTo>
                  <a:pt x="2906" y="-1726"/>
                </a:lnTo>
              </a:path>
            </a:pathLst>
          </a:custGeom>
          <a:solidFill>
            <a:schemeClr val="accent1"/>
          </a:solidFill>
          <a:ln w="12700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These must be static ...</a:t>
            </a:r>
            <a:endParaRPr lang="en-US" sz="2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02" name="Google Shape;802;p46"/>
          <p:cNvSpPr/>
          <p:nvPr/>
        </p:nvSpPr>
        <p:spPr>
          <a:xfrm>
            <a:off x="1135062" y="5153025"/>
            <a:ext cx="2155825" cy="10191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23296" y="30444"/>
                </a:moveTo>
                <a:lnTo>
                  <a:pt x="2906" y="26836"/>
                </a:lnTo>
              </a:path>
            </a:pathLst>
          </a:custGeom>
          <a:solidFill>
            <a:schemeClr val="accent1"/>
          </a:solidFill>
          <a:ln w="12700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 in order to refer to them in static main()</a:t>
            </a:r>
            <a:endParaRPr lang="en-US" sz="2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imes New Roman" panose="02020603050405020304"/>
              <a:buNone/>
            </a:pPr>
            <a:r>
              <a:rPr lang="en-US" sz="42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 Store the First 100 Squares</a:t>
            </a:r>
            <a:endParaRPr lang="en-US" sz="42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752475" y="1527175"/>
            <a:ext cx="7707312" cy="4146550"/>
          </a:xfrm>
          <a:prstGeom prst="rect">
            <a:avLst/>
          </a:prstGeom>
          <a:solidFill>
            <a:srgbClr val="DDDDDD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 class Squares {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static final int ARRSIZE = 100;        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The array's size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static int intArr[] = new int[ARRSIZE];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Create an int array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public static void main(String args[]) {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for (int k = 0; k &lt; intArr.length; k++)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Initialize the array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intArr[k] = (k+1) * (k+1);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System.out.print("The first 100 squares are");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Print a heading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for (int k = 0; k &lt; intArr.length; k++) 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{   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Print the array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if (k % 10 == 0)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    System.out.println(" ");    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10 elements per row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System.out.print( intArr[k] + " ");</a:t>
            </a:r>
            <a:endParaRPr lang="en-US" sz="14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}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for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}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main()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 panose="02070309020205020404"/>
              <a:buNone/>
            </a:pPr>
            <a:r>
              <a:rPr lang="en-US" sz="14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 </a:t>
            </a:r>
            <a:r>
              <a:rPr lang="en-US" sz="1400" b="1" i="0" u="none">
                <a:solidFill>
                  <a:srgbClr val="FF33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Squares</a:t>
            </a:r>
            <a:endParaRPr lang="en-US" sz="1400" b="1" i="0" u="none">
              <a:solidFill>
                <a:srgbClr val="FF33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810" name="Google Shape;810;p47"/>
          <p:cNvSpPr txBox="1"/>
          <p:nvPr/>
        </p:nvSpPr>
        <p:spPr>
          <a:xfrm>
            <a:off x="4953000" y="5029200"/>
            <a:ext cx="3984625" cy="2092325"/>
          </a:xfrm>
          <a:prstGeom prst="rect">
            <a:avLst/>
          </a:prstGeom>
          <a:solidFill>
            <a:srgbClr val="DDDDDD"/>
          </a:solidFill>
          <a:ln w="19050" cap="flat" cmpd="sng">
            <a:solidFill>
              <a:srgbClr val="CC33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Courier New" panose="02070309020205020404"/>
              <a:buNone/>
            </a:pPr>
            <a:r>
              <a:rPr lang="en-US" sz="1000" b="1" i="0" u="sng">
                <a:solidFill>
                  <a:schemeClr val="hlink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Program Output</a:t>
            </a:r>
            <a:endParaRPr lang="en-US" sz="1000" b="1" i="0" u="sng">
              <a:solidFill>
                <a:schemeClr val="hlink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The first 100 squares are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1 4 9 16 25 36 49 64 81 100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121 144 169 196 225 256 289 324 361 400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441 484 529 576 625 676 729 784 841 900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961 1024 1089 1156 1225 1296 1369 1444 1521 1600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1681 1764 1849 1936 2025 2116 2209 2304 2401 2500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2601 2704 2809 2916 3025 3136 3249 3364 3481 3600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3721 3844 3969 4096 4225 4356 4489 4624 4761 4900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5041 5184 5329 5476 5625 5776 5929 6084 6241 6400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6561 6724 6889 7056 7225 7396 7569 7744 7921 8100  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 panose="02070309020205020404"/>
              <a:buNone/>
            </a:pPr>
            <a:r>
              <a:rPr lang="en-US" sz="1000" b="1" i="0" u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8281 8464 8649 8836 9025 9216 9409 9604 9801 10000</a:t>
            </a:r>
            <a:endParaRPr lang="en-US" sz="1000" b="1" i="0" u="none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8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Exercise 1 (Question 1)</a:t>
            </a:r>
            <a:endParaRPr lang="en-US" sz="38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16" name="Google Shape;816;p48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Modify program </a:t>
            </a:r>
            <a:r>
              <a:rPr lang="en-US" sz="2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ArrayDemo</a:t>
            </a: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and save as </a:t>
            </a:r>
            <a:r>
              <a:rPr lang="en-US" sz="20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ArrayDemo1</a:t>
            </a: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lang="en-US" sz="20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Initialize the elements in one initialization statement </a:t>
            </a:r>
            <a:endParaRPr lang="en-US"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1260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 ArrayDemo { </a:t>
            </a:r>
            <a:endParaRPr lang="en-US" sz="14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97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public static void main(String[] args) {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int[] anArray; // declares an array of integers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 = new int[10]; </a:t>
            </a:r>
            <a:r>
              <a:rPr lang="en-US" sz="10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allocates memory for 10 integers </a:t>
            </a:r>
            <a:endParaRPr lang="en-US" sz="10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anArray[0] = 100; // initialize first element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anArray[1] = 200; // initialize second element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anArray[2] = 300; // etc.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anArray[3] = 400;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anArray[4] = 500;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anArray[5] = 600;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anArray[6] = 700;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anArray[7] = 800;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anArray[8] = 900;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r>
              <a:rPr lang="en-US" sz="13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anArray[9] = 1000; </a:t>
            </a:r>
            <a:endParaRPr lang="en-US"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endParaRPr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SzPts val="715"/>
              <a:buNone/>
            </a:pPr>
            <a:endParaRPr sz="13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double[] myList = {5.6, 4.5, 3.3, 13.2, 4, 34.33, 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rgbClr val="0000C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	34, 45.45, 99.993, 11.3};</a:t>
            </a:r>
            <a:endParaRPr lang="en-US"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2000" b="1" i="0" u="none">
              <a:solidFill>
                <a:srgbClr val="0000CC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9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Exercise 1 (Question 1) cont.</a:t>
            </a:r>
            <a:endParaRPr lang="en-US" sz="38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22" name="Google Shape;822;p49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AutoNum type="arabicPeriod"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 </a:t>
            </a:r>
            <a:r>
              <a:rPr lang="en-US" sz="24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traditional for loop</a:t>
            </a: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to print all the values</a:t>
            </a:r>
            <a:r>
              <a:rPr lang="en-US" sz="1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4003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None/>
            </a:pPr>
            <a:endParaRPr sz="1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0: " + anArray[0]);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1: " + anArray[1]);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2: " + anArray[2]);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3: " + anArray[3]);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4: " + anArray[4]);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5: " + anArray[5]);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6: " + anArray[6]);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7: " + anArray[7]);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8: " + anArray[8]);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System.out.println("Element at index 9: " + anArray[9]);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 </a:t>
            </a:r>
            <a:endParaRPr lang="en-US" sz="1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0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28" name="Google Shape;828;p50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84582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 ArrayDemo1 {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public static void main(String[] args) {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int anArray[] = {100, 200, 300, 400, 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500, 600, 700, 800, 900, 1000};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18288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None/>
            </a:pP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for (int i = 0; i &lt; anArray.length; i++) {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System.out.println("Element at 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index" + i + ": " + anArray[i]);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}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}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 panose="02020603050405020304"/>
              <a:buNone/>
            </a:pPr>
            <a:r>
              <a:rPr lang="en-US" sz="3800" b="1" i="0" u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Exercise 1 (Question 2) cont.</a:t>
            </a:r>
            <a:endParaRPr lang="en-US" sz="3800" b="1" i="0" u="none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34" name="Google Shape;834;p51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Modify program ArrayDemo1 and save as ArrayDemo2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AutoNum type="arabicPeriod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 </a:t>
            </a:r>
            <a:r>
              <a:rPr lang="en-US" sz="2800" b="1" i="0" u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enhanced for loop / for-each loop</a:t>
            </a: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to print all the values</a:t>
            </a:r>
            <a:r>
              <a:rPr lang="en-US" sz="32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33400" lvl="0" indent="-533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205740" algn="l" rtl="0">
              <a:spcBef>
                <a:spcPts val="48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2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40" name="Google Shape;840;p52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 ArrayDemo2 {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public static void main(String[] args) {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int anArray[] = {100, 200, 300, 400, 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500, 600, 700, 800, 900, 1000};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for (int i: anArray) {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System.out.println(i);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}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}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  <a:endParaRPr lang="en-US"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3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46" name="Google Shape;846;p53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output from this program is: </a:t>
            </a:r>
            <a:endParaRPr lang="en-US" sz="2800" b="1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lang="en-US" sz="2600" b="1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US" sz="26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0: 100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1: 200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2: 300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3: 400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4: 500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5: 600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6: 700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7: 800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8: 900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lang="en-US" sz="2400" b="1" i="0" u="non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Element at index 9: 1000 </a:t>
            </a:r>
            <a:endParaRPr lang="en-US" sz="24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0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2" name="Google Shape;852;p54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 panose="02020603050405020304"/>
              <a:buNone/>
            </a:pPr>
            <a:r>
              <a:rPr lang="en-US" sz="4200" b="0" i="0" u="none" dirty="0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 Testing Arrays</a:t>
            </a:r>
            <a:endParaRPr dirty="0"/>
          </a:p>
        </p:txBody>
      </p:sp>
      <p:sp>
        <p:nvSpPr>
          <p:cNvPr id="853" name="Google Shape;853;p54"/>
          <p:cNvSpPr txBox="1">
            <a:spLocks noGrp="1"/>
          </p:cNvSpPr>
          <p:nvPr>
            <p:ph type="body" idx="1"/>
          </p:nvPr>
        </p:nvSpPr>
        <p:spPr>
          <a:xfrm>
            <a:off x="914400" y="1873250"/>
            <a:ext cx="7772400" cy="3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Objective: Write a program that receives 6 numbers from the user, finds the largest number and counts the occurrence of the largest number entered. 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Suppose you entered 3, 5, 2, 5, 5, and 5, the largest number is 5 and its occurrence count is 4.</a:t>
            </a:r>
            <a:endParaRPr lang="en-US"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5"/>
          <p:cNvSpPr txBox="1">
            <a:spLocks noGrp="1"/>
          </p:cNvSpPr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dirty="0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Example: Testing Arrays</a:t>
            </a:r>
            <a:endParaRPr sz="4200" dirty="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59" name="Google Shape;859;p55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 an </a:t>
            </a:r>
            <a:r>
              <a:rPr lang="en-US" sz="2800" b="1" i="0" u="none" dirty="0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</a:t>
            </a:r>
            <a:r>
              <a:rPr lang="en-US" sz="2800" b="1" i="0" u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array sized </a:t>
            </a:r>
            <a:r>
              <a:rPr lang="en-US" sz="2800" b="1" i="0" u="none" dirty="0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Loop </a:t>
            </a:r>
            <a:r>
              <a:rPr lang="en-US" sz="2800" b="1" i="0" u="none" dirty="0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array-length </a:t>
            </a:r>
            <a:r>
              <a:rPr lang="en-US" sz="2800" b="1" i="0" u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times to receive the input from keyboard using</a:t>
            </a:r>
            <a:r>
              <a:rPr lang="en-US" sz="2800" b="1" i="0" u="none" dirty="0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scanner class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Compare</a:t>
            </a:r>
            <a:r>
              <a:rPr lang="en-US" sz="2800" b="1" i="0" u="none" dirty="0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 pair numbers and store the larger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lang="en-US" sz="2800" b="1" i="0" u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Count the</a:t>
            </a:r>
            <a:r>
              <a:rPr lang="en-US" sz="2800" b="1" i="0" u="none" dirty="0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occurrences</a:t>
            </a:r>
            <a:endParaRPr dirty="0"/>
          </a:p>
          <a:p>
            <a:pPr marL="342900" lvl="0" indent="-1828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None/>
            </a:pP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1828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None/>
            </a:pPr>
            <a:endParaRPr sz="2800" b="1" i="0" u="none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lvl="0" indent="-182880" algn="l" rtl="0">
              <a:spcBef>
                <a:spcPts val="560"/>
              </a:spcBef>
              <a:spcAft>
                <a:spcPts val="0"/>
              </a:spcAft>
              <a:buSzPts val="2520"/>
              <a:buNone/>
            </a:pPr>
            <a:endParaRPr sz="2800" b="1" i="0" u="none" dirty="0">
              <a:solidFill>
                <a:srgbClr val="0000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17306</Words>
  <Application>WPS Presentation</Application>
  <PresentationFormat>On-screen Show (4:3)</PresentationFormat>
  <Paragraphs>1092</Paragraphs>
  <Slides>55</Slides>
  <Notes>55</Notes>
  <HiddenSlides>9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55</vt:i4>
      </vt:variant>
    </vt:vector>
  </HeadingPairs>
  <TitlesOfParts>
    <vt:vector size="83" baseType="lpstr">
      <vt:lpstr>Arial</vt:lpstr>
      <vt:lpstr>SimSun</vt:lpstr>
      <vt:lpstr>Wingdings</vt:lpstr>
      <vt:lpstr>Arial</vt:lpstr>
      <vt:lpstr>Times New Roman</vt:lpstr>
      <vt:lpstr>Noto Sans Symbols</vt:lpstr>
      <vt:lpstr>Segoe Print</vt:lpstr>
      <vt:lpstr>Courier New</vt:lpstr>
      <vt:lpstr>Microsoft YaHei</vt:lpstr>
      <vt:lpstr>Arial Unicode MS</vt:lpstr>
      <vt:lpstr>1_Layers</vt:lpstr>
      <vt:lpstr>Layers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Array</vt:lpstr>
      <vt:lpstr>Introducing Arrays</vt:lpstr>
      <vt:lpstr>Declare and create an array</vt:lpstr>
      <vt:lpstr>Declare and create an array in two steps</vt:lpstr>
      <vt:lpstr>Declare and create an array in one step</vt:lpstr>
      <vt:lpstr>The Length of an Array</vt:lpstr>
      <vt:lpstr>Default Values</vt:lpstr>
      <vt:lpstr>Arrays</vt:lpstr>
      <vt:lpstr>Arrays</vt:lpstr>
      <vt:lpstr>Self- test 1</vt:lpstr>
      <vt:lpstr>Answer of Self- test 1</vt:lpstr>
      <vt:lpstr>Self test - 2</vt:lpstr>
      <vt:lpstr>Accessing Array Elements</vt:lpstr>
      <vt:lpstr>Accessing Array Elements</vt:lpstr>
      <vt:lpstr>Write &amp; Trace the output</vt:lpstr>
      <vt:lpstr>PowerPoint 演示文稿</vt:lpstr>
      <vt:lpstr>PowerPoint 演示文稿</vt:lpstr>
      <vt:lpstr>Using loop to cycle through the entire array </vt:lpstr>
      <vt:lpstr>Declaring, creating, initializing Using the Shorthand Notation</vt:lpstr>
      <vt:lpstr>Declaring, creating, initializing Using the Shorthand Notation</vt:lpstr>
      <vt:lpstr>CAUTION!!</vt:lpstr>
      <vt:lpstr>Arrays</vt:lpstr>
      <vt:lpstr>Self- test 3</vt:lpstr>
      <vt:lpstr>Answer of Self- test 3</vt:lpstr>
      <vt:lpstr>Self- test 4</vt:lpstr>
      <vt:lpstr>Answer of Self- test 4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Trace Program with Arrays</vt:lpstr>
      <vt:lpstr>Enhanced for Loop</vt:lpstr>
      <vt:lpstr>Array Processing</vt:lpstr>
      <vt:lpstr>Example: Print an Array</vt:lpstr>
      <vt:lpstr>Example: Store the First 100 Squares</vt:lpstr>
      <vt:lpstr>Exercise 1 (Question 1)</vt:lpstr>
      <vt:lpstr>Exercise 1 (Question 1) cont.</vt:lpstr>
      <vt:lpstr>PowerPoint 演示文稿</vt:lpstr>
      <vt:lpstr>Exercise 1 (Question 2) cont.</vt:lpstr>
      <vt:lpstr>PowerPoint 演示文稿</vt:lpstr>
      <vt:lpstr>PowerPoint 演示文稿</vt:lpstr>
      <vt:lpstr>Example: Testing Arrays</vt:lpstr>
      <vt:lpstr>Example: Testing Arrays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</dc:title>
  <dc:creator>Norazah</dc:creator>
  <cp:lastModifiedBy>google1596523062</cp:lastModifiedBy>
  <cp:revision>2</cp:revision>
  <dcterms:created xsi:type="dcterms:W3CDTF">2006-06-28T03:40:00Z</dcterms:created>
  <dcterms:modified xsi:type="dcterms:W3CDTF">2025-03-27T13:49:26Z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248D1B6E0D444D8DA4D9691F181241BC_12</vt:lpwstr>
  </property>
  <property fmtid="{D5CDD505-2E9C-101B-9397-08002B2CF9AE}" pid="3" name="KSOProductBuildVer">
    <vt:lpwstr>1033-12.2.0.20326</vt:lpwstr>
  </property>
</Properties>
</file>