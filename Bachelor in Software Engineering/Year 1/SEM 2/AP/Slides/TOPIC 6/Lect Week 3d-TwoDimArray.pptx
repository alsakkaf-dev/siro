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9144000" cy="6858000"/>
  <p:notesSz cx="6858000" cy="9144000"/>
  <p:embeddedFontLst>
    <p:embeddedFont>
      <p:font typeface="Arial Narrow" panose="020B0606020202030204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p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p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1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3" name="Google Shape;223;p1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Google Shape;243;p1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0" name="Google Shape;250;p1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8" name="Google Shape;258;p1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6" name="Google Shape;266;p1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1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2" name="Google Shape;282;p1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1" name="Google Shape;291;p1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7" name="Google Shape;297;p2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3" name="Google Shape;303;p2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9" name="Google Shape;309;p2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5" name="Google Shape;315;p2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5"/>
          <p:cNvSpPr txBox="1"/>
          <p:nvPr>
            <p:ph type="ctrTitle"/>
          </p:nvPr>
        </p:nvSpPr>
        <p:spPr>
          <a:xfrm>
            <a:off x="2057400" y="1143000"/>
            <a:ext cx="66294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type="subTitle" idx="1"/>
          </p:nvPr>
        </p:nvSpPr>
        <p:spPr>
          <a:xfrm>
            <a:off x="1371600" y="3962400"/>
            <a:ext cx="68580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25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type="dt" idx="10"/>
          </p:nvPr>
        </p:nvSpPr>
        <p:spPr>
          <a:xfrm>
            <a:off x="912812" y="625157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type="ftr" idx="11"/>
          </p:nvPr>
        </p:nvSpPr>
        <p:spPr>
          <a:xfrm>
            <a:off x="3354387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1470" algn="l"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type="body" idx="1"/>
          </p:nvPr>
        </p:nvSpPr>
        <p:spPr>
          <a:xfrm>
            <a:off x="914400" y="1600200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8620" algn="l">
              <a:spcBef>
                <a:spcPts val="560"/>
              </a:spcBef>
              <a:spcAft>
                <a:spcPts val="0"/>
              </a:spcAft>
              <a:buSzPts val="2520"/>
              <a:buChar char="■"/>
              <a:defRPr sz="2800"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marL="1371600" lvl="2" indent="-29845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51" name="Google Shape;51;p28"/>
          <p:cNvSpPr txBox="1"/>
          <p:nvPr>
            <p:ph type="body" idx="2"/>
          </p:nvPr>
        </p:nvSpPr>
        <p:spPr>
          <a:xfrm>
            <a:off x="4876800" y="1600200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8620" algn="l">
              <a:spcBef>
                <a:spcPts val="560"/>
              </a:spcBef>
              <a:spcAft>
                <a:spcPts val="0"/>
              </a:spcAft>
              <a:buSzPts val="2520"/>
              <a:buChar char="■"/>
              <a:defRPr sz="2800"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marL="1371600" lvl="2" indent="-29845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52" name="Google Shape;52;p28"/>
          <p:cNvSpPr txBox="1"/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/>
          <p:nvPr>
            <p:ph type="title"/>
          </p:nvPr>
        </p:nvSpPr>
        <p:spPr>
          <a:xfrm rot="5400000">
            <a:off x="4788694" y="2232819"/>
            <a:ext cx="5853112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type="body" idx="1"/>
          </p:nvPr>
        </p:nvSpPr>
        <p:spPr>
          <a:xfrm rot="5400000">
            <a:off x="826294" y="365919"/>
            <a:ext cx="5853112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1470" algn="l"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type="body" idx="1"/>
          </p:nvPr>
        </p:nvSpPr>
        <p:spPr>
          <a:xfrm rot="5400000">
            <a:off x="2535238" y="-20637"/>
            <a:ext cx="4530725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1470" algn="l"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1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1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26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5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31"/>
          <p:cNvSpPr txBox="1"/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1480" algn="l">
              <a:spcBef>
                <a:spcPts val="640"/>
              </a:spcBef>
              <a:spcAft>
                <a:spcPts val="0"/>
              </a:spcAft>
              <a:buSzPts val="2880"/>
              <a:buChar char="■"/>
              <a:defRPr sz="3200"/>
            </a:lvl1pPr>
            <a:lvl2pPr marL="914400" lvl="1" indent="-36195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marL="1371600" lvl="2" indent="-31242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77" name="Google Shape;77;p32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26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5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32"/>
          <p:cNvSpPr txBox="1"/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3"/>
          <p:cNvSpPr txBox="1"/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4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4"/>
          <p:cNvSpPr txBox="1"/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5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16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93" name="Google Shape;93;p35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480"/>
              </a:spcBef>
              <a:spcAft>
                <a:spcPts val="0"/>
              </a:spcAft>
              <a:buSzPts val="2160"/>
              <a:buChar char="■"/>
              <a:defRPr sz="2400"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marL="1371600" lvl="2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94" name="Google Shape;94;p35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16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95" name="Google Shape;95;p35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480"/>
              </a:spcBef>
              <a:spcAft>
                <a:spcPts val="0"/>
              </a:spcAft>
              <a:buSzPts val="2160"/>
              <a:buChar char="■"/>
              <a:defRPr sz="2400"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marL="1371600" lvl="2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96" name="Google Shape;96;p35"/>
          <p:cNvSpPr txBox="1"/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5"/>
          <p:cNvSpPr txBox="1"/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5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6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88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2" name="Google Shape;102;p36"/>
          <p:cNvSpPr txBox="1"/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6"/>
          <p:cNvSpPr txBox="1"/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6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4"/>
          <p:cNvGrpSpPr/>
          <p:nvPr/>
        </p:nvGrpSpPr>
        <p:grpSpPr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11" name="Google Shape;11;p24"/>
            <p:cNvSpPr txBox="1"/>
            <p:nvPr/>
          </p:nvSpPr>
          <p:spPr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2" name="Google Shape;12;p24"/>
            <p:cNvGrpSpPr/>
            <p:nvPr/>
          </p:nvGrpSpPr>
          <p:grpSpPr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3" name="Google Shape;13;p24"/>
              <p:cNvSpPr txBox="1"/>
              <p:nvPr/>
            </p:nvSpPr>
            <p:spPr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" name="Google Shape;14;p24"/>
              <p:cNvSpPr txBox="1"/>
              <p:nvPr/>
            </p:nvSpPr>
            <p:spPr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15" name="Google Shape;15;p24"/>
              <p:cNvCxnSpPr/>
              <p:nvPr/>
            </p:nvCxnSpPr>
            <p:spPr>
              <a:xfrm>
                <a:off x="0" y="3072"/>
                <a:ext cx="624" cy="0"/>
              </a:xfrm>
              <a:prstGeom prst="straightConnector1">
                <a:avLst/>
              </a:prstGeom>
              <a:noFill/>
              <a:ln w="50800" cap="flat" cmpd="sng">
                <a:solidFill>
                  <a:schemeClr val="l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16;p24"/>
            <p:cNvGrpSpPr/>
            <p:nvPr/>
          </p:nvGrpSpPr>
          <p:grpSpPr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17" name="Google Shape;17;p24"/>
              <p:cNvSpPr txBox="1"/>
              <p:nvPr/>
            </p:nvSpPr>
            <p:spPr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18" name="Google Shape;18;p24"/>
              <p:cNvCxnSpPr/>
              <p:nvPr/>
            </p:nvCxnSpPr>
            <p:spPr>
              <a:xfrm>
                <a:off x="400" y="432"/>
                <a:ext cx="5088" cy="0"/>
              </a:xfrm>
              <a:prstGeom prst="straightConnector1">
                <a:avLst/>
              </a:prstGeom>
              <a:noFill/>
              <a:ln w="44450" cap="flat" cmpd="sng">
                <a:solidFill>
                  <a:schemeClr val="l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sp>
        <p:nvSpPr>
          <p:cNvPr id="19" name="Google Shape;19;p24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20" name="Google Shape;20;p24"/>
          <p:cNvSpPr txBox="1"/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862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2425" algn="l" rtl="0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08610" algn="l" rtl="0">
              <a:spcBef>
                <a:spcPts val="460"/>
              </a:spcBef>
              <a:spcAft>
                <a:spcPts val="0"/>
              </a:spcAft>
              <a:buClr>
                <a:schemeClr val="folHlink"/>
              </a:buClr>
              <a:buSzPts val="126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1" name="Google Shape;21;p24"/>
          <p:cNvSpPr txBox="1"/>
          <p:nvPr>
            <p:ph type="dt" idx="10"/>
          </p:nvPr>
        </p:nvSpPr>
        <p:spPr>
          <a:xfrm>
            <a:off x="912812" y="625157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type="ftr" idx="11"/>
          </p:nvPr>
        </p:nvSpPr>
        <p:spPr>
          <a:xfrm>
            <a:off x="3354387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3" name="Google Shape;23;p24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26"/>
          <p:cNvGrpSpPr/>
          <p:nvPr/>
        </p:nvGrpSpPr>
        <p:grpSpPr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32" name="Google Shape;32;p26"/>
            <p:cNvSpPr txBox="1"/>
            <p:nvPr/>
          </p:nvSpPr>
          <p:spPr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33" name="Google Shape;33;p26"/>
            <p:cNvGrpSpPr/>
            <p:nvPr/>
          </p:nvGrpSpPr>
          <p:grpSpPr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34" name="Google Shape;34;p26"/>
              <p:cNvSpPr txBox="1"/>
              <p:nvPr/>
            </p:nvSpPr>
            <p:spPr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35" name="Google Shape;35;p26"/>
              <p:cNvCxnSpPr/>
              <p:nvPr/>
            </p:nvCxnSpPr>
            <p:spPr>
              <a:xfrm>
                <a:off x="240" y="941"/>
                <a:ext cx="5232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sp>
        <p:nvSpPr>
          <p:cNvPr id="36" name="Google Shape;36;p26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37" name="Google Shape;37;p26"/>
          <p:cNvSpPr txBox="1"/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862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2425" algn="l" rtl="0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08610" algn="l" rtl="0">
              <a:spcBef>
                <a:spcPts val="460"/>
              </a:spcBef>
              <a:spcAft>
                <a:spcPts val="0"/>
              </a:spcAft>
              <a:buClr>
                <a:schemeClr val="folHlink"/>
              </a:buClr>
              <a:buSzPts val="126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8" name="Google Shape;38;p26"/>
          <p:cNvSpPr txBox="1"/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9" name="Google Shape;39;p26"/>
          <p:cNvSpPr txBox="1"/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0" name="Google Shape;40;p26"/>
          <p:cNvSpPr txBox="1"/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</a:endParaRPr>
          </a:p>
        </p:txBody>
      </p:sp>
      <p:cxnSp>
        <p:nvCxnSpPr>
          <p:cNvPr id="41" name="Google Shape;41;p26"/>
          <p:cNvCxnSpPr/>
          <p:nvPr/>
        </p:nvCxnSpPr>
        <p:spPr>
          <a:xfrm>
            <a:off x="0" y="4876800"/>
            <a:ext cx="609600" cy="0"/>
          </a:xfrm>
          <a:prstGeom prst="straightConnector1">
            <a:avLst/>
          </a:prstGeom>
          <a:noFill/>
          <a:ln w="44450" cap="flat" cmpd="sng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" name="Google Shape;110;p1"/>
          <p:cNvSpPr txBox="1"/>
          <p:nvPr>
            <p:ph type="ctrTitle"/>
          </p:nvPr>
        </p:nvSpPr>
        <p:spPr>
          <a:xfrm>
            <a:off x="2057400" y="1377950"/>
            <a:ext cx="6629400" cy="171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imes New Roman" panose="02020603050405020304"/>
              <a:buNone/>
            </a:pPr>
            <a:r>
              <a:rPr lang="en-US" sz="4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Two Dimensional Array</a:t>
            </a:r>
            <a:endParaRPr lang="en-US" sz="4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1" name="Google Shape;111;p1"/>
          <p:cNvSpPr txBox="1"/>
          <p:nvPr>
            <p:ph type="subTitle" idx="1"/>
          </p:nvPr>
        </p:nvSpPr>
        <p:spPr>
          <a:xfrm>
            <a:off x="1371600" y="3962400"/>
            <a:ext cx="68580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Lecture Week 3</a:t>
            </a:r>
            <a:endParaRPr lang="en-US" sz="4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Based on Slides of Dr. Norazah Yusof</a:t>
            </a:r>
            <a:endParaRPr lang="en-US" sz="2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/>
          <p:nvPr>
            <p:ph type="title"/>
          </p:nvPr>
        </p:nvSpPr>
        <p:spPr>
          <a:xfrm>
            <a:off x="685800" y="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Two-dimensional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2"/>
          <p:cNvSpPr txBox="1"/>
          <p:nvPr>
            <p:ph type="body" idx="1"/>
          </p:nvPr>
        </p:nvSpPr>
        <p:spPr>
          <a:xfrm>
            <a:off x="685800" y="1676400"/>
            <a:ext cx="8077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Arrays can be extended to several dimensions (Two or more).</a:t>
            </a:r>
            <a:endParaRPr lang="en-US"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two dimensional array, for example, is a repetition of one-dimensional arrays (i.e. array of arrays).</a:t>
            </a:r>
            <a:endParaRPr lang="en-US"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22860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457200" y="2911475"/>
            <a:ext cx="3813175" cy="19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Courier New" panose="02070309020205020404"/>
              <a:buNone/>
            </a:pPr>
            <a:r>
              <a:rPr lang="en-US" sz="2000" b="1" i="0" u="none">
                <a:solidFill>
                  <a:srgbClr val="66003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int[][] labMarks</a:t>
            </a:r>
            <a:r>
              <a:rPr lang="en-US" sz="2000" b="1" i="0" u="none">
                <a:solidFill>
                  <a:srgbClr val="660033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= {</a:t>
            </a:r>
            <a:endParaRPr lang="en-US" sz="2000" b="1" i="0" u="none">
              <a:solidFill>
                <a:srgbClr val="660033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Arial Narrow" panose="020B0606020202030204"/>
              <a:buNone/>
            </a:pPr>
            <a:r>
              <a:rPr lang="en-US" sz="2000" b="1" i="0" u="none">
                <a:solidFill>
                  <a:srgbClr val="660033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                              {14, 13, 11, 9, 5},</a:t>
            </a:r>
            <a:endParaRPr lang="en-US" sz="2000" b="1" i="0" u="none">
              <a:solidFill>
                <a:srgbClr val="660033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Arial Narrow" panose="020B0606020202030204"/>
              <a:buNone/>
            </a:pPr>
            <a:r>
              <a:rPr lang="en-US" sz="2000" b="1" i="0" u="none">
                <a:solidFill>
                  <a:srgbClr val="660033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                              {17, 18, 15, 13, 11},</a:t>
            </a:r>
            <a:endParaRPr lang="en-US" sz="2000" b="1" i="0" u="none">
              <a:solidFill>
                <a:srgbClr val="660033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Arial Narrow" panose="020B0606020202030204"/>
              <a:buNone/>
            </a:pPr>
            <a:r>
              <a:rPr lang="en-US" sz="2000" b="1" i="0" u="none">
                <a:solidFill>
                  <a:srgbClr val="660033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                              {12, 11, 17, 20, 14}</a:t>
            </a:r>
            <a:endParaRPr lang="en-US" sz="2000" b="1" i="0" u="none">
              <a:solidFill>
                <a:srgbClr val="660033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Arial Narrow" panose="020B0606020202030204"/>
              <a:buNone/>
            </a:pPr>
            <a:r>
              <a:rPr lang="en-US" sz="2000" b="1" i="0" u="none">
                <a:solidFill>
                  <a:srgbClr val="660033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                            }</a:t>
            </a:r>
            <a:endParaRPr lang="en-US" sz="2000" b="1" i="0" u="none">
              <a:solidFill>
                <a:srgbClr val="660033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Arial Narrow" panose="020B0606020202030204"/>
              <a:buNone/>
            </a:pPr>
            <a:r>
              <a:rPr lang="en-US" sz="2000" b="1" i="0" u="sng">
                <a:solidFill>
                  <a:srgbClr val="660033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array of three rows and five columns</a:t>
            </a:r>
            <a:endParaRPr lang="en-US" sz="2000" b="1" i="0" u="sng">
              <a:solidFill>
                <a:srgbClr val="660033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5789612" y="2976562"/>
            <a:ext cx="401637" cy="376237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14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6151562" y="2976562"/>
            <a:ext cx="401637" cy="376237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13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532562" y="2976562"/>
            <a:ext cx="401637" cy="376237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11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6934200" y="2976562"/>
            <a:ext cx="404812" cy="376237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9 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7339012" y="2976562"/>
            <a:ext cx="401637" cy="376237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5 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5789612" y="3352800"/>
            <a:ext cx="401637" cy="376237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17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6151562" y="3352800"/>
            <a:ext cx="401637" cy="376237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18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532562" y="3352800"/>
            <a:ext cx="401637" cy="376237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15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934200" y="3352800"/>
            <a:ext cx="404812" cy="376237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13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7339012" y="3352800"/>
            <a:ext cx="401637" cy="376237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11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grpSp>
        <p:nvGrpSpPr>
          <p:cNvPr id="130" name="Google Shape;130;p2"/>
          <p:cNvGrpSpPr/>
          <p:nvPr/>
        </p:nvGrpSpPr>
        <p:grpSpPr>
          <a:xfrm>
            <a:off x="5789612" y="3729037"/>
            <a:ext cx="1951037" cy="376237"/>
            <a:chOff x="1346" y="1819"/>
            <a:chExt cx="1230" cy="237"/>
          </a:xfrm>
        </p:grpSpPr>
        <p:sp>
          <p:nvSpPr>
            <p:cNvPr id="131" name="Google Shape;131;p2"/>
            <p:cNvSpPr txBox="1"/>
            <p:nvPr/>
          </p:nvSpPr>
          <p:spPr>
            <a:xfrm>
              <a:off x="1346" y="1819"/>
              <a:ext cx="254" cy="237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 Narrow" panose="020B0606020202030204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 Narrow" panose="020B0606020202030204"/>
                  <a:ea typeface="Arial Narrow" panose="020B0606020202030204"/>
                  <a:cs typeface="Arial Narrow" panose="020B0606020202030204"/>
                  <a:sym typeface="Arial Narrow" panose="020B0606020202030204"/>
                </a:rPr>
                <a:t>12</a:t>
              </a:r>
              <a:endPara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endParaRPr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1574" y="1819"/>
              <a:ext cx="254" cy="237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 Narrow" panose="020B0606020202030204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 Narrow" panose="020B0606020202030204"/>
                  <a:ea typeface="Arial Narrow" panose="020B0606020202030204"/>
                  <a:cs typeface="Arial Narrow" panose="020B0606020202030204"/>
                  <a:sym typeface="Arial Narrow" panose="020B0606020202030204"/>
                </a:rPr>
                <a:t>11</a:t>
              </a:r>
              <a:endPara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endParaRPr>
            </a:p>
          </p:txBody>
        </p:sp>
        <p:sp>
          <p:nvSpPr>
            <p:cNvPr id="133" name="Google Shape;133;p2"/>
            <p:cNvSpPr txBox="1"/>
            <p:nvPr/>
          </p:nvSpPr>
          <p:spPr>
            <a:xfrm>
              <a:off x="1814" y="1819"/>
              <a:ext cx="254" cy="237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 Narrow" panose="020B0606020202030204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 Narrow" panose="020B0606020202030204"/>
                  <a:ea typeface="Arial Narrow" panose="020B0606020202030204"/>
                  <a:cs typeface="Arial Narrow" panose="020B0606020202030204"/>
                  <a:sym typeface="Arial Narrow" panose="020B0606020202030204"/>
                </a:rPr>
                <a:t>17</a:t>
              </a:r>
              <a:endPara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2068" y="1819"/>
              <a:ext cx="254" cy="237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 Narrow" panose="020B0606020202030204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 Narrow" panose="020B0606020202030204"/>
                  <a:ea typeface="Arial Narrow" panose="020B0606020202030204"/>
                  <a:cs typeface="Arial Narrow" panose="020B0606020202030204"/>
                  <a:sym typeface="Arial Narrow" panose="020B0606020202030204"/>
                </a:rPr>
                <a:t>20</a:t>
              </a:r>
              <a:endPara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endParaRPr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2322" y="1819"/>
              <a:ext cx="254" cy="237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 Narrow" panose="020B0606020202030204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Arial Narrow" panose="020B0606020202030204"/>
                  <a:ea typeface="Arial Narrow" panose="020B0606020202030204"/>
                  <a:cs typeface="Arial Narrow" panose="020B0606020202030204"/>
                  <a:sym typeface="Arial Narrow" panose="020B0606020202030204"/>
                </a:rPr>
                <a:t>14</a:t>
              </a:r>
              <a:endPara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endParaRPr>
            </a:p>
          </p:txBody>
        </p:sp>
      </p:grpSp>
      <p:sp>
        <p:nvSpPr>
          <p:cNvPr id="136" name="Google Shape;136;p2"/>
          <p:cNvSpPr txBox="1"/>
          <p:nvPr/>
        </p:nvSpPr>
        <p:spPr>
          <a:xfrm>
            <a:off x="7772400" y="2971800"/>
            <a:ext cx="29051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0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7772400" y="3352800"/>
            <a:ext cx="29051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7772400" y="3733800"/>
            <a:ext cx="29051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2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5789612" y="4105275"/>
            <a:ext cx="287337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0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6191250" y="4105275"/>
            <a:ext cx="29051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1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6532562" y="4095750"/>
            <a:ext cx="287337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2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6934200" y="4105275"/>
            <a:ext cx="29051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3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7339012" y="4095750"/>
            <a:ext cx="287337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4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8077200" y="3352800"/>
            <a:ext cx="6223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rows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6191250" y="4337050"/>
            <a:ext cx="9572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columns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cxnSp>
        <p:nvCxnSpPr>
          <p:cNvPr id="146" name="Google Shape;146;p2"/>
          <p:cNvCxnSpPr/>
          <p:nvPr/>
        </p:nvCxnSpPr>
        <p:spPr>
          <a:xfrm rot="10800000">
            <a:off x="7148512" y="4095750"/>
            <a:ext cx="477837" cy="6080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7" name="Google Shape;147;p2"/>
          <p:cNvSpPr txBox="1"/>
          <p:nvPr/>
        </p:nvSpPr>
        <p:spPr>
          <a:xfrm>
            <a:off x="4800600" y="3276600"/>
            <a:ext cx="350837" cy="376237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  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4267200" y="3810000"/>
            <a:ext cx="998537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rgbClr val="660033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labMarks</a:t>
            </a:r>
            <a:endParaRPr lang="en-US" sz="1800" b="1" i="0" u="none">
              <a:solidFill>
                <a:srgbClr val="660033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cxnSp>
        <p:nvCxnSpPr>
          <p:cNvPr id="149" name="Google Shape;149;p2"/>
          <p:cNvCxnSpPr/>
          <p:nvPr/>
        </p:nvCxnSpPr>
        <p:spPr>
          <a:xfrm>
            <a:off x="4953000" y="3505200"/>
            <a:ext cx="8572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oval" w="med" len="med"/>
            <a:tailEnd type="triangle" w="med" len="med"/>
          </a:ln>
        </p:spPr>
      </p:cxnSp>
      <p:sp>
        <p:nvSpPr>
          <p:cNvPr id="150" name="Google Shape;150;p2"/>
          <p:cNvSpPr txBox="1"/>
          <p:nvPr/>
        </p:nvSpPr>
        <p:spPr>
          <a:xfrm>
            <a:off x="7315200" y="4724400"/>
            <a:ext cx="1455737" cy="366712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 panose="020B060602020203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labMarks[2][3]</a:t>
            </a:r>
            <a:endParaRPr lang="en-US" sz="18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914400" y="5181600"/>
            <a:ext cx="7070725" cy="131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 panose="020B0606020202030204"/>
              <a:buNone/>
            </a:pPr>
            <a:r>
              <a:rPr lang="en-US" sz="20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labMarks is a two dimensional array of </a:t>
            </a:r>
            <a:r>
              <a:rPr lang="en-US" sz="2000" b="1" i="0" u="none">
                <a:solidFill>
                  <a:srgbClr val="0000C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marks</a:t>
            </a:r>
            <a:r>
              <a:rPr lang="en-US" sz="20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of </a:t>
            </a:r>
            <a:r>
              <a:rPr lang="en-US" sz="2000" b="1" i="0" u="none">
                <a:solidFill>
                  <a:srgbClr val="0000C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three students</a:t>
            </a:r>
            <a:r>
              <a:rPr lang="en-US" sz="20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in </a:t>
            </a:r>
            <a:r>
              <a:rPr lang="en-US" sz="2000" b="1" i="0" u="none">
                <a:solidFill>
                  <a:srgbClr val="0000C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five</a:t>
            </a:r>
            <a:endParaRPr lang="en-US" sz="2000" b="1" i="0" u="none">
              <a:solidFill>
                <a:srgbClr val="0000CC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 Narrow" panose="020B0606020202030204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lab tests</a:t>
            </a:r>
            <a:r>
              <a:rPr lang="en-US" sz="20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. </a:t>
            </a:r>
            <a:r>
              <a:rPr lang="en-US" sz="2000" b="1" i="0" u="none">
                <a:solidFill>
                  <a:srgbClr val="0000C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Student numbers</a:t>
            </a:r>
            <a:r>
              <a:rPr lang="en-US" sz="20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are represented along rows from 0 to 2. </a:t>
            </a:r>
            <a:endParaRPr lang="en-US" sz="20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 Narrow" panose="020B0606020202030204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Lab tests</a:t>
            </a:r>
            <a:r>
              <a:rPr lang="en-US" sz="20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are numbered along five columns. Each array cell contains</a:t>
            </a:r>
            <a:endParaRPr lang="en-US" sz="20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 panose="020B0606020202030204"/>
              <a:buNone/>
            </a:pPr>
            <a:r>
              <a:rPr lang="en-US" sz="2000" b="1" i="0" u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student’s marks.</a:t>
            </a:r>
            <a:endParaRPr lang="en-US" sz="2000" b="1" i="0" u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7" name="Google Shape;157;p3"/>
          <p:cNvSpPr txBox="1"/>
          <p:nvPr>
            <p:ph type="title"/>
          </p:nvPr>
        </p:nvSpPr>
        <p:spPr>
          <a:xfrm>
            <a:off x="685800" y="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Declaration of Two-dimensional 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p3"/>
          <p:cNvSpPr txBox="1"/>
          <p:nvPr>
            <p:ph type="body" idx="1"/>
          </p:nvPr>
        </p:nvSpPr>
        <p:spPr>
          <a:xfrm>
            <a:off x="533400" y="1600200"/>
            <a:ext cx="8382000" cy="49530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Declare array ref var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dataType[][] refVar; 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Create array and assign its reference to variable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refVar = new dataType[5][5]; 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	or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Combine declaration and creation in one statement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dataType[][] refVar = new dataType[5][5]; </a:t>
            </a:r>
            <a:endParaRPr lang="en-US" sz="2000" b="1" i="0" u="none">
              <a:solidFill>
                <a:schemeClr val="hlink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Alternative syntax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dataType refVar[][] = new dataType[5][5];</a:t>
            </a: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" name="Google Shape;164;p4"/>
          <p:cNvSpPr txBox="1"/>
          <p:nvPr>
            <p:ph type="title"/>
          </p:nvPr>
        </p:nvSpPr>
        <p:spPr>
          <a:xfrm>
            <a:off x="609600" y="0"/>
            <a:ext cx="8382000" cy="17526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Declaring Variables of Two-dimensional Arrays and Creating Two-dimensional Arrays 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5" name="Google Shape;165;p4"/>
          <p:cNvSpPr txBox="1"/>
          <p:nvPr>
            <p:ph type="body" idx="1"/>
          </p:nvPr>
        </p:nvSpPr>
        <p:spPr>
          <a:xfrm>
            <a:off x="762000" y="1905000"/>
            <a:ext cx="8382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Example:</a:t>
            </a:r>
            <a:endParaRPr lang="en-US" sz="3200" b="1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int[][] matrix = new int[5][5];</a:t>
            </a:r>
            <a:endParaRPr lang="en-US" sz="28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</a:pPr>
            <a:r>
              <a:rPr lang="en-US" sz="3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or</a:t>
            </a:r>
            <a:endParaRPr lang="en-US" sz="3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 matrix[][] = new int[5][5];</a:t>
            </a:r>
            <a:endParaRPr lang="en-US" sz="28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endParaRPr sz="2800" b="1" i="0" u="none">
              <a:solidFill>
                <a:srgbClr val="0000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Accessing Two-Dimensional Array</a:t>
            </a:r>
            <a:endParaRPr lang="en-US" sz="2800" b="1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for (int i = 0; i &lt; matrix.length; i++)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for (int j = 0; j &lt; matrix[i].length; j++)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matrix[i][j] = (int)(Math.random() * 100);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22860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1" name="Google Shape;171;p5"/>
          <p:cNvSpPr txBox="1"/>
          <p:nvPr>
            <p:ph type="title"/>
          </p:nvPr>
        </p:nvSpPr>
        <p:spPr>
          <a:xfrm>
            <a:off x="457200" y="0"/>
            <a:ext cx="8534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Two-dimensional Array Illustration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2324100" y="24765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73" name="Google Shape;173;p5"/>
          <p:cNvGraphicFramePr/>
          <p:nvPr/>
        </p:nvGraphicFramePr>
        <p:xfrm>
          <a:off x="0" y="1123950"/>
          <a:ext cx="9144000" cy="393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" name="" r:id="rId1" imgW="14516100" imgH="6248400" progId="Word.Picture.8">
                  <p:embed/>
                </p:oleObj>
              </mc:Choice>
              <mc:Fallback>
                <p:oleObj name="" r:id="rId1" imgW="14516100" imgH="6248400" progId="Word.Picture.8">
                  <p:embed/>
                  <p:pic>
                    <p:nvPicPr>
                      <p:cNvPr id="0" name="Google Shape;173;p5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0" y="1123950"/>
                        <a:ext cx="9144000" cy="393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" name="Google Shape;174;p5"/>
          <p:cNvSpPr txBox="1"/>
          <p:nvPr/>
        </p:nvSpPr>
        <p:spPr>
          <a:xfrm>
            <a:off x="6108700" y="5233987"/>
            <a:ext cx="27432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array.length?  4</a:t>
            </a:r>
            <a:endParaRPr lang="en-US" sz="2000" b="1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array[0].length? 3</a:t>
            </a:r>
            <a:endParaRPr lang="en-US" sz="2000" b="1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769937" y="5195887"/>
            <a:ext cx="27432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matrix.length?  5</a:t>
            </a:r>
            <a:endParaRPr lang="en-US" sz="2000" b="1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matrix[0].length? 5</a:t>
            </a:r>
            <a:endParaRPr lang="en-US" sz="2000" b="1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1" name="Google Shape;181;p6"/>
          <p:cNvSpPr txBox="1"/>
          <p:nvPr>
            <p:ph type="title"/>
          </p:nvPr>
        </p:nvSpPr>
        <p:spPr>
          <a:xfrm>
            <a:off x="152400" y="228600"/>
            <a:ext cx="8839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Times New Roman" panose="02020603050405020304"/>
              <a:buNone/>
            </a:pPr>
            <a:r>
              <a:rPr lang="en-US" sz="34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Declaring, Creating, and Initializing Using Shorthand Notations</a:t>
            </a:r>
            <a:endParaRPr lang="en-US" sz="34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2" name="Google Shape;182;p6"/>
          <p:cNvSpPr txBox="1"/>
          <p:nvPr>
            <p:ph type="body" idx="1"/>
          </p:nvPr>
        </p:nvSpPr>
        <p:spPr>
          <a:xfrm>
            <a:off x="228600" y="1524000"/>
            <a:ext cx="8763000" cy="11430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You can also use an array initializer to declare, create and initialize a two-dimensional array. For example,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3886200" y="3124200"/>
            <a:ext cx="5029200" cy="1905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int[][] array = new int[4][3];</a:t>
            </a:r>
            <a:endParaRPr lang="en-US" sz="1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array[0][0] = 1; array[0][1] = 2; array[0][2] = 3; </a:t>
            </a:r>
            <a:endParaRPr lang="en-US" sz="1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array[1][0] = 4; array[1][1] = 5; array[1][2] = 6; </a:t>
            </a:r>
            <a:endParaRPr lang="en-US" sz="1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array[2][0] = 7; array[2][1] = 8; array[2][2] = 9; </a:t>
            </a:r>
            <a:endParaRPr lang="en-US" sz="1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array[3][0] = 10; array[3][1] = 11; array[3][2] = 12;</a:t>
            </a:r>
            <a:r>
              <a:rPr lang="en-US" sz="1600" b="1" i="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lang="en-US" sz="1600" b="1" i="0" u="non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228600" y="2971800"/>
            <a:ext cx="1828800" cy="22860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int[][] array = {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{1, 2, 3},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{4, 5, 6},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{7, 8, 9},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{10, 11, 12}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};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>
            <a:off x="2133600" y="4191000"/>
            <a:ext cx="16002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6" name="Google Shape;186;p6"/>
          <p:cNvSpPr txBox="1"/>
          <p:nvPr/>
        </p:nvSpPr>
        <p:spPr>
          <a:xfrm>
            <a:off x="2438400" y="3657600"/>
            <a:ext cx="1371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Same as</a:t>
            </a:r>
            <a:endParaRPr lang="en-US" sz="2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7" name="Google Shape;187;p6"/>
          <p:cNvCxnSpPr/>
          <p:nvPr/>
        </p:nvCxnSpPr>
        <p:spPr>
          <a:xfrm>
            <a:off x="2133600" y="4114800"/>
            <a:ext cx="16002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8" name="Google Shape;188;p6"/>
          <p:cNvCxnSpPr/>
          <p:nvPr/>
        </p:nvCxnSpPr>
        <p:spPr>
          <a:xfrm flipH="1">
            <a:off x="1905000" y="1905000"/>
            <a:ext cx="2743200" cy="175260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4" name="Google Shape;194;p7"/>
          <p:cNvSpPr txBox="1"/>
          <p:nvPr>
            <p:ph type="title"/>
          </p:nvPr>
        </p:nvSpPr>
        <p:spPr>
          <a:xfrm>
            <a:off x="609600" y="3810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Lengths of Two-dimensional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2466975" y="27908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96" name="Google Shape;196;p7"/>
          <p:cNvGraphicFramePr/>
          <p:nvPr/>
        </p:nvGraphicFramePr>
        <p:xfrm>
          <a:off x="228600" y="2419350"/>
          <a:ext cx="8610600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" name="" r:id="rId1" imgW="17306925" imgH="5238750" progId="Word.Picture.8">
                  <p:embed/>
                </p:oleObj>
              </mc:Choice>
              <mc:Fallback>
                <p:oleObj name="" r:id="rId1" imgW="17306925" imgH="5238750" progId="Word.Picture.8">
                  <p:embed/>
                  <p:pic>
                    <p:nvPicPr>
                      <p:cNvPr id="0" name="Google Shape;196;p7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28600" y="2419350"/>
                        <a:ext cx="8610600" cy="260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" name="Google Shape;197;p7"/>
          <p:cNvSpPr txBox="1"/>
          <p:nvPr>
            <p:ph type="body" idx="1"/>
          </p:nvPr>
        </p:nvSpPr>
        <p:spPr>
          <a:xfrm>
            <a:off x="914400" y="1600200"/>
            <a:ext cx="655320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int[][] x = new int[3][4];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3" name="Google Shape;203;p8"/>
          <p:cNvSpPr txBox="1"/>
          <p:nvPr>
            <p:ph type="title"/>
          </p:nvPr>
        </p:nvSpPr>
        <p:spPr>
          <a:xfrm>
            <a:off x="609600" y="3810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Lengths of Two-dimensional Arrays, cont.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4" name="Google Shape;204;p8"/>
          <p:cNvSpPr txBox="1"/>
          <p:nvPr>
            <p:ph type="body" idx="1"/>
          </p:nvPr>
        </p:nvSpPr>
        <p:spPr>
          <a:xfrm>
            <a:off x="914400" y="1600200"/>
            <a:ext cx="3352800" cy="346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int[][] array = {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{1, 2, 3},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{4, 5, 6},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{7, 8, 9},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{10, 11, 12}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};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205740" algn="l" rtl="0">
              <a:spcBef>
                <a:spcPts val="480"/>
              </a:spcBef>
              <a:spcAft>
                <a:spcPts val="0"/>
              </a:spcAft>
              <a:buSzPts val="2160"/>
              <a:buNone/>
            </a:pPr>
            <a:endParaRPr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5029200" y="1752600"/>
            <a:ext cx="3352800" cy="283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array.length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array[0].length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array[1].length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array[2].length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array[3].length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838200" y="5181600"/>
            <a:ext cx="83058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array[4].length      ArrayIndexOutOfBoundsException</a:t>
            </a:r>
            <a:endParaRPr lang="en-US"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2" name="Google Shape;212;p9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Processing Two-Dimensional 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3" name="Google Shape;213;p9"/>
          <p:cNvSpPr txBox="1"/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Declare a two-dimensional array named matrix of type integer with 3 rows and 4 columns: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Some processing examples: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Input arrays with values read from the keyboard.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Printing arrays.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Summing all elements.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Summing elements by column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Finding which row has the largest sum.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9" name="Google Shape;219;p10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Processing Two-Dimensional 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0" name="Google Shape;220;p10"/>
          <p:cNvSpPr txBox="1"/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Declare a two-dimensional array named matrix of type integer with 3 rows and 4 columns:</a:t>
            </a:r>
            <a:endParaRPr lang="en-US"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</a:t>
            </a:r>
            <a:r>
              <a:rPr lang="en-US" sz="2400" b="0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int[][] matrix = new int[3][4];</a:t>
            </a: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Some processing examples:</a:t>
            </a:r>
            <a:endParaRPr lang="en-US"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Input arrays with values read from the keyboard.</a:t>
            </a:r>
            <a:endParaRPr lang="en-US"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Printing arrays.</a:t>
            </a:r>
            <a:endParaRPr lang="en-US"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Summing all elements.</a:t>
            </a:r>
            <a:endParaRPr lang="en-US"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Summing elements by column</a:t>
            </a:r>
            <a:endParaRPr lang="en-US"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Finding which row has the largest sum.</a:t>
            </a:r>
            <a:endParaRPr lang="en-US"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 txBox="1"/>
          <p:nvPr/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r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8-</a:t>
            </a: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6" name="Google Shape;226;p11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Accessing Two-Dimensional Array Elements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7" name="Google Shape;227;p11"/>
          <p:cNvSpPr txBox="1"/>
          <p:nvPr>
            <p:ph type="body" idx="1"/>
          </p:nvPr>
        </p:nvSpPr>
        <p:spPr>
          <a:xfrm>
            <a:off x="457200" y="1524000"/>
            <a:ext cx="8686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Programs that process two-dimensional arrays can do so with nested loops.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fill the matrix array: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for (int row = 0; row &lt; matrix.length; row++)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for (int col = 0; col &lt; matrix[row].length; col++)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{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System.out.print("Enter a value: ");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matrix[row][col] = keyboard.nextInt();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}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5943600" y="2209800"/>
            <a:ext cx="2590800" cy="650875"/>
          </a:xfrm>
          <a:prstGeom prst="rect">
            <a:avLst/>
          </a:prstGeom>
          <a:noFill/>
          <a:ln w="9525" cap="flat" cmpd="sng">
            <a:solidFill>
              <a:schemeClr val="hlink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 panose="020B0604020202020204"/>
              <a:buNone/>
            </a:pPr>
            <a:r>
              <a:rPr lang="en-US" sz="1800" b="0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Number of rows, not the largest subscript</a:t>
            </a:r>
            <a:endParaRPr lang="en-US" sz="1800" b="0" i="0" u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9" name="Google Shape;229;p11"/>
          <p:cNvCxnSpPr/>
          <p:nvPr/>
        </p:nvCxnSpPr>
        <p:spPr>
          <a:xfrm flipH="1">
            <a:off x="5334000" y="2590800"/>
            <a:ext cx="609600" cy="381000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30" name="Google Shape;230;p11"/>
          <p:cNvSpPr txBox="1"/>
          <p:nvPr/>
        </p:nvSpPr>
        <p:spPr>
          <a:xfrm>
            <a:off x="6248400" y="3316287"/>
            <a:ext cx="2667000" cy="646112"/>
          </a:xfrm>
          <a:prstGeom prst="rect">
            <a:avLst/>
          </a:prstGeom>
          <a:noFill/>
          <a:ln w="9525" cap="flat" cmpd="sng">
            <a:solidFill>
              <a:schemeClr val="hlink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 panose="020B0604020202020204"/>
              <a:buNone/>
            </a:pPr>
            <a:r>
              <a:rPr lang="en-US" sz="1800" b="0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Number of columns, not the largest subscript</a:t>
            </a:r>
            <a:endParaRPr lang="en-US" sz="1800" b="0" i="0" u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31" name="Google Shape;231;p11"/>
          <p:cNvCxnSpPr/>
          <p:nvPr/>
        </p:nvCxnSpPr>
        <p:spPr>
          <a:xfrm flipH="1">
            <a:off x="5715000" y="3429000"/>
            <a:ext cx="533400" cy="609600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32" name="Google Shape;232;p11"/>
          <p:cNvSpPr txBox="1"/>
          <p:nvPr/>
        </p:nvSpPr>
        <p:spPr>
          <a:xfrm>
            <a:off x="6019800" y="5826125"/>
            <a:ext cx="2514600" cy="650875"/>
          </a:xfrm>
          <a:prstGeom prst="rect">
            <a:avLst/>
          </a:prstGeom>
          <a:noFill/>
          <a:ln w="9525" cap="flat" cmpd="sng">
            <a:solidFill>
              <a:schemeClr val="hlink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ourier New" panose="02070309020205020404"/>
              <a:buNone/>
            </a:pPr>
            <a:r>
              <a:rPr lang="en-US" sz="1800" b="0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keyboard</a:t>
            </a:r>
            <a:r>
              <a:rPr lang="en-US" sz="1800" b="0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references a </a:t>
            </a:r>
            <a:r>
              <a:rPr lang="en-US" sz="1800" b="0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Scanner</a:t>
            </a:r>
            <a:r>
              <a:rPr lang="en-US" sz="1800" b="0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object</a:t>
            </a:r>
            <a:endParaRPr lang="en-US" sz="1800" b="0" i="0" u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33" name="Google Shape;233;p11"/>
          <p:cNvCxnSpPr/>
          <p:nvPr/>
        </p:nvCxnSpPr>
        <p:spPr>
          <a:xfrm rot="10800000">
            <a:off x="5410200" y="5521325"/>
            <a:ext cx="609600" cy="685800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"/>
          <p:cNvSpPr txBox="1"/>
          <p:nvPr/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r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8-</a:t>
            </a: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9" name="Google Shape;239;p12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Accessing Two-Dimensional Array Elements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0" name="Google Shape;240;p12"/>
          <p:cNvSpPr txBox="1"/>
          <p:nvPr>
            <p:ph type="body" idx="1"/>
          </p:nvPr>
        </p:nvSpPr>
        <p:spPr>
          <a:xfrm>
            <a:off x="457200" y="1600200"/>
            <a:ext cx="86868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lang="en-US" sz="3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print out the </a:t>
            </a:r>
            <a:r>
              <a:rPr lang="en-US" sz="32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matrix</a:t>
            </a:r>
            <a:r>
              <a:rPr lang="en-US" sz="3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array:</a:t>
            </a:r>
            <a:endParaRPr lang="en-US" sz="3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for (int row = 0; row &lt; matrix.length; row++)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for (int col = 0; col &lt; matrix[row].length; col++)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{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System.out.println(matrix[row][col]);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}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205740" algn="l" rtl="0">
              <a:spcBef>
                <a:spcPts val="480"/>
              </a:spcBef>
              <a:spcAft>
                <a:spcPts val="0"/>
              </a:spcAft>
              <a:buSzPts val="2160"/>
              <a:buNone/>
            </a:pPr>
            <a:endParaRPr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/>
          <p:nvPr/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r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8-</a:t>
            </a: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6" name="Google Shape;246;p13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Summing The Elements of a Two-Dimensional Array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p13"/>
          <p:cNvSpPr txBox="1"/>
          <p:nvPr>
            <p:ph type="body" idx="1"/>
          </p:nvPr>
        </p:nvSpPr>
        <p:spPr>
          <a:xfrm>
            <a:off x="685800" y="1371600"/>
            <a:ext cx="84582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int[][] numbers = { { 1, 2, 3, 4 },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           {5, 6, 7, 8},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           {9, 10, 11, 12} };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 total;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total = 0;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for (int row = 0; row &lt; numbers.length; row++)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for (int col = 0; col &lt; numbers[row].length; col++)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total += numbers[row][col];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System.out.println("The total is " + total);</a:t>
            </a:r>
            <a:endParaRPr lang="en-US"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22860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sz="2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3" name="Google Shape;253;p14"/>
          <p:cNvSpPr txBox="1"/>
          <p:nvPr>
            <p:ph type="title"/>
          </p:nvPr>
        </p:nvSpPr>
        <p:spPr>
          <a:xfrm>
            <a:off x="609600" y="3810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Ragged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4" name="Google Shape;254;p14"/>
          <p:cNvSpPr txBox="1"/>
          <p:nvPr>
            <p:ph type="body" idx="1"/>
          </p:nvPr>
        </p:nvSpPr>
        <p:spPr>
          <a:xfrm>
            <a:off x="228600" y="1295400"/>
            <a:ext cx="8686800" cy="5105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Each row in a two-dimensional array is itself an array. So, the rows can have different lengths. Such an array is known as </a:t>
            </a:r>
            <a:r>
              <a:rPr lang="en-US" sz="2400" b="1" i="1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</a:t>
            </a:r>
            <a:r>
              <a:rPr lang="en-US" sz="2400" b="1" i="1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ragged array</a:t>
            </a: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For example, 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int[][] matrix = {   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{1, 2, 3, 4, 5},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{2, 3, 4, 5},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{3, 4, 5},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{4, 5},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{5}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};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3886200" y="2971800"/>
            <a:ext cx="4648200" cy="3352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matrix.length is 5</a:t>
            </a:r>
            <a:endParaRPr lang="en-US" sz="24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matrix[0].length is 5</a:t>
            </a:r>
            <a:endParaRPr lang="en-US" sz="24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matrix[1].length is 4</a:t>
            </a:r>
            <a:endParaRPr lang="en-US" sz="24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matrix[2].length is 3</a:t>
            </a:r>
            <a:endParaRPr lang="en-US" sz="24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matrix[3].length is 2</a:t>
            </a:r>
            <a:endParaRPr lang="en-US" sz="24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matrix[4].length is 1</a:t>
            </a:r>
            <a:endParaRPr lang="en-US" sz="24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1" name="Google Shape;261;p15"/>
          <p:cNvSpPr txBox="1"/>
          <p:nvPr>
            <p:ph type="title"/>
          </p:nvPr>
        </p:nvSpPr>
        <p:spPr>
          <a:xfrm>
            <a:off x="609600" y="3810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Ragged Arrays, cont.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2" name="Google Shape;262;p15"/>
          <p:cNvSpPr txBox="1"/>
          <p:nvPr/>
        </p:nvSpPr>
        <p:spPr>
          <a:xfrm>
            <a:off x="2586037" y="27670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63" name="Google Shape;263;p15"/>
          <p:cNvGraphicFramePr/>
          <p:nvPr/>
        </p:nvGraphicFramePr>
        <p:xfrm>
          <a:off x="0" y="2741612"/>
          <a:ext cx="8839200" cy="294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" name="" r:id="rId1" imgW="16497300" imgH="5495925" progId="Word.Picture.8">
                  <p:embed/>
                </p:oleObj>
              </mc:Choice>
              <mc:Fallback>
                <p:oleObj name="" r:id="rId1" imgW="16497300" imgH="5495925" progId="Word.Picture.8">
                  <p:embed/>
                  <p:pic>
                    <p:nvPicPr>
                      <p:cNvPr id="0" name="Google Shape;263;p15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0" y="2741612"/>
                        <a:ext cx="8839200" cy="294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 txBox="1"/>
          <p:nvPr/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r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8-</a:t>
            </a: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9" name="Google Shape;269;p16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More Than Two Dimensions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0" name="Google Shape;270;p16"/>
          <p:cNvSpPr txBox="1"/>
          <p:nvPr>
            <p:ph type="body" idx="1"/>
          </p:nvPr>
        </p:nvSpPr>
        <p:spPr>
          <a:xfrm>
            <a:off x="304800" y="1600200"/>
            <a:ext cx="8610600" cy="206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 does not limit the number of dimensions that an array may be.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More than three dimensions is hard to visualize, but can be useful in some programming problems.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71" name="Google Shape;271;p16" descr="threeDarray"/>
          <p:cNvPicPr preferRelativeResize="0"/>
          <p:nvPr/>
        </p:nvPicPr>
        <p:blipFill rotWithShape="1">
          <a:blip r:embed="rId1"/>
          <a:srcRect t="1184"/>
          <a:stretch>
            <a:fillRect/>
          </a:stretch>
        </p:blipFill>
        <p:spPr>
          <a:xfrm>
            <a:off x="2438400" y="3806825"/>
            <a:ext cx="5486400" cy="274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 txBox="1"/>
          <p:nvPr/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r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 Programming, Fourth Edition</a:t>
            </a:r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8" name="Google Shape;278;p17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Using the </a:t>
            </a:r>
            <a:r>
              <a:rPr lang="en-US" sz="4200" b="0" i="0" u="none">
                <a:solidFill>
                  <a:schemeClr val="dk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Arrays</a:t>
            </a: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Class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9" name="Google Shape;279;p17"/>
          <p:cNvSpPr txBox="1"/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Arrays</a:t>
            </a: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class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Contains many useful methods for manipulating arrays</a:t>
            </a:r>
            <a:endParaRPr lang="en-US" sz="2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26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static</a:t>
            </a: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methods</a:t>
            </a:r>
            <a:endParaRPr lang="en-US" sz="2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folHlink"/>
              </a:buClr>
              <a:buSzPts val="1265"/>
              <a:buFont typeface="Noto Sans Symbols"/>
              <a:buChar char="■"/>
            </a:pPr>
            <a:r>
              <a:rPr lang="en-US" sz="2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 with class name </a:t>
            </a:r>
            <a:endParaRPr lang="en-US" sz="2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folHlink"/>
              </a:buClr>
              <a:buSzPts val="1265"/>
              <a:buFont typeface="Noto Sans Symbols"/>
              <a:buChar char="■"/>
            </a:pPr>
            <a:r>
              <a:rPr lang="en-US" sz="2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Without instantiating </a:t>
            </a:r>
            <a:r>
              <a:rPr lang="en-US" sz="23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Arrays</a:t>
            </a:r>
            <a:r>
              <a:rPr lang="en-US" sz="2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object</a:t>
            </a:r>
            <a:endParaRPr lang="en-US" sz="2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26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binarySearch()</a:t>
            </a: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method</a:t>
            </a:r>
            <a:endParaRPr lang="en-US" sz="2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folHlink"/>
              </a:buClr>
              <a:buSzPts val="1265"/>
              <a:buFont typeface="Noto Sans Symbols"/>
              <a:buChar char="■"/>
            </a:pPr>
            <a:r>
              <a:rPr lang="en-US" sz="2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Convenient way to search through sorted lists of values of various data types</a:t>
            </a:r>
            <a:endParaRPr lang="en-US" sz="2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folHlink"/>
              </a:buClr>
              <a:buSzPts val="1265"/>
              <a:buFont typeface="Noto Sans Symbols"/>
              <a:buChar char="■"/>
            </a:pPr>
            <a:r>
              <a:rPr lang="en-US" sz="2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List must be in order</a:t>
            </a:r>
            <a:endParaRPr lang="en-US" sz="2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"/>
          <p:cNvSpPr txBox="1"/>
          <p:nvPr/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r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 Programming, Fourth Edition</a:t>
            </a:r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5" name="Google Shape;285;p18"/>
          <p:cNvSpPr txBox="1"/>
          <p:nvPr/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6" name="Google Shape;286;p18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Useful Methods of the </a:t>
            </a:r>
            <a:r>
              <a:rPr lang="en-US" sz="4200" b="0" i="0" u="none">
                <a:solidFill>
                  <a:schemeClr val="dk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Arrays</a:t>
            </a: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Class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87" name="Google Shape;287;p18" descr="Table08x03"/>
          <p:cNvPicPr preferRelativeResize="0"/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1066800" y="1752600"/>
            <a:ext cx="76200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8"/>
          <p:cNvPicPr preferRelativeResize="0"/>
          <p:nvPr>
            <p:ph type="body" idx="2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1600200" y="5773737"/>
            <a:ext cx="3324225" cy="246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1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Exercises</a:t>
            </a:r>
            <a:endParaRPr lang="en-US" sz="4200" b="1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4" name="Google Shape;294;p19"/>
          <p:cNvSpPr txBox="1"/>
          <p:nvPr>
            <p:ph type="body" idx="1"/>
          </p:nvPr>
        </p:nvSpPr>
        <p:spPr>
          <a:xfrm>
            <a:off x="914400" y="16002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Write two java program to create and print this array: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1    2    3   4   5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6    7    8   9 10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11 12 13 14 15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16 17 18 19 20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Using </a:t>
            </a:r>
            <a:r>
              <a:rPr lang="en-US" sz="2400" b="1" i="0" u="none">
                <a:solidFill>
                  <a:srgbClr val="FF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one statement</a:t>
            </a: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to declare, create and initialize the array and nested for loop to print the output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Using </a:t>
            </a:r>
            <a:r>
              <a:rPr lang="en-US" sz="2400" b="1" i="0" u="none">
                <a:solidFill>
                  <a:srgbClr val="FF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Scanner</a:t>
            </a: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class to get the input values from the user to initialize the array and nested for loop to print the output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00" name="Google Shape;300;p20"/>
          <p:cNvSpPr txBox="1"/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Array {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	public static void main(String[] args)	 {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    </a:t>
            </a:r>
            <a:r>
              <a:rPr lang="en-US" sz="2000" b="1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int[][] a = {{1, 2, 3, 4, 5},</a:t>
            </a:r>
            <a:endParaRPr lang="en-US" sz="2000" b="1" i="0" u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    	 {6, 7, 8, 9, 10},</a:t>
            </a:r>
            <a:endParaRPr lang="en-US" sz="2000" b="1" i="0" u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    	 {11, 12, 13, 14, 15},</a:t>
            </a:r>
            <a:endParaRPr lang="en-US" sz="2000" b="1" i="0" u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    	 {16, 17, 18, 19, 20}};</a:t>
            </a:r>
            <a:endParaRPr lang="en-US" sz="2000" b="1" i="0" u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2286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None/>
            </a:pPr>
            <a:endParaRPr sz="2000" b="1" i="0" u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for(int i=0; i&lt;a.length; i++) {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       for(int j=0; j&lt;a.length;j++) {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         System.out.print(a[i][j]+" ");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			}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System.out.println("");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 }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1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Exercises</a:t>
            </a:r>
            <a:endParaRPr lang="en-US" sz="4200" b="1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06" name="Google Shape;306;p21"/>
          <p:cNvSpPr txBox="1"/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240"/>
              <a:buFont typeface="Noto Sans Symbols"/>
              <a:buChar char="■"/>
            </a:pPr>
            <a:r>
              <a:rPr lang="en-US" sz="3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Do Exercise 3, Question 5, page 112</a:t>
            </a:r>
            <a:endParaRPr lang="en-US" sz="3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3240"/>
              <a:buFont typeface="Noto Sans Symbols"/>
              <a:buChar char="■"/>
            </a:pPr>
            <a:r>
              <a:rPr lang="en-US" sz="3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Correction:</a:t>
            </a:r>
            <a:endParaRPr lang="en-US" sz="3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80"/>
              <a:buNone/>
            </a:pPr>
            <a:r>
              <a:rPr lang="en-US" sz="32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</a:t>
            </a: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int[][] triangle = new int[5][];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		for(int i = 0;i&lt;triangle.length; i++)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			triangle[i] = new int[</a:t>
            </a:r>
            <a:r>
              <a:rPr lang="en-US" sz="2800" b="1" i="0" u="none">
                <a:solidFill>
                  <a:srgbClr val="FF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</a:t>
            </a: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+1];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182880" algn="l" rtl="0">
              <a:spcBef>
                <a:spcPts val="560"/>
              </a:spcBef>
              <a:spcAft>
                <a:spcPts val="0"/>
              </a:spcAft>
              <a:buSzPts val="2520"/>
              <a:buNone/>
            </a:pPr>
            <a:endParaRPr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2" name="Google Shape;312;p22"/>
          <p:cNvSpPr txBox="1"/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import java.util.Scanner;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RaggedArray {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	public static int[][] buildRagged(int n){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		int[][] triangle = new int[n][];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		for(int i = 0;i&lt;triangle.length; i++)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		triangle[i] = new int[n+1];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		Scanner input = new Scanner(System.in);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		System.out.println("Please enter:  " +n+" integer 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		numbers");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		for(int i=0; i&lt;n; i++) {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		for(int j=0; j&lt;n;j++) {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			triangle[i][j] = input.nextInt();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		}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		}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		return triangle;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22860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8" name="Google Shape;318;p23"/>
          <p:cNvSpPr txBox="1"/>
          <p:nvPr>
            <p:ph type="body" idx="1"/>
          </p:nvPr>
        </p:nvSpPr>
        <p:spPr>
          <a:xfrm>
            <a:off x="2597725" y="1776825"/>
            <a:ext cx="7772400" cy="4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static void printArray(int a[][]){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System.out.println("Ragged Array: ");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for(int i=0; i&lt;a.length; i++) {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	for(int j=0; j&lt;a.length;j++) {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		System.out.println(a[i][j]);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	 }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	System.out.println();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}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public static void main(String[] args)  {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    Scanner input = new Scanner(System.in);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    System.out.print("Enter data for the array, begin with the 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	number of rows:");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    int rows = input.nextInt();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    int[][]array = buildRagged(rows);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    printArray(array);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 }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6772</Words>
  <Application>WPS Presentation</Application>
  <PresentationFormat/>
  <Paragraphs>375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41" baseType="lpstr">
      <vt:lpstr>Arial</vt:lpstr>
      <vt:lpstr>SimSun</vt:lpstr>
      <vt:lpstr>Wingdings</vt:lpstr>
      <vt:lpstr>Arial</vt:lpstr>
      <vt:lpstr>Times New Roman</vt:lpstr>
      <vt:lpstr>Noto Sans Symbols</vt:lpstr>
      <vt:lpstr>Segoe Print</vt:lpstr>
      <vt:lpstr>Courier New</vt:lpstr>
      <vt:lpstr>Arial Narrow</vt:lpstr>
      <vt:lpstr>Courier</vt:lpstr>
      <vt:lpstr>Courier New</vt:lpstr>
      <vt:lpstr>Microsoft YaHei</vt:lpstr>
      <vt:lpstr>Arial Unicode MS</vt:lpstr>
      <vt:lpstr>1_Layers</vt:lpstr>
      <vt:lpstr>Layers</vt:lpstr>
      <vt:lpstr>Word.Picture.8</vt:lpstr>
      <vt:lpstr>Word.Picture.8</vt:lpstr>
      <vt:lpstr>Word.Picture.8</vt:lpstr>
      <vt:lpstr>Two Dimensional Array</vt:lpstr>
      <vt:lpstr>Two-dimensional Arrays</vt:lpstr>
      <vt:lpstr>Declaration of Two-dimensional Arrays</vt:lpstr>
      <vt:lpstr>Declaring Variables of Two-dimensional Arrays and Creating Two-dimensional Arrays </vt:lpstr>
      <vt:lpstr>Two-dimensional Array Illustration</vt:lpstr>
      <vt:lpstr>Declaring, Creating, and Initializing Using Shorthand Notations</vt:lpstr>
      <vt:lpstr>Lengths of Two-dimensional Arrays</vt:lpstr>
      <vt:lpstr>Lengths of Two-dimensional Arrays, cont.</vt:lpstr>
      <vt:lpstr>Processing Two-Dimensional Arrays</vt:lpstr>
      <vt:lpstr>Processing Two-Dimensional Arrays</vt:lpstr>
      <vt:lpstr>Accessing Two-Dimensional Array Elements</vt:lpstr>
      <vt:lpstr>Accessing Two-Dimensional Array Elements</vt:lpstr>
      <vt:lpstr>Summing The Elements of a Two-Dimensional Array</vt:lpstr>
      <vt:lpstr>Ragged Arrays</vt:lpstr>
      <vt:lpstr>Ragged Arrays, cont.</vt:lpstr>
      <vt:lpstr>More Than Two Dimensions</vt:lpstr>
      <vt:lpstr>Using the Arrays Class</vt:lpstr>
      <vt:lpstr>Useful Methods of the Arrays Class</vt:lpstr>
      <vt:lpstr>Exercises</vt:lpstr>
      <vt:lpstr>PowerPoint 演示文稿</vt:lpstr>
      <vt:lpstr>Exercises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Dimensional Array</dc:title>
  <dc:creator>Norazah</dc:creator>
  <cp:lastModifiedBy>google1596523062</cp:lastModifiedBy>
  <cp:revision>1</cp:revision>
  <dcterms:created xsi:type="dcterms:W3CDTF">2025-03-27T13:54:21Z</dcterms:created>
  <dcterms:modified xsi:type="dcterms:W3CDTF">2025-03-27T13:54:21Z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EDA34D27915C4FC98626B1D3F88689B7_12</vt:lpwstr>
  </property>
  <property fmtid="{D5CDD505-2E9C-101B-9397-08002B2CF9AE}" pid="3" name="KSOProductBuildVer">
    <vt:lpwstr>1033-12.2.0.20326</vt:lpwstr>
  </property>
</Properties>
</file>