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430" r:id="rId4"/>
    <p:sldId id="431" r:id="rId5"/>
    <p:sldId id="434" r:id="rId6"/>
    <p:sldId id="436" r:id="rId7"/>
    <p:sldId id="435" r:id="rId8"/>
    <p:sldId id="437" r:id="rId9"/>
    <p:sldId id="438" r:id="rId10"/>
    <p:sldId id="439" r:id="rId11"/>
    <p:sldId id="443" r:id="rId12"/>
    <p:sldId id="444" r:id="rId13"/>
    <p:sldId id="448" r:id="rId14"/>
    <p:sldId id="447" r:id="rId15"/>
    <p:sldId id="449" r:id="rId16"/>
    <p:sldId id="441" r:id="rId17"/>
    <p:sldId id="442" r:id="rId18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8000"/>
    <a:srgbClr val="000099"/>
    <a:srgbClr val="FFFFCC"/>
    <a:srgbClr val="CCFFFF"/>
    <a:srgbClr val="FF99CC"/>
    <a:srgbClr val="FF9900"/>
    <a:srgbClr val="FF006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270"/>
    <p:restoredTop sz="94664"/>
  </p:normalViewPr>
  <p:slideViewPr>
    <p:cSldViewPr showGuides="1">
      <p:cViewPr varScale="1">
        <p:scale>
          <a:sx n="82" d="100"/>
          <a:sy n="82" d="100"/>
        </p:scale>
        <p:origin x="1493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0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80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80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6" name="Rectangle 4"/>
          <p:cNvSpPr>
            <a:spLocks noRo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73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3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3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en-US" sz="1200" dirty="0">
                <a:latin typeface="Times New Roman" panose="02020603050405020304" pitchFamily="18" charset="0"/>
              </a:rPr>
            </a:fld>
            <a:endParaRPr lang="en-US" altLang="en-US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2056" name="Rectangle 3"/>
            <p:cNvSpPr/>
            <p:nvPr/>
          </p:nvSpPr>
          <p:spPr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algn="ctr" eaLnBrk="1" hangingPunct="1">
                <a:buNone/>
              </a:pPr>
              <a:endParaRPr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057" name="Group 4"/>
            <p:cNvGrpSpPr/>
            <p:nvPr userDrawn="1"/>
          </p:nvGrpSpPr>
          <p:grpSpPr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2061" name="Rectangle 5"/>
              <p:cNvSpPr/>
              <p:nvPr/>
            </p:nvSpPr>
            <p:spPr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</a:ln>
            </p:spPr>
            <p:txBody>
              <a:bodyPr wrap="none" anchor="ctr" anchorCtr="0"/>
              <a:p>
                <a:pPr lvl="0" algn="ctr" eaLnBrk="1" hangingPunct="1">
                  <a:buNone/>
                </a:pPr>
                <a:endParaRPr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2" name="Rectangle 6"/>
              <p:cNvSpPr/>
              <p:nvPr/>
            </p:nvSpPr>
            <p:spPr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txBody>
              <a:bodyPr wrap="none" anchor="ctr" anchorCtr="0"/>
              <a:p>
                <a:pPr lvl="0" algn="ctr" eaLnBrk="1" hangingPunct="1">
                  <a:buNone/>
                </a:pPr>
                <a:endParaRPr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3" name="Line 7"/>
              <p:cNvSpPr/>
              <p:nvPr/>
            </p:nvSpPr>
            <p:spPr>
              <a:xfrm>
                <a:off x="0" y="3072"/>
                <a:ext cx="624" cy="0"/>
              </a:xfrm>
              <a:prstGeom prst="line">
                <a:avLst/>
              </a:prstGeom>
              <a:ln w="508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058" name="Group 8"/>
            <p:cNvGrpSpPr/>
            <p:nvPr userDrawn="1"/>
          </p:nvGrpSpPr>
          <p:grpSpPr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2059" name="Rectangle 9"/>
              <p:cNvSpPr/>
              <p:nvPr/>
            </p:nvSpPr>
            <p:spPr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 anchorCtr="0"/>
              <a:p>
                <a:pPr lvl="0" algn="ctr" eaLnBrk="1" hangingPunct="1">
                  <a:buNone/>
                </a:pPr>
                <a:endParaRPr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60" name="Line 10"/>
              <p:cNvSpPr/>
              <p:nvPr/>
            </p:nvSpPr>
            <p:spPr>
              <a:xfrm>
                <a:off x="400" y="432"/>
                <a:ext cx="5088" cy="0"/>
              </a:xfrm>
              <a:prstGeom prst="line">
                <a:avLst/>
              </a:prstGeom>
              <a:ln w="444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11627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628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2813" y="6251575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4388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/>
            <a:fld id="{9A0DB2DC-4C9A-4742-B13C-FB6460FD3503}" type="slidenum">
              <a:rPr lang="en-US" altLang="en-US" dirty="0"/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33" name="Rectangle 3"/>
            <p:cNvSpPr/>
            <p:nvPr/>
          </p:nvSpPr>
          <p:spPr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lvl="0" algn="ctr" eaLnBrk="1" hangingPunct="1">
                <a:buNone/>
              </a:pPr>
              <a:endParaRPr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34" name="Group 4"/>
            <p:cNvGrpSpPr/>
            <p:nvPr/>
          </p:nvGrpSpPr>
          <p:grpSpPr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5" name="Rectangle 5"/>
              <p:cNvSpPr/>
              <p:nvPr/>
            </p:nvSpPr>
            <p:spPr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 anchorCtr="0"/>
              <a:p>
                <a:pPr lvl="0" algn="ctr" eaLnBrk="1" hangingPunct="1">
                  <a:buNone/>
                </a:pPr>
                <a:endParaRPr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6" name="Line 6"/>
              <p:cNvSpPr/>
              <p:nvPr/>
            </p:nvSpPr>
            <p:spPr>
              <a:xfrm>
                <a:off x="240" y="941"/>
                <a:ext cx="5232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027" name="Rectangle 7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8" name="Rectangle 8"/>
          <p:cNvSpPr>
            <a:spLocks noGrp="1"/>
          </p:cNvSpPr>
          <p:nvPr>
            <p:ph type="body" idx="1"/>
          </p:nvPr>
        </p:nvSpPr>
        <p:spPr>
          <a:xfrm>
            <a:off x="914400" y="1600200"/>
            <a:ext cx="7772400" cy="4530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10601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0602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0603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/>
            </a:lvl1pPr>
          </a:lstStyle>
          <a:p>
            <a:pPr lvl="0" eaLnBrk="1" hangingPunct="1"/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032" name="Line 12"/>
          <p:cNvSpPr/>
          <p:nvPr/>
        </p:nvSpPr>
        <p:spPr>
          <a:xfrm>
            <a:off x="0" y="4876800"/>
            <a:ext cx="609600" cy="0"/>
          </a:xfrm>
          <a:prstGeom prst="line">
            <a:avLst/>
          </a:prstGeom>
          <a:ln w="44450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1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dirty="0"/>
            </a:fld>
            <a:endParaRPr lang="en-US" altLang="en-US" sz="1000" dirty="0"/>
          </a:p>
        </p:txBody>
      </p:sp>
      <p:sp>
        <p:nvSpPr>
          <p:cNvPr id="5123" name="Rectangle 2"/>
          <p:cNvSpPr>
            <a:spLocks noGrp="1"/>
          </p:cNvSpPr>
          <p:nvPr>
            <p:ph type="ctrTitle"/>
          </p:nvPr>
        </p:nvSpPr>
        <p:spPr>
          <a:xfrm>
            <a:off x="2057400" y="1377950"/>
            <a:ext cx="6629400" cy="1716088"/>
          </a:xfrm>
          <a:ln/>
        </p:spPr>
        <p:txBody>
          <a:bodyPr vert="horz" wrap="square" lIns="91440" tIns="45720" rIns="91440" bIns="45720" anchor="ctr" anchorCtr="0"/>
          <a:p>
            <a:pPr algn="ctr" eaLnBrk="1" hangingPunct="1">
              <a:buClrTx/>
              <a:buSzTx/>
              <a:buFontTx/>
            </a:pPr>
            <a:r>
              <a:rPr lang="en-US" altLang="en-US" dirty="0">
                <a:latin typeface="+mj-lt"/>
                <a:ea typeface="+mj-ea"/>
                <a:cs typeface="+mj-cs"/>
              </a:rPr>
              <a:t>ArrayList </a:t>
            </a:r>
            <a:endParaRPr lang="en-US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type="subTitle" idx="1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>
              <a:buSzPct val="90000"/>
            </a:pPr>
            <a:r>
              <a:rPr lang="en-US" altLang="en-US" sz="4000" dirty="0">
                <a:latin typeface="+mn-lt"/>
                <a:ea typeface="+mn-ea"/>
                <a:cs typeface="+mn-cs"/>
              </a:rPr>
              <a:t>Lecture Week 3</a:t>
            </a:r>
            <a:endParaRPr lang="en-US" altLang="en-US" sz="4000" dirty="0">
              <a:latin typeface="+mn-lt"/>
              <a:ea typeface="+mn-ea"/>
              <a:cs typeface="+mn-cs"/>
            </a:endParaRPr>
          </a:p>
          <a:p>
            <a:pPr>
              <a:buSzPct val="90000"/>
            </a:pPr>
            <a:r>
              <a:rPr lang="en-US" altLang="en-US" sz="1800" dirty="0">
                <a:latin typeface="+mn-lt"/>
                <a:ea typeface="+mn-ea"/>
                <a:cs typeface="+mn-cs"/>
              </a:rPr>
              <a:t>Based on Slides of Dr. Norazah Yusof</a:t>
            </a:r>
            <a:endParaRPr lang="en-US" altLang="en-US" sz="18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914400" y="6251575"/>
            <a:ext cx="19812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/>
              <a:t>8-</a:t>
            </a:r>
            <a:fld id="{9A0DB2DC-4C9A-4742-B13C-FB6460FD3503}" type="slidenum">
              <a:rPr lang="en-US" altLang="en-US" sz="1000" dirty="0"/>
            </a:fld>
            <a:endParaRPr lang="en-US" altLang="en-US" sz="1000" dirty="0"/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en-US" b="1" dirty="0"/>
              <a:t>The </a:t>
            </a:r>
            <a:r>
              <a:rPr lang="en-US" altLang="en-US" b="1" dirty="0">
                <a:solidFill>
                  <a:srgbClr val="3333FF"/>
                </a:solidFill>
                <a:latin typeface="Courier New" panose="02070309020205020404" pitchFamily="49" charset="0"/>
              </a:rPr>
              <a:t>ArrayList</a:t>
            </a:r>
            <a:r>
              <a:rPr lang="en-US" altLang="en-US" b="1" dirty="0"/>
              <a:t> Class</a:t>
            </a:r>
            <a:endParaRPr lang="en-US" altLang="en-US" b="1" dirty="0"/>
          </a:p>
        </p:txBody>
      </p:sp>
      <p:sp>
        <p:nvSpPr>
          <p:cNvPr id="6148" name="Rectangle 3"/>
          <p:cNvSpPr>
            <a:spLocks noGrp="1"/>
          </p:cNvSpPr>
          <p:nvPr>
            <p:ph idx="1"/>
          </p:nvPr>
        </p:nvSpPr>
        <p:spPr>
          <a:xfrm>
            <a:off x="304800" y="1673225"/>
            <a:ext cx="8294688" cy="368776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Similar to an array, an </a:t>
            </a:r>
            <a:r>
              <a:rPr lang="en-US" altLang="en-US" sz="2400" dirty="0">
                <a:solidFill>
                  <a:srgbClr val="000099"/>
                </a:solidFill>
                <a:latin typeface="Courier New" panose="02070309020205020404" pitchFamily="49" charset="0"/>
              </a:rPr>
              <a:t>ArrayList</a:t>
            </a:r>
            <a:r>
              <a:rPr lang="en-US" altLang="en-US" sz="2400" dirty="0"/>
              <a:t> allows object storage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Unlike an array, an </a:t>
            </a:r>
            <a:r>
              <a:rPr lang="en-US" altLang="en-US" sz="2400" dirty="0">
                <a:solidFill>
                  <a:srgbClr val="000099"/>
                </a:solidFill>
                <a:latin typeface="Courier New" panose="02070309020205020404" pitchFamily="49" charset="0"/>
              </a:rPr>
              <a:t>ArrayList</a:t>
            </a:r>
            <a:r>
              <a:rPr lang="en-US" altLang="en-US" sz="2400" dirty="0">
                <a:solidFill>
                  <a:srgbClr val="000099"/>
                </a:solidFill>
              </a:rPr>
              <a:t> </a:t>
            </a:r>
            <a:r>
              <a:rPr lang="en-US" altLang="en-US" sz="2400" dirty="0"/>
              <a:t>object: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Automatically </a:t>
            </a:r>
            <a:r>
              <a:rPr lang="en-US" altLang="en-US" sz="2400" dirty="0">
                <a:solidFill>
                  <a:schemeClr val="accent2"/>
                </a:solidFill>
              </a:rPr>
              <a:t>expands</a:t>
            </a:r>
            <a:r>
              <a:rPr lang="en-US" altLang="en-US" sz="2400" dirty="0"/>
              <a:t> when a new item is </a:t>
            </a:r>
            <a:r>
              <a:rPr lang="en-US" altLang="en-US" sz="2400" dirty="0">
                <a:solidFill>
                  <a:schemeClr val="accent2"/>
                </a:solidFill>
              </a:rPr>
              <a:t>added</a:t>
            </a:r>
            <a:endParaRPr lang="en-US" altLang="en-US" sz="2400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Automatically </a:t>
            </a:r>
            <a:r>
              <a:rPr lang="en-US" altLang="en-US" sz="2400" dirty="0">
                <a:solidFill>
                  <a:schemeClr val="accent2"/>
                </a:solidFill>
              </a:rPr>
              <a:t>shrinks</a:t>
            </a:r>
            <a:r>
              <a:rPr lang="en-US" altLang="en-US" sz="2400" dirty="0"/>
              <a:t> when items are </a:t>
            </a:r>
            <a:r>
              <a:rPr lang="en-US" altLang="en-US" sz="2400" dirty="0">
                <a:solidFill>
                  <a:schemeClr val="accent2"/>
                </a:solidFill>
              </a:rPr>
              <a:t>removed</a:t>
            </a:r>
            <a:endParaRPr lang="en-US" altLang="en-US" sz="2400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sz="240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Requires: 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	</a:t>
            </a:r>
            <a:r>
              <a:rPr lang="en-US" altLang="en-US" sz="2400" dirty="0">
                <a:solidFill>
                  <a:srgbClr val="000099"/>
                </a:solidFill>
                <a:latin typeface="Courier New" panose="02070309020205020404" pitchFamily="49" charset="0"/>
              </a:rPr>
              <a:t>import java.util.ArrayList;</a:t>
            </a:r>
            <a:endParaRPr lang="en-US" altLang="en-US" sz="2400" dirty="0">
              <a:solidFill>
                <a:srgbClr val="000099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914400" y="6251575"/>
            <a:ext cx="19812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/>
              <a:t>8-</a:t>
            </a:r>
            <a:fld id="{9A0DB2DC-4C9A-4742-B13C-FB6460FD3503}" type="slidenum">
              <a:rPr lang="en-US" altLang="en-US" sz="1000" dirty="0"/>
            </a:fld>
            <a:endParaRPr lang="en-US" altLang="en-US" sz="1000" dirty="0"/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en-US" sz="3200" b="1" dirty="0"/>
              <a:t>Creating and Using an </a:t>
            </a:r>
            <a:r>
              <a:rPr lang="en-US" altLang="en-US" sz="3200" b="1" dirty="0">
                <a:solidFill>
                  <a:srgbClr val="3333FF"/>
                </a:solidFill>
                <a:latin typeface="Courier New" panose="02070309020205020404" pitchFamily="49" charset="0"/>
              </a:rPr>
              <a:t>ArrayList</a:t>
            </a:r>
            <a:br>
              <a:rPr lang="en-US" altLang="en-US" sz="3200" b="1" dirty="0">
                <a:latin typeface="Courier New" panose="02070309020205020404" pitchFamily="49" charset="0"/>
              </a:rPr>
            </a:br>
            <a:r>
              <a:rPr lang="en-US" altLang="en-US" sz="3200" b="1" dirty="0"/>
              <a:t> and adding items using  </a:t>
            </a:r>
            <a:r>
              <a:rPr lang="en-US" altLang="en-US" sz="3200" b="1" dirty="0">
                <a:solidFill>
                  <a:srgbClr val="3333FF"/>
                </a:solidFill>
                <a:latin typeface="Courier New" panose="02070309020205020404" pitchFamily="49" charset="0"/>
              </a:rPr>
              <a:t>add()</a:t>
            </a:r>
            <a:r>
              <a:rPr lang="en-US" altLang="en-US" sz="3200" b="1" dirty="0"/>
              <a:t> method</a:t>
            </a:r>
            <a:endParaRPr lang="en-US" altLang="en-US" sz="3200" b="1" dirty="0">
              <a:latin typeface="Courier New" panose="02070309020205020404" pitchFamily="49" charset="0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73225"/>
            <a:ext cx="8294688" cy="40417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Create an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ArrayList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object with no-args constructor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ArrayList townList = new ArrayList();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anose="02070309020205020404" pitchFamily="49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add element to the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ArrayList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use the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add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method: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townList.add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("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Kangar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");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anose="02070309020205020404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townList.add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("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Alor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Setar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");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anose="02070309020205020404" pitchFamily="49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ourier New" panose="020703090202050204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get the current size, call the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size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method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townList.size();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</a:rPr>
              <a:t> 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urier New" panose="02070309020205020404" pitchFamily="49" charset="0"/>
              </a:rPr>
              <a:t>// returns 2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ourier New" panose="02070309020205020404" pitchFamily="49" charset="0"/>
            </a:endParaRP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Lab 6 – Exercise 1 – Question 3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914400" y="6251575"/>
            <a:ext cx="19812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/>
              <a:t>8-</a:t>
            </a:r>
            <a:fld id="{9A0DB2DC-4C9A-4742-B13C-FB6460FD3503}" type="slidenum">
              <a:rPr lang="en-US" altLang="en-US" sz="1000" dirty="0"/>
            </a:fld>
            <a:endParaRPr lang="en-US" altLang="en-US" sz="1000" dirty="0"/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en-US" sz="3200" b="1" dirty="0"/>
              <a:t>Accessing &amp; Removing items in an </a:t>
            </a:r>
            <a:r>
              <a:rPr lang="en-US" altLang="en-US" sz="3200" b="1" dirty="0">
                <a:solidFill>
                  <a:srgbClr val="3333FF"/>
                </a:solidFill>
                <a:latin typeface="Courier New" panose="02070309020205020404" pitchFamily="49" charset="0"/>
              </a:rPr>
              <a:t>ArrayList</a:t>
            </a:r>
            <a:r>
              <a:rPr lang="en-US" altLang="en-US" sz="3200" b="1" dirty="0"/>
              <a:t> </a:t>
            </a:r>
            <a:endParaRPr lang="en-US" altLang="en-US" sz="3200" b="1" dirty="0">
              <a:solidFill>
                <a:srgbClr val="3333FF"/>
              </a:solidFill>
              <a:latin typeface="Courier New" panose="02070309020205020404" pitchFamily="49" charset="0"/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>
          <a:xfrm>
            <a:off x="620713" y="1441450"/>
            <a:ext cx="8904287" cy="442595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sz="1800" dirty="0"/>
              <a:t>To access items in an </a:t>
            </a:r>
            <a:r>
              <a:rPr lang="en-US" altLang="en-US" sz="1800" dirty="0">
                <a:solidFill>
                  <a:srgbClr val="FF0066"/>
                </a:solidFill>
                <a:latin typeface="Courier New" panose="02070309020205020404" pitchFamily="49" charset="0"/>
              </a:rPr>
              <a:t>ArrayList</a:t>
            </a:r>
            <a:r>
              <a:rPr lang="en-US" altLang="en-US" sz="1800" dirty="0"/>
              <a:t>, use the </a:t>
            </a:r>
            <a:r>
              <a:rPr lang="en-US" altLang="en-US" sz="1800" dirty="0">
                <a:solidFill>
                  <a:srgbClr val="FF0066"/>
                </a:solidFill>
                <a:latin typeface="Courier New" panose="02070309020205020404" pitchFamily="49" charset="0"/>
              </a:rPr>
              <a:t>get</a:t>
            </a:r>
            <a:r>
              <a:rPr lang="en-US" altLang="en-US" sz="1800" dirty="0"/>
              <a:t> method as follows:</a:t>
            </a:r>
            <a:endParaRPr lang="en-US" altLang="en-US" sz="1800" dirty="0"/>
          </a:p>
          <a:p>
            <a:pPr lvl="1" eaLnBrk="1" hangingPunct="1">
              <a:buFontTx/>
              <a:buNone/>
            </a:pPr>
            <a:r>
              <a:rPr lang="en-US" altLang="en-US" sz="1800" dirty="0">
                <a:solidFill>
                  <a:srgbClr val="000099"/>
                </a:solidFill>
                <a:latin typeface="Courier New" panose="02070309020205020404" pitchFamily="49" charset="0"/>
              </a:rPr>
              <a:t>townList.get(1); //</a:t>
            </a:r>
            <a:r>
              <a:rPr lang="en-US" altLang="en-US" sz="1800" dirty="0">
                <a:solidFill>
                  <a:srgbClr val="000099"/>
                </a:solidFill>
              </a:rPr>
              <a:t> 1 is the index of the item to get.</a:t>
            </a:r>
            <a:endParaRPr lang="en-US" altLang="en-US" sz="1800" dirty="0">
              <a:solidFill>
                <a:srgbClr val="000099"/>
              </a:solidFill>
              <a:latin typeface="Courier New" panose="02070309020205020404" pitchFamily="49" charset="0"/>
            </a:endParaRPr>
          </a:p>
          <a:p>
            <a:pPr eaLnBrk="1" hangingPunct="1"/>
            <a:endParaRPr lang="en-US" altLang="en-US" sz="1800" dirty="0">
              <a:solidFill>
                <a:srgbClr val="000099"/>
              </a:solidFill>
            </a:endParaRPr>
          </a:p>
          <a:p>
            <a:pPr eaLnBrk="1" hangingPunct="1"/>
            <a:r>
              <a:rPr lang="en-US" altLang="en-US" sz="1800" dirty="0"/>
              <a:t>A loop is used in the following statement to access every element in the </a:t>
            </a:r>
            <a:r>
              <a:rPr lang="en-US" altLang="en-US" sz="1800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800" dirty="0"/>
              <a:t>named </a:t>
            </a:r>
            <a:r>
              <a:rPr lang="en-US" altLang="en-US" sz="1800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townList</a:t>
            </a:r>
            <a:r>
              <a:rPr lang="en-US" altLang="en-US" sz="1800" dirty="0"/>
              <a:t>.</a:t>
            </a:r>
            <a:br>
              <a:rPr lang="en-US" altLang="en-US" sz="1800" dirty="0"/>
            </a:br>
            <a:r>
              <a:rPr lang="en-US" altLang="en-US" sz="1800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for(int i=0;i &lt; townList.size();i++)</a:t>
            </a:r>
            <a:endParaRPr lang="en-US" altLang="en-US" sz="1800" dirty="0">
              <a:solidFill>
                <a:srgbClr val="3333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buNone/>
            </a:pPr>
            <a:r>
              <a:rPr lang="en-US" altLang="en-US" sz="1800" dirty="0">
                <a:solidFill>
                  <a:srgbClr val="3333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System.out.print(townList.get(i)+" ");</a:t>
            </a:r>
            <a:endParaRPr lang="en-US" altLang="en-US" sz="1800" dirty="0">
              <a:solidFill>
                <a:srgbClr val="3333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endParaRPr lang="en-US" altLang="en-US" sz="1800" dirty="0">
              <a:solidFill>
                <a:srgbClr val="000099"/>
              </a:solidFill>
            </a:endParaRPr>
          </a:p>
          <a:p>
            <a:pPr eaLnBrk="1" hangingPunct="1">
              <a:buFont typeface="Wingdings" panose="05000000000000000000" pitchFamily="2" charset="2"/>
              <a:buChar char="n"/>
            </a:pPr>
            <a:r>
              <a:rPr lang="en-US" altLang="en-US" sz="1800" dirty="0"/>
              <a:t>To remove items in an </a:t>
            </a:r>
            <a:r>
              <a:rPr lang="en-US" altLang="en-US" sz="1800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 sz="1800" dirty="0"/>
              <a:t>, use the </a:t>
            </a:r>
            <a:r>
              <a:rPr lang="en-US" altLang="en-US" sz="1800" dirty="0">
                <a:solidFill>
                  <a:srgbClr val="FF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US" altLang="en-US" sz="1800" dirty="0"/>
              <a:t> method </a:t>
            </a:r>
            <a:endParaRPr lang="en-US" altLang="en-US" sz="1800" dirty="0"/>
          </a:p>
          <a:p>
            <a:pPr lvl="1" eaLnBrk="1" hangingPunct="1">
              <a:buNone/>
            </a:pPr>
            <a:r>
              <a:rPr lang="en-US" altLang="en-US" sz="1800" dirty="0">
                <a:solidFill>
                  <a:srgbClr val="000099"/>
                </a:solidFill>
                <a:latin typeface="Courier New" panose="02070309020205020404" pitchFamily="49" charset="0"/>
              </a:rPr>
              <a:t>townList.remove(1); //</a:t>
            </a:r>
            <a:r>
              <a:rPr lang="en-US" altLang="en-US" sz="1800" dirty="0">
                <a:solidFill>
                  <a:srgbClr val="000099"/>
                </a:solidFill>
              </a:rPr>
              <a:t>This statement removes the second item.</a:t>
            </a:r>
            <a:endParaRPr lang="en-US" altLang="en-US" sz="1800" dirty="0">
              <a:solidFill>
                <a:srgbClr val="000099"/>
              </a:solidFill>
            </a:endParaRPr>
          </a:p>
          <a:p>
            <a:pPr lvl="1" eaLnBrk="1" hangingPunct="1">
              <a:buNone/>
            </a:pPr>
            <a:r>
              <a:rPr lang="en-US" altLang="en-US" sz="1800" dirty="0">
                <a:solidFill>
                  <a:srgbClr val="000099"/>
                </a:solidFill>
                <a:latin typeface="Courier New" panose="02070309020205020404" pitchFamily="49" charset="0"/>
              </a:rPr>
              <a:t>townList.remove("Penang"); //</a:t>
            </a:r>
            <a:r>
              <a:rPr lang="en-US" altLang="en-US" sz="1800" dirty="0">
                <a:solidFill>
                  <a:srgbClr val="000099"/>
                </a:solidFill>
              </a:rPr>
              <a:t>This statement removes the item </a:t>
            </a:r>
            <a:endParaRPr lang="en-US" altLang="en-US" sz="1800" dirty="0">
              <a:solidFill>
                <a:srgbClr val="000099"/>
              </a:solidFill>
            </a:endParaRPr>
          </a:p>
          <a:p>
            <a:pPr lvl="1" eaLnBrk="1" hangingPunct="1">
              <a:buNone/>
            </a:pPr>
            <a:r>
              <a:rPr lang="en-US" altLang="en-US" sz="1800" dirty="0">
                <a:solidFill>
                  <a:srgbClr val="000099"/>
                </a:solidFill>
              </a:rPr>
              <a:t>                                                              </a:t>
            </a:r>
            <a:r>
              <a:rPr lang="en-US" altLang="en-US" sz="18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with the value "Penang".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914400" y="6251575"/>
            <a:ext cx="19812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/>
              <a:t>8-</a:t>
            </a:r>
            <a:fld id="{9A0DB2DC-4C9A-4742-B13C-FB6460FD3503}" type="slidenum">
              <a:rPr lang="en-US" altLang="en-US" sz="1000" dirty="0"/>
            </a:fld>
            <a:endParaRPr lang="en-US" altLang="en-US" sz="1000" dirty="0"/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sz="3200" b="1" dirty="0"/>
              <a:t>Adding and replacing existing items using  two argument method</a:t>
            </a:r>
            <a:endParaRPr lang="en-US" altLang="en-US" sz="3200" b="1" dirty="0">
              <a:latin typeface="Courier New" panose="02070309020205020404" pitchFamily="49" charset="0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73225"/>
            <a:ext cx="8610600" cy="4425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ArrayList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class's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add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method with one argument adds new items to the end of the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ArrayList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items at a location of choice, use the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add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method with two arguments: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Tx/>
              <a:buNone/>
              <a:defRPr/>
            </a:pP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townList.add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(6, "Shah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Alam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");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</a:rPr>
              <a:t> 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Tx/>
              <a:buNone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</a:rPr>
              <a:t>This statement inserts the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String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</a:rPr>
              <a:t> "Shah </a:t>
            </a: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</a:rPr>
              <a:t>Alam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</a:rPr>
              <a:t>" at index 6    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Tx/>
              <a:buNone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replace an existing item, use the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method: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Tx/>
              <a:buNone/>
              <a:defRPr/>
            </a:pPr>
            <a:r>
              <a:rPr kumimoji="0" lang="en-US" alt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townList.set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(1, "Muar");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</a:rPr>
              <a:t> 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Tx/>
              <a:buNone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</a:rPr>
              <a:t>This statement replaces the value at index 1 with “Muar”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914400" y="6251575"/>
            <a:ext cx="19812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/>
              <a:t>8-</a:t>
            </a:r>
            <a:fld id="{9A0DB2DC-4C9A-4742-B13C-FB6460FD3503}" type="slidenum">
              <a:rPr lang="en-US" altLang="en-US" sz="1000" dirty="0"/>
            </a:fld>
            <a:endParaRPr lang="en-US" altLang="en-US" sz="1000" dirty="0"/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sz="3200" b="1" dirty="0"/>
              <a:t>Using </a:t>
            </a:r>
            <a:r>
              <a:rPr lang="en-US" altLang="en-US" sz="3200" b="1" dirty="0">
                <a:latin typeface="Courier New" panose="02070309020205020404" pitchFamily="49" charset="0"/>
              </a:rPr>
              <a:t>toString()</a:t>
            </a:r>
            <a:r>
              <a:rPr lang="en-US" altLang="en-US" sz="3200" b="1" dirty="0"/>
              <a:t> method </a:t>
            </a:r>
            <a:endParaRPr lang="en-US" altLang="en-US" sz="3200" b="1" dirty="0">
              <a:latin typeface="Courier New" panose="02070309020205020404" pitchFamily="49" charset="0"/>
            </a:endParaRPr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xfrm>
            <a:off x="304800" y="1673225"/>
            <a:ext cx="8294688" cy="442595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en-US" sz="2400" dirty="0"/>
              <a:t>The </a:t>
            </a:r>
            <a:r>
              <a:rPr lang="en-US" altLang="en-US" sz="2400" dirty="0">
                <a:solidFill>
                  <a:srgbClr val="FF0066"/>
                </a:solidFill>
                <a:latin typeface="Courier New" panose="02070309020205020404" pitchFamily="49" charset="0"/>
              </a:rPr>
              <a:t>ArrayList</a:t>
            </a:r>
            <a:r>
              <a:rPr lang="en-US" altLang="en-US" sz="2400" dirty="0"/>
              <a:t> class's </a:t>
            </a:r>
            <a:r>
              <a:rPr lang="en-US" altLang="en-US" sz="2400" dirty="0">
                <a:solidFill>
                  <a:srgbClr val="FF0066"/>
                </a:solidFill>
                <a:latin typeface="Courier New" panose="02070309020205020404" pitchFamily="49" charset="0"/>
              </a:rPr>
              <a:t>toString</a:t>
            </a:r>
            <a:r>
              <a:rPr lang="en-US" altLang="en-US" sz="2400" dirty="0"/>
              <a:t> method returns a string representing all items in the </a:t>
            </a:r>
            <a:r>
              <a:rPr lang="en-US" altLang="en-US" sz="2400" dirty="0">
                <a:latin typeface="Courier New" panose="02070309020205020404" pitchFamily="49" charset="0"/>
              </a:rPr>
              <a:t>ArrayList</a:t>
            </a:r>
            <a:endParaRPr lang="en-US" altLang="en-US" sz="2400" dirty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2400" dirty="0">
                <a:solidFill>
                  <a:srgbClr val="000099"/>
                </a:solidFill>
                <a:latin typeface="Courier New" panose="02070309020205020404" pitchFamily="49" charset="0"/>
              </a:rPr>
              <a:t>System.out.println(townList);</a:t>
            </a:r>
            <a:r>
              <a:rPr lang="en-US" altLang="en-US" sz="2400" dirty="0">
                <a:solidFill>
                  <a:srgbClr val="000099"/>
                </a:solidFill>
              </a:rPr>
              <a:t> </a:t>
            </a:r>
            <a:endParaRPr lang="en-US" altLang="en-US" sz="2400" dirty="0">
              <a:solidFill>
                <a:srgbClr val="000099"/>
              </a:solidFill>
            </a:endParaRPr>
          </a:p>
          <a:p>
            <a:pPr lvl="1" eaLnBrk="1" hangingPunct="1">
              <a:buFontTx/>
              <a:buNone/>
            </a:pPr>
            <a:r>
              <a:rPr lang="en-US" altLang="en-US" sz="2400" dirty="0"/>
              <a:t>This statement yields :</a:t>
            </a:r>
            <a:endParaRPr lang="en-US" altLang="en-US" sz="2400" dirty="0"/>
          </a:p>
          <a:p>
            <a:pPr lvl="1" eaLnBrk="1" hangingPunct="1">
              <a:buFontTx/>
              <a:buNone/>
            </a:pPr>
            <a:r>
              <a:rPr lang="en-US" altLang="en-US" sz="2400" dirty="0">
                <a:solidFill>
                  <a:srgbClr val="000099"/>
                </a:solidFill>
                <a:latin typeface="Courier New" panose="02070309020205020404" pitchFamily="49" charset="0"/>
              </a:rPr>
              <a:t>[Muar, Alor Setar]</a:t>
            </a:r>
            <a:endParaRPr lang="en-US" altLang="en-US" sz="2400" dirty="0">
              <a:solidFill>
                <a:srgbClr val="000099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1266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914400" y="6251575"/>
            <a:ext cx="19812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/>
              <a:t>8-</a:t>
            </a:r>
            <a:fld id="{9A0DB2DC-4C9A-4742-B13C-FB6460FD3503}" type="slidenum">
              <a:rPr lang="en-US" altLang="en-US" sz="1000" dirty="0"/>
            </a:fld>
            <a:endParaRPr lang="en-US" altLang="en-US" sz="1000" dirty="0"/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b="1" dirty="0"/>
              <a:t>Using an </a:t>
            </a:r>
            <a:r>
              <a:rPr lang="en-US" altLang="en-US" b="1" dirty="0">
                <a:latin typeface="Courier New" panose="02070309020205020404" pitchFamily="49" charset="0"/>
              </a:rPr>
              <a:t>ArrayList</a:t>
            </a:r>
            <a:endParaRPr lang="en-US" altLang="en-US" b="1" dirty="0">
              <a:latin typeface="Courier New" panose="02070309020205020404" pitchFamily="49" charset="0"/>
            </a:endParaRPr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8458200" cy="3733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ArrayList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has a capacity, which is the number of items it can hold without increasing its size.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default capacity of an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ArrayList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is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items.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designate a different capacity, use a parameterized constructor: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Tx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</a:rPr>
              <a:t>ArrayList list = new ArrayList(100);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914400" y="6251575"/>
            <a:ext cx="19812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/>
              <a:t>8-</a:t>
            </a:r>
            <a:fld id="{9A0DB2DC-4C9A-4742-B13C-FB6460FD3503}" type="slidenum">
              <a:rPr lang="en-US" altLang="en-US" sz="1000" dirty="0"/>
            </a:fld>
            <a:endParaRPr lang="en-US" altLang="en-US" sz="1000" dirty="0"/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en-US" sz="3200" b="1" dirty="0"/>
              <a:t>Using a Cast Operator with the </a:t>
            </a:r>
            <a:r>
              <a:rPr lang="en-US" altLang="en-US" sz="3200" b="1" dirty="0">
                <a:latin typeface="Courier New" panose="02070309020205020404" pitchFamily="49" charset="0"/>
              </a:rPr>
              <a:t>get</a:t>
            </a:r>
            <a:r>
              <a:rPr lang="en-US" altLang="en-US" sz="3200" b="1" dirty="0"/>
              <a:t> Method</a:t>
            </a:r>
            <a:endParaRPr lang="en-US" altLang="en-US" sz="3200" b="1" dirty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0050"/>
            <a:ext cx="8534400" cy="3968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ArrayList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object is not typed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retrieve items from an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ArrayList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you must cast the item to the appropriate type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Tx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</a:rPr>
              <a:t>ArrayList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</a:rPr>
              <a:t>nameList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</a:rPr>
              <a:t> = new ArrayList();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urier New" panose="02070309020205020404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Tx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</a:rPr>
              <a:t>townList.add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</a:rPr>
              <a:t>("Kluang"); // Inserts an item 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urier New" panose="02070309020205020404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Tx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</a:rPr>
              <a:t>String str = (String)townList.get(0);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urier New" panose="02070309020205020404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Tx/>
              <a:buNone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urier New" panose="020703090202050204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Try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without the cast to see the effect.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Slide Number Placeholder 3"/>
          <p:cNvSpPr txBox="1">
            <a:spLocks noGrp="1"/>
          </p:cNvSpPr>
          <p:nvPr>
            <p:ph type="sldNum" sz="quarter" idx="12"/>
          </p:nvPr>
        </p:nvSpPr>
        <p:spPr>
          <a:xfrm>
            <a:off x="914400" y="6251575"/>
            <a:ext cx="1981200" cy="457200"/>
          </a:xfrm>
          <a:ln/>
        </p:spPr>
        <p:txBody>
          <a:bodyPr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/>
              <a:t>8-</a:t>
            </a:r>
            <a:fld id="{9A0DB2DC-4C9A-4742-B13C-FB6460FD3503}" type="slidenum">
              <a:rPr lang="en-US" altLang="en-US" sz="1000" dirty="0"/>
            </a:fld>
            <a:endParaRPr lang="en-US" altLang="en-US" sz="1000" dirty="0"/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76200" y="0"/>
            <a:ext cx="8915400" cy="1143000"/>
          </a:xfrm>
          <a:ln/>
        </p:spPr>
        <p:txBody>
          <a:bodyPr vert="horz" wrap="square" lIns="91440" tIns="45720" rIns="91440" bIns="45720" anchor="ctr" anchorCtr="0"/>
          <a:p>
            <a:pPr algn="ctr" eaLnBrk="1" hangingPunct="1"/>
            <a:r>
              <a:rPr lang="en-US" altLang="en-US" sz="3200" dirty="0"/>
              <a:t>Using </a:t>
            </a:r>
            <a:r>
              <a:rPr lang="en-US" altLang="en-US" sz="3200" b="1" dirty="0">
                <a:solidFill>
                  <a:srgbClr val="3333FF"/>
                </a:solidFill>
                <a:latin typeface="Courier New" panose="02070309020205020404" pitchFamily="49" charset="0"/>
              </a:rPr>
              <a:t>ArrayList</a:t>
            </a:r>
            <a:r>
              <a:rPr lang="en-US" altLang="en-US" sz="3200" dirty="0"/>
              <a:t> as a Generic Data Type</a:t>
            </a:r>
            <a:endParaRPr lang="en-US" altLang="en-US" sz="3200" dirty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620713" y="1673225"/>
            <a:ext cx="8294688" cy="40417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can create a type-safe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ArrayList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object by using generics.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example an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ArrayList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object for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String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Tx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</a:rPr>
              <a:t>ArrayList&lt;String&gt;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</a:rPr>
              <a:t>nameList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Courier New" panose="02070309020205020404" pitchFamily="49" charset="0"/>
              </a:rPr>
              <a:t> = new ArrayList&lt;String&gt;();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urier New" panose="02070309020205020404" pitchFamily="49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Tx/>
              <a:buNone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Courier New" panose="02070309020205020404" pitchFamily="49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method no longer requires casts to work.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en-US" b="1" dirty="0"/>
              <a:t>ArrayList Methods</a:t>
            </a:r>
            <a:endParaRPr lang="en-US" altLang="en-US" b="1" dirty="0"/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37338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2000" dirty="0">
                <a:solidFill>
                  <a:srgbClr val="FF0066"/>
                </a:solidFill>
              </a:rPr>
              <a:t>add(Object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rgbClr val="FF0066"/>
                </a:solidFill>
              </a:rPr>
              <a:t>o)</a:t>
            </a:r>
            <a:r>
              <a:rPr lang="en-US" altLang="en-US" sz="2000" dirty="0"/>
              <a:t> – add new object into ArrayList</a:t>
            </a:r>
            <a:endParaRPr lang="en-US" altLang="en-US" sz="2000" dirty="0"/>
          </a:p>
          <a:p>
            <a:r>
              <a:rPr lang="en-US" altLang="en-US" sz="2000" dirty="0">
                <a:solidFill>
                  <a:srgbClr val="FF0066"/>
                </a:solidFill>
              </a:rPr>
              <a:t>get(int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rgbClr val="FF0066"/>
                </a:solidFill>
              </a:rPr>
              <a:t>index)</a:t>
            </a:r>
            <a:r>
              <a:rPr lang="en-US" altLang="en-US" sz="2000" dirty="0"/>
              <a:t> - retrieves object reference from ArrayList </a:t>
            </a:r>
            <a:r>
              <a:rPr lang="en-US" altLang="en-US" sz="2000" i="1" dirty="0"/>
              <a:t>index</a:t>
            </a:r>
            <a:r>
              <a:rPr lang="en-US" altLang="en-US" sz="2000" dirty="0"/>
              <a:t> position </a:t>
            </a:r>
            <a:endParaRPr lang="en-US" altLang="en-US" sz="2000" dirty="0"/>
          </a:p>
          <a:p>
            <a:r>
              <a:rPr lang="en-US" altLang="en-US" sz="2000" dirty="0">
                <a:solidFill>
                  <a:srgbClr val="FF0066"/>
                </a:solidFill>
              </a:rPr>
              <a:t>size()</a:t>
            </a:r>
            <a:r>
              <a:rPr lang="en-US" altLang="en-US" sz="2000" dirty="0"/>
              <a:t> - returns ArrayList size</a:t>
            </a:r>
            <a:endParaRPr lang="en-US" altLang="en-US" sz="2000" dirty="0"/>
          </a:p>
          <a:p>
            <a:r>
              <a:rPr lang="en-US" altLang="en-US" sz="2000" dirty="0">
                <a:solidFill>
                  <a:srgbClr val="FF0066"/>
                </a:solidFill>
              </a:rPr>
              <a:t>remove(int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rgbClr val="FF0066"/>
                </a:solidFill>
              </a:rPr>
              <a:t>index)</a:t>
            </a:r>
            <a:r>
              <a:rPr lang="en-US" altLang="en-US" sz="2000" dirty="0"/>
              <a:t> - removes the element at the specified position in this list. Shifts any subsequent elements to the left and returns the element that was removed from the list.</a:t>
            </a:r>
            <a:endParaRPr lang="en-US" altLang="en-US" sz="2000" dirty="0"/>
          </a:p>
          <a:p>
            <a:r>
              <a:rPr lang="en-US" altLang="en-US" sz="2000" dirty="0">
                <a:solidFill>
                  <a:srgbClr val="FF0066"/>
                </a:solidFill>
              </a:rPr>
              <a:t>indexOf(Object</a:t>
            </a:r>
            <a:r>
              <a:rPr lang="en-US" altLang="en-US" sz="2000" dirty="0"/>
              <a:t> </a:t>
            </a:r>
            <a:r>
              <a:rPr lang="en-US" altLang="en-US" sz="2000" dirty="0">
                <a:solidFill>
                  <a:srgbClr val="FF0066"/>
                </a:solidFill>
              </a:rPr>
              <a:t>o)</a:t>
            </a:r>
            <a:r>
              <a:rPr lang="en-US" altLang="en-US" sz="2000" dirty="0"/>
              <a:t> - finds the index in this list of the first occurrence of the specified element</a:t>
            </a:r>
            <a:endParaRPr lang="en-US" altLang="en-US" sz="2000" dirty="0"/>
          </a:p>
          <a:p>
            <a:r>
              <a:rPr lang="en-US" altLang="en-US" sz="2000" dirty="0">
                <a:solidFill>
                  <a:srgbClr val="FF0066"/>
                </a:solidFill>
              </a:rPr>
              <a:t>clear()</a:t>
            </a:r>
            <a:r>
              <a:rPr lang="en-US" altLang="en-US" sz="2000" dirty="0"/>
              <a:t> - removes all of the elements </a:t>
            </a:r>
            <a:endParaRPr lang="en-US" altLang="en-US" sz="2000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ctr"/>
            <a:r>
              <a:rPr lang="en-US" altLang="en-US" b="1" dirty="0"/>
              <a:t>Exercises</a:t>
            </a:r>
            <a:endParaRPr lang="en-US" altLang="en-US" b="1" dirty="0"/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32766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sz="2400" dirty="0"/>
              <a:t>Do Exercise 1: </a:t>
            </a:r>
            <a:endParaRPr lang="en-US" altLang="en-US" sz="2400" dirty="0"/>
          </a:p>
          <a:p>
            <a:pPr lvl="1"/>
            <a:r>
              <a:rPr lang="en-US" altLang="en-US" sz="2400" dirty="0"/>
              <a:t>Question 1, page 115</a:t>
            </a:r>
            <a:endParaRPr lang="en-US" altLang="en-US" sz="2400" dirty="0"/>
          </a:p>
          <a:p>
            <a:pPr lvl="1"/>
            <a:r>
              <a:rPr lang="en-US" altLang="en-US" sz="2400" dirty="0"/>
              <a:t>Question 2, page 116</a:t>
            </a:r>
            <a:endParaRPr lang="en-US" altLang="en-US" sz="2400" dirty="0"/>
          </a:p>
          <a:p>
            <a:pPr lvl="1"/>
            <a:r>
              <a:rPr lang="en-US" altLang="en-US" sz="2400" dirty="0"/>
              <a:t>Question 3, page 117 </a:t>
            </a:r>
            <a:endParaRPr lang="en-US" altLang="en-US" sz="2400" dirty="0"/>
          </a:p>
          <a:p>
            <a:pPr lvl="1"/>
            <a:endParaRPr lang="en-US" altLang="en-US" sz="43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en-US" sz="4000" b="1" dirty="0"/>
              <a:t>Question 1, page 115</a:t>
            </a:r>
            <a:endParaRPr lang="en-US" altLang="en-US" sz="4000" b="1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import </a:t>
            </a:r>
            <a:r>
              <a:rPr kumimoji="0" lang="en-US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java.util.ArrayList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public class CircleArrayList {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private double radius;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public CircleArrayList(double radius)  {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</a:t>
            </a:r>
            <a:r>
              <a:rPr kumimoji="0" lang="en-US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this.radius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=radius;      	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}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public void </a:t>
            </a:r>
            <a:r>
              <a:rPr kumimoji="0" lang="en-US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setRadius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 {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US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this.radius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=radius;      	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}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public double </a:t>
            </a:r>
            <a:r>
              <a:rPr kumimoji="0" lang="en-US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getRadius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 {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return radius;	  		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}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public double getArea()  {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return (</a:t>
            </a:r>
            <a:r>
              <a:rPr kumimoji="0" lang="en-US" altLang="en-US" sz="1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Math.PI</a:t>
            </a: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*radius*radius);	 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}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None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/>
            </a:pPr>
            <a:endParaRPr kumimoji="0" lang="en-US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914400" y="3048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en-US" sz="3600" b="1" dirty="0"/>
              <a:t>Question 1, page 115</a:t>
            </a:r>
            <a:endParaRPr lang="en-US" altLang="en-US" sz="3600" b="1" dirty="0"/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3581400"/>
          </a:xfrm>
          <a:ln/>
        </p:spPr>
        <p:txBody>
          <a:bodyPr vert="horz" wrap="square" lIns="91440" tIns="45720" rIns="91440" bIns="45720" anchor="t" anchorCtr="0"/>
          <a:p>
            <a:pPr marL="0" indent="0">
              <a:lnSpc>
                <a:spcPct val="8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java.util.ArrayList;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TestCircleAL {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arg)	 {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ArrayList cList = new ArrayList();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cList.add(new CircleArrayList(2.3));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cList.add(new CircleArrayList(3.3));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System.out.print("The area : %2.2f " +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((CircleArrayList)cList.get(0)).getArea());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600" dirty="0">
              <a:latin typeface="Courier New" panose="02070309020205020404" pitchFamily="49" charset="0"/>
              <a:ea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en-US" sz="3600" b="1" dirty="0"/>
              <a:t>Question 2, page 116</a:t>
            </a:r>
            <a:endParaRPr lang="en-US" altLang="en-US" sz="3600" b="1" dirty="0"/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3048000"/>
          </a:xfrm>
          <a:ln/>
        </p:spPr>
        <p:txBody>
          <a:bodyPr vert="horz" wrap="square" lIns="91440" tIns="45720" rIns="91440" bIns="45720" anchor="t" anchorCtr="0"/>
          <a:p>
            <a:pPr marL="0" indent="0">
              <a:lnSpc>
                <a:spcPct val="9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import java.util.ArrayList;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ArrayList student = new ArrayList();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student.add(“Siti Rahimah”);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student.add(“Robert Lau”);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System.out.print(student);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Student.set(1, “Muhammad”);</a:t>
            </a:r>
            <a:endParaRPr lang="en-US" altLang="en-US" sz="1800" dirty="0">
              <a:latin typeface="Courier New" panose="02070309020205020404" pitchFamily="49" charset="0"/>
              <a:ea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endParaRPr lang="en-US" altLang="en-US" dirty="0"/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import java.util.Scanner;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public class RaggedArray {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  	public static int[][] buildRagged(int n){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    		int[][] triangle = new int[n][];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    		for(int i = 0;i&lt;triangle.length; i++)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      		triangle[i] = new int[n+1];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    		Scanner input = new Scanner(System.in);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    		System.out.println("Please enter:  " +n+" integer 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				numbers");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    		for(int i=0; i&lt;n; i++) {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       		for(int j=0; j&lt;n;j++) {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         			triangle[i][j] = input.nextInt();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       		}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   		}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    		return triangle;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2000" b="1" dirty="0">
                <a:solidFill>
                  <a:srgbClr val="0000CC"/>
                </a:solidFill>
              </a:rPr>
              <a:t>  }</a:t>
            </a:r>
            <a:endParaRPr lang="en-US" altLang="en-US" sz="20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endParaRPr lang="en-US" altLang="en-US" sz="2000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endParaRPr lang="en-US" altLang="en-US" dirty="0"/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 public static void printArray(int a[][]){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    System.out.println("Ragged Array: ");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      for(int i=0; i&lt;a.length; i++) {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       	for(int j=0; j&lt;a.length;j++) {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         		System.out.println(a[i][j]);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      	 }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      	System.out.println();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     }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  }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   public static void main(String[] args)  {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	    Scanner input = new Scanner(System.in);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	    System.out.print("Enter data for the array, begin with the 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			number of rows:");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	    int rows = input.nextInt();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	    int[][]array = buildRagged(rows);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	    printArray(array);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	 }</a:t>
            </a:r>
            <a:endParaRPr lang="en-US" altLang="en-US" sz="1800" b="1" dirty="0">
              <a:solidFill>
                <a:srgbClr val="0000CC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en-US" sz="1800" b="1" dirty="0">
                <a:solidFill>
                  <a:srgbClr val="0000CC"/>
                </a:solidFill>
              </a:rPr>
              <a:t>}</a:t>
            </a:r>
            <a:endParaRPr lang="en-US" altLang="en-US" sz="1800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0</TotalTime>
  <Words>5235</Words>
  <Application>WPS Presentation</Application>
  <PresentationFormat>On-screen Show (4:3)</PresentationFormat>
  <Paragraphs>215</Paragraphs>
  <Slides>16</Slides>
  <Notes>0</Notes>
  <HiddenSlides>3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Times New Roman</vt:lpstr>
      <vt:lpstr>Courier New</vt:lpstr>
      <vt:lpstr>Microsoft YaHei</vt:lpstr>
      <vt:lpstr>Arial Unicode MS</vt:lpstr>
      <vt:lpstr>Layers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UTM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Norazah</dc:creator>
  <cp:lastModifiedBy>google1596523062</cp:lastModifiedBy>
  <cp:revision>784</cp:revision>
  <dcterms:created xsi:type="dcterms:W3CDTF">2006-06-28T03:40:23Z</dcterms:created>
  <dcterms:modified xsi:type="dcterms:W3CDTF">2025-03-27T13:55:08Z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88BF34CF8E994FB08485E7ECBDE913F5_12</vt:lpwstr>
  </property>
  <property fmtid="{D5CDD505-2E9C-101B-9397-08002B2CF9AE}" pid="3" name="KSOProductBuildVer">
    <vt:lpwstr>1033-12.2.0.20326</vt:lpwstr>
  </property>
</Properties>
</file>