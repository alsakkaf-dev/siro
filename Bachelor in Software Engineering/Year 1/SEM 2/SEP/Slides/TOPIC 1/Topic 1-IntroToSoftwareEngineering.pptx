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78" r:id="rId5"/>
    <p:sldId id="275" r:id="rId6"/>
    <p:sldId id="276" r:id="rId7"/>
    <p:sldId id="262" r:id="rId8"/>
    <p:sldId id="259" r:id="rId9"/>
    <p:sldId id="260" r:id="rId10"/>
    <p:sldId id="261" r:id="rId11"/>
    <p:sldId id="279" r:id="rId12"/>
    <p:sldId id="263" r:id="rId13"/>
    <p:sldId id="282" r:id="rId14"/>
    <p:sldId id="264" r:id="rId15"/>
    <p:sldId id="265" r:id="rId16"/>
    <p:sldId id="266" r:id="rId17"/>
    <p:sldId id="267" r:id="rId18"/>
    <p:sldId id="280" r:id="rId19"/>
    <p:sldId id="272" r:id="rId20"/>
    <p:sldId id="273" r:id="rId21"/>
    <p:sldId id="281" r:id="rId22"/>
    <p:sldId id="268" r:id="rId23"/>
    <p:sldId id="269" r:id="rId24"/>
    <p:sldId id="270" r:id="rId25"/>
    <p:sldId id="271" r:id="rId26"/>
    <p:sldId id="274" r:id="rId27"/>
    <p:sldId id="283" r:id="rId28"/>
    <p:sldId id="277" r:id="rId29"/>
    <p:sldId id="284" r:id="rId30"/>
    <p:sldId id="285" r:id="rId31"/>
  </p:sldIdLst>
  <p:sldSz cx="9144000" cy="6858000" type="screen4x3"/>
  <p:notesSz cx="6858000" cy="9144000"/>
  <p:embeddedFontLst>
    <p:embeddedFont>
      <p:font typeface="Georgia" panose="02040502050405020303" pitchFamily="18" charset="0"/>
      <p:regular r:id="rId33"/>
      <p:bold r:id="rId34"/>
      <p:italic r:id="rId35"/>
      <p:boldItalic r:id="rId36"/>
    </p:embeddedFont>
    <p:embeddedFont>
      <p:font typeface="Helvetica Neue" panose="020B0604020202020204" charset="0"/>
      <p:regular r:id="rId37"/>
      <p:bold r:id="rId38"/>
      <p:italic r:id="rId39"/>
      <p:boldItalic r:id="rId40"/>
    </p:embeddedFont>
    <p:embeddedFont>
      <p:font typeface="Helvetica Neue Light" panose="020B0604020202020204" charset="0"/>
      <p:regular r:id="rId41"/>
      <p:bold r:id="rId42"/>
      <p:italic r:id="rId43"/>
      <p:boldItalic r:id="rId44"/>
    </p:embeddedFont>
    <p:embeddedFont>
      <p:font typeface="Rockwell" panose="02060603020205020403" pitchFamily="18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9" roundtripDataSignature="AMtx7minlteXd8StAIOwue042gFvXTgH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E43E922-DCC8-490A-AD59-0495A787ED80}">
  <a:tblStyle styleId="{0E43E922-DCC8-490A-AD59-0495A787ED8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A926A02-2FB1-4511-9B2B-C98C6ABEBB26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494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1864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9413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06901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0802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F9EE453B-0733-DD81-4D40-4F15DC9E6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3100FD0D-BBDC-0B90-50EC-F31B8476B7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4125C063-2E7D-AA5D-C899-A936869E08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2755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0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31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33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4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4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4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36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6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6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7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38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9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9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40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0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5" name="Google Shape;55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5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7806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747" y="6487366"/>
            <a:ext cx="9131300" cy="35718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9"/>
          <p:cNvSpPr/>
          <p:nvPr/>
        </p:nvSpPr>
        <p:spPr>
          <a:xfrm>
            <a:off x="0" y="0"/>
            <a:ext cx="9144000" cy="1417638"/>
          </a:xfrm>
          <a:prstGeom prst="rect">
            <a:avLst/>
          </a:prstGeom>
          <a:solidFill>
            <a:srgbClr val="FFE1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3" name="Google Shape;13;p29" descr="header_UTM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3500" y="106363"/>
            <a:ext cx="1195388" cy="39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9" descr="header_url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0" y="1169894"/>
            <a:ext cx="2376488" cy="25558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29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hyperlink" Target="http://cerescontrols.com/tutorials-3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ft.com/content/7c32d086-bff4-11e9-b350-db00d509634e" TargetMode="Externa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Topic 1: Introduction to Software Engineering</a:t>
            </a:r>
            <a:endParaRPr dirty="0"/>
          </a:p>
        </p:txBody>
      </p:sp>
      <p:sp>
        <p:nvSpPr>
          <p:cNvPr id="104" name="Google Shape;104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</a:pPr>
            <a:r>
              <a:rPr lang="en-US" sz="4000" dirty="0">
                <a:solidFill>
                  <a:schemeClr val="dk2"/>
                </a:solidFill>
              </a:rPr>
              <a:t>Software Engineering</a:t>
            </a:r>
            <a:endParaRPr sz="4000" dirty="0"/>
          </a:p>
          <a:p>
            <a:pPr marL="0" lvl="0" indent="0" algn="ctr" rtl="0">
              <a:spcBef>
                <a:spcPts val="518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rPr lang="en-US" sz="2800" dirty="0"/>
              <a:t>Faculty of Computing</a:t>
            </a:r>
            <a:endParaRPr dirty="0"/>
          </a:p>
          <a:p>
            <a:pPr marL="0" lvl="0" indent="0" algn="ctr" rtl="0">
              <a:spcBef>
                <a:spcPts val="518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rPr lang="en-US" sz="2800" dirty="0" err="1"/>
              <a:t>Universiti</a:t>
            </a:r>
            <a:r>
              <a:rPr lang="en-US" sz="2800" dirty="0"/>
              <a:t> </a:t>
            </a:r>
            <a:r>
              <a:rPr lang="en-US" sz="2800" dirty="0" err="1"/>
              <a:t>Teknologi</a:t>
            </a:r>
            <a:r>
              <a:rPr lang="en-US" sz="2800" dirty="0"/>
              <a:t> Malaysia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11" name="Google Shape;111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GB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oto Sans Symbols"/>
              </a:rPr>
              <a:t>What is software engineering?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4000" dirty="0">
                <a:effectLst/>
                <a:latin typeface="Noto Sans Symbols"/>
                <a:ea typeface="Noto Sans Symbols"/>
                <a:cs typeface="Noto Sans Symbols"/>
              </a:rPr>
              <a:t>Software engineering as a layered technology</a:t>
            </a:r>
            <a:endParaRPr lang="en-MY" sz="40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GB" sz="4000" dirty="0">
                <a:latin typeface="Calibri" panose="020F0502020204030204" pitchFamily="34" charset="0"/>
                <a:ea typeface="Calibri" panose="020F0502020204030204" pitchFamily="34" charset="0"/>
                <a:cs typeface="Noto Sans Symbols"/>
              </a:rPr>
              <a:t>S</a:t>
            </a:r>
            <a:r>
              <a:rPr lang="en-GB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oto Sans Symbols"/>
              </a:rPr>
              <a:t>oftware failure and </a:t>
            </a:r>
            <a:r>
              <a:rPr lang="en-GB" sz="4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Noto Sans Symbols"/>
              </a:rPr>
              <a:t>i</a:t>
            </a:r>
            <a:r>
              <a:rPr lang="en-US" sz="4000" dirty="0" err="1"/>
              <a:t>nherent</a:t>
            </a:r>
            <a:r>
              <a:rPr lang="en-US" sz="4000" dirty="0"/>
              <a:t> difficulties in software engineering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GB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oto Sans Symbols"/>
              </a:rPr>
              <a:t>Types of Software</a:t>
            </a:r>
            <a:endParaRPr lang="en-MY" sz="40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GB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oto Sans Symbols"/>
              </a:rPr>
              <a:t>Software engineering profession and ethics </a:t>
            </a:r>
            <a:endParaRPr lang="en-MY" sz="40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endParaRPr dirty="0"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dirty="0"/>
              <a:t>	</a:t>
            </a: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112" name="Google Shape;112;p2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113" name="Google Shape;113;p2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114" name="Google Shape;114;p2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Learning Outcome </a:t>
            </a:r>
            <a:endParaRPr dirty="0"/>
          </a:p>
        </p:txBody>
      </p:sp>
      <p:sp>
        <p:nvSpPr>
          <p:cNvPr id="121" name="Google Shape;121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dirty="0"/>
              <a:t>At the end of this topic, you should be able:</a:t>
            </a:r>
            <a:endParaRPr sz="2800" dirty="0"/>
          </a:p>
          <a:p>
            <a:pPr marL="514350" lvl="0" indent="-5143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2000" dirty="0"/>
              <a:t>Define software engineering and describe its role within the broader field of technology.</a:t>
            </a:r>
          </a:p>
          <a:p>
            <a:pPr marL="514350" lvl="0" indent="-5143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2000" dirty="0"/>
              <a:t>Explain software engineering as a layered technology, understanding the importance of quality focus, process, methods, and tools in SE.</a:t>
            </a:r>
          </a:p>
          <a:p>
            <a:pPr marL="514350" lvl="0" indent="-5143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2000" dirty="0"/>
              <a:t>Students will also analyze examples of software failure, recognizing the characteristics that contribute to failure and the inherent difficulties in software engineering, such as complexity and uncertainty.</a:t>
            </a:r>
          </a:p>
          <a:p>
            <a:pPr marL="514350" lvl="0" indent="-5143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2000" dirty="0"/>
              <a:t>Categorize the different types of software and discuss their various purposes and characteristics.</a:t>
            </a:r>
          </a:p>
          <a:p>
            <a:pPr marL="514350" lvl="0" indent="-5143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sz="2000" dirty="0"/>
              <a:t>Understand the responsibilities and ethical considerations within the software engineering profession, including adherence to ethical standards and codes of conduct.</a:t>
            </a:r>
            <a:endParaRPr sz="2800" dirty="0"/>
          </a:p>
        </p:txBody>
      </p:sp>
      <p:sp>
        <p:nvSpPr>
          <p:cNvPr id="122" name="Google Shape;122;p3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123" name="Google Shape;123;p3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124" name="Google Shape;124;p3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702709C-4785-ECE0-2A5B-0BA2C4490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oto Sans Symbols"/>
              </a:rPr>
              <a:t>What is software engineering? </a:t>
            </a:r>
            <a:br>
              <a:rPr lang="en-GB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oto Sans Symbols"/>
              </a:rPr>
            </a:br>
            <a:endParaRPr lang="en-MY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0710FF-C67C-97DE-77C3-DC5D944A8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68C39-81E1-9DB1-8746-26C487CBBA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899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"/>
          <p:cNvSpPr txBox="1">
            <a:spLocks noGrp="1"/>
          </p:cNvSpPr>
          <p:nvPr>
            <p:ph type="body" idx="2"/>
          </p:nvPr>
        </p:nvSpPr>
        <p:spPr>
          <a:xfrm>
            <a:off x="282678" y="1541352"/>
            <a:ext cx="4060722" cy="458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u="sng"/>
              <a:t>Computer science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- The study of computation &amp; information processing, both in hardware and software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- The discipline concerned with developing large applications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u="sng"/>
              <a:t>Software engineering 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- Covers not only the technical aspects of building software systems, but also management issues, such as directing programming teams, scheduling, and budgeting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</p:txBody>
      </p:sp>
      <p:sp>
        <p:nvSpPr>
          <p:cNvPr id="315" name="Google Shape;315;p20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316" name="Google Shape;316;p20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317" name="Google Shape;317;p20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318" name="Google Shape;318;p20"/>
          <p:cNvSpPr txBox="1"/>
          <p:nvPr/>
        </p:nvSpPr>
        <p:spPr>
          <a:xfrm>
            <a:off x="282678" y="5975866"/>
            <a:ext cx="876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Source : Agarwal, U. (2012).  Software Engineering, Kataria and Sons. </a:t>
            </a:r>
            <a:endParaRPr sz="1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2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191000" y="1541352"/>
            <a:ext cx="4724400" cy="4434514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0"/>
          <p:cNvSpPr/>
          <p:nvPr/>
        </p:nvSpPr>
        <p:spPr>
          <a:xfrm>
            <a:off x="282678" y="-93512"/>
            <a:ext cx="8480322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Computer Science vs.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Software Engineering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0112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Software Engineering vs. </a:t>
            </a:r>
            <a:br>
              <a:rPr lang="en-US"/>
            </a:br>
            <a:r>
              <a:rPr lang="en-US"/>
              <a:t>Software Programming</a:t>
            </a:r>
            <a:endParaRPr/>
          </a:p>
        </p:txBody>
      </p:sp>
      <p:sp>
        <p:nvSpPr>
          <p:cNvPr id="326" name="Google Shape;326;p21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327" name="Google Shape;327;p21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328" name="Google Shape;328;p21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graphicFrame>
        <p:nvGraphicFramePr>
          <p:cNvPr id="329" name="Google Shape;329;p21"/>
          <p:cNvGraphicFramePr/>
          <p:nvPr/>
        </p:nvGraphicFramePr>
        <p:xfrm>
          <a:off x="457200" y="1600200"/>
          <a:ext cx="8229600" cy="4236300"/>
        </p:xfrm>
        <a:graphic>
          <a:graphicData uri="http://schemas.openxmlformats.org/drawingml/2006/table">
            <a:tbl>
              <a:tblPr firstRow="1" firstCol="1" bandRow="1">
                <a:noFill/>
                <a:tableStyleId>{0E43E922-DCC8-490A-AD59-0495A787ED80}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Software Programming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Software Engineering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Single developer</a:t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Teams of developers with multiple roles</a:t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“Toy” applications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Complex systems</a:t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Short lifespan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Indefinite lifespan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One-of-a-kind systems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System families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Built from scratch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May be reused to reduce costs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9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Minimal maintenance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Arial"/>
                          <a:ea typeface="Arial"/>
                          <a:cs typeface="Arial"/>
                          <a:sym typeface="Arial"/>
                        </a:rPr>
                        <a:t>Maintenance accounts for over 60% of overall development costs</a:t>
                      </a:r>
                      <a:endParaRPr sz="2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751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Software Engineering Definition</a:t>
            </a:r>
            <a:endParaRPr/>
          </a:p>
        </p:txBody>
      </p:sp>
      <p:sp>
        <p:nvSpPr>
          <p:cNvPr id="162" name="Google Shape;162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Software engineering is an </a:t>
            </a:r>
            <a:r>
              <a:rPr lang="en-US" b="1" dirty="0">
                <a:solidFill>
                  <a:srgbClr val="C00000"/>
                </a:solidFill>
              </a:rPr>
              <a:t>engineering discipline</a:t>
            </a:r>
            <a:r>
              <a:rPr lang="en-US" dirty="0"/>
              <a:t> that is concerned with all aspects of </a:t>
            </a:r>
            <a:r>
              <a:rPr lang="en-US" b="1" dirty="0">
                <a:solidFill>
                  <a:srgbClr val="C00000"/>
                </a:solidFill>
              </a:rPr>
              <a:t>software production</a:t>
            </a:r>
            <a:r>
              <a:rPr lang="en-US" dirty="0"/>
              <a:t>.</a:t>
            </a: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“The application of a systematic, disciplines, quantifiable approach to the development, operation, and maintenance of software; that is the application of engineering to software.” (IEEE, 1993)</a:t>
            </a: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163" name="Google Shape;163;p7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164" name="Google Shape;164;p7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165" name="Google Shape;165;p7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62200" y="4120991"/>
            <a:ext cx="4191000" cy="227361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Importance of Software Engineering</a:t>
            </a:r>
            <a:endParaRPr/>
          </a:p>
        </p:txBody>
      </p:sp>
      <p:sp>
        <p:nvSpPr>
          <p:cNvPr id="131" name="Google Shape;131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Software engineering is important because software is needed in almost every industry, business and transactions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If an application fails; a fast, efficient, and effective fix needs to happen as soon as possible</a:t>
            </a:r>
            <a:endParaRPr/>
          </a:p>
        </p:txBody>
      </p:sp>
      <p:sp>
        <p:nvSpPr>
          <p:cNvPr id="132" name="Google Shape;132;p4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133" name="Google Shape;133;p4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134" name="Google Shape;134;p4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Software Engineering Costs</a:t>
            </a:r>
            <a:endParaRPr/>
          </a:p>
        </p:txBody>
      </p:sp>
      <p:sp>
        <p:nvSpPr>
          <p:cNvPr id="140" name="Google Shape;140;p5"/>
          <p:cNvSpPr txBox="1">
            <a:spLocks noGrp="1"/>
          </p:cNvSpPr>
          <p:nvPr>
            <p:ph type="body" idx="1"/>
          </p:nvPr>
        </p:nvSpPr>
        <p:spPr>
          <a:xfrm>
            <a:off x="304800" y="1600200"/>
            <a:ext cx="8610600" cy="2307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600"/>
              <a:t>Software costs are often greater than that of hardware</a:t>
            </a:r>
            <a:endParaRPr sz="2600">
              <a:solidFill>
                <a:srgbClr val="000000"/>
              </a:solidFill>
            </a:endParaRPr>
          </a:p>
          <a:p>
            <a:pPr marL="342900" lvl="0" indent="-342900" algn="l" rtl="0">
              <a:spcBef>
                <a:spcPts val="481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2600">
                <a:solidFill>
                  <a:srgbClr val="000000"/>
                </a:solidFill>
              </a:rPr>
              <a:t>Software costs more to maintain than it does to develop</a:t>
            </a:r>
            <a:endParaRPr/>
          </a:p>
          <a:p>
            <a:pPr marL="342900" lvl="0" indent="-342900" algn="l" rtl="0">
              <a:spcBef>
                <a:spcPts val="481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2600">
                <a:solidFill>
                  <a:srgbClr val="000000"/>
                </a:solidFill>
              </a:rPr>
              <a:t>For systems with a long life, </a:t>
            </a:r>
            <a:r>
              <a:rPr lang="en-US" sz="2600" b="1">
                <a:solidFill>
                  <a:srgbClr val="C00000"/>
                </a:solidFill>
              </a:rPr>
              <a:t>maintenance costs </a:t>
            </a:r>
            <a:r>
              <a:rPr lang="en-US" sz="2600">
                <a:solidFill>
                  <a:srgbClr val="000000"/>
                </a:solidFill>
              </a:rPr>
              <a:t>may be several times higher than development costs</a:t>
            </a:r>
            <a:endParaRPr sz="2600"/>
          </a:p>
          <a:p>
            <a:pPr marL="342900" lvl="0" indent="-342900" algn="l" rtl="0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600"/>
              <a:t>Therefore software engineering is concerned with </a:t>
            </a:r>
            <a:r>
              <a:rPr lang="en-US" sz="2600" b="1">
                <a:solidFill>
                  <a:srgbClr val="C00000"/>
                </a:solidFill>
              </a:rPr>
              <a:t>cost-effective </a:t>
            </a:r>
            <a:r>
              <a:rPr lang="en-US" sz="2600"/>
              <a:t>software development</a:t>
            </a:r>
            <a:endParaRPr/>
          </a:p>
        </p:txBody>
      </p:sp>
      <p:sp>
        <p:nvSpPr>
          <p:cNvPr id="141" name="Google Shape;141;p5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142" name="Google Shape;142;p5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143" name="Google Shape;143;p5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44" name="Google Shape;14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358" y="3845687"/>
            <a:ext cx="3792979" cy="229290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 txBox="1"/>
          <p:nvPr/>
        </p:nvSpPr>
        <p:spPr>
          <a:xfrm>
            <a:off x="-16042" y="6076208"/>
            <a:ext cx="50408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source: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http://cerescontrols.com/tutorials-3/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57699" y="3879998"/>
            <a:ext cx="4463118" cy="2292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Software Engineering in Software Development</a:t>
            </a:r>
            <a:endParaRPr/>
          </a:p>
        </p:txBody>
      </p:sp>
      <p:sp>
        <p:nvSpPr>
          <p:cNvPr id="152" name="Google Shape;152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Software engineering is concerned with </a:t>
            </a:r>
            <a:r>
              <a:rPr lang="en-US" sz="2800" b="1">
                <a:solidFill>
                  <a:srgbClr val="C00000"/>
                </a:solidFill>
              </a:rPr>
              <a:t>theories</a:t>
            </a:r>
            <a:r>
              <a:rPr lang="en-US" sz="2800"/>
              <a:t>, </a:t>
            </a:r>
            <a:r>
              <a:rPr lang="en-US" sz="2800" b="1">
                <a:solidFill>
                  <a:srgbClr val="C00000"/>
                </a:solidFill>
              </a:rPr>
              <a:t>methods</a:t>
            </a:r>
            <a:r>
              <a:rPr lang="en-US" sz="2800"/>
              <a:t> and </a:t>
            </a:r>
            <a:r>
              <a:rPr lang="en-US" sz="2800" b="1">
                <a:solidFill>
                  <a:srgbClr val="C00000"/>
                </a:solidFill>
              </a:rPr>
              <a:t>tools</a:t>
            </a:r>
            <a:r>
              <a:rPr lang="en-US" sz="2800"/>
              <a:t> for professional software development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Software engineers should adopt a </a:t>
            </a:r>
            <a:r>
              <a:rPr lang="en-US" sz="2800" b="1">
                <a:solidFill>
                  <a:srgbClr val="C00000"/>
                </a:solidFill>
              </a:rPr>
              <a:t>systematic</a:t>
            </a:r>
            <a:r>
              <a:rPr lang="en-US" sz="2800"/>
              <a:t> and </a:t>
            </a:r>
            <a:r>
              <a:rPr lang="en-US" sz="2800" b="1">
                <a:solidFill>
                  <a:srgbClr val="C00000"/>
                </a:solidFill>
              </a:rPr>
              <a:t>organised approach </a:t>
            </a:r>
            <a:r>
              <a:rPr lang="en-US" sz="2800"/>
              <a:t>to their work and use appropriate tools and techniques depending on the problem to be solved, the development constraints and the resources available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/>
          </a:p>
        </p:txBody>
      </p:sp>
      <p:sp>
        <p:nvSpPr>
          <p:cNvPr id="153" name="Google Shape;153;p6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154" name="Google Shape;154;p6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155" name="Google Shape;155;p6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5DE75-4E91-75FA-6CBF-C98AAA7B6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B3A744-6267-3B00-89C7-92C8C7296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US" sz="4000" dirty="0">
                <a:effectLst/>
                <a:latin typeface="Noto Sans Symbols"/>
                <a:ea typeface="Noto Sans Symbols"/>
                <a:cs typeface="Noto Sans Symbols"/>
              </a:rPr>
              <a:t>Software engineering as a layered technology</a:t>
            </a:r>
            <a:endParaRPr lang="en-MY" sz="4000" dirty="0">
              <a:effectLst/>
              <a:latin typeface="Noto Sans Symbols"/>
              <a:ea typeface="Noto Sans Symbols"/>
              <a:cs typeface="Noto Sans Symbol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20D30E-7317-0438-DC39-262A633E0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12882-4EFE-F7D9-A419-8B765CB73F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78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Software Engineering as a Layered Technology</a:t>
            </a:r>
            <a:endParaRPr/>
          </a:p>
        </p:txBody>
      </p:sp>
      <p:pic>
        <p:nvPicPr>
          <p:cNvPr id="172" name="Google Shape;172;p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978741"/>
            <a:ext cx="3666203" cy="307699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 txBox="1">
            <a:spLocks noGrp="1"/>
          </p:cNvSpPr>
          <p:nvPr>
            <p:ph type="body" idx="2"/>
          </p:nvPr>
        </p:nvSpPr>
        <p:spPr>
          <a:xfrm>
            <a:off x="3657600" y="1491114"/>
            <a:ext cx="5257800" cy="4452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2000"/>
              <a:buChar char="•"/>
            </a:pPr>
            <a:r>
              <a:rPr lang="en-US" sz="2000" b="1">
                <a:solidFill>
                  <a:srgbClr val="366092"/>
                </a:solidFill>
              </a:rPr>
              <a:t>Quality Focus: </a:t>
            </a:r>
            <a:r>
              <a:rPr lang="en-US" sz="2000"/>
              <a:t>The bedrock that supports software engineering is quality focus where it ensures continuous process improvement culture.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366092"/>
              </a:buClr>
              <a:buSzPts val="2000"/>
              <a:buChar char="•"/>
            </a:pPr>
            <a:r>
              <a:rPr lang="en-US" sz="2000" b="1">
                <a:solidFill>
                  <a:srgbClr val="366092"/>
                </a:solidFill>
              </a:rPr>
              <a:t>Process:</a:t>
            </a:r>
            <a:r>
              <a:rPr lang="en-US" sz="2000"/>
              <a:t>Foundation for software engineering which enables rational and timely development of computer software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366092"/>
              </a:buClr>
              <a:buSzPts val="2000"/>
              <a:buChar char="•"/>
            </a:pPr>
            <a:r>
              <a:rPr lang="en-US" sz="2000" b="1">
                <a:solidFill>
                  <a:srgbClr val="366092"/>
                </a:solidFill>
              </a:rPr>
              <a:t>Methods:</a:t>
            </a:r>
            <a:r>
              <a:rPr lang="en-US" sz="2000"/>
              <a:t> provide technical how to’s for building software. Involve different tasks including requirements analysis, design, program construction, testing and support. Methods also include modeling activities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366092"/>
              </a:buClr>
              <a:buSzPts val="2000"/>
              <a:buChar char="•"/>
            </a:pPr>
            <a:r>
              <a:rPr lang="en-US" sz="2000" b="1">
                <a:solidFill>
                  <a:srgbClr val="366092"/>
                </a:solidFill>
              </a:rPr>
              <a:t>Tools: </a:t>
            </a:r>
            <a:r>
              <a:rPr lang="en-US" sz="2000"/>
              <a:t>provide automated or semi-automated support for the process and methods</a:t>
            </a:r>
            <a:endParaRPr/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</p:txBody>
      </p:sp>
      <p:sp>
        <p:nvSpPr>
          <p:cNvPr id="174" name="Google Shape;174;p8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175" name="Google Shape;175;p8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176" name="Google Shape;176;p8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38100" y="5685186"/>
            <a:ext cx="89154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Source: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Agarwal, U. (2019).  Software Engineering, Kataria and Sons. 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https://www.geeksforgeeks.org/layered-technology-in-software-engineering/</a:t>
            </a:r>
            <a:endParaRPr/>
          </a:p>
        </p:txBody>
      </p:sp>
      <p:sp>
        <p:nvSpPr>
          <p:cNvPr id="178" name="Google Shape;178;p8"/>
          <p:cNvSpPr txBox="1"/>
          <p:nvPr/>
        </p:nvSpPr>
        <p:spPr>
          <a:xfrm>
            <a:off x="152400" y="5136248"/>
            <a:ext cx="3666203" cy="52322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The layered technology will be the focus in this lecture and throughout the semester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301E2-572F-DD69-E587-6B4407B1A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59C727F-C3AB-057F-F0BA-9F040E8C9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en-GB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oto Sans Symbols"/>
              </a:rPr>
              <a:t>Types of Software</a:t>
            </a:r>
            <a:endParaRPr lang="en-MY" sz="4000" dirty="0">
              <a:effectLst/>
              <a:latin typeface="Noto Sans Symbols"/>
              <a:ea typeface="Noto Sans Symbols"/>
              <a:cs typeface="Noto Sans Symbol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7760F3-7C67-185F-ECE8-66D13B11C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B0898-D430-F48B-C30B-5D02FF266C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330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Generic and Customized Products</a:t>
            </a:r>
            <a:endParaRPr dirty="0"/>
          </a:p>
        </p:txBody>
      </p:sp>
      <p:sp>
        <p:nvSpPr>
          <p:cNvPr id="184" name="Google Shape;184;p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Generic Products</a:t>
            </a:r>
            <a:endParaRPr/>
          </a:p>
        </p:txBody>
      </p:sp>
      <p:sp>
        <p:nvSpPr>
          <p:cNvPr id="185" name="Google Shape;185;p9"/>
          <p:cNvSpPr txBox="1">
            <a:spLocks noGrp="1"/>
          </p:cNvSpPr>
          <p:nvPr>
            <p:ph type="body" idx="2"/>
          </p:nvPr>
        </p:nvSpPr>
        <p:spPr>
          <a:xfrm>
            <a:off x="457200" y="2262653"/>
            <a:ext cx="4040188" cy="422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Stand-alone systems that are marketed and sold to any customer who wishes to buy them.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Examples – PC software such as graphics programs, project management tools; CAD software; software for specific markets such as appointments systems for dentists.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specification of what the software should do is owned by the software developer and decisions on software change are made by the developer.</a:t>
            </a:r>
            <a:endParaRPr/>
          </a:p>
          <a:p>
            <a:pPr marL="742950" lvl="1" indent="-156527" algn="l" rtl="0">
              <a:lnSpc>
                <a:spcPct val="80000"/>
              </a:lnSpc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200"/>
          </a:p>
          <a:p>
            <a:pPr marL="457200" lvl="1" indent="0" algn="l" rtl="0">
              <a:lnSpc>
                <a:spcPct val="80000"/>
              </a:lnSpc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200"/>
          </a:p>
          <a:p>
            <a:pPr marL="0" lvl="0" indent="0" algn="l" rtl="0"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200"/>
          </a:p>
        </p:txBody>
      </p:sp>
      <p:sp>
        <p:nvSpPr>
          <p:cNvPr id="186" name="Google Shape;186;p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Customized Products</a:t>
            </a:r>
            <a:endParaRPr/>
          </a:p>
        </p:txBody>
      </p:sp>
      <p:sp>
        <p:nvSpPr>
          <p:cNvPr id="187" name="Google Shape;187;p9"/>
          <p:cNvSpPr txBox="1">
            <a:spLocks noGrp="1"/>
          </p:cNvSpPr>
          <p:nvPr>
            <p:ph type="body" idx="4"/>
          </p:nvPr>
        </p:nvSpPr>
        <p:spPr>
          <a:xfrm>
            <a:off x="4645025" y="2262653"/>
            <a:ext cx="4041775" cy="414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Software that is commissioned by a specific customer to meet their own needs. 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Examples – embedded control systems, air traffic control software, traffic monitoring systems.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specification of what the software should do is owned by the customer for the software and they make decisions on software changes that are required.</a:t>
            </a:r>
            <a:endParaRPr/>
          </a:p>
          <a:p>
            <a:pPr marL="342900" lvl="1" indent="-2032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endParaRPr sz="2200"/>
          </a:p>
          <a:p>
            <a:pPr marL="342900" lvl="0" indent="-2032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</p:txBody>
      </p:sp>
      <p:sp>
        <p:nvSpPr>
          <p:cNvPr id="188" name="Google Shape;188;p9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189" name="Google Shape;189;p9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190" name="Google Shape;190;p9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 txBox="1">
            <a:spLocks noGrp="1"/>
          </p:cNvSpPr>
          <p:nvPr>
            <p:ph type="title"/>
          </p:nvPr>
        </p:nvSpPr>
        <p:spPr>
          <a:xfrm>
            <a:off x="538881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Software Engineering Diversity: </a:t>
            </a:r>
            <a:br>
              <a:rPr lang="en-US"/>
            </a:br>
            <a:r>
              <a:rPr lang="en-US"/>
              <a:t>Types of Software</a:t>
            </a:r>
            <a:endParaRPr/>
          </a:p>
        </p:txBody>
      </p:sp>
      <p:sp>
        <p:nvSpPr>
          <p:cNvPr id="196" name="Google Shape;196;p10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197" name="Google Shape;197;p10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198" name="Google Shape;198;p10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grpSp>
        <p:nvGrpSpPr>
          <p:cNvPr id="199" name="Google Shape;199;p10"/>
          <p:cNvGrpSpPr/>
          <p:nvPr/>
        </p:nvGrpSpPr>
        <p:grpSpPr>
          <a:xfrm>
            <a:off x="2049794" y="1575475"/>
            <a:ext cx="4325944" cy="4268788"/>
            <a:chOff x="2049794" y="1575475"/>
            <a:chExt cx="4325944" cy="4268788"/>
          </a:xfrm>
        </p:grpSpPr>
        <p:sp>
          <p:nvSpPr>
            <p:cNvPr id="200" name="Google Shape;200;p10"/>
            <p:cNvSpPr txBox="1"/>
            <p:nvPr/>
          </p:nvSpPr>
          <p:spPr>
            <a:xfrm>
              <a:off x="3624661" y="3390191"/>
              <a:ext cx="1180644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Types of 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FF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Software</a:t>
              </a:r>
              <a:endParaRPr sz="1800" b="1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201" name="Google Shape;201;p10"/>
            <p:cNvSpPr/>
            <p:nvPr/>
          </p:nvSpPr>
          <p:spPr>
            <a:xfrm>
              <a:off x="2706856" y="1575475"/>
              <a:ext cx="1682750" cy="1465263"/>
            </a:xfrm>
            <a:custGeom>
              <a:avLst/>
              <a:gdLst/>
              <a:ahLst/>
              <a:cxnLst/>
              <a:rect l="l" t="t" r="r" b="b"/>
              <a:pathLst>
                <a:path w="930" h="809" extrusionOk="0">
                  <a:moveTo>
                    <a:pt x="834" y="203"/>
                  </a:moveTo>
                  <a:cubicBezTo>
                    <a:pt x="834" y="0"/>
                    <a:pt x="834" y="0"/>
                    <a:pt x="834" y="0"/>
                  </a:cubicBezTo>
                  <a:cubicBezTo>
                    <a:pt x="508" y="0"/>
                    <a:pt x="214" y="132"/>
                    <a:pt x="0" y="345"/>
                  </a:cubicBezTo>
                  <a:cubicBezTo>
                    <a:pt x="464" y="809"/>
                    <a:pt x="464" y="809"/>
                    <a:pt x="464" y="809"/>
                  </a:cubicBezTo>
                  <a:cubicBezTo>
                    <a:pt x="559" y="714"/>
                    <a:pt x="689" y="656"/>
                    <a:pt x="834" y="656"/>
                  </a:cubicBezTo>
                  <a:cubicBezTo>
                    <a:pt x="834" y="404"/>
                    <a:pt x="834" y="404"/>
                    <a:pt x="834" y="404"/>
                  </a:cubicBezTo>
                  <a:cubicBezTo>
                    <a:pt x="930" y="307"/>
                    <a:pt x="930" y="307"/>
                    <a:pt x="930" y="307"/>
                  </a:cubicBezTo>
                  <a:lnTo>
                    <a:pt x="834" y="203"/>
                  </a:lnTo>
                  <a:close/>
                </a:path>
              </a:pathLst>
            </a:custGeom>
            <a:solidFill>
              <a:srgbClr val="558E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02" name="Google Shape;202;p10"/>
            <p:cNvSpPr/>
            <p:nvPr/>
          </p:nvSpPr>
          <p:spPr>
            <a:xfrm>
              <a:off x="2081381" y="2200950"/>
              <a:ext cx="1465263" cy="1508125"/>
            </a:xfrm>
            <a:custGeom>
              <a:avLst/>
              <a:gdLst/>
              <a:ahLst/>
              <a:cxnLst/>
              <a:rect l="l" t="t" r="r" b="b"/>
              <a:pathLst>
                <a:path w="809" h="834" extrusionOk="0">
                  <a:moveTo>
                    <a:pt x="0" y="834"/>
                  </a:moveTo>
                  <a:cubicBezTo>
                    <a:pt x="656" y="834"/>
                    <a:pt x="656" y="834"/>
                    <a:pt x="656" y="834"/>
                  </a:cubicBezTo>
                  <a:cubicBezTo>
                    <a:pt x="656" y="700"/>
                    <a:pt x="707" y="566"/>
                    <a:pt x="809" y="464"/>
                  </a:cubicBezTo>
                  <a:cubicBezTo>
                    <a:pt x="631" y="286"/>
                    <a:pt x="631" y="286"/>
                    <a:pt x="631" y="286"/>
                  </a:cubicBezTo>
                  <a:cubicBezTo>
                    <a:pt x="626" y="145"/>
                    <a:pt x="626" y="145"/>
                    <a:pt x="626" y="145"/>
                  </a:cubicBezTo>
                  <a:cubicBezTo>
                    <a:pt x="489" y="144"/>
                    <a:pt x="489" y="144"/>
                    <a:pt x="489" y="144"/>
                  </a:cubicBezTo>
                  <a:cubicBezTo>
                    <a:pt x="345" y="0"/>
                    <a:pt x="345" y="0"/>
                    <a:pt x="345" y="0"/>
                  </a:cubicBezTo>
                  <a:cubicBezTo>
                    <a:pt x="115" y="230"/>
                    <a:pt x="0" y="532"/>
                    <a:pt x="0" y="834"/>
                  </a:cubicBezTo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03" name="Google Shape;203;p10"/>
            <p:cNvSpPr/>
            <p:nvPr/>
          </p:nvSpPr>
          <p:spPr>
            <a:xfrm>
              <a:off x="2081381" y="3536038"/>
              <a:ext cx="1465263" cy="1682750"/>
            </a:xfrm>
            <a:custGeom>
              <a:avLst/>
              <a:gdLst/>
              <a:ahLst/>
              <a:cxnLst/>
              <a:rect l="l" t="t" r="r" b="b"/>
              <a:pathLst>
                <a:path w="809" h="930" extrusionOk="0">
                  <a:moveTo>
                    <a:pt x="345" y="930"/>
                  </a:moveTo>
                  <a:cubicBezTo>
                    <a:pt x="809" y="466"/>
                    <a:pt x="809" y="466"/>
                    <a:pt x="809" y="466"/>
                  </a:cubicBezTo>
                  <a:cubicBezTo>
                    <a:pt x="714" y="371"/>
                    <a:pt x="656" y="240"/>
                    <a:pt x="656" y="96"/>
                  </a:cubicBezTo>
                  <a:cubicBezTo>
                    <a:pt x="404" y="96"/>
                    <a:pt x="404" y="96"/>
                    <a:pt x="404" y="96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204" y="96"/>
                    <a:pt x="204" y="96"/>
                    <a:pt x="204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421"/>
                    <a:pt x="132" y="716"/>
                    <a:pt x="345" y="930"/>
                  </a:cubicBezTo>
                </a:path>
              </a:pathLst>
            </a:custGeom>
            <a:solidFill>
              <a:srgbClr val="CC33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04" name="Google Shape;204;p10"/>
            <p:cNvSpPr/>
            <p:nvPr/>
          </p:nvSpPr>
          <p:spPr>
            <a:xfrm>
              <a:off x="2706856" y="4379000"/>
              <a:ext cx="1508125" cy="1465263"/>
            </a:xfrm>
            <a:custGeom>
              <a:avLst/>
              <a:gdLst/>
              <a:ahLst/>
              <a:cxnLst/>
              <a:rect l="l" t="t" r="r" b="b"/>
              <a:pathLst>
                <a:path w="834" h="809" extrusionOk="0">
                  <a:moveTo>
                    <a:pt x="834" y="809"/>
                  </a:moveTo>
                  <a:cubicBezTo>
                    <a:pt x="834" y="153"/>
                    <a:pt x="834" y="153"/>
                    <a:pt x="834" y="153"/>
                  </a:cubicBezTo>
                  <a:cubicBezTo>
                    <a:pt x="700" y="153"/>
                    <a:pt x="566" y="102"/>
                    <a:pt x="464" y="0"/>
                  </a:cubicBezTo>
                  <a:cubicBezTo>
                    <a:pt x="286" y="177"/>
                    <a:pt x="286" y="177"/>
                    <a:pt x="286" y="177"/>
                  </a:cubicBezTo>
                  <a:cubicBezTo>
                    <a:pt x="146" y="183"/>
                    <a:pt x="146" y="183"/>
                    <a:pt x="146" y="183"/>
                  </a:cubicBezTo>
                  <a:cubicBezTo>
                    <a:pt x="144" y="320"/>
                    <a:pt x="144" y="320"/>
                    <a:pt x="144" y="320"/>
                  </a:cubicBezTo>
                  <a:cubicBezTo>
                    <a:pt x="0" y="464"/>
                    <a:pt x="0" y="464"/>
                    <a:pt x="0" y="464"/>
                  </a:cubicBezTo>
                  <a:cubicBezTo>
                    <a:pt x="230" y="694"/>
                    <a:pt x="532" y="809"/>
                    <a:pt x="834" y="809"/>
                  </a:cubicBezTo>
                </a:path>
              </a:pathLst>
            </a:custGeom>
            <a:solidFill>
              <a:srgbClr val="0099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05" name="Google Shape;205;p10"/>
            <p:cNvSpPr/>
            <p:nvPr/>
          </p:nvSpPr>
          <p:spPr>
            <a:xfrm>
              <a:off x="4041944" y="4379000"/>
              <a:ext cx="1682750" cy="1465263"/>
            </a:xfrm>
            <a:custGeom>
              <a:avLst/>
              <a:gdLst/>
              <a:ahLst/>
              <a:cxnLst/>
              <a:rect l="l" t="t" r="r" b="b"/>
              <a:pathLst>
                <a:path w="930" h="809" extrusionOk="0">
                  <a:moveTo>
                    <a:pt x="930" y="464"/>
                  </a:moveTo>
                  <a:cubicBezTo>
                    <a:pt x="466" y="0"/>
                    <a:pt x="466" y="0"/>
                    <a:pt x="466" y="0"/>
                  </a:cubicBezTo>
                  <a:cubicBezTo>
                    <a:pt x="371" y="94"/>
                    <a:pt x="240" y="153"/>
                    <a:pt x="96" y="153"/>
                  </a:cubicBezTo>
                  <a:cubicBezTo>
                    <a:pt x="96" y="404"/>
                    <a:pt x="96" y="404"/>
                    <a:pt x="96" y="404"/>
                  </a:cubicBezTo>
                  <a:cubicBezTo>
                    <a:pt x="0" y="508"/>
                    <a:pt x="0" y="508"/>
                    <a:pt x="0" y="508"/>
                  </a:cubicBezTo>
                  <a:cubicBezTo>
                    <a:pt x="96" y="605"/>
                    <a:pt x="96" y="605"/>
                    <a:pt x="96" y="605"/>
                  </a:cubicBezTo>
                  <a:cubicBezTo>
                    <a:pt x="96" y="809"/>
                    <a:pt x="96" y="809"/>
                    <a:pt x="96" y="809"/>
                  </a:cubicBezTo>
                  <a:cubicBezTo>
                    <a:pt x="422" y="809"/>
                    <a:pt x="716" y="677"/>
                    <a:pt x="930" y="464"/>
                  </a:cubicBezTo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06" name="Google Shape;206;p10"/>
            <p:cNvSpPr/>
            <p:nvPr/>
          </p:nvSpPr>
          <p:spPr>
            <a:xfrm>
              <a:off x="4884906" y="3709075"/>
              <a:ext cx="1465263" cy="1509713"/>
            </a:xfrm>
            <a:custGeom>
              <a:avLst/>
              <a:gdLst/>
              <a:ahLst/>
              <a:cxnLst/>
              <a:rect l="l" t="t" r="r" b="b"/>
              <a:pathLst>
                <a:path w="809" h="834" extrusionOk="0">
                  <a:moveTo>
                    <a:pt x="320" y="690"/>
                  </a:moveTo>
                  <a:cubicBezTo>
                    <a:pt x="464" y="834"/>
                    <a:pt x="464" y="834"/>
                    <a:pt x="464" y="834"/>
                  </a:cubicBezTo>
                  <a:cubicBezTo>
                    <a:pt x="464" y="834"/>
                    <a:pt x="464" y="834"/>
                    <a:pt x="464" y="834"/>
                  </a:cubicBezTo>
                  <a:cubicBezTo>
                    <a:pt x="694" y="603"/>
                    <a:pt x="809" y="302"/>
                    <a:pt x="809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3" y="134"/>
                    <a:pt x="102" y="268"/>
                    <a:pt x="0" y="370"/>
                  </a:cubicBezTo>
                  <a:cubicBezTo>
                    <a:pt x="0" y="370"/>
                    <a:pt x="0" y="370"/>
                    <a:pt x="0" y="370"/>
                  </a:cubicBezTo>
                  <a:cubicBezTo>
                    <a:pt x="178" y="547"/>
                    <a:pt x="178" y="547"/>
                    <a:pt x="178" y="547"/>
                  </a:cubicBezTo>
                  <a:cubicBezTo>
                    <a:pt x="179" y="684"/>
                    <a:pt x="179" y="684"/>
                    <a:pt x="179" y="684"/>
                  </a:cubicBezTo>
                  <a:lnTo>
                    <a:pt x="320" y="690"/>
                  </a:lnTo>
                  <a:close/>
                </a:path>
              </a:pathLst>
            </a:custGeom>
            <a:solidFill>
              <a:srgbClr val="CC33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07" name="Google Shape;207;p10"/>
            <p:cNvSpPr/>
            <p:nvPr/>
          </p:nvSpPr>
          <p:spPr>
            <a:xfrm>
              <a:off x="4884906" y="2200950"/>
              <a:ext cx="1465263" cy="1681163"/>
            </a:xfrm>
            <a:custGeom>
              <a:avLst/>
              <a:gdLst/>
              <a:ahLst/>
              <a:cxnLst/>
              <a:rect l="l" t="t" r="r" b="b"/>
              <a:pathLst>
                <a:path w="809" h="929" extrusionOk="0">
                  <a:moveTo>
                    <a:pt x="605" y="834"/>
                  </a:moveTo>
                  <a:cubicBezTo>
                    <a:pt x="809" y="834"/>
                    <a:pt x="809" y="834"/>
                    <a:pt x="809" y="834"/>
                  </a:cubicBezTo>
                  <a:cubicBezTo>
                    <a:pt x="809" y="834"/>
                    <a:pt x="809" y="834"/>
                    <a:pt x="809" y="834"/>
                  </a:cubicBezTo>
                  <a:cubicBezTo>
                    <a:pt x="809" y="508"/>
                    <a:pt x="677" y="214"/>
                    <a:pt x="464" y="0"/>
                  </a:cubicBezTo>
                  <a:cubicBezTo>
                    <a:pt x="0" y="464"/>
                    <a:pt x="0" y="464"/>
                    <a:pt x="0" y="464"/>
                  </a:cubicBezTo>
                  <a:cubicBezTo>
                    <a:pt x="95" y="559"/>
                    <a:pt x="153" y="689"/>
                    <a:pt x="153" y="834"/>
                  </a:cubicBezTo>
                  <a:cubicBezTo>
                    <a:pt x="153" y="834"/>
                    <a:pt x="153" y="834"/>
                    <a:pt x="153" y="834"/>
                  </a:cubicBezTo>
                  <a:cubicBezTo>
                    <a:pt x="404" y="834"/>
                    <a:pt x="404" y="834"/>
                    <a:pt x="404" y="834"/>
                  </a:cubicBezTo>
                  <a:cubicBezTo>
                    <a:pt x="502" y="929"/>
                    <a:pt x="502" y="929"/>
                    <a:pt x="502" y="929"/>
                  </a:cubicBezTo>
                  <a:lnTo>
                    <a:pt x="605" y="834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grpSp>
          <p:nvGrpSpPr>
            <p:cNvPr id="208" name="Google Shape;208;p10"/>
            <p:cNvGrpSpPr/>
            <p:nvPr/>
          </p:nvGrpSpPr>
          <p:grpSpPr>
            <a:xfrm>
              <a:off x="4214981" y="1575475"/>
              <a:ext cx="1509713" cy="1465263"/>
              <a:chOff x="2481262" y="1034256"/>
              <a:chExt cx="1509713" cy="1465263"/>
            </a:xfrm>
          </p:grpSpPr>
          <p:sp>
            <p:nvSpPr>
              <p:cNvPr id="209" name="Google Shape;209;p10"/>
              <p:cNvSpPr/>
              <p:nvPr/>
            </p:nvSpPr>
            <p:spPr>
              <a:xfrm>
                <a:off x="2481262" y="1034256"/>
                <a:ext cx="1509713" cy="1465263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09" extrusionOk="0">
                    <a:moveTo>
                      <a:pt x="690" y="489"/>
                    </a:moveTo>
                    <a:cubicBezTo>
                      <a:pt x="834" y="345"/>
                      <a:pt x="834" y="345"/>
                      <a:pt x="834" y="345"/>
                    </a:cubicBezTo>
                    <a:cubicBezTo>
                      <a:pt x="834" y="345"/>
                      <a:pt x="834" y="345"/>
                      <a:pt x="834" y="345"/>
                    </a:cubicBezTo>
                    <a:cubicBezTo>
                      <a:pt x="603" y="115"/>
                      <a:pt x="302" y="0"/>
                      <a:pt x="0" y="0"/>
                    </a:cubicBezTo>
                    <a:cubicBezTo>
                      <a:pt x="0" y="656"/>
                      <a:pt x="0" y="656"/>
                      <a:pt x="0" y="656"/>
                    </a:cubicBezTo>
                    <a:cubicBezTo>
                      <a:pt x="134" y="656"/>
                      <a:pt x="268" y="707"/>
                      <a:pt x="370" y="809"/>
                    </a:cubicBezTo>
                    <a:cubicBezTo>
                      <a:pt x="370" y="809"/>
                      <a:pt x="370" y="809"/>
                      <a:pt x="370" y="809"/>
                    </a:cubicBezTo>
                    <a:cubicBezTo>
                      <a:pt x="548" y="631"/>
                      <a:pt x="548" y="631"/>
                      <a:pt x="548" y="631"/>
                    </a:cubicBezTo>
                    <a:cubicBezTo>
                      <a:pt x="684" y="630"/>
                      <a:pt x="684" y="630"/>
                      <a:pt x="684" y="630"/>
                    </a:cubicBezTo>
                    <a:lnTo>
                      <a:pt x="690" y="489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210" name="Google Shape;210;p10"/>
              <p:cNvSpPr/>
              <p:nvPr/>
            </p:nvSpPr>
            <p:spPr>
              <a:xfrm>
                <a:off x="3471862" y="1918494"/>
                <a:ext cx="257175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162" h="161" extrusionOk="0">
                    <a:moveTo>
                      <a:pt x="162" y="0"/>
                    </a:moveTo>
                    <a:lnTo>
                      <a:pt x="155" y="160"/>
                    </a:lnTo>
                    <a:lnTo>
                      <a:pt x="0" y="161"/>
                    </a:lnTo>
                    <a:lnTo>
                      <a:pt x="162" y="0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</p:grpSp>
        <p:sp>
          <p:nvSpPr>
            <p:cNvPr id="211" name="Google Shape;211;p10"/>
            <p:cNvSpPr txBox="1"/>
            <p:nvPr/>
          </p:nvSpPr>
          <p:spPr>
            <a:xfrm>
              <a:off x="2895600" y="1903761"/>
              <a:ext cx="1302088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System Software</a:t>
              </a:r>
              <a:endParaRPr/>
            </a:p>
          </p:txBody>
        </p:sp>
        <p:sp>
          <p:nvSpPr>
            <p:cNvPr id="212" name="Google Shape;212;p10"/>
            <p:cNvSpPr txBox="1"/>
            <p:nvPr/>
          </p:nvSpPr>
          <p:spPr>
            <a:xfrm>
              <a:off x="4330434" y="2047061"/>
              <a:ext cx="1302088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Real Time Software</a:t>
              </a:r>
              <a:endParaRPr/>
            </a:p>
          </p:txBody>
        </p:sp>
        <p:sp>
          <p:nvSpPr>
            <p:cNvPr id="213" name="Google Shape;213;p10"/>
            <p:cNvSpPr txBox="1"/>
            <p:nvPr/>
          </p:nvSpPr>
          <p:spPr>
            <a:xfrm>
              <a:off x="5073650" y="2937463"/>
              <a:ext cx="1302088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Embedded Software</a:t>
              </a:r>
              <a:endParaRPr/>
            </a:p>
          </p:txBody>
        </p:sp>
        <p:sp>
          <p:nvSpPr>
            <p:cNvPr id="214" name="Google Shape;214;p10"/>
            <p:cNvSpPr txBox="1"/>
            <p:nvPr/>
          </p:nvSpPr>
          <p:spPr>
            <a:xfrm>
              <a:off x="4981478" y="4050616"/>
              <a:ext cx="1302088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Business Software</a:t>
              </a:r>
              <a:endParaRPr/>
            </a:p>
          </p:txBody>
        </p:sp>
        <p:sp>
          <p:nvSpPr>
            <p:cNvPr id="215" name="Google Shape;215;p10"/>
            <p:cNvSpPr txBox="1"/>
            <p:nvPr/>
          </p:nvSpPr>
          <p:spPr>
            <a:xfrm>
              <a:off x="2113132" y="2829741"/>
              <a:ext cx="1302088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Systems for modeling and simulation</a:t>
              </a:r>
              <a:endParaRPr/>
            </a:p>
          </p:txBody>
        </p:sp>
        <p:sp>
          <p:nvSpPr>
            <p:cNvPr id="216" name="Google Shape;216;p10"/>
            <p:cNvSpPr txBox="1"/>
            <p:nvPr/>
          </p:nvSpPr>
          <p:spPr>
            <a:xfrm>
              <a:off x="2049794" y="3906031"/>
              <a:ext cx="1302088" cy="9541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Interactive Transaction Based Software</a:t>
              </a:r>
              <a:endParaRPr/>
            </a:p>
          </p:txBody>
        </p:sp>
        <p:sp>
          <p:nvSpPr>
            <p:cNvPr id="217" name="Google Shape;217;p10"/>
            <p:cNvSpPr txBox="1"/>
            <p:nvPr/>
          </p:nvSpPr>
          <p:spPr>
            <a:xfrm>
              <a:off x="2659936" y="4987955"/>
              <a:ext cx="1673563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Artificial Intelligence  Software</a:t>
              </a:r>
              <a:endParaRPr/>
            </a:p>
          </p:txBody>
        </p:sp>
        <p:sp>
          <p:nvSpPr>
            <p:cNvPr id="218" name="Google Shape;218;p10"/>
            <p:cNvSpPr txBox="1"/>
            <p:nvPr/>
          </p:nvSpPr>
          <p:spPr>
            <a:xfrm>
              <a:off x="4214981" y="4849456"/>
              <a:ext cx="1302088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Stand alone application</a:t>
              </a:r>
              <a:endParaRPr/>
            </a:p>
          </p:txBody>
        </p:sp>
      </p:grpSp>
      <p:sp>
        <p:nvSpPr>
          <p:cNvPr id="219" name="Google Shape;219;p10"/>
          <p:cNvSpPr txBox="1"/>
          <p:nvPr/>
        </p:nvSpPr>
        <p:spPr>
          <a:xfrm>
            <a:off x="242085" y="5867400"/>
            <a:ext cx="8763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Sources: Agarwal, U. (2019).  Software Engineering, Kataria and Sons.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              Sommerville, I. (2016). Software Engineering 10</a:t>
            </a:r>
            <a:r>
              <a:rPr lang="en-US" sz="1800" i="1" baseline="30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1800" i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edition, Pearson. </a:t>
            </a:r>
            <a:endParaRPr sz="1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Different Types of Software…</a:t>
            </a:r>
            <a:endParaRPr/>
          </a:p>
        </p:txBody>
      </p:sp>
      <p:sp>
        <p:nvSpPr>
          <p:cNvPr id="225" name="Google Shape;225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/>
              <a:t>System software</a:t>
            </a:r>
            <a:endParaRPr/>
          </a:p>
          <a:p>
            <a:pPr marL="711200" lvl="1" indent="-26193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To manage resources and provide clean interfaces to OS services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/>
              <a:t>Real-time software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monitors, analyzes, and controls real-world events as they occur in real-time; design efforts for this type of software is to guarantee the tasks complete within deadlines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Response time typically ranges from 1 millisecond to 1 second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/>
              <a:t>Business software</a:t>
            </a:r>
            <a:endParaRPr sz="2000"/>
          </a:p>
          <a:p>
            <a:pPr marL="796925" lvl="3" indent="-33972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Management information system (MIS) that accesses one or more databases containing business information (e.g. payroll, inventory)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/>
              <a:t>Embedded software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Runs on specific devices such as microwave ovens, washing machines, automobiles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software resides in read only memory and used to control products and systems for the consumer and industrial market</a:t>
            </a:r>
            <a:endParaRPr/>
          </a:p>
          <a:p>
            <a:pPr marL="914400" lvl="3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  <a:p>
            <a:pPr marL="34290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34290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</p:txBody>
      </p:sp>
      <p:sp>
        <p:nvSpPr>
          <p:cNvPr id="226" name="Google Shape;226;p11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227" name="Google Shape;227;p11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228" name="Google Shape;228;p11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Different Types of Software</a:t>
            </a:r>
            <a:endParaRPr/>
          </a:p>
        </p:txBody>
      </p:sp>
      <p:sp>
        <p:nvSpPr>
          <p:cNvPr id="234" name="Google Shape;234;p12"/>
          <p:cNvSpPr txBox="1">
            <a:spLocks noGrp="1"/>
          </p:cNvSpPr>
          <p:nvPr>
            <p:ph type="body" idx="1"/>
          </p:nvPr>
        </p:nvSpPr>
        <p:spPr>
          <a:xfrm>
            <a:off x="457200" y="1439678"/>
            <a:ext cx="8229600" cy="5120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/>
              <a:t>System for modeling and simulation</a:t>
            </a:r>
            <a:endParaRPr/>
          </a:p>
          <a:p>
            <a:pPr marL="914400" lvl="2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These are systems developed by scientist and engineers to model physical processes or situations, which often computationally intensive and require high-performance parallel systems for execution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/>
              <a:t>Stand alone application</a:t>
            </a:r>
            <a:endParaRPr/>
          </a:p>
          <a:p>
            <a:pPr marL="800100" lvl="2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Word processing, spreadsheets, computer graphics, multimedia, entertainment, personal and business financial applications, etc.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/>
              <a:t>Interactive transaction-based software </a:t>
            </a:r>
            <a:endParaRPr/>
          </a:p>
          <a:p>
            <a:pPr marL="857250" lvl="3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Applications that execute on a remote computer/server and accessed by users from their own devices that include web applications such as e-commerce that nowadays can be accessed as mobile applications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b="1"/>
              <a:t>Artificial intelligence software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Uses non-numerical algorithms to solve complex problems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Applications: robotics, expert systems, pattern recognition, adaptive control, game playing</a:t>
            </a:r>
            <a:endParaRPr/>
          </a:p>
          <a:p>
            <a:pPr marL="34290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</p:txBody>
      </p:sp>
      <p:sp>
        <p:nvSpPr>
          <p:cNvPr id="235" name="Google Shape;235;p12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236" name="Google Shape;236;p12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237" name="Google Shape;237;p12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1903-3997-3AAF-2F9C-E24CBF21A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dirty="0">
                <a:latin typeface="Calibri" panose="020F0502020204030204" pitchFamily="34" charset="0"/>
                <a:ea typeface="Calibri" panose="020F0502020204030204" pitchFamily="34" charset="0"/>
                <a:cs typeface="Noto Sans Symbols"/>
              </a:rPr>
              <a:t>S</a:t>
            </a:r>
            <a:r>
              <a:rPr lang="en-GB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oto Sans Symbols"/>
              </a:rPr>
              <a:t>oftware failure and </a:t>
            </a:r>
            <a:r>
              <a:rPr lang="en-GB" sz="4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Noto Sans Symbols"/>
              </a:rPr>
              <a:t>i</a:t>
            </a:r>
            <a:r>
              <a:rPr lang="en-US" sz="4000" dirty="0" err="1"/>
              <a:t>nherent</a:t>
            </a:r>
            <a:r>
              <a:rPr lang="en-US" sz="4000" dirty="0"/>
              <a:t> difficulties in software engineering</a:t>
            </a:r>
            <a:br>
              <a:rPr lang="en-US" sz="4000" dirty="0"/>
            </a:br>
            <a:endParaRPr lang="en-M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B7BCD-BD3A-3453-623D-785C12D37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9BE76-1C1F-1D9B-5499-2F235AD466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168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Software Complexity…</a:t>
            </a:r>
            <a:endParaRPr/>
          </a:p>
        </p:txBody>
      </p:sp>
      <p:sp>
        <p:nvSpPr>
          <p:cNvPr id="285" name="Google Shape;285;p17"/>
          <p:cNvSpPr txBox="1">
            <a:spLocks noGrp="1"/>
          </p:cNvSpPr>
          <p:nvPr>
            <p:ph type="body" idx="1"/>
          </p:nvPr>
        </p:nvSpPr>
        <p:spPr>
          <a:xfrm>
            <a:off x="457200" y="1439678"/>
            <a:ext cx="8229600" cy="4686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Ariane 5 rocket: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Its maiden flight on June 4, 1996 ended in the launcher being exploded because of a chain of software failures 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London Ambulance: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Because of a succession of software engineering failures the system was introduced that failed twice in the autumn of 1992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Although the monetary costed at “only” about £9m, was small by comparison with other examples, it is believed that PEOPLE DIED due to the ambulance do not come as promptly as they would 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London Stock Exchange (LSE):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The estimated loss to customers was around £450m and the damage to the reputation of the LSE was incalculable</a:t>
            </a:r>
            <a:endParaRPr/>
          </a:p>
        </p:txBody>
      </p:sp>
      <p:sp>
        <p:nvSpPr>
          <p:cNvPr id="286" name="Google Shape;286;p17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287" name="Google Shape;287;p17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288" name="Google Shape;288;p17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6450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LSE Example</a:t>
            </a:r>
            <a:endParaRPr/>
          </a:p>
        </p:txBody>
      </p:sp>
      <p:sp>
        <p:nvSpPr>
          <p:cNvPr id="294" name="Google Shape;294;p18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295" name="Google Shape;295;p18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296" name="Google Shape;296;p18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297" name="Google Shape;29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5899" y="108284"/>
            <a:ext cx="4286053" cy="617220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98" name="Google Shape;298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3000" y="2317866"/>
            <a:ext cx="4042322" cy="175303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99" name="Google Shape;299;p18"/>
          <p:cNvSpPr txBox="1"/>
          <p:nvPr/>
        </p:nvSpPr>
        <p:spPr>
          <a:xfrm>
            <a:off x="5105401" y="4648200"/>
            <a:ext cx="37338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Financial Times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https://www.ft.com/content/7c32d086-bff4-11e9-b350-db00d509634e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1977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03A29-22B7-5402-753F-17ECC480C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Crowdstrike</a:t>
            </a:r>
            <a:endParaRPr lang="en-MY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E2DDEF-8893-0649-D1B5-D0579D9527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B4B744-BB57-D198-1ED2-FF3116BC1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728354"/>
            <a:ext cx="9010680" cy="371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4562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Inherent Difficulties</a:t>
            </a:r>
            <a:endParaRPr/>
          </a:p>
        </p:txBody>
      </p:sp>
      <p:sp>
        <p:nvSpPr>
          <p:cNvPr id="243" name="Google Shape;243;p13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244" name="Google Shape;244;p13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245" name="Google Shape;245;p13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46" name="Google Shape;246;p13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8229600" cy="203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Software inherent difficulties include: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Software complexity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Software changeability</a:t>
            </a:r>
            <a:endParaRPr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247" name="Google Shape;24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9777" y="3429000"/>
            <a:ext cx="4192189" cy="29025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3"/>
          <p:cNvSpPr txBox="1"/>
          <p:nvPr/>
        </p:nvSpPr>
        <p:spPr>
          <a:xfrm>
            <a:off x="2590800" y="5921975"/>
            <a:ext cx="144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pautasso.info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Software Complexity…</a:t>
            </a:r>
            <a:endParaRPr/>
          </a:p>
        </p:txBody>
      </p:sp>
      <p:sp>
        <p:nvSpPr>
          <p:cNvPr id="254" name="Google Shape;254;p14"/>
          <p:cNvSpPr txBox="1">
            <a:spLocks noGrp="1"/>
          </p:cNvSpPr>
          <p:nvPr>
            <p:ph type="body" idx="1"/>
          </p:nvPr>
        </p:nvSpPr>
        <p:spPr>
          <a:xfrm>
            <a:off x="439994" y="2133600"/>
            <a:ext cx="4038600" cy="4039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 sz="2600">
                <a:solidFill>
                  <a:srgbClr val="C00000"/>
                </a:solidFill>
              </a:rPr>
              <a:t>No one really understands a large software product as a whole</a:t>
            </a:r>
            <a:endParaRPr/>
          </a:p>
          <a:p>
            <a:pPr marL="342900" lvl="0" indent="-342900" algn="l" rtl="0">
              <a:spcBef>
                <a:spcPts val="46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00"/>
              <a:t>faults in specifications are made simply  because of a lack of understanding of all aspects of the product</a:t>
            </a:r>
            <a:endParaRPr/>
          </a:p>
          <a:p>
            <a:pPr marL="342900" lvl="0" indent="-342900" algn="l" rtl="0">
              <a:spcBef>
                <a:spcPts val="46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00"/>
              <a:t>no matter how trivial, the various pieces of the product will interact</a:t>
            </a:r>
            <a:endParaRPr/>
          </a:p>
          <a:p>
            <a:pPr marL="342900" lvl="0" indent="-342900" algn="l" rtl="0">
              <a:spcBef>
                <a:spcPts val="465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00"/>
              <a:t>difficulty due to invisible nature of relationships and imperfect model of reality</a:t>
            </a:r>
            <a:endParaRPr/>
          </a:p>
          <a:p>
            <a:pPr marL="457200" lvl="1" indent="0" algn="l" rtl="0">
              <a:spcBef>
                <a:spcPts val="279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/>
          </a:p>
          <a:p>
            <a:pPr marL="457200" lvl="1" indent="0" algn="l" rtl="0">
              <a:spcBef>
                <a:spcPts val="279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/>
          </a:p>
          <a:p>
            <a:pPr marL="0" lvl="0" indent="0" algn="l" rtl="0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/>
          </a:p>
        </p:txBody>
      </p:sp>
      <p:sp>
        <p:nvSpPr>
          <p:cNvPr id="255" name="Google Shape;255;p14"/>
          <p:cNvSpPr txBox="1">
            <a:spLocks noGrp="1"/>
          </p:cNvSpPr>
          <p:nvPr>
            <p:ph type="body" idx="2"/>
          </p:nvPr>
        </p:nvSpPr>
        <p:spPr>
          <a:xfrm>
            <a:off x="4630994" y="2133600"/>
            <a:ext cx="4038600" cy="4039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US" sz="2600">
                <a:solidFill>
                  <a:srgbClr val="C00000"/>
                </a:solidFill>
              </a:rPr>
              <a:t>No silver bullet</a:t>
            </a:r>
            <a:endParaRPr/>
          </a:p>
          <a:p>
            <a:pPr marL="342900" lvl="0" indent="-342900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There are many different types of software system and there is no universal set of software techniques that is applicable to all of these</a:t>
            </a:r>
            <a:endParaRPr/>
          </a:p>
          <a:p>
            <a:pPr marL="342900" lvl="0" indent="-342900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software engineering methods and tools used depend on the type of application being developed, the requirements of the customer and the background of the development team</a:t>
            </a:r>
            <a:endParaRPr/>
          </a:p>
          <a:p>
            <a:pPr marL="342900" lvl="0" indent="-244475" algn="l" rtl="0"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/>
          </a:p>
        </p:txBody>
      </p:sp>
      <p:sp>
        <p:nvSpPr>
          <p:cNvPr id="256" name="Google Shape;256;p14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257" name="Google Shape;257;p14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258" name="Google Shape;258;p14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59" name="Google Shape;259;p14"/>
          <p:cNvSpPr txBox="1"/>
          <p:nvPr/>
        </p:nvSpPr>
        <p:spPr>
          <a:xfrm>
            <a:off x="-8467" y="6173259"/>
            <a:ext cx="31242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 u="none" strike="noStrike" cap="none">
                <a:solidFill>
                  <a:srgbClr val="4C4C4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©2009 J. L. Díaz-Herrera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 txBox="1"/>
          <p:nvPr/>
        </p:nvSpPr>
        <p:spPr>
          <a:xfrm>
            <a:off x="248408" y="1567934"/>
            <a:ext cx="257410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is it complex?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Software Complexity…</a:t>
            </a:r>
            <a:endParaRPr/>
          </a:p>
        </p:txBody>
      </p:sp>
      <p:sp>
        <p:nvSpPr>
          <p:cNvPr id="266" name="Google Shape;266;p15"/>
          <p:cNvSpPr txBox="1">
            <a:spLocks noGrp="1"/>
          </p:cNvSpPr>
          <p:nvPr>
            <p:ph type="body" idx="1"/>
          </p:nvPr>
        </p:nvSpPr>
        <p:spPr>
          <a:xfrm>
            <a:off x="457200" y="179628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Application domain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The problems are often very </a:t>
            </a:r>
            <a:r>
              <a:rPr lang="en-US" sz="2400" b="1">
                <a:solidFill>
                  <a:srgbClr val="C00000"/>
                </a:solidFill>
              </a:rPr>
              <a:t>complex</a:t>
            </a:r>
            <a:endParaRPr sz="2400">
              <a:solidFill>
                <a:srgbClr val="C00000"/>
              </a:solidFill>
            </a:endParaRPr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The developers are </a:t>
            </a:r>
            <a:r>
              <a:rPr lang="en-US" sz="2400" b="1">
                <a:solidFill>
                  <a:srgbClr val="C00000"/>
                </a:solidFill>
              </a:rPr>
              <a:t>not domain experts</a:t>
            </a:r>
            <a:endParaRPr sz="2400">
              <a:solidFill>
                <a:srgbClr val="C00000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Communication among stakeholders (clients, developers)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The stakeholders use </a:t>
            </a:r>
            <a:r>
              <a:rPr lang="en-US" sz="2400" b="1">
                <a:solidFill>
                  <a:srgbClr val="C00000"/>
                </a:solidFill>
              </a:rPr>
              <a:t>different vocabulary</a:t>
            </a:r>
            <a:r>
              <a:rPr lang="en-US" sz="2400"/>
              <a:t>: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domain experts &lt;=&gt; developers &lt;=&gt; developers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Human languages are inherently </a:t>
            </a:r>
            <a:r>
              <a:rPr lang="en-US" sz="2400" b="1">
                <a:solidFill>
                  <a:srgbClr val="C00000"/>
                </a:solidFill>
              </a:rPr>
              <a:t>ambiguous</a:t>
            </a:r>
            <a:endParaRPr sz="2400"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The stakeholders have </a:t>
            </a:r>
            <a:r>
              <a:rPr lang="en-US" sz="2400" b="1">
                <a:solidFill>
                  <a:srgbClr val="C00000"/>
                </a:solidFill>
              </a:rPr>
              <a:t>different background knowledge</a:t>
            </a:r>
            <a:endParaRPr sz="240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Management of large software development projects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Need to divide the project into pieces and reassemble the pieces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Need to coordinate many people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 </a:t>
            </a:r>
            <a:endParaRPr/>
          </a:p>
          <a:p>
            <a:pPr marL="34290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sp>
        <p:nvSpPr>
          <p:cNvPr id="267" name="Google Shape;267;p15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268" name="Google Shape;268;p15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269" name="Google Shape;269;p15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70" name="Google Shape;270;p15"/>
          <p:cNvSpPr txBox="1"/>
          <p:nvPr/>
        </p:nvSpPr>
        <p:spPr>
          <a:xfrm>
            <a:off x="248408" y="1359203"/>
            <a:ext cx="379110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complexity comes from: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Software Complexity…</a:t>
            </a:r>
            <a:endParaRPr/>
          </a:p>
        </p:txBody>
      </p:sp>
      <p:sp>
        <p:nvSpPr>
          <p:cNvPr id="276" name="Google Shape;276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 dirty="0"/>
              <a:t>Software complexity leads to software quality problems: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en-US" sz="2600" dirty="0"/>
              <a:t>Unreliable e.g. ARIANE 5 rocket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en-US" sz="2600" dirty="0"/>
              <a:t>Unsafe e.g. London Ambulance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en-US" sz="2600" dirty="0"/>
              <a:t>Abandoned e.g. London Stock Exchange</a:t>
            </a:r>
            <a:endParaRPr dirty="0"/>
          </a:p>
          <a:p>
            <a:pPr marL="742950" lvl="1" indent="-28575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en-US" sz="2600" dirty="0"/>
              <a:t>Inflexible hard to change/maintain - </a:t>
            </a:r>
            <a:r>
              <a:rPr lang="en-US" sz="2600" dirty="0" err="1"/>
              <a:t>Crowstrike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 dirty="0"/>
              <a:t>Software project management problems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 dirty="0"/>
              <a:t>Often over schedule and over budget by an order of magnitude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en-US" sz="3000" dirty="0"/>
              <a:t>Software engineer productivity problems</a:t>
            </a: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sp>
        <p:nvSpPr>
          <p:cNvPr id="277" name="Google Shape;277;p16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278" name="Google Shape;278;p16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279" name="Google Shape;279;p16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Software Changeability</a:t>
            </a:r>
            <a:endParaRPr/>
          </a:p>
        </p:txBody>
      </p:sp>
      <p:sp>
        <p:nvSpPr>
          <p:cNvPr id="305" name="Google Shape;305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Major changes to software will always and frequently be demanded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successful software is required to provide more functionality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software survives hardware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Changing software (“maintenance”)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is difficult due to dynamic nature of relationships between its interacting parts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306" name="Google Shape;306;p19"/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307" name="Google Shape;307;p19"/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308" name="Google Shape;308;p19"/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309" name="Google Shape;309;p19"/>
          <p:cNvSpPr txBox="1"/>
          <p:nvPr/>
        </p:nvSpPr>
        <p:spPr>
          <a:xfrm>
            <a:off x="152400" y="6126163"/>
            <a:ext cx="3276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 u="none" strike="noStrike" cap="none">
                <a:solidFill>
                  <a:srgbClr val="4C4C4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©2009 J. L. Díaz-Herrera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16D09-A582-CD60-0E82-6F3ED0EE6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59854-CE4D-9164-288B-0567898DB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Noto Sans Symbols"/>
              </a:rPr>
              <a:t>Software engineering profession and ethics </a:t>
            </a:r>
            <a:br>
              <a:rPr lang="en-MY" sz="4000" dirty="0">
                <a:effectLst/>
                <a:latin typeface="Noto Sans Symbols"/>
                <a:ea typeface="Noto Sans Symbols"/>
                <a:cs typeface="Noto Sans Symbols"/>
              </a:rPr>
            </a:br>
            <a:br>
              <a:rPr lang="en-US" sz="4000" dirty="0"/>
            </a:br>
            <a:endParaRPr lang="en-M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77953-1AD3-2723-C3C7-E3BAE76A4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1C8C3-AAD2-05E3-C54D-B0E5583113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419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2AF47-0CC1-F48E-B9DA-B522F5744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5469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Software Engineering Code of Ethics and Professional </a:t>
            </a:r>
            <a:r>
              <a:rPr lang="en-MY" sz="3200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(Version 5.2) </a:t>
            </a:r>
            <a:br>
              <a:rPr lang="en-MY" sz="3200" dirty="0"/>
            </a:br>
            <a:endParaRPr lang="en-MY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C1AE1-B1EA-178A-EB1F-B864238BF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689BC-7FD9-BC05-C46D-8753ECD0BE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4E9B2A-3BFC-3971-9696-28573C83F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0186"/>
            <a:ext cx="9144000" cy="525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1357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192D-4CD6-5B88-004C-FEF0198C7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Software Engineering Code of Ethics and Professional Practice (Version 5.2)</a:t>
            </a:r>
            <a:endParaRPr lang="en-MY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3ED64-1CE7-BEA4-A062-775DDEFB6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b="1" dirty="0"/>
              <a:t>Software engineers </a:t>
            </a:r>
            <a:r>
              <a:rPr lang="en-US" dirty="0"/>
              <a:t>shall adhere to the following Eight Principles:</a:t>
            </a:r>
          </a:p>
          <a:p>
            <a:endParaRPr lang="en-US" dirty="0"/>
          </a:p>
          <a:p>
            <a:r>
              <a:rPr lang="en-US" dirty="0"/>
              <a:t>1. PUBLIC – Software engineers shall act consistently with the public interest.</a:t>
            </a:r>
          </a:p>
          <a:p>
            <a:endParaRPr lang="en-US" dirty="0"/>
          </a:p>
          <a:p>
            <a:r>
              <a:rPr lang="en-US" dirty="0"/>
              <a:t>2. CLIENT AND EMPLOYER – Software engineers shall act in a manner that is in the best interests of their client and employer consistent with the public interest.</a:t>
            </a:r>
          </a:p>
          <a:p>
            <a:endParaRPr lang="en-US" dirty="0"/>
          </a:p>
          <a:p>
            <a:r>
              <a:rPr lang="en-US" dirty="0"/>
              <a:t>3. PRODUCT – Software engineers shall ensure that their products and related modifications meet the highest professional standards possible.</a:t>
            </a:r>
          </a:p>
          <a:p>
            <a:endParaRPr lang="en-US" dirty="0"/>
          </a:p>
          <a:p>
            <a:r>
              <a:rPr lang="en-US" dirty="0"/>
              <a:t>4. JUDGMENT – Software engineers shall maintain integrity and independence in their professional judgment.</a:t>
            </a:r>
          </a:p>
          <a:p>
            <a:endParaRPr lang="en-US" dirty="0"/>
          </a:p>
          <a:p>
            <a:r>
              <a:rPr lang="en-US" dirty="0"/>
              <a:t>5. MANAGEMENT – Software engineering managers and leaders shall subscribe to and promote an ethical approach to the management of software development and maintenance.</a:t>
            </a:r>
          </a:p>
          <a:p>
            <a:endParaRPr lang="en-US" dirty="0"/>
          </a:p>
          <a:p>
            <a:r>
              <a:rPr lang="en-US" dirty="0"/>
              <a:t>6. PROFESSION – Software engineers shall advance the integrity and reputation of the profession consistent with the public interest.</a:t>
            </a:r>
          </a:p>
          <a:p>
            <a:endParaRPr lang="en-US" dirty="0"/>
          </a:p>
          <a:p>
            <a:r>
              <a:rPr lang="en-US" dirty="0"/>
              <a:t>7. COLLEAGUES – Software engineers shall be fair to and supportive of their colleagues.</a:t>
            </a:r>
          </a:p>
          <a:p>
            <a:endParaRPr lang="en-US" dirty="0"/>
          </a:p>
          <a:p>
            <a:r>
              <a:rPr lang="en-US" dirty="0"/>
              <a:t>8. SELF – Software engineers shall participate in lifelong learning regarding the practice of their profession and shall promote an ethical approach to the practice of the profession.</a:t>
            </a:r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4DA05-6D85-FA2A-B86C-14104F70D1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548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24043E0D-D6AB-303A-19D8-728E82D65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98072D76-9D96-BC59-695D-D5F6EE5CB5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Summary</a:t>
            </a:r>
            <a:endParaRPr dirty="0"/>
          </a:p>
        </p:txBody>
      </p:sp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B968FF0D-7A02-1CEB-D568-129CAB75E0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dirty="0"/>
              <a:t>Key learning outcome </a:t>
            </a:r>
          </a:p>
          <a:p>
            <a:pPr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Tx/>
              <a:buChar char="-"/>
            </a:pPr>
            <a:r>
              <a:rPr lang="en-US" sz="2400" dirty="0"/>
              <a:t>Define software engineering and explain its role in technology.</a:t>
            </a:r>
          </a:p>
          <a:p>
            <a:pPr lvl="0" indent="-457200">
              <a:spcBef>
                <a:spcPts val="0"/>
              </a:spcBef>
              <a:buSzPts val="2800"/>
              <a:buFontTx/>
              <a:buChar char="-"/>
            </a:pPr>
            <a:r>
              <a:rPr lang="en-US" sz="2400" dirty="0"/>
              <a:t>Understand software engineering as a layered technology, focusing on quality, processes, methods, and tools.</a:t>
            </a:r>
          </a:p>
          <a:p>
            <a:pPr lvl="0" indent="-457200">
              <a:spcBef>
                <a:spcPts val="0"/>
              </a:spcBef>
              <a:buSzPts val="2800"/>
              <a:buFontTx/>
              <a:buChar char="-"/>
            </a:pPr>
            <a:r>
              <a:rPr lang="en-US" sz="2400" dirty="0"/>
              <a:t>Analyze software failure examples and recognize contributing factors like complexity and uncertainty.</a:t>
            </a:r>
          </a:p>
          <a:p>
            <a:pPr lvl="0" indent="-457200">
              <a:spcBef>
                <a:spcPts val="0"/>
              </a:spcBef>
              <a:buSzPts val="2800"/>
              <a:buFontTx/>
              <a:buChar char="-"/>
            </a:pPr>
            <a:r>
              <a:rPr lang="en-US" sz="2400" dirty="0"/>
              <a:t>Categorize different types of software and understand their purposes and characteristics.</a:t>
            </a:r>
          </a:p>
          <a:p>
            <a:pPr lvl="0" indent="-457200">
              <a:spcBef>
                <a:spcPts val="0"/>
              </a:spcBef>
              <a:buSzPts val="2800"/>
              <a:buFontTx/>
              <a:buChar char="-"/>
            </a:pPr>
            <a:r>
              <a:rPr lang="en-US" sz="2400" dirty="0"/>
              <a:t>Understand the responsibilities and ethical considerations of the software engineering profession, including adherence to ethical </a:t>
            </a:r>
            <a:r>
              <a:rPr lang="en-US" sz="2800" dirty="0"/>
              <a:t>.</a:t>
            </a:r>
            <a:endParaRPr sz="2800" dirty="0"/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B137E295-807D-351D-F106-CB61D01A6DC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123" name="Google Shape;123;p3">
            <a:extLst>
              <a:ext uri="{FF2B5EF4-FFF2-40B4-BE49-F238E27FC236}">
                <a16:creationId xmlns:a16="http://schemas.microsoft.com/office/drawing/2014/main" id="{23B20FC8-4138-15B4-18BB-825EFB15A2B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16124730-5BC7-C9D2-1C8B-D09649D602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4197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1924</Words>
  <Application>Microsoft Office PowerPoint</Application>
  <PresentationFormat>On-screen Show (4:3)</PresentationFormat>
  <Paragraphs>278</Paragraphs>
  <Slides>30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Calibri</vt:lpstr>
      <vt:lpstr>Arial</vt:lpstr>
      <vt:lpstr>Noto Sans Symbols</vt:lpstr>
      <vt:lpstr>Helvetica Neue</vt:lpstr>
      <vt:lpstr>Rockwell</vt:lpstr>
      <vt:lpstr>Helvetica Neue Light</vt:lpstr>
      <vt:lpstr>Georgia</vt:lpstr>
      <vt:lpstr>Office Theme</vt:lpstr>
      <vt:lpstr>Topic 1: Introduction to Software Engineering</vt:lpstr>
      <vt:lpstr>Outline</vt:lpstr>
      <vt:lpstr>Learning Outcome </vt:lpstr>
      <vt:lpstr>What is software engineering?  </vt:lpstr>
      <vt:lpstr>PowerPoint Presentation</vt:lpstr>
      <vt:lpstr>Software Engineering vs.  Software Programming</vt:lpstr>
      <vt:lpstr>Software Engineering Definition</vt:lpstr>
      <vt:lpstr>The Importance of Software Engineering</vt:lpstr>
      <vt:lpstr>Software Engineering Costs</vt:lpstr>
      <vt:lpstr>Software Engineering in Software Development</vt:lpstr>
      <vt:lpstr>Software engineering as a layered technology</vt:lpstr>
      <vt:lpstr>Software Engineering as a Layered Technology</vt:lpstr>
      <vt:lpstr>Types of Software</vt:lpstr>
      <vt:lpstr>Generic and Customized Products</vt:lpstr>
      <vt:lpstr>Software Engineering Diversity:  Types of Software</vt:lpstr>
      <vt:lpstr>Different Types of Software…</vt:lpstr>
      <vt:lpstr>Different Types of Software</vt:lpstr>
      <vt:lpstr>Software failure and inherent difficulties in software engineering </vt:lpstr>
      <vt:lpstr>Software Complexity…</vt:lpstr>
      <vt:lpstr>LSE Example</vt:lpstr>
      <vt:lpstr>Crowdstrike</vt:lpstr>
      <vt:lpstr>Inherent Difficulties</vt:lpstr>
      <vt:lpstr>Software Complexity…</vt:lpstr>
      <vt:lpstr>Software Complexity…</vt:lpstr>
      <vt:lpstr>Software Complexity…</vt:lpstr>
      <vt:lpstr>Software Changeability</vt:lpstr>
      <vt:lpstr>Software engineering profession and ethics   </vt:lpstr>
      <vt:lpstr>Software Engineering Code of Ethics and Professional  (Version 5.2)  </vt:lpstr>
      <vt:lpstr>Software Engineering Code of Ethics and Professional Practice (Version 5.2)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Rohayanti Hassan</dc:creator>
  <cp:lastModifiedBy>Norsham Idris</cp:lastModifiedBy>
  <cp:revision>2</cp:revision>
  <dcterms:created xsi:type="dcterms:W3CDTF">2023-03-16T03:34:04Z</dcterms:created>
  <dcterms:modified xsi:type="dcterms:W3CDTF">2025-03-16T05:16:57Z</dcterms:modified>
</cp:coreProperties>
</file>