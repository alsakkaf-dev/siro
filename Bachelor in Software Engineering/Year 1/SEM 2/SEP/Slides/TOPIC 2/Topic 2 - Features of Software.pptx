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6858000" cx="12192000"/>
  <p:notesSz cx="6858000" cy="9144000"/>
  <p:embeddedFontLst>
    <p:embeddedFont>
      <p:font typeface="Roboto"/>
      <p:regular r:id="rId65"/>
      <p:bold r:id="rId66"/>
      <p:italic r:id="rId67"/>
      <p:boldItalic r:id="rId68"/>
    </p:embeddedFont>
    <p:embeddedFont>
      <p:font typeface="Lato"/>
      <p:regular r:id="rId69"/>
      <p:bold r:id="rId70"/>
      <p:italic r:id="rId71"/>
      <p:boldItalic r:id="rId72"/>
    </p:embeddedFont>
    <p:embeddedFont>
      <p:font typeface="Quattrocento Sans"/>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7" roundtripDataSignature="AMtx7mjG0uaeDkqGOK4cuLGPTMkEPO2H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DE6DCA-A112-443B-9A40-769D7F20AC07}">
  <a:tblStyle styleId="{D7DE6DCA-A112-443B-9A40-769D7F20AC0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QuattrocentoSans-regular.fntdata"/><Relationship Id="rId72" Type="http://schemas.openxmlformats.org/officeDocument/2006/relationships/font" Target="fonts/Lato-boldItalic.fntdata"/><Relationship Id="rId31" Type="http://schemas.openxmlformats.org/officeDocument/2006/relationships/slide" Target="slides/slide26.xml"/><Relationship Id="rId75" Type="http://schemas.openxmlformats.org/officeDocument/2006/relationships/font" Target="fonts/QuattrocentoSans-italic.fntdata"/><Relationship Id="rId30" Type="http://schemas.openxmlformats.org/officeDocument/2006/relationships/slide" Target="slides/slide25.xml"/><Relationship Id="rId74" Type="http://schemas.openxmlformats.org/officeDocument/2006/relationships/font" Target="fonts/QuattrocentoSans-bold.fntdata"/><Relationship Id="rId33" Type="http://schemas.openxmlformats.org/officeDocument/2006/relationships/slide" Target="slides/slide28.xml"/><Relationship Id="rId77" Type="http://customschemas.google.com/relationships/presentationmetadata" Target="metadata"/><Relationship Id="rId32" Type="http://schemas.openxmlformats.org/officeDocument/2006/relationships/slide" Target="slides/slide27.xml"/><Relationship Id="rId76" Type="http://schemas.openxmlformats.org/officeDocument/2006/relationships/font" Target="fonts/QuattrocentoSans-boldItalic.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Lato-italic.fntdata"/><Relationship Id="rId70" Type="http://schemas.openxmlformats.org/officeDocument/2006/relationships/font" Target="fonts/Lato-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Roboto-bold.fntdata"/><Relationship Id="rId21" Type="http://schemas.openxmlformats.org/officeDocument/2006/relationships/slide" Target="slides/slide16.xml"/><Relationship Id="rId65" Type="http://schemas.openxmlformats.org/officeDocument/2006/relationships/font" Target="fonts/Roboto-regular.fntdata"/><Relationship Id="rId24" Type="http://schemas.openxmlformats.org/officeDocument/2006/relationships/slide" Target="slides/slide19.xml"/><Relationship Id="rId68" Type="http://schemas.openxmlformats.org/officeDocument/2006/relationships/font" Target="fonts/Roboto-boldItalic.fntdata"/><Relationship Id="rId23" Type="http://schemas.openxmlformats.org/officeDocument/2006/relationships/slide" Target="slides/slide18.xml"/><Relationship Id="rId67" Type="http://schemas.openxmlformats.org/officeDocument/2006/relationships/font" Target="fonts/Roboto-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ato-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avatpoint.com/application-of-ai" TargetMode="External"/><Relationship Id="rId3" Type="http://schemas.openxmlformats.org/officeDocument/2006/relationships/hyperlink" Target="https://searchenterpriseai.techtarget.com/definition/AI-Artificial-Intelligence"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https://learn.microsoft.com/en-us/training/modules/sustainable-software-engineering-overview/3-carbon-efficiency</a:t>
            </a:r>
            <a:endParaRPr/>
          </a:p>
        </p:txBody>
      </p:sp>
      <p:sp>
        <p:nvSpPr>
          <p:cNvPr id="297" name="Google Shape;29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5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5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200"/>
              <a:buFont typeface="Calibri"/>
              <a:buNone/>
            </a:pPr>
            <a:r>
              <a:t/>
            </a:r>
            <a:endParaRPr/>
          </a:p>
        </p:txBody>
      </p:sp>
      <p:sp>
        <p:nvSpPr>
          <p:cNvPr id="636" name="Google Shape;636;p50:notes"/>
          <p:cNvSpPr txBox="1"/>
          <p:nvPr>
            <p:ph idx="12" type="sldNum"/>
          </p:nvPr>
        </p:nvSpPr>
        <p:spPr>
          <a:xfrm>
            <a:off x="3884613" y="9446678"/>
            <a:ext cx="2971800" cy="49728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5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5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1200"/>
              <a:buFont typeface="Calibri"/>
              <a:buNone/>
            </a:pPr>
            <a:r>
              <a:rPr lang="en-US" sz="1200">
                <a:solidFill>
                  <a:srgbClr val="FF0000"/>
                </a:solidFill>
              </a:rPr>
              <a:t>Modeling human cognition using computers</a:t>
            </a:r>
            <a:endParaRPr/>
          </a:p>
          <a:p>
            <a:pPr indent="0" lvl="0" marL="0" rtl="0" algn="l">
              <a:lnSpc>
                <a:spcPct val="90000"/>
              </a:lnSpc>
              <a:spcBef>
                <a:spcPts val="0"/>
              </a:spcBef>
              <a:spcAft>
                <a:spcPts val="0"/>
              </a:spcAft>
              <a:buClr>
                <a:schemeClr val="dk1"/>
              </a:buClr>
              <a:buSzPts val="1200"/>
              <a:buFont typeface="Calibri"/>
              <a:buNone/>
            </a:pPr>
            <a:r>
              <a:t/>
            </a:r>
            <a:endParaRPr sz="1200">
              <a:solidFill>
                <a:srgbClr val="FF0000"/>
              </a:solidFill>
            </a:endParaRPr>
          </a:p>
          <a:p>
            <a:pPr indent="0" lvl="0" marL="0" rtl="0" algn="l">
              <a:lnSpc>
                <a:spcPct val="90000"/>
              </a:lnSpc>
              <a:spcBef>
                <a:spcPts val="0"/>
              </a:spcBef>
              <a:spcAft>
                <a:spcPts val="0"/>
              </a:spcAft>
              <a:buClr>
                <a:srgbClr val="FF0000"/>
              </a:buClr>
              <a:buSzPts val="1200"/>
              <a:buFont typeface="Calibri"/>
              <a:buNone/>
            </a:pPr>
            <a:r>
              <a:rPr lang="en-US" sz="1200">
                <a:solidFill>
                  <a:srgbClr val="FF0000"/>
                </a:solidFill>
              </a:rPr>
              <a:t>The study of problems that other CS folks do not yet know how to do</a:t>
            </a:r>
            <a:endParaRPr/>
          </a:p>
          <a:p>
            <a:pPr indent="0" lvl="0" marL="0" rtl="0" algn="l">
              <a:lnSpc>
                <a:spcPct val="90000"/>
              </a:lnSpc>
              <a:spcBef>
                <a:spcPts val="0"/>
              </a:spcBef>
              <a:spcAft>
                <a:spcPts val="0"/>
              </a:spcAft>
              <a:buClr>
                <a:schemeClr val="dk1"/>
              </a:buClr>
              <a:buSzPts val="1200"/>
              <a:buFont typeface="Calibri"/>
              <a:buNone/>
            </a:pPr>
            <a:r>
              <a:t/>
            </a:r>
            <a:endParaRPr sz="1200">
              <a:solidFill>
                <a:srgbClr val="FF0000"/>
              </a:solidFill>
            </a:endParaRPr>
          </a:p>
          <a:p>
            <a:pPr indent="0" lvl="0" marL="0" rtl="0" algn="l">
              <a:lnSpc>
                <a:spcPct val="90000"/>
              </a:lnSpc>
              <a:spcBef>
                <a:spcPts val="0"/>
              </a:spcBef>
              <a:spcAft>
                <a:spcPts val="0"/>
              </a:spcAft>
              <a:buClr>
                <a:srgbClr val="FF0000"/>
              </a:buClr>
              <a:buSzPts val="1200"/>
              <a:buFont typeface="Calibri"/>
              <a:buNone/>
            </a:pPr>
            <a:r>
              <a:rPr b="1" lang="en-US" sz="1200">
                <a:solidFill>
                  <a:srgbClr val="FF0000"/>
                </a:solidFill>
              </a:rPr>
              <a:t>Cool stuff!!!</a:t>
            </a:r>
            <a:endParaRPr/>
          </a:p>
          <a:p>
            <a:pPr indent="0" lvl="0" marL="0" rtl="0" algn="l">
              <a:lnSpc>
                <a:spcPct val="90000"/>
              </a:lnSpc>
              <a:spcBef>
                <a:spcPts val="0"/>
              </a:spcBef>
              <a:spcAft>
                <a:spcPts val="0"/>
              </a:spcAft>
              <a:buClr>
                <a:srgbClr val="FF0000"/>
              </a:buClr>
              <a:buSzPts val="1200"/>
              <a:buFont typeface="Noto Sans Symbols"/>
              <a:buNone/>
            </a:pPr>
            <a:r>
              <a:rPr lang="en-US" sz="1200">
                <a:solidFill>
                  <a:srgbClr val="FF0000"/>
                </a:solidFill>
              </a:rPr>
              <a:t>	Game playing agents, machine learning, data mining, speech, language, vision, web agents, chatbots, robots, ...</a:t>
            </a:r>
            <a:endParaRPr/>
          </a:p>
          <a:p>
            <a:pPr indent="0" lvl="0" marL="0" rtl="0" algn="l">
              <a:lnSpc>
                <a:spcPct val="90000"/>
              </a:lnSpc>
              <a:spcBef>
                <a:spcPts val="0"/>
              </a:spcBef>
              <a:spcAft>
                <a:spcPts val="0"/>
              </a:spcAft>
              <a:buClr>
                <a:srgbClr val="FF0000"/>
              </a:buClr>
              <a:buSzPts val="1200"/>
              <a:buFont typeface="Noto Sans Symbols"/>
              <a:buNone/>
            </a:pPr>
            <a:r>
              <a:t/>
            </a:r>
            <a:endParaRPr sz="1200">
              <a:solidFill>
                <a:srgbClr val="FF0000"/>
              </a:solidFill>
            </a:endParaRPr>
          </a:p>
          <a:p>
            <a:pPr indent="0" lvl="0" marL="0" rtl="0" algn="l">
              <a:lnSpc>
                <a:spcPct val="90000"/>
              </a:lnSpc>
              <a:spcBef>
                <a:spcPts val="0"/>
              </a:spcBef>
              <a:spcAft>
                <a:spcPts val="0"/>
              </a:spcAft>
              <a:buClr>
                <a:srgbClr val="FF0000"/>
              </a:buClr>
              <a:buSzPts val="1200"/>
              <a:buFont typeface="Calibri"/>
              <a:buNone/>
            </a:pPr>
            <a:r>
              <a:rPr b="1" lang="en-US" sz="1200">
                <a:solidFill>
                  <a:srgbClr val="FF0000"/>
                </a:solidFill>
              </a:rPr>
              <a:t>Useful stuff!!!</a:t>
            </a:r>
            <a:endParaRPr/>
          </a:p>
          <a:p>
            <a:pPr indent="0" lvl="0" marL="0" rtl="0" algn="l">
              <a:lnSpc>
                <a:spcPct val="90000"/>
              </a:lnSpc>
              <a:spcBef>
                <a:spcPts val="0"/>
              </a:spcBef>
              <a:spcAft>
                <a:spcPts val="0"/>
              </a:spcAft>
              <a:buClr>
                <a:srgbClr val="FF0000"/>
              </a:buClr>
              <a:buSzPts val="1200"/>
              <a:buFont typeface="Noto Sans Symbols"/>
              <a:buNone/>
            </a:pPr>
            <a:r>
              <a:rPr lang="en-US" sz="1200">
                <a:solidFill>
                  <a:srgbClr val="FF0000"/>
                </a:solidFill>
              </a:rPr>
              <a:t>	Medical diagnosis, fraud detection, genome analysis, object identification, space shuttle scheduling, information retrieval, ...</a:t>
            </a:r>
            <a:endParaRPr/>
          </a:p>
          <a:p>
            <a:pPr indent="0" lvl="0" marL="0" rtl="0" algn="l">
              <a:spcBef>
                <a:spcPts val="0"/>
              </a:spcBef>
              <a:spcAft>
                <a:spcPts val="0"/>
              </a:spcAft>
              <a:buClr>
                <a:schemeClr val="dk1"/>
              </a:buClr>
              <a:buSzPts val="1200"/>
              <a:buFont typeface="Calibri"/>
              <a:buNone/>
            </a:pPr>
            <a:r>
              <a:t/>
            </a:r>
            <a:endParaRPr/>
          </a:p>
        </p:txBody>
      </p:sp>
      <p:sp>
        <p:nvSpPr>
          <p:cNvPr id="659" name="Google Shape;659;p53:notes"/>
          <p:cNvSpPr txBox="1"/>
          <p:nvPr>
            <p:ph idx="12" type="sldNum"/>
          </p:nvPr>
        </p:nvSpPr>
        <p:spPr>
          <a:xfrm>
            <a:off x="3884613" y="9446678"/>
            <a:ext cx="2971800" cy="49728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5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68" name="Google Shape;668;p5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5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p5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200"/>
              <a:buFont typeface="Calibri"/>
              <a:buNone/>
            </a:pPr>
            <a:r>
              <a:t/>
            </a:r>
            <a:endParaRPr/>
          </a:p>
        </p:txBody>
      </p:sp>
      <p:sp>
        <p:nvSpPr>
          <p:cNvPr id="675" name="Google Shape;675;p55:notes"/>
          <p:cNvSpPr txBox="1"/>
          <p:nvPr>
            <p:ph idx="12" type="sldNum"/>
          </p:nvPr>
        </p:nvSpPr>
        <p:spPr>
          <a:xfrm>
            <a:off x="3884613" y="9446678"/>
            <a:ext cx="2971800" cy="49728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5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p5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200"/>
              <a:buFont typeface="Calibri"/>
              <a:buNone/>
            </a:pPr>
            <a:r>
              <a:t/>
            </a:r>
            <a:endParaRPr/>
          </a:p>
        </p:txBody>
      </p:sp>
      <p:sp>
        <p:nvSpPr>
          <p:cNvPr id="683" name="Google Shape;683;p56:notes"/>
          <p:cNvSpPr txBox="1"/>
          <p:nvPr>
            <p:ph idx="12" type="sldNum"/>
          </p:nvPr>
        </p:nvSpPr>
        <p:spPr>
          <a:xfrm>
            <a:off x="3884613" y="9446678"/>
            <a:ext cx="2971800" cy="49728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5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5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rmAutofit/>
          </a:bodyPr>
          <a:lstStyle/>
          <a:p>
            <a:pPr indent="-171450" lvl="0" marL="171450" rtl="0" algn="l">
              <a:spcBef>
                <a:spcPts val="0"/>
              </a:spcBef>
              <a:spcAft>
                <a:spcPts val="0"/>
              </a:spcAft>
              <a:buClr>
                <a:schemeClr val="dk1"/>
              </a:buClr>
              <a:buSzPts val="1200"/>
              <a:buFont typeface="Arial"/>
              <a:buChar char="•"/>
            </a:pPr>
            <a:r>
              <a:rPr lang="en-US" u="sng">
                <a:solidFill>
                  <a:schemeClr val="hlink"/>
                </a:solidFill>
                <a:hlinkClick r:id="rId2"/>
              </a:rPr>
              <a:t>https://www.javatpoint.com/application-of-ai</a:t>
            </a:r>
            <a:endParaRPr/>
          </a:p>
          <a:p>
            <a:pPr indent="-171450" lvl="0" marL="171450" rtl="0" algn="l">
              <a:spcBef>
                <a:spcPts val="0"/>
              </a:spcBef>
              <a:spcAft>
                <a:spcPts val="0"/>
              </a:spcAft>
              <a:buClr>
                <a:schemeClr val="dk1"/>
              </a:buClr>
              <a:buSzPts val="1200"/>
              <a:buFont typeface="Arial"/>
              <a:buChar char="•"/>
            </a:pPr>
            <a:r>
              <a:rPr lang="en-US" u="sng">
                <a:solidFill>
                  <a:schemeClr val="hlink"/>
                </a:solidFill>
                <a:hlinkClick r:id="rId3"/>
              </a:rPr>
              <a:t>https://searchenterpriseai.techtarget.com/definition/AI-Artificial-Intelligence</a:t>
            </a:r>
            <a:endParaRPr/>
          </a:p>
        </p:txBody>
      </p:sp>
      <p:sp>
        <p:nvSpPr>
          <p:cNvPr id="691" name="Google Shape;691;p57:notes"/>
          <p:cNvSpPr txBox="1"/>
          <p:nvPr>
            <p:ph idx="12" type="sldNum"/>
          </p:nvPr>
        </p:nvSpPr>
        <p:spPr>
          <a:xfrm>
            <a:off x="3884613" y="9446678"/>
            <a:ext cx="2971800" cy="49728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AI-Powered Film</a:t>
            </a:r>
            <a:endParaRPr/>
          </a:p>
          <a:p>
            <a:pPr indent="0" lvl="0" marL="0" rtl="0" algn="l">
              <a:spcBef>
                <a:spcPts val="0"/>
              </a:spcBef>
              <a:spcAft>
                <a:spcPts val="0"/>
              </a:spcAft>
              <a:buNone/>
            </a:pPr>
            <a:r>
              <a:rPr lang="en-US"/>
              <a:t>https://youtu.be/wHiEDVC2kEQ?si=GxPwqP4CDsZ9-IhH</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Agentic AI</a:t>
            </a:r>
            <a:endParaRPr/>
          </a:p>
          <a:p>
            <a:pPr indent="0" lvl="0" marL="0" rtl="0" algn="l">
              <a:spcBef>
                <a:spcPts val="0"/>
              </a:spcBef>
              <a:spcAft>
                <a:spcPts val="0"/>
              </a:spcAft>
              <a:buNone/>
            </a:pPr>
            <a:r>
              <a:rPr lang="en-US"/>
              <a:t>https://youtu.be/0z9_MhcYvcY?si=755pE-y2SH0pniFA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are AI Agents</a:t>
            </a:r>
            <a:endParaRPr/>
          </a:p>
          <a:p>
            <a:pPr indent="0" lvl="0" marL="0" rtl="0" algn="l">
              <a:spcBef>
                <a:spcPts val="0"/>
              </a:spcBef>
              <a:spcAft>
                <a:spcPts val="0"/>
              </a:spcAft>
              <a:buNone/>
            </a:pPr>
            <a:r>
              <a:rPr lang="en-US"/>
              <a:t>https://youtu.be/F8NKVhkZZWI?si=voagc_BPxF5UfmOe</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rgbClr val="1D2125"/>
              </a:buClr>
              <a:buSzPts val="1200"/>
              <a:buFont typeface="Lato"/>
              <a:buNone/>
            </a:pPr>
            <a:r>
              <a:rPr b="1" i="0" lang="en-US">
                <a:solidFill>
                  <a:srgbClr val="1D2125"/>
                </a:solidFill>
                <a:latin typeface="Lato"/>
                <a:ea typeface="Lato"/>
                <a:cs typeface="Lato"/>
                <a:sym typeface="Lato"/>
              </a:rPr>
              <a:t>Reinforcement Learning</a:t>
            </a:r>
            <a:endParaRPr/>
          </a:p>
          <a:p>
            <a:pPr indent="0" lvl="0" marL="0" rtl="0" algn="l">
              <a:spcBef>
                <a:spcPts val="0"/>
              </a:spcBef>
              <a:spcAft>
                <a:spcPts val="0"/>
              </a:spcAft>
              <a:buNone/>
            </a:pPr>
            <a:r>
              <a:rPr lang="en-US"/>
              <a:t>https://www.youtube.com/watch?v=JgvyzIkgxF0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98" name="Google Shape;698;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cover page">
    <p:spTree>
      <p:nvGrpSpPr>
        <p:cNvPr id="15" name="Shape 15"/>
        <p:cNvGrpSpPr/>
        <p:nvPr/>
      </p:nvGrpSpPr>
      <p:grpSpPr>
        <a:xfrm>
          <a:off x="0" y="0"/>
          <a:ext cx="0" cy="0"/>
          <a:chOff x="0" y="0"/>
          <a:chExt cx="0" cy="0"/>
        </a:xfrm>
      </p:grpSpPr>
      <p:pic>
        <p:nvPicPr>
          <p:cNvPr id="16" name="Google Shape;16;p61"/>
          <p:cNvPicPr preferRelativeResize="0"/>
          <p:nvPr/>
        </p:nvPicPr>
        <p:blipFill rotWithShape="1">
          <a:blip r:embed="rId2">
            <a:alphaModFix amt="34000"/>
          </a:blip>
          <a:srcRect b="0" l="0" r="0" t="0"/>
          <a:stretch/>
        </p:blipFill>
        <p:spPr>
          <a:xfrm rot="-5400000">
            <a:off x="1428041" y="-1428041"/>
            <a:ext cx="6880030" cy="9736110"/>
          </a:xfrm>
          <a:prstGeom prst="rect">
            <a:avLst/>
          </a:prstGeom>
          <a:noFill/>
          <a:ln>
            <a:noFill/>
          </a:ln>
        </p:spPr>
      </p:pic>
      <p:pic>
        <p:nvPicPr>
          <p:cNvPr id="17" name="Google Shape;17;p61"/>
          <p:cNvPicPr preferRelativeResize="0"/>
          <p:nvPr/>
        </p:nvPicPr>
        <p:blipFill rotWithShape="1">
          <a:blip r:embed="rId3">
            <a:alphaModFix amt="99000"/>
          </a:blip>
          <a:srcRect b="0" l="0" r="0" t="0"/>
          <a:stretch/>
        </p:blipFill>
        <p:spPr>
          <a:xfrm flipH="1">
            <a:off x="59093" y="0"/>
            <a:ext cx="12073813" cy="3109189"/>
          </a:xfrm>
          <a:prstGeom prst="rect">
            <a:avLst/>
          </a:prstGeom>
          <a:noFill/>
          <a:ln>
            <a:noFill/>
          </a:ln>
        </p:spPr>
      </p:pic>
      <p:sp>
        <p:nvSpPr>
          <p:cNvPr id="18" name="Google Shape;18;p61"/>
          <p:cNvSpPr/>
          <p:nvPr/>
        </p:nvSpPr>
        <p:spPr>
          <a:xfrm rot="5400000">
            <a:off x="5953544" y="641578"/>
            <a:ext cx="284909" cy="12192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 name="Google Shape;19;p61"/>
          <p:cNvSpPr txBox="1"/>
          <p:nvPr/>
        </p:nvSpPr>
        <p:spPr>
          <a:xfrm>
            <a:off x="5479363" y="6595121"/>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 name="Shape 20"/>
        <p:cNvGrpSpPr/>
        <p:nvPr/>
      </p:nvGrpSpPr>
      <p:grpSpPr>
        <a:xfrm>
          <a:off x="0" y="0"/>
          <a:ext cx="0" cy="0"/>
          <a:chOff x="0" y="0"/>
          <a:chExt cx="0" cy="0"/>
        </a:xfrm>
      </p:grpSpPr>
      <p:pic>
        <p:nvPicPr>
          <p:cNvPr id="21" name="Google Shape;21;p62"/>
          <p:cNvPicPr preferRelativeResize="0"/>
          <p:nvPr/>
        </p:nvPicPr>
        <p:blipFill rotWithShape="1">
          <a:blip r:embed="rId2">
            <a:alphaModFix/>
          </a:blip>
          <a:srcRect b="0" l="0" r="0" t="0"/>
          <a:stretch/>
        </p:blipFill>
        <p:spPr>
          <a:xfrm flipH="1">
            <a:off x="4713261" y="1270"/>
            <a:ext cx="7112053" cy="1831461"/>
          </a:xfrm>
          <a:prstGeom prst="rect">
            <a:avLst/>
          </a:prstGeom>
          <a:noFill/>
          <a:ln>
            <a:noFill/>
          </a:ln>
        </p:spPr>
      </p:pic>
      <p:sp>
        <p:nvSpPr>
          <p:cNvPr id="22" name="Google Shape;22;p62"/>
          <p:cNvSpPr/>
          <p:nvPr/>
        </p:nvSpPr>
        <p:spPr>
          <a:xfrm>
            <a:off x="-38099" y="0"/>
            <a:ext cx="4764088" cy="6858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 name="Google Shape;23;p62"/>
          <p:cNvSpPr txBox="1"/>
          <p:nvPr>
            <p:ph type="title"/>
          </p:nvPr>
        </p:nvSpPr>
        <p:spPr>
          <a:xfrm>
            <a:off x="839788" y="457200"/>
            <a:ext cx="3771969"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6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5" name="Google Shape;25;p62"/>
          <p:cNvSpPr txBox="1"/>
          <p:nvPr>
            <p:ph idx="2" type="body"/>
          </p:nvPr>
        </p:nvSpPr>
        <p:spPr>
          <a:xfrm>
            <a:off x="839788" y="2057400"/>
            <a:ext cx="3771969"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6" name="Google Shape;26;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9" name="Google Shape;29;p62"/>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sp>
        <p:nvSpPr>
          <p:cNvPr id="30" name="Google Shape;30;p62"/>
          <p:cNvSpPr/>
          <p:nvPr/>
        </p:nvSpPr>
        <p:spPr>
          <a:xfrm rot="5400000">
            <a:off x="1324286" y="3399184"/>
            <a:ext cx="6858000" cy="59635"/>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1" name="Google Shape;31;p62"/>
          <p:cNvGrpSpPr/>
          <p:nvPr/>
        </p:nvGrpSpPr>
        <p:grpSpPr>
          <a:xfrm>
            <a:off x="11930388" y="4900065"/>
            <a:ext cx="261612" cy="1456285"/>
            <a:chOff x="-7479" y="4982614"/>
            <a:chExt cx="261612" cy="1456285"/>
          </a:xfrm>
        </p:grpSpPr>
        <p:sp>
          <p:nvSpPr>
            <p:cNvPr id="32" name="Google Shape;32;p62"/>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 name="Google Shape;33;p62"/>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pic>
        <p:nvPicPr>
          <p:cNvPr id="35" name="Google Shape;35;p63"/>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grpSp>
        <p:nvGrpSpPr>
          <p:cNvPr id="36" name="Google Shape;36;p63"/>
          <p:cNvGrpSpPr/>
          <p:nvPr/>
        </p:nvGrpSpPr>
        <p:grpSpPr>
          <a:xfrm>
            <a:off x="0" y="6438899"/>
            <a:ext cx="4425450" cy="419100"/>
            <a:chOff x="0" y="6438899"/>
            <a:chExt cx="4425450" cy="419100"/>
          </a:xfrm>
        </p:grpSpPr>
        <p:sp>
          <p:nvSpPr>
            <p:cNvPr id="37" name="Google Shape;37;p63"/>
            <p:cNvSpPr/>
            <p:nvPr/>
          </p:nvSpPr>
          <p:spPr>
            <a:xfrm>
              <a:off x="0" y="6438900"/>
              <a:ext cx="4115884" cy="41909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 name="Google Shape;38;p63"/>
            <p:cNvSpPr/>
            <p:nvPr/>
          </p:nvSpPr>
          <p:spPr>
            <a:xfrm>
              <a:off x="4115884" y="6438899"/>
              <a:ext cx="309566" cy="419100"/>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9" name="Google Shape;39;p63"/>
          <p:cNvSpPr txBox="1"/>
          <p:nvPr>
            <p:ph type="title"/>
          </p:nvPr>
        </p:nvSpPr>
        <p:spPr>
          <a:xfrm>
            <a:off x="831850" y="1047751"/>
            <a:ext cx="10515600" cy="150018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3"/>
          <p:cNvSpPr txBox="1"/>
          <p:nvPr>
            <p:ph idx="1" type="body"/>
          </p:nvPr>
        </p:nvSpPr>
        <p:spPr>
          <a:xfrm>
            <a:off x="831850" y="2814638"/>
            <a:ext cx="10515600" cy="335756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4" name="Google Shape;44;p63"/>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45" name="Google Shape;45;p63"/>
          <p:cNvGrpSpPr/>
          <p:nvPr/>
        </p:nvGrpSpPr>
        <p:grpSpPr>
          <a:xfrm>
            <a:off x="0" y="0"/>
            <a:ext cx="2135014" cy="390908"/>
            <a:chOff x="0" y="0"/>
            <a:chExt cx="2135014" cy="390908"/>
          </a:xfrm>
        </p:grpSpPr>
        <p:sp>
          <p:nvSpPr>
            <p:cNvPr id="46" name="Google Shape;46;p63"/>
            <p:cNvSpPr/>
            <p:nvPr/>
          </p:nvSpPr>
          <p:spPr>
            <a:xfrm>
              <a:off x="0" y="1"/>
              <a:ext cx="1921715" cy="3909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 name="Google Shape;47;p63"/>
            <p:cNvSpPr/>
            <p:nvPr/>
          </p:nvSpPr>
          <p:spPr>
            <a:xfrm flipH="1" rot="10800000">
              <a:off x="1921715" y="0"/>
              <a:ext cx="213299" cy="390907"/>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8" name="Google Shape;48;p63"/>
          <p:cNvGrpSpPr/>
          <p:nvPr/>
        </p:nvGrpSpPr>
        <p:grpSpPr>
          <a:xfrm>
            <a:off x="11930388" y="4900065"/>
            <a:ext cx="261612" cy="1456285"/>
            <a:chOff x="-7479" y="4982614"/>
            <a:chExt cx="261612" cy="1456285"/>
          </a:xfrm>
        </p:grpSpPr>
        <p:sp>
          <p:nvSpPr>
            <p:cNvPr id="49" name="Google Shape;49;p63"/>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 name="Google Shape;50;p63"/>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pic>
        <p:nvPicPr>
          <p:cNvPr id="52" name="Google Shape;52;p64"/>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53" name="Google Shape;53;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6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64"/>
          <p:cNvSpPr/>
          <p:nvPr/>
        </p:nvSpPr>
        <p:spPr>
          <a:xfrm>
            <a:off x="3894421" y="21431"/>
            <a:ext cx="4460168" cy="2565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9" name="Google Shape;59;p64"/>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sp>
        <p:nvSpPr>
          <p:cNvPr id="60" name="Google Shape;60;p64"/>
          <p:cNvSpPr/>
          <p:nvPr/>
        </p:nvSpPr>
        <p:spPr>
          <a:xfrm>
            <a:off x="-1" y="6808662"/>
            <a:ext cx="12249013" cy="10897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1" name="Google Shape;61;p64"/>
          <p:cNvGrpSpPr/>
          <p:nvPr/>
        </p:nvGrpSpPr>
        <p:grpSpPr>
          <a:xfrm>
            <a:off x="11930388" y="4900065"/>
            <a:ext cx="261612" cy="1456285"/>
            <a:chOff x="-7479" y="4982614"/>
            <a:chExt cx="261612" cy="1456285"/>
          </a:xfrm>
        </p:grpSpPr>
        <p:sp>
          <p:nvSpPr>
            <p:cNvPr id="62" name="Google Shape;62;p64"/>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 name="Google Shape;63;p64"/>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pic>
        <p:nvPicPr>
          <p:cNvPr id="65" name="Google Shape;65;p65"/>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66" name="Google Shape;66;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9" name="Google Shape;69;p65"/>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70" name="Google Shape;70;p65"/>
          <p:cNvGrpSpPr/>
          <p:nvPr/>
        </p:nvGrpSpPr>
        <p:grpSpPr>
          <a:xfrm>
            <a:off x="11930388" y="4900065"/>
            <a:ext cx="261612" cy="1456285"/>
            <a:chOff x="-7479" y="4982614"/>
            <a:chExt cx="261612" cy="1456285"/>
          </a:xfrm>
        </p:grpSpPr>
        <p:sp>
          <p:nvSpPr>
            <p:cNvPr id="71" name="Google Shape;71;p65"/>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 name="Google Shape;72;p65"/>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pic>
        <p:nvPicPr>
          <p:cNvPr id="74" name="Google Shape;74;p66"/>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grpSp>
        <p:nvGrpSpPr>
          <p:cNvPr id="75" name="Google Shape;75;p66"/>
          <p:cNvGrpSpPr/>
          <p:nvPr/>
        </p:nvGrpSpPr>
        <p:grpSpPr>
          <a:xfrm flipH="1">
            <a:off x="8896479" y="6438899"/>
            <a:ext cx="3295521" cy="419101"/>
            <a:chOff x="0" y="6438899"/>
            <a:chExt cx="4425450" cy="419100"/>
          </a:xfrm>
        </p:grpSpPr>
        <p:sp>
          <p:nvSpPr>
            <p:cNvPr id="76" name="Google Shape;76;p66"/>
            <p:cNvSpPr/>
            <p:nvPr/>
          </p:nvSpPr>
          <p:spPr>
            <a:xfrm>
              <a:off x="0" y="6438900"/>
              <a:ext cx="4115884" cy="41909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 name="Google Shape;77;p66"/>
            <p:cNvSpPr/>
            <p:nvPr/>
          </p:nvSpPr>
          <p:spPr>
            <a:xfrm>
              <a:off x="4115884" y="6438899"/>
              <a:ext cx="309566" cy="419100"/>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78" name="Google Shape;78;p66"/>
          <p:cNvSpPr txBox="1"/>
          <p:nvPr>
            <p:ph type="title"/>
          </p:nvPr>
        </p:nvSpPr>
        <p:spPr>
          <a:xfrm>
            <a:off x="1364974" y="276621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66"/>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83" name="Google Shape;83;p66"/>
          <p:cNvGrpSpPr/>
          <p:nvPr/>
        </p:nvGrpSpPr>
        <p:grpSpPr>
          <a:xfrm>
            <a:off x="11930388" y="4900065"/>
            <a:ext cx="261612" cy="1456285"/>
            <a:chOff x="-7479" y="4982614"/>
            <a:chExt cx="261612" cy="1456285"/>
          </a:xfrm>
        </p:grpSpPr>
        <p:sp>
          <p:nvSpPr>
            <p:cNvPr id="84" name="Google Shape;84;p66"/>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 name="Google Shape;85;p66"/>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86" name="Shape 86"/>
        <p:cNvGrpSpPr/>
        <p:nvPr/>
      </p:nvGrpSpPr>
      <p:grpSpPr>
        <a:xfrm>
          <a:off x="0" y="0"/>
          <a:ext cx="0" cy="0"/>
          <a:chOff x="0" y="0"/>
          <a:chExt cx="0" cy="0"/>
        </a:xfrm>
      </p:grpSpPr>
      <p:sp>
        <p:nvSpPr>
          <p:cNvPr id="87" name="Google Shape;87;p67"/>
          <p:cNvSpPr txBox="1"/>
          <p:nvPr>
            <p:ph type="title"/>
          </p:nvPr>
        </p:nvSpPr>
        <p:spPr>
          <a:xfrm>
            <a:off x="1219200" y="277813"/>
            <a:ext cx="10363200" cy="1143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67"/>
          <p:cNvSpPr txBox="1"/>
          <p:nvPr>
            <p:ph idx="1" type="body"/>
          </p:nvPr>
        </p:nvSpPr>
        <p:spPr>
          <a:xfrm>
            <a:off x="1219200" y="1600201"/>
            <a:ext cx="5080000" cy="453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60"/>
              </a:spcBef>
              <a:spcAft>
                <a:spcPts val="0"/>
              </a:spcAft>
              <a:buClr>
                <a:schemeClr val="dk1"/>
              </a:buClr>
              <a:buSzPts val="1800"/>
              <a:buChar char="•"/>
              <a:defRPr/>
            </a:lvl1pPr>
            <a:lvl2pPr indent="-342900" lvl="1" marL="914400" algn="l">
              <a:lnSpc>
                <a:spcPct val="90000"/>
              </a:lnSpc>
              <a:spcBef>
                <a:spcPts val="360"/>
              </a:spcBef>
              <a:spcAft>
                <a:spcPts val="0"/>
              </a:spcAft>
              <a:buClr>
                <a:schemeClr val="dk1"/>
              </a:buClr>
              <a:buSzPts val="1800"/>
              <a:buChar char="–"/>
              <a:defRPr/>
            </a:lvl2pPr>
            <a:lvl3pPr indent="-342900" lvl="2" marL="1371600" algn="l">
              <a:lnSpc>
                <a:spcPct val="90000"/>
              </a:lnSpc>
              <a:spcBef>
                <a:spcPts val="360"/>
              </a:spcBef>
              <a:spcAft>
                <a:spcPts val="0"/>
              </a:spcAft>
              <a:buClr>
                <a:schemeClr val="dk1"/>
              </a:buClr>
              <a:buSzPts val="1800"/>
              <a:buChar char="•"/>
              <a:defRPr/>
            </a:lvl3pPr>
            <a:lvl4pPr indent="-342900" lvl="3" marL="1828800" algn="l">
              <a:lnSpc>
                <a:spcPct val="90000"/>
              </a:lnSpc>
              <a:spcBef>
                <a:spcPts val="360"/>
              </a:spcBef>
              <a:spcAft>
                <a:spcPts val="0"/>
              </a:spcAft>
              <a:buClr>
                <a:schemeClr val="dk1"/>
              </a:buClr>
              <a:buSzPts val="1800"/>
              <a:buChar char="–"/>
              <a:defRPr/>
            </a:lvl4pPr>
            <a:lvl5pPr indent="-342900" lvl="4" marL="2286000" algn="l">
              <a:lnSpc>
                <a:spcPct val="90000"/>
              </a:lnSpc>
              <a:spcBef>
                <a:spcPts val="360"/>
              </a:spcBef>
              <a:spcAft>
                <a:spcPts val="0"/>
              </a:spcAft>
              <a:buClr>
                <a:schemeClr val="dk1"/>
              </a:buClr>
              <a:buSzPts val="1800"/>
              <a:buChar char="»"/>
              <a:defRPr/>
            </a:lvl5pPr>
            <a:lvl6pPr indent="-342900" lvl="5" marL="2743200" algn="l">
              <a:lnSpc>
                <a:spcPct val="90000"/>
              </a:lnSpc>
              <a:spcBef>
                <a:spcPts val="360"/>
              </a:spcBef>
              <a:spcAft>
                <a:spcPts val="0"/>
              </a:spcAft>
              <a:buClr>
                <a:schemeClr val="dk1"/>
              </a:buClr>
              <a:buSzPts val="1800"/>
              <a:buChar char="•"/>
              <a:defRPr/>
            </a:lvl6pPr>
            <a:lvl7pPr indent="-342900" lvl="6" marL="3200400" algn="l">
              <a:lnSpc>
                <a:spcPct val="90000"/>
              </a:lnSpc>
              <a:spcBef>
                <a:spcPts val="360"/>
              </a:spcBef>
              <a:spcAft>
                <a:spcPts val="0"/>
              </a:spcAft>
              <a:buClr>
                <a:schemeClr val="dk1"/>
              </a:buClr>
              <a:buSzPts val="1800"/>
              <a:buChar char="•"/>
              <a:defRPr/>
            </a:lvl7pPr>
            <a:lvl8pPr indent="-342900" lvl="7" marL="3657600" algn="l">
              <a:lnSpc>
                <a:spcPct val="90000"/>
              </a:lnSpc>
              <a:spcBef>
                <a:spcPts val="360"/>
              </a:spcBef>
              <a:spcAft>
                <a:spcPts val="0"/>
              </a:spcAft>
              <a:buClr>
                <a:schemeClr val="dk1"/>
              </a:buClr>
              <a:buSzPts val="1800"/>
              <a:buChar char="•"/>
              <a:defRPr/>
            </a:lvl8pPr>
            <a:lvl9pPr indent="-342900" lvl="8" marL="4114800" algn="l">
              <a:lnSpc>
                <a:spcPct val="90000"/>
              </a:lnSpc>
              <a:spcBef>
                <a:spcPts val="360"/>
              </a:spcBef>
              <a:spcAft>
                <a:spcPts val="0"/>
              </a:spcAft>
              <a:buClr>
                <a:schemeClr val="dk1"/>
              </a:buClr>
              <a:buSzPts val="1800"/>
              <a:buChar char="•"/>
              <a:defRPr/>
            </a:lvl9pPr>
          </a:lstStyle>
          <a:p/>
        </p:txBody>
      </p:sp>
      <p:sp>
        <p:nvSpPr>
          <p:cNvPr id="89" name="Google Shape;89;p67"/>
          <p:cNvSpPr txBox="1"/>
          <p:nvPr>
            <p:ph idx="2" type="body"/>
          </p:nvPr>
        </p:nvSpPr>
        <p:spPr>
          <a:xfrm>
            <a:off x="6502400" y="1600201"/>
            <a:ext cx="5080000" cy="453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60"/>
              </a:spcBef>
              <a:spcAft>
                <a:spcPts val="0"/>
              </a:spcAft>
              <a:buClr>
                <a:schemeClr val="dk1"/>
              </a:buClr>
              <a:buSzPts val="1800"/>
              <a:buChar char="•"/>
              <a:defRPr/>
            </a:lvl1pPr>
            <a:lvl2pPr indent="-342900" lvl="1" marL="914400" algn="l">
              <a:lnSpc>
                <a:spcPct val="90000"/>
              </a:lnSpc>
              <a:spcBef>
                <a:spcPts val="360"/>
              </a:spcBef>
              <a:spcAft>
                <a:spcPts val="0"/>
              </a:spcAft>
              <a:buClr>
                <a:schemeClr val="dk1"/>
              </a:buClr>
              <a:buSzPts val="1800"/>
              <a:buChar char="–"/>
              <a:defRPr/>
            </a:lvl2pPr>
            <a:lvl3pPr indent="-342900" lvl="2" marL="1371600" algn="l">
              <a:lnSpc>
                <a:spcPct val="90000"/>
              </a:lnSpc>
              <a:spcBef>
                <a:spcPts val="360"/>
              </a:spcBef>
              <a:spcAft>
                <a:spcPts val="0"/>
              </a:spcAft>
              <a:buClr>
                <a:schemeClr val="dk1"/>
              </a:buClr>
              <a:buSzPts val="1800"/>
              <a:buChar char="•"/>
              <a:defRPr/>
            </a:lvl3pPr>
            <a:lvl4pPr indent="-342900" lvl="3" marL="1828800" algn="l">
              <a:lnSpc>
                <a:spcPct val="90000"/>
              </a:lnSpc>
              <a:spcBef>
                <a:spcPts val="360"/>
              </a:spcBef>
              <a:spcAft>
                <a:spcPts val="0"/>
              </a:spcAft>
              <a:buClr>
                <a:schemeClr val="dk1"/>
              </a:buClr>
              <a:buSzPts val="1800"/>
              <a:buChar char="–"/>
              <a:defRPr/>
            </a:lvl4pPr>
            <a:lvl5pPr indent="-342900" lvl="4" marL="2286000" algn="l">
              <a:lnSpc>
                <a:spcPct val="90000"/>
              </a:lnSpc>
              <a:spcBef>
                <a:spcPts val="360"/>
              </a:spcBef>
              <a:spcAft>
                <a:spcPts val="0"/>
              </a:spcAft>
              <a:buClr>
                <a:schemeClr val="dk1"/>
              </a:buClr>
              <a:buSzPts val="1800"/>
              <a:buChar char="»"/>
              <a:defRPr/>
            </a:lvl5pPr>
            <a:lvl6pPr indent="-342900" lvl="5" marL="2743200" algn="l">
              <a:lnSpc>
                <a:spcPct val="90000"/>
              </a:lnSpc>
              <a:spcBef>
                <a:spcPts val="360"/>
              </a:spcBef>
              <a:spcAft>
                <a:spcPts val="0"/>
              </a:spcAft>
              <a:buClr>
                <a:schemeClr val="dk1"/>
              </a:buClr>
              <a:buSzPts val="1800"/>
              <a:buChar char="•"/>
              <a:defRPr/>
            </a:lvl6pPr>
            <a:lvl7pPr indent="-342900" lvl="6" marL="3200400" algn="l">
              <a:lnSpc>
                <a:spcPct val="90000"/>
              </a:lnSpc>
              <a:spcBef>
                <a:spcPts val="360"/>
              </a:spcBef>
              <a:spcAft>
                <a:spcPts val="0"/>
              </a:spcAft>
              <a:buClr>
                <a:schemeClr val="dk1"/>
              </a:buClr>
              <a:buSzPts val="1800"/>
              <a:buChar char="•"/>
              <a:defRPr/>
            </a:lvl7pPr>
            <a:lvl8pPr indent="-342900" lvl="7" marL="3657600" algn="l">
              <a:lnSpc>
                <a:spcPct val="90000"/>
              </a:lnSpc>
              <a:spcBef>
                <a:spcPts val="360"/>
              </a:spcBef>
              <a:spcAft>
                <a:spcPts val="0"/>
              </a:spcAft>
              <a:buClr>
                <a:schemeClr val="dk1"/>
              </a:buClr>
              <a:buSzPts val="1800"/>
              <a:buChar char="•"/>
              <a:defRPr/>
            </a:lvl8pPr>
            <a:lvl9pPr indent="-342900" lvl="8" marL="4114800" algn="l">
              <a:lnSpc>
                <a:spcPct val="90000"/>
              </a:lnSpc>
              <a:spcBef>
                <a:spcPts val="360"/>
              </a:spcBef>
              <a:spcAft>
                <a:spcPts val="0"/>
              </a:spcAft>
              <a:buClr>
                <a:schemeClr val="dk1"/>
              </a:buClr>
              <a:buSzPts val="1800"/>
              <a:buChar char="•"/>
              <a:defRPr/>
            </a:lvl9pPr>
          </a:lstStyle>
          <a:p/>
        </p:txBody>
      </p:sp>
      <p:sp>
        <p:nvSpPr>
          <p:cNvPr id="90" name="Google Shape;90;p67"/>
          <p:cNvSpPr txBox="1"/>
          <p:nvPr>
            <p:ph idx="10" type="dt"/>
          </p:nvPr>
        </p:nvSpPr>
        <p:spPr>
          <a:xfrm>
            <a:off x="609600" y="6598397"/>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91" name="Google Shape;91;p67"/>
          <p:cNvSpPr txBox="1"/>
          <p:nvPr>
            <p:ph idx="11" type="ftr"/>
          </p:nvPr>
        </p:nvSpPr>
        <p:spPr>
          <a:xfrm>
            <a:off x="3293036" y="6620436"/>
            <a:ext cx="55880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92" name="Google Shape;92;p67"/>
          <p:cNvSpPr txBox="1"/>
          <p:nvPr>
            <p:ph idx="12" type="sldNum"/>
          </p:nvPr>
        </p:nvSpPr>
        <p:spPr>
          <a:xfrm>
            <a:off x="8737600" y="6598397"/>
            <a:ext cx="28448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Clr>
                <a:srgbClr val="000000"/>
              </a:buClr>
              <a:buSzPts val="1100"/>
              <a:buFont typeface="Calibri"/>
              <a:buNone/>
              <a:defRPr b="0" i="0" sz="1100" u="none" cap="none" strike="noStrike">
                <a:solidFill>
                  <a:srgbClr val="000000"/>
                </a:solidFill>
                <a:latin typeface="Calibri"/>
                <a:ea typeface="Calibri"/>
                <a:cs typeface="Calibri"/>
                <a:sym typeface="Calibri"/>
              </a:defRPr>
            </a:lvl1pPr>
            <a:lvl2pPr indent="0" lvl="1" marL="0" marR="0" algn="r">
              <a:spcBef>
                <a:spcPts val="0"/>
              </a:spcBef>
              <a:buClr>
                <a:srgbClr val="000000"/>
              </a:buClr>
              <a:buSzPts val="1100"/>
              <a:buFont typeface="Calibri"/>
              <a:buNone/>
              <a:defRPr b="0" i="0" sz="1100" u="none" cap="none" strike="noStrike">
                <a:solidFill>
                  <a:srgbClr val="000000"/>
                </a:solidFill>
                <a:latin typeface="Calibri"/>
                <a:ea typeface="Calibri"/>
                <a:cs typeface="Calibri"/>
                <a:sym typeface="Calibri"/>
              </a:defRPr>
            </a:lvl2pPr>
            <a:lvl3pPr indent="0" lvl="2" marL="0" marR="0" algn="r">
              <a:spcBef>
                <a:spcPts val="0"/>
              </a:spcBef>
              <a:buClr>
                <a:srgbClr val="000000"/>
              </a:buClr>
              <a:buSzPts val="1100"/>
              <a:buFont typeface="Calibri"/>
              <a:buNone/>
              <a:defRPr b="0" i="0" sz="1100" u="none" cap="none" strike="noStrike">
                <a:solidFill>
                  <a:srgbClr val="000000"/>
                </a:solidFill>
                <a:latin typeface="Calibri"/>
                <a:ea typeface="Calibri"/>
                <a:cs typeface="Calibri"/>
                <a:sym typeface="Calibri"/>
              </a:defRPr>
            </a:lvl3pPr>
            <a:lvl4pPr indent="0" lvl="3" marL="0" marR="0" algn="r">
              <a:spcBef>
                <a:spcPts val="0"/>
              </a:spcBef>
              <a:buClr>
                <a:srgbClr val="000000"/>
              </a:buClr>
              <a:buSzPts val="1100"/>
              <a:buFont typeface="Calibri"/>
              <a:buNone/>
              <a:defRPr b="0" i="0" sz="1100" u="none" cap="none" strike="noStrike">
                <a:solidFill>
                  <a:srgbClr val="000000"/>
                </a:solidFill>
                <a:latin typeface="Calibri"/>
                <a:ea typeface="Calibri"/>
                <a:cs typeface="Calibri"/>
                <a:sym typeface="Calibri"/>
              </a:defRPr>
            </a:lvl4pPr>
            <a:lvl5pPr indent="0" lvl="4" marL="0" marR="0" algn="r">
              <a:spcBef>
                <a:spcPts val="0"/>
              </a:spcBef>
              <a:buClr>
                <a:srgbClr val="000000"/>
              </a:buClr>
              <a:buSzPts val="1100"/>
              <a:buFont typeface="Calibri"/>
              <a:buNone/>
              <a:defRPr b="0" i="0" sz="1100" u="none" cap="none" strike="noStrike">
                <a:solidFill>
                  <a:srgbClr val="000000"/>
                </a:solidFill>
                <a:latin typeface="Calibri"/>
                <a:ea typeface="Calibri"/>
                <a:cs typeface="Calibri"/>
                <a:sym typeface="Calibri"/>
              </a:defRPr>
            </a:lvl5pPr>
            <a:lvl6pPr indent="0" lvl="5" marL="0" marR="0" algn="r">
              <a:spcBef>
                <a:spcPts val="0"/>
              </a:spcBef>
              <a:buClr>
                <a:srgbClr val="000000"/>
              </a:buClr>
              <a:buSzPts val="1100"/>
              <a:buFont typeface="Calibri"/>
              <a:buNone/>
              <a:defRPr b="0" i="0" sz="1100" u="none" cap="none" strike="noStrike">
                <a:solidFill>
                  <a:srgbClr val="000000"/>
                </a:solidFill>
                <a:latin typeface="Calibri"/>
                <a:ea typeface="Calibri"/>
                <a:cs typeface="Calibri"/>
                <a:sym typeface="Calibri"/>
              </a:defRPr>
            </a:lvl6pPr>
            <a:lvl7pPr indent="0" lvl="6" marL="0" marR="0" algn="r">
              <a:spcBef>
                <a:spcPts val="0"/>
              </a:spcBef>
              <a:buClr>
                <a:srgbClr val="000000"/>
              </a:buClr>
              <a:buSzPts val="1100"/>
              <a:buFont typeface="Calibri"/>
              <a:buNone/>
              <a:defRPr b="0" i="0" sz="1100" u="none" cap="none" strike="noStrike">
                <a:solidFill>
                  <a:srgbClr val="000000"/>
                </a:solidFill>
                <a:latin typeface="Calibri"/>
                <a:ea typeface="Calibri"/>
                <a:cs typeface="Calibri"/>
                <a:sym typeface="Calibri"/>
              </a:defRPr>
            </a:lvl7pPr>
            <a:lvl8pPr indent="0" lvl="7" marL="0" marR="0" algn="r">
              <a:spcBef>
                <a:spcPts val="0"/>
              </a:spcBef>
              <a:buClr>
                <a:srgbClr val="000000"/>
              </a:buClr>
              <a:buSzPts val="1100"/>
              <a:buFont typeface="Calibri"/>
              <a:buNone/>
              <a:defRPr b="0" i="0" sz="1100" u="none" cap="none" strike="noStrike">
                <a:solidFill>
                  <a:srgbClr val="000000"/>
                </a:solidFill>
                <a:latin typeface="Calibri"/>
                <a:ea typeface="Calibri"/>
                <a:cs typeface="Calibri"/>
                <a:sym typeface="Calibri"/>
              </a:defRPr>
            </a:lvl8pPr>
            <a:lvl9pPr indent="0" lvl="8" marL="0" marR="0" algn="r">
              <a:spcBef>
                <a:spcPts val="0"/>
              </a:spcBef>
              <a:buClr>
                <a:srgbClr val="000000"/>
              </a:buClr>
              <a:buSzPts val="1100"/>
              <a:buFont typeface="Calibri"/>
              <a:buNone/>
              <a:defRPr b="0" i="0" sz="1100" u="none" cap="none" strike="noStrike">
                <a:solidFill>
                  <a:srgbClr val="00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3" name="Shape 93"/>
        <p:cNvGrpSpPr/>
        <p:nvPr/>
      </p:nvGrpSpPr>
      <p:grpSpPr>
        <a:xfrm>
          <a:off x="0" y="0"/>
          <a:ext cx="0" cy="0"/>
          <a:chOff x="0" y="0"/>
          <a:chExt cx="0" cy="0"/>
        </a:xfrm>
      </p:grpSpPr>
      <p:sp>
        <p:nvSpPr>
          <p:cNvPr id="94" name="Google Shape;94;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97" name="Google Shape;97;p68"/>
          <p:cNvGrpSpPr/>
          <p:nvPr/>
        </p:nvGrpSpPr>
        <p:grpSpPr>
          <a:xfrm>
            <a:off x="0" y="0"/>
            <a:ext cx="4736144" cy="7783867"/>
            <a:chOff x="0" y="0"/>
            <a:chExt cx="4736144" cy="7783867"/>
          </a:xfrm>
        </p:grpSpPr>
        <p:pic>
          <p:nvPicPr>
            <p:cNvPr id="98" name="Google Shape;98;p68"/>
            <p:cNvPicPr preferRelativeResize="0"/>
            <p:nvPr/>
          </p:nvPicPr>
          <p:blipFill rotWithShape="1">
            <a:blip r:embed="rId2">
              <a:alphaModFix/>
            </a:blip>
            <a:srcRect b="0" l="0" r="0" t="0"/>
            <a:stretch/>
          </p:blipFill>
          <p:spPr>
            <a:xfrm>
              <a:off x="0" y="0"/>
              <a:ext cx="3118649" cy="4463581"/>
            </a:xfrm>
            <a:prstGeom prst="rect">
              <a:avLst/>
            </a:prstGeom>
            <a:noFill/>
            <a:ln>
              <a:noFill/>
            </a:ln>
          </p:spPr>
        </p:pic>
        <p:sp>
          <p:nvSpPr>
            <p:cNvPr id="99" name="Google Shape;99;p68"/>
            <p:cNvSpPr/>
            <p:nvPr/>
          </p:nvSpPr>
          <p:spPr>
            <a:xfrm rot="8446488">
              <a:off x="1155879" y="3069975"/>
              <a:ext cx="2214654" cy="3120244"/>
            </a:xfrm>
            <a:prstGeom prst="parallelogram">
              <a:avLst>
                <a:gd fmla="val 25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 name="Google Shape;100;p68"/>
            <p:cNvSpPr/>
            <p:nvPr/>
          </p:nvSpPr>
          <p:spPr>
            <a:xfrm rot="8446488">
              <a:off x="2539020" y="5497285"/>
              <a:ext cx="1784436" cy="1941063"/>
            </a:xfrm>
            <a:custGeom>
              <a:rect b="b" l="l" r="r" t="t"/>
              <a:pathLst>
                <a:path extrusionOk="0" h="1941063" w="1784436">
                  <a:moveTo>
                    <a:pt x="0" y="1941063"/>
                  </a:moveTo>
                  <a:lnTo>
                    <a:pt x="341522" y="0"/>
                  </a:lnTo>
                  <a:lnTo>
                    <a:pt x="1784436" y="1205605"/>
                  </a:lnTo>
                  <a:lnTo>
                    <a:pt x="1660991" y="1941063"/>
                  </a:lnTo>
                  <a:lnTo>
                    <a:pt x="0" y="1941063"/>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id="101" name="Google Shape;101;p68"/>
          <p:cNvPicPr preferRelativeResize="0"/>
          <p:nvPr/>
        </p:nvPicPr>
        <p:blipFill rotWithShape="1">
          <a:blip r:embed="rId3">
            <a:alphaModFix/>
          </a:blip>
          <a:srcRect b="0" l="0" r="0" t="0"/>
          <a:stretch/>
        </p:blipFill>
        <p:spPr>
          <a:xfrm flipH="1">
            <a:off x="2126331" y="-1062392"/>
            <a:ext cx="2405080" cy="3385097"/>
          </a:xfrm>
          <a:prstGeom prst="rect">
            <a:avLst/>
          </a:prstGeom>
          <a:noFill/>
          <a:ln>
            <a:noFill/>
          </a:ln>
        </p:spPr>
      </p:pic>
      <p:pic>
        <p:nvPicPr>
          <p:cNvPr id="102" name="Google Shape;102;p68"/>
          <p:cNvPicPr preferRelativeResize="0"/>
          <p:nvPr/>
        </p:nvPicPr>
        <p:blipFill rotWithShape="1">
          <a:blip r:embed="rId4">
            <a:alphaModFix amt="99000"/>
          </a:blip>
          <a:srcRect b="0" l="0" r="0" t="0"/>
          <a:stretch/>
        </p:blipFill>
        <p:spPr>
          <a:xfrm flipH="1" rot="-5400000">
            <a:off x="-2602281" y="2616106"/>
            <a:ext cx="7046892" cy="1814681"/>
          </a:xfrm>
          <a:prstGeom prst="rect">
            <a:avLst/>
          </a:prstGeom>
          <a:noFill/>
          <a:ln>
            <a:noFill/>
          </a:ln>
        </p:spPr>
      </p:pic>
      <p:pic>
        <p:nvPicPr>
          <p:cNvPr id="103" name="Google Shape;103;p68"/>
          <p:cNvPicPr preferRelativeResize="0"/>
          <p:nvPr/>
        </p:nvPicPr>
        <p:blipFill rotWithShape="1">
          <a:blip r:embed="rId5">
            <a:alphaModFix/>
          </a:blip>
          <a:srcRect b="0" l="0" r="0" t="0"/>
          <a:stretch/>
        </p:blipFill>
        <p:spPr>
          <a:xfrm rot="10800000">
            <a:off x="283211" y="3743462"/>
            <a:ext cx="2080701" cy="2978013"/>
          </a:xfrm>
          <a:prstGeom prst="rect">
            <a:avLst/>
          </a:prstGeom>
          <a:noFill/>
          <a:ln>
            <a:noFill/>
          </a:ln>
        </p:spPr>
      </p:pic>
      <p:pic>
        <p:nvPicPr>
          <p:cNvPr id="104" name="Google Shape;104;p68"/>
          <p:cNvPicPr preferRelativeResize="0"/>
          <p:nvPr/>
        </p:nvPicPr>
        <p:blipFill rotWithShape="1">
          <a:blip r:embed="rId6">
            <a:alphaModFix/>
          </a:blip>
          <a:srcRect b="0" l="0" r="0" t="0"/>
          <a:stretch/>
        </p:blipFill>
        <p:spPr>
          <a:xfrm rot="5400000">
            <a:off x="1830037" y="6046777"/>
            <a:ext cx="419100" cy="790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05" name="Shape 105"/>
        <p:cNvGrpSpPr/>
        <p:nvPr/>
      </p:nvGrpSpPr>
      <p:grpSpPr>
        <a:xfrm>
          <a:off x="0" y="0"/>
          <a:ext cx="0" cy="0"/>
          <a:chOff x="0" y="0"/>
          <a:chExt cx="0" cy="0"/>
        </a:xfrm>
      </p:grpSpPr>
      <p:pic>
        <p:nvPicPr>
          <p:cNvPr id="106" name="Google Shape;106;p69"/>
          <p:cNvPicPr preferRelativeResize="0"/>
          <p:nvPr/>
        </p:nvPicPr>
        <p:blipFill rotWithShape="1">
          <a:blip r:embed="rId2">
            <a:alphaModFix/>
          </a:blip>
          <a:srcRect b="7973" l="0" r="0" t="26333"/>
          <a:stretch/>
        </p:blipFill>
        <p:spPr>
          <a:xfrm>
            <a:off x="0" y="0"/>
            <a:ext cx="12192000" cy="6858000"/>
          </a:xfrm>
          <a:prstGeom prst="rect">
            <a:avLst/>
          </a:prstGeom>
          <a:noFill/>
          <a:ln>
            <a:noFill/>
          </a:ln>
        </p:spPr>
      </p:pic>
      <p:sp>
        <p:nvSpPr>
          <p:cNvPr id="107" name="Google Shape;107;p69"/>
          <p:cNvSpPr/>
          <p:nvPr/>
        </p:nvSpPr>
        <p:spPr>
          <a:xfrm>
            <a:off x="0" y="1"/>
            <a:ext cx="12192000" cy="6858000"/>
          </a:xfrm>
          <a:prstGeom prst="rect">
            <a:avLst/>
          </a:prstGeom>
          <a:gradFill>
            <a:gsLst>
              <a:gs pos="0">
                <a:srgbClr val="6C1D35">
                  <a:alpha val="67843"/>
                </a:srgbClr>
              </a:gs>
              <a:gs pos="12000">
                <a:srgbClr val="6C1D35">
                  <a:alpha val="67843"/>
                </a:srgbClr>
              </a:gs>
              <a:gs pos="77000">
                <a:srgbClr val="511527"/>
              </a:gs>
              <a:gs pos="100000">
                <a:srgbClr val="511527"/>
              </a:gs>
            </a:gsLst>
            <a:lin ang="13500000" scaled="0"/>
          </a:gradFill>
          <a:ln cap="flat" cmpd="sng" w="12700">
            <a:solidFill>
              <a:srgbClr val="2D0C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 name="Google Shape;108;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1" name="Google Shape;111;p69"/>
          <p:cNvPicPr preferRelativeResize="0"/>
          <p:nvPr/>
        </p:nvPicPr>
        <p:blipFill rotWithShape="1">
          <a:blip r:embed="rId3">
            <a:alphaModFix/>
          </a:blip>
          <a:srcRect b="0" l="0" r="0" t="0"/>
          <a:stretch/>
        </p:blipFill>
        <p:spPr>
          <a:xfrm flipH="1" rot="10800000">
            <a:off x="7112000" y="-35081"/>
            <a:ext cx="4917440" cy="6921189"/>
          </a:xfrm>
          <a:prstGeom prst="rect">
            <a:avLst/>
          </a:prstGeom>
          <a:noFill/>
          <a:ln>
            <a:noFill/>
          </a:ln>
        </p:spPr>
      </p:pic>
      <p:pic>
        <p:nvPicPr>
          <p:cNvPr id="112" name="Google Shape;112;p69"/>
          <p:cNvPicPr preferRelativeResize="0"/>
          <p:nvPr/>
        </p:nvPicPr>
        <p:blipFill rotWithShape="1">
          <a:blip r:embed="rId3">
            <a:alphaModFix/>
          </a:blip>
          <a:srcRect b="0" l="0" r="0" t="0"/>
          <a:stretch/>
        </p:blipFill>
        <p:spPr>
          <a:xfrm flipH="1" rot="10800000">
            <a:off x="11268262" y="349094"/>
            <a:ext cx="2010036" cy="282908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age">
  <p:cSld name="end page">
    <p:spTree>
      <p:nvGrpSpPr>
        <p:cNvPr id="113" name="Shape 113"/>
        <p:cNvGrpSpPr/>
        <p:nvPr/>
      </p:nvGrpSpPr>
      <p:grpSpPr>
        <a:xfrm>
          <a:off x="0" y="0"/>
          <a:ext cx="0" cy="0"/>
          <a:chOff x="0" y="0"/>
          <a:chExt cx="0" cy="0"/>
        </a:xfrm>
      </p:grpSpPr>
      <p:sp>
        <p:nvSpPr>
          <p:cNvPr id="114" name="Google Shape;114;p70"/>
          <p:cNvSpPr/>
          <p:nvPr/>
        </p:nvSpPr>
        <p:spPr>
          <a:xfrm>
            <a:off x="0" y="-2"/>
            <a:ext cx="12230100" cy="6858001"/>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5" name="Google Shape;115;p70"/>
          <p:cNvPicPr preferRelativeResize="0"/>
          <p:nvPr/>
        </p:nvPicPr>
        <p:blipFill rotWithShape="1">
          <a:blip r:embed="rId2">
            <a:alphaModFix amt="32000"/>
          </a:blip>
          <a:srcRect b="0" l="20647" r="0" t="0"/>
          <a:stretch/>
        </p:blipFill>
        <p:spPr>
          <a:xfrm rot="-5400000">
            <a:off x="2686050" y="-2686050"/>
            <a:ext cx="6858000" cy="12230100"/>
          </a:xfrm>
          <a:prstGeom prst="rect">
            <a:avLst/>
          </a:prstGeom>
          <a:noFill/>
          <a:ln>
            <a:noFill/>
          </a:ln>
        </p:spPr>
      </p:pic>
      <p:sp>
        <p:nvSpPr>
          <p:cNvPr id="116" name="Google Shape;116;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9" name="Shape 119"/>
        <p:cNvGrpSpPr/>
        <p:nvPr/>
      </p:nvGrpSpPr>
      <p:grpSpPr>
        <a:xfrm>
          <a:off x="0" y="0"/>
          <a:ext cx="0" cy="0"/>
          <a:chOff x="0" y="0"/>
          <a:chExt cx="0" cy="0"/>
        </a:xfrm>
      </p:grpSpPr>
      <p:pic>
        <p:nvPicPr>
          <p:cNvPr id="120" name="Google Shape;120;p71"/>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sp>
        <p:nvSpPr>
          <p:cNvPr id="121" name="Google Shape;121;p71"/>
          <p:cNvSpPr txBox="1"/>
          <p:nvPr>
            <p:ph type="ctrTitle"/>
          </p:nvPr>
        </p:nvSpPr>
        <p:spPr>
          <a:xfrm>
            <a:off x="1524000" y="1122363"/>
            <a:ext cx="9144000" cy="13811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71"/>
          <p:cNvSpPr txBox="1"/>
          <p:nvPr>
            <p:ph idx="1" type="subTitle"/>
          </p:nvPr>
        </p:nvSpPr>
        <p:spPr>
          <a:xfrm>
            <a:off x="1524000" y="2601118"/>
            <a:ext cx="9144000" cy="3461751"/>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23" name="Google Shape;123;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6C1D35"/>
                </a:solidFill>
                <a:latin typeface="Calibri"/>
                <a:ea typeface="Calibri"/>
                <a:cs typeface="Calibri"/>
                <a:sym typeface="Calibri"/>
              </a:defRPr>
            </a:lvl1pPr>
            <a:lvl2pPr indent="0" lvl="1" marL="0" algn="r">
              <a:spcBef>
                <a:spcPts val="0"/>
              </a:spcBef>
              <a:buNone/>
              <a:defRPr sz="1200">
                <a:solidFill>
                  <a:srgbClr val="6C1D35"/>
                </a:solidFill>
                <a:latin typeface="Calibri"/>
                <a:ea typeface="Calibri"/>
                <a:cs typeface="Calibri"/>
                <a:sym typeface="Calibri"/>
              </a:defRPr>
            </a:lvl2pPr>
            <a:lvl3pPr indent="0" lvl="2" marL="0" algn="r">
              <a:spcBef>
                <a:spcPts val="0"/>
              </a:spcBef>
              <a:buNone/>
              <a:defRPr sz="1200">
                <a:solidFill>
                  <a:srgbClr val="6C1D35"/>
                </a:solidFill>
                <a:latin typeface="Calibri"/>
                <a:ea typeface="Calibri"/>
                <a:cs typeface="Calibri"/>
                <a:sym typeface="Calibri"/>
              </a:defRPr>
            </a:lvl3pPr>
            <a:lvl4pPr indent="0" lvl="3" marL="0" algn="r">
              <a:spcBef>
                <a:spcPts val="0"/>
              </a:spcBef>
              <a:buNone/>
              <a:defRPr sz="1200">
                <a:solidFill>
                  <a:srgbClr val="6C1D35"/>
                </a:solidFill>
                <a:latin typeface="Calibri"/>
                <a:ea typeface="Calibri"/>
                <a:cs typeface="Calibri"/>
                <a:sym typeface="Calibri"/>
              </a:defRPr>
            </a:lvl4pPr>
            <a:lvl5pPr indent="0" lvl="4" marL="0" algn="r">
              <a:spcBef>
                <a:spcPts val="0"/>
              </a:spcBef>
              <a:buNone/>
              <a:defRPr sz="1200">
                <a:solidFill>
                  <a:srgbClr val="6C1D35"/>
                </a:solidFill>
                <a:latin typeface="Calibri"/>
                <a:ea typeface="Calibri"/>
                <a:cs typeface="Calibri"/>
                <a:sym typeface="Calibri"/>
              </a:defRPr>
            </a:lvl5pPr>
            <a:lvl6pPr indent="0" lvl="5" marL="0" algn="r">
              <a:spcBef>
                <a:spcPts val="0"/>
              </a:spcBef>
              <a:buNone/>
              <a:defRPr sz="1200">
                <a:solidFill>
                  <a:srgbClr val="6C1D35"/>
                </a:solidFill>
                <a:latin typeface="Calibri"/>
                <a:ea typeface="Calibri"/>
                <a:cs typeface="Calibri"/>
                <a:sym typeface="Calibri"/>
              </a:defRPr>
            </a:lvl6pPr>
            <a:lvl7pPr indent="0" lvl="6" marL="0" algn="r">
              <a:spcBef>
                <a:spcPts val="0"/>
              </a:spcBef>
              <a:buNone/>
              <a:defRPr sz="1200">
                <a:solidFill>
                  <a:srgbClr val="6C1D35"/>
                </a:solidFill>
                <a:latin typeface="Calibri"/>
                <a:ea typeface="Calibri"/>
                <a:cs typeface="Calibri"/>
                <a:sym typeface="Calibri"/>
              </a:defRPr>
            </a:lvl7pPr>
            <a:lvl8pPr indent="0" lvl="7" marL="0" algn="r">
              <a:spcBef>
                <a:spcPts val="0"/>
              </a:spcBef>
              <a:buNone/>
              <a:defRPr sz="1200">
                <a:solidFill>
                  <a:srgbClr val="6C1D35"/>
                </a:solidFill>
                <a:latin typeface="Calibri"/>
                <a:ea typeface="Calibri"/>
                <a:cs typeface="Calibri"/>
                <a:sym typeface="Calibri"/>
              </a:defRPr>
            </a:lvl8pPr>
            <a:lvl9pPr indent="0" lvl="8" marL="0" algn="r">
              <a:spcBef>
                <a:spcPts val="0"/>
              </a:spcBef>
              <a:buNone/>
              <a:defRPr sz="1200">
                <a:solidFill>
                  <a:srgbClr val="6C1D3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26" name="Google Shape;126;p71"/>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27" name="Google Shape;127;p71"/>
          <p:cNvGrpSpPr/>
          <p:nvPr/>
        </p:nvGrpSpPr>
        <p:grpSpPr>
          <a:xfrm>
            <a:off x="0" y="336866"/>
            <a:ext cx="838200" cy="390908"/>
            <a:chOff x="0" y="585597"/>
            <a:chExt cx="838200" cy="390908"/>
          </a:xfrm>
        </p:grpSpPr>
        <p:sp>
          <p:nvSpPr>
            <p:cNvPr id="128" name="Google Shape;128;p71"/>
            <p:cNvSpPr/>
            <p:nvPr/>
          </p:nvSpPr>
          <p:spPr>
            <a:xfrm>
              <a:off x="0" y="585598"/>
              <a:ext cx="624901" cy="3909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71"/>
            <p:cNvSpPr/>
            <p:nvPr/>
          </p:nvSpPr>
          <p:spPr>
            <a:xfrm flipH="1" rot="10800000">
              <a:off x="624901" y="585597"/>
              <a:ext cx="213299" cy="390907"/>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30" name="Google Shape;130;p71"/>
          <p:cNvGrpSpPr/>
          <p:nvPr/>
        </p:nvGrpSpPr>
        <p:grpSpPr>
          <a:xfrm>
            <a:off x="11930388" y="4900065"/>
            <a:ext cx="261612" cy="1456285"/>
            <a:chOff x="-7479" y="4982614"/>
            <a:chExt cx="261612" cy="1456285"/>
          </a:xfrm>
        </p:grpSpPr>
        <p:sp>
          <p:nvSpPr>
            <p:cNvPr id="131" name="Google Shape;131;p71"/>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71"/>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3" name="Shape 133"/>
        <p:cNvGrpSpPr/>
        <p:nvPr/>
      </p:nvGrpSpPr>
      <p:grpSpPr>
        <a:xfrm>
          <a:off x="0" y="0"/>
          <a:ext cx="0" cy="0"/>
          <a:chOff x="0" y="0"/>
          <a:chExt cx="0" cy="0"/>
        </a:xfrm>
      </p:grpSpPr>
      <p:pic>
        <p:nvPicPr>
          <p:cNvPr id="134" name="Google Shape;134;p72"/>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135" name="Google Shape;135;p72"/>
          <p:cNvSpPr/>
          <p:nvPr/>
        </p:nvSpPr>
        <p:spPr>
          <a:xfrm>
            <a:off x="-38100" y="1690688"/>
            <a:ext cx="12230100" cy="5167312"/>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7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7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42" name="Google Shape;142;p72"/>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43" name="Google Shape;143;p72"/>
          <p:cNvGrpSpPr/>
          <p:nvPr/>
        </p:nvGrpSpPr>
        <p:grpSpPr>
          <a:xfrm>
            <a:off x="11930388" y="4900065"/>
            <a:ext cx="261612" cy="1456285"/>
            <a:chOff x="-7479" y="4982614"/>
            <a:chExt cx="261612" cy="1456285"/>
          </a:xfrm>
        </p:grpSpPr>
        <p:sp>
          <p:nvSpPr>
            <p:cNvPr id="144" name="Google Shape;144;p72"/>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 name="Google Shape;145;p72"/>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6" name="Shape 146"/>
        <p:cNvGrpSpPr/>
        <p:nvPr/>
      </p:nvGrpSpPr>
      <p:grpSpPr>
        <a:xfrm>
          <a:off x="0" y="0"/>
          <a:ext cx="0" cy="0"/>
          <a:chOff x="0" y="0"/>
          <a:chExt cx="0" cy="0"/>
        </a:xfrm>
      </p:grpSpPr>
      <p:pic>
        <p:nvPicPr>
          <p:cNvPr id="147" name="Google Shape;147;p73"/>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sp>
        <p:nvSpPr>
          <p:cNvPr id="148" name="Google Shape;148;p7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7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0" name="Google Shape;150;p7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7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2" name="Google Shape;152;p7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56" name="Google Shape;156;p73"/>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sp>
        <p:nvSpPr>
          <p:cNvPr id="157" name="Google Shape;157;p73"/>
          <p:cNvSpPr/>
          <p:nvPr/>
        </p:nvSpPr>
        <p:spPr>
          <a:xfrm>
            <a:off x="6764" y="342265"/>
            <a:ext cx="10269639" cy="4571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58" name="Google Shape;158;p73"/>
          <p:cNvGrpSpPr/>
          <p:nvPr/>
        </p:nvGrpSpPr>
        <p:grpSpPr>
          <a:xfrm>
            <a:off x="11930388" y="4900065"/>
            <a:ext cx="261612" cy="1456285"/>
            <a:chOff x="-7479" y="4982614"/>
            <a:chExt cx="261612" cy="1456285"/>
          </a:xfrm>
        </p:grpSpPr>
        <p:sp>
          <p:nvSpPr>
            <p:cNvPr id="159" name="Google Shape;159;p73"/>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73"/>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color">
  <p:cSld name="Blank-color">
    <p:spTree>
      <p:nvGrpSpPr>
        <p:cNvPr id="161" name="Shape 161"/>
        <p:cNvGrpSpPr/>
        <p:nvPr/>
      </p:nvGrpSpPr>
      <p:grpSpPr>
        <a:xfrm>
          <a:off x="0" y="0"/>
          <a:ext cx="0" cy="0"/>
          <a:chOff x="0" y="0"/>
          <a:chExt cx="0" cy="0"/>
        </a:xfrm>
      </p:grpSpPr>
      <p:sp>
        <p:nvSpPr>
          <p:cNvPr id="162" name="Google Shape;162;p74"/>
          <p:cNvSpPr/>
          <p:nvPr/>
        </p:nvSpPr>
        <p:spPr>
          <a:xfrm>
            <a:off x="-38100" y="0"/>
            <a:ext cx="12230100" cy="6858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3" name="Google Shape;163;p74"/>
          <p:cNvGrpSpPr/>
          <p:nvPr/>
        </p:nvGrpSpPr>
        <p:grpSpPr>
          <a:xfrm>
            <a:off x="7180119" y="6473574"/>
            <a:ext cx="5011881" cy="390911"/>
            <a:chOff x="7180118" y="6489891"/>
            <a:chExt cx="5011881" cy="390911"/>
          </a:xfrm>
        </p:grpSpPr>
        <p:sp>
          <p:nvSpPr>
            <p:cNvPr id="164" name="Google Shape;164;p74"/>
            <p:cNvSpPr/>
            <p:nvPr/>
          </p:nvSpPr>
          <p:spPr>
            <a:xfrm rot="10800000">
              <a:off x="7393415" y="6489891"/>
              <a:ext cx="4798584" cy="3909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74"/>
            <p:cNvSpPr/>
            <p:nvPr/>
          </p:nvSpPr>
          <p:spPr>
            <a:xfrm flipH="1">
              <a:off x="7180118" y="6489895"/>
              <a:ext cx="213299" cy="390907"/>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id="166" name="Google Shape;166;p74"/>
          <p:cNvPicPr preferRelativeResize="0"/>
          <p:nvPr/>
        </p:nvPicPr>
        <p:blipFill rotWithShape="1">
          <a:blip r:embed="rId2">
            <a:alphaModFix/>
          </a:blip>
          <a:srcRect b="0" l="0" r="0" t="0"/>
          <a:stretch/>
        </p:blipFill>
        <p:spPr>
          <a:xfrm>
            <a:off x="10476220" y="283589"/>
            <a:ext cx="1470825" cy="497461"/>
          </a:xfrm>
          <a:prstGeom prst="rect">
            <a:avLst/>
          </a:prstGeom>
          <a:noFill/>
          <a:ln>
            <a:noFill/>
          </a:ln>
        </p:spPr>
      </p:pic>
      <p:sp>
        <p:nvSpPr>
          <p:cNvPr id="167" name="Google Shape;167;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70" name="Google Shape;170;p74"/>
          <p:cNvGrpSpPr/>
          <p:nvPr/>
        </p:nvGrpSpPr>
        <p:grpSpPr>
          <a:xfrm>
            <a:off x="-58882" y="0"/>
            <a:ext cx="2130820" cy="390908"/>
            <a:chOff x="-58882" y="0"/>
            <a:chExt cx="2130820" cy="390908"/>
          </a:xfrm>
        </p:grpSpPr>
        <p:sp>
          <p:nvSpPr>
            <p:cNvPr id="171" name="Google Shape;171;p74"/>
            <p:cNvSpPr/>
            <p:nvPr/>
          </p:nvSpPr>
          <p:spPr>
            <a:xfrm>
              <a:off x="-58882" y="1"/>
              <a:ext cx="1921715" cy="3909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74"/>
            <p:cNvSpPr/>
            <p:nvPr/>
          </p:nvSpPr>
          <p:spPr>
            <a:xfrm flipH="1" rot="10800000">
              <a:off x="1858639" y="0"/>
              <a:ext cx="213299" cy="390907"/>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73" name="Google Shape;173;p74"/>
          <p:cNvGrpSpPr/>
          <p:nvPr/>
        </p:nvGrpSpPr>
        <p:grpSpPr>
          <a:xfrm>
            <a:off x="11930388" y="4900065"/>
            <a:ext cx="261612" cy="1456285"/>
            <a:chOff x="-7479" y="4982614"/>
            <a:chExt cx="261612" cy="1456285"/>
          </a:xfrm>
        </p:grpSpPr>
        <p:sp>
          <p:nvSpPr>
            <p:cNvPr id="174" name="Google Shape;174;p74"/>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74"/>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76" name="Shape 176"/>
        <p:cNvGrpSpPr/>
        <p:nvPr/>
      </p:nvGrpSpPr>
      <p:grpSpPr>
        <a:xfrm>
          <a:off x="0" y="0"/>
          <a:ext cx="0" cy="0"/>
          <a:chOff x="0" y="0"/>
          <a:chExt cx="0" cy="0"/>
        </a:xfrm>
      </p:grpSpPr>
      <p:pic>
        <p:nvPicPr>
          <p:cNvPr id="177" name="Google Shape;177;p75"/>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178" name="Google Shape;178;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81" name="Google Shape;181;p75"/>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82" name="Google Shape;182;p75"/>
          <p:cNvGrpSpPr/>
          <p:nvPr/>
        </p:nvGrpSpPr>
        <p:grpSpPr>
          <a:xfrm>
            <a:off x="11930388" y="4900065"/>
            <a:ext cx="261612" cy="1456285"/>
            <a:chOff x="-7479" y="4982614"/>
            <a:chExt cx="261612" cy="1456285"/>
          </a:xfrm>
        </p:grpSpPr>
        <p:sp>
          <p:nvSpPr>
            <p:cNvPr id="183" name="Google Shape;183;p75"/>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75"/>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
        <p:nvSpPr>
          <p:cNvPr id="185" name="Google Shape;185;p75"/>
          <p:cNvSpPr/>
          <p:nvPr/>
        </p:nvSpPr>
        <p:spPr>
          <a:xfrm rot="5400000">
            <a:off x="6073139" y="761174"/>
            <a:ext cx="45719" cy="12192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75"/>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187" name="Shape 187"/>
        <p:cNvGrpSpPr/>
        <p:nvPr/>
      </p:nvGrpSpPr>
      <p:grpSpPr>
        <a:xfrm>
          <a:off x="0" y="0"/>
          <a:ext cx="0" cy="0"/>
          <a:chOff x="0" y="0"/>
          <a:chExt cx="0" cy="0"/>
        </a:xfrm>
      </p:grpSpPr>
      <p:pic>
        <p:nvPicPr>
          <p:cNvPr id="188" name="Google Shape;188;p76"/>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189" name="Google Shape;189;p7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7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92" name="Google Shape;192;p76"/>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93" name="Google Shape;193;p76"/>
          <p:cNvGrpSpPr/>
          <p:nvPr/>
        </p:nvGrpSpPr>
        <p:grpSpPr>
          <a:xfrm>
            <a:off x="11930388" y="4900065"/>
            <a:ext cx="261612" cy="1456285"/>
            <a:chOff x="-7479" y="4982614"/>
            <a:chExt cx="261612" cy="1456285"/>
          </a:xfrm>
        </p:grpSpPr>
        <p:sp>
          <p:nvSpPr>
            <p:cNvPr id="194" name="Google Shape;194;p76"/>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76"/>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
        <p:nvSpPr>
          <p:cNvPr id="196" name="Google Shape;196;p76"/>
          <p:cNvSpPr/>
          <p:nvPr/>
        </p:nvSpPr>
        <p:spPr>
          <a:xfrm rot="5400000">
            <a:off x="6079906" y="-6086095"/>
            <a:ext cx="45719" cy="12192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76"/>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Calibri"/>
              <a:buNone/>
              <a:defRPr b="0"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1.png"/><Relationship Id="rId4"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22.jpg"/><Relationship Id="rId4" Type="http://schemas.openxmlformats.org/officeDocument/2006/relationships/image" Target="../media/image19.png"/><Relationship Id="rId5" Type="http://schemas.openxmlformats.org/officeDocument/2006/relationships/hyperlink" Target="http://www.cisco.com/c/en/us/products/security/encryption-explained.html#~types-of-data-encryption"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2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2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3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3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
          <p:cNvSpPr txBox="1"/>
          <p:nvPr/>
        </p:nvSpPr>
        <p:spPr>
          <a:xfrm>
            <a:off x="2270453" y="3796284"/>
            <a:ext cx="901624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rgbClr val="3F3F3F"/>
                </a:solidFill>
                <a:latin typeface="Calibri"/>
                <a:ea typeface="Calibri"/>
                <a:cs typeface="Calibri"/>
                <a:sym typeface="Calibri"/>
              </a:rPr>
              <a:t>Topic 2: Features of Software</a:t>
            </a:r>
            <a:endParaRPr sz="3200">
              <a:solidFill>
                <a:srgbClr val="3F3F3F"/>
              </a:solidFill>
              <a:latin typeface="Calibri"/>
              <a:ea typeface="Calibri"/>
              <a:cs typeface="Calibri"/>
              <a:sym typeface="Calibri"/>
            </a:endParaRPr>
          </a:p>
        </p:txBody>
      </p:sp>
      <p:sp>
        <p:nvSpPr>
          <p:cNvPr id="203" name="Google Shape;203;p1"/>
          <p:cNvSpPr txBox="1"/>
          <p:nvPr/>
        </p:nvSpPr>
        <p:spPr>
          <a:xfrm>
            <a:off x="2270453" y="2210206"/>
            <a:ext cx="6431894"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rgbClr val="6C1D35"/>
                </a:solidFill>
                <a:latin typeface="Calibri"/>
                <a:ea typeface="Calibri"/>
                <a:cs typeface="Calibri"/>
                <a:sym typeface="Calibri"/>
              </a:rPr>
              <a:t>UNIVERSITI TEKNOLOGI MALAYSIA</a:t>
            </a:r>
            <a:endParaRPr/>
          </a:p>
        </p:txBody>
      </p:sp>
      <p:pic>
        <p:nvPicPr>
          <p:cNvPr id="204" name="Google Shape;204;p1"/>
          <p:cNvPicPr preferRelativeResize="0"/>
          <p:nvPr/>
        </p:nvPicPr>
        <p:blipFill rotWithShape="1">
          <a:blip r:embed="rId3">
            <a:alphaModFix/>
          </a:blip>
          <a:srcRect b="0" l="0" r="0" t="0"/>
          <a:stretch/>
        </p:blipFill>
        <p:spPr>
          <a:xfrm>
            <a:off x="4727149" y="599516"/>
            <a:ext cx="2249407" cy="751894"/>
          </a:xfrm>
          <a:prstGeom prst="rect">
            <a:avLst/>
          </a:prstGeom>
          <a:noFill/>
          <a:ln>
            <a:noFill/>
          </a:ln>
        </p:spPr>
      </p:pic>
      <p:pic>
        <p:nvPicPr>
          <p:cNvPr id="205" name="Google Shape;205;p1"/>
          <p:cNvPicPr preferRelativeResize="0"/>
          <p:nvPr/>
        </p:nvPicPr>
        <p:blipFill rotWithShape="1">
          <a:blip r:embed="rId4">
            <a:alphaModFix/>
          </a:blip>
          <a:srcRect b="0" l="0" r="0" t="0"/>
          <a:stretch/>
        </p:blipFill>
        <p:spPr>
          <a:xfrm>
            <a:off x="5178429" y="6352942"/>
            <a:ext cx="2136771" cy="16080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
        <p:nvSpPr>
          <p:cNvPr id="211" name="Google Shape;211;p2"/>
          <p:cNvSpPr txBox="1"/>
          <p:nvPr>
            <p:ph idx="1" type="body"/>
          </p:nvPr>
        </p:nvSpPr>
        <p:spPr>
          <a:xfrm>
            <a:off x="4829175" y="1758156"/>
            <a:ext cx="6872287"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By the end of Topic 2, learners should be able to:</a:t>
            </a:r>
            <a:endParaRPr/>
          </a:p>
          <a:p>
            <a:pPr indent="-514350" lvl="0" marL="514350" rtl="0" algn="l">
              <a:lnSpc>
                <a:spcPct val="90000"/>
              </a:lnSpc>
              <a:spcBef>
                <a:spcPts val="1000"/>
              </a:spcBef>
              <a:spcAft>
                <a:spcPts val="0"/>
              </a:spcAft>
              <a:buClr>
                <a:schemeClr val="dk1"/>
              </a:buClr>
              <a:buSzPts val="2400"/>
              <a:buFont typeface="Calibri"/>
              <a:buAutoNum type="arabicPeriod"/>
            </a:pPr>
            <a:r>
              <a:rPr lang="en-US" sz="2400"/>
              <a:t>Identify the variety of software applications across different business domains </a:t>
            </a:r>
            <a:endParaRPr/>
          </a:p>
          <a:p>
            <a:pPr indent="-514350" lvl="0" marL="514350" rtl="0" algn="l">
              <a:lnSpc>
                <a:spcPct val="90000"/>
              </a:lnSpc>
              <a:spcBef>
                <a:spcPts val="1000"/>
              </a:spcBef>
              <a:spcAft>
                <a:spcPts val="0"/>
              </a:spcAft>
              <a:buClr>
                <a:schemeClr val="dk1"/>
              </a:buClr>
              <a:buSzPts val="2400"/>
              <a:buFont typeface="Calibri"/>
              <a:buAutoNum type="arabicPeriod"/>
            </a:pPr>
            <a:r>
              <a:rPr lang="en-US" sz="2400"/>
              <a:t>Explain the basic roles of software engineer in modern era</a:t>
            </a:r>
            <a:endParaRPr/>
          </a:p>
          <a:p>
            <a:pPr indent="-514350" lvl="0" marL="514350" rtl="0" algn="l">
              <a:lnSpc>
                <a:spcPct val="90000"/>
              </a:lnSpc>
              <a:spcBef>
                <a:spcPts val="1000"/>
              </a:spcBef>
              <a:spcAft>
                <a:spcPts val="0"/>
              </a:spcAft>
              <a:buClr>
                <a:schemeClr val="dk1"/>
              </a:buClr>
              <a:buSzPts val="2400"/>
              <a:buFont typeface="Calibri"/>
              <a:buAutoNum type="arabicPeriod"/>
            </a:pPr>
            <a:r>
              <a:rPr lang="en-US" sz="2400"/>
              <a:t>Discuss the importance of sustainability, security, and intelligence features in modern software systems.</a:t>
            </a:r>
            <a:endParaRPr/>
          </a:p>
          <a:p>
            <a:pPr indent="-514350" lvl="0" marL="514350" rtl="0" algn="l">
              <a:lnSpc>
                <a:spcPct val="90000"/>
              </a:lnSpc>
              <a:spcBef>
                <a:spcPts val="1000"/>
              </a:spcBef>
              <a:spcAft>
                <a:spcPts val="0"/>
              </a:spcAft>
              <a:buClr>
                <a:schemeClr val="dk1"/>
              </a:buClr>
              <a:buSzPts val="2400"/>
              <a:buFont typeface="Calibri"/>
              <a:buAutoNum type="arabicPeriod"/>
            </a:pPr>
            <a:r>
              <a:rPr lang="en-US" sz="2400"/>
              <a:t>Analyze how different domains prioritize these features based on business goals and challenges.</a:t>
            </a:r>
            <a:endParaRPr/>
          </a:p>
        </p:txBody>
      </p:sp>
      <p:sp>
        <p:nvSpPr>
          <p:cNvPr id="212" name="Google Shape;212;p2"/>
          <p:cNvSpPr txBox="1"/>
          <p:nvPr>
            <p:ph type="title"/>
          </p:nvPr>
        </p:nvSpPr>
        <p:spPr>
          <a:xfrm>
            <a:off x="4829175" y="-79327"/>
            <a:ext cx="10515600" cy="150018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b="1" lang="en-US"/>
              <a:t>Learning Outcome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
          <p:cNvSpPr txBox="1"/>
          <p:nvPr>
            <p:ph type="title"/>
          </p:nvPr>
        </p:nvSpPr>
        <p:spPr>
          <a:xfrm>
            <a:off x="762663" y="4049761"/>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n-US"/>
              <a:t>Part 1: Introduction to SE Applications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b="1" lang="en-US"/>
              <a:t>Software Engineering Key Applications</a:t>
            </a:r>
            <a:endParaRPr/>
          </a:p>
        </p:txBody>
      </p:sp>
      <p:sp>
        <p:nvSpPr>
          <p:cNvPr id="223" name="Google Shape;2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Font typeface="Arial"/>
              <a:buChar char="•"/>
            </a:pPr>
            <a:r>
              <a:rPr lang="en-US"/>
              <a:t>Business &amp; Finance: Streamlining operations (ERP, CRM) and financial services (Fintech).</a:t>
            </a:r>
            <a:endParaRPr/>
          </a:p>
          <a:p>
            <a:pPr indent="-228600" lvl="0" marL="228600" rtl="0" algn="l">
              <a:lnSpc>
                <a:spcPct val="90000"/>
              </a:lnSpc>
              <a:spcBef>
                <a:spcPts val="1000"/>
              </a:spcBef>
              <a:spcAft>
                <a:spcPts val="0"/>
              </a:spcAft>
              <a:buClr>
                <a:schemeClr val="dk1"/>
              </a:buClr>
              <a:buSzPct val="100000"/>
              <a:buFont typeface="Arial"/>
              <a:buChar char="•"/>
            </a:pPr>
            <a:r>
              <a:rPr lang="en-US"/>
              <a:t>Healthcare: Enhancing patient care (Telemedicine, Health Apps) and hospital management.</a:t>
            </a:r>
            <a:endParaRPr/>
          </a:p>
          <a:p>
            <a:pPr indent="-228600" lvl="0" marL="228600" rtl="0" algn="l">
              <a:lnSpc>
                <a:spcPct val="90000"/>
              </a:lnSpc>
              <a:spcBef>
                <a:spcPts val="1000"/>
              </a:spcBef>
              <a:spcAft>
                <a:spcPts val="0"/>
              </a:spcAft>
              <a:buClr>
                <a:schemeClr val="dk1"/>
              </a:buClr>
              <a:buSzPct val="100000"/>
              <a:buFont typeface="Arial"/>
              <a:buChar char="•"/>
            </a:pPr>
            <a:r>
              <a:rPr lang="en-US"/>
              <a:t>Education: Enabling online learning (LMS, E-learning) and expanding access to education.</a:t>
            </a:r>
            <a:endParaRPr/>
          </a:p>
          <a:p>
            <a:pPr indent="-228600" lvl="0" marL="228600" rtl="0" algn="l">
              <a:lnSpc>
                <a:spcPct val="90000"/>
              </a:lnSpc>
              <a:spcBef>
                <a:spcPts val="1000"/>
              </a:spcBef>
              <a:spcAft>
                <a:spcPts val="0"/>
              </a:spcAft>
              <a:buClr>
                <a:schemeClr val="dk1"/>
              </a:buClr>
              <a:buSzPct val="100000"/>
              <a:buFont typeface="Arial"/>
              <a:buChar char="•"/>
            </a:pPr>
            <a:r>
              <a:rPr lang="en-US"/>
              <a:t>Manufacturing: Driving automation (Industrial Software) and data-driven efficiency (IoT).</a:t>
            </a:r>
            <a:endParaRPr/>
          </a:p>
          <a:p>
            <a:pPr indent="-228600" lvl="0" marL="228600" rtl="0" algn="l">
              <a:lnSpc>
                <a:spcPct val="90000"/>
              </a:lnSpc>
              <a:spcBef>
                <a:spcPts val="1000"/>
              </a:spcBef>
              <a:spcAft>
                <a:spcPts val="0"/>
              </a:spcAft>
              <a:buClr>
                <a:schemeClr val="dk1"/>
              </a:buClr>
              <a:buSzPct val="100000"/>
              <a:buFont typeface="Arial"/>
              <a:buChar char="•"/>
            </a:pPr>
            <a:r>
              <a:rPr lang="en-US"/>
              <a:t>Government: Modernizing public services (E-government) and securing digital identities.</a:t>
            </a:r>
            <a:endParaRPr/>
          </a:p>
          <a:p>
            <a:pPr indent="0" lvl="0" marL="0" rtl="0" algn="l">
              <a:lnSpc>
                <a:spcPct val="90000"/>
              </a:lnSpc>
              <a:spcBef>
                <a:spcPts val="1000"/>
              </a:spcBef>
              <a:spcAft>
                <a:spcPts val="0"/>
              </a:spcAft>
              <a:buClr>
                <a:schemeClr val="dk1"/>
              </a:buClr>
              <a:buSzPct val="100000"/>
              <a:buNone/>
            </a:pPr>
            <a:r>
              <a:rPr lang="en-US"/>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5"/>
          <p:cNvPicPr preferRelativeResize="0"/>
          <p:nvPr/>
        </p:nvPicPr>
        <p:blipFill rotWithShape="1">
          <a:blip r:embed="rId3">
            <a:alphaModFix/>
          </a:blip>
          <a:srcRect b="0" l="0" r="0" t="15273"/>
          <a:stretch/>
        </p:blipFill>
        <p:spPr>
          <a:xfrm>
            <a:off x="1815399" y="254141"/>
            <a:ext cx="8561201" cy="63497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Basic Roles of Software Engineers</a:t>
            </a:r>
            <a:endParaRPr/>
          </a:p>
        </p:txBody>
      </p:sp>
      <p:sp>
        <p:nvSpPr>
          <p:cNvPr id="235" name="Google Shape;23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Software engineers design, build, and maintain software that supports modern life</a:t>
            </a:r>
            <a:r>
              <a:rPr lang="en-US"/>
              <a:t>:</a:t>
            </a:r>
            <a:endParaRPr/>
          </a:p>
          <a:p>
            <a:pPr indent="-228600" lvl="0" marL="228600" rtl="0" algn="l">
              <a:lnSpc>
                <a:spcPct val="90000"/>
              </a:lnSpc>
              <a:spcBef>
                <a:spcPts val="1000"/>
              </a:spcBef>
              <a:spcAft>
                <a:spcPts val="0"/>
              </a:spcAft>
              <a:buClr>
                <a:schemeClr val="dk1"/>
              </a:buClr>
              <a:buSzPts val="2800"/>
              <a:buChar char="•"/>
            </a:pPr>
            <a:r>
              <a:rPr lang="en-US"/>
              <a:t>Understand needs: Work with stakeholders across various fields (like healthcare, finance, education) to create effective software solutions.</a:t>
            </a:r>
            <a:endParaRPr/>
          </a:p>
          <a:p>
            <a:pPr indent="-228600" lvl="0" marL="228600" rtl="0" algn="l">
              <a:lnSpc>
                <a:spcPct val="90000"/>
              </a:lnSpc>
              <a:spcBef>
                <a:spcPts val="1000"/>
              </a:spcBef>
              <a:spcAft>
                <a:spcPts val="0"/>
              </a:spcAft>
              <a:buClr>
                <a:schemeClr val="dk1"/>
              </a:buClr>
              <a:buSzPts val="2800"/>
              <a:buChar char="•"/>
            </a:pPr>
            <a:r>
              <a:rPr lang="en-US"/>
              <a:t>Apply core principles: Ensure software is secure, reliable, sustainable, easy to maintain, and adaptable.</a:t>
            </a:r>
            <a:endParaRPr/>
          </a:p>
          <a:p>
            <a:pPr indent="-228600" lvl="0" marL="228600" rtl="0" algn="l">
              <a:lnSpc>
                <a:spcPct val="90000"/>
              </a:lnSpc>
              <a:spcBef>
                <a:spcPts val="1000"/>
              </a:spcBef>
              <a:spcAft>
                <a:spcPts val="0"/>
              </a:spcAft>
              <a:buClr>
                <a:schemeClr val="dk1"/>
              </a:buClr>
              <a:buSzPts val="2800"/>
              <a:buChar char="•"/>
            </a:pPr>
            <a:r>
              <a:rPr lang="en-US"/>
              <a:t>Follow rules and ethics: Comply with regulations (e.g., HIPAA, GDPR), ensure accessibility, and promote responsible technology use.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Example of Software Engineer Various Roles</a:t>
            </a:r>
            <a:endParaRPr/>
          </a:p>
        </p:txBody>
      </p:sp>
      <p:sp>
        <p:nvSpPr>
          <p:cNvPr id="241" name="Google Shape;241;p7"/>
          <p:cNvSpPr txBox="1"/>
          <p:nvPr>
            <p:ph idx="1" type="body"/>
          </p:nvPr>
        </p:nvSpPr>
        <p:spPr>
          <a:xfrm>
            <a:off x="838200" y="1613647"/>
            <a:ext cx="10515600" cy="4563316"/>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sz="1600"/>
              <a:t>Software Architect: Designs the overall architecture of software systems, considering scalability, performance, security, and maintainability.</a:t>
            </a:r>
            <a:endParaRPr/>
          </a:p>
          <a:p>
            <a:pPr indent="-228600" lvl="0" marL="228600" rtl="0" algn="l">
              <a:lnSpc>
                <a:spcPct val="90000"/>
              </a:lnSpc>
              <a:spcBef>
                <a:spcPts val="1000"/>
              </a:spcBef>
              <a:spcAft>
                <a:spcPts val="0"/>
              </a:spcAft>
              <a:buClr>
                <a:schemeClr val="dk1"/>
              </a:buClr>
              <a:buSzPct val="100000"/>
              <a:buChar char="•"/>
            </a:pPr>
            <a:r>
              <a:rPr lang="en-US" sz="1600"/>
              <a:t>UX/UI Designer: Focuses on the user experience (UX) and user interface (UI) design of software applications, ensuring usability, accessibility, and visual appeal.</a:t>
            </a:r>
            <a:endParaRPr/>
          </a:p>
          <a:p>
            <a:pPr indent="-228600" lvl="0" marL="228600" rtl="0" algn="l">
              <a:lnSpc>
                <a:spcPct val="90000"/>
              </a:lnSpc>
              <a:spcBef>
                <a:spcPts val="1000"/>
              </a:spcBef>
              <a:spcAft>
                <a:spcPts val="0"/>
              </a:spcAft>
              <a:buClr>
                <a:schemeClr val="dk1"/>
              </a:buClr>
              <a:buSzPct val="100000"/>
              <a:buChar char="•"/>
            </a:pPr>
            <a:r>
              <a:rPr lang="en-US" sz="1600"/>
              <a:t>Full-Stack Developer: Possesses expertise in both front-end and back-end development, capable of building complete web applications from user interface to server-side logic.</a:t>
            </a:r>
            <a:endParaRPr/>
          </a:p>
          <a:p>
            <a:pPr indent="-228600" lvl="0" marL="228600" rtl="0" algn="l">
              <a:lnSpc>
                <a:spcPct val="90000"/>
              </a:lnSpc>
              <a:spcBef>
                <a:spcPts val="1000"/>
              </a:spcBef>
              <a:spcAft>
                <a:spcPts val="0"/>
              </a:spcAft>
              <a:buClr>
                <a:schemeClr val="dk1"/>
              </a:buClr>
              <a:buSzPct val="100000"/>
              <a:buChar char="•"/>
            </a:pPr>
            <a:r>
              <a:rPr lang="en-US" sz="1600"/>
              <a:t>DevOps Engineer: Bridges the gap between development and operations teams, automating software deployment, infrastructure management, and ensuring continuous integration and delivery.</a:t>
            </a:r>
            <a:endParaRPr/>
          </a:p>
          <a:p>
            <a:pPr indent="-228600" lvl="0" marL="228600" rtl="0" algn="l">
              <a:lnSpc>
                <a:spcPct val="90000"/>
              </a:lnSpc>
              <a:spcBef>
                <a:spcPts val="1000"/>
              </a:spcBef>
              <a:spcAft>
                <a:spcPts val="0"/>
              </a:spcAft>
              <a:buClr>
                <a:schemeClr val="dk1"/>
              </a:buClr>
              <a:buSzPct val="100000"/>
              <a:buChar char="•"/>
            </a:pPr>
            <a:r>
              <a:rPr lang="en-US" sz="1600"/>
              <a:t>AI/ML Engineer: Develops and deploys artificial intelligence and machine learning models to solve complex problems, automate tasks, and drive innovation. </a:t>
            </a:r>
            <a:endParaRPr sz="1600"/>
          </a:p>
          <a:p>
            <a:pPr indent="-228600" lvl="0" marL="228600" rtl="0" algn="l">
              <a:lnSpc>
                <a:spcPct val="90000"/>
              </a:lnSpc>
              <a:spcBef>
                <a:spcPts val="1000"/>
              </a:spcBef>
              <a:spcAft>
                <a:spcPts val="0"/>
              </a:spcAft>
              <a:buClr>
                <a:schemeClr val="dk1"/>
              </a:buClr>
              <a:buSzPct val="100000"/>
              <a:buChar char="•"/>
            </a:pPr>
            <a:r>
              <a:rPr lang="en-US" sz="1600"/>
              <a:t>Cloud Engineer: Designs, builds, and manages cloud infrastructure and applications, ensuring scalability, reliability, and security in a cloud-native environment. </a:t>
            </a:r>
            <a:endParaRPr/>
          </a:p>
          <a:p>
            <a:pPr indent="-228600" lvl="0" marL="228600" rtl="0" algn="l">
              <a:lnSpc>
                <a:spcPct val="90000"/>
              </a:lnSpc>
              <a:spcBef>
                <a:spcPts val="1000"/>
              </a:spcBef>
              <a:spcAft>
                <a:spcPts val="0"/>
              </a:spcAft>
              <a:buClr>
                <a:schemeClr val="dk1"/>
              </a:buClr>
              <a:buSzPct val="100000"/>
              <a:buChar char="•"/>
            </a:pPr>
            <a:r>
              <a:rPr lang="en-US" sz="1600"/>
              <a:t>Cybersecurity Engineer: Protects software systems and data from cyber threats, designs and implements security measures, and responds to security incidents. </a:t>
            </a:r>
            <a:endParaRPr/>
          </a:p>
          <a:p>
            <a:pPr indent="-228600" lvl="0" marL="228600" rtl="0" algn="l">
              <a:lnSpc>
                <a:spcPct val="90000"/>
              </a:lnSpc>
              <a:spcBef>
                <a:spcPts val="1000"/>
              </a:spcBef>
              <a:spcAft>
                <a:spcPts val="0"/>
              </a:spcAft>
              <a:buClr>
                <a:schemeClr val="dk1"/>
              </a:buClr>
              <a:buSzPct val="100000"/>
              <a:buChar char="•"/>
            </a:pPr>
            <a:r>
              <a:rPr lang="en-US" sz="1600"/>
              <a:t>Data Scientist/Engineer: Collects, analyzes, and interprets large datasets to extract meaningful insights, build data-driven models, and support decision-making.</a:t>
            </a:r>
            <a:endParaRPr/>
          </a:p>
          <a:p>
            <a:pPr indent="-228600" lvl="0" marL="228600" rtl="0" algn="l">
              <a:lnSpc>
                <a:spcPct val="90000"/>
              </a:lnSpc>
              <a:spcBef>
                <a:spcPts val="1000"/>
              </a:spcBef>
              <a:spcAft>
                <a:spcPts val="0"/>
              </a:spcAft>
              <a:buClr>
                <a:schemeClr val="dk1"/>
              </a:buClr>
              <a:buSzPct val="100000"/>
              <a:buChar char="•"/>
            </a:pPr>
            <a:r>
              <a:rPr lang="en-US" sz="1600"/>
              <a:t> IoT Engineer: Develops and deploys software for Internet of Things (IoT) devices, enabling connectivity, data collection, and automation in various industries.</a:t>
            </a:r>
            <a:endParaRPr/>
          </a:p>
          <a:p>
            <a:pPr indent="-134620" lvl="0" marL="228600" rtl="0" algn="l">
              <a:lnSpc>
                <a:spcPct val="90000"/>
              </a:lnSpc>
              <a:spcBef>
                <a:spcPts val="1000"/>
              </a:spcBef>
              <a:spcAft>
                <a:spcPts val="0"/>
              </a:spcAft>
              <a:buClr>
                <a:schemeClr val="dk1"/>
              </a:buClr>
              <a:buSzPct val="100000"/>
              <a:buNone/>
            </a:pPr>
            <a:r>
              <a:t/>
            </a:r>
            <a:endParaRPr sz="1600"/>
          </a:p>
          <a:p>
            <a:pPr indent="-134620" lvl="0" marL="228600" rtl="0" algn="l">
              <a:lnSpc>
                <a:spcPct val="90000"/>
              </a:lnSpc>
              <a:spcBef>
                <a:spcPts val="1000"/>
              </a:spcBef>
              <a:spcAft>
                <a:spcPts val="0"/>
              </a:spcAft>
              <a:buClr>
                <a:schemeClr val="dk1"/>
              </a:buClr>
              <a:buSzPct val="100000"/>
              <a:buNone/>
            </a:pPr>
            <a:r>
              <a:t/>
            </a:r>
            <a:endParaRPr sz="1600"/>
          </a:p>
          <a:p>
            <a:pPr indent="-134620" lvl="0" marL="228600" rtl="0" algn="l">
              <a:lnSpc>
                <a:spcPct val="90000"/>
              </a:lnSpc>
              <a:spcBef>
                <a:spcPts val="1000"/>
              </a:spcBef>
              <a:spcAft>
                <a:spcPts val="0"/>
              </a:spcAft>
              <a:buClr>
                <a:schemeClr val="dk1"/>
              </a:buClr>
              <a:buSzPct val="100000"/>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t/>
            </a:r>
            <a:endParaRPr/>
          </a:p>
        </p:txBody>
      </p:sp>
      <p:sp>
        <p:nvSpPr>
          <p:cNvPr id="247" name="Google Shape;24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248" name="Google Shape;248;p8"/>
          <p:cNvPicPr preferRelativeResize="0"/>
          <p:nvPr/>
        </p:nvPicPr>
        <p:blipFill rotWithShape="1">
          <a:blip r:embed="rId3">
            <a:alphaModFix/>
          </a:blip>
          <a:srcRect b="0" l="0" r="0" t="0"/>
          <a:stretch/>
        </p:blipFill>
        <p:spPr>
          <a:xfrm>
            <a:off x="896938" y="0"/>
            <a:ext cx="10398125"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9"/>
          <p:cNvSpPr txBox="1"/>
          <p:nvPr>
            <p:ph type="title"/>
          </p:nvPr>
        </p:nvSpPr>
        <p:spPr>
          <a:xfrm>
            <a:off x="1142901" y="274104"/>
            <a:ext cx="9906199" cy="115724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b="1" lang="en-US" sz="4000"/>
              <a:t>Important Features Across SE Applications</a:t>
            </a:r>
            <a:endParaRPr sz="4000"/>
          </a:p>
        </p:txBody>
      </p:sp>
      <p:graphicFrame>
        <p:nvGraphicFramePr>
          <p:cNvPr id="254" name="Google Shape;254;p9"/>
          <p:cNvGraphicFramePr/>
          <p:nvPr/>
        </p:nvGraphicFramePr>
        <p:xfrm>
          <a:off x="1250830" y="2147660"/>
          <a:ext cx="3000000" cy="3000000"/>
        </p:xfrm>
        <a:graphic>
          <a:graphicData uri="http://schemas.openxmlformats.org/drawingml/2006/table">
            <a:tbl>
              <a:tblPr>
                <a:noFill/>
                <a:tableStyleId>{D7DE6DCA-A112-443B-9A40-769D7F20AC07}</a:tableStyleId>
              </a:tblPr>
              <a:tblGrid>
                <a:gridCol w="2568225"/>
                <a:gridCol w="3597675"/>
                <a:gridCol w="3524450"/>
              </a:tblGrid>
              <a:tr h="404550">
                <a:tc>
                  <a:txBody>
                    <a:bodyPr/>
                    <a:lstStyle/>
                    <a:p>
                      <a:pPr indent="0" lvl="0" marL="0" marR="0" rtl="0" algn="l">
                        <a:spcBef>
                          <a:spcPts val="0"/>
                        </a:spcBef>
                        <a:spcAft>
                          <a:spcPts val="0"/>
                        </a:spcAft>
                        <a:buNone/>
                      </a:pPr>
                      <a:r>
                        <a:rPr lang="en-US" sz="1800" u="none" cap="none" strike="noStrike"/>
                        <a:t>Feature</a:t>
                      </a:r>
                      <a:endParaRPr/>
                    </a:p>
                  </a:txBody>
                  <a:tcPr marT="45975" marB="45975" marR="91950" marL="91950" anchor="ctr"/>
                </a:tc>
                <a:tc>
                  <a:txBody>
                    <a:bodyPr/>
                    <a:lstStyle/>
                    <a:p>
                      <a:pPr indent="0" lvl="0" marL="0" marR="0" rtl="0" algn="l">
                        <a:spcBef>
                          <a:spcPts val="0"/>
                        </a:spcBef>
                        <a:spcAft>
                          <a:spcPts val="0"/>
                        </a:spcAft>
                        <a:buNone/>
                      </a:pPr>
                      <a:r>
                        <a:rPr lang="en-US" sz="1800"/>
                        <a:t>Description</a:t>
                      </a:r>
                      <a:endParaRPr/>
                    </a:p>
                  </a:txBody>
                  <a:tcPr marT="45975" marB="45975" marR="91950" marL="91950" anchor="ctr"/>
                </a:tc>
                <a:tc>
                  <a:txBody>
                    <a:bodyPr/>
                    <a:lstStyle/>
                    <a:p>
                      <a:pPr indent="0" lvl="0" marL="0" marR="0" rtl="0" algn="l">
                        <a:spcBef>
                          <a:spcPts val="0"/>
                        </a:spcBef>
                        <a:spcAft>
                          <a:spcPts val="0"/>
                        </a:spcAft>
                        <a:buNone/>
                      </a:pPr>
                      <a:r>
                        <a:rPr lang="en-US" sz="1800"/>
                        <a:t>Example</a:t>
                      </a:r>
                      <a:endParaRPr/>
                    </a:p>
                  </a:txBody>
                  <a:tcPr marT="45975" marB="45975" marR="91950" marL="91950" anchor="ctr"/>
                </a:tc>
              </a:tr>
              <a:tr h="1232025">
                <a:tc>
                  <a:txBody>
                    <a:bodyPr/>
                    <a:lstStyle/>
                    <a:p>
                      <a:pPr indent="0" lvl="0" marL="0" marR="0" rtl="0" algn="l">
                        <a:spcBef>
                          <a:spcPts val="0"/>
                        </a:spcBef>
                        <a:spcAft>
                          <a:spcPts val="0"/>
                        </a:spcAft>
                        <a:buNone/>
                      </a:pPr>
                      <a:r>
                        <a:rPr b="1" lang="en-US" sz="1800"/>
                        <a:t>Sustainability</a:t>
                      </a:r>
                      <a:endParaRPr sz="1800"/>
                    </a:p>
                  </a:txBody>
                  <a:tcPr marT="45975" marB="45975" marR="91950" marL="91950" anchor="ctr"/>
                </a:tc>
                <a:tc>
                  <a:txBody>
                    <a:bodyPr/>
                    <a:lstStyle/>
                    <a:p>
                      <a:pPr indent="0" lvl="0" marL="0" marR="0" rtl="0" algn="l">
                        <a:spcBef>
                          <a:spcPts val="0"/>
                        </a:spcBef>
                        <a:spcAft>
                          <a:spcPts val="0"/>
                        </a:spcAft>
                        <a:buNone/>
                      </a:pPr>
                      <a:r>
                        <a:rPr lang="en-US" sz="1800"/>
                        <a:t>Focuses on energy-efficient coding, minimal resource use, and environmentally responsible development.</a:t>
                      </a:r>
                      <a:endParaRPr/>
                    </a:p>
                  </a:txBody>
                  <a:tcPr marT="45975" marB="45975" marR="91950" marL="91950" anchor="ctr"/>
                </a:tc>
                <a:tc>
                  <a:txBody>
                    <a:bodyPr/>
                    <a:lstStyle/>
                    <a:p>
                      <a:pPr indent="0" lvl="0" marL="0" marR="0" rtl="0" algn="l">
                        <a:spcBef>
                          <a:spcPts val="0"/>
                        </a:spcBef>
                        <a:spcAft>
                          <a:spcPts val="0"/>
                        </a:spcAft>
                        <a:buNone/>
                      </a:pPr>
                      <a:r>
                        <a:rPr lang="en-US" sz="1800"/>
                        <a:t>Green Data Centers, Efficient Algorithms</a:t>
                      </a:r>
                      <a:endParaRPr/>
                    </a:p>
                  </a:txBody>
                  <a:tcPr marT="45975" marB="45975" marR="91950" marL="91950" anchor="ctr"/>
                </a:tc>
              </a:tr>
              <a:tr h="956200">
                <a:tc>
                  <a:txBody>
                    <a:bodyPr/>
                    <a:lstStyle/>
                    <a:p>
                      <a:pPr indent="0" lvl="0" marL="0" marR="0" rtl="0" algn="l">
                        <a:spcBef>
                          <a:spcPts val="0"/>
                        </a:spcBef>
                        <a:spcAft>
                          <a:spcPts val="0"/>
                        </a:spcAft>
                        <a:buNone/>
                      </a:pPr>
                      <a:r>
                        <a:rPr b="1" lang="en-US" sz="1800"/>
                        <a:t>Security</a:t>
                      </a:r>
                      <a:endParaRPr sz="1800"/>
                    </a:p>
                  </a:txBody>
                  <a:tcPr marT="45975" marB="45975" marR="91950" marL="91950" anchor="ctr"/>
                </a:tc>
                <a:tc>
                  <a:txBody>
                    <a:bodyPr/>
                    <a:lstStyle/>
                    <a:p>
                      <a:pPr indent="0" lvl="0" marL="0" marR="0" rtl="0" algn="l">
                        <a:spcBef>
                          <a:spcPts val="0"/>
                        </a:spcBef>
                        <a:spcAft>
                          <a:spcPts val="0"/>
                        </a:spcAft>
                        <a:buNone/>
                      </a:pPr>
                      <a:r>
                        <a:rPr lang="en-US" sz="1800"/>
                        <a:t>Ensures confidentiality, integrity, and availability of software, particularly for sensitive data.</a:t>
                      </a:r>
                      <a:endParaRPr/>
                    </a:p>
                  </a:txBody>
                  <a:tcPr marT="45975" marB="45975" marR="91950" marL="91950" anchor="ctr"/>
                </a:tc>
                <a:tc>
                  <a:txBody>
                    <a:bodyPr/>
                    <a:lstStyle/>
                    <a:p>
                      <a:pPr indent="0" lvl="0" marL="0" marR="0" rtl="0" algn="l">
                        <a:spcBef>
                          <a:spcPts val="0"/>
                        </a:spcBef>
                        <a:spcAft>
                          <a:spcPts val="0"/>
                        </a:spcAft>
                        <a:buNone/>
                      </a:pPr>
                      <a:r>
                        <a:rPr lang="en-US" sz="1800"/>
                        <a:t>Encryption, Authentication Mechanisms</a:t>
                      </a:r>
                      <a:endParaRPr/>
                    </a:p>
                  </a:txBody>
                  <a:tcPr marT="45975" marB="45975" marR="91950" marL="91950" anchor="ctr"/>
                </a:tc>
              </a:tr>
              <a:tr h="1232025">
                <a:tc>
                  <a:txBody>
                    <a:bodyPr/>
                    <a:lstStyle/>
                    <a:p>
                      <a:pPr indent="0" lvl="0" marL="0" marR="0" rtl="0" algn="l">
                        <a:spcBef>
                          <a:spcPts val="0"/>
                        </a:spcBef>
                        <a:spcAft>
                          <a:spcPts val="0"/>
                        </a:spcAft>
                        <a:buNone/>
                      </a:pPr>
                      <a:r>
                        <a:rPr b="1" lang="en-US" sz="1800"/>
                        <a:t>Intelligence</a:t>
                      </a:r>
                      <a:endParaRPr sz="1800"/>
                    </a:p>
                  </a:txBody>
                  <a:tcPr marT="45975" marB="45975" marR="91950" marL="91950" anchor="ctr"/>
                </a:tc>
                <a:tc>
                  <a:txBody>
                    <a:bodyPr/>
                    <a:lstStyle/>
                    <a:p>
                      <a:pPr indent="0" lvl="0" marL="0" marR="0" rtl="0" algn="l">
                        <a:spcBef>
                          <a:spcPts val="0"/>
                        </a:spcBef>
                        <a:spcAft>
                          <a:spcPts val="0"/>
                        </a:spcAft>
                        <a:buNone/>
                      </a:pPr>
                      <a:r>
                        <a:rPr lang="en-US" sz="1800"/>
                        <a:t>Incorporates AI/ML to enable data-driven decisions, automation, and predictive analytics.</a:t>
                      </a:r>
                      <a:endParaRPr/>
                    </a:p>
                  </a:txBody>
                  <a:tcPr marT="45975" marB="45975" marR="91950" marL="91950" anchor="ctr"/>
                </a:tc>
                <a:tc>
                  <a:txBody>
                    <a:bodyPr/>
                    <a:lstStyle/>
                    <a:p>
                      <a:pPr indent="0" lvl="0" marL="0" marR="0" rtl="0" algn="l">
                        <a:spcBef>
                          <a:spcPts val="0"/>
                        </a:spcBef>
                        <a:spcAft>
                          <a:spcPts val="0"/>
                        </a:spcAft>
                        <a:buNone/>
                      </a:pPr>
                      <a:r>
                        <a:rPr lang="en-US" sz="1800"/>
                        <a:t>Chatbots, Predictive Maintenance</a:t>
                      </a:r>
                      <a:endParaRPr/>
                    </a:p>
                  </a:txBody>
                  <a:tcPr marT="45975" marB="45975" marR="91950" marL="91950"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10"/>
          <p:cNvPicPr preferRelativeResize="0"/>
          <p:nvPr/>
        </p:nvPicPr>
        <p:blipFill rotWithShape="1">
          <a:blip r:embed="rId3">
            <a:alphaModFix/>
          </a:blip>
          <a:srcRect b="0" l="0" r="0" t="0"/>
          <a:stretch/>
        </p:blipFill>
        <p:spPr>
          <a:xfrm>
            <a:off x="1244600" y="0"/>
            <a:ext cx="9702800"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11"/>
          <p:cNvPicPr preferRelativeResize="0"/>
          <p:nvPr/>
        </p:nvPicPr>
        <p:blipFill rotWithShape="1">
          <a:blip r:embed="rId3">
            <a:alphaModFix/>
          </a:blip>
          <a:srcRect b="0" l="0" r="0" t="0"/>
          <a:stretch/>
        </p:blipFill>
        <p:spPr>
          <a:xfrm>
            <a:off x="460731" y="982638"/>
            <a:ext cx="11050587" cy="56774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2"/>
          <p:cNvSpPr txBox="1"/>
          <p:nvPr>
            <p:ph type="title"/>
          </p:nvPr>
        </p:nvSpPr>
        <p:spPr>
          <a:xfrm>
            <a:off x="472151" y="3511599"/>
            <a:ext cx="10515600" cy="1500187"/>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chemeClr val="dk1"/>
              </a:buClr>
              <a:buSzPct val="100000"/>
              <a:buFont typeface="Arial"/>
              <a:buNone/>
            </a:pPr>
            <a:r>
              <a:rPr b="1" lang="en-US"/>
              <a:t>Part 2: Introduction to Sustainable Software Engineering</a:t>
            </a:r>
            <a:br>
              <a:rPr b="1" lang="en-US"/>
            </a:br>
            <a:br>
              <a:rPr b="1" lang="en-US"/>
            </a:br>
            <a:r>
              <a:rPr b="0" i="0" lang="en-US" sz="2400" u="none" cap="none" strike="noStrike">
                <a:solidFill>
                  <a:srgbClr val="888888"/>
                </a:solidFill>
                <a:latin typeface="Calibri"/>
                <a:ea typeface="Calibri"/>
                <a:cs typeface="Calibri"/>
                <a:sym typeface="Calibri"/>
              </a:rPr>
              <a:t>König, C., Lang, D. J., &amp; Schaefer, I. (2024). Sustainable Software Engineering: Concepts, Challenges, and Vision. ACM Transactions on Software Engineering and Methodology. https://doi.org/10.1145/3709352</a:t>
            </a:r>
            <a:br>
              <a:rPr b="0" i="0" lang="en-US" sz="2400" u="none" cap="none" strike="noStrike">
                <a:solidFill>
                  <a:srgbClr val="888888"/>
                </a:solidFill>
                <a:latin typeface="Calibri"/>
                <a:ea typeface="Calibri"/>
                <a:cs typeface="Calibri"/>
                <a:sym typeface="Calibri"/>
              </a:rPr>
            </a:br>
            <a:br>
              <a:rPr b="1" lang="en-US"/>
            </a:b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Overview of Sustainable Software Engineering</a:t>
            </a:r>
            <a:endParaRPr/>
          </a:p>
        </p:txBody>
      </p:sp>
      <p:sp>
        <p:nvSpPr>
          <p:cNvPr id="275" name="Google Shape;275;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Definition: Developing and using software in a way that minimizes negative impacts on the environment, society, and economy, while maximizing the positive contributions software can make to sustainability in these areas. </a:t>
            </a:r>
            <a:r>
              <a:rPr b="0" i="0" lang="en-US">
                <a:solidFill>
                  <a:srgbClr val="505050"/>
                </a:solidFill>
                <a:latin typeface="Arial"/>
                <a:ea typeface="Arial"/>
                <a:cs typeface="Arial"/>
                <a:sym typeface="Arial"/>
              </a:rPr>
              <a:t>(König et al., 2024)</a:t>
            </a:r>
            <a:endParaRPr/>
          </a:p>
          <a:p>
            <a:pPr indent="-228600" lvl="0" marL="228600" rtl="0" algn="l">
              <a:lnSpc>
                <a:spcPct val="90000"/>
              </a:lnSpc>
              <a:spcBef>
                <a:spcPts val="1000"/>
              </a:spcBef>
              <a:spcAft>
                <a:spcPts val="0"/>
              </a:spcAft>
              <a:buClr>
                <a:schemeClr val="dk1"/>
              </a:buClr>
              <a:buSzPts val="2800"/>
              <a:buChar char="•"/>
            </a:pPr>
            <a:r>
              <a:rPr lang="en-US"/>
              <a:t>Crucial for addressing global challenges like climate change and social inequality. </a:t>
            </a:r>
            <a:endParaRPr/>
          </a:p>
          <a:p>
            <a:pPr indent="-228600" lvl="0" marL="228600" rtl="0" algn="l">
              <a:lnSpc>
                <a:spcPct val="90000"/>
              </a:lnSpc>
              <a:spcBef>
                <a:spcPts val="1000"/>
              </a:spcBef>
              <a:spcAft>
                <a:spcPts val="0"/>
              </a:spcAft>
              <a:buClr>
                <a:schemeClr val="dk1"/>
              </a:buClr>
              <a:buSzPts val="2800"/>
              <a:buChar char="•"/>
            </a:pPr>
            <a:r>
              <a:rPr lang="en-US"/>
              <a:t>It requires a holistic approach that considers the entire lifecycle of software, from development to end-of-life.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Sustainability in Software Focus Areas</a:t>
            </a:r>
            <a:endParaRPr/>
          </a:p>
        </p:txBody>
      </p:sp>
      <p:sp>
        <p:nvSpPr>
          <p:cNvPr id="281" name="Google Shape;28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Environmental sustainability: </a:t>
            </a:r>
            <a:endParaRPr/>
          </a:p>
          <a:p>
            <a:pPr indent="-228600" lvl="1" marL="685800" rtl="0" algn="l">
              <a:lnSpc>
                <a:spcPct val="90000"/>
              </a:lnSpc>
              <a:spcBef>
                <a:spcPts val="500"/>
              </a:spcBef>
              <a:spcAft>
                <a:spcPts val="0"/>
              </a:spcAft>
              <a:buClr>
                <a:schemeClr val="dk1"/>
              </a:buClr>
              <a:buSzPct val="100000"/>
              <a:buChar char="•"/>
            </a:pPr>
            <a:r>
              <a:rPr lang="en-US"/>
              <a:t>Reducing the carbon footprint of software </a:t>
            </a:r>
            <a:endParaRPr/>
          </a:p>
          <a:p>
            <a:pPr indent="-228600" lvl="1" marL="685800" rtl="0" algn="l">
              <a:lnSpc>
                <a:spcPct val="90000"/>
              </a:lnSpc>
              <a:spcBef>
                <a:spcPts val="500"/>
              </a:spcBef>
              <a:spcAft>
                <a:spcPts val="0"/>
              </a:spcAft>
              <a:buClr>
                <a:schemeClr val="dk1"/>
              </a:buClr>
              <a:buSzPct val="100000"/>
              <a:buChar char="•"/>
            </a:pPr>
            <a:r>
              <a:rPr lang="en-US"/>
              <a:t>Optimizing energy consumption of software </a:t>
            </a:r>
            <a:endParaRPr/>
          </a:p>
          <a:p>
            <a:pPr indent="-228600" lvl="1" marL="685800" rtl="0" algn="l">
              <a:lnSpc>
                <a:spcPct val="90000"/>
              </a:lnSpc>
              <a:spcBef>
                <a:spcPts val="500"/>
              </a:spcBef>
              <a:spcAft>
                <a:spcPts val="0"/>
              </a:spcAft>
              <a:buClr>
                <a:schemeClr val="dk1"/>
              </a:buClr>
              <a:buSzPct val="100000"/>
              <a:buChar char="•"/>
            </a:pPr>
            <a:r>
              <a:rPr lang="en-US"/>
              <a:t>Using resources efficiently in software development and deployment </a:t>
            </a:r>
            <a:endParaRPr/>
          </a:p>
          <a:p>
            <a:pPr indent="-228600" lvl="0" marL="228600" rtl="0" algn="l">
              <a:lnSpc>
                <a:spcPct val="90000"/>
              </a:lnSpc>
              <a:spcBef>
                <a:spcPts val="1000"/>
              </a:spcBef>
              <a:spcAft>
                <a:spcPts val="0"/>
              </a:spcAft>
              <a:buClr>
                <a:schemeClr val="dk1"/>
              </a:buClr>
              <a:buSzPct val="100000"/>
              <a:buChar char="•"/>
            </a:pPr>
            <a:r>
              <a:rPr lang="en-US"/>
              <a:t>Social sustainability: </a:t>
            </a:r>
            <a:endParaRPr/>
          </a:p>
          <a:p>
            <a:pPr indent="-228600" lvl="1" marL="685800" rtl="0" algn="l">
              <a:lnSpc>
                <a:spcPct val="90000"/>
              </a:lnSpc>
              <a:spcBef>
                <a:spcPts val="500"/>
              </a:spcBef>
              <a:spcAft>
                <a:spcPts val="0"/>
              </a:spcAft>
              <a:buClr>
                <a:schemeClr val="dk1"/>
              </a:buClr>
              <a:buSzPct val="100000"/>
              <a:buChar char="•"/>
            </a:pPr>
            <a:r>
              <a:rPr lang="en-US"/>
              <a:t>Ensuring equitable access to and benefits from software </a:t>
            </a:r>
            <a:endParaRPr/>
          </a:p>
          <a:p>
            <a:pPr indent="-228600" lvl="1" marL="685800" rtl="0" algn="l">
              <a:lnSpc>
                <a:spcPct val="90000"/>
              </a:lnSpc>
              <a:spcBef>
                <a:spcPts val="500"/>
              </a:spcBef>
              <a:spcAft>
                <a:spcPts val="0"/>
              </a:spcAft>
              <a:buClr>
                <a:schemeClr val="dk1"/>
              </a:buClr>
              <a:buSzPct val="100000"/>
              <a:buChar char="•"/>
            </a:pPr>
            <a:r>
              <a:rPr lang="en-US"/>
              <a:t>Promoting ethical considerations in software design and use </a:t>
            </a:r>
            <a:endParaRPr/>
          </a:p>
          <a:p>
            <a:pPr indent="-228600" lvl="1" marL="685800" rtl="0" algn="l">
              <a:lnSpc>
                <a:spcPct val="90000"/>
              </a:lnSpc>
              <a:spcBef>
                <a:spcPts val="500"/>
              </a:spcBef>
              <a:spcAft>
                <a:spcPts val="0"/>
              </a:spcAft>
              <a:buClr>
                <a:schemeClr val="dk1"/>
              </a:buClr>
              <a:buSzPct val="100000"/>
              <a:buChar char="•"/>
            </a:pPr>
            <a:r>
              <a:rPr lang="en-US"/>
              <a:t>Fostering transparency and inclusivity in software development </a:t>
            </a:r>
            <a:endParaRPr/>
          </a:p>
          <a:p>
            <a:pPr indent="-228600" lvl="0" marL="228600" rtl="0" algn="l">
              <a:lnSpc>
                <a:spcPct val="90000"/>
              </a:lnSpc>
              <a:spcBef>
                <a:spcPts val="1000"/>
              </a:spcBef>
              <a:spcAft>
                <a:spcPts val="0"/>
              </a:spcAft>
              <a:buClr>
                <a:schemeClr val="dk1"/>
              </a:buClr>
              <a:buSzPct val="100000"/>
              <a:buChar char="•"/>
            </a:pPr>
            <a:r>
              <a:rPr lang="en-US"/>
              <a:t>Economic sustainability: </a:t>
            </a:r>
            <a:endParaRPr/>
          </a:p>
          <a:p>
            <a:pPr indent="-228600" lvl="1" marL="685800" rtl="0" algn="l">
              <a:lnSpc>
                <a:spcPct val="90000"/>
              </a:lnSpc>
              <a:spcBef>
                <a:spcPts val="500"/>
              </a:spcBef>
              <a:spcAft>
                <a:spcPts val="0"/>
              </a:spcAft>
              <a:buClr>
                <a:schemeClr val="dk1"/>
              </a:buClr>
              <a:buSzPct val="100000"/>
              <a:buChar char="•"/>
            </a:pPr>
            <a:r>
              <a:rPr lang="en-US"/>
              <a:t>Creating sustainable business models for software </a:t>
            </a:r>
            <a:endParaRPr/>
          </a:p>
          <a:p>
            <a:pPr indent="-228600" lvl="1" marL="685800" rtl="0" algn="l">
              <a:lnSpc>
                <a:spcPct val="90000"/>
              </a:lnSpc>
              <a:spcBef>
                <a:spcPts val="500"/>
              </a:spcBef>
              <a:spcAft>
                <a:spcPts val="0"/>
              </a:spcAft>
              <a:buClr>
                <a:schemeClr val="dk1"/>
              </a:buClr>
              <a:buSzPct val="100000"/>
              <a:buChar char="•"/>
            </a:pPr>
            <a:r>
              <a:rPr lang="en-US"/>
              <a:t>Considering the long-term economic viability of software solutions </a:t>
            </a:r>
            <a:endParaRPr/>
          </a:p>
          <a:p>
            <a:pPr indent="-228600" lvl="1" marL="685800" rtl="0" algn="l">
              <a:lnSpc>
                <a:spcPct val="90000"/>
              </a:lnSpc>
              <a:spcBef>
                <a:spcPts val="500"/>
              </a:spcBef>
              <a:spcAft>
                <a:spcPts val="0"/>
              </a:spcAft>
              <a:buClr>
                <a:schemeClr val="dk1"/>
              </a:buClr>
              <a:buSzPct val="100000"/>
              <a:buChar char="•"/>
            </a:pPr>
            <a:r>
              <a:rPr lang="en-US"/>
              <a:t>Balancing economic growth with environmental and social well-being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Three Pillars of Sustainable SE</a:t>
            </a:r>
            <a:endParaRPr/>
          </a:p>
        </p:txBody>
      </p:sp>
      <p:sp>
        <p:nvSpPr>
          <p:cNvPr id="287" name="Google Shape;28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Font typeface="Calibri"/>
              <a:buAutoNum type="arabicPeriod"/>
            </a:pPr>
            <a:r>
              <a:rPr lang="en-US"/>
              <a:t> Sustainability Life Cycle Assessment (LCA)</a:t>
            </a:r>
            <a:endParaRPr/>
          </a:p>
          <a:p>
            <a:pPr indent="-228600" lvl="1" marL="685800" rtl="0" algn="l">
              <a:lnSpc>
                <a:spcPct val="90000"/>
              </a:lnSpc>
              <a:spcBef>
                <a:spcPts val="500"/>
              </a:spcBef>
              <a:spcAft>
                <a:spcPts val="0"/>
              </a:spcAft>
              <a:buClr>
                <a:schemeClr val="dk1"/>
              </a:buClr>
              <a:buSzPct val="100000"/>
              <a:buChar char="•"/>
            </a:pPr>
            <a:r>
              <a:rPr lang="en-US"/>
              <a:t>Evaluates all environmental, economic, and social impacts from software creation to disposal.</a:t>
            </a:r>
            <a:endParaRPr/>
          </a:p>
          <a:p>
            <a:pPr indent="-228600" lvl="1" marL="685800" rtl="0" algn="l">
              <a:lnSpc>
                <a:spcPct val="90000"/>
              </a:lnSpc>
              <a:spcBef>
                <a:spcPts val="500"/>
              </a:spcBef>
              <a:spcAft>
                <a:spcPts val="0"/>
              </a:spcAft>
              <a:buClr>
                <a:schemeClr val="dk1"/>
              </a:buClr>
              <a:buSzPct val="100000"/>
              <a:buChar char="•"/>
            </a:pPr>
            <a:r>
              <a:rPr lang="en-US"/>
              <a:t>Ensures software solutions are sustainable throughout their entire lifecycle.</a:t>
            </a:r>
            <a:endParaRPr/>
          </a:p>
          <a:p>
            <a:pPr indent="-228600" lvl="0" marL="228600" rtl="0" algn="l">
              <a:lnSpc>
                <a:spcPct val="90000"/>
              </a:lnSpc>
              <a:spcBef>
                <a:spcPts val="1000"/>
              </a:spcBef>
              <a:spcAft>
                <a:spcPts val="0"/>
              </a:spcAft>
              <a:buClr>
                <a:schemeClr val="dk1"/>
              </a:buClr>
              <a:buSzPct val="100000"/>
              <a:buFont typeface="Calibri"/>
              <a:buAutoNum type="arabicPeriod"/>
            </a:pPr>
            <a:r>
              <a:rPr lang="en-US"/>
              <a:t> Sustainability in Software Engineering</a:t>
            </a:r>
            <a:endParaRPr/>
          </a:p>
          <a:p>
            <a:pPr indent="-228600" lvl="1" marL="685800" rtl="0" algn="l">
              <a:lnSpc>
                <a:spcPct val="90000"/>
              </a:lnSpc>
              <a:spcBef>
                <a:spcPts val="500"/>
              </a:spcBef>
              <a:spcAft>
                <a:spcPts val="0"/>
              </a:spcAft>
              <a:buClr>
                <a:schemeClr val="dk1"/>
              </a:buClr>
              <a:buSzPct val="100000"/>
              <a:buChar char="•"/>
            </a:pPr>
            <a:r>
              <a:rPr lang="en-US"/>
              <a:t>Enhances software’s non-functional properties such as energy efficiency, usability, maintainability, and security.</a:t>
            </a:r>
            <a:endParaRPr/>
          </a:p>
          <a:p>
            <a:pPr indent="-228600" lvl="1" marL="685800" rtl="0" algn="l">
              <a:lnSpc>
                <a:spcPct val="90000"/>
              </a:lnSpc>
              <a:spcBef>
                <a:spcPts val="500"/>
              </a:spcBef>
              <a:spcAft>
                <a:spcPts val="0"/>
              </a:spcAft>
              <a:buClr>
                <a:schemeClr val="dk1"/>
              </a:buClr>
              <a:buSzPct val="100000"/>
              <a:buChar char="•"/>
            </a:pPr>
            <a:r>
              <a:rPr lang="en-US"/>
              <a:t>Optimizes performance to reduce resource consumption and increase long-term viability.</a:t>
            </a:r>
            <a:endParaRPr/>
          </a:p>
          <a:p>
            <a:pPr indent="-228600" lvl="0" marL="228600" rtl="0" algn="l">
              <a:lnSpc>
                <a:spcPct val="90000"/>
              </a:lnSpc>
              <a:spcBef>
                <a:spcPts val="1000"/>
              </a:spcBef>
              <a:spcAft>
                <a:spcPts val="0"/>
              </a:spcAft>
              <a:buClr>
                <a:schemeClr val="dk1"/>
              </a:buClr>
              <a:buSzPct val="100000"/>
              <a:buFont typeface="Calibri"/>
              <a:buAutoNum type="arabicPeriod"/>
            </a:pPr>
            <a:r>
              <a:rPr lang="en-US"/>
              <a:t> Software Engineering for Sustainability</a:t>
            </a:r>
            <a:endParaRPr/>
          </a:p>
          <a:p>
            <a:pPr indent="-228600" lvl="1" marL="685800" rtl="0" algn="l">
              <a:lnSpc>
                <a:spcPct val="90000"/>
              </a:lnSpc>
              <a:spcBef>
                <a:spcPts val="500"/>
              </a:spcBef>
              <a:spcAft>
                <a:spcPts val="0"/>
              </a:spcAft>
              <a:buClr>
                <a:schemeClr val="dk1"/>
              </a:buClr>
              <a:buSzPct val="100000"/>
              <a:buChar char="•"/>
            </a:pPr>
            <a:r>
              <a:rPr lang="en-US"/>
              <a:t>Targets software design and functionality that explicitly address sustainability challenges.</a:t>
            </a:r>
            <a:endParaRPr/>
          </a:p>
          <a:p>
            <a:pPr indent="-228600" lvl="1" marL="685800" rtl="0" algn="l">
              <a:lnSpc>
                <a:spcPct val="90000"/>
              </a:lnSpc>
              <a:spcBef>
                <a:spcPts val="500"/>
              </a:spcBef>
              <a:spcAft>
                <a:spcPts val="0"/>
              </a:spcAft>
              <a:buClr>
                <a:schemeClr val="dk1"/>
              </a:buClr>
              <a:buSzPct val="100000"/>
              <a:buChar char="•"/>
            </a:pPr>
            <a:r>
              <a:rPr lang="en-US"/>
              <a:t>Focuses on creating positive sustainability outcomes in domains such as agriculture, transportation, and healthcare.</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Six principles of Sustainable SE (Microsoft)</a:t>
            </a:r>
            <a:endParaRPr/>
          </a:p>
        </p:txBody>
      </p:sp>
      <p:sp>
        <p:nvSpPr>
          <p:cNvPr id="293" name="Google Shape;293;p16"/>
          <p:cNvSpPr txBox="1"/>
          <p:nvPr>
            <p:ph idx="1" type="body"/>
          </p:nvPr>
        </p:nvSpPr>
        <p:spPr>
          <a:xfrm>
            <a:off x="838200" y="1608607"/>
            <a:ext cx="10515600" cy="488426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161616"/>
              </a:buClr>
              <a:buSzPts val="1800"/>
              <a:buChar char="•"/>
            </a:pPr>
            <a:r>
              <a:rPr i="0" lang="en-US" sz="1800">
                <a:solidFill>
                  <a:srgbClr val="161616"/>
                </a:solidFill>
                <a:latin typeface="Quattrocento Sans"/>
                <a:ea typeface="Quattrocento Sans"/>
                <a:cs typeface="Quattrocento Sans"/>
                <a:sym typeface="Quattrocento Sans"/>
              </a:rPr>
              <a:t>The six principles that software engineers can use to make decisions that have a meaningful impact on the carbon pollution of their applications:</a:t>
            </a:r>
            <a:br>
              <a:rPr i="0" lang="en-US" sz="1800">
                <a:solidFill>
                  <a:srgbClr val="161616"/>
                </a:solidFill>
                <a:latin typeface="Quattrocento Sans"/>
                <a:ea typeface="Quattrocento Sans"/>
                <a:cs typeface="Quattrocento Sans"/>
                <a:sym typeface="Quattrocento Sans"/>
              </a:rPr>
            </a:br>
            <a:endParaRPr i="0" sz="1800">
              <a:solidFill>
                <a:srgbClr val="161616"/>
              </a:solidFill>
              <a:latin typeface="Quattrocento Sans"/>
              <a:ea typeface="Quattrocento Sans"/>
              <a:cs typeface="Quattrocento Sans"/>
              <a:sym typeface="Quattrocento Sans"/>
            </a:endParaRPr>
          </a:p>
          <a:p>
            <a:pPr indent="-514350" lvl="1" marL="971550" rtl="0" algn="l">
              <a:lnSpc>
                <a:spcPct val="90000"/>
              </a:lnSpc>
              <a:spcBef>
                <a:spcPts val="500"/>
              </a:spcBef>
              <a:spcAft>
                <a:spcPts val="0"/>
              </a:spcAft>
              <a:buClr>
                <a:srgbClr val="161616"/>
              </a:buClr>
              <a:buSzPts val="1800"/>
              <a:buFont typeface="Calibri"/>
              <a:buAutoNum type="arabicPeriod"/>
            </a:pPr>
            <a:r>
              <a:rPr i="0" lang="en-US" sz="1800">
                <a:solidFill>
                  <a:srgbClr val="161616"/>
                </a:solidFill>
                <a:latin typeface="Quattrocento Sans"/>
                <a:ea typeface="Quattrocento Sans"/>
                <a:cs typeface="Quattrocento Sans"/>
                <a:sym typeface="Quattrocento Sans"/>
              </a:rPr>
              <a:t>Carbon Efficiency: Build applications that are carbon efficient.</a:t>
            </a:r>
            <a:endParaRPr/>
          </a:p>
          <a:p>
            <a:pPr indent="-514350" lvl="1" marL="971550" rtl="0" algn="l">
              <a:lnSpc>
                <a:spcPct val="90000"/>
              </a:lnSpc>
              <a:spcBef>
                <a:spcPts val="500"/>
              </a:spcBef>
              <a:spcAft>
                <a:spcPts val="0"/>
              </a:spcAft>
              <a:buClr>
                <a:srgbClr val="161616"/>
              </a:buClr>
              <a:buSzPts val="1800"/>
              <a:buFont typeface="Calibri"/>
              <a:buAutoNum type="arabicPeriod"/>
            </a:pPr>
            <a:r>
              <a:rPr i="0" lang="en-US" sz="1800">
                <a:solidFill>
                  <a:srgbClr val="161616"/>
                </a:solidFill>
                <a:latin typeface="Quattrocento Sans"/>
                <a:ea typeface="Quattrocento Sans"/>
                <a:cs typeface="Quattrocento Sans"/>
                <a:sym typeface="Quattrocento Sans"/>
              </a:rPr>
              <a:t>Electricity Efficiency: Build applications that are energy efficient.</a:t>
            </a:r>
            <a:endParaRPr/>
          </a:p>
          <a:p>
            <a:pPr indent="-514350" lvl="1" marL="971550" rtl="0" algn="l">
              <a:lnSpc>
                <a:spcPct val="90000"/>
              </a:lnSpc>
              <a:spcBef>
                <a:spcPts val="500"/>
              </a:spcBef>
              <a:spcAft>
                <a:spcPts val="0"/>
              </a:spcAft>
              <a:buClr>
                <a:srgbClr val="161616"/>
              </a:buClr>
              <a:buSzPts val="1800"/>
              <a:buFont typeface="Calibri"/>
              <a:buAutoNum type="arabicPeriod"/>
            </a:pPr>
            <a:r>
              <a:rPr i="0" lang="en-US" sz="1800">
                <a:solidFill>
                  <a:srgbClr val="161616"/>
                </a:solidFill>
                <a:latin typeface="Quattrocento Sans"/>
                <a:ea typeface="Quattrocento Sans"/>
                <a:cs typeface="Quattrocento Sans"/>
                <a:sym typeface="Quattrocento Sans"/>
              </a:rPr>
              <a:t>Carbon Awareness: Consume electricity with the lowest carbon intensity.</a:t>
            </a:r>
            <a:endParaRPr/>
          </a:p>
          <a:p>
            <a:pPr indent="-514350" lvl="1" marL="971550" rtl="0" algn="l">
              <a:lnSpc>
                <a:spcPct val="90000"/>
              </a:lnSpc>
              <a:spcBef>
                <a:spcPts val="500"/>
              </a:spcBef>
              <a:spcAft>
                <a:spcPts val="0"/>
              </a:spcAft>
              <a:buClr>
                <a:srgbClr val="161616"/>
              </a:buClr>
              <a:buSzPts val="1800"/>
              <a:buFont typeface="Calibri"/>
              <a:buAutoNum type="arabicPeriod"/>
            </a:pPr>
            <a:r>
              <a:rPr i="0" lang="en-US" sz="1800">
                <a:solidFill>
                  <a:srgbClr val="161616"/>
                </a:solidFill>
                <a:latin typeface="Quattrocento Sans"/>
                <a:ea typeface="Quattrocento Sans"/>
                <a:cs typeface="Quattrocento Sans"/>
                <a:sym typeface="Quattrocento Sans"/>
              </a:rPr>
              <a:t>Hardware Efficiency: Build applications that are hardware efficient.</a:t>
            </a:r>
            <a:endParaRPr/>
          </a:p>
          <a:p>
            <a:pPr indent="-514350" lvl="1" marL="971550" rtl="0" algn="l">
              <a:lnSpc>
                <a:spcPct val="90000"/>
              </a:lnSpc>
              <a:spcBef>
                <a:spcPts val="500"/>
              </a:spcBef>
              <a:spcAft>
                <a:spcPts val="0"/>
              </a:spcAft>
              <a:buClr>
                <a:srgbClr val="161616"/>
              </a:buClr>
              <a:buSzPts val="1800"/>
              <a:buFont typeface="Calibri"/>
              <a:buAutoNum type="arabicPeriod"/>
            </a:pPr>
            <a:r>
              <a:rPr i="0" lang="en-US" sz="1800">
                <a:solidFill>
                  <a:srgbClr val="161616"/>
                </a:solidFill>
                <a:latin typeface="Quattrocento Sans"/>
                <a:ea typeface="Quattrocento Sans"/>
                <a:cs typeface="Quattrocento Sans"/>
                <a:sym typeface="Quattrocento Sans"/>
              </a:rPr>
              <a:t>Measurement: Improve sustainability through measurement.</a:t>
            </a:r>
            <a:endParaRPr/>
          </a:p>
          <a:p>
            <a:pPr indent="-514350" lvl="1" marL="971550" rtl="0" algn="l">
              <a:lnSpc>
                <a:spcPct val="90000"/>
              </a:lnSpc>
              <a:spcBef>
                <a:spcPts val="500"/>
              </a:spcBef>
              <a:spcAft>
                <a:spcPts val="0"/>
              </a:spcAft>
              <a:buClr>
                <a:srgbClr val="161616"/>
              </a:buClr>
              <a:buSzPts val="1800"/>
              <a:buFont typeface="Calibri"/>
              <a:buAutoNum type="arabicPeriod"/>
            </a:pPr>
            <a:r>
              <a:rPr i="0" lang="en-US" sz="1800">
                <a:solidFill>
                  <a:srgbClr val="161616"/>
                </a:solidFill>
                <a:latin typeface="Quattrocento Sans"/>
                <a:ea typeface="Quattrocento Sans"/>
                <a:cs typeface="Quattrocento Sans"/>
                <a:sym typeface="Quattrocento Sans"/>
              </a:rPr>
              <a:t>Climate Commitments: Defining the exact mechanism of carbon reduction.</a:t>
            </a:r>
            <a:endParaRPr sz="1800">
              <a:solidFill>
                <a:srgbClr val="161616"/>
              </a:solidFill>
              <a:latin typeface="Quattrocento Sans"/>
              <a:ea typeface="Quattrocento Sans"/>
              <a:cs typeface="Quattrocento Sans"/>
              <a:sym typeface="Quattrocento Sans"/>
            </a:endParaRPr>
          </a:p>
          <a:p>
            <a:pPr indent="-228600" lvl="0" marL="228600" rtl="0" algn="l">
              <a:lnSpc>
                <a:spcPct val="90000"/>
              </a:lnSpc>
              <a:spcBef>
                <a:spcPts val="1000"/>
              </a:spcBef>
              <a:spcAft>
                <a:spcPts val="0"/>
              </a:spcAft>
              <a:buClr>
                <a:srgbClr val="161616"/>
              </a:buClr>
              <a:buSzPts val="1800"/>
              <a:buChar char="•"/>
            </a:pPr>
            <a:r>
              <a:rPr lang="en-US" sz="1800">
                <a:solidFill>
                  <a:srgbClr val="161616"/>
                </a:solidFill>
                <a:latin typeface="Quattrocento Sans"/>
                <a:ea typeface="Quattrocento Sans"/>
                <a:cs typeface="Quattrocento Sans"/>
                <a:sym typeface="Quattrocento Sans"/>
              </a:rPr>
              <a:t>These six principles </a:t>
            </a:r>
            <a:r>
              <a:rPr b="0" i="0" lang="en-US" sz="1800">
                <a:solidFill>
                  <a:srgbClr val="161616"/>
                </a:solidFill>
                <a:latin typeface="Quattrocento Sans"/>
                <a:ea typeface="Quattrocento Sans"/>
                <a:cs typeface="Quattrocento Sans"/>
                <a:sym typeface="Quattrocento Sans"/>
              </a:rPr>
              <a:t>are independent of the following:</a:t>
            </a:r>
            <a:endParaRPr/>
          </a:p>
          <a:p>
            <a:pPr indent="-228600" lvl="1" marL="685800" rtl="0" algn="l">
              <a:lnSpc>
                <a:spcPct val="90000"/>
              </a:lnSpc>
              <a:spcBef>
                <a:spcPts val="500"/>
              </a:spcBef>
              <a:spcAft>
                <a:spcPts val="0"/>
              </a:spcAft>
              <a:buClr>
                <a:srgbClr val="161616"/>
              </a:buClr>
              <a:buSzPts val="1800"/>
              <a:buChar char="•"/>
            </a:pPr>
            <a:r>
              <a:rPr b="0" i="0" lang="en-US" sz="1800">
                <a:solidFill>
                  <a:srgbClr val="161616"/>
                </a:solidFill>
                <a:latin typeface="Quattrocento Sans"/>
                <a:ea typeface="Quattrocento Sans"/>
                <a:cs typeface="Quattrocento Sans"/>
                <a:sym typeface="Quattrocento Sans"/>
              </a:rPr>
              <a:t>Application domain</a:t>
            </a:r>
            <a:endParaRPr/>
          </a:p>
          <a:p>
            <a:pPr indent="-228600" lvl="1" marL="685800" rtl="0" algn="l">
              <a:lnSpc>
                <a:spcPct val="90000"/>
              </a:lnSpc>
              <a:spcBef>
                <a:spcPts val="500"/>
              </a:spcBef>
              <a:spcAft>
                <a:spcPts val="0"/>
              </a:spcAft>
              <a:buClr>
                <a:srgbClr val="161616"/>
              </a:buClr>
              <a:buSzPts val="1800"/>
              <a:buChar char="•"/>
            </a:pPr>
            <a:r>
              <a:rPr b="0" i="0" lang="en-US" sz="1800">
                <a:solidFill>
                  <a:srgbClr val="161616"/>
                </a:solidFill>
                <a:latin typeface="Quattrocento Sans"/>
                <a:ea typeface="Quattrocento Sans"/>
                <a:cs typeface="Quattrocento Sans"/>
                <a:sym typeface="Quattrocento Sans"/>
              </a:rPr>
              <a:t>Organization size or type</a:t>
            </a:r>
            <a:endParaRPr/>
          </a:p>
          <a:p>
            <a:pPr indent="-228600" lvl="1" marL="685800" rtl="0" algn="l">
              <a:lnSpc>
                <a:spcPct val="90000"/>
              </a:lnSpc>
              <a:spcBef>
                <a:spcPts val="500"/>
              </a:spcBef>
              <a:spcAft>
                <a:spcPts val="0"/>
              </a:spcAft>
              <a:buClr>
                <a:srgbClr val="161616"/>
              </a:buClr>
              <a:buSzPts val="1800"/>
              <a:buChar char="•"/>
            </a:pPr>
            <a:r>
              <a:rPr b="0" i="0" lang="en-US" sz="1800">
                <a:solidFill>
                  <a:srgbClr val="161616"/>
                </a:solidFill>
                <a:latin typeface="Quattrocento Sans"/>
                <a:ea typeface="Quattrocento Sans"/>
                <a:cs typeface="Quattrocento Sans"/>
                <a:sym typeface="Quattrocento Sans"/>
              </a:rPr>
              <a:t>Cloud vendor or self-hosted</a:t>
            </a:r>
            <a:endParaRPr/>
          </a:p>
          <a:p>
            <a:pPr indent="-228600" lvl="1" marL="685800" rtl="0" algn="l">
              <a:lnSpc>
                <a:spcPct val="90000"/>
              </a:lnSpc>
              <a:spcBef>
                <a:spcPts val="500"/>
              </a:spcBef>
              <a:spcAft>
                <a:spcPts val="0"/>
              </a:spcAft>
              <a:buClr>
                <a:srgbClr val="161616"/>
              </a:buClr>
              <a:buSzPts val="1800"/>
              <a:buChar char="•"/>
            </a:pPr>
            <a:r>
              <a:rPr b="0" i="0" lang="en-US" sz="1800">
                <a:solidFill>
                  <a:srgbClr val="161616"/>
                </a:solidFill>
                <a:latin typeface="Quattrocento Sans"/>
                <a:ea typeface="Quattrocento Sans"/>
                <a:cs typeface="Quattrocento Sans"/>
                <a:sym typeface="Quattrocento Sans"/>
              </a:rPr>
              <a:t>Programming language or framework</a:t>
            </a:r>
            <a:endParaRPr/>
          </a:p>
          <a:p>
            <a:pPr indent="-228600" lvl="0" marL="228600" rtl="0" algn="l">
              <a:lnSpc>
                <a:spcPct val="90000"/>
              </a:lnSpc>
              <a:spcBef>
                <a:spcPts val="1000"/>
              </a:spcBef>
              <a:spcAft>
                <a:spcPts val="0"/>
              </a:spcAft>
              <a:buClr>
                <a:srgbClr val="161616"/>
              </a:buClr>
              <a:buSzPts val="1800"/>
              <a:buChar char="•"/>
            </a:pPr>
            <a:r>
              <a:rPr lang="en-US" sz="1800">
                <a:solidFill>
                  <a:srgbClr val="161616"/>
                </a:solidFill>
                <a:latin typeface="Quattrocento Sans"/>
                <a:ea typeface="Quattrocento Sans"/>
                <a:cs typeface="Quattrocento Sans"/>
                <a:sym typeface="Quattrocento Sans"/>
              </a:rPr>
              <a:t>Reference: </a:t>
            </a:r>
            <a:r>
              <a:rPr b="0" i="0" lang="en-US" sz="1800">
                <a:solidFill>
                  <a:srgbClr val="161616"/>
                </a:solidFill>
                <a:latin typeface="Quattrocento Sans"/>
                <a:ea typeface="Quattrocento Sans"/>
                <a:cs typeface="Quattrocento Sans"/>
                <a:sym typeface="Quattrocento Sans"/>
              </a:rPr>
              <a:t>https://learn.microsoft.com/en-us/training/modules/sustainable-software-engineering-overview/</a:t>
            </a:r>
            <a:endParaRPr/>
          </a:p>
          <a:p>
            <a:pPr indent="0" lvl="0" marL="0" rtl="0" algn="l">
              <a:lnSpc>
                <a:spcPct val="90000"/>
              </a:lnSpc>
              <a:spcBef>
                <a:spcPts val="1000"/>
              </a:spcBef>
              <a:spcAft>
                <a:spcPts val="0"/>
              </a:spcAft>
              <a:buClr>
                <a:schemeClr val="dk1"/>
              </a:buClr>
              <a:buSzPts val="1800"/>
              <a:buNone/>
            </a:pPr>
            <a:r>
              <a:t/>
            </a:r>
            <a:endParaRPr i="0" sz="1800">
              <a:solidFill>
                <a:srgbClr val="161616"/>
              </a:solidFill>
              <a:latin typeface="Quattrocento Sans"/>
              <a:ea typeface="Quattrocento Sans"/>
              <a:cs typeface="Quattrocento Sans"/>
              <a:sym typeface="Quattrocento Sans"/>
            </a:endParaRPr>
          </a:p>
          <a:p>
            <a:pPr indent="-400050" lvl="0" marL="514350" rtl="0" algn="l">
              <a:lnSpc>
                <a:spcPct val="90000"/>
              </a:lnSpc>
              <a:spcBef>
                <a:spcPts val="1000"/>
              </a:spcBef>
              <a:spcAft>
                <a:spcPts val="0"/>
              </a:spcAft>
              <a:buClr>
                <a:schemeClr val="dk1"/>
              </a:buClr>
              <a:buSzPts val="1800"/>
              <a:buFont typeface="Calibri"/>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Principle 1: Carbon Efficiency</a:t>
            </a:r>
            <a:endParaRPr sz="4000"/>
          </a:p>
        </p:txBody>
      </p:sp>
      <p:sp>
        <p:nvSpPr>
          <p:cNvPr id="300" name="Google Shape;300;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Definition:</a:t>
            </a:r>
            <a:r>
              <a:rPr lang="en-US"/>
              <a:t> Minimize carbon emissions per unit of work in software applications. </a:t>
            </a:r>
            <a:endParaRPr/>
          </a:p>
          <a:p>
            <a:pPr indent="-228600" lvl="0" marL="228600" rtl="0" algn="l">
              <a:lnSpc>
                <a:spcPct val="90000"/>
              </a:lnSpc>
              <a:spcBef>
                <a:spcPts val="1000"/>
              </a:spcBef>
              <a:spcAft>
                <a:spcPts val="0"/>
              </a:spcAft>
              <a:buClr>
                <a:schemeClr val="dk1"/>
              </a:buClr>
              <a:buSzPct val="100000"/>
              <a:buChar char="•"/>
            </a:pPr>
            <a:r>
              <a:rPr b="1" lang="en-US"/>
              <a:t>Focus:</a:t>
            </a:r>
            <a:r>
              <a:rPr lang="en-US"/>
              <a:t> Optimize software to perform tasks effectively while emitting the least possible carbon dioxide (CO₂). </a:t>
            </a:r>
            <a:endParaRPr/>
          </a:p>
          <a:p>
            <a:pPr indent="-228600" lvl="0" marL="228600" rtl="0" algn="l">
              <a:lnSpc>
                <a:spcPct val="90000"/>
              </a:lnSpc>
              <a:spcBef>
                <a:spcPts val="1000"/>
              </a:spcBef>
              <a:spcAft>
                <a:spcPts val="0"/>
              </a:spcAft>
              <a:buClr>
                <a:schemeClr val="dk1"/>
              </a:buClr>
              <a:buSzPct val="100000"/>
              <a:buChar char="•"/>
            </a:pPr>
            <a:r>
              <a:rPr b="1" lang="en-US"/>
              <a:t>Context:</a:t>
            </a:r>
            <a:r>
              <a:rPr lang="en-US"/>
              <a:t> CO₂ is the most prevalent greenhouse gas resulting from human activities, contributing significantly to global warming. </a:t>
            </a:r>
            <a:endParaRPr/>
          </a:p>
          <a:p>
            <a:pPr indent="-228600" lvl="0" marL="228600" rtl="0" algn="l">
              <a:lnSpc>
                <a:spcPct val="90000"/>
              </a:lnSpc>
              <a:spcBef>
                <a:spcPts val="1000"/>
              </a:spcBef>
              <a:spcAft>
                <a:spcPts val="0"/>
              </a:spcAft>
              <a:buClr>
                <a:schemeClr val="dk1"/>
              </a:buClr>
              <a:buSzPct val="100000"/>
              <a:buChar char="•"/>
            </a:pPr>
            <a:r>
              <a:rPr b="1" lang="en-US"/>
              <a:t>Objective:</a:t>
            </a:r>
            <a:r>
              <a:rPr lang="en-US"/>
              <a:t> Develop applications that deliver user value efficiently, reducing their environmental impact. </a:t>
            </a:r>
            <a:endParaRPr/>
          </a:p>
          <a:p>
            <a:pPr indent="0" lvl="0" marL="0" rtl="0" algn="l">
              <a:lnSpc>
                <a:spcPct val="90000"/>
              </a:lnSpc>
              <a:spcBef>
                <a:spcPts val="1000"/>
              </a:spcBef>
              <a:spcAft>
                <a:spcPts val="0"/>
              </a:spcAft>
              <a:buClr>
                <a:schemeClr val="dk1"/>
              </a:buClr>
              <a:buSzPct val="100000"/>
              <a:buNone/>
            </a:pPr>
            <a:br>
              <a:rPr lang="en-US"/>
            </a:br>
            <a:r>
              <a:rPr lang="en-US"/>
              <a:t>Reference: https://learn.microsoft.com/en-us/training/modules/sustainable-software-engineering-overview/3-carbon-efficiency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Principle 2: Energy efficiency</a:t>
            </a:r>
            <a:endParaRPr/>
          </a:p>
        </p:txBody>
      </p:sp>
      <p:sp>
        <p:nvSpPr>
          <p:cNvPr id="306" name="Google Shape;306;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lang="en-US"/>
              <a:t>Definition</a:t>
            </a:r>
            <a:r>
              <a:rPr lang="en-US"/>
              <a:t>: Minimize the amount of energy consumed by software applications during their execution.</a:t>
            </a:r>
            <a:endParaRPr/>
          </a:p>
          <a:p>
            <a:pPr indent="-228600" lvl="0" marL="228600" rtl="0" algn="l">
              <a:lnSpc>
                <a:spcPct val="90000"/>
              </a:lnSpc>
              <a:spcBef>
                <a:spcPts val="1000"/>
              </a:spcBef>
              <a:spcAft>
                <a:spcPts val="0"/>
              </a:spcAft>
              <a:buClr>
                <a:schemeClr val="dk1"/>
              </a:buClr>
              <a:buSzPct val="100000"/>
              <a:buChar char="•"/>
            </a:pPr>
            <a:r>
              <a:rPr b="1" lang="en-US"/>
              <a:t>Focus</a:t>
            </a:r>
            <a:r>
              <a:rPr lang="en-US"/>
              <a:t>: Optimize software to perform tasks effectively while using the least possible electrical energy.</a:t>
            </a:r>
            <a:endParaRPr/>
          </a:p>
          <a:p>
            <a:pPr indent="-228600" lvl="0" marL="228600" rtl="0" algn="l">
              <a:lnSpc>
                <a:spcPct val="90000"/>
              </a:lnSpc>
              <a:spcBef>
                <a:spcPts val="1000"/>
              </a:spcBef>
              <a:spcAft>
                <a:spcPts val="0"/>
              </a:spcAft>
              <a:buClr>
                <a:schemeClr val="dk1"/>
              </a:buClr>
              <a:buSzPct val="100000"/>
              <a:buChar char="•"/>
            </a:pPr>
            <a:r>
              <a:rPr b="1" lang="en-US"/>
              <a:t>Context</a:t>
            </a:r>
            <a:r>
              <a:rPr lang="en-US"/>
              <a:t>: Electricity production, often reliant on fossil fuels, is a major source of carbon emissions.</a:t>
            </a:r>
            <a:endParaRPr/>
          </a:p>
          <a:p>
            <a:pPr indent="-228600" lvl="0" marL="228600" rtl="0" algn="l">
              <a:lnSpc>
                <a:spcPct val="90000"/>
              </a:lnSpc>
              <a:spcBef>
                <a:spcPts val="1000"/>
              </a:spcBef>
              <a:spcAft>
                <a:spcPts val="0"/>
              </a:spcAft>
              <a:buClr>
                <a:schemeClr val="dk1"/>
              </a:buClr>
              <a:buSzPct val="100000"/>
              <a:buChar char="•"/>
            </a:pPr>
            <a:r>
              <a:rPr b="1" lang="en-US"/>
              <a:t>Objective</a:t>
            </a:r>
            <a:r>
              <a:rPr lang="en-US"/>
              <a:t>: Develop energy-efficient applications to reduce electricity consumption and associated carbon emissions.</a:t>
            </a:r>
            <a:endParaRPr/>
          </a:p>
          <a:p>
            <a:pPr indent="-228600" lvl="0" marL="228600" rtl="0" algn="l">
              <a:lnSpc>
                <a:spcPct val="90000"/>
              </a:lnSpc>
              <a:spcBef>
                <a:spcPts val="1000"/>
              </a:spcBef>
              <a:spcAft>
                <a:spcPts val="0"/>
              </a:spcAft>
              <a:buClr>
                <a:schemeClr val="dk1"/>
              </a:buClr>
              <a:buSzPct val="100000"/>
              <a:buChar char="•"/>
            </a:pPr>
            <a:r>
              <a:rPr lang="en-US"/>
              <a:t>By prioritizing energy efficiency in software development, we contribute to more sustainable computing practices and a healthier environment.</a:t>
            </a:r>
            <a:endParaRPr/>
          </a:p>
          <a:p>
            <a:pPr indent="0" lvl="0" marL="0" rtl="0" algn="l">
              <a:lnSpc>
                <a:spcPct val="90000"/>
              </a:lnSpc>
              <a:spcBef>
                <a:spcPts val="1000"/>
              </a:spcBef>
              <a:spcAft>
                <a:spcPts val="0"/>
              </a:spcAft>
              <a:buClr>
                <a:schemeClr val="dk1"/>
              </a:buClr>
              <a:buSzPct val="100000"/>
              <a:buNone/>
            </a:pPr>
            <a:r>
              <a:rPr lang="en-US"/>
              <a:t>Reference: https://learn.microsoft.com/en-us/training/modules/sustainable-software-engineering-overview/4-energy-efficiency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Principle 3: Carbon awareness</a:t>
            </a:r>
            <a:endParaRPr/>
          </a:p>
        </p:txBody>
      </p:sp>
      <p:sp>
        <p:nvSpPr>
          <p:cNvPr id="312" name="Google Shape;312;p19"/>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b="1" lang="en-US" sz="2400"/>
              <a:t>Definition:</a:t>
            </a:r>
            <a:r>
              <a:rPr lang="en-US" sz="2400"/>
              <a:t> Optimize software operations to align with periods when electricity is generated from cleaner, low-carbon sources. </a:t>
            </a:r>
            <a:endParaRPr/>
          </a:p>
          <a:p>
            <a:pPr indent="-228600" lvl="0" marL="228600" rtl="0" algn="l">
              <a:lnSpc>
                <a:spcPct val="90000"/>
              </a:lnSpc>
              <a:spcBef>
                <a:spcPts val="1000"/>
              </a:spcBef>
              <a:spcAft>
                <a:spcPts val="0"/>
              </a:spcAft>
              <a:buClr>
                <a:schemeClr val="dk1"/>
              </a:buClr>
              <a:buSzPct val="100000"/>
              <a:buChar char="•"/>
            </a:pPr>
            <a:r>
              <a:rPr b="1" lang="en-US" sz="2400"/>
              <a:t>Focus:</a:t>
            </a:r>
            <a:r>
              <a:rPr lang="en-US" sz="2400"/>
              <a:t> Schedule computational tasks during times when the energy grid's carbon intensity is low, thereby reducing the carbon footprint of software applications. </a:t>
            </a:r>
            <a:endParaRPr/>
          </a:p>
          <a:p>
            <a:pPr indent="-228600" lvl="0" marL="228600" rtl="0" algn="l">
              <a:lnSpc>
                <a:spcPct val="90000"/>
              </a:lnSpc>
              <a:spcBef>
                <a:spcPts val="1000"/>
              </a:spcBef>
              <a:spcAft>
                <a:spcPts val="0"/>
              </a:spcAft>
              <a:buClr>
                <a:schemeClr val="dk1"/>
              </a:buClr>
              <a:buSzPct val="100000"/>
              <a:buChar char="•"/>
            </a:pPr>
            <a:r>
              <a:rPr b="1" lang="en-US" sz="2400"/>
              <a:t>Key Concepts:</a:t>
            </a:r>
            <a:endParaRPr sz="2400"/>
          </a:p>
          <a:p>
            <a:pPr indent="-228600" lvl="1" marL="685800" rtl="0" algn="l">
              <a:lnSpc>
                <a:spcPct val="90000"/>
              </a:lnSpc>
              <a:spcBef>
                <a:spcPts val="500"/>
              </a:spcBef>
              <a:spcAft>
                <a:spcPts val="0"/>
              </a:spcAft>
              <a:buClr>
                <a:schemeClr val="dk1"/>
              </a:buClr>
              <a:buSzPct val="100000"/>
              <a:buChar char="•"/>
            </a:pPr>
            <a:r>
              <a:rPr b="1" lang="en-US" sz="2000"/>
              <a:t>Carbon Intensity:</a:t>
            </a:r>
            <a:r>
              <a:rPr lang="en-US" sz="2000"/>
              <a:t> The amount of CO₂ emissions produced per kilowatt-hour (kWh) of electricity consumed, measured in grams of CO₂ per kWh (gCO₂/kWh). </a:t>
            </a:r>
            <a:endParaRPr/>
          </a:p>
          <a:p>
            <a:pPr indent="-228600" lvl="1" marL="685800" rtl="0" algn="l">
              <a:lnSpc>
                <a:spcPct val="90000"/>
              </a:lnSpc>
              <a:spcBef>
                <a:spcPts val="500"/>
              </a:spcBef>
              <a:spcAft>
                <a:spcPts val="0"/>
              </a:spcAft>
              <a:buClr>
                <a:schemeClr val="dk1"/>
              </a:buClr>
              <a:buSzPct val="100000"/>
              <a:buChar char="•"/>
            </a:pPr>
            <a:r>
              <a:rPr b="1" lang="en-US" sz="2000"/>
              <a:t>Variability:</a:t>
            </a:r>
            <a:r>
              <a:rPr lang="en-US" sz="2000"/>
              <a:t> Carbon intensity fluctuates based on location and time, influenced by factors such as the availability of renewable energy sources (e.g., solar, wind) and changes in electricity demand.</a:t>
            </a:r>
            <a:endParaRPr/>
          </a:p>
          <a:p>
            <a:pPr indent="-228600" lvl="0" marL="228600" rtl="0" algn="l">
              <a:lnSpc>
                <a:spcPct val="90000"/>
              </a:lnSpc>
              <a:spcBef>
                <a:spcPts val="1000"/>
              </a:spcBef>
              <a:spcAft>
                <a:spcPts val="0"/>
              </a:spcAft>
              <a:buClr>
                <a:schemeClr val="dk1"/>
              </a:buClr>
              <a:buSzPct val="100000"/>
              <a:buChar char="•"/>
            </a:pPr>
            <a:r>
              <a:rPr lang="en-US" sz="2400"/>
              <a:t>By incorporating carbon awareness into software design and operation, developers can significantly mitigate the environmental impact of their applications.</a:t>
            </a:r>
            <a:endParaRPr/>
          </a:p>
          <a:p>
            <a:pPr indent="-228600" lvl="0" marL="228600" rtl="0" algn="l">
              <a:lnSpc>
                <a:spcPct val="90000"/>
              </a:lnSpc>
              <a:spcBef>
                <a:spcPts val="1000"/>
              </a:spcBef>
              <a:spcAft>
                <a:spcPts val="0"/>
              </a:spcAft>
              <a:buClr>
                <a:schemeClr val="dk1"/>
              </a:buClr>
              <a:buSzPct val="100000"/>
              <a:buChar char="•"/>
            </a:pPr>
            <a:r>
              <a:rPr lang="en-US" sz="2400"/>
              <a:t>Reference: https://learn.microsoft.com/en-us/training/modules/sustainable-software-engineering-overview/5-carbon-awareness</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Principle 4: Hardware efficiency</a:t>
            </a:r>
            <a:endParaRPr/>
          </a:p>
        </p:txBody>
      </p:sp>
      <p:sp>
        <p:nvSpPr>
          <p:cNvPr id="318" name="Google Shape;318;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b="1" lang="en-US"/>
              <a:t>Definition</a:t>
            </a:r>
            <a:r>
              <a:rPr lang="en-US"/>
              <a:t>: Optimize software to use the least amount of embodied carbon possible. </a:t>
            </a:r>
            <a:endParaRPr/>
          </a:p>
          <a:p>
            <a:pPr indent="-228600" lvl="0" marL="228600" rtl="0" algn="l">
              <a:lnSpc>
                <a:spcPct val="90000"/>
              </a:lnSpc>
              <a:spcBef>
                <a:spcPts val="1000"/>
              </a:spcBef>
              <a:spcAft>
                <a:spcPts val="0"/>
              </a:spcAft>
              <a:buClr>
                <a:schemeClr val="dk1"/>
              </a:buClr>
              <a:buSzPct val="100000"/>
              <a:buChar char="•"/>
            </a:pPr>
            <a:r>
              <a:rPr b="1" lang="en-US"/>
              <a:t>Focus</a:t>
            </a:r>
            <a:r>
              <a:rPr lang="en-US"/>
              <a:t>: Extend hardware lifespan and increase resource utilization to reduce the carbon footprint associated with manufacturing and disposing of devices.</a:t>
            </a:r>
            <a:endParaRPr/>
          </a:p>
          <a:p>
            <a:pPr indent="-228600" lvl="0" marL="228600" rtl="0" algn="l">
              <a:lnSpc>
                <a:spcPct val="90000"/>
              </a:lnSpc>
              <a:spcBef>
                <a:spcPts val="1000"/>
              </a:spcBef>
              <a:spcAft>
                <a:spcPts val="0"/>
              </a:spcAft>
              <a:buClr>
                <a:schemeClr val="dk1"/>
              </a:buClr>
              <a:buSzPct val="100000"/>
              <a:buChar char="•"/>
            </a:pPr>
            <a:r>
              <a:rPr b="1" lang="en-US"/>
              <a:t>Key Concepts</a:t>
            </a:r>
            <a:r>
              <a:rPr lang="en-US"/>
              <a:t>:</a:t>
            </a:r>
            <a:endParaRPr/>
          </a:p>
          <a:p>
            <a:pPr indent="-228600" lvl="1" marL="685800" rtl="0" algn="l">
              <a:lnSpc>
                <a:spcPct val="90000"/>
              </a:lnSpc>
              <a:spcBef>
                <a:spcPts val="500"/>
              </a:spcBef>
              <a:spcAft>
                <a:spcPts val="0"/>
              </a:spcAft>
              <a:buClr>
                <a:schemeClr val="dk1"/>
              </a:buClr>
              <a:buSzPct val="100000"/>
              <a:buChar char="•"/>
            </a:pPr>
            <a:r>
              <a:rPr lang="en-US"/>
              <a:t>Embodied Carbon: The total carbon emissions produced during the creation and disposal of a device. </a:t>
            </a:r>
            <a:endParaRPr/>
          </a:p>
          <a:p>
            <a:pPr indent="-228600" lvl="1" marL="685800" rtl="0" algn="l">
              <a:lnSpc>
                <a:spcPct val="90000"/>
              </a:lnSpc>
              <a:spcBef>
                <a:spcPts val="500"/>
              </a:spcBef>
              <a:spcAft>
                <a:spcPts val="0"/>
              </a:spcAft>
              <a:buClr>
                <a:schemeClr val="dk1"/>
              </a:buClr>
              <a:buSzPct val="100000"/>
              <a:buChar char="•"/>
            </a:pPr>
            <a:r>
              <a:rPr lang="en-US"/>
              <a:t>Amortizing Embodied Carbon: Distributing the carbon emissions over the expected lifespan of the hardware; extending hardware lifespan reduces annual carbon cost. </a:t>
            </a:r>
            <a:endParaRPr/>
          </a:p>
          <a:p>
            <a:pPr indent="-228600" lvl="0" marL="228600" rtl="0" algn="l">
              <a:lnSpc>
                <a:spcPct val="90000"/>
              </a:lnSpc>
              <a:spcBef>
                <a:spcPts val="1000"/>
              </a:spcBef>
              <a:spcAft>
                <a:spcPts val="0"/>
              </a:spcAft>
              <a:buClr>
                <a:schemeClr val="dk1"/>
              </a:buClr>
              <a:buSzPct val="100000"/>
              <a:buChar char="•"/>
            </a:pPr>
            <a:r>
              <a:rPr lang="en-US"/>
              <a:t>By prioritizing hardware efficiency in software development, we contribute to more sustainable computing practices and a healthier environment.</a:t>
            </a:r>
            <a:endParaRPr/>
          </a:p>
          <a:p>
            <a:pPr indent="-228600" lvl="0" marL="228600" rtl="0" algn="l">
              <a:lnSpc>
                <a:spcPct val="90000"/>
              </a:lnSpc>
              <a:spcBef>
                <a:spcPts val="1000"/>
              </a:spcBef>
              <a:spcAft>
                <a:spcPts val="0"/>
              </a:spcAft>
              <a:buClr>
                <a:schemeClr val="dk1"/>
              </a:buClr>
              <a:buSzPct val="100000"/>
              <a:buChar char="•"/>
            </a:pPr>
            <a:r>
              <a:rPr lang="en-US"/>
              <a:t>Reference : https://learn.microsoft.com/en-us/training/modules/sustainable-software-engineering-overview/6-hardware-efficiency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Principle 5: Measurement</a:t>
            </a:r>
            <a:endParaRPr/>
          </a:p>
        </p:txBody>
      </p:sp>
      <p:sp>
        <p:nvSpPr>
          <p:cNvPr id="324" name="Google Shape;324;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lang="en-US"/>
              <a:t>Definition:</a:t>
            </a:r>
            <a:r>
              <a:rPr lang="en-US"/>
              <a:t> Implement quantifiable metrics to assess and manage the carbon emissions associated with software applications. </a:t>
            </a:r>
            <a:endParaRPr/>
          </a:p>
          <a:p>
            <a:pPr indent="-228600" lvl="0" marL="228600" rtl="0" algn="l">
              <a:lnSpc>
                <a:spcPct val="90000"/>
              </a:lnSpc>
              <a:spcBef>
                <a:spcPts val="1000"/>
              </a:spcBef>
              <a:spcAft>
                <a:spcPts val="0"/>
              </a:spcAft>
              <a:buClr>
                <a:schemeClr val="dk1"/>
              </a:buClr>
              <a:buSzPct val="100000"/>
              <a:buChar char="•"/>
            </a:pPr>
            <a:r>
              <a:rPr b="1" lang="en-US"/>
              <a:t>Key Frameworks:</a:t>
            </a:r>
            <a:endParaRPr/>
          </a:p>
          <a:p>
            <a:pPr indent="-228600" lvl="1" marL="685800" rtl="0" algn="l">
              <a:lnSpc>
                <a:spcPct val="90000"/>
              </a:lnSpc>
              <a:spcBef>
                <a:spcPts val="500"/>
              </a:spcBef>
              <a:spcAft>
                <a:spcPts val="0"/>
              </a:spcAft>
              <a:buClr>
                <a:schemeClr val="dk1"/>
              </a:buClr>
              <a:buSzPct val="100000"/>
              <a:buChar char="•"/>
            </a:pPr>
            <a:r>
              <a:rPr b="1" lang="en-US"/>
              <a:t>Greenhouse Gas (GHG) Protocol:</a:t>
            </a:r>
            <a:r>
              <a:rPr lang="en-US"/>
              <a:t> A standardized method for organizations to calculate total emissions</a:t>
            </a:r>
            <a:endParaRPr/>
          </a:p>
          <a:p>
            <a:pPr indent="-228600" lvl="1" marL="685800" rtl="0" algn="l">
              <a:lnSpc>
                <a:spcPct val="90000"/>
              </a:lnSpc>
              <a:spcBef>
                <a:spcPts val="500"/>
              </a:spcBef>
              <a:spcAft>
                <a:spcPts val="0"/>
              </a:spcAft>
              <a:buClr>
                <a:schemeClr val="dk1"/>
              </a:buClr>
              <a:buSzPct val="100000"/>
              <a:buChar char="•"/>
            </a:pPr>
            <a:r>
              <a:rPr b="1" lang="en-US"/>
              <a:t>Software Carbon Intensity (SCI) Specification:</a:t>
            </a:r>
            <a:r>
              <a:rPr lang="en-US"/>
              <a:t> A methodology to measure carbon emissions specific to software applications, providing a consistent framework to evaluate and improve software sustainability.</a:t>
            </a:r>
            <a:endParaRPr/>
          </a:p>
          <a:p>
            <a:pPr indent="-228600" lvl="0" marL="228600" rtl="0" algn="l">
              <a:lnSpc>
                <a:spcPct val="90000"/>
              </a:lnSpc>
              <a:spcBef>
                <a:spcPts val="1000"/>
              </a:spcBef>
              <a:spcAft>
                <a:spcPts val="0"/>
              </a:spcAft>
              <a:buClr>
                <a:schemeClr val="dk1"/>
              </a:buClr>
              <a:buSzPct val="100000"/>
              <a:buChar char="•"/>
            </a:pPr>
            <a:r>
              <a:rPr lang="en-US"/>
              <a:t>By adopting the principle of measurement, organizations can effectively monitor and reduce the carbon footprint of their software solutions.</a:t>
            </a:r>
            <a:endParaRPr/>
          </a:p>
          <a:p>
            <a:pPr indent="-228600" lvl="0" marL="228600" rtl="0" algn="l">
              <a:lnSpc>
                <a:spcPct val="90000"/>
              </a:lnSpc>
              <a:spcBef>
                <a:spcPts val="1000"/>
              </a:spcBef>
              <a:spcAft>
                <a:spcPts val="0"/>
              </a:spcAft>
              <a:buClr>
                <a:schemeClr val="dk1"/>
              </a:buClr>
              <a:buSzPct val="100000"/>
              <a:buChar char="•"/>
            </a:pPr>
            <a:r>
              <a:rPr lang="en-US"/>
              <a:t>Reference : https://learn.microsoft.com/en-us/training/modules/sustainable-software-engineering-overview/7-measurement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2"/>
          <p:cNvSpPr txBox="1"/>
          <p:nvPr>
            <p:ph type="title"/>
          </p:nvPr>
        </p:nvSpPr>
        <p:spPr>
          <a:xfrm>
            <a:off x="838200" y="54845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sz="3200"/>
              <a:t>Principle 5: Measurement - </a:t>
            </a:r>
            <a:r>
              <a:rPr b="1" lang="en-US" sz="3200"/>
              <a:t>Software Carbon Intensity (SCI) </a:t>
            </a:r>
            <a:endParaRPr sz="3200"/>
          </a:p>
        </p:txBody>
      </p:sp>
      <p:pic>
        <p:nvPicPr>
          <p:cNvPr descr="Diagram of SCI Calculation." id="330" name="Google Shape;330;p22"/>
          <p:cNvPicPr preferRelativeResize="0"/>
          <p:nvPr/>
        </p:nvPicPr>
        <p:blipFill rotWithShape="1">
          <a:blip r:embed="rId3">
            <a:alphaModFix/>
          </a:blip>
          <a:srcRect b="0" l="0" r="0" t="0"/>
          <a:stretch/>
        </p:blipFill>
        <p:spPr>
          <a:xfrm>
            <a:off x="1367857" y="1965276"/>
            <a:ext cx="9372931" cy="408577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Principle 6: Climate commitments</a:t>
            </a:r>
            <a:endParaRPr/>
          </a:p>
        </p:txBody>
      </p:sp>
      <p:sp>
        <p:nvSpPr>
          <p:cNvPr id="336" name="Google Shape;336;p23"/>
          <p:cNvSpPr txBox="1"/>
          <p:nvPr>
            <p:ph idx="1" type="body"/>
          </p:nvPr>
        </p:nvSpPr>
        <p:spPr>
          <a:xfrm>
            <a:off x="1566863" y="1444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Font typeface="Arial"/>
              <a:buChar char="•"/>
            </a:pPr>
            <a:r>
              <a:rPr b="1" lang="en-US"/>
              <a:t>Definition:</a:t>
            </a:r>
            <a:r>
              <a:rPr lang="en-US"/>
              <a:t> Implement strategies to reduce carbon emissions, aligning with global climate goals. </a:t>
            </a:r>
            <a:endParaRPr/>
          </a:p>
          <a:p>
            <a:pPr indent="-228600" lvl="0" marL="228600" rtl="0" algn="l">
              <a:lnSpc>
                <a:spcPct val="90000"/>
              </a:lnSpc>
              <a:spcBef>
                <a:spcPts val="1000"/>
              </a:spcBef>
              <a:spcAft>
                <a:spcPts val="0"/>
              </a:spcAft>
              <a:buClr>
                <a:schemeClr val="dk1"/>
              </a:buClr>
              <a:buSzPct val="100000"/>
              <a:buFont typeface="Arial"/>
              <a:buChar char="•"/>
            </a:pPr>
            <a:r>
              <a:rPr b="1" lang="en-US"/>
              <a:t>Key Strategies:</a:t>
            </a:r>
            <a:endParaRPr/>
          </a:p>
          <a:p>
            <a:pPr indent="-285750" lvl="1" marL="742950" rtl="0" algn="l">
              <a:lnSpc>
                <a:spcPct val="90000"/>
              </a:lnSpc>
              <a:spcBef>
                <a:spcPts val="500"/>
              </a:spcBef>
              <a:spcAft>
                <a:spcPts val="0"/>
              </a:spcAft>
              <a:buClr>
                <a:schemeClr val="dk1"/>
              </a:buClr>
              <a:buSzPct val="100000"/>
              <a:buFont typeface="Arial"/>
              <a:buChar char="•"/>
            </a:pPr>
            <a:r>
              <a:rPr b="1" lang="en-US"/>
              <a:t>Abatement (Carbon Elimination):</a:t>
            </a:r>
            <a:r>
              <a:rPr lang="en-US"/>
              <a:t> Focus on not emitting carbon in the first place. </a:t>
            </a:r>
            <a:endParaRPr/>
          </a:p>
          <a:p>
            <a:pPr indent="-285750" lvl="1" marL="742950" rtl="0" algn="l">
              <a:lnSpc>
                <a:spcPct val="90000"/>
              </a:lnSpc>
              <a:spcBef>
                <a:spcPts val="500"/>
              </a:spcBef>
              <a:spcAft>
                <a:spcPts val="0"/>
              </a:spcAft>
              <a:buClr>
                <a:schemeClr val="dk1"/>
              </a:buClr>
              <a:buSzPct val="100000"/>
              <a:buFont typeface="Arial"/>
              <a:buChar char="•"/>
            </a:pPr>
            <a:r>
              <a:rPr b="1" lang="en-US"/>
              <a:t>Offsetting:</a:t>
            </a:r>
            <a:r>
              <a:rPr lang="en-US"/>
              <a:t> Compensate for emissions by reducing carbon elsewhere. </a:t>
            </a:r>
            <a:endParaRPr/>
          </a:p>
          <a:p>
            <a:pPr indent="-228600" lvl="2" marL="1143000" rtl="0" algn="l">
              <a:lnSpc>
                <a:spcPct val="90000"/>
              </a:lnSpc>
              <a:spcBef>
                <a:spcPts val="500"/>
              </a:spcBef>
              <a:spcAft>
                <a:spcPts val="0"/>
              </a:spcAft>
              <a:buClr>
                <a:schemeClr val="dk1"/>
              </a:buClr>
              <a:buSzPct val="100000"/>
              <a:buFont typeface="Arial"/>
              <a:buChar char="•"/>
            </a:pPr>
            <a:r>
              <a:rPr b="1" lang="en-US"/>
              <a:t>Compensation (Avoidance):</a:t>
            </a:r>
            <a:r>
              <a:rPr lang="en-US"/>
              <a:t> Pay others not to emit carbon.</a:t>
            </a:r>
            <a:endParaRPr/>
          </a:p>
          <a:p>
            <a:pPr indent="-228600" lvl="2" marL="1143000" rtl="0" algn="l">
              <a:lnSpc>
                <a:spcPct val="90000"/>
              </a:lnSpc>
              <a:spcBef>
                <a:spcPts val="500"/>
              </a:spcBef>
              <a:spcAft>
                <a:spcPts val="0"/>
              </a:spcAft>
              <a:buClr>
                <a:schemeClr val="dk1"/>
              </a:buClr>
              <a:buSzPct val="100000"/>
              <a:buFont typeface="Arial"/>
              <a:buChar char="•"/>
            </a:pPr>
            <a:r>
              <a:rPr b="1" lang="en-US"/>
              <a:t>Neutralization (Removal):</a:t>
            </a:r>
            <a:r>
              <a:rPr lang="en-US"/>
              <a:t> Remove carbon from the atmosphere through methods like forest restoration or direct air capture.</a:t>
            </a:r>
            <a:endParaRPr/>
          </a:p>
          <a:p>
            <a:pPr indent="-228600" lvl="0" marL="228600" rtl="0" algn="l">
              <a:lnSpc>
                <a:spcPct val="90000"/>
              </a:lnSpc>
              <a:spcBef>
                <a:spcPts val="1000"/>
              </a:spcBef>
              <a:spcAft>
                <a:spcPts val="0"/>
              </a:spcAft>
              <a:buClr>
                <a:schemeClr val="dk1"/>
              </a:buClr>
              <a:buSzPct val="100000"/>
              <a:buFont typeface="Arial"/>
              <a:buChar char="•"/>
            </a:pPr>
            <a:r>
              <a:rPr b="1" lang="en-US"/>
              <a:t>Climate Commitment Strategies:</a:t>
            </a:r>
            <a:endParaRPr/>
          </a:p>
          <a:p>
            <a:pPr indent="-285750" lvl="1" marL="742950" rtl="0" algn="l">
              <a:lnSpc>
                <a:spcPct val="90000"/>
              </a:lnSpc>
              <a:spcBef>
                <a:spcPts val="500"/>
              </a:spcBef>
              <a:spcAft>
                <a:spcPts val="0"/>
              </a:spcAft>
              <a:buClr>
                <a:schemeClr val="dk1"/>
              </a:buClr>
              <a:buSzPct val="100000"/>
              <a:buFont typeface="Arial"/>
              <a:buChar char="•"/>
            </a:pPr>
            <a:r>
              <a:rPr b="1" lang="en-US"/>
              <a:t>Carbon Neutral:</a:t>
            </a:r>
            <a:r>
              <a:rPr lang="en-US"/>
              <a:t> Measure and match emissions through reduction projects, including removal and avoidance. </a:t>
            </a:r>
            <a:endParaRPr/>
          </a:p>
          <a:p>
            <a:pPr indent="-228600" lvl="2" marL="1143000" rtl="0" algn="l">
              <a:lnSpc>
                <a:spcPct val="90000"/>
              </a:lnSpc>
              <a:spcBef>
                <a:spcPts val="500"/>
              </a:spcBef>
              <a:spcAft>
                <a:spcPts val="0"/>
              </a:spcAft>
              <a:buClr>
                <a:schemeClr val="dk1"/>
              </a:buClr>
              <a:buSzPct val="100000"/>
              <a:buFont typeface="Arial"/>
              <a:buChar char="•"/>
            </a:pPr>
            <a:r>
              <a:rPr lang="en-US"/>
              <a:t>Requires covering all Scope 1 and 2 emissions, and significant Scope 3 emissions.</a:t>
            </a:r>
            <a:endParaRPr/>
          </a:p>
          <a:p>
            <a:pPr indent="-285750" lvl="1" marL="742950" rtl="0" algn="l">
              <a:lnSpc>
                <a:spcPct val="90000"/>
              </a:lnSpc>
              <a:spcBef>
                <a:spcPts val="500"/>
              </a:spcBef>
              <a:spcAft>
                <a:spcPts val="0"/>
              </a:spcAft>
              <a:buClr>
                <a:schemeClr val="dk1"/>
              </a:buClr>
              <a:buSzPct val="100000"/>
              <a:buFont typeface="Arial"/>
              <a:buChar char="•"/>
            </a:pPr>
            <a:r>
              <a:rPr b="1" lang="en-US"/>
              <a:t>Net Zero:</a:t>
            </a:r>
            <a:r>
              <a:rPr lang="en-US"/>
              <a:t> Reduce emissions in line with a 1.5°C pathway, balancing residual emissions through carbon removals. </a:t>
            </a:r>
            <a:endParaRPr/>
          </a:p>
          <a:p>
            <a:pPr indent="-228600" lvl="2" marL="1143000" rtl="0" algn="l">
              <a:lnSpc>
                <a:spcPct val="90000"/>
              </a:lnSpc>
              <a:spcBef>
                <a:spcPts val="500"/>
              </a:spcBef>
              <a:spcAft>
                <a:spcPts val="0"/>
              </a:spcAft>
              <a:buClr>
                <a:schemeClr val="dk1"/>
              </a:buClr>
              <a:buSzPct val="100000"/>
              <a:buFont typeface="Arial"/>
              <a:buChar char="•"/>
            </a:pPr>
            <a:r>
              <a:rPr lang="en-US"/>
              <a:t>Aims to eliminate 90% of emissions, permanently neutralizing the remaining 10%.</a:t>
            </a:r>
            <a:endParaRPr/>
          </a:p>
          <a:p>
            <a:pPr indent="-228600" lvl="2" marL="1143000" rtl="0" algn="l">
              <a:lnSpc>
                <a:spcPct val="90000"/>
              </a:lnSpc>
              <a:spcBef>
                <a:spcPts val="500"/>
              </a:spcBef>
              <a:spcAft>
                <a:spcPts val="0"/>
              </a:spcAft>
              <a:buClr>
                <a:schemeClr val="dk1"/>
              </a:buClr>
              <a:buSzPct val="100000"/>
              <a:buFont typeface="Arial"/>
              <a:buChar char="•"/>
            </a:pPr>
            <a:r>
              <a:rPr lang="en-US"/>
              <a:t>Encompasses direct and indirect emissions from Scopes 1, 2, and 3.</a:t>
            </a:r>
            <a:endParaRPr/>
          </a:p>
          <a:p>
            <a:pPr indent="-228600" lvl="0" marL="228600" rtl="0" algn="l">
              <a:lnSpc>
                <a:spcPct val="90000"/>
              </a:lnSpc>
              <a:spcBef>
                <a:spcPts val="1000"/>
              </a:spcBef>
              <a:spcAft>
                <a:spcPts val="0"/>
              </a:spcAft>
              <a:buClr>
                <a:schemeClr val="dk1"/>
              </a:buClr>
              <a:buSzPct val="100000"/>
              <a:buChar char="•"/>
            </a:pPr>
            <a:r>
              <a:rPr lang="en-US"/>
              <a:t>Understanding these principles is vital for organizations to effectively plan and execute their sustainability initiatives.</a:t>
            </a:r>
            <a:endParaRPr/>
          </a:p>
          <a:p>
            <a:pPr indent="-228600" lvl="0" marL="228600" rtl="0" algn="l">
              <a:lnSpc>
                <a:spcPct val="90000"/>
              </a:lnSpc>
              <a:spcBef>
                <a:spcPts val="1000"/>
              </a:spcBef>
              <a:spcAft>
                <a:spcPts val="0"/>
              </a:spcAft>
              <a:buClr>
                <a:schemeClr val="dk1"/>
              </a:buClr>
              <a:buSzPct val="100000"/>
              <a:buChar char="•"/>
            </a:pPr>
            <a:r>
              <a:rPr lang="en-US"/>
              <a:t>Reference : https://learn.microsoft.com/en-us/training/modules/sustainable-software-engineering-overview/8-climate-commitments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4"/>
          <p:cNvSpPr txBox="1"/>
          <p:nvPr>
            <p:ph type="title"/>
          </p:nvPr>
        </p:nvSpPr>
        <p:spPr>
          <a:xfrm>
            <a:off x="1588811" y="42306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Principle 6: Climate commitments</a:t>
            </a:r>
            <a:endParaRPr/>
          </a:p>
        </p:txBody>
      </p:sp>
      <p:pic>
        <p:nvPicPr>
          <p:cNvPr descr="Diagram of mechanism to reduce emissions." id="342" name="Google Shape;342;p24"/>
          <p:cNvPicPr preferRelativeResize="0"/>
          <p:nvPr/>
        </p:nvPicPr>
        <p:blipFill rotWithShape="1">
          <a:blip r:embed="rId3">
            <a:alphaModFix/>
          </a:blip>
          <a:srcRect b="0" l="0" r="0" t="0"/>
          <a:stretch/>
        </p:blipFill>
        <p:spPr>
          <a:xfrm>
            <a:off x="1907495" y="1447800"/>
            <a:ext cx="8494486" cy="4277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5"/>
          <p:cNvSpPr txBox="1"/>
          <p:nvPr>
            <p:ph type="title"/>
          </p:nvPr>
        </p:nvSpPr>
        <p:spPr>
          <a:xfrm>
            <a:off x="472151" y="3511599"/>
            <a:ext cx="10515600" cy="1500187"/>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chemeClr val="dk1"/>
              </a:buClr>
              <a:buSzPct val="100000"/>
              <a:buFont typeface="Arial"/>
              <a:buNone/>
            </a:pPr>
            <a:r>
              <a:rPr b="1" lang="en-US"/>
              <a:t>Part 3: Security in Software Application</a:t>
            </a:r>
            <a:br>
              <a:rPr b="1" lang="en-US"/>
            </a:br>
            <a:br>
              <a:rPr b="1" lang="en-US"/>
            </a:br>
            <a:r>
              <a:rPr b="0" i="1" lang="en-US" sz="2400" u="none" cap="none" strike="noStrike">
                <a:solidFill>
                  <a:srgbClr val="888888"/>
                </a:solidFill>
                <a:latin typeface="Calibri"/>
                <a:ea typeface="Calibri"/>
                <a:cs typeface="Calibri"/>
                <a:sym typeface="Calibri"/>
              </a:rPr>
              <a:t>Basic concepts from CSSLP certificate and exam</a:t>
            </a:r>
            <a:br>
              <a:rPr b="0" i="1" lang="en-US" sz="2400" u="none" cap="none" strike="noStrike">
                <a:solidFill>
                  <a:srgbClr val="888888"/>
                </a:solidFill>
                <a:latin typeface="Calibri"/>
                <a:ea typeface="Calibri"/>
                <a:cs typeface="Calibri"/>
                <a:sym typeface="Calibri"/>
              </a:rPr>
            </a:br>
            <a:br>
              <a:rPr b="1" lang="en-US"/>
            </a:b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01: Security Core Concepts in Software</a:t>
            </a:r>
            <a:endParaRPr/>
          </a:p>
        </p:txBody>
      </p:sp>
      <p:sp>
        <p:nvSpPr>
          <p:cNvPr id="353" name="Google Shape;353;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Confidentiality (e.g., encryption)</a:t>
            </a:r>
            <a:endParaRPr/>
          </a:p>
          <a:p>
            <a:pPr indent="-228600" lvl="0" marL="228600" rtl="0" algn="l">
              <a:lnSpc>
                <a:spcPct val="90000"/>
              </a:lnSpc>
              <a:spcBef>
                <a:spcPts val="1000"/>
              </a:spcBef>
              <a:spcAft>
                <a:spcPts val="0"/>
              </a:spcAft>
              <a:buClr>
                <a:schemeClr val="dk1"/>
              </a:buClr>
              <a:buSzPct val="100000"/>
              <a:buChar char="•"/>
            </a:pPr>
            <a:r>
              <a:rPr lang="en-US"/>
              <a:t>Integrity (e.g., hashing, digital signatures, code signing, reliability, modifications, authenticity)</a:t>
            </a:r>
            <a:endParaRPr/>
          </a:p>
          <a:p>
            <a:pPr indent="-228600" lvl="0" marL="228600" rtl="0" algn="l">
              <a:lnSpc>
                <a:spcPct val="90000"/>
              </a:lnSpc>
              <a:spcBef>
                <a:spcPts val="1000"/>
              </a:spcBef>
              <a:spcAft>
                <a:spcPts val="0"/>
              </a:spcAft>
              <a:buClr>
                <a:schemeClr val="dk1"/>
              </a:buClr>
              <a:buSzPct val="100000"/>
              <a:buChar char="•"/>
            </a:pPr>
            <a:r>
              <a:rPr lang="en-US"/>
              <a:t>Availability (e.g., redundancy, replication, clustering, scalability, resiliency)</a:t>
            </a:r>
            <a:endParaRPr/>
          </a:p>
          <a:p>
            <a:pPr indent="-228600" lvl="0" marL="228600" rtl="0" algn="l">
              <a:lnSpc>
                <a:spcPct val="90000"/>
              </a:lnSpc>
              <a:spcBef>
                <a:spcPts val="1000"/>
              </a:spcBef>
              <a:spcAft>
                <a:spcPts val="0"/>
              </a:spcAft>
              <a:buClr>
                <a:schemeClr val="dk1"/>
              </a:buClr>
              <a:buSzPct val="100000"/>
              <a:buChar char="•"/>
            </a:pPr>
            <a:r>
              <a:rPr lang="en-US"/>
              <a:t>Authentication (e.g., multi-factor authentication (MFA), identity &amp; access management (IAM),</a:t>
            </a:r>
            <a:endParaRPr/>
          </a:p>
          <a:p>
            <a:pPr indent="-228600" lvl="0" marL="228600" rtl="0" algn="l">
              <a:lnSpc>
                <a:spcPct val="90000"/>
              </a:lnSpc>
              <a:spcBef>
                <a:spcPts val="1000"/>
              </a:spcBef>
              <a:spcAft>
                <a:spcPts val="0"/>
              </a:spcAft>
              <a:buClr>
                <a:schemeClr val="dk1"/>
              </a:buClr>
              <a:buSzPct val="100000"/>
              <a:buChar char="•"/>
            </a:pPr>
            <a:r>
              <a:rPr lang="en-US"/>
              <a:t>Single Sign-On (SSO), federated identity, biometrics)</a:t>
            </a:r>
            <a:endParaRPr/>
          </a:p>
          <a:p>
            <a:pPr indent="-228600" lvl="0" marL="228600" rtl="0" algn="l">
              <a:lnSpc>
                <a:spcPct val="90000"/>
              </a:lnSpc>
              <a:spcBef>
                <a:spcPts val="1000"/>
              </a:spcBef>
              <a:spcAft>
                <a:spcPts val="0"/>
              </a:spcAft>
              <a:buClr>
                <a:schemeClr val="dk1"/>
              </a:buClr>
              <a:buSzPct val="100000"/>
              <a:buChar char="•"/>
            </a:pPr>
            <a:r>
              <a:rPr lang="en-US"/>
              <a:t>Authorization (e.g., access controls, permissions, entitlements)</a:t>
            </a:r>
            <a:endParaRPr/>
          </a:p>
          <a:p>
            <a:pPr indent="-228600" lvl="0" marL="228600" rtl="0" algn="l">
              <a:lnSpc>
                <a:spcPct val="90000"/>
              </a:lnSpc>
              <a:spcBef>
                <a:spcPts val="1000"/>
              </a:spcBef>
              <a:spcAft>
                <a:spcPts val="0"/>
              </a:spcAft>
              <a:buClr>
                <a:schemeClr val="dk1"/>
              </a:buClr>
              <a:buSzPct val="100000"/>
              <a:buChar char="•"/>
            </a:pPr>
            <a:r>
              <a:rPr lang="en-US"/>
              <a:t>Accountability (e.g., auditing, logging)</a:t>
            </a:r>
            <a:endParaRPr/>
          </a:p>
          <a:p>
            <a:pPr indent="-228600" lvl="0" marL="228600" rtl="0" algn="l">
              <a:lnSpc>
                <a:spcPct val="90000"/>
              </a:lnSpc>
              <a:spcBef>
                <a:spcPts val="1000"/>
              </a:spcBef>
              <a:spcAft>
                <a:spcPts val="0"/>
              </a:spcAft>
              <a:buClr>
                <a:schemeClr val="dk1"/>
              </a:buClr>
              <a:buSzPct val="100000"/>
              <a:buChar char="•"/>
            </a:pPr>
            <a:r>
              <a:rPr lang="en-US"/>
              <a:t>Nonrepudiation (e.g., digital signatures, block chain)</a:t>
            </a:r>
            <a:endParaRPr/>
          </a:p>
          <a:p>
            <a:pPr indent="-228600" lvl="0" marL="228600" rtl="0" algn="l">
              <a:lnSpc>
                <a:spcPct val="90000"/>
              </a:lnSpc>
              <a:spcBef>
                <a:spcPts val="1000"/>
              </a:spcBef>
              <a:spcAft>
                <a:spcPts val="0"/>
              </a:spcAft>
              <a:buClr>
                <a:schemeClr val="dk1"/>
              </a:buClr>
              <a:buSzPct val="100000"/>
              <a:buChar char="•"/>
            </a:pPr>
            <a:r>
              <a:rPr lang="en-US"/>
              <a:t>Governance, risk and compliance (GRC) standards (e.g., regulatory authority, legal, industry)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The Three Rs of Security Software</a:t>
            </a:r>
            <a:endParaRPr/>
          </a:p>
        </p:txBody>
      </p:sp>
      <p:pic>
        <p:nvPicPr>
          <p:cNvPr id="359" name="Google Shape;359;p27"/>
          <p:cNvPicPr preferRelativeResize="0"/>
          <p:nvPr/>
        </p:nvPicPr>
        <p:blipFill rotWithShape="1">
          <a:blip r:embed="rId3">
            <a:alphaModFix/>
          </a:blip>
          <a:srcRect b="0" l="0" r="0" t="0"/>
          <a:stretch/>
        </p:blipFill>
        <p:spPr>
          <a:xfrm>
            <a:off x="3581648" y="1763304"/>
            <a:ext cx="4560837" cy="4196624"/>
          </a:xfrm>
          <a:prstGeom prst="rect">
            <a:avLst/>
          </a:prstGeom>
          <a:noFill/>
          <a:ln>
            <a:noFill/>
          </a:ln>
        </p:spPr>
      </p:pic>
      <p:sp>
        <p:nvSpPr>
          <p:cNvPr id="360" name="Google Shape;360;p27"/>
          <p:cNvSpPr txBox="1"/>
          <p:nvPr/>
        </p:nvSpPr>
        <p:spPr>
          <a:xfrm>
            <a:off x="4044708" y="1989968"/>
            <a:ext cx="1181735" cy="1140460"/>
          </a:xfrm>
          <a:prstGeom prst="rect">
            <a:avLst/>
          </a:prstGeom>
          <a:noFill/>
          <a:ln>
            <a:noFill/>
          </a:ln>
        </p:spPr>
        <p:txBody>
          <a:bodyPr anchorCtr="0" anchor="t" bIns="0" lIns="0" spcFirstLastPara="1" rIns="0" wrap="square" tIns="13325">
            <a:spAutoFit/>
          </a:bodyPr>
          <a:lstStyle/>
          <a:p>
            <a:pPr indent="0" lvl="0" marL="26669" marR="0" rtl="0" algn="l">
              <a:lnSpc>
                <a:spcPct val="100000"/>
              </a:lnSpc>
              <a:spcBef>
                <a:spcPts val="0"/>
              </a:spcBef>
              <a:spcAft>
                <a:spcPts val="0"/>
              </a:spcAft>
              <a:buNone/>
            </a:pPr>
            <a:r>
              <a:rPr b="1" lang="en-US" sz="2000">
                <a:solidFill>
                  <a:srgbClr val="FFFFFF"/>
                </a:solidFill>
                <a:latin typeface="Arial"/>
                <a:ea typeface="Arial"/>
                <a:cs typeface="Arial"/>
                <a:sym typeface="Arial"/>
              </a:rPr>
              <a:t>Reliability</a:t>
            </a:r>
            <a:endParaRPr sz="2000">
              <a:solidFill>
                <a:schemeClr val="dk1"/>
              </a:solidFill>
              <a:latin typeface="Arial"/>
              <a:ea typeface="Arial"/>
              <a:cs typeface="Arial"/>
              <a:sym typeface="Arial"/>
            </a:endParaRPr>
          </a:p>
          <a:p>
            <a:pPr indent="0" lvl="0" marL="12700" marR="5080" rtl="0" algn="ctr">
              <a:lnSpc>
                <a:spcPct val="100000"/>
              </a:lnSpc>
              <a:spcBef>
                <a:spcPts val="1330"/>
              </a:spcBef>
              <a:spcAft>
                <a:spcPts val="0"/>
              </a:spcAft>
              <a:buNone/>
            </a:pPr>
            <a:r>
              <a:rPr lang="en-US" sz="1400">
                <a:solidFill>
                  <a:srgbClr val="FFFFFF"/>
                </a:solidFill>
                <a:latin typeface="Arial"/>
                <a:ea typeface="Arial"/>
                <a:cs typeface="Arial"/>
                <a:sym typeface="Arial"/>
              </a:rPr>
              <a:t>software should function as expected</a:t>
            </a:r>
            <a:endParaRPr sz="1400">
              <a:solidFill>
                <a:schemeClr val="dk1"/>
              </a:solidFill>
              <a:latin typeface="Arial"/>
              <a:ea typeface="Arial"/>
              <a:cs typeface="Arial"/>
              <a:sym typeface="Arial"/>
            </a:endParaRPr>
          </a:p>
        </p:txBody>
      </p:sp>
      <p:sp>
        <p:nvSpPr>
          <p:cNvPr id="361" name="Google Shape;361;p27"/>
          <p:cNvSpPr txBox="1"/>
          <p:nvPr/>
        </p:nvSpPr>
        <p:spPr>
          <a:xfrm>
            <a:off x="6470912" y="1856827"/>
            <a:ext cx="1290955" cy="1198245"/>
          </a:xfrm>
          <a:prstGeom prst="rect">
            <a:avLst/>
          </a:prstGeom>
          <a:noFill/>
          <a:ln>
            <a:noFill/>
          </a:ln>
        </p:spPr>
        <p:txBody>
          <a:bodyPr anchorCtr="0" anchor="t" bIns="0" lIns="0" spcFirstLastPara="1" rIns="0" wrap="square" tIns="146050">
            <a:spAutoFit/>
          </a:bodyPr>
          <a:lstStyle/>
          <a:p>
            <a:pPr indent="0" lvl="0" marL="0" marR="11430" rtl="0" algn="ctr">
              <a:lnSpc>
                <a:spcPct val="100000"/>
              </a:lnSpc>
              <a:spcBef>
                <a:spcPts val="0"/>
              </a:spcBef>
              <a:spcAft>
                <a:spcPts val="0"/>
              </a:spcAft>
              <a:buNone/>
            </a:pPr>
            <a:r>
              <a:rPr b="1" lang="en-US" sz="2000">
                <a:solidFill>
                  <a:srgbClr val="FFFFFF"/>
                </a:solidFill>
                <a:latin typeface="Arial"/>
                <a:ea typeface="Arial"/>
                <a:cs typeface="Arial"/>
                <a:sym typeface="Arial"/>
              </a:rPr>
              <a:t>Resiliency</a:t>
            </a:r>
            <a:endParaRPr sz="2000">
              <a:solidFill>
                <a:schemeClr val="dk1"/>
              </a:solidFill>
              <a:latin typeface="Arial"/>
              <a:ea typeface="Arial"/>
              <a:cs typeface="Arial"/>
              <a:sym typeface="Arial"/>
            </a:endParaRPr>
          </a:p>
          <a:p>
            <a:pPr indent="-5715" lvl="0" marL="12065" marR="5080" rtl="0" algn="ctr">
              <a:lnSpc>
                <a:spcPct val="100000"/>
              </a:lnSpc>
              <a:spcBef>
                <a:spcPts val="740"/>
              </a:spcBef>
              <a:spcAft>
                <a:spcPts val="0"/>
              </a:spcAft>
              <a:buNone/>
            </a:pPr>
            <a:r>
              <a:rPr lang="en-US" sz="1400">
                <a:solidFill>
                  <a:srgbClr val="FFFFFF"/>
                </a:solidFill>
                <a:latin typeface="Arial"/>
                <a:ea typeface="Arial"/>
                <a:cs typeface="Arial"/>
                <a:sym typeface="Arial"/>
              </a:rPr>
              <a:t>software should withstand misuse and attack</a:t>
            </a:r>
            <a:endParaRPr sz="1400">
              <a:solidFill>
                <a:schemeClr val="dk1"/>
              </a:solidFill>
              <a:latin typeface="Arial"/>
              <a:ea typeface="Arial"/>
              <a:cs typeface="Arial"/>
              <a:sym typeface="Arial"/>
            </a:endParaRPr>
          </a:p>
        </p:txBody>
      </p:sp>
      <p:sp>
        <p:nvSpPr>
          <p:cNvPr id="362" name="Google Shape;362;p27"/>
          <p:cNvSpPr txBox="1"/>
          <p:nvPr/>
        </p:nvSpPr>
        <p:spPr>
          <a:xfrm>
            <a:off x="5103026" y="4262254"/>
            <a:ext cx="1642745" cy="1433830"/>
          </a:xfrm>
          <a:prstGeom prst="rect">
            <a:avLst/>
          </a:prstGeom>
          <a:noFill/>
          <a:ln>
            <a:noFill/>
          </a:ln>
        </p:spPr>
        <p:txBody>
          <a:bodyPr anchorCtr="0" anchor="t" bIns="0" lIns="0" spcFirstLastPara="1" rIns="0" wrap="square" tIns="33650">
            <a:spAutoFit/>
          </a:bodyPr>
          <a:lstStyle/>
          <a:p>
            <a:pPr indent="0" lvl="0" marL="28575" marR="0" rtl="0" algn="l">
              <a:lnSpc>
                <a:spcPct val="100000"/>
              </a:lnSpc>
              <a:spcBef>
                <a:spcPts val="0"/>
              </a:spcBef>
              <a:spcAft>
                <a:spcPts val="0"/>
              </a:spcAft>
              <a:buNone/>
            </a:pPr>
            <a:r>
              <a:rPr b="1" lang="en-US" sz="2000">
                <a:solidFill>
                  <a:srgbClr val="FFFFFF"/>
                </a:solidFill>
                <a:latin typeface="Arial"/>
                <a:ea typeface="Arial"/>
                <a:cs typeface="Arial"/>
                <a:sym typeface="Arial"/>
              </a:rPr>
              <a:t>Recoverability</a:t>
            </a:r>
            <a:endParaRPr sz="2000">
              <a:solidFill>
                <a:schemeClr val="dk1"/>
              </a:solidFill>
              <a:latin typeface="Arial"/>
              <a:ea typeface="Arial"/>
              <a:cs typeface="Arial"/>
              <a:sym typeface="Arial"/>
            </a:endParaRPr>
          </a:p>
          <a:p>
            <a:pPr indent="12700" lvl="0" marL="12065" marR="5080" rtl="0" algn="ctr">
              <a:lnSpc>
                <a:spcPct val="100000"/>
              </a:lnSpc>
              <a:spcBef>
                <a:spcPts val="120"/>
              </a:spcBef>
              <a:spcAft>
                <a:spcPts val="0"/>
              </a:spcAft>
              <a:buNone/>
            </a:pPr>
            <a:r>
              <a:rPr lang="en-US" sz="1400">
                <a:solidFill>
                  <a:srgbClr val="FFFFFF"/>
                </a:solidFill>
                <a:latin typeface="Arial"/>
                <a:ea typeface="Arial"/>
                <a:cs typeface="Arial"/>
                <a:sym typeface="Arial"/>
              </a:rPr>
              <a:t>having the ability for normal business operations restoration with minimal disruption</a:t>
            </a:r>
            <a:r>
              <a:rPr lang="en-US"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363" name="Google Shape;363;p27"/>
          <p:cNvSpPr txBox="1"/>
          <p:nvPr/>
        </p:nvSpPr>
        <p:spPr>
          <a:xfrm>
            <a:off x="5679354" y="1953144"/>
            <a:ext cx="38608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800">
                <a:solidFill>
                  <a:srgbClr val="4F7E4E"/>
                </a:solidFill>
                <a:latin typeface="Arial"/>
                <a:ea typeface="Arial"/>
                <a:cs typeface="Arial"/>
                <a:sym typeface="Arial"/>
              </a:rPr>
              <a:t>01</a:t>
            </a:r>
            <a:endParaRPr sz="2800">
              <a:solidFill>
                <a:schemeClr val="dk1"/>
              </a:solidFill>
              <a:latin typeface="Arial"/>
              <a:ea typeface="Arial"/>
              <a:cs typeface="Arial"/>
              <a:sym typeface="Arial"/>
            </a:endParaRPr>
          </a:p>
        </p:txBody>
      </p:sp>
      <p:sp>
        <p:nvSpPr>
          <p:cNvPr id="364" name="Google Shape;364;p27"/>
          <p:cNvSpPr txBox="1"/>
          <p:nvPr/>
        </p:nvSpPr>
        <p:spPr>
          <a:xfrm>
            <a:off x="6566019" y="3526557"/>
            <a:ext cx="38608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800">
                <a:solidFill>
                  <a:srgbClr val="1C9FB8"/>
                </a:solidFill>
                <a:latin typeface="Arial"/>
                <a:ea typeface="Arial"/>
                <a:cs typeface="Arial"/>
                <a:sym typeface="Arial"/>
              </a:rPr>
              <a:t>02</a:t>
            </a:r>
            <a:endParaRPr sz="2800">
              <a:solidFill>
                <a:schemeClr val="dk1"/>
              </a:solidFill>
              <a:latin typeface="Arial"/>
              <a:ea typeface="Arial"/>
              <a:cs typeface="Arial"/>
              <a:sym typeface="Arial"/>
            </a:endParaRPr>
          </a:p>
        </p:txBody>
      </p:sp>
      <p:sp>
        <p:nvSpPr>
          <p:cNvPr id="365" name="Google Shape;365;p27"/>
          <p:cNvSpPr txBox="1"/>
          <p:nvPr/>
        </p:nvSpPr>
        <p:spPr>
          <a:xfrm>
            <a:off x="4735875" y="3526557"/>
            <a:ext cx="38608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800">
                <a:solidFill>
                  <a:srgbClr val="D92C11"/>
                </a:solidFill>
                <a:latin typeface="Arial"/>
                <a:ea typeface="Arial"/>
                <a:cs typeface="Arial"/>
                <a:sym typeface="Arial"/>
              </a:rPr>
              <a:t>03</a:t>
            </a:r>
            <a:endParaRPr sz="28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The CIA Triad of Security Software</a:t>
            </a:r>
            <a:endParaRPr/>
          </a:p>
        </p:txBody>
      </p:sp>
      <p:sp>
        <p:nvSpPr>
          <p:cNvPr id="371" name="Google Shape;371;p28"/>
          <p:cNvSpPr txBox="1"/>
          <p:nvPr/>
        </p:nvSpPr>
        <p:spPr>
          <a:xfrm>
            <a:off x="8857663" y="4162052"/>
            <a:ext cx="2209800" cy="180022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000">
                <a:solidFill>
                  <a:srgbClr val="C86E06"/>
                </a:solidFill>
                <a:latin typeface="Arial"/>
                <a:ea typeface="Arial"/>
                <a:cs typeface="Arial"/>
                <a:sym typeface="Arial"/>
              </a:rPr>
              <a:t>AVAILABILITY</a:t>
            </a:r>
            <a:endParaRPr sz="2000">
              <a:solidFill>
                <a:schemeClr val="dk1"/>
              </a:solidFill>
              <a:latin typeface="Arial"/>
              <a:ea typeface="Arial"/>
              <a:cs typeface="Arial"/>
              <a:sym typeface="Arial"/>
            </a:endParaRPr>
          </a:p>
          <a:p>
            <a:pPr indent="0" lvl="0" marL="12700" marR="5080" rtl="0" algn="l">
              <a:lnSpc>
                <a:spcPct val="130899"/>
              </a:lnSpc>
              <a:spcBef>
                <a:spcPts val="575"/>
              </a:spcBef>
              <a:spcAft>
                <a:spcPts val="0"/>
              </a:spcAft>
              <a:buNone/>
            </a:pPr>
            <a:r>
              <a:rPr lang="en-US" sz="1400">
                <a:solidFill>
                  <a:srgbClr val="746457"/>
                </a:solidFill>
                <a:latin typeface="Arial"/>
                <a:ea typeface="Arial"/>
                <a:cs typeface="Arial"/>
                <a:sym typeface="Arial"/>
              </a:rPr>
              <a:t>Guaranteeing reliable and timely access to information and resources through redundancy, failover, and fault tolerance measures.</a:t>
            </a:r>
            <a:endParaRPr sz="1400">
              <a:solidFill>
                <a:schemeClr val="dk1"/>
              </a:solidFill>
              <a:latin typeface="Arial"/>
              <a:ea typeface="Arial"/>
              <a:cs typeface="Arial"/>
              <a:sym typeface="Arial"/>
            </a:endParaRPr>
          </a:p>
        </p:txBody>
      </p:sp>
      <p:sp>
        <p:nvSpPr>
          <p:cNvPr id="372" name="Google Shape;372;p28"/>
          <p:cNvSpPr txBox="1"/>
          <p:nvPr/>
        </p:nvSpPr>
        <p:spPr>
          <a:xfrm>
            <a:off x="2730821" y="1730306"/>
            <a:ext cx="2223770" cy="1520825"/>
          </a:xfrm>
          <a:prstGeom prst="rect">
            <a:avLst/>
          </a:prstGeom>
          <a:noFill/>
          <a:ln>
            <a:noFill/>
          </a:ln>
        </p:spPr>
        <p:txBody>
          <a:bodyPr anchorCtr="0" anchor="t" bIns="0" lIns="0" spcFirstLastPara="1" rIns="0" wrap="square" tIns="13325">
            <a:spAutoFit/>
          </a:bodyPr>
          <a:lstStyle/>
          <a:p>
            <a:pPr indent="0" lvl="0" marL="315595" marR="0" rtl="0" algn="l">
              <a:lnSpc>
                <a:spcPct val="100000"/>
              </a:lnSpc>
              <a:spcBef>
                <a:spcPts val="0"/>
              </a:spcBef>
              <a:spcAft>
                <a:spcPts val="0"/>
              </a:spcAft>
              <a:buNone/>
            </a:pPr>
            <a:r>
              <a:rPr b="1" lang="en-US" sz="2000">
                <a:solidFill>
                  <a:srgbClr val="C86E06"/>
                </a:solidFill>
                <a:latin typeface="Arial"/>
                <a:ea typeface="Arial"/>
                <a:cs typeface="Arial"/>
                <a:sym typeface="Arial"/>
              </a:rPr>
              <a:t>CONFIDENTIALITY</a:t>
            </a:r>
            <a:endParaRPr sz="2000">
              <a:solidFill>
                <a:schemeClr val="dk1"/>
              </a:solidFill>
              <a:latin typeface="Arial"/>
              <a:ea typeface="Arial"/>
              <a:cs typeface="Arial"/>
              <a:sym typeface="Arial"/>
            </a:endParaRPr>
          </a:p>
          <a:p>
            <a:pPr indent="0" lvl="0" marL="12700" marR="393065" rtl="0" algn="l">
              <a:lnSpc>
                <a:spcPct val="131000"/>
              </a:lnSpc>
              <a:spcBef>
                <a:spcPts val="565"/>
              </a:spcBef>
              <a:spcAft>
                <a:spcPts val="0"/>
              </a:spcAft>
              <a:buNone/>
            </a:pPr>
            <a:r>
              <a:rPr lang="en-US" sz="1400">
                <a:solidFill>
                  <a:srgbClr val="746457"/>
                </a:solidFill>
                <a:latin typeface="Arial"/>
                <a:ea typeface="Arial"/>
                <a:cs typeface="Arial"/>
                <a:sym typeface="Arial"/>
              </a:rPr>
              <a:t>Preventing unauthorized disclosure of information through encryption and access controls.</a:t>
            </a:r>
            <a:endParaRPr sz="1400">
              <a:solidFill>
                <a:schemeClr val="dk1"/>
              </a:solidFill>
              <a:latin typeface="Arial"/>
              <a:ea typeface="Arial"/>
              <a:cs typeface="Arial"/>
              <a:sym typeface="Arial"/>
            </a:endParaRPr>
          </a:p>
        </p:txBody>
      </p:sp>
      <p:grpSp>
        <p:nvGrpSpPr>
          <p:cNvPr id="373" name="Google Shape;373;p28"/>
          <p:cNvGrpSpPr/>
          <p:nvPr/>
        </p:nvGrpSpPr>
        <p:grpSpPr>
          <a:xfrm>
            <a:off x="3667511" y="1453863"/>
            <a:ext cx="4857242" cy="4029742"/>
            <a:chOff x="3667511" y="1453863"/>
            <a:chExt cx="4857242" cy="4029742"/>
          </a:xfrm>
        </p:grpSpPr>
        <p:sp>
          <p:nvSpPr>
            <p:cNvPr id="374" name="Google Shape;374;p28"/>
            <p:cNvSpPr/>
            <p:nvPr/>
          </p:nvSpPr>
          <p:spPr>
            <a:xfrm>
              <a:off x="4402136" y="2119883"/>
              <a:ext cx="3387725" cy="3022600"/>
            </a:xfrm>
            <a:custGeom>
              <a:rect b="b" l="l" r="r" t="t"/>
              <a:pathLst>
                <a:path extrusionOk="0" h="3022600" w="3387725">
                  <a:moveTo>
                    <a:pt x="1693788" y="0"/>
                  </a:moveTo>
                  <a:lnTo>
                    <a:pt x="1643887" y="3702"/>
                  </a:lnTo>
                  <a:lnTo>
                    <a:pt x="1596188" y="14581"/>
                  </a:lnTo>
                  <a:lnTo>
                    <a:pt x="1551262" y="32290"/>
                  </a:lnTo>
                  <a:lnTo>
                    <a:pt x="1509683" y="56486"/>
                  </a:lnTo>
                  <a:lnTo>
                    <a:pt x="1472025" y="86822"/>
                  </a:lnTo>
                  <a:lnTo>
                    <a:pt x="1438863" y="122956"/>
                  </a:lnTo>
                  <a:lnTo>
                    <a:pt x="1410768" y="164541"/>
                  </a:lnTo>
                  <a:lnTo>
                    <a:pt x="43499" y="2530856"/>
                  </a:lnTo>
                  <a:lnTo>
                    <a:pt x="21715" y="2576129"/>
                  </a:lnTo>
                  <a:lnTo>
                    <a:pt x="7249" y="2622708"/>
                  </a:lnTo>
                  <a:lnTo>
                    <a:pt x="0" y="2670309"/>
                  </a:lnTo>
                  <a:lnTo>
                    <a:pt x="0" y="2718208"/>
                  </a:lnTo>
                  <a:lnTo>
                    <a:pt x="7249" y="2765791"/>
                  </a:lnTo>
                  <a:lnTo>
                    <a:pt x="21749" y="2812443"/>
                  </a:lnTo>
                  <a:lnTo>
                    <a:pt x="43499" y="2857550"/>
                  </a:lnTo>
                  <a:lnTo>
                    <a:pt x="71650" y="2899135"/>
                  </a:lnTo>
                  <a:lnTo>
                    <a:pt x="104853" y="2935269"/>
                  </a:lnTo>
                  <a:lnTo>
                    <a:pt x="142538" y="2965605"/>
                  </a:lnTo>
                  <a:lnTo>
                    <a:pt x="184133" y="2989801"/>
                  </a:lnTo>
                  <a:lnTo>
                    <a:pt x="229067" y="3007510"/>
                  </a:lnTo>
                  <a:lnTo>
                    <a:pt x="276770" y="3018389"/>
                  </a:lnTo>
                  <a:lnTo>
                    <a:pt x="326671" y="3022092"/>
                  </a:lnTo>
                  <a:lnTo>
                    <a:pt x="3063114" y="3022092"/>
                  </a:lnTo>
                  <a:lnTo>
                    <a:pt x="3113008" y="3018389"/>
                  </a:lnTo>
                  <a:lnTo>
                    <a:pt x="3160664" y="3007510"/>
                  </a:lnTo>
                  <a:lnTo>
                    <a:pt x="3205474" y="2989801"/>
                  </a:lnTo>
                  <a:lnTo>
                    <a:pt x="3246830" y="2965605"/>
                  </a:lnTo>
                  <a:lnTo>
                    <a:pt x="3284121" y="2935269"/>
                  </a:lnTo>
                  <a:lnTo>
                    <a:pt x="3316740" y="2899135"/>
                  </a:lnTo>
                  <a:lnTo>
                    <a:pt x="3344076" y="2857550"/>
                  </a:lnTo>
                  <a:lnTo>
                    <a:pt x="3365821" y="2813103"/>
                  </a:lnTo>
                  <a:lnTo>
                    <a:pt x="3375889" y="2780880"/>
                  </a:lnTo>
                  <a:lnTo>
                    <a:pt x="328881" y="2780880"/>
                  </a:lnTo>
                  <a:lnTo>
                    <a:pt x="298298" y="2775867"/>
                  </a:lnTo>
                  <a:lnTo>
                    <a:pt x="260279" y="2749366"/>
                  </a:lnTo>
                  <a:lnTo>
                    <a:pt x="241331" y="2702950"/>
                  </a:lnTo>
                  <a:lnTo>
                    <a:pt x="241829" y="2677729"/>
                  </a:lnTo>
                  <a:lnTo>
                    <a:pt x="1619226" y="282905"/>
                  </a:lnTo>
                  <a:lnTo>
                    <a:pt x="1660879" y="246206"/>
                  </a:lnTo>
                  <a:lnTo>
                    <a:pt x="1695997" y="239102"/>
                  </a:lnTo>
                  <a:lnTo>
                    <a:pt x="2019877" y="239102"/>
                  </a:lnTo>
                  <a:lnTo>
                    <a:pt x="1976794" y="164541"/>
                  </a:lnTo>
                  <a:lnTo>
                    <a:pt x="1948701" y="122956"/>
                  </a:lnTo>
                  <a:lnTo>
                    <a:pt x="1915540" y="86822"/>
                  </a:lnTo>
                  <a:lnTo>
                    <a:pt x="1877885" y="56486"/>
                  </a:lnTo>
                  <a:lnTo>
                    <a:pt x="1836309" y="32290"/>
                  </a:lnTo>
                  <a:lnTo>
                    <a:pt x="1791385" y="14581"/>
                  </a:lnTo>
                  <a:lnTo>
                    <a:pt x="1743687" y="3702"/>
                  </a:lnTo>
                  <a:lnTo>
                    <a:pt x="1693788" y="0"/>
                  </a:lnTo>
                  <a:close/>
                </a:path>
                <a:path extrusionOk="0" h="3022600" w="3387725">
                  <a:moveTo>
                    <a:pt x="2019877" y="239102"/>
                  </a:moveTo>
                  <a:lnTo>
                    <a:pt x="1695997" y="239102"/>
                  </a:lnTo>
                  <a:lnTo>
                    <a:pt x="1711086" y="240398"/>
                  </a:lnTo>
                  <a:lnTo>
                    <a:pt x="1731116" y="246206"/>
                  </a:lnTo>
                  <a:lnTo>
                    <a:pt x="1772769" y="282905"/>
                  </a:lnTo>
                  <a:lnTo>
                    <a:pt x="3139886" y="2649232"/>
                  </a:lnTo>
                  <a:lnTo>
                    <a:pt x="3150625" y="2702950"/>
                  </a:lnTo>
                  <a:lnTo>
                    <a:pt x="3145781" y="2723241"/>
                  </a:lnTo>
                  <a:lnTo>
                    <a:pt x="3115507" y="2763850"/>
                  </a:lnTo>
                  <a:lnTo>
                    <a:pt x="3063114" y="2780880"/>
                  </a:lnTo>
                  <a:lnTo>
                    <a:pt x="3375889" y="2780880"/>
                  </a:lnTo>
                  <a:lnTo>
                    <a:pt x="3380318" y="2766707"/>
                  </a:lnTo>
                  <a:lnTo>
                    <a:pt x="3387566" y="2719088"/>
                  </a:lnTo>
                  <a:lnTo>
                    <a:pt x="3387467" y="2670309"/>
                  </a:lnTo>
                  <a:lnTo>
                    <a:pt x="3380318" y="2623075"/>
                  </a:lnTo>
                  <a:lnTo>
                    <a:pt x="3365821" y="2576129"/>
                  </a:lnTo>
                  <a:lnTo>
                    <a:pt x="3344076" y="2530856"/>
                  </a:lnTo>
                  <a:lnTo>
                    <a:pt x="2019877" y="239102"/>
                  </a:lnTo>
                  <a:close/>
                </a:path>
              </a:pathLst>
            </a:custGeom>
            <a:solidFill>
              <a:srgbClr val="D9D9D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28"/>
            <p:cNvSpPr/>
            <p:nvPr/>
          </p:nvSpPr>
          <p:spPr>
            <a:xfrm>
              <a:off x="5378972" y="1453863"/>
              <a:ext cx="1858645" cy="2978150"/>
            </a:xfrm>
            <a:custGeom>
              <a:rect b="b" l="l" r="r" t="t"/>
              <a:pathLst>
                <a:path extrusionOk="0" h="2978150" w="1858645">
                  <a:moveTo>
                    <a:pt x="709153" y="0"/>
                  </a:moveTo>
                  <a:lnTo>
                    <a:pt x="667288" y="4146"/>
                  </a:lnTo>
                  <a:lnTo>
                    <a:pt x="626896" y="16585"/>
                  </a:lnTo>
                  <a:lnTo>
                    <a:pt x="589451" y="37317"/>
                  </a:lnTo>
                  <a:lnTo>
                    <a:pt x="556426" y="66342"/>
                  </a:lnTo>
                  <a:lnTo>
                    <a:pt x="529294" y="103660"/>
                  </a:lnTo>
                  <a:lnTo>
                    <a:pt x="26996" y="974766"/>
                  </a:lnTo>
                  <a:lnTo>
                    <a:pt x="8516" y="1017076"/>
                  </a:lnTo>
                  <a:lnTo>
                    <a:pt x="0" y="1060243"/>
                  </a:lnTo>
                  <a:lnTo>
                    <a:pt x="748" y="1103017"/>
                  </a:lnTo>
                  <a:lnTo>
                    <a:pt x="10065" y="1144147"/>
                  </a:lnTo>
                  <a:lnTo>
                    <a:pt x="27252" y="1182381"/>
                  </a:lnTo>
                  <a:lnTo>
                    <a:pt x="51611" y="1216468"/>
                  </a:lnTo>
                  <a:lnTo>
                    <a:pt x="82445" y="1245158"/>
                  </a:lnTo>
                  <a:lnTo>
                    <a:pt x="119055" y="1267200"/>
                  </a:lnTo>
                  <a:lnTo>
                    <a:pt x="160745" y="1281343"/>
                  </a:lnTo>
                  <a:lnTo>
                    <a:pt x="206816" y="1286335"/>
                  </a:lnTo>
                  <a:lnTo>
                    <a:pt x="731046" y="1286335"/>
                  </a:lnTo>
                  <a:lnTo>
                    <a:pt x="1483394" y="2589507"/>
                  </a:lnTo>
                  <a:lnTo>
                    <a:pt x="1310115" y="2690485"/>
                  </a:lnTo>
                  <a:lnTo>
                    <a:pt x="1840988" y="2977924"/>
                  </a:lnTo>
                  <a:lnTo>
                    <a:pt x="1858501" y="2374598"/>
                  </a:lnTo>
                  <a:lnTo>
                    <a:pt x="1689566" y="2471105"/>
                  </a:lnTo>
                  <a:lnTo>
                    <a:pt x="1005239" y="1286335"/>
                  </a:lnTo>
                  <a:lnTo>
                    <a:pt x="1211411" y="1286335"/>
                  </a:lnTo>
                  <a:lnTo>
                    <a:pt x="1257506" y="1281343"/>
                  </a:lnTo>
                  <a:lnTo>
                    <a:pt x="1299215" y="1267200"/>
                  </a:lnTo>
                  <a:lnTo>
                    <a:pt x="1335840" y="1245158"/>
                  </a:lnTo>
                  <a:lnTo>
                    <a:pt x="1366685" y="1216468"/>
                  </a:lnTo>
                  <a:lnTo>
                    <a:pt x="1391053" y="1182381"/>
                  </a:lnTo>
                  <a:lnTo>
                    <a:pt x="1408245" y="1144147"/>
                  </a:lnTo>
                  <a:lnTo>
                    <a:pt x="1417565" y="1103017"/>
                  </a:lnTo>
                  <a:lnTo>
                    <a:pt x="1418315" y="1060243"/>
                  </a:lnTo>
                  <a:lnTo>
                    <a:pt x="1409799" y="1017076"/>
                  </a:lnTo>
                  <a:lnTo>
                    <a:pt x="1391319" y="974766"/>
                  </a:lnTo>
                  <a:lnTo>
                    <a:pt x="889022" y="103660"/>
                  </a:lnTo>
                  <a:lnTo>
                    <a:pt x="861886" y="66342"/>
                  </a:lnTo>
                  <a:lnTo>
                    <a:pt x="828858" y="37317"/>
                  </a:lnTo>
                  <a:lnTo>
                    <a:pt x="791412" y="16585"/>
                  </a:lnTo>
                  <a:lnTo>
                    <a:pt x="751019" y="4146"/>
                  </a:lnTo>
                  <a:lnTo>
                    <a:pt x="709153" y="0"/>
                  </a:lnTo>
                  <a:close/>
                </a:path>
              </a:pathLst>
            </a:custGeom>
            <a:solidFill>
              <a:srgbClr val="F7921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28"/>
            <p:cNvSpPr/>
            <p:nvPr/>
          </p:nvSpPr>
          <p:spPr>
            <a:xfrm>
              <a:off x="3667511" y="2970275"/>
              <a:ext cx="2169795" cy="2513330"/>
            </a:xfrm>
            <a:custGeom>
              <a:rect b="b" l="l" r="r" t="t"/>
              <a:pathLst>
                <a:path extrusionOk="0" h="2513329" w="2169795">
                  <a:moveTo>
                    <a:pt x="2164989" y="0"/>
                  </a:moveTo>
                  <a:lnTo>
                    <a:pt x="1630001" y="276326"/>
                  </a:lnTo>
                  <a:lnTo>
                    <a:pt x="1798759" y="379399"/>
                  </a:lnTo>
                  <a:lnTo>
                    <a:pt x="1068585" y="1642452"/>
                  </a:lnTo>
                  <a:lnTo>
                    <a:pt x="888715" y="1331112"/>
                  </a:lnTo>
                  <a:lnTo>
                    <a:pt x="861610" y="1293794"/>
                  </a:lnTo>
                  <a:lnTo>
                    <a:pt x="828606" y="1264769"/>
                  </a:lnTo>
                  <a:lnTo>
                    <a:pt x="791177" y="1244037"/>
                  </a:lnTo>
                  <a:lnTo>
                    <a:pt x="750799" y="1231598"/>
                  </a:lnTo>
                  <a:lnTo>
                    <a:pt x="708946" y="1227451"/>
                  </a:lnTo>
                  <a:lnTo>
                    <a:pt x="667093" y="1231598"/>
                  </a:lnTo>
                  <a:lnTo>
                    <a:pt x="626715" y="1244037"/>
                  </a:lnTo>
                  <a:lnTo>
                    <a:pt x="589287" y="1264769"/>
                  </a:lnTo>
                  <a:lnTo>
                    <a:pt x="556283" y="1293794"/>
                  </a:lnTo>
                  <a:lnTo>
                    <a:pt x="529178" y="1331112"/>
                  </a:lnTo>
                  <a:lnTo>
                    <a:pt x="26994" y="2201735"/>
                  </a:lnTo>
                  <a:lnTo>
                    <a:pt x="8515" y="2244011"/>
                  </a:lnTo>
                  <a:lnTo>
                    <a:pt x="0" y="2287145"/>
                  </a:lnTo>
                  <a:lnTo>
                    <a:pt x="750" y="2329887"/>
                  </a:lnTo>
                  <a:lnTo>
                    <a:pt x="10067" y="2370986"/>
                  </a:lnTo>
                  <a:lnTo>
                    <a:pt x="27253" y="2409193"/>
                  </a:lnTo>
                  <a:lnTo>
                    <a:pt x="51609" y="2443256"/>
                  </a:lnTo>
                  <a:lnTo>
                    <a:pt x="82437" y="2471927"/>
                  </a:lnTo>
                  <a:lnTo>
                    <a:pt x="119037" y="2493954"/>
                  </a:lnTo>
                  <a:lnTo>
                    <a:pt x="160712" y="2508087"/>
                  </a:lnTo>
                  <a:lnTo>
                    <a:pt x="206763" y="2513076"/>
                  </a:lnTo>
                  <a:lnTo>
                    <a:pt x="1213289" y="2513076"/>
                  </a:lnTo>
                  <a:lnTo>
                    <a:pt x="1259364" y="2508087"/>
                  </a:lnTo>
                  <a:lnTo>
                    <a:pt x="1301054" y="2493954"/>
                  </a:lnTo>
                  <a:lnTo>
                    <a:pt x="1337662" y="2471927"/>
                  </a:lnTo>
                  <a:lnTo>
                    <a:pt x="1368493" y="2443256"/>
                  </a:lnTo>
                  <a:lnTo>
                    <a:pt x="1392849" y="2409193"/>
                  </a:lnTo>
                  <a:lnTo>
                    <a:pt x="1410035" y="2370986"/>
                  </a:lnTo>
                  <a:lnTo>
                    <a:pt x="1419356" y="2329887"/>
                  </a:lnTo>
                  <a:lnTo>
                    <a:pt x="1420114" y="2287145"/>
                  </a:lnTo>
                  <a:lnTo>
                    <a:pt x="1411613" y="2244011"/>
                  </a:lnTo>
                  <a:lnTo>
                    <a:pt x="1393159" y="2201735"/>
                  </a:lnTo>
                  <a:lnTo>
                    <a:pt x="1208971" y="1881543"/>
                  </a:lnTo>
                  <a:lnTo>
                    <a:pt x="2004969" y="502145"/>
                  </a:lnTo>
                  <a:lnTo>
                    <a:pt x="2169408" y="603021"/>
                  </a:lnTo>
                  <a:lnTo>
                    <a:pt x="2164989" y="0"/>
                  </a:lnTo>
                  <a:close/>
                </a:path>
              </a:pathLst>
            </a:custGeom>
            <a:solidFill>
              <a:srgbClr val="4BC1E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77" name="Google Shape;377;p28"/>
            <p:cNvPicPr preferRelativeResize="0"/>
            <p:nvPr/>
          </p:nvPicPr>
          <p:blipFill rotWithShape="1">
            <a:blip r:embed="rId3">
              <a:alphaModFix/>
            </a:blip>
            <a:srcRect b="0" l="0" r="0" t="0"/>
            <a:stretch/>
          </p:blipFill>
          <p:spPr>
            <a:xfrm>
              <a:off x="5672327" y="1796795"/>
              <a:ext cx="883919" cy="883919"/>
            </a:xfrm>
            <a:prstGeom prst="rect">
              <a:avLst/>
            </a:prstGeom>
            <a:noFill/>
            <a:ln>
              <a:noFill/>
            </a:ln>
          </p:spPr>
        </p:pic>
        <p:sp>
          <p:nvSpPr>
            <p:cNvPr id="378" name="Google Shape;378;p28"/>
            <p:cNvSpPr/>
            <p:nvPr/>
          </p:nvSpPr>
          <p:spPr>
            <a:xfrm>
              <a:off x="5882335" y="1878774"/>
              <a:ext cx="416559" cy="673100"/>
            </a:xfrm>
            <a:custGeom>
              <a:rect b="b" l="l" r="r" t="t"/>
              <a:pathLst>
                <a:path extrusionOk="0" h="673100" w="416560">
                  <a:moveTo>
                    <a:pt x="260159" y="624725"/>
                  </a:moveTo>
                  <a:lnTo>
                    <a:pt x="156095" y="624725"/>
                  </a:lnTo>
                  <a:lnTo>
                    <a:pt x="161417" y="643712"/>
                  </a:lnTo>
                  <a:lnTo>
                    <a:pt x="172808" y="658964"/>
                  </a:lnTo>
                  <a:lnTo>
                    <a:pt x="188849" y="669099"/>
                  </a:lnTo>
                  <a:lnTo>
                    <a:pt x="208127" y="672782"/>
                  </a:lnTo>
                  <a:lnTo>
                    <a:pt x="227406" y="669099"/>
                  </a:lnTo>
                  <a:lnTo>
                    <a:pt x="243446" y="658964"/>
                  </a:lnTo>
                  <a:lnTo>
                    <a:pt x="254838" y="643712"/>
                  </a:lnTo>
                  <a:lnTo>
                    <a:pt x="260159" y="624725"/>
                  </a:lnTo>
                  <a:close/>
                </a:path>
                <a:path extrusionOk="0" h="673100" w="416560">
                  <a:moveTo>
                    <a:pt x="312191" y="568655"/>
                  </a:moveTo>
                  <a:lnTo>
                    <a:pt x="310349" y="559155"/>
                  </a:lnTo>
                  <a:lnTo>
                    <a:pt x="305282" y="551535"/>
                  </a:lnTo>
                  <a:lnTo>
                    <a:pt x="297662" y="546468"/>
                  </a:lnTo>
                  <a:lnTo>
                    <a:pt x="288175" y="544626"/>
                  </a:lnTo>
                  <a:lnTo>
                    <a:pt x="128079" y="544626"/>
                  </a:lnTo>
                  <a:lnTo>
                    <a:pt x="118579" y="546468"/>
                  </a:lnTo>
                  <a:lnTo>
                    <a:pt x="110972" y="551535"/>
                  </a:lnTo>
                  <a:lnTo>
                    <a:pt x="105905" y="559155"/>
                  </a:lnTo>
                  <a:lnTo>
                    <a:pt x="104063" y="568655"/>
                  </a:lnTo>
                  <a:lnTo>
                    <a:pt x="105905" y="578154"/>
                  </a:lnTo>
                  <a:lnTo>
                    <a:pt x="110972" y="585774"/>
                  </a:lnTo>
                  <a:lnTo>
                    <a:pt x="118579" y="590842"/>
                  </a:lnTo>
                  <a:lnTo>
                    <a:pt x="128079" y="592683"/>
                  </a:lnTo>
                  <a:lnTo>
                    <a:pt x="288175" y="592683"/>
                  </a:lnTo>
                  <a:lnTo>
                    <a:pt x="297662" y="590842"/>
                  </a:lnTo>
                  <a:lnTo>
                    <a:pt x="305282" y="585774"/>
                  </a:lnTo>
                  <a:lnTo>
                    <a:pt x="310349" y="578154"/>
                  </a:lnTo>
                  <a:lnTo>
                    <a:pt x="312191" y="568655"/>
                  </a:lnTo>
                  <a:close/>
                </a:path>
                <a:path extrusionOk="0" h="673100" w="416560">
                  <a:moveTo>
                    <a:pt x="312191" y="488569"/>
                  </a:moveTo>
                  <a:lnTo>
                    <a:pt x="310349" y="479069"/>
                  </a:lnTo>
                  <a:lnTo>
                    <a:pt x="305282" y="471449"/>
                  </a:lnTo>
                  <a:lnTo>
                    <a:pt x="297662" y="466382"/>
                  </a:lnTo>
                  <a:lnTo>
                    <a:pt x="288175" y="464540"/>
                  </a:lnTo>
                  <a:lnTo>
                    <a:pt x="128079" y="464540"/>
                  </a:lnTo>
                  <a:lnTo>
                    <a:pt x="118579" y="466382"/>
                  </a:lnTo>
                  <a:lnTo>
                    <a:pt x="110972" y="471449"/>
                  </a:lnTo>
                  <a:lnTo>
                    <a:pt x="105905" y="479069"/>
                  </a:lnTo>
                  <a:lnTo>
                    <a:pt x="104063" y="488569"/>
                  </a:lnTo>
                  <a:lnTo>
                    <a:pt x="105905" y="498068"/>
                  </a:lnTo>
                  <a:lnTo>
                    <a:pt x="110972" y="505688"/>
                  </a:lnTo>
                  <a:lnTo>
                    <a:pt x="118579" y="510755"/>
                  </a:lnTo>
                  <a:lnTo>
                    <a:pt x="128079" y="512597"/>
                  </a:lnTo>
                  <a:lnTo>
                    <a:pt x="288175" y="512597"/>
                  </a:lnTo>
                  <a:lnTo>
                    <a:pt x="297662" y="510755"/>
                  </a:lnTo>
                  <a:lnTo>
                    <a:pt x="305282" y="505688"/>
                  </a:lnTo>
                  <a:lnTo>
                    <a:pt x="310349" y="498068"/>
                  </a:lnTo>
                  <a:lnTo>
                    <a:pt x="312191" y="488569"/>
                  </a:lnTo>
                  <a:close/>
                </a:path>
                <a:path extrusionOk="0" h="673100" w="416560">
                  <a:moveTo>
                    <a:pt x="416255" y="205841"/>
                  </a:moveTo>
                  <a:lnTo>
                    <a:pt x="409930" y="158673"/>
                  </a:lnTo>
                  <a:lnTo>
                    <a:pt x="393827" y="115430"/>
                  </a:lnTo>
                  <a:lnTo>
                    <a:pt x="369112" y="77330"/>
                  </a:lnTo>
                  <a:lnTo>
                    <a:pt x="369023" y="205841"/>
                  </a:lnTo>
                  <a:lnTo>
                    <a:pt x="369023" y="212242"/>
                  </a:lnTo>
                  <a:lnTo>
                    <a:pt x="368223" y="212242"/>
                  </a:lnTo>
                  <a:lnTo>
                    <a:pt x="368160" y="213042"/>
                  </a:lnTo>
                  <a:lnTo>
                    <a:pt x="367030" y="226631"/>
                  </a:lnTo>
                  <a:lnTo>
                    <a:pt x="357009" y="268312"/>
                  </a:lnTo>
                  <a:lnTo>
                    <a:pt x="338213" y="302323"/>
                  </a:lnTo>
                  <a:lnTo>
                    <a:pt x="329793" y="312356"/>
                  </a:lnTo>
                  <a:lnTo>
                    <a:pt x="316471" y="329476"/>
                  </a:lnTo>
                  <a:lnTo>
                    <a:pt x="304177" y="347205"/>
                  </a:lnTo>
                  <a:lnTo>
                    <a:pt x="293103" y="365518"/>
                  </a:lnTo>
                  <a:lnTo>
                    <a:pt x="283375" y="384441"/>
                  </a:lnTo>
                  <a:lnTo>
                    <a:pt x="133680" y="384441"/>
                  </a:lnTo>
                  <a:lnTo>
                    <a:pt x="112268" y="347205"/>
                  </a:lnTo>
                  <a:lnTo>
                    <a:pt x="87249" y="312356"/>
                  </a:lnTo>
                  <a:lnTo>
                    <a:pt x="79171" y="302323"/>
                  </a:lnTo>
                  <a:lnTo>
                    <a:pt x="71843" y="291541"/>
                  </a:lnTo>
                  <a:lnTo>
                    <a:pt x="55359" y="254825"/>
                  </a:lnTo>
                  <a:lnTo>
                    <a:pt x="48895" y="213042"/>
                  </a:lnTo>
                  <a:lnTo>
                    <a:pt x="48831" y="205841"/>
                  </a:lnTo>
                  <a:lnTo>
                    <a:pt x="57721" y="155892"/>
                  </a:lnTo>
                  <a:lnTo>
                    <a:pt x="80746" y="112534"/>
                  </a:lnTo>
                  <a:lnTo>
                    <a:pt x="115341" y="78282"/>
                  </a:lnTo>
                  <a:lnTo>
                    <a:pt x="159080" y="55600"/>
                  </a:lnTo>
                  <a:lnTo>
                    <a:pt x="159385" y="55600"/>
                  </a:lnTo>
                  <a:lnTo>
                    <a:pt x="208927" y="47256"/>
                  </a:lnTo>
                  <a:lnTo>
                    <a:pt x="258927" y="55600"/>
                  </a:lnTo>
                  <a:lnTo>
                    <a:pt x="302514" y="78054"/>
                  </a:lnTo>
                  <a:lnTo>
                    <a:pt x="337108" y="112191"/>
                  </a:lnTo>
                  <a:lnTo>
                    <a:pt x="360133" y="155587"/>
                  </a:lnTo>
                  <a:lnTo>
                    <a:pt x="360184" y="155892"/>
                  </a:lnTo>
                  <a:lnTo>
                    <a:pt x="369023" y="205841"/>
                  </a:lnTo>
                  <a:lnTo>
                    <a:pt x="369023" y="77254"/>
                  </a:lnTo>
                  <a:lnTo>
                    <a:pt x="338734" y="47256"/>
                  </a:lnTo>
                  <a:lnTo>
                    <a:pt x="337007" y="45542"/>
                  </a:lnTo>
                  <a:lnTo>
                    <a:pt x="298678" y="21259"/>
                  </a:lnTo>
                  <a:lnTo>
                    <a:pt x="255320" y="5689"/>
                  </a:lnTo>
                  <a:lnTo>
                    <a:pt x="208127" y="0"/>
                  </a:lnTo>
                  <a:lnTo>
                    <a:pt x="160934" y="5689"/>
                  </a:lnTo>
                  <a:lnTo>
                    <a:pt x="117576" y="21259"/>
                  </a:lnTo>
                  <a:lnTo>
                    <a:pt x="79248" y="45542"/>
                  </a:lnTo>
                  <a:lnTo>
                    <a:pt x="47129" y="77330"/>
                  </a:lnTo>
                  <a:lnTo>
                    <a:pt x="22428" y="115430"/>
                  </a:lnTo>
                  <a:lnTo>
                    <a:pt x="6324" y="158673"/>
                  </a:lnTo>
                  <a:lnTo>
                    <a:pt x="0" y="205841"/>
                  </a:lnTo>
                  <a:lnTo>
                    <a:pt x="0" y="213042"/>
                  </a:lnTo>
                  <a:lnTo>
                    <a:pt x="8559" y="267563"/>
                  </a:lnTo>
                  <a:lnTo>
                    <a:pt x="30022" y="316268"/>
                  </a:lnTo>
                  <a:lnTo>
                    <a:pt x="50431" y="344398"/>
                  </a:lnTo>
                  <a:lnTo>
                    <a:pt x="64935" y="363093"/>
                  </a:lnTo>
                  <a:lnTo>
                    <a:pt x="78752" y="385241"/>
                  </a:lnTo>
                  <a:lnTo>
                    <a:pt x="90614" y="406793"/>
                  </a:lnTo>
                  <a:lnTo>
                    <a:pt x="99263" y="423684"/>
                  </a:lnTo>
                  <a:lnTo>
                    <a:pt x="101663" y="429298"/>
                  </a:lnTo>
                  <a:lnTo>
                    <a:pt x="107264" y="432498"/>
                  </a:lnTo>
                  <a:lnTo>
                    <a:pt x="308991" y="432498"/>
                  </a:lnTo>
                  <a:lnTo>
                    <a:pt x="314591" y="429298"/>
                  </a:lnTo>
                  <a:lnTo>
                    <a:pt x="316992" y="423684"/>
                  </a:lnTo>
                  <a:lnTo>
                    <a:pt x="325628" y="406793"/>
                  </a:lnTo>
                  <a:lnTo>
                    <a:pt x="351320" y="363093"/>
                  </a:lnTo>
                  <a:lnTo>
                    <a:pt x="376745" y="330746"/>
                  </a:lnTo>
                  <a:lnTo>
                    <a:pt x="386537" y="316268"/>
                  </a:lnTo>
                  <a:lnTo>
                    <a:pt x="407695" y="267563"/>
                  </a:lnTo>
                  <a:lnTo>
                    <a:pt x="416255" y="213042"/>
                  </a:lnTo>
                  <a:lnTo>
                    <a:pt x="416255" y="205841"/>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79" name="Google Shape;379;p28"/>
            <p:cNvPicPr preferRelativeResize="0"/>
            <p:nvPr/>
          </p:nvPicPr>
          <p:blipFill rotWithShape="1">
            <a:blip r:embed="rId4">
              <a:alphaModFix/>
            </a:blip>
            <a:srcRect b="0" l="0" r="0" t="0"/>
            <a:stretch/>
          </p:blipFill>
          <p:spPr>
            <a:xfrm>
              <a:off x="3962400" y="4539995"/>
              <a:ext cx="883919" cy="883919"/>
            </a:xfrm>
            <a:prstGeom prst="rect">
              <a:avLst/>
            </a:prstGeom>
            <a:noFill/>
            <a:ln>
              <a:noFill/>
            </a:ln>
          </p:spPr>
        </p:pic>
        <p:sp>
          <p:nvSpPr>
            <p:cNvPr id="380" name="Google Shape;380;p28"/>
            <p:cNvSpPr/>
            <p:nvPr/>
          </p:nvSpPr>
          <p:spPr>
            <a:xfrm>
              <a:off x="4058742" y="4640389"/>
              <a:ext cx="633730" cy="635000"/>
            </a:xfrm>
            <a:custGeom>
              <a:rect b="b" l="l" r="r" t="t"/>
              <a:pathLst>
                <a:path extrusionOk="0" h="635000" w="633729">
                  <a:moveTo>
                    <a:pt x="414642" y="229870"/>
                  </a:moveTo>
                  <a:lnTo>
                    <a:pt x="413842" y="229870"/>
                  </a:lnTo>
                  <a:lnTo>
                    <a:pt x="368223" y="229870"/>
                  </a:lnTo>
                  <a:lnTo>
                    <a:pt x="364223" y="230670"/>
                  </a:lnTo>
                  <a:lnTo>
                    <a:pt x="360210" y="233070"/>
                  </a:lnTo>
                  <a:lnTo>
                    <a:pt x="357809" y="236283"/>
                  </a:lnTo>
                  <a:lnTo>
                    <a:pt x="327393" y="269113"/>
                  </a:lnTo>
                  <a:lnTo>
                    <a:pt x="301777" y="180213"/>
                  </a:lnTo>
                  <a:lnTo>
                    <a:pt x="299377" y="172999"/>
                  </a:lnTo>
                  <a:lnTo>
                    <a:pt x="291376" y="168198"/>
                  </a:lnTo>
                  <a:lnTo>
                    <a:pt x="284175" y="170599"/>
                  </a:lnTo>
                  <a:lnTo>
                    <a:pt x="280162" y="172199"/>
                  </a:lnTo>
                  <a:lnTo>
                    <a:pt x="276161" y="174612"/>
                  </a:lnTo>
                  <a:lnTo>
                    <a:pt x="274561" y="179412"/>
                  </a:lnTo>
                  <a:lnTo>
                    <a:pt x="226529" y="306755"/>
                  </a:lnTo>
                  <a:lnTo>
                    <a:pt x="193713" y="130556"/>
                  </a:lnTo>
                  <a:lnTo>
                    <a:pt x="192112" y="122542"/>
                  </a:lnTo>
                  <a:lnTo>
                    <a:pt x="184912" y="117741"/>
                  </a:lnTo>
                  <a:lnTo>
                    <a:pt x="177711" y="119341"/>
                  </a:lnTo>
                  <a:lnTo>
                    <a:pt x="172897" y="120142"/>
                  </a:lnTo>
                  <a:lnTo>
                    <a:pt x="168897" y="124155"/>
                  </a:lnTo>
                  <a:lnTo>
                    <a:pt x="166497" y="128955"/>
                  </a:lnTo>
                  <a:lnTo>
                    <a:pt x="132080" y="229870"/>
                  </a:lnTo>
                  <a:lnTo>
                    <a:pt x="69646" y="229870"/>
                  </a:lnTo>
                  <a:lnTo>
                    <a:pt x="69646" y="261912"/>
                  </a:lnTo>
                  <a:lnTo>
                    <a:pt x="142481" y="261912"/>
                  </a:lnTo>
                  <a:lnTo>
                    <a:pt x="148894" y="261112"/>
                  </a:lnTo>
                  <a:lnTo>
                    <a:pt x="154495" y="256298"/>
                  </a:lnTo>
                  <a:lnTo>
                    <a:pt x="156095" y="249897"/>
                  </a:lnTo>
                  <a:lnTo>
                    <a:pt x="176110" y="189026"/>
                  </a:lnTo>
                  <a:lnTo>
                    <a:pt x="208127" y="361226"/>
                  </a:lnTo>
                  <a:lnTo>
                    <a:pt x="208927" y="367626"/>
                  </a:lnTo>
                  <a:lnTo>
                    <a:pt x="214528" y="372440"/>
                  </a:lnTo>
                  <a:lnTo>
                    <a:pt x="228130" y="372440"/>
                  </a:lnTo>
                  <a:lnTo>
                    <a:pt x="233743" y="369227"/>
                  </a:lnTo>
                  <a:lnTo>
                    <a:pt x="236143" y="363626"/>
                  </a:lnTo>
                  <a:lnTo>
                    <a:pt x="287375" y="229069"/>
                  </a:lnTo>
                  <a:lnTo>
                    <a:pt x="308178" y="301155"/>
                  </a:lnTo>
                  <a:lnTo>
                    <a:pt x="310591" y="308356"/>
                  </a:lnTo>
                  <a:lnTo>
                    <a:pt x="317792" y="313169"/>
                  </a:lnTo>
                  <a:lnTo>
                    <a:pt x="328193" y="309968"/>
                  </a:lnTo>
                  <a:lnTo>
                    <a:pt x="330593" y="308356"/>
                  </a:lnTo>
                  <a:lnTo>
                    <a:pt x="375424" y="261912"/>
                  </a:lnTo>
                  <a:lnTo>
                    <a:pt x="414642" y="261912"/>
                  </a:lnTo>
                  <a:lnTo>
                    <a:pt x="414642" y="229870"/>
                  </a:lnTo>
                  <a:close/>
                </a:path>
                <a:path extrusionOk="0" h="635000" w="633729">
                  <a:moveTo>
                    <a:pt x="633374" y="578675"/>
                  </a:moveTo>
                  <a:lnTo>
                    <a:pt x="617169" y="539026"/>
                  </a:lnTo>
                  <a:lnTo>
                    <a:pt x="517906" y="438912"/>
                  </a:lnTo>
                  <a:lnTo>
                    <a:pt x="487768" y="423697"/>
                  </a:lnTo>
                  <a:lnTo>
                    <a:pt x="481660" y="422579"/>
                  </a:lnTo>
                  <a:lnTo>
                    <a:pt x="468274" y="423697"/>
                  </a:lnTo>
                  <a:lnTo>
                    <a:pt x="432257" y="388454"/>
                  </a:lnTo>
                  <a:lnTo>
                    <a:pt x="453517" y="355536"/>
                  </a:lnTo>
                  <a:lnTo>
                    <a:pt x="469074" y="319773"/>
                  </a:lnTo>
                  <a:lnTo>
                    <a:pt x="478637" y="281901"/>
                  </a:lnTo>
                  <a:lnTo>
                    <a:pt x="481888" y="242684"/>
                  </a:lnTo>
                  <a:lnTo>
                    <a:pt x="481812" y="241884"/>
                  </a:lnTo>
                  <a:lnTo>
                    <a:pt x="477253" y="193890"/>
                  </a:lnTo>
                  <a:lnTo>
                    <a:pt x="463384" y="148450"/>
                  </a:lnTo>
                  <a:lnTo>
                    <a:pt x="441286" y="107327"/>
                  </a:lnTo>
                  <a:lnTo>
                    <a:pt x="433857" y="98259"/>
                  </a:lnTo>
                  <a:lnTo>
                    <a:pt x="433857" y="241884"/>
                  </a:lnTo>
                  <a:lnTo>
                    <a:pt x="433768" y="242684"/>
                  </a:lnTo>
                  <a:lnTo>
                    <a:pt x="428764" y="285826"/>
                  </a:lnTo>
                  <a:lnTo>
                    <a:pt x="428675" y="286067"/>
                  </a:lnTo>
                  <a:lnTo>
                    <a:pt x="414248" y="326224"/>
                  </a:lnTo>
                  <a:lnTo>
                    <a:pt x="391515" y="361924"/>
                  </a:lnTo>
                  <a:lnTo>
                    <a:pt x="361721" y="391744"/>
                  </a:lnTo>
                  <a:lnTo>
                    <a:pt x="326034" y="414489"/>
                  </a:lnTo>
                  <a:lnTo>
                    <a:pt x="285661" y="429006"/>
                  </a:lnTo>
                  <a:lnTo>
                    <a:pt x="241744" y="434111"/>
                  </a:lnTo>
                  <a:lnTo>
                    <a:pt x="197218" y="429006"/>
                  </a:lnTo>
                  <a:lnTo>
                    <a:pt x="197459" y="429006"/>
                  </a:lnTo>
                  <a:lnTo>
                    <a:pt x="157099" y="414629"/>
                  </a:lnTo>
                  <a:lnTo>
                    <a:pt x="121437" y="391985"/>
                  </a:lnTo>
                  <a:lnTo>
                    <a:pt x="91719" y="362267"/>
                  </a:lnTo>
                  <a:lnTo>
                    <a:pt x="69088" y="326580"/>
                  </a:lnTo>
                  <a:lnTo>
                    <a:pt x="68973" y="326224"/>
                  </a:lnTo>
                  <a:lnTo>
                    <a:pt x="54686" y="286067"/>
                  </a:lnTo>
                  <a:lnTo>
                    <a:pt x="54660" y="285826"/>
                  </a:lnTo>
                  <a:lnTo>
                    <a:pt x="49631" y="241884"/>
                  </a:lnTo>
                  <a:lnTo>
                    <a:pt x="54686" y="197700"/>
                  </a:lnTo>
                  <a:lnTo>
                    <a:pt x="69088" y="157187"/>
                  </a:lnTo>
                  <a:lnTo>
                    <a:pt x="91719" y="121513"/>
                  </a:lnTo>
                  <a:lnTo>
                    <a:pt x="121437" y="91782"/>
                  </a:lnTo>
                  <a:lnTo>
                    <a:pt x="157099" y="69138"/>
                  </a:lnTo>
                  <a:lnTo>
                    <a:pt x="197586" y="54724"/>
                  </a:lnTo>
                  <a:lnTo>
                    <a:pt x="241744" y="49657"/>
                  </a:lnTo>
                  <a:lnTo>
                    <a:pt x="285902" y="54724"/>
                  </a:lnTo>
                  <a:lnTo>
                    <a:pt x="326390" y="69138"/>
                  </a:lnTo>
                  <a:lnTo>
                    <a:pt x="362051" y="91782"/>
                  </a:lnTo>
                  <a:lnTo>
                    <a:pt x="391769" y="121513"/>
                  </a:lnTo>
                  <a:lnTo>
                    <a:pt x="414401" y="157187"/>
                  </a:lnTo>
                  <a:lnTo>
                    <a:pt x="428802" y="197700"/>
                  </a:lnTo>
                  <a:lnTo>
                    <a:pt x="433857" y="241884"/>
                  </a:lnTo>
                  <a:lnTo>
                    <a:pt x="433857" y="98259"/>
                  </a:lnTo>
                  <a:lnTo>
                    <a:pt x="385699" y="49657"/>
                  </a:lnTo>
                  <a:lnTo>
                    <a:pt x="335432" y="19456"/>
                  </a:lnTo>
                  <a:lnTo>
                    <a:pt x="290245" y="5181"/>
                  </a:lnTo>
                  <a:lnTo>
                    <a:pt x="241744" y="0"/>
                  </a:lnTo>
                  <a:lnTo>
                    <a:pt x="193243" y="4648"/>
                  </a:lnTo>
                  <a:lnTo>
                    <a:pt x="148031" y="18516"/>
                  </a:lnTo>
                  <a:lnTo>
                    <a:pt x="107073" y="40627"/>
                  </a:lnTo>
                  <a:lnTo>
                    <a:pt x="71348" y="69989"/>
                  </a:lnTo>
                  <a:lnTo>
                    <a:pt x="41808" y="105625"/>
                  </a:lnTo>
                  <a:lnTo>
                    <a:pt x="19418" y="146532"/>
                  </a:lnTo>
                  <a:lnTo>
                    <a:pt x="5168" y="191757"/>
                  </a:lnTo>
                  <a:lnTo>
                    <a:pt x="0" y="240284"/>
                  </a:lnTo>
                  <a:lnTo>
                    <a:pt x="4635" y="288810"/>
                  </a:lnTo>
                  <a:lnTo>
                    <a:pt x="18503" y="334048"/>
                  </a:lnTo>
                  <a:lnTo>
                    <a:pt x="40589" y="375031"/>
                  </a:lnTo>
                  <a:lnTo>
                    <a:pt x="69938" y="410781"/>
                  </a:lnTo>
                  <a:lnTo>
                    <a:pt x="105549" y="440334"/>
                  </a:lnTo>
                  <a:lnTo>
                    <a:pt x="146443" y="462724"/>
                  </a:lnTo>
                  <a:lnTo>
                    <a:pt x="191643" y="476986"/>
                  </a:lnTo>
                  <a:lnTo>
                    <a:pt x="240144" y="482155"/>
                  </a:lnTo>
                  <a:lnTo>
                    <a:pt x="279476" y="478904"/>
                  </a:lnTo>
                  <a:lnTo>
                    <a:pt x="317690" y="469341"/>
                  </a:lnTo>
                  <a:lnTo>
                    <a:pt x="353949" y="453783"/>
                  </a:lnTo>
                  <a:lnTo>
                    <a:pt x="384911" y="434111"/>
                  </a:lnTo>
                  <a:lnTo>
                    <a:pt x="387426" y="432498"/>
                  </a:lnTo>
                  <a:lnTo>
                    <a:pt x="422656" y="467741"/>
                  </a:lnTo>
                  <a:lnTo>
                    <a:pt x="422567" y="469341"/>
                  </a:lnTo>
                  <a:lnTo>
                    <a:pt x="421881" y="481482"/>
                  </a:lnTo>
                  <a:lnTo>
                    <a:pt x="421995" y="482155"/>
                  </a:lnTo>
                  <a:lnTo>
                    <a:pt x="437857" y="518198"/>
                  </a:lnTo>
                  <a:lnTo>
                    <a:pt x="537921" y="618324"/>
                  </a:lnTo>
                  <a:lnTo>
                    <a:pt x="577545" y="634542"/>
                  </a:lnTo>
                  <a:lnTo>
                    <a:pt x="598703" y="630478"/>
                  </a:lnTo>
                  <a:lnTo>
                    <a:pt x="617169" y="618324"/>
                  </a:lnTo>
                  <a:lnTo>
                    <a:pt x="629323" y="599846"/>
                  </a:lnTo>
                  <a:lnTo>
                    <a:pt x="633374" y="578675"/>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28"/>
            <p:cNvSpPr/>
            <p:nvPr/>
          </p:nvSpPr>
          <p:spPr>
            <a:xfrm>
              <a:off x="5032253" y="4195572"/>
              <a:ext cx="3492500" cy="1287780"/>
            </a:xfrm>
            <a:custGeom>
              <a:rect b="b" l="l" r="r" t="t"/>
              <a:pathLst>
                <a:path extrusionOk="0" h="1287779" w="3492500">
                  <a:moveTo>
                    <a:pt x="2782087" y="0"/>
                  </a:moveTo>
                  <a:lnTo>
                    <a:pt x="2729911" y="6477"/>
                  </a:lnTo>
                  <a:lnTo>
                    <a:pt x="2680615" y="25908"/>
                  </a:lnTo>
                  <a:lnTo>
                    <a:pt x="2637085" y="58293"/>
                  </a:lnTo>
                  <a:lnTo>
                    <a:pt x="2602204" y="103632"/>
                  </a:lnTo>
                  <a:lnTo>
                    <a:pt x="2391625" y="467944"/>
                  </a:lnTo>
                  <a:lnTo>
                    <a:pt x="513334" y="467944"/>
                  </a:lnTo>
                  <a:lnTo>
                    <a:pt x="513334" y="272770"/>
                  </a:lnTo>
                  <a:lnTo>
                    <a:pt x="0" y="588543"/>
                  </a:lnTo>
                  <a:lnTo>
                    <a:pt x="513334" y="904303"/>
                  </a:lnTo>
                  <a:lnTo>
                    <a:pt x="513334" y="709142"/>
                  </a:lnTo>
                  <a:lnTo>
                    <a:pt x="2252205" y="709142"/>
                  </a:lnTo>
                  <a:lnTo>
                    <a:pt x="2097735" y="976363"/>
                  </a:lnTo>
                  <a:lnTo>
                    <a:pt x="2079230" y="1018656"/>
                  </a:lnTo>
                  <a:lnTo>
                    <a:pt x="2070701" y="1061805"/>
                  </a:lnTo>
                  <a:lnTo>
                    <a:pt x="2071446" y="1104559"/>
                  </a:lnTo>
                  <a:lnTo>
                    <a:pt x="2080767" y="1145668"/>
                  </a:lnTo>
                  <a:lnTo>
                    <a:pt x="2097965" y="1183882"/>
                  </a:lnTo>
                  <a:lnTo>
                    <a:pt x="2122339" y="1217952"/>
                  </a:lnTo>
                  <a:lnTo>
                    <a:pt x="2153191" y="1246626"/>
                  </a:lnTo>
                  <a:lnTo>
                    <a:pt x="2189821" y="1268656"/>
                  </a:lnTo>
                  <a:lnTo>
                    <a:pt x="2231530" y="1282790"/>
                  </a:lnTo>
                  <a:lnTo>
                    <a:pt x="2277618" y="1287780"/>
                  </a:lnTo>
                  <a:lnTo>
                    <a:pt x="3284410" y="1287780"/>
                  </a:lnTo>
                  <a:lnTo>
                    <a:pt x="3330559" y="1282788"/>
                  </a:lnTo>
                  <a:lnTo>
                    <a:pt x="3372417" y="1268639"/>
                  </a:lnTo>
                  <a:lnTo>
                    <a:pt x="3409247" y="1246568"/>
                  </a:lnTo>
                  <a:lnTo>
                    <a:pt x="3440312" y="1217814"/>
                  </a:lnTo>
                  <a:lnTo>
                    <a:pt x="3464872" y="1183614"/>
                  </a:lnTo>
                  <a:lnTo>
                    <a:pt x="3482191" y="1145204"/>
                  </a:lnTo>
                  <a:lnTo>
                    <a:pt x="3491530" y="1103823"/>
                  </a:lnTo>
                  <a:lnTo>
                    <a:pt x="3492152" y="1060706"/>
                  </a:lnTo>
                  <a:lnTo>
                    <a:pt x="3483319" y="1017091"/>
                  </a:lnTo>
                  <a:lnTo>
                    <a:pt x="3464293" y="974216"/>
                  </a:lnTo>
                  <a:lnTo>
                    <a:pt x="2961970" y="103632"/>
                  </a:lnTo>
                  <a:lnTo>
                    <a:pt x="2927089" y="58293"/>
                  </a:lnTo>
                  <a:lnTo>
                    <a:pt x="2883558" y="25908"/>
                  </a:lnTo>
                  <a:lnTo>
                    <a:pt x="2834263" y="6477"/>
                  </a:lnTo>
                  <a:lnTo>
                    <a:pt x="2782087" y="0"/>
                  </a:lnTo>
                  <a:close/>
                </a:path>
              </a:pathLst>
            </a:custGeom>
            <a:solidFill>
              <a:srgbClr val="C12F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82" name="Google Shape;382;p28"/>
            <p:cNvPicPr preferRelativeResize="0"/>
            <p:nvPr/>
          </p:nvPicPr>
          <p:blipFill rotWithShape="1">
            <a:blip r:embed="rId5">
              <a:alphaModFix/>
            </a:blip>
            <a:srcRect b="0" l="0" r="0" t="0"/>
            <a:stretch/>
          </p:blipFill>
          <p:spPr>
            <a:xfrm>
              <a:off x="7399019" y="4539995"/>
              <a:ext cx="883919" cy="883919"/>
            </a:xfrm>
            <a:prstGeom prst="rect">
              <a:avLst/>
            </a:prstGeom>
            <a:noFill/>
            <a:ln>
              <a:noFill/>
            </a:ln>
          </p:spPr>
        </p:pic>
        <p:sp>
          <p:nvSpPr>
            <p:cNvPr id="383" name="Google Shape;383;p28"/>
            <p:cNvSpPr/>
            <p:nvPr/>
          </p:nvSpPr>
          <p:spPr>
            <a:xfrm>
              <a:off x="7593267" y="4637986"/>
              <a:ext cx="448309" cy="640715"/>
            </a:xfrm>
            <a:custGeom>
              <a:rect b="b" l="l" r="r" t="t"/>
              <a:pathLst>
                <a:path extrusionOk="0" h="640714" w="448309">
                  <a:moveTo>
                    <a:pt x="448026" y="48007"/>
                  </a:moveTo>
                  <a:lnTo>
                    <a:pt x="0" y="48007"/>
                  </a:lnTo>
                  <a:lnTo>
                    <a:pt x="0" y="0"/>
                  </a:lnTo>
                  <a:lnTo>
                    <a:pt x="448026" y="0"/>
                  </a:lnTo>
                  <a:lnTo>
                    <a:pt x="448026" y="48007"/>
                  </a:lnTo>
                  <a:close/>
                </a:path>
                <a:path extrusionOk="0" h="640714" w="448309">
                  <a:moveTo>
                    <a:pt x="69057" y="592306"/>
                  </a:moveTo>
                  <a:lnTo>
                    <a:pt x="20823" y="592306"/>
                  </a:lnTo>
                  <a:lnTo>
                    <a:pt x="28381" y="545090"/>
                  </a:lnTo>
                  <a:lnTo>
                    <a:pt x="42685" y="494245"/>
                  </a:lnTo>
                  <a:lnTo>
                    <a:pt x="63123" y="443088"/>
                  </a:lnTo>
                  <a:lnTo>
                    <a:pt x="89094" y="394867"/>
                  </a:lnTo>
                  <a:lnTo>
                    <a:pt x="119997" y="352828"/>
                  </a:lnTo>
                  <a:lnTo>
                    <a:pt x="155220" y="320217"/>
                  </a:lnTo>
                  <a:lnTo>
                    <a:pt x="120037" y="287585"/>
                  </a:lnTo>
                  <a:lnTo>
                    <a:pt x="89258" y="245531"/>
                  </a:lnTo>
                  <a:lnTo>
                    <a:pt x="63411" y="197300"/>
                  </a:lnTo>
                  <a:lnTo>
                    <a:pt x="43032" y="146139"/>
                  </a:lnTo>
                  <a:lnTo>
                    <a:pt x="28653" y="95292"/>
                  </a:lnTo>
                  <a:lnTo>
                    <a:pt x="20804" y="48007"/>
                  </a:lnTo>
                  <a:lnTo>
                    <a:pt x="69145" y="48007"/>
                  </a:lnTo>
                  <a:lnTo>
                    <a:pt x="73546" y="74670"/>
                  </a:lnTo>
                  <a:lnTo>
                    <a:pt x="79605" y="100974"/>
                  </a:lnTo>
                  <a:lnTo>
                    <a:pt x="87303" y="126833"/>
                  </a:lnTo>
                  <a:lnTo>
                    <a:pt x="96617" y="152175"/>
                  </a:lnTo>
                  <a:lnTo>
                    <a:pt x="402134" y="152175"/>
                  </a:lnTo>
                  <a:lnTo>
                    <a:pt x="384112" y="197300"/>
                  </a:lnTo>
                  <a:lnTo>
                    <a:pt x="358145" y="245531"/>
                  </a:lnTo>
                  <a:lnTo>
                    <a:pt x="327243" y="287585"/>
                  </a:lnTo>
                  <a:lnTo>
                    <a:pt x="292005" y="320217"/>
                  </a:lnTo>
                  <a:lnTo>
                    <a:pt x="325605" y="351324"/>
                  </a:lnTo>
                  <a:lnTo>
                    <a:pt x="191762" y="351324"/>
                  </a:lnTo>
                  <a:lnTo>
                    <a:pt x="189256" y="354272"/>
                  </a:lnTo>
                  <a:lnTo>
                    <a:pt x="186414" y="356899"/>
                  </a:lnTo>
                  <a:lnTo>
                    <a:pt x="149728" y="391957"/>
                  </a:lnTo>
                  <a:lnTo>
                    <a:pt x="120211" y="436507"/>
                  </a:lnTo>
                  <a:lnTo>
                    <a:pt x="96059" y="487962"/>
                  </a:lnTo>
                  <a:lnTo>
                    <a:pt x="78572" y="541502"/>
                  </a:lnTo>
                  <a:lnTo>
                    <a:pt x="69057" y="592306"/>
                  </a:lnTo>
                  <a:close/>
                </a:path>
                <a:path extrusionOk="0" h="640714" w="448309">
                  <a:moveTo>
                    <a:pt x="402134" y="152175"/>
                  </a:moveTo>
                  <a:lnTo>
                    <a:pt x="351168" y="152175"/>
                  </a:lnTo>
                  <a:lnTo>
                    <a:pt x="360453" y="126833"/>
                  </a:lnTo>
                  <a:lnTo>
                    <a:pt x="368057" y="100974"/>
                  </a:lnTo>
                  <a:lnTo>
                    <a:pt x="373962" y="74670"/>
                  </a:lnTo>
                  <a:lnTo>
                    <a:pt x="378144" y="48007"/>
                  </a:lnTo>
                  <a:lnTo>
                    <a:pt x="426413" y="48007"/>
                  </a:lnTo>
                  <a:lnTo>
                    <a:pt x="418845" y="95292"/>
                  </a:lnTo>
                  <a:lnTo>
                    <a:pt x="404545" y="146139"/>
                  </a:lnTo>
                  <a:lnTo>
                    <a:pt x="402134" y="152175"/>
                  </a:lnTo>
                  <a:close/>
                </a:path>
                <a:path extrusionOk="0" h="640714" w="448309">
                  <a:moveTo>
                    <a:pt x="319814" y="592306"/>
                  </a:moveTo>
                  <a:lnTo>
                    <a:pt x="128452" y="592306"/>
                  </a:lnTo>
                  <a:lnTo>
                    <a:pt x="208123" y="512590"/>
                  </a:lnTo>
                  <a:lnTo>
                    <a:pt x="208123" y="372277"/>
                  </a:lnTo>
                  <a:lnTo>
                    <a:pt x="191762" y="351324"/>
                  </a:lnTo>
                  <a:lnTo>
                    <a:pt x="325605" y="351324"/>
                  </a:lnTo>
                  <a:lnTo>
                    <a:pt x="325995" y="351685"/>
                  </a:lnTo>
                  <a:lnTo>
                    <a:pt x="255808" y="351685"/>
                  </a:lnTo>
                  <a:lnTo>
                    <a:pt x="240142" y="371708"/>
                  </a:lnTo>
                  <a:lnTo>
                    <a:pt x="240142" y="512590"/>
                  </a:lnTo>
                  <a:lnTo>
                    <a:pt x="319814" y="592306"/>
                  </a:lnTo>
                  <a:close/>
                </a:path>
                <a:path extrusionOk="0" h="640714" w="448309">
                  <a:moveTo>
                    <a:pt x="426402" y="592306"/>
                  </a:moveTo>
                  <a:lnTo>
                    <a:pt x="378152" y="592306"/>
                  </a:lnTo>
                  <a:lnTo>
                    <a:pt x="368640" y="541502"/>
                  </a:lnTo>
                  <a:lnTo>
                    <a:pt x="351157" y="487962"/>
                  </a:lnTo>
                  <a:lnTo>
                    <a:pt x="327007" y="436507"/>
                  </a:lnTo>
                  <a:lnTo>
                    <a:pt x="297497" y="391957"/>
                  </a:lnTo>
                  <a:lnTo>
                    <a:pt x="263932" y="359133"/>
                  </a:lnTo>
                  <a:lnTo>
                    <a:pt x="260868" y="356899"/>
                  </a:lnTo>
                  <a:lnTo>
                    <a:pt x="258225" y="354472"/>
                  </a:lnTo>
                  <a:lnTo>
                    <a:pt x="255808" y="351685"/>
                  </a:lnTo>
                  <a:lnTo>
                    <a:pt x="325995" y="351685"/>
                  </a:lnTo>
                  <a:lnTo>
                    <a:pt x="358127" y="394867"/>
                  </a:lnTo>
                  <a:lnTo>
                    <a:pt x="384097" y="443088"/>
                  </a:lnTo>
                  <a:lnTo>
                    <a:pt x="404536" y="494245"/>
                  </a:lnTo>
                  <a:lnTo>
                    <a:pt x="418842" y="545090"/>
                  </a:lnTo>
                  <a:lnTo>
                    <a:pt x="426402" y="592306"/>
                  </a:lnTo>
                  <a:close/>
                </a:path>
                <a:path extrusionOk="0" h="640714" w="448309">
                  <a:moveTo>
                    <a:pt x="448026" y="640434"/>
                  </a:moveTo>
                  <a:lnTo>
                    <a:pt x="0" y="640434"/>
                  </a:lnTo>
                  <a:lnTo>
                    <a:pt x="0" y="592306"/>
                  </a:lnTo>
                  <a:lnTo>
                    <a:pt x="448026" y="592306"/>
                  </a:lnTo>
                  <a:lnTo>
                    <a:pt x="448026" y="640434"/>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4" name="Google Shape;384;p28"/>
          <p:cNvSpPr txBox="1"/>
          <p:nvPr/>
        </p:nvSpPr>
        <p:spPr>
          <a:xfrm>
            <a:off x="1325976" y="4160173"/>
            <a:ext cx="1966595" cy="1801495"/>
          </a:xfrm>
          <a:prstGeom prst="rect">
            <a:avLst/>
          </a:prstGeom>
          <a:noFill/>
          <a:ln>
            <a:noFill/>
          </a:ln>
        </p:spPr>
        <p:txBody>
          <a:bodyPr anchorCtr="0" anchor="t" bIns="0" lIns="0" spcFirstLastPara="1" rIns="0" wrap="square" tIns="12700">
            <a:spAutoFit/>
          </a:bodyPr>
          <a:lstStyle/>
          <a:p>
            <a:pPr indent="0" lvl="0" marL="835025" marR="0" rtl="0" algn="l">
              <a:lnSpc>
                <a:spcPct val="100000"/>
              </a:lnSpc>
              <a:spcBef>
                <a:spcPts val="0"/>
              </a:spcBef>
              <a:spcAft>
                <a:spcPts val="0"/>
              </a:spcAft>
              <a:buNone/>
            </a:pPr>
            <a:r>
              <a:rPr b="1" lang="en-US" sz="2000">
                <a:solidFill>
                  <a:srgbClr val="C86E06"/>
                </a:solidFill>
                <a:latin typeface="Arial"/>
                <a:ea typeface="Arial"/>
                <a:cs typeface="Arial"/>
                <a:sym typeface="Arial"/>
              </a:rPr>
              <a:t>INTEGRITY</a:t>
            </a:r>
            <a:endParaRPr sz="2000">
              <a:solidFill>
                <a:schemeClr val="dk1"/>
              </a:solidFill>
              <a:latin typeface="Arial"/>
              <a:ea typeface="Arial"/>
              <a:cs typeface="Arial"/>
              <a:sym typeface="Arial"/>
            </a:endParaRPr>
          </a:p>
          <a:p>
            <a:pPr indent="0" lvl="0" marL="12700" marR="58419" rtl="0" algn="l">
              <a:lnSpc>
                <a:spcPct val="130899"/>
              </a:lnSpc>
              <a:spcBef>
                <a:spcPts val="585"/>
              </a:spcBef>
              <a:spcAft>
                <a:spcPts val="0"/>
              </a:spcAft>
              <a:buNone/>
            </a:pPr>
            <a:r>
              <a:rPr lang="en-US" sz="1400">
                <a:solidFill>
                  <a:srgbClr val="746457"/>
                </a:solidFill>
                <a:latin typeface="Arial"/>
                <a:ea typeface="Arial"/>
                <a:cs typeface="Arial"/>
                <a:sym typeface="Arial"/>
              </a:rPr>
              <a:t>Ensuring the accuracy and completeness of data by preventing unauthorized modifications, leveraging hashing and code signing.</a:t>
            </a:r>
            <a:endParaRPr sz="1400">
              <a:solidFill>
                <a:schemeClr val="dk1"/>
              </a:solidFill>
              <a:latin typeface="Arial"/>
              <a:ea typeface="Arial"/>
              <a:cs typeface="Arial"/>
              <a:sym typeface="Arial"/>
            </a:endParaRPr>
          </a:p>
        </p:txBody>
      </p:sp>
      <p:sp>
        <p:nvSpPr>
          <p:cNvPr id="385" name="Google Shape;385;p28"/>
          <p:cNvSpPr txBox="1"/>
          <p:nvPr/>
        </p:nvSpPr>
        <p:spPr>
          <a:xfrm>
            <a:off x="7402228" y="1967862"/>
            <a:ext cx="3986529" cy="5740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Arial"/>
                <a:ea typeface="Arial"/>
                <a:cs typeface="Arial"/>
                <a:sym typeface="Arial"/>
              </a:rPr>
              <a:t>The opposite of</a:t>
            </a:r>
            <a:endParaRPr sz="18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lang="en-US" sz="1800">
                <a:solidFill>
                  <a:schemeClr val="dk1"/>
                </a:solidFill>
                <a:latin typeface="Arial"/>
                <a:ea typeface="Arial"/>
                <a:cs typeface="Arial"/>
                <a:sym typeface="Arial"/>
              </a:rPr>
              <a:t>Disclosure-Alteration-Destruction (DAD)</a:t>
            </a:r>
            <a:endParaRPr sz="18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Confidentiality</a:t>
            </a:r>
            <a:endParaRPr/>
          </a:p>
        </p:txBody>
      </p:sp>
      <p:sp>
        <p:nvSpPr>
          <p:cNvPr id="391" name="Google Shape;391;p29"/>
          <p:cNvSpPr txBox="1"/>
          <p:nvPr/>
        </p:nvSpPr>
        <p:spPr>
          <a:xfrm>
            <a:off x="3665982" y="1453133"/>
            <a:ext cx="6750050" cy="1597660"/>
          </a:xfrm>
          <a:prstGeom prst="rect">
            <a:avLst/>
          </a:prstGeom>
          <a:solidFill>
            <a:srgbClr val="E97031"/>
          </a:solidFill>
          <a:ln cap="flat" cmpd="sng" w="19050">
            <a:solidFill>
              <a:srgbClr val="042333"/>
            </a:solidFill>
            <a:prstDash val="solid"/>
            <a:round/>
            <a:headEnd len="sm" w="sm" type="none"/>
            <a:tailEnd len="sm" w="sm" type="none"/>
          </a:ln>
        </p:spPr>
        <p:txBody>
          <a:bodyPr anchorCtr="0" anchor="t" bIns="0" lIns="0" spcFirstLastPara="1" rIns="0" wrap="square" tIns="154925">
            <a:spAutoFit/>
          </a:bodyPr>
          <a:lstStyle/>
          <a:p>
            <a:pPr indent="1269" lvl="0" marL="266065" marR="261620" rtl="0" algn="ctr">
              <a:lnSpc>
                <a:spcPct val="100000"/>
              </a:lnSpc>
              <a:spcBef>
                <a:spcPts val="0"/>
              </a:spcBef>
              <a:spcAft>
                <a:spcPts val="0"/>
              </a:spcAft>
              <a:buNone/>
            </a:pPr>
            <a:r>
              <a:rPr lang="en-US" sz="1800">
                <a:solidFill>
                  <a:srgbClr val="FFFFFF"/>
                </a:solidFill>
                <a:latin typeface="Arial"/>
                <a:ea typeface="Arial"/>
                <a:cs typeface="Arial"/>
                <a:sym typeface="Arial"/>
              </a:rPr>
              <a:t>Preserving authorized restrictions on information access and disclosure, including means for protecting personal privacy and proprietary information</a:t>
            </a:r>
            <a:endParaRPr sz="1800">
              <a:solidFill>
                <a:schemeClr val="dk1"/>
              </a:solidFill>
              <a:latin typeface="Arial"/>
              <a:ea typeface="Arial"/>
              <a:cs typeface="Arial"/>
              <a:sym typeface="Arial"/>
            </a:endParaRPr>
          </a:p>
          <a:p>
            <a:pPr indent="0" lvl="0" marL="441325" marR="435609" rtl="0" algn="ctr">
              <a:lnSpc>
                <a:spcPct val="100000"/>
              </a:lnSpc>
              <a:spcBef>
                <a:spcPts val="40"/>
              </a:spcBef>
              <a:spcAft>
                <a:spcPts val="0"/>
              </a:spcAft>
              <a:buNone/>
            </a:pPr>
            <a:r>
              <a:rPr lang="en-US" sz="1400">
                <a:solidFill>
                  <a:srgbClr val="FFFFFF"/>
                </a:solidFill>
                <a:latin typeface="Arial"/>
                <a:ea typeface="Arial"/>
                <a:cs typeface="Arial"/>
                <a:sym typeface="Arial"/>
              </a:rPr>
              <a:t>Reference: NIST’s FIPS 199—Standards for Security Categorization of Federal Information and Information Systems</a:t>
            </a:r>
            <a:endParaRPr sz="1400">
              <a:solidFill>
                <a:schemeClr val="dk1"/>
              </a:solidFill>
              <a:latin typeface="Arial"/>
              <a:ea typeface="Arial"/>
              <a:cs typeface="Arial"/>
              <a:sym typeface="Arial"/>
            </a:endParaRPr>
          </a:p>
        </p:txBody>
      </p:sp>
      <p:sp>
        <p:nvSpPr>
          <p:cNvPr id="392" name="Google Shape;392;p29"/>
          <p:cNvSpPr txBox="1"/>
          <p:nvPr/>
        </p:nvSpPr>
        <p:spPr>
          <a:xfrm>
            <a:off x="3665982" y="3393185"/>
            <a:ext cx="6750050" cy="1270000"/>
          </a:xfrm>
          <a:prstGeom prst="rect">
            <a:avLst/>
          </a:prstGeom>
          <a:solidFill>
            <a:srgbClr val="205F9A"/>
          </a:solidFill>
          <a:ln cap="flat" cmpd="sng" w="19050">
            <a:solidFill>
              <a:srgbClr val="042333"/>
            </a:solidFill>
            <a:prstDash val="solid"/>
            <a:round/>
            <a:headEnd len="sm" w="sm" type="none"/>
            <a:tailEnd len="sm" w="sm" type="none"/>
          </a:ln>
        </p:spPr>
        <p:txBody>
          <a:bodyPr anchorCtr="0" anchor="t" bIns="0" lIns="0" spcFirstLastPara="1" rIns="0" wrap="square" tIns="203825">
            <a:spAutoFit/>
          </a:bodyPr>
          <a:lstStyle/>
          <a:p>
            <a:pPr indent="-1905" lvl="0" marL="266065" marR="260984" rtl="0" algn="ctr">
              <a:lnSpc>
                <a:spcPct val="100000"/>
              </a:lnSpc>
              <a:spcBef>
                <a:spcPts val="0"/>
              </a:spcBef>
              <a:spcAft>
                <a:spcPts val="0"/>
              </a:spcAft>
              <a:buNone/>
            </a:pPr>
            <a:r>
              <a:rPr lang="en-US" sz="1800">
                <a:solidFill>
                  <a:srgbClr val="FFFFFF"/>
                </a:solidFill>
                <a:latin typeface="Arial"/>
                <a:ea typeface="Arial"/>
                <a:cs typeface="Arial"/>
                <a:sym typeface="Arial"/>
              </a:rPr>
              <a:t>Sensitive data and information must be protected at all times whether in transit across a network, at rest on storage media, or while being leveraged by an application.</a:t>
            </a:r>
            <a:endParaRPr sz="1800">
              <a:solidFill>
                <a:schemeClr val="dk1"/>
              </a:solidFill>
              <a:latin typeface="Arial"/>
              <a:ea typeface="Arial"/>
              <a:cs typeface="Arial"/>
              <a:sym typeface="Arial"/>
            </a:endParaRPr>
          </a:p>
        </p:txBody>
      </p:sp>
      <p:sp>
        <p:nvSpPr>
          <p:cNvPr id="393" name="Google Shape;393;p29"/>
          <p:cNvSpPr txBox="1"/>
          <p:nvPr/>
        </p:nvSpPr>
        <p:spPr>
          <a:xfrm>
            <a:off x="3665982" y="5005578"/>
            <a:ext cx="6750050" cy="1268095"/>
          </a:xfrm>
          <a:prstGeom prst="rect">
            <a:avLst/>
          </a:prstGeom>
          <a:solidFill>
            <a:srgbClr val="46B0E0"/>
          </a:solidFill>
          <a:ln cap="flat" cmpd="sng" w="19050">
            <a:solidFill>
              <a:srgbClr val="042333"/>
            </a:solidFill>
            <a:prstDash val="solid"/>
            <a:round/>
            <a:headEnd len="sm" w="sm" type="none"/>
            <a:tailEnd len="sm" w="sm" type="none"/>
          </a:ln>
        </p:spPr>
        <p:txBody>
          <a:bodyPr anchorCtr="0" anchor="t" bIns="0" lIns="0" spcFirstLastPara="1" rIns="0" wrap="square" tIns="214625">
            <a:spAutoFit/>
          </a:bodyPr>
          <a:lstStyle/>
          <a:p>
            <a:pPr indent="0" lvl="0" marL="0" marR="0" rtl="0" algn="l">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800">
                <a:solidFill>
                  <a:srgbClr val="FFFFFF"/>
                </a:solidFill>
                <a:latin typeface="Arial"/>
                <a:ea typeface="Arial"/>
                <a:cs typeface="Arial"/>
                <a:sym typeface="Arial"/>
              </a:rPr>
              <a:t>Encryption and Access Control</a:t>
            </a:r>
            <a:endParaRPr sz="1800">
              <a:solidFill>
                <a:schemeClr val="dk1"/>
              </a:solidFill>
              <a:latin typeface="Arial"/>
              <a:ea typeface="Arial"/>
              <a:cs typeface="Arial"/>
              <a:sym typeface="Arial"/>
            </a:endParaRPr>
          </a:p>
        </p:txBody>
      </p:sp>
      <p:sp>
        <p:nvSpPr>
          <p:cNvPr id="394" name="Google Shape;394;p29"/>
          <p:cNvSpPr txBox="1"/>
          <p:nvPr/>
        </p:nvSpPr>
        <p:spPr>
          <a:xfrm>
            <a:off x="671322" y="1826514"/>
            <a:ext cx="2406650" cy="577850"/>
          </a:xfrm>
          <a:prstGeom prst="rect">
            <a:avLst/>
          </a:prstGeom>
          <a:solidFill>
            <a:srgbClr val="E97031"/>
          </a:solidFill>
          <a:ln cap="flat" cmpd="sng" w="19050">
            <a:solidFill>
              <a:srgbClr val="042333"/>
            </a:solidFill>
            <a:prstDash val="solid"/>
            <a:round/>
            <a:headEnd len="sm" w="sm" type="none"/>
            <a:tailEnd len="sm" w="sm" type="none"/>
          </a:ln>
        </p:spPr>
        <p:txBody>
          <a:bodyPr anchorCtr="0" anchor="t" bIns="0" lIns="0" spcFirstLastPara="1" rIns="0" wrap="square" tIns="132075">
            <a:spAutoFit/>
          </a:bodyPr>
          <a:lstStyle/>
          <a:p>
            <a:pPr indent="0" lvl="0" marL="719455" marR="0" rtl="0" algn="l">
              <a:lnSpc>
                <a:spcPct val="100000"/>
              </a:lnSpc>
              <a:spcBef>
                <a:spcPts val="0"/>
              </a:spcBef>
              <a:spcAft>
                <a:spcPts val="0"/>
              </a:spcAft>
              <a:buNone/>
            </a:pPr>
            <a:r>
              <a:rPr lang="en-US" sz="1800">
                <a:solidFill>
                  <a:srgbClr val="FFFFFF"/>
                </a:solidFill>
                <a:latin typeface="Arial"/>
                <a:ea typeface="Arial"/>
                <a:cs typeface="Arial"/>
                <a:sym typeface="Arial"/>
              </a:rPr>
              <a:t>Definition</a:t>
            </a:r>
            <a:endParaRPr sz="1800">
              <a:solidFill>
                <a:schemeClr val="dk1"/>
              </a:solidFill>
              <a:latin typeface="Arial"/>
              <a:ea typeface="Arial"/>
              <a:cs typeface="Arial"/>
              <a:sym typeface="Arial"/>
            </a:endParaRPr>
          </a:p>
        </p:txBody>
      </p:sp>
      <p:sp>
        <p:nvSpPr>
          <p:cNvPr id="395" name="Google Shape;395;p29"/>
          <p:cNvSpPr txBox="1"/>
          <p:nvPr/>
        </p:nvSpPr>
        <p:spPr>
          <a:xfrm>
            <a:off x="592073" y="3601973"/>
            <a:ext cx="2486025" cy="588645"/>
          </a:xfrm>
          <a:prstGeom prst="rect">
            <a:avLst/>
          </a:prstGeom>
          <a:solidFill>
            <a:srgbClr val="205F9A"/>
          </a:solidFill>
          <a:ln cap="flat" cmpd="sng" w="19050">
            <a:solidFill>
              <a:srgbClr val="042333"/>
            </a:solidFill>
            <a:prstDash val="solid"/>
            <a:round/>
            <a:headEnd len="sm" w="sm" type="none"/>
            <a:tailEnd len="sm" w="sm" type="none"/>
          </a:ln>
        </p:spPr>
        <p:txBody>
          <a:bodyPr anchorCtr="0" anchor="t" bIns="0" lIns="0" spcFirstLastPara="1" rIns="0" wrap="square" tIns="137775">
            <a:spAutoFit/>
          </a:bodyPr>
          <a:lstStyle/>
          <a:p>
            <a:pPr indent="0" lvl="0" marL="0" marR="0" rtl="0" algn="ctr">
              <a:lnSpc>
                <a:spcPct val="100000"/>
              </a:lnSpc>
              <a:spcBef>
                <a:spcPts val="0"/>
              </a:spcBef>
              <a:spcAft>
                <a:spcPts val="0"/>
              </a:spcAft>
              <a:buNone/>
            </a:pPr>
            <a:r>
              <a:rPr lang="en-US" sz="1800">
                <a:solidFill>
                  <a:srgbClr val="FFFFFF"/>
                </a:solidFill>
                <a:latin typeface="Arial"/>
                <a:ea typeface="Arial"/>
                <a:cs typeface="Arial"/>
                <a:sym typeface="Arial"/>
              </a:rPr>
              <a:t>Goal</a:t>
            </a:r>
            <a:endParaRPr sz="1800">
              <a:solidFill>
                <a:schemeClr val="dk1"/>
              </a:solidFill>
              <a:latin typeface="Arial"/>
              <a:ea typeface="Arial"/>
              <a:cs typeface="Arial"/>
              <a:sym typeface="Arial"/>
            </a:endParaRPr>
          </a:p>
        </p:txBody>
      </p:sp>
      <p:sp>
        <p:nvSpPr>
          <p:cNvPr id="396" name="Google Shape;396;p29"/>
          <p:cNvSpPr txBox="1"/>
          <p:nvPr/>
        </p:nvSpPr>
        <p:spPr>
          <a:xfrm>
            <a:off x="592073" y="5375909"/>
            <a:ext cx="2486025" cy="527685"/>
          </a:xfrm>
          <a:prstGeom prst="rect">
            <a:avLst/>
          </a:prstGeom>
          <a:solidFill>
            <a:srgbClr val="46B0E0"/>
          </a:solidFill>
          <a:ln cap="flat" cmpd="sng" w="19050">
            <a:solidFill>
              <a:srgbClr val="042333"/>
            </a:solidFill>
            <a:prstDash val="solid"/>
            <a:round/>
            <a:headEnd len="sm" w="sm" type="none"/>
            <a:tailEnd len="sm" w="sm" type="none"/>
          </a:ln>
        </p:spPr>
        <p:txBody>
          <a:bodyPr anchorCtr="0" anchor="t" bIns="0" lIns="0" spcFirstLastPara="1" rIns="0" wrap="square" tIns="107300">
            <a:spAutoFit/>
          </a:bodyPr>
          <a:lstStyle/>
          <a:p>
            <a:pPr indent="0" lvl="0" marL="443865" marR="0" rtl="0" algn="l">
              <a:lnSpc>
                <a:spcPct val="100000"/>
              </a:lnSpc>
              <a:spcBef>
                <a:spcPts val="0"/>
              </a:spcBef>
              <a:spcAft>
                <a:spcPts val="0"/>
              </a:spcAft>
              <a:buNone/>
            </a:pPr>
            <a:r>
              <a:rPr lang="en-US" sz="1800">
                <a:solidFill>
                  <a:srgbClr val="FFFFFF"/>
                </a:solidFill>
                <a:latin typeface="Arial"/>
                <a:ea typeface="Arial"/>
                <a:cs typeface="Arial"/>
                <a:sym typeface="Arial"/>
              </a:rPr>
              <a:t>Security Control</a:t>
            </a:r>
            <a:endParaRPr sz="18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Confidentiality : Encryption</a:t>
            </a:r>
            <a:endParaRPr/>
          </a:p>
        </p:txBody>
      </p:sp>
      <p:sp>
        <p:nvSpPr>
          <p:cNvPr id="402" name="Google Shape;402;p30"/>
          <p:cNvSpPr txBox="1"/>
          <p:nvPr/>
        </p:nvSpPr>
        <p:spPr>
          <a:xfrm>
            <a:off x="1919635" y="1413488"/>
            <a:ext cx="8103234" cy="4140200"/>
          </a:xfrm>
          <a:prstGeom prst="rect">
            <a:avLst/>
          </a:prstGeom>
          <a:noFill/>
          <a:ln>
            <a:noFill/>
          </a:ln>
        </p:spPr>
        <p:txBody>
          <a:bodyPr anchorCtr="0" anchor="t" bIns="0" lIns="0" spcFirstLastPara="1" rIns="0" wrap="square" tIns="12700">
            <a:spAutoFit/>
          </a:bodyPr>
          <a:lstStyle/>
          <a:p>
            <a:pPr indent="-285750" lvl="0" marL="297815" marR="10160" rtl="0" algn="just">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Encryption is the process of converting or scrambling data and information into an unreadable, encoded version that can only be read with authorized access.</a:t>
            </a:r>
            <a:endParaRPr sz="1800">
              <a:solidFill>
                <a:schemeClr val="dk1"/>
              </a:solidFill>
              <a:latin typeface="Arial"/>
              <a:ea typeface="Arial"/>
              <a:cs typeface="Arial"/>
              <a:sym typeface="Arial"/>
            </a:endParaRPr>
          </a:p>
          <a:p>
            <a:pPr indent="0" lvl="0" marL="0" marR="0" rtl="0" algn="l">
              <a:lnSpc>
                <a:spcPct val="100000"/>
              </a:lnSpc>
              <a:spcBef>
                <a:spcPts val="9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7019" lvl="0" marL="299085" marR="5080" rtl="0" algn="just">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Encryption is a widely used security tool that can prevent the interception of sensitive data, either while stored in files or while in transit across networks.</a:t>
            </a:r>
            <a:endParaRPr sz="1800">
              <a:solidFill>
                <a:schemeClr val="dk1"/>
              </a:solidFill>
              <a:latin typeface="Arial"/>
              <a:ea typeface="Arial"/>
              <a:cs typeface="Arial"/>
              <a:sym typeface="Arial"/>
            </a:endParaRPr>
          </a:p>
          <a:p>
            <a:pPr indent="0" lvl="0" marL="0" marR="0" rtl="0" algn="l">
              <a:lnSpc>
                <a:spcPct val="100000"/>
              </a:lnSpc>
              <a:spcBef>
                <a:spcPts val="9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6385" lvl="0" marL="298450" marR="6350" rtl="0" algn="just">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Encryption of data in transit and technologies that might be used for this purpose (e.g., TLS 1.3) - Transport Layer Security (TLS) is in common use.</a:t>
            </a:r>
            <a:endParaRPr sz="1800">
              <a:solidFill>
                <a:schemeClr val="dk1"/>
              </a:solidFill>
              <a:latin typeface="Arial"/>
              <a:ea typeface="Arial"/>
              <a:cs typeface="Arial"/>
              <a:sym typeface="Arial"/>
            </a:endParaRPr>
          </a:p>
          <a:p>
            <a:pPr indent="0" lvl="0" marL="0" marR="0" rtl="0" algn="l">
              <a:lnSpc>
                <a:spcPct val="100000"/>
              </a:lnSpc>
              <a:spcBef>
                <a:spcPts val="9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0" marL="297815" marR="9525" rtl="0" algn="just">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Encryption of data at rest, in the database using Advanced Encryption Standard (AES) 256 through Transparent Data Encryption (TDE).</a:t>
            </a:r>
            <a:endParaRPr sz="1800">
              <a:solidFill>
                <a:schemeClr val="dk1"/>
              </a:solidFill>
              <a:latin typeface="Arial"/>
              <a:ea typeface="Arial"/>
              <a:cs typeface="Arial"/>
              <a:sym typeface="Arial"/>
            </a:endParaRPr>
          </a:p>
          <a:p>
            <a:pPr indent="0" lvl="0" marL="0" marR="0" rtl="0" algn="l">
              <a:lnSpc>
                <a:spcPct val="100000"/>
              </a:lnSpc>
              <a:spcBef>
                <a:spcPts val="9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7019" lvl="0" marL="299085" marR="5080" rtl="0" algn="just">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Any network service that handles sensitive or valuable data, whether it is personally identifiable information (PII), financial data, or login information, needs to adequately protect that data.</a:t>
            </a:r>
            <a:endParaRPr sz="18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1"/>
          <p:cNvSpPr txBox="1"/>
          <p:nvPr>
            <p:ph type="title"/>
          </p:nvPr>
        </p:nvSpPr>
        <p:spPr>
          <a:xfrm>
            <a:off x="1364974"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Confidentiality : Encryption</a:t>
            </a:r>
            <a:endParaRPr/>
          </a:p>
        </p:txBody>
      </p:sp>
      <p:grpSp>
        <p:nvGrpSpPr>
          <p:cNvPr id="408" name="Google Shape;408;p31"/>
          <p:cNvGrpSpPr/>
          <p:nvPr/>
        </p:nvGrpSpPr>
        <p:grpSpPr>
          <a:xfrm>
            <a:off x="168973" y="2090737"/>
            <a:ext cx="5756910" cy="3298825"/>
            <a:chOff x="168973" y="2090737"/>
            <a:chExt cx="5756910" cy="3298825"/>
          </a:xfrm>
        </p:grpSpPr>
        <p:pic>
          <p:nvPicPr>
            <p:cNvPr id="409" name="Google Shape;409;p31"/>
            <p:cNvPicPr preferRelativeResize="0"/>
            <p:nvPr/>
          </p:nvPicPr>
          <p:blipFill rotWithShape="1">
            <a:blip r:embed="rId3">
              <a:alphaModFix/>
            </a:blip>
            <a:srcRect b="0" l="0" r="0" t="0"/>
            <a:stretch/>
          </p:blipFill>
          <p:spPr>
            <a:xfrm>
              <a:off x="173736" y="2095500"/>
              <a:ext cx="5746888" cy="3286785"/>
            </a:xfrm>
            <a:prstGeom prst="rect">
              <a:avLst/>
            </a:prstGeom>
            <a:noFill/>
            <a:ln>
              <a:noFill/>
            </a:ln>
          </p:spPr>
        </p:pic>
        <p:sp>
          <p:nvSpPr>
            <p:cNvPr id="410" name="Google Shape;410;p31"/>
            <p:cNvSpPr/>
            <p:nvPr/>
          </p:nvSpPr>
          <p:spPr>
            <a:xfrm>
              <a:off x="168973" y="2090737"/>
              <a:ext cx="5756910" cy="3298825"/>
            </a:xfrm>
            <a:custGeom>
              <a:rect b="b" l="l" r="r" t="t"/>
              <a:pathLst>
                <a:path extrusionOk="0" h="3298825" w="5756910">
                  <a:moveTo>
                    <a:pt x="0" y="0"/>
                  </a:moveTo>
                  <a:lnTo>
                    <a:pt x="5756529" y="0"/>
                  </a:lnTo>
                  <a:lnTo>
                    <a:pt x="5756529" y="3298316"/>
                  </a:lnTo>
                  <a:lnTo>
                    <a:pt x="0" y="3298316"/>
                  </a:lnTo>
                  <a:lnTo>
                    <a:pt x="0" y="0"/>
                  </a:lnTo>
                  <a:close/>
                </a:path>
              </a:pathLst>
            </a:custGeom>
            <a:noFill/>
            <a:ln cap="flat" cmpd="sng" w="9525">
              <a:solidFill>
                <a:srgbClr val="04233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1" name="Google Shape;411;p31"/>
          <p:cNvGrpSpPr/>
          <p:nvPr/>
        </p:nvGrpSpPr>
        <p:grpSpPr>
          <a:xfrm>
            <a:off x="6089713" y="2090737"/>
            <a:ext cx="5861685" cy="3298825"/>
            <a:chOff x="6089713" y="2090737"/>
            <a:chExt cx="5861685" cy="3298825"/>
          </a:xfrm>
        </p:grpSpPr>
        <p:pic>
          <p:nvPicPr>
            <p:cNvPr id="412" name="Google Shape;412;p31"/>
            <p:cNvPicPr preferRelativeResize="0"/>
            <p:nvPr/>
          </p:nvPicPr>
          <p:blipFill rotWithShape="1">
            <a:blip r:embed="rId4">
              <a:alphaModFix/>
            </a:blip>
            <a:srcRect b="0" l="0" r="0" t="0"/>
            <a:stretch/>
          </p:blipFill>
          <p:spPr>
            <a:xfrm>
              <a:off x="6094476" y="2095500"/>
              <a:ext cx="5852159" cy="3288791"/>
            </a:xfrm>
            <a:prstGeom prst="rect">
              <a:avLst/>
            </a:prstGeom>
            <a:noFill/>
            <a:ln>
              <a:noFill/>
            </a:ln>
          </p:spPr>
        </p:pic>
        <p:sp>
          <p:nvSpPr>
            <p:cNvPr id="413" name="Google Shape;413;p31"/>
            <p:cNvSpPr/>
            <p:nvPr/>
          </p:nvSpPr>
          <p:spPr>
            <a:xfrm>
              <a:off x="6089713" y="2090737"/>
              <a:ext cx="5861685" cy="3298825"/>
            </a:xfrm>
            <a:custGeom>
              <a:rect b="b" l="l" r="r" t="t"/>
              <a:pathLst>
                <a:path extrusionOk="0" h="3298825" w="5861684">
                  <a:moveTo>
                    <a:pt x="0" y="0"/>
                  </a:moveTo>
                  <a:lnTo>
                    <a:pt x="5861685" y="0"/>
                  </a:lnTo>
                  <a:lnTo>
                    <a:pt x="5861685" y="3298316"/>
                  </a:lnTo>
                  <a:lnTo>
                    <a:pt x="0" y="3298316"/>
                  </a:lnTo>
                  <a:lnTo>
                    <a:pt x="0" y="0"/>
                  </a:lnTo>
                  <a:close/>
                </a:path>
              </a:pathLst>
            </a:custGeom>
            <a:noFill/>
            <a:ln cap="flat" cmpd="sng" w="9525">
              <a:solidFill>
                <a:srgbClr val="04233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4" name="Google Shape;414;p31"/>
          <p:cNvSpPr txBox="1"/>
          <p:nvPr/>
        </p:nvSpPr>
        <p:spPr>
          <a:xfrm>
            <a:off x="2261958" y="5769498"/>
            <a:ext cx="743394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Arial"/>
                <a:ea typeface="Arial"/>
                <a:cs typeface="Arial"/>
                <a:sym typeface="Arial"/>
              </a:rPr>
              <a:t>Source: https://</a:t>
            </a:r>
            <a:r>
              <a:rPr lang="en-US" sz="1200" u="sng">
                <a:solidFill>
                  <a:schemeClr val="dk1"/>
                </a:solidFill>
                <a:latin typeface="Arial"/>
                <a:ea typeface="Arial"/>
                <a:cs typeface="Arial"/>
                <a:sym typeface="Arial"/>
                <a:hlinkClick r:id="rId5">
                  <a:extLst>
                    <a:ext uri="{A12FA001-AC4F-418D-AE19-62706E023703}">
                      <ahyp:hlinkClr val="tx"/>
                    </a:ext>
                  </a:extLst>
                </a:hlinkClick>
              </a:rPr>
              <a:t>www.cisco.com/c/en/us/products/security/encryption-explained.html#~types-of-data-encryption</a:t>
            </a:r>
            <a:endParaRPr sz="12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Integrity</a:t>
            </a:r>
            <a:endParaRPr/>
          </a:p>
        </p:txBody>
      </p:sp>
      <p:sp>
        <p:nvSpPr>
          <p:cNvPr id="420" name="Google Shape;420;p32"/>
          <p:cNvSpPr txBox="1"/>
          <p:nvPr/>
        </p:nvSpPr>
        <p:spPr>
          <a:xfrm>
            <a:off x="3665982" y="1453133"/>
            <a:ext cx="6750050" cy="1597660"/>
          </a:xfrm>
          <a:prstGeom prst="rect">
            <a:avLst/>
          </a:prstGeom>
          <a:solidFill>
            <a:srgbClr val="E97031"/>
          </a:solidFill>
          <a:ln cap="flat" cmpd="sng" w="19050">
            <a:solidFill>
              <a:srgbClr val="042333"/>
            </a:solidFill>
            <a:prstDash val="solid"/>
            <a:round/>
            <a:headEnd len="sm" w="sm" type="none"/>
            <a:tailEnd len="sm" w="sm" type="none"/>
          </a:ln>
        </p:spPr>
        <p:txBody>
          <a:bodyPr anchorCtr="0" anchor="t" bIns="0" lIns="0" spcFirstLastPara="1" rIns="0" wrap="square" tIns="135875">
            <a:spAutoFit/>
          </a:bodyPr>
          <a:lstStyle/>
          <a:p>
            <a:pPr indent="0" lvl="0" marL="0" marR="0" rtl="0" algn="l">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215265" marR="210820" rtl="0" algn="ctr">
              <a:lnSpc>
                <a:spcPct val="100000"/>
              </a:lnSpc>
              <a:spcBef>
                <a:spcPts val="0"/>
              </a:spcBef>
              <a:spcAft>
                <a:spcPts val="0"/>
              </a:spcAft>
              <a:buNone/>
            </a:pPr>
            <a:r>
              <a:rPr lang="en-US" sz="1800">
                <a:solidFill>
                  <a:srgbClr val="FFFFFF"/>
                </a:solidFill>
                <a:latin typeface="Arial"/>
                <a:ea typeface="Arial"/>
                <a:cs typeface="Arial"/>
                <a:sym typeface="Arial"/>
              </a:rPr>
              <a:t>A property whereby data has not been altered in an unauthorized manner since it was created, transmitted, or stored</a:t>
            </a:r>
            <a:endParaRPr sz="1800">
              <a:solidFill>
                <a:schemeClr val="dk1"/>
              </a:solidFill>
              <a:latin typeface="Arial"/>
              <a:ea typeface="Arial"/>
              <a:cs typeface="Arial"/>
              <a:sym typeface="Arial"/>
            </a:endParaRPr>
          </a:p>
          <a:p>
            <a:pPr indent="0" lvl="0" marL="0" marR="0" rtl="0" algn="ctr">
              <a:lnSpc>
                <a:spcPct val="100000"/>
              </a:lnSpc>
              <a:spcBef>
                <a:spcPts val="40"/>
              </a:spcBef>
              <a:spcAft>
                <a:spcPts val="0"/>
              </a:spcAft>
              <a:buNone/>
            </a:pPr>
            <a:r>
              <a:rPr lang="en-US" sz="1400">
                <a:solidFill>
                  <a:srgbClr val="FFFFFF"/>
                </a:solidFill>
                <a:latin typeface="Arial"/>
                <a:ea typeface="Arial"/>
                <a:cs typeface="Arial"/>
                <a:sym typeface="Arial"/>
              </a:rPr>
              <a:t>Reference: NIST - National Institute of Standards and Technology;</a:t>
            </a:r>
            <a:endParaRPr sz="1400">
              <a:solidFill>
                <a:schemeClr val="dk1"/>
              </a:solidFill>
              <a:latin typeface="Arial"/>
              <a:ea typeface="Arial"/>
              <a:cs typeface="Arial"/>
              <a:sym typeface="Arial"/>
            </a:endParaRPr>
          </a:p>
        </p:txBody>
      </p:sp>
      <p:sp>
        <p:nvSpPr>
          <p:cNvPr id="421" name="Google Shape;421;p32"/>
          <p:cNvSpPr txBox="1"/>
          <p:nvPr/>
        </p:nvSpPr>
        <p:spPr>
          <a:xfrm>
            <a:off x="3665982" y="3278885"/>
            <a:ext cx="6750050" cy="1498600"/>
          </a:xfrm>
          <a:prstGeom prst="rect">
            <a:avLst/>
          </a:prstGeom>
          <a:solidFill>
            <a:srgbClr val="205F9A"/>
          </a:solidFill>
          <a:ln cap="flat" cmpd="sng" w="19050">
            <a:solidFill>
              <a:srgbClr val="042333"/>
            </a:solidFill>
            <a:prstDash val="solid"/>
            <a:round/>
            <a:headEnd len="sm" w="sm" type="none"/>
            <a:tailEnd len="sm" w="sm" type="none"/>
          </a:ln>
        </p:spPr>
        <p:txBody>
          <a:bodyPr anchorCtr="0" anchor="t" bIns="0" lIns="0" spcFirstLastPara="1" rIns="0" wrap="square" tIns="43800">
            <a:spAutoFit/>
          </a:bodyPr>
          <a:lstStyle/>
          <a:p>
            <a:pPr indent="-342900" lvl="0" marL="573405" marR="0" rtl="0" algn="l">
              <a:lnSpc>
                <a:spcPct val="100000"/>
              </a:lnSpc>
              <a:spcBef>
                <a:spcPts val="0"/>
              </a:spcBef>
              <a:spcAft>
                <a:spcPts val="0"/>
              </a:spcAft>
              <a:buClr>
                <a:srgbClr val="FFFFFF"/>
              </a:buClr>
              <a:buSzPts val="1800"/>
              <a:buFont typeface="Arial"/>
              <a:buAutoNum type="arabicPeriod"/>
            </a:pPr>
            <a:r>
              <a:rPr lang="en-US" sz="1800">
                <a:solidFill>
                  <a:srgbClr val="FFFFFF"/>
                </a:solidFill>
                <a:latin typeface="Arial"/>
                <a:ea typeface="Arial"/>
                <a:cs typeface="Arial"/>
                <a:sym typeface="Arial"/>
              </a:rPr>
              <a:t>Modifications are not made to data by unauthorized subjects</a:t>
            </a:r>
            <a:endParaRPr sz="1800">
              <a:solidFill>
                <a:schemeClr val="dk1"/>
              </a:solidFill>
              <a:latin typeface="Arial"/>
              <a:ea typeface="Arial"/>
              <a:cs typeface="Arial"/>
              <a:sym typeface="Arial"/>
            </a:endParaRPr>
          </a:p>
          <a:p>
            <a:pPr indent="0" lvl="0" marL="2291080" marR="0" rtl="0" algn="l">
              <a:lnSpc>
                <a:spcPct val="100000"/>
              </a:lnSpc>
              <a:spcBef>
                <a:spcPts val="0"/>
              </a:spcBef>
              <a:spcAft>
                <a:spcPts val="0"/>
              </a:spcAft>
              <a:buNone/>
            </a:pPr>
            <a:r>
              <a:rPr lang="en-US" sz="1800">
                <a:solidFill>
                  <a:srgbClr val="FFFFFF"/>
                </a:solidFill>
                <a:latin typeface="Arial"/>
                <a:ea typeface="Arial"/>
                <a:cs typeface="Arial"/>
                <a:sym typeface="Arial"/>
              </a:rPr>
              <a:t>(personnel or processes).</a:t>
            </a:r>
            <a:endParaRPr sz="1800">
              <a:solidFill>
                <a:schemeClr val="dk1"/>
              </a:solidFill>
              <a:latin typeface="Arial"/>
              <a:ea typeface="Arial"/>
              <a:cs typeface="Arial"/>
              <a:sym typeface="Arial"/>
            </a:endParaRPr>
          </a:p>
          <a:p>
            <a:pPr indent="-342265" lvl="0" marL="448309" marR="0" rtl="0" algn="l">
              <a:lnSpc>
                <a:spcPct val="100000"/>
              </a:lnSpc>
              <a:spcBef>
                <a:spcPts val="0"/>
              </a:spcBef>
              <a:spcAft>
                <a:spcPts val="0"/>
              </a:spcAft>
              <a:buClr>
                <a:srgbClr val="FFFFFF"/>
              </a:buClr>
              <a:buSzPts val="1800"/>
              <a:buFont typeface="Arial"/>
              <a:buAutoNum type="arabicPeriod" startAt="2"/>
            </a:pPr>
            <a:r>
              <a:rPr lang="en-US" sz="1800">
                <a:solidFill>
                  <a:srgbClr val="FFFFFF"/>
                </a:solidFill>
                <a:latin typeface="Arial"/>
                <a:ea typeface="Arial"/>
                <a:cs typeface="Arial"/>
                <a:sym typeface="Arial"/>
              </a:rPr>
              <a:t>Unauthorized modifications are not made to data by authorized</a:t>
            </a:r>
            <a:endParaRPr sz="1800">
              <a:solidFill>
                <a:schemeClr val="dk1"/>
              </a:solidFill>
              <a:latin typeface="Arial"/>
              <a:ea typeface="Arial"/>
              <a:cs typeface="Arial"/>
              <a:sym typeface="Arial"/>
            </a:endParaRPr>
          </a:p>
          <a:p>
            <a:pPr indent="0" lvl="0" marL="3089910" marR="0" rtl="0" algn="l">
              <a:lnSpc>
                <a:spcPct val="100000"/>
              </a:lnSpc>
              <a:spcBef>
                <a:spcPts val="0"/>
              </a:spcBef>
              <a:spcAft>
                <a:spcPts val="0"/>
              </a:spcAft>
              <a:buNone/>
            </a:pPr>
            <a:r>
              <a:rPr lang="en-US" sz="1800">
                <a:solidFill>
                  <a:srgbClr val="FFFFFF"/>
                </a:solidFill>
                <a:latin typeface="Arial"/>
                <a:ea typeface="Arial"/>
                <a:cs typeface="Arial"/>
                <a:sym typeface="Arial"/>
              </a:rPr>
              <a:t>subjects.</a:t>
            </a:r>
            <a:endParaRPr sz="1800">
              <a:solidFill>
                <a:schemeClr val="dk1"/>
              </a:solidFill>
              <a:latin typeface="Arial"/>
              <a:ea typeface="Arial"/>
              <a:cs typeface="Arial"/>
              <a:sym typeface="Arial"/>
            </a:endParaRPr>
          </a:p>
          <a:p>
            <a:pPr indent="-342900" lvl="0" marL="1243965" marR="0" rtl="0" algn="l">
              <a:lnSpc>
                <a:spcPct val="100000"/>
              </a:lnSpc>
              <a:spcBef>
                <a:spcPts val="0"/>
              </a:spcBef>
              <a:spcAft>
                <a:spcPts val="0"/>
              </a:spcAft>
              <a:buClr>
                <a:srgbClr val="FFFFFF"/>
              </a:buClr>
              <a:buSzPts val="1800"/>
              <a:buFont typeface="Arial"/>
              <a:buAutoNum type="arabicPeriod" startAt="3"/>
            </a:pPr>
            <a:r>
              <a:rPr lang="en-US" sz="1800">
                <a:solidFill>
                  <a:srgbClr val="FFFFFF"/>
                </a:solidFill>
                <a:latin typeface="Arial"/>
                <a:ea typeface="Arial"/>
                <a:cs typeface="Arial"/>
                <a:sym typeface="Arial"/>
              </a:rPr>
              <a:t>The data is internally and externally consistent.</a:t>
            </a:r>
            <a:endParaRPr sz="1800">
              <a:solidFill>
                <a:schemeClr val="dk1"/>
              </a:solidFill>
              <a:latin typeface="Arial"/>
              <a:ea typeface="Arial"/>
              <a:cs typeface="Arial"/>
              <a:sym typeface="Arial"/>
            </a:endParaRPr>
          </a:p>
        </p:txBody>
      </p:sp>
      <p:sp>
        <p:nvSpPr>
          <p:cNvPr id="422" name="Google Shape;422;p32"/>
          <p:cNvSpPr txBox="1"/>
          <p:nvPr/>
        </p:nvSpPr>
        <p:spPr>
          <a:xfrm>
            <a:off x="3665982" y="5005578"/>
            <a:ext cx="6750050" cy="1268095"/>
          </a:xfrm>
          <a:prstGeom prst="rect">
            <a:avLst/>
          </a:prstGeom>
          <a:solidFill>
            <a:srgbClr val="46B0E0"/>
          </a:solidFill>
          <a:ln cap="flat" cmpd="sng" w="19050">
            <a:solidFill>
              <a:srgbClr val="042333"/>
            </a:solidFill>
            <a:prstDash val="solid"/>
            <a:round/>
            <a:headEnd len="sm" w="sm" type="none"/>
            <a:tailEnd len="sm" w="sm" type="none"/>
          </a:ln>
        </p:spPr>
        <p:txBody>
          <a:bodyPr anchorCtr="0" anchor="t" bIns="0" lIns="0" spcFirstLastPara="1" rIns="0" wrap="square" tIns="214625">
            <a:spAutoFit/>
          </a:bodyPr>
          <a:lstStyle/>
          <a:p>
            <a:pPr indent="0" lvl="0" marL="0" marR="0" rtl="0" algn="l">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800">
                <a:solidFill>
                  <a:srgbClr val="FFFFFF"/>
                </a:solidFill>
                <a:latin typeface="Arial"/>
                <a:ea typeface="Arial"/>
                <a:cs typeface="Arial"/>
                <a:sym typeface="Arial"/>
              </a:rPr>
              <a:t>Hashing, Digital Signature and Code Signing</a:t>
            </a:r>
            <a:endParaRPr sz="1800">
              <a:solidFill>
                <a:schemeClr val="dk1"/>
              </a:solidFill>
              <a:latin typeface="Arial"/>
              <a:ea typeface="Arial"/>
              <a:cs typeface="Arial"/>
              <a:sym typeface="Arial"/>
            </a:endParaRPr>
          </a:p>
        </p:txBody>
      </p:sp>
      <p:sp>
        <p:nvSpPr>
          <p:cNvPr id="423" name="Google Shape;423;p32"/>
          <p:cNvSpPr txBox="1"/>
          <p:nvPr/>
        </p:nvSpPr>
        <p:spPr>
          <a:xfrm>
            <a:off x="671322" y="1826514"/>
            <a:ext cx="2406650" cy="577850"/>
          </a:xfrm>
          <a:prstGeom prst="rect">
            <a:avLst/>
          </a:prstGeom>
          <a:solidFill>
            <a:srgbClr val="E97031"/>
          </a:solidFill>
          <a:ln cap="flat" cmpd="sng" w="19050">
            <a:solidFill>
              <a:srgbClr val="042333"/>
            </a:solidFill>
            <a:prstDash val="solid"/>
            <a:round/>
            <a:headEnd len="sm" w="sm" type="none"/>
            <a:tailEnd len="sm" w="sm" type="none"/>
          </a:ln>
        </p:spPr>
        <p:txBody>
          <a:bodyPr anchorCtr="0" anchor="t" bIns="0" lIns="0" spcFirstLastPara="1" rIns="0" wrap="square" tIns="132075">
            <a:spAutoFit/>
          </a:bodyPr>
          <a:lstStyle/>
          <a:p>
            <a:pPr indent="0" lvl="0" marL="719455" marR="0" rtl="0" algn="l">
              <a:lnSpc>
                <a:spcPct val="100000"/>
              </a:lnSpc>
              <a:spcBef>
                <a:spcPts val="0"/>
              </a:spcBef>
              <a:spcAft>
                <a:spcPts val="0"/>
              </a:spcAft>
              <a:buNone/>
            </a:pPr>
            <a:r>
              <a:rPr lang="en-US" sz="1800">
                <a:solidFill>
                  <a:srgbClr val="FFFFFF"/>
                </a:solidFill>
                <a:latin typeface="Arial"/>
                <a:ea typeface="Arial"/>
                <a:cs typeface="Arial"/>
                <a:sym typeface="Arial"/>
              </a:rPr>
              <a:t>Definition</a:t>
            </a:r>
            <a:endParaRPr sz="1800">
              <a:solidFill>
                <a:schemeClr val="dk1"/>
              </a:solidFill>
              <a:latin typeface="Arial"/>
              <a:ea typeface="Arial"/>
              <a:cs typeface="Arial"/>
              <a:sym typeface="Arial"/>
            </a:endParaRPr>
          </a:p>
        </p:txBody>
      </p:sp>
      <p:sp>
        <p:nvSpPr>
          <p:cNvPr id="424" name="Google Shape;424;p32"/>
          <p:cNvSpPr txBox="1"/>
          <p:nvPr/>
        </p:nvSpPr>
        <p:spPr>
          <a:xfrm>
            <a:off x="592073" y="3601973"/>
            <a:ext cx="2486025" cy="588645"/>
          </a:xfrm>
          <a:prstGeom prst="rect">
            <a:avLst/>
          </a:prstGeom>
          <a:solidFill>
            <a:srgbClr val="205F9A"/>
          </a:solidFill>
          <a:ln cap="flat" cmpd="sng" w="19050">
            <a:solidFill>
              <a:srgbClr val="042333"/>
            </a:solidFill>
            <a:prstDash val="solid"/>
            <a:round/>
            <a:headEnd len="sm" w="sm" type="none"/>
            <a:tailEnd len="sm" w="sm" type="none"/>
          </a:ln>
        </p:spPr>
        <p:txBody>
          <a:bodyPr anchorCtr="0" anchor="t" bIns="0" lIns="0" spcFirstLastPara="1" rIns="0" wrap="square" tIns="137775">
            <a:spAutoFit/>
          </a:bodyPr>
          <a:lstStyle/>
          <a:p>
            <a:pPr indent="0" lvl="0" marL="0" marR="0" rtl="0" algn="ctr">
              <a:lnSpc>
                <a:spcPct val="100000"/>
              </a:lnSpc>
              <a:spcBef>
                <a:spcPts val="0"/>
              </a:spcBef>
              <a:spcAft>
                <a:spcPts val="0"/>
              </a:spcAft>
              <a:buNone/>
            </a:pPr>
            <a:r>
              <a:rPr lang="en-US" sz="1800">
                <a:solidFill>
                  <a:srgbClr val="FFFFFF"/>
                </a:solidFill>
                <a:latin typeface="Arial"/>
                <a:ea typeface="Arial"/>
                <a:cs typeface="Arial"/>
                <a:sym typeface="Arial"/>
              </a:rPr>
              <a:t>Goal</a:t>
            </a:r>
            <a:endParaRPr sz="1800">
              <a:solidFill>
                <a:schemeClr val="dk1"/>
              </a:solidFill>
              <a:latin typeface="Arial"/>
              <a:ea typeface="Arial"/>
              <a:cs typeface="Arial"/>
              <a:sym typeface="Arial"/>
            </a:endParaRPr>
          </a:p>
        </p:txBody>
      </p:sp>
      <p:sp>
        <p:nvSpPr>
          <p:cNvPr id="425" name="Google Shape;425;p32"/>
          <p:cNvSpPr txBox="1"/>
          <p:nvPr/>
        </p:nvSpPr>
        <p:spPr>
          <a:xfrm>
            <a:off x="592073" y="5375909"/>
            <a:ext cx="2486025" cy="527685"/>
          </a:xfrm>
          <a:prstGeom prst="rect">
            <a:avLst/>
          </a:prstGeom>
          <a:solidFill>
            <a:srgbClr val="46B0E0"/>
          </a:solidFill>
          <a:ln cap="flat" cmpd="sng" w="19050">
            <a:solidFill>
              <a:srgbClr val="042333"/>
            </a:solidFill>
            <a:prstDash val="solid"/>
            <a:round/>
            <a:headEnd len="sm" w="sm" type="none"/>
            <a:tailEnd len="sm" w="sm" type="none"/>
          </a:ln>
        </p:spPr>
        <p:txBody>
          <a:bodyPr anchorCtr="0" anchor="t" bIns="0" lIns="0" spcFirstLastPara="1" rIns="0" wrap="square" tIns="107300">
            <a:spAutoFit/>
          </a:bodyPr>
          <a:lstStyle/>
          <a:p>
            <a:pPr indent="0" lvl="0" marL="443865" marR="0" rtl="0" algn="l">
              <a:lnSpc>
                <a:spcPct val="100000"/>
              </a:lnSpc>
              <a:spcBef>
                <a:spcPts val="0"/>
              </a:spcBef>
              <a:spcAft>
                <a:spcPts val="0"/>
              </a:spcAft>
              <a:buNone/>
            </a:pPr>
            <a:r>
              <a:rPr lang="en-US" sz="1800">
                <a:solidFill>
                  <a:srgbClr val="FFFFFF"/>
                </a:solidFill>
                <a:latin typeface="Arial"/>
                <a:ea typeface="Arial"/>
                <a:cs typeface="Arial"/>
                <a:sym typeface="Arial"/>
              </a:rPr>
              <a:t>Security Control</a:t>
            </a:r>
            <a:endParaRPr sz="1800">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Integrity: Hashing</a:t>
            </a:r>
            <a:endParaRPr/>
          </a:p>
        </p:txBody>
      </p:sp>
      <p:sp>
        <p:nvSpPr>
          <p:cNvPr id="431" name="Google Shape;431;p33"/>
          <p:cNvSpPr txBox="1"/>
          <p:nvPr/>
        </p:nvSpPr>
        <p:spPr>
          <a:xfrm>
            <a:off x="1919635" y="1413488"/>
            <a:ext cx="8101965" cy="574040"/>
          </a:xfrm>
          <a:prstGeom prst="rect">
            <a:avLst/>
          </a:prstGeom>
          <a:noFill/>
          <a:ln>
            <a:noFill/>
          </a:ln>
        </p:spPr>
        <p:txBody>
          <a:bodyPr anchorCtr="0" anchor="t" bIns="0" lIns="0" spcFirstLastPara="1" rIns="0" wrap="square" tIns="12700">
            <a:spAutoFit/>
          </a:bodyPr>
          <a:lstStyle/>
          <a:p>
            <a:pPr indent="-287655" lvl="0" marL="299720" marR="5080" rtl="0" algn="l">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Hashing works by using cryptographic hash functions to create a fixed-size digest from variable length message (input).</a:t>
            </a:r>
            <a:endParaRPr sz="1800">
              <a:solidFill>
                <a:schemeClr val="dk1"/>
              </a:solidFill>
              <a:latin typeface="Arial"/>
              <a:ea typeface="Arial"/>
              <a:cs typeface="Arial"/>
              <a:sym typeface="Arial"/>
            </a:endParaRPr>
          </a:p>
        </p:txBody>
      </p:sp>
      <p:pic>
        <p:nvPicPr>
          <p:cNvPr id="432" name="Google Shape;432;p33"/>
          <p:cNvPicPr preferRelativeResize="0"/>
          <p:nvPr/>
        </p:nvPicPr>
        <p:blipFill rotWithShape="1">
          <a:blip r:embed="rId3">
            <a:alphaModFix/>
          </a:blip>
          <a:srcRect b="0" l="0" r="0" t="0"/>
          <a:stretch/>
        </p:blipFill>
        <p:spPr>
          <a:xfrm>
            <a:off x="1257300" y="2814840"/>
            <a:ext cx="9907523" cy="225855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Integrity: Digital Signature</a:t>
            </a:r>
            <a:endParaRPr/>
          </a:p>
        </p:txBody>
      </p:sp>
      <p:sp>
        <p:nvSpPr>
          <p:cNvPr id="438" name="Google Shape;438;p34"/>
          <p:cNvSpPr txBox="1"/>
          <p:nvPr/>
        </p:nvSpPr>
        <p:spPr>
          <a:xfrm>
            <a:off x="2014653" y="1569771"/>
            <a:ext cx="8101965" cy="1122680"/>
          </a:xfrm>
          <a:prstGeom prst="rect">
            <a:avLst/>
          </a:prstGeom>
          <a:noFill/>
          <a:ln>
            <a:noFill/>
          </a:ln>
        </p:spPr>
        <p:txBody>
          <a:bodyPr anchorCtr="0" anchor="t" bIns="0" lIns="0" spcFirstLastPara="1" rIns="0" wrap="square" tIns="12700">
            <a:spAutoFit/>
          </a:bodyPr>
          <a:lstStyle/>
          <a:p>
            <a:pPr indent="-285750" lvl="0" marL="297815" marR="5080" rtl="0" algn="just">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Digital Signature - a type of electronic signature—is a mathematical algorithm that validates the authenticity and integrity of emails, credit card transactions, and digital documents through a unique virtual fingerprint that identifies users and protects information.</a:t>
            </a:r>
            <a:endParaRPr sz="1800">
              <a:solidFill>
                <a:schemeClr val="dk1"/>
              </a:solidFill>
              <a:latin typeface="Arial"/>
              <a:ea typeface="Arial"/>
              <a:cs typeface="Arial"/>
              <a:sym typeface="Arial"/>
            </a:endParaRPr>
          </a:p>
        </p:txBody>
      </p:sp>
      <p:sp>
        <p:nvSpPr>
          <p:cNvPr id="439" name="Google Shape;439;p34"/>
          <p:cNvSpPr txBox="1"/>
          <p:nvPr/>
        </p:nvSpPr>
        <p:spPr>
          <a:xfrm>
            <a:off x="2690495" y="4318610"/>
            <a:ext cx="6811009" cy="1798320"/>
          </a:xfrm>
          <a:prstGeom prst="rect">
            <a:avLst/>
          </a:prstGeom>
          <a:noFill/>
          <a:ln>
            <a:noFill/>
          </a:ln>
        </p:spPr>
        <p:txBody>
          <a:bodyPr anchorCtr="0" anchor="t" bIns="0" lIns="0" spcFirstLastPara="1" rIns="0" wrap="square" tIns="12700">
            <a:spAutoFit/>
          </a:bodyPr>
          <a:lstStyle/>
          <a:p>
            <a:pPr indent="0" lvl="0" marL="0" marR="706755" rtl="0" algn="ctr">
              <a:lnSpc>
                <a:spcPct val="100000"/>
              </a:lnSpc>
              <a:spcBef>
                <a:spcPts val="0"/>
              </a:spcBef>
              <a:spcAft>
                <a:spcPts val="0"/>
              </a:spcAft>
              <a:buNone/>
            </a:pPr>
            <a:r>
              <a:rPr lang="en-US" sz="4400">
                <a:solidFill>
                  <a:srgbClr val="404040"/>
                </a:solidFill>
                <a:latin typeface="Arial"/>
                <a:ea typeface="Arial"/>
                <a:cs typeface="Arial"/>
                <a:sym typeface="Arial"/>
              </a:rPr>
              <a:t>Code Signing</a:t>
            </a:r>
            <a:endParaRPr sz="4400">
              <a:solidFill>
                <a:schemeClr val="dk1"/>
              </a:solidFill>
              <a:latin typeface="Arial"/>
              <a:ea typeface="Arial"/>
              <a:cs typeface="Arial"/>
              <a:sym typeface="Arial"/>
            </a:endParaRPr>
          </a:p>
          <a:p>
            <a:pPr indent="-287019" lvl="0" marL="299085" marR="5080" rtl="0" algn="l">
              <a:lnSpc>
                <a:spcPct val="100000"/>
              </a:lnSpc>
              <a:spcBef>
                <a:spcPts val="2195"/>
              </a:spcBef>
              <a:spcAft>
                <a:spcPts val="0"/>
              </a:spcAft>
              <a:buClr>
                <a:schemeClr val="dk1"/>
              </a:buClr>
              <a:buSzPts val="1800"/>
              <a:buFont typeface="Arial"/>
              <a:buChar char="•"/>
            </a:pPr>
            <a:r>
              <a:rPr lang="en-US" sz="1800">
                <a:solidFill>
                  <a:schemeClr val="dk1"/>
                </a:solidFill>
                <a:latin typeface="Arial"/>
                <a:ea typeface="Arial"/>
                <a:cs typeface="Arial"/>
                <a:sym typeface="Arial"/>
              </a:rPr>
              <a:t>Application of a digital signature to the code is a common mechanism of protecting software primarily during the distribution and maintenance phases.</a:t>
            </a:r>
            <a:endParaRPr sz="1800">
              <a:solidFill>
                <a:schemeClr val="dk1"/>
              </a:solidFill>
              <a:latin typeface="Arial"/>
              <a:ea typeface="Arial"/>
              <a:cs typeface="Arial"/>
              <a:sym typeface="Arial"/>
            </a:endParaRPr>
          </a:p>
        </p:txBody>
      </p:sp>
      <p:pic>
        <p:nvPicPr>
          <p:cNvPr id="440" name="Google Shape;440;p34"/>
          <p:cNvPicPr preferRelativeResize="0"/>
          <p:nvPr/>
        </p:nvPicPr>
        <p:blipFill rotWithShape="1">
          <a:blip r:embed="rId3">
            <a:alphaModFix/>
          </a:blip>
          <a:srcRect b="0" l="0" r="0" t="0"/>
          <a:stretch/>
        </p:blipFill>
        <p:spPr>
          <a:xfrm>
            <a:off x="2510557" y="2947555"/>
            <a:ext cx="6458711" cy="128625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Availability</a:t>
            </a:r>
            <a:endParaRPr/>
          </a:p>
        </p:txBody>
      </p:sp>
      <p:sp>
        <p:nvSpPr>
          <p:cNvPr id="446" name="Google Shape;446;p35"/>
          <p:cNvSpPr txBox="1"/>
          <p:nvPr/>
        </p:nvSpPr>
        <p:spPr>
          <a:xfrm>
            <a:off x="3665982" y="1453133"/>
            <a:ext cx="6750050" cy="1597660"/>
          </a:xfrm>
          <a:prstGeom prst="rect">
            <a:avLst/>
          </a:prstGeom>
          <a:solidFill>
            <a:srgbClr val="E97031"/>
          </a:solidFill>
          <a:ln cap="flat" cmpd="sng" w="19050">
            <a:solidFill>
              <a:srgbClr val="042333"/>
            </a:solidFill>
            <a:prstDash val="solid"/>
            <a:round/>
            <a:headEnd len="sm" w="sm" type="none"/>
            <a:tailEnd len="sm" w="sm" type="none"/>
          </a:ln>
        </p:spPr>
        <p:txBody>
          <a:bodyPr anchorCtr="0" anchor="t" bIns="0" lIns="0" spcFirstLastPara="1" rIns="0" wrap="square" tIns="242550">
            <a:spAutoFit/>
          </a:bodyPr>
          <a:lstStyle/>
          <a:p>
            <a:pPr indent="0" lvl="0" marL="0" marR="0" rtl="0" algn="l">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2286000" lvl="0" marL="2512060" marR="222250" rtl="0" algn="l">
              <a:lnSpc>
                <a:spcPct val="100000"/>
              </a:lnSpc>
              <a:spcBef>
                <a:spcPts val="0"/>
              </a:spcBef>
              <a:spcAft>
                <a:spcPts val="0"/>
              </a:spcAft>
              <a:buNone/>
            </a:pPr>
            <a:r>
              <a:rPr lang="en-US" sz="1800">
                <a:solidFill>
                  <a:srgbClr val="FFFFFF"/>
                </a:solidFill>
                <a:latin typeface="Arial"/>
                <a:ea typeface="Arial"/>
                <a:cs typeface="Arial"/>
                <a:sym typeface="Arial"/>
              </a:rPr>
              <a:t>Reliable and timely access to the data and computing resources must be ensured.</a:t>
            </a:r>
            <a:endParaRPr sz="1800">
              <a:solidFill>
                <a:schemeClr val="dk1"/>
              </a:solidFill>
              <a:latin typeface="Arial"/>
              <a:ea typeface="Arial"/>
              <a:cs typeface="Arial"/>
              <a:sym typeface="Arial"/>
            </a:endParaRPr>
          </a:p>
        </p:txBody>
      </p:sp>
      <p:sp>
        <p:nvSpPr>
          <p:cNvPr id="447" name="Google Shape;447;p35"/>
          <p:cNvSpPr txBox="1"/>
          <p:nvPr/>
        </p:nvSpPr>
        <p:spPr>
          <a:xfrm>
            <a:off x="3665982" y="3278885"/>
            <a:ext cx="6750050" cy="1498600"/>
          </a:xfrm>
          <a:prstGeom prst="rect">
            <a:avLst/>
          </a:prstGeom>
          <a:solidFill>
            <a:srgbClr val="205F9A"/>
          </a:solidFill>
          <a:ln cap="flat" cmpd="sng" w="19050">
            <a:solidFill>
              <a:srgbClr val="042333"/>
            </a:solidFill>
            <a:prstDash val="solid"/>
            <a:round/>
            <a:headEnd len="sm" w="sm" type="none"/>
            <a:tailEnd len="sm" w="sm" type="none"/>
          </a:ln>
        </p:spPr>
        <p:txBody>
          <a:bodyPr anchorCtr="0" anchor="t" bIns="0" lIns="0" spcFirstLastPara="1" rIns="0" wrap="square" tIns="55225">
            <a:spAutoFit/>
          </a:bodyPr>
          <a:lstStyle/>
          <a:p>
            <a:pPr indent="0" lvl="0" marL="0" marR="0" rtl="0" algn="l">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1043305" marR="0" rtl="0" algn="l">
              <a:lnSpc>
                <a:spcPct val="100000"/>
              </a:lnSpc>
              <a:spcBef>
                <a:spcPts val="0"/>
              </a:spcBef>
              <a:spcAft>
                <a:spcPts val="0"/>
              </a:spcAft>
              <a:buClr>
                <a:srgbClr val="FFFFFF"/>
              </a:buClr>
              <a:buSzPts val="1800"/>
              <a:buFont typeface="Arial"/>
              <a:buAutoNum type="arabicPeriod"/>
            </a:pPr>
            <a:r>
              <a:rPr lang="en-US" sz="1800">
                <a:solidFill>
                  <a:srgbClr val="FFFFFF"/>
                </a:solidFill>
                <a:latin typeface="Arial"/>
                <a:ea typeface="Arial"/>
                <a:cs typeface="Arial"/>
                <a:sym typeface="Arial"/>
              </a:rPr>
              <a:t>Reliable access to information for intended entities</a:t>
            </a:r>
            <a:endParaRPr sz="1800">
              <a:solidFill>
                <a:schemeClr val="dk1"/>
              </a:solidFill>
              <a:latin typeface="Arial"/>
              <a:ea typeface="Arial"/>
              <a:cs typeface="Arial"/>
              <a:sym typeface="Arial"/>
            </a:endParaRPr>
          </a:p>
          <a:p>
            <a:pPr indent="-343535" lvl="0" marL="521969" marR="173990" rtl="0" algn="l">
              <a:lnSpc>
                <a:spcPct val="100000"/>
              </a:lnSpc>
              <a:spcBef>
                <a:spcPts val="0"/>
              </a:spcBef>
              <a:spcAft>
                <a:spcPts val="0"/>
              </a:spcAft>
              <a:buClr>
                <a:srgbClr val="FFFFFF"/>
              </a:buClr>
              <a:buSzPts val="1800"/>
              <a:buFont typeface="Arial"/>
              <a:buAutoNum type="arabicPeriod"/>
            </a:pPr>
            <a:r>
              <a:rPr lang="en-US" sz="1800">
                <a:solidFill>
                  <a:srgbClr val="FFFFFF"/>
                </a:solidFill>
                <a:latin typeface="Arial"/>
                <a:ea typeface="Arial"/>
                <a:cs typeface="Arial"/>
                <a:sym typeface="Arial"/>
              </a:rPr>
              <a:t>Availability of the correct resources within the correct amount 	of time for the correct subjects</a:t>
            </a:r>
            <a:endParaRPr sz="1800">
              <a:solidFill>
                <a:schemeClr val="dk1"/>
              </a:solidFill>
              <a:latin typeface="Arial"/>
              <a:ea typeface="Arial"/>
              <a:cs typeface="Arial"/>
              <a:sym typeface="Arial"/>
            </a:endParaRPr>
          </a:p>
        </p:txBody>
      </p:sp>
      <p:sp>
        <p:nvSpPr>
          <p:cNvPr id="448" name="Google Shape;448;p35"/>
          <p:cNvSpPr txBox="1"/>
          <p:nvPr/>
        </p:nvSpPr>
        <p:spPr>
          <a:xfrm>
            <a:off x="3665982" y="5005578"/>
            <a:ext cx="6750050" cy="1268095"/>
          </a:xfrm>
          <a:prstGeom prst="rect">
            <a:avLst/>
          </a:prstGeom>
          <a:solidFill>
            <a:srgbClr val="46B0E0"/>
          </a:solidFill>
          <a:ln cap="flat" cmpd="sng" w="19050">
            <a:solidFill>
              <a:srgbClr val="042333"/>
            </a:solidFill>
            <a:prstDash val="solid"/>
            <a:round/>
            <a:headEnd len="sm" w="sm" type="none"/>
            <a:tailEnd len="sm" w="sm" type="none"/>
          </a:ln>
        </p:spPr>
        <p:txBody>
          <a:bodyPr anchorCtr="0" anchor="t" bIns="0" lIns="0" spcFirstLastPara="1" rIns="0" wrap="square" tIns="77450">
            <a:spAutoFit/>
          </a:bodyPr>
          <a:lstStyle/>
          <a:p>
            <a:pPr indent="0" lvl="0" marL="0" marR="0" rtl="0" algn="l">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1976755" lvl="0" marL="2359660" marR="378460" rtl="0" algn="l">
              <a:lnSpc>
                <a:spcPct val="100000"/>
              </a:lnSpc>
              <a:spcBef>
                <a:spcPts val="0"/>
              </a:spcBef>
              <a:spcAft>
                <a:spcPts val="0"/>
              </a:spcAft>
              <a:buNone/>
            </a:pPr>
            <a:r>
              <a:rPr lang="en-US" sz="1800">
                <a:solidFill>
                  <a:srgbClr val="FFFFFF"/>
                </a:solidFill>
                <a:latin typeface="Arial"/>
                <a:ea typeface="Arial"/>
                <a:cs typeface="Arial"/>
                <a:sym typeface="Arial"/>
              </a:rPr>
              <a:t>Redundancy, Fail over, Fault tolerance, RAID, High availability clusters, Replication</a:t>
            </a:r>
            <a:endParaRPr sz="1800">
              <a:solidFill>
                <a:schemeClr val="dk1"/>
              </a:solidFill>
              <a:latin typeface="Arial"/>
              <a:ea typeface="Arial"/>
              <a:cs typeface="Arial"/>
              <a:sym typeface="Arial"/>
            </a:endParaRPr>
          </a:p>
        </p:txBody>
      </p:sp>
      <p:sp>
        <p:nvSpPr>
          <p:cNvPr id="449" name="Google Shape;449;p35"/>
          <p:cNvSpPr txBox="1"/>
          <p:nvPr/>
        </p:nvSpPr>
        <p:spPr>
          <a:xfrm>
            <a:off x="671322" y="1826514"/>
            <a:ext cx="2406650" cy="577850"/>
          </a:xfrm>
          <a:prstGeom prst="rect">
            <a:avLst/>
          </a:prstGeom>
          <a:solidFill>
            <a:srgbClr val="E97031"/>
          </a:solidFill>
          <a:ln cap="flat" cmpd="sng" w="19050">
            <a:solidFill>
              <a:srgbClr val="042333"/>
            </a:solidFill>
            <a:prstDash val="solid"/>
            <a:round/>
            <a:headEnd len="sm" w="sm" type="none"/>
            <a:tailEnd len="sm" w="sm" type="none"/>
          </a:ln>
        </p:spPr>
        <p:txBody>
          <a:bodyPr anchorCtr="0" anchor="t" bIns="0" lIns="0" spcFirstLastPara="1" rIns="0" wrap="square" tIns="132075">
            <a:spAutoFit/>
          </a:bodyPr>
          <a:lstStyle/>
          <a:p>
            <a:pPr indent="0" lvl="0" marL="719455" marR="0" rtl="0" algn="l">
              <a:lnSpc>
                <a:spcPct val="100000"/>
              </a:lnSpc>
              <a:spcBef>
                <a:spcPts val="0"/>
              </a:spcBef>
              <a:spcAft>
                <a:spcPts val="0"/>
              </a:spcAft>
              <a:buNone/>
            </a:pPr>
            <a:r>
              <a:rPr lang="en-US" sz="1800">
                <a:solidFill>
                  <a:srgbClr val="FFFFFF"/>
                </a:solidFill>
                <a:latin typeface="Arial"/>
                <a:ea typeface="Arial"/>
                <a:cs typeface="Arial"/>
                <a:sym typeface="Arial"/>
              </a:rPr>
              <a:t>Definition</a:t>
            </a:r>
            <a:endParaRPr sz="1800">
              <a:solidFill>
                <a:schemeClr val="dk1"/>
              </a:solidFill>
              <a:latin typeface="Arial"/>
              <a:ea typeface="Arial"/>
              <a:cs typeface="Arial"/>
              <a:sym typeface="Arial"/>
            </a:endParaRPr>
          </a:p>
        </p:txBody>
      </p:sp>
      <p:sp>
        <p:nvSpPr>
          <p:cNvPr id="450" name="Google Shape;450;p35"/>
          <p:cNvSpPr txBox="1"/>
          <p:nvPr/>
        </p:nvSpPr>
        <p:spPr>
          <a:xfrm>
            <a:off x="592073" y="3601973"/>
            <a:ext cx="2486025" cy="588645"/>
          </a:xfrm>
          <a:prstGeom prst="rect">
            <a:avLst/>
          </a:prstGeom>
          <a:solidFill>
            <a:srgbClr val="205F9A"/>
          </a:solidFill>
          <a:ln cap="flat" cmpd="sng" w="19050">
            <a:solidFill>
              <a:srgbClr val="042333"/>
            </a:solidFill>
            <a:prstDash val="solid"/>
            <a:round/>
            <a:headEnd len="sm" w="sm" type="none"/>
            <a:tailEnd len="sm" w="sm" type="none"/>
          </a:ln>
        </p:spPr>
        <p:txBody>
          <a:bodyPr anchorCtr="0" anchor="t" bIns="0" lIns="0" spcFirstLastPara="1" rIns="0" wrap="square" tIns="137775">
            <a:spAutoFit/>
          </a:bodyPr>
          <a:lstStyle/>
          <a:p>
            <a:pPr indent="0" lvl="0" marL="0" marR="0" rtl="0" algn="ctr">
              <a:lnSpc>
                <a:spcPct val="100000"/>
              </a:lnSpc>
              <a:spcBef>
                <a:spcPts val="0"/>
              </a:spcBef>
              <a:spcAft>
                <a:spcPts val="0"/>
              </a:spcAft>
              <a:buNone/>
            </a:pPr>
            <a:r>
              <a:rPr lang="en-US" sz="1800">
                <a:solidFill>
                  <a:srgbClr val="FFFFFF"/>
                </a:solidFill>
                <a:latin typeface="Arial"/>
                <a:ea typeface="Arial"/>
                <a:cs typeface="Arial"/>
                <a:sym typeface="Arial"/>
              </a:rPr>
              <a:t>Goal</a:t>
            </a:r>
            <a:endParaRPr sz="1800">
              <a:solidFill>
                <a:schemeClr val="dk1"/>
              </a:solidFill>
              <a:latin typeface="Arial"/>
              <a:ea typeface="Arial"/>
              <a:cs typeface="Arial"/>
              <a:sym typeface="Arial"/>
            </a:endParaRPr>
          </a:p>
        </p:txBody>
      </p:sp>
      <p:sp>
        <p:nvSpPr>
          <p:cNvPr id="451" name="Google Shape;451;p35"/>
          <p:cNvSpPr txBox="1"/>
          <p:nvPr/>
        </p:nvSpPr>
        <p:spPr>
          <a:xfrm>
            <a:off x="592073" y="5375909"/>
            <a:ext cx="2486025" cy="527685"/>
          </a:xfrm>
          <a:prstGeom prst="rect">
            <a:avLst/>
          </a:prstGeom>
          <a:solidFill>
            <a:srgbClr val="46B0E0"/>
          </a:solidFill>
          <a:ln cap="flat" cmpd="sng" w="19050">
            <a:solidFill>
              <a:srgbClr val="042333"/>
            </a:solidFill>
            <a:prstDash val="solid"/>
            <a:round/>
            <a:headEnd len="sm" w="sm" type="none"/>
            <a:tailEnd len="sm" w="sm" type="none"/>
          </a:ln>
        </p:spPr>
        <p:txBody>
          <a:bodyPr anchorCtr="0" anchor="t" bIns="0" lIns="0" spcFirstLastPara="1" rIns="0" wrap="square" tIns="107300">
            <a:spAutoFit/>
          </a:bodyPr>
          <a:lstStyle/>
          <a:p>
            <a:pPr indent="0" lvl="0" marL="443865" marR="0" rtl="0" algn="l">
              <a:lnSpc>
                <a:spcPct val="100000"/>
              </a:lnSpc>
              <a:spcBef>
                <a:spcPts val="0"/>
              </a:spcBef>
              <a:spcAft>
                <a:spcPts val="0"/>
              </a:spcAft>
              <a:buNone/>
            </a:pPr>
            <a:r>
              <a:rPr lang="en-US" sz="1800">
                <a:solidFill>
                  <a:srgbClr val="FFFFFF"/>
                </a:solidFill>
                <a:latin typeface="Arial"/>
                <a:ea typeface="Arial"/>
                <a:cs typeface="Arial"/>
                <a:sym typeface="Arial"/>
              </a:rPr>
              <a:t>Security Control</a:t>
            </a:r>
            <a:endParaRPr sz="18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Security Control for Availability</a:t>
            </a:r>
            <a:endParaRPr/>
          </a:p>
        </p:txBody>
      </p:sp>
      <p:sp>
        <p:nvSpPr>
          <p:cNvPr id="457" name="Google Shape;457;p36"/>
          <p:cNvSpPr txBox="1"/>
          <p:nvPr/>
        </p:nvSpPr>
        <p:spPr>
          <a:xfrm>
            <a:off x="838200" y="1529715"/>
            <a:ext cx="9874250" cy="4963160"/>
          </a:xfrm>
          <a:prstGeom prst="rect">
            <a:avLst/>
          </a:prstGeom>
          <a:noFill/>
          <a:ln>
            <a:noFill/>
          </a:ln>
        </p:spPr>
        <p:txBody>
          <a:bodyPr anchorCtr="0" anchor="t" bIns="0" lIns="0" spcFirstLastPara="1" rIns="0" wrap="square" tIns="12700">
            <a:spAutoFit/>
          </a:bodyPr>
          <a:lstStyle/>
          <a:p>
            <a:pPr indent="-286385" lvl="0" marL="298450" marR="7620" rtl="0" algn="just">
              <a:lnSpc>
                <a:spcPct val="10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Redundancy. </a:t>
            </a:r>
            <a:r>
              <a:rPr lang="en-US" sz="1800">
                <a:solidFill>
                  <a:schemeClr val="dk1"/>
                </a:solidFill>
                <a:latin typeface="Arial"/>
                <a:ea typeface="Arial"/>
                <a:cs typeface="Arial"/>
                <a:sym typeface="Arial"/>
              </a:rPr>
              <a:t>Mainly continuing the running of an organization even with the absence/failure of one important component. Redundancy in DBMS means copying data within a database or using a separate data storage technology in two separate places.</a:t>
            </a:r>
            <a:endParaRPr sz="1800">
              <a:solidFill>
                <a:schemeClr val="dk1"/>
              </a:solidFill>
              <a:latin typeface="Arial"/>
              <a:ea typeface="Arial"/>
              <a:cs typeface="Arial"/>
              <a:sym typeface="Arial"/>
            </a:endParaRPr>
          </a:p>
          <a:p>
            <a:pPr indent="-287019" lvl="0" marL="299085" marR="6350" rtl="0" algn="just">
              <a:lnSpc>
                <a:spcPct val="10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Failover. </a:t>
            </a:r>
            <a:r>
              <a:rPr lang="en-US" sz="1800">
                <a:solidFill>
                  <a:schemeClr val="dk1"/>
                </a:solidFill>
                <a:latin typeface="Arial"/>
                <a:ea typeface="Arial"/>
                <a:cs typeface="Arial"/>
                <a:sym typeface="Arial"/>
              </a:rPr>
              <a:t>Switching to a redundant or standby computer server, system, hardware component, or network upon the failure or abnormal termination of the previously active application, server, system, hardware component, or network.</a:t>
            </a:r>
            <a:endParaRPr sz="1800">
              <a:solidFill>
                <a:schemeClr val="dk1"/>
              </a:solidFill>
              <a:latin typeface="Arial"/>
              <a:ea typeface="Arial"/>
              <a:cs typeface="Arial"/>
              <a:sym typeface="Arial"/>
            </a:endParaRPr>
          </a:p>
          <a:p>
            <a:pPr indent="-287019" lvl="0" marL="299085" marR="6985" rtl="0" algn="just">
              <a:lnSpc>
                <a:spcPct val="10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Fault tolerance</a:t>
            </a:r>
            <a:r>
              <a:rPr lang="en-US" sz="1800">
                <a:solidFill>
                  <a:schemeClr val="dk1"/>
                </a:solidFill>
                <a:latin typeface="Arial"/>
                <a:ea typeface="Arial"/>
                <a:cs typeface="Arial"/>
                <a:sym typeface="Arial"/>
              </a:rPr>
              <a:t>. The system remains working as expected even when some of its components are failing.</a:t>
            </a:r>
            <a:endParaRPr sz="1800">
              <a:solidFill>
                <a:schemeClr val="dk1"/>
              </a:solidFill>
              <a:latin typeface="Arial"/>
              <a:ea typeface="Arial"/>
              <a:cs typeface="Arial"/>
              <a:sym typeface="Arial"/>
            </a:endParaRPr>
          </a:p>
          <a:p>
            <a:pPr indent="-285115" lvl="0" marL="297180" marR="8255" rtl="0" algn="just">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RAID. </a:t>
            </a:r>
            <a:r>
              <a:rPr lang="en-US" sz="1800">
                <a:solidFill>
                  <a:schemeClr val="dk1"/>
                </a:solidFill>
                <a:latin typeface="Arial"/>
                <a:ea typeface="Arial"/>
                <a:cs typeface="Arial"/>
                <a:sym typeface="Arial"/>
              </a:rPr>
              <a:t>A redundant array of independent disks (RAID) is a data storage virtualization technology that combines multiple physical disk-drive components into a single logical unit for the purposes of data redundancy, performance improvement, or both.</a:t>
            </a:r>
            <a:endParaRPr sz="1800">
              <a:solidFill>
                <a:schemeClr val="dk1"/>
              </a:solidFill>
              <a:latin typeface="Arial"/>
              <a:ea typeface="Arial"/>
              <a:cs typeface="Arial"/>
              <a:sym typeface="Arial"/>
            </a:endParaRPr>
          </a:p>
          <a:p>
            <a:pPr indent="-287019" lvl="0" marL="299085" marR="5080" rtl="0" algn="just">
              <a:lnSpc>
                <a:spcPct val="10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High-availability clusters </a:t>
            </a:r>
            <a:r>
              <a:rPr lang="en-US" sz="1800">
                <a:solidFill>
                  <a:schemeClr val="dk1"/>
                </a:solidFill>
                <a:latin typeface="Arial"/>
                <a:ea typeface="Arial"/>
                <a:cs typeface="Arial"/>
                <a:sym typeface="Arial"/>
              </a:rPr>
              <a:t>(failover clusters). These are groups of computers that support server applications that can be reliably utilized with a minimum of downtime. They operate by using high- availability software to harness redundant computers in groups or clusters that provide continued service when system components fail.</a:t>
            </a:r>
            <a:endParaRPr sz="1800">
              <a:solidFill>
                <a:schemeClr val="dk1"/>
              </a:solidFill>
              <a:latin typeface="Arial"/>
              <a:ea typeface="Arial"/>
              <a:cs typeface="Arial"/>
              <a:sym typeface="Arial"/>
            </a:endParaRPr>
          </a:p>
          <a:p>
            <a:pPr indent="-286385" lvl="0" marL="298450" marR="5715" rtl="0" algn="just">
              <a:lnSpc>
                <a:spcPct val="100000"/>
              </a:lnSpc>
              <a:spcBef>
                <a:spcPts val="0"/>
              </a:spcBef>
              <a:spcAft>
                <a:spcPts val="0"/>
              </a:spcAft>
              <a:buClr>
                <a:schemeClr val="dk1"/>
              </a:buClr>
              <a:buSzPts val="1800"/>
              <a:buFont typeface="Arial"/>
              <a:buChar char="•"/>
            </a:pPr>
            <a:r>
              <a:rPr b="1" lang="en-US" sz="1800">
                <a:solidFill>
                  <a:schemeClr val="dk1"/>
                </a:solidFill>
                <a:latin typeface="Arial"/>
                <a:ea typeface="Arial"/>
                <a:cs typeface="Arial"/>
                <a:sym typeface="Arial"/>
              </a:rPr>
              <a:t>Replication</a:t>
            </a:r>
            <a:r>
              <a:rPr lang="en-US" sz="1800">
                <a:solidFill>
                  <a:schemeClr val="dk1"/>
                </a:solidFill>
                <a:latin typeface="Arial"/>
                <a:ea typeface="Arial"/>
                <a:cs typeface="Arial"/>
                <a:sym typeface="Arial"/>
              </a:rPr>
              <a:t>. This is the process of storing data in more than one site or node. As an example, 	directory services replication is often used to prevent the loss of a single server which would 	otherwise cause the directory service to become unavailable.</a:t>
            </a:r>
            <a:endParaRPr sz="18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Access Control</a:t>
            </a:r>
            <a:endParaRPr/>
          </a:p>
        </p:txBody>
      </p:sp>
      <p:sp>
        <p:nvSpPr>
          <p:cNvPr id="463" name="Google Shape;463;p37"/>
          <p:cNvSpPr txBox="1"/>
          <p:nvPr/>
        </p:nvSpPr>
        <p:spPr>
          <a:xfrm>
            <a:off x="1299557" y="1690688"/>
            <a:ext cx="9592886" cy="4088299"/>
          </a:xfrm>
          <a:prstGeom prst="rect">
            <a:avLst/>
          </a:prstGeom>
          <a:noFill/>
          <a:ln>
            <a:noFill/>
          </a:ln>
        </p:spPr>
        <p:txBody>
          <a:bodyPr anchorCtr="0" anchor="t" bIns="0" lIns="0" spcFirstLastPara="1" rIns="0" wrap="square" tIns="12700">
            <a:spAutoFit/>
          </a:bodyPr>
          <a:lstStyle/>
          <a:p>
            <a:pPr indent="-285750" lvl="0" marL="297815" marR="5080" rtl="0" algn="just">
              <a:lnSpc>
                <a:spcPct val="10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Confidentiality supports the principle of “least privilege” by allowing 	access only to authorized individuals, processes, or systems, and only 	on a need-to-know basis.</a:t>
            </a:r>
            <a:endParaRPr sz="2400">
              <a:solidFill>
                <a:schemeClr val="dk1"/>
              </a:solidFill>
              <a:latin typeface="Arial"/>
              <a:ea typeface="Arial"/>
              <a:cs typeface="Arial"/>
              <a:sym typeface="Arial"/>
            </a:endParaRPr>
          </a:p>
          <a:p>
            <a:pPr indent="-285750" lvl="0" marL="298450" marR="0" rtl="0" algn="just">
              <a:lnSpc>
                <a:spcPct val="10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Access controls support confidentiality and integrity.</a:t>
            </a:r>
            <a:endParaRPr sz="2400">
              <a:solidFill>
                <a:schemeClr val="dk1"/>
              </a:solidFill>
              <a:latin typeface="Arial"/>
              <a:ea typeface="Arial"/>
              <a:cs typeface="Arial"/>
              <a:sym typeface="Arial"/>
            </a:endParaRPr>
          </a:p>
          <a:p>
            <a:pPr indent="-285750" lvl="0" marL="297815" marR="6350" rtl="0" algn="just">
              <a:lnSpc>
                <a:spcPct val="10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Access control is based on identification, authentication, authorization, 	and accountability—IAAA.</a:t>
            </a:r>
            <a:endParaRPr sz="2400">
              <a:solidFill>
                <a:schemeClr val="dk1"/>
              </a:solidFill>
              <a:latin typeface="Arial"/>
              <a:ea typeface="Arial"/>
              <a:cs typeface="Arial"/>
              <a:sym typeface="Arial"/>
            </a:endParaRPr>
          </a:p>
          <a:p>
            <a:pPr indent="0" lvl="0" marL="0" marR="0" rtl="0" algn="l">
              <a:lnSpc>
                <a:spcPct val="100000"/>
              </a:lnSpc>
              <a:spcBef>
                <a:spcPts val="90"/>
              </a:spcBef>
              <a:spcAft>
                <a:spcPts val="0"/>
              </a:spcAft>
              <a:buNone/>
            </a:pPr>
            <a:r>
              <a:t/>
            </a:r>
            <a:endParaRPr sz="2400">
              <a:solidFill>
                <a:schemeClr val="dk1"/>
              </a:solidFill>
              <a:latin typeface="Arial"/>
              <a:ea typeface="Arial"/>
              <a:cs typeface="Arial"/>
              <a:sym typeface="Arial"/>
            </a:endParaRPr>
          </a:p>
          <a:p>
            <a:pPr indent="-286385" lvl="0" marL="299085"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Identification: I am Azizah.</a:t>
            </a:r>
            <a:endParaRPr sz="2400">
              <a:solidFill>
                <a:schemeClr val="dk1"/>
              </a:solidFill>
              <a:latin typeface="Arial"/>
              <a:ea typeface="Arial"/>
              <a:cs typeface="Arial"/>
              <a:sym typeface="Arial"/>
            </a:endParaRPr>
          </a:p>
          <a:p>
            <a:pPr indent="-286385" lvl="0" marL="299085"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Authentication: Prove I am Azizah.</a:t>
            </a:r>
            <a:endParaRPr sz="2400">
              <a:solidFill>
                <a:schemeClr val="dk1"/>
              </a:solidFill>
              <a:latin typeface="Arial"/>
              <a:ea typeface="Arial"/>
              <a:cs typeface="Arial"/>
              <a:sym typeface="Arial"/>
            </a:endParaRPr>
          </a:p>
          <a:p>
            <a:pPr indent="-286385" lvl="0" marL="299085"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Authorization: Azizah is allowed to do XYZ.</a:t>
            </a:r>
            <a:endParaRPr sz="2400">
              <a:solidFill>
                <a:schemeClr val="dk1"/>
              </a:solidFill>
              <a:latin typeface="Arial"/>
              <a:ea typeface="Arial"/>
              <a:cs typeface="Arial"/>
              <a:sym typeface="Arial"/>
            </a:endParaRPr>
          </a:p>
          <a:p>
            <a:pPr indent="-286385" lvl="0" marL="299085"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Accountability: Azizah’s actions are logged and non-repudiation.</a:t>
            </a:r>
            <a:endParaRPr sz="240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Access Control to Protect Confidentiality</a:t>
            </a:r>
            <a:endParaRPr/>
          </a:p>
        </p:txBody>
      </p:sp>
      <p:pic>
        <p:nvPicPr>
          <p:cNvPr id="469" name="Google Shape;469;p38"/>
          <p:cNvPicPr preferRelativeResize="0"/>
          <p:nvPr/>
        </p:nvPicPr>
        <p:blipFill rotWithShape="1">
          <a:blip r:embed="rId3">
            <a:alphaModFix/>
          </a:blip>
          <a:srcRect b="0" l="0" r="0" t="0"/>
          <a:stretch/>
        </p:blipFill>
        <p:spPr>
          <a:xfrm>
            <a:off x="838200" y="1825751"/>
            <a:ext cx="5181600" cy="4350975"/>
          </a:xfrm>
          <a:prstGeom prst="rect">
            <a:avLst/>
          </a:prstGeom>
          <a:noFill/>
          <a:ln>
            <a:noFill/>
          </a:ln>
        </p:spPr>
      </p:pic>
      <p:sp>
        <p:nvSpPr>
          <p:cNvPr id="470" name="Google Shape;470;p38"/>
          <p:cNvSpPr txBox="1"/>
          <p:nvPr/>
        </p:nvSpPr>
        <p:spPr>
          <a:xfrm>
            <a:off x="6250940" y="1713255"/>
            <a:ext cx="4848860" cy="4233545"/>
          </a:xfrm>
          <a:prstGeom prst="rect">
            <a:avLst/>
          </a:prstGeom>
          <a:noFill/>
          <a:ln>
            <a:noFill/>
          </a:ln>
        </p:spPr>
        <p:txBody>
          <a:bodyPr anchorCtr="0" anchor="t" bIns="0" lIns="0" spcFirstLastPara="1" rIns="0" wrap="square" tIns="105400">
            <a:spAutoFit/>
          </a:bodyPr>
          <a:lstStyle/>
          <a:p>
            <a:pPr indent="-342265" lvl="0" marL="354965" marR="0" rtl="0" algn="l">
              <a:lnSpc>
                <a:spcPct val="100000"/>
              </a:lnSpc>
              <a:spcBef>
                <a:spcPts val="0"/>
              </a:spcBef>
              <a:spcAft>
                <a:spcPts val="0"/>
              </a:spcAft>
              <a:buClr>
                <a:schemeClr val="dk1"/>
              </a:buClr>
              <a:buSzPts val="2200"/>
              <a:buFont typeface="Noto Sans Symbols"/>
              <a:buChar char="❑"/>
            </a:pPr>
            <a:r>
              <a:rPr lang="en-US" sz="2200">
                <a:solidFill>
                  <a:schemeClr val="dk1"/>
                </a:solidFill>
                <a:latin typeface="Arial"/>
                <a:ea typeface="Arial"/>
                <a:cs typeface="Arial"/>
                <a:sym typeface="Arial"/>
              </a:rPr>
              <a:t>Biometrics</a:t>
            </a:r>
            <a:endParaRPr sz="2200">
              <a:solidFill>
                <a:schemeClr val="dk1"/>
              </a:solidFill>
              <a:latin typeface="Arial"/>
              <a:ea typeface="Arial"/>
              <a:cs typeface="Arial"/>
              <a:sym typeface="Arial"/>
            </a:endParaRPr>
          </a:p>
          <a:p>
            <a:pPr indent="-342265" lvl="0" marL="354965" marR="0" rtl="0" algn="l">
              <a:lnSpc>
                <a:spcPct val="100000"/>
              </a:lnSpc>
              <a:spcBef>
                <a:spcPts val="735"/>
              </a:spcBef>
              <a:spcAft>
                <a:spcPts val="0"/>
              </a:spcAft>
              <a:buClr>
                <a:schemeClr val="dk1"/>
              </a:buClr>
              <a:buSzPts val="2200"/>
              <a:buFont typeface="Noto Sans Symbols"/>
              <a:buChar char="❑"/>
            </a:pPr>
            <a:r>
              <a:rPr lang="en-US" sz="2200">
                <a:solidFill>
                  <a:schemeClr val="dk1"/>
                </a:solidFill>
                <a:latin typeface="Arial"/>
                <a:ea typeface="Arial"/>
                <a:cs typeface="Arial"/>
                <a:sym typeface="Arial"/>
              </a:rPr>
              <a:t>Steganography</a:t>
            </a:r>
            <a:endParaRPr sz="2200">
              <a:solidFill>
                <a:schemeClr val="dk1"/>
              </a:solidFill>
              <a:latin typeface="Arial"/>
              <a:ea typeface="Arial"/>
              <a:cs typeface="Arial"/>
              <a:sym typeface="Arial"/>
            </a:endParaRPr>
          </a:p>
          <a:p>
            <a:pPr indent="-342265" lvl="0" marL="354965" marR="0" rtl="0" algn="l">
              <a:lnSpc>
                <a:spcPct val="100000"/>
              </a:lnSpc>
              <a:spcBef>
                <a:spcPts val="730"/>
              </a:spcBef>
              <a:spcAft>
                <a:spcPts val="0"/>
              </a:spcAft>
              <a:buClr>
                <a:schemeClr val="dk1"/>
              </a:buClr>
              <a:buSzPts val="2200"/>
              <a:buFont typeface="Noto Sans Symbols"/>
              <a:buChar char="❑"/>
            </a:pPr>
            <a:r>
              <a:rPr lang="en-US" sz="2200">
                <a:solidFill>
                  <a:schemeClr val="dk1"/>
                </a:solidFill>
                <a:latin typeface="Arial"/>
                <a:ea typeface="Arial"/>
                <a:cs typeface="Arial"/>
                <a:sym typeface="Arial"/>
              </a:rPr>
              <a:t>Non-technical safeguards</a:t>
            </a:r>
            <a:endParaRPr sz="2200">
              <a:solidFill>
                <a:schemeClr val="dk1"/>
              </a:solidFill>
              <a:latin typeface="Arial"/>
              <a:ea typeface="Arial"/>
              <a:cs typeface="Arial"/>
              <a:sym typeface="Arial"/>
            </a:endParaRPr>
          </a:p>
          <a:p>
            <a:pPr indent="-228600" lvl="1" marL="698500" marR="5080" rtl="0" algn="l">
              <a:lnSpc>
                <a:spcPct val="108181"/>
              </a:lnSpc>
              <a:spcBef>
                <a:spcPts val="104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Additional security awareness and training</a:t>
            </a:r>
            <a:endParaRPr b="0" i="0" sz="2200" u="none" cap="none" strike="noStrike">
              <a:solidFill>
                <a:schemeClr val="dk1"/>
              </a:solidFill>
              <a:latin typeface="Arial"/>
              <a:ea typeface="Arial"/>
              <a:cs typeface="Arial"/>
              <a:sym typeface="Arial"/>
            </a:endParaRPr>
          </a:p>
          <a:p>
            <a:pPr indent="-228600" lvl="1" marL="698500" marR="282575" rtl="0" algn="l">
              <a:lnSpc>
                <a:spcPct val="108181"/>
              </a:lnSpc>
              <a:spcBef>
                <a:spcPts val="99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Minimizing retention of sensitive information</a:t>
            </a:r>
            <a:endParaRPr b="0" i="0" sz="2200" u="none" cap="none" strike="noStrike">
              <a:solidFill>
                <a:schemeClr val="dk1"/>
              </a:solidFill>
              <a:latin typeface="Arial"/>
              <a:ea typeface="Arial"/>
              <a:cs typeface="Arial"/>
              <a:sym typeface="Arial"/>
            </a:endParaRPr>
          </a:p>
          <a:p>
            <a:pPr indent="-228600" lvl="1" marL="698500" marR="901700" rtl="0" algn="l">
              <a:lnSpc>
                <a:spcPct val="108181"/>
              </a:lnSpc>
              <a:spcBef>
                <a:spcPts val="985"/>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Limiting physical access to infrastructure</a:t>
            </a:r>
            <a:endParaRPr b="0" i="0" sz="2200" u="none" cap="none" strike="noStrike">
              <a:solidFill>
                <a:schemeClr val="dk1"/>
              </a:solidFill>
              <a:latin typeface="Arial"/>
              <a:ea typeface="Arial"/>
              <a:cs typeface="Arial"/>
              <a:sym typeface="Arial"/>
            </a:endParaRPr>
          </a:p>
          <a:p>
            <a:pPr indent="-228600" lvl="1" marL="698500" marR="1149350" rtl="0" algn="l">
              <a:lnSpc>
                <a:spcPct val="108181"/>
              </a:lnSpc>
              <a:spcBef>
                <a:spcPts val="10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Establishing policies and procedures</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9"/>
          <p:cNvSpPr txBox="1"/>
          <p:nvPr>
            <p:ph type="title"/>
          </p:nvPr>
        </p:nvSpPr>
        <p:spPr>
          <a:xfrm>
            <a:off x="1364974"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Compromising Confidentiality</a:t>
            </a:r>
            <a:endParaRPr/>
          </a:p>
        </p:txBody>
      </p:sp>
      <p:pic>
        <p:nvPicPr>
          <p:cNvPr id="476" name="Google Shape;476;p39"/>
          <p:cNvPicPr preferRelativeResize="0"/>
          <p:nvPr/>
        </p:nvPicPr>
        <p:blipFill rotWithShape="1">
          <a:blip r:embed="rId3">
            <a:alphaModFix/>
          </a:blip>
          <a:srcRect b="0" l="0" r="0" t="0"/>
          <a:stretch/>
        </p:blipFill>
        <p:spPr>
          <a:xfrm>
            <a:off x="1112519" y="2319528"/>
            <a:ext cx="9966959" cy="330860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Elements of Security Design</a:t>
            </a:r>
            <a:endParaRPr/>
          </a:p>
        </p:txBody>
      </p:sp>
      <p:grpSp>
        <p:nvGrpSpPr>
          <p:cNvPr id="482" name="Google Shape;482;p40"/>
          <p:cNvGrpSpPr/>
          <p:nvPr/>
        </p:nvGrpSpPr>
        <p:grpSpPr>
          <a:xfrm>
            <a:off x="2242924" y="1315590"/>
            <a:ext cx="7969144" cy="5156835"/>
            <a:chOff x="2242924" y="1315590"/>
            <a:chExt cx="7969144" cy="5156835"/>
          </a:xfrm>
        </p:grpSpPr>
        <p:sp>
          <p:nvSpPr>
            <p:cNvPr id="483" name="Google Shape;483;p40"/>
            <p:cNvSpPr/>
            <p:nvPr/>
          </p:nvSpPr>
          <p:spPr>
            <a:xfrm>
              <a:off x="2242924" y="1315590"/>
              <a:ext cx="1083310" cy="5156835"/>
            </a:xfrm>
            <a:custGeom>
              <a:rect b="b" l="l" r="r" t="t"/>
              <a:pathLst>
                <a:path extrusionOk="0" h="5156835" w="1083310">
                  <a:moveTo>
                    <a:pt x="15265" y="0"/>
                  </a:moveTo>
                  <a:lnTo>
                    <a:pt x="49166" y="34343"/>
                  </a:lnTo>
                  <a:lnTo>
                    <a:pt x="82520" y="69020"/>
                  </a:lnTo>
                  <a:lnTo>
                    <a:pt x="115327" y="104026"/>
                  </a:lnTo>
                  <a:lnTo>
                    <a:pt x="147587" y="139356"/>
                  </a:lnTo>
                  <a:lnTo>
                    <a:pt x="179301" y="175004"/>
                  </a:lnTo>
                  <a:lnTo>
                    <a:pt x="210468" y="210964"/>
                  </a:lnTo>
                  <a:lnTo>
                    <a:pt x="241088" y="247231"/>
                  </a:lnTo>
                  <a:lnTo>
                    <a:pt x="271161" y="283800"/>
                  </a:lnTo>
                  <a:lnTo>
                    <a:pt x="300688" y="320665"/>
                  </a:lnTo>
                  <a:lnTo>
                    <a:pt x="329667" y="357821"/>
                  </a:lnTo>
                  <a:lnTo>
                    <a:pt x="358100" y="395263"/>
                  </a:lnTo>
                  <a:lnTo>
                    <a:pt x="385986" y="432984"/>
                  </a:lnTo>
                  <a:lnTo>
                    <a:pt x="413326" y="470980"/>
                  </a:lnTo>
                  <a:lnTo>
                    <a:pt x="440118" y="509245"/>
                  </a:lnTo>
                  <a:lnTo>
                    <a:pt x="466364" y="547773"/>
                  </a:lnTo>
                  <a:lnTo>
                    <a:pt x="492063" y="586560"/>
                  </a:lnTo>
                  <a:lnTo>
                    <a:pt x="517215" y="625600"/>
                  </a:lnTo>
                  <a:lnTo>
                    <a:pt x="541821" y="664886"/>
                  </a:lnTo>
                  <a:lnTo>
                    <a:pt x="565879" y="704415"/>
                  </a:lnTo>
                  <a:lnTo>
                    <a:pt x="589391" y="744180"/>
                  </a:lnTo>
                  <a:lnTo>
                    <a:pt x="612356" y="784176"/>
                  </a:lnTo>
                  <a:lnTo>
                    <a:pt x="634774" y="824398"/>
                  </a:lnTo>
                  <a:lnTo>
                    <a:pt x="656646" y="864840"/>
                  </a:lnTo>
                  <a:lnTo>
                    <a:pt x="677971" y="905496"/>
                  </a:lnTo>
                  <a:lnTo>
                    <a:pt x="698748" y="946362"/>
                  </a:lnTo>
                  <a:lnTo>
                    <a:pt x="718980" y="987432"/>
                  </a:lnTo>
                  <a:lnTo>
                    <a:pt x="738664" y="1028700"/>
                  </a:lnTo>
                  <a:lnTo>
                    <a:pt x="757801" y="1070161"/>
                  </a:lnTo>
                  <a:lnTo>
                    <a:pt x="776392" y="1111809"/>
                  </a:lnTo>
                  <a:lnTo>
                    <a:pt x="794436" y="1153640"/>
                  </a:lnTo>
                  <a:lnTo>
                    <a:pt x="811933" y="1195647"/>
                  </a:lnTo>
                  <a:lnTo>
                    <a:pt x="828884" y="1237826"/>
                  </a:lnTo>
                  <a:lnTo>
                    <a:pt x="845287" y="1280170"/>
                  </a:lnTo>
                  <a:lnTo>
                    <a:pt x="861144" y="1322675"/>
                  </a:lnTo>
                  <a:lnTo>
                    <a:pt x="876454" y="1365334"/>
                  </a:lnTo>
                  <a:lnTo>
                    <a:pt x="891217" y="1408143"/>
                  </a:lnTo>
                  <a:lnTo>
                    <a:pt x="905434" y="1451096"/>
                  </a:lnTo>
                  <a:lnTo>
                    <a:pt x="919104" y="1494188"/>
                  </a:lnTo>
                  <a:lnTo>
                    <a:pt x="932226" y="1537413"/>
                  </a:lnTo>
                  <a:lnTo>
                    <a:pt x="944802" y="1580765"/>
                  </a:lnTo>
                  <a:lnTo>
                    <a:pt x="956832" y="1624240"/>
                  </a:lnTo>
                  <a:lnTo>
                    <a:pt x="968314" y="1667832"/>
                  </a:lnTo>
                  <a:lnTo>
                    <a:pt x="979250" y="1711535"/>
                  </a:lnTo>
                  <a:lnTo>
                    <a:pt x="989639" y="1755344"/>
                  </a:lnTo>
                  <a:lnTo>
                    <a:pt x="999481" y="1799254"/>
                  </a:lnTo>
                  <a:lnTo>
                    <a:pt x="1008777" y="1843259"/>
                  </a:lnTo>
                  <a:lnTo>
                    <a:pt x="1017525" y="1887353"/>
                  </a:lnTo>
                  <a:lnTo>
                    <a:pt x="1025727" y="1931532"/>
                  </a:lnTo>
                  <a:lnTo>
                    <a:pt x="1033382" y="1975790"/>
                  </a:lnTo>
                  <a:lnTo>
                    <a:pt x="1040490" y="2020121"/>
                  </a:lnTo>
                  <a:lnTo>
                    <a:pt x="1047052" y="2064520"/>
                  </a:lnTo>
                  <a:lnTo>
                    <a:pt x="1053066" y="2108981"/>
                  </a:lnTo>
                  <a:lnTo>
                    <a:pt x="1058534" y="2153500"/>
                  </a:lnTo>
                  <a:lnTo>
                    <a:pt x="1063455" y="2198070"/>
                  </a:lnTo>
                  <a:lnTo>
                    <a:pt x="1067830" y="2242686"/>
                  </a:lnTo>
                  <a:lnTo>
                    <a:pt x="1071657" y="2287343"/>
                  </a:lnTo>
                  <a:lnTo>
                    <a:pt x="1074938" y="2332036"/>
                  </a:lnTo>
                  <a:lnTo>
                    <a:pt x="1077672" y="2376758"/>
                  </a:lnTo>
                  <a:lnTo>
                    <a:pt x="1079859" y="2421505"/>
                  </a:lnTo>
                  <a:lnTo>
                    <a:pt x="1081499" y="2466271"/>
                  </a:lnTo>
                  <a:lnTo>
                    <a:pt x="1082593" y="2511050"/>
                  </a:lnTo>
                  <a:lnTo>
                    <a:pt x="1083140" y="2555838"/>
                  </a:lnTo>
                  <a:lnTo>
                    <a:pt x="1083140" y="2600628"/>
                  </a:lnTo>
                  <a:lnTo>
                    <a:pt x="1082593" y="2645416"/>
                  </a:lnTo>
                  <a:lnTo>
                    <a:pt x="1081499" y="2690195"/>
                  </a:lnTo>
                  <a:lnTo>
                    <a:pt x="1079859" y="2734961"/>
                  </a:lnTo>
                  <a:lnTo>
                    <a:pt x="1077672" y="2779708"/>
                  </a:lnTo>
                  <a:lnTo>
                    <a:pt x="1074938" y="2824430"/>
                  </a:lnTo>
                  <a:lnTo>
                    <a:pt x="1071657" y="2869122"/>
                  </a:lnTo>
                  <a:lnTo>
                    <a:pt x="1067830" y="2913780"/>
                  </a:lnTo>
                  <a:lnTo>
                    <a:pt x="1063455" y="2958396"/>
                  </a:lnTo>
                  <a:lnTo>
                    <a:pt x="1058534" y="3002966"/>
                  </a:lnTo>
                  <a:lnTo>
                    <a:pt x="1053066" y="3047485"/>
                  </a:lnTo>
                  <a:lnTo>
                    <a:pt x="1047052" y="3091946"/>
                  </a:lnTo>
                  <a:lnTo>
                    <a:pt x="1040490" y="3136345"/>
                  </a:lnTo>
                  <a:lnTo>
                    <a:pt x="1033382" y="3180676"/>
                  </a:lnTo>
                  <a:lnTo>
                    <a:pt x="1025727" y="3224933"/>
                  </a:lnTo>
                  <a:lnTo>
                    <a:pt x="1017525" y="3269112"/>
                  </a:lnTo>
                  <a:lnTo>
                    <a:pt x="1008777" y="3313207"/>
                  </a:lnTo>
                  <a:lnTo>
                    <a:pt x="999481" y="3357212"/>
                  </a:lnTo>
                  <a:lnTo>
                    <a:pt x="989639" y="3401121"/>
                  </a:lnTo>
                  <a:lnTo>
                    <a:pt x="979250" y="3444931"/>
                  </a:lnTo>
                  <a:lnTo>
                    <a:pt x="968314" y="3488634"/>
                  </a:lnTo>
                  <a:lnTo>
                    <a:pt x="956832" y="3532225"/>
                  </a:lnTo>
                  <a:lnTo>
                    <a:pt x="944802" y="3575700"/>
                  </a:lnTo>
                  <a:lnTo>
                    <a:pt x="932226" y="3619053"/>
                  </a:lnTo>
                  <a:lnTo>
                    <a:pt x="919104" y="3662278"/>
                  </a:lnTo>
                  <a:lnTo>
                    <a:pt x="905434" y="3705369"/>
                  </a:lnTo>
                  <a:lnTo>
                    <a:pt x="891217" y="3748322"/>
                  </a:lnTo>
                  <a:lnTo>
                    <a:pt x="876454" y="3791131"/>
                  </a:lnTo>
                  <a:lnTo>
                    <a:pt x="861144" y="3833791"/>
                  </a:lnTo>
                  <a:lnTo>
                    <a:pt x="845287" y="3876296"/>
                  </a:lnTo>
                  <a:lnTo>
                    <a:pt x="828884" y="3918640"/>
                  </a:lnTo>
                  <a:lnTo>
                    <a:pt x="811933" y="3960818"/>
                  </a:lnTo>
                  <a:lnTo>
                    <a:pt x="794436" y="4002826"/>
                  </a:lnTo>
                  <a:lnTo>
                    <a:pt x="776392" y="4044656"/>
                  </a:lnTo>
                  <a:lnTo>
                    <a:pt x="757801" y="4086305"/>
                  </a:lnTo>
                  <a:lnTo>
                    <a:pt x="738664" y="4127766"/>
                  </a:lnTo>
                  <a:lnTo>
                    <a:pt x="718980" y="4169034"/>
                  </a:lnTo>
                  <a:lnTo>
                    <a:pt x="698748" y="4210104"/>
                  </a:lnTo>
                  <a:lnTo>
                    <a:pt x="677971" y="4250969"/>
                  </a:lnTo>
                  <a:lnTo>
                    <a:pt x="656646" y="4291626"/>
                  </a:lnTo>
                  <a:lnTo>
                    <a:pt x="634774" y="4332068"/>
                  </a:lnTo>
                  <a:lnTo>
                    <a:pt x="612356" y="4372289"/>
                  </a:lnTo>
                  <a:lnTo>
                    <a:pt x="589391" y="4412286"/>
                  </a:lnTo>
                  <a:lnTo>
                    <a:pt x="565879" y="4452051"/>
                  </a:lnTo>
                  <a:lnTo>
                    <a:pt x="541821" y="4491579"/>
                  </a:lnTo>
                  <a:lnTo>
                    <a:pt x="517215" y="4530866"/>
                  </a:lnTo>
                  <a:lnTo>
                    <a:pt x="492063" y="4569906"/>
                  </a:lnTo>
                  <a:lnTo>
                    <a:pt x="466364" y="4608692"/>
                  </a:lnTo>
                  <a:lnTo>
                    <a:pt x="440118" y="4647221"/>
                  </a:lnTo>
                  <a:lnTo>
                    <a:pt x="413326" y="4685486"/>
                  </a:lnTo>
                  <a:lnTo>
                    <a:pt x="385986" y="4723481"/>
                  </a:lnTo>
                  <a:lnTo>
                    <a:pt x="358100" y="4761203"/>
                  </a:lnTo>
                  <a:lnTo>
                    <a:pt x="329667" y="4798644"/>
                  </a:lnTo>
                  <a:lnTo>
                    <a:pt x="300688" y="4835800"/>
                  </a:lnTo>
                  <a:lnTo>
                    <a:pt x="271161" y="4872665"/>
                  </a:lnTo>
                  <a:lnTo>
                    <a:pt x="241088" y="4909234"/>
                  </a:lnTo>
                  <a:lnTo>
                    <a:pt x="210468" y="4945502"/>
                  </a:lnTo>
                  <a:lnTo>
                    <a:pt x="179301" y="4981462"/>
                  </a:lnTo>
                  <a:lnTo>
                    <a:pt x="147587" y="5017110"/>
                  </a:lnTo>
                  <a:lnTo>
                    <a:pt x="115327" y="5052439"/>
                  </a:lnTo>
                  <a:lnTo>
                    <a:pt x="82520" y="5087446"/>
                  </a:lnTo>
                  <a:lnTo>
                    <a:pt x="49166" y="5122123"/>
                  </a:lnTo>
                  <a:lnTo>
                    <a:pt x="15265" y="5156466"/>
                  </a:lnTo>
                  <a:lnTo>
                    <a:pt x="0" y="5141201"/>
                  </a:lnTo>
                  <a:lnTo>
                    <a:pt x="33969" y="5106784"/>
                  </a:lnTo>
                  <a:lnTo>
                    <a:pt x="67386" y="5072030"/>
                  </a:lnTo>
                  <a:lnTo>
                    <a:pt x="100251" y="5036944"/>
                  </a:lnTo>
                  <a:lnTo>
                    <a:pt x="132564" y="5001531"/>
                  </a:lnTo>
                  <a:lnTo>
                    <a:pt x="164324" y="4965798"/>
                  </a:lnTo>
                  <a:lnTo>
                    <a:pt x="195532" y="4929748"/>
                  </a:lnTo>
                  <a:lnTo>
                    <a:pt x="226187" y="4893389"/>
                  </a:lnTo>
                  <a:lnTo>
                    <a:pt x="256290" y="4856725"/>
                  </a:lnTo>
                  <a:lnTo>
                    <a:pt x="285841" y="4819762"/>
                  </a:lnTo>
                  <a:lnTo>
                    <a:pt x="314840" y="4782506"/>
                  </a:lnTo>
                  <a:lnTo>
                    <a:pt x="343286" y="4744963"/>
                  </a:lnTo>
                  <a:lnTo>
                    <a:pt x="371179" y="4707136"/>
                  </a:lnTo>
                  <a:lnTo>
                    <a:pt x="398521" y="4669033"/>
                  </a:lnTo>
                  <a:lnTo>
                    <a:pt x="425310" y="4630659"/>
                  </a:lnTo>
                  <a:lnTo>
                    <a:pt x="451546" y="4592020"/>
                  </a:lnTo>
                  <a:lnTo>
                    <a:pt x="477231" y="4553120"/>
                  </a:lnTo>
                  <a:lnTo>
                    <a:pt x="502363" y="4513965"/>
                  </a:lnTo>
                  <a:lnTo>
                    <a:pt x="526942" y="4474561"/>
                  </a:lnTo>
                  <a:lnTo>
                    <a:pt x="550970" y="4434914"/>
                  </a:lnTo>
                  <a:lnTo>
                    <a:pt x="574444" y="4395029"/>
                  </a:lnTo>
                  <a:lnTo>
                    <a:pt x="597367" y="4354911"/>
                  </a:lnTo>
                  <a:lnTo>
                    <a:pt x="619737" y="4314566"/>
                  </a:lnTo>
                  <a:lnTo>
                    <a:pt x="641555" y="4274000"/>
                  </a:lnTo>
                  <a:lnTo>
                    <a:pt x="662821" y="4233218"/>
                  </a:lnTo>
                  <a:lnTo>
                    <a:pt x="683534" y="4192226"/>
                  </a:lnTo>
                  <a:lnTo>
                    <a:pt x="703695" y="4151029"/>
                  </a:lnTo>
                  <a:lnTo>
                    <a:pt x="723303" y="4109632"/>
                  </a:lnTo>
                  <a:lnTo>
                    <a:pt x="742359" y="4068042"/>
                  </a:lnTo>
                  <a:lnTo>
                    <a:pt x="760863" y="4026264"/>
                  </a:lnTo>
                  <a:lnTo>
                    <a:pt x="778814" y="3984303"/>
                  </a:lnTo>
                  <a:lnTo>
                    <a:pt x="796213" y="3942165"/>
                  </a:lnTo>
                  <a:lnTo>
                    <a:pt x="813060" y="3899855"/>
                  </a:lnTo>
                  <a:lnTo>
                    <a:pt x="829354" y="3857379"/>
                  </a:lnTo>
                  <a:lnTo>
                    <a:pt x="845096" y="3814743"/>
                  </a:lnTo>
                  <a:lnTo>
                    <a:pt x="860286" y="3771952"/>
                  </a:lnTo>
                  <a:lnTo>
                    <a:pt x="874923" y="3729011"/>
                  </a:lnTo>
                  <a:lnTo>
                    <a:pt x="889008" y="3685926"/>
                  </a:lnTo>
                  <a:lnTo>
                    <a:pt x="902541" y="3642703"/>
                  </a:lnTo>
                  <a:lnTo>
                    <a:pt x="915521" y="3599347"/>
                  </a:lnTo>
                  <a:lnTo>
                    <a:pt x="927949" y="3555864"/>
                  </a:lnTo>
                  <a:lnTo>
                    <a:pt x="939825" y="3512259"/>
                  </a:lnTo>
                  <a:lnTo>
                    <a:pt x="951148" y="3468538"/>
                  </a:lnTo>
                  <a:lnTo>
                    <a:pt x="961919" y="3424706"/>
                  </a:lnTo>
                  <a:lnTo>
                    <a:pt x="972137" y="3380769"/>
                  </a:lnTo>
                  <a:lnTo>
                    <a:pt x="981803" y="3336732"/>
                  </a:lnTo>
                  <a:lnTo>
                    <a:pt x="990917" y="3292601"/>
                  </a:lnTo>
                  <a:lnTo>
                    <a:pt x="999478" y="3248382"/>
                  </a:lnTo>
                  <a:lnTo>
                    <a:pt x="1007488" y="3204080"/>
                  </a:lnTo>
                  <a:lnTo>
                    <a:pt x="1014944" y="3159700"/>
                  </a:lnTo>
                  <a:lnTo>
                    <a:pt x="1021849" y="3115248"/>
                  </a:lnTo>
                  <a:lnTo>
                    <a:pt x="1028201" y="3070730"/>
                  </a:lnTo>
                  <a:lnTo>
                    <a:pt x="1034000" y="3026151"/>
                  </a:lnTo>
                  <a:lnTo>
                    <a:pt x="1039248" y="2981516"/>
                  </a:lnTo>
                  <a:lnTo>
                    <a:pt x="1043943" y="2936832"/>
                  </a:lnTo>
                  <a:lnTo>
                    <a:pt x="1048085" y="2892103"/>
                  </a:lnTo>
                  <a:lnTo>
                    <a:pt x="1051676" y="2847336"/>
                  </a:lnTo>
                  <a:lnTo>
                    <a:pt x="1054714" y="2802535"/>
                  </a:lnTo>
                  <a:lnTo>
                    <a:pt x="1057199" y="2757707"/>
                  </a:lnTo>
                  <a:lnTo>
                    <a:pt x="1059132" y="2712857"/>
                  </a:lnTo>
                  <a:lnTo>
                    <a:pt x="1060513" y="2667990"/>
                  </a:lnTo>
                  <a:lnTo>
                    <a:pt x="1061342" y="2623112"/>
                  </a:lnTo>
                  <a:lnTo>
                    <a:pt x="1061618" y="2578228"/>
                  </a:lnTo>
                  <a:lnTo>
                    <a:pt x="1061342" y="2533345"/>
                  </a:lnTo>
                  <a:lnTo>
                    <a:pt x="1060513" y="2488466"/>
                  </a:lnTo>
                  <a:lnTo>
                    <a:pt x="1059132" y="2443600"/>
                  </a:lnTo>
                  <a:lnTo>
                    <a:pt x="1057199" y="2398749"/>
                  </a:lnTo>
                  <a:lnTo>
                    <a:pt x="1054714" y="2353921"/>
                  </a:lnTo>
                  <a:lnTo>
                    <a:pt x="1051676" y="2309120"/>
                  </a:lnTo>
                  <a:lnTo>
                    <a:pt x="1048085" y="2264353"/>
                  </a:lnTo>
                  <a:lnTo>
                    <a:pt x="1043943" y="2219625"/>
                  </a:lnTo>
                  <a:lnTo>
                    <a:pt x="1039248" y="2174940"/>
                  </a:lnTo>
                  <a:lnTo>
                    <a:pt x="1034000" y="2130306"/>
                  </a:lnTo>
                  <a:lnTo>
                    <a:pt x="1028201" y="2085727"/>
                  </a:lnTo>
                  <a:lnTo>
                    <a:pt x="1021849" y="2041209"/>
                  </a:lnTo>
                  <a:lnTo>
                    <a:pt x="1014944" y="1996757"/>
                  </a:lnTo>
                  <a:lnTo>
                    <a:pt x="1007488" y="1952377"/>
                  </a:lnTo>
                  <a:lnTo>
                    <a:pt x="999478" y="1908075"/>
                  </a:lnTo>
                  <a:lnTo>
                    <a:pt x="990917" y="1863855"/>
                  </a:lnTo>
                  <a:lnTo>
                    <a:pt x="981803" y="1819725"/>
                  </a:lnTo>
                  <a:lnTo>
                    <a:pt x="972137" y="1775688"/>
                  </a:lnTo>
                  <a:lnTo>
                    <a:pt x="961919" y="1731751"/>
                  </a:lnTo>
                  <a:lnTo>
                    <a:pt x="951148" y="1687919"/>
                  </a:lnTo>
                  <a:lnTo>
                    <a:pt x="939825" y="1644198"/>
                  </a:lnTo>
                  <a:lnTo>
                    <a:pt x="927949" y="1600593"/>
                  </a:lnTo>
                  <a:lnTo>
                    <a:pt x="915521" y="1557110"/>
                  </a:lnTo>
                  <a:lnTo>
                    <a:pt x="902541" y="1513754"/>
                  </a:lnTo>
                  <a:lnTo>
                    <a:pt x="889008" y="1470532"/>
                  </a:lnTo>
                  <a:lnTo>
                    <a:pt x="874923" y="1427447"/>
                  </a:lnTo>
                  <a:lnTo>
                    <a:pt x="860286" y="1384506"/>
                  </a:lnTo>
                  <a:lnTo>
                    <a:pt x="845096" y="1341715"/>
                  </a:lnTo>
                  <a:lnTo>
                    <a:pt x="829354" y="1299079"/>
                  </a:lnTo>
                  <a:lnTo>
                    <a:pt x="813060" y="1256603"/>
                  </a:lnTo>
                  <a:lnTo>
                    <a:pt x="796213" y="1214294"/>
                  </a:lnTo>
                  <a:lnTo>
                    <a:pt x="778814" y="1172156"/>
                  </a:lnTo>
                  <a:lnTo>
                    <a:pt x="760863" y="1130195"/>
                  </a:lnTo>
                  <a:lnTo>
                    <a:pt x="742359" y="1088417"/>
                  </a:lnTo>
                  <a:lnTo>
                    <a:pt x="723303" y="1046827"/>
                  </a:lnTo>
                  <a:lnTo>
                    <a:pt x="703695" y="1005431"/>
                  </a:lnTo>
                  <a:lnTo>
                    <a:pt x="683534" y="964234"/>
                  </a:lnTo>
                  <a:lnTo>
                    <a:pt x="662821" y="923242"/>
                  </a:lnTo>
                  <a:lnTo>
                    <a:pt x="641555" y="882460"/>
                  </a:lnTo>
                  <a:lnTo>
                    <a:pt x="619737" y="841894"/>
                  </a:lnTo>
                  <a:lnTo>
                    <a:pt x="597367" y="801549"/>
                  </a:lnTo>
                  <a:lnTo>
                    <a:pt x="574444" y="761432"/>
                  </a:lnTo>
                  <a:lnTo>
                    <a:pt x="550970" y="721547"/>
                  </a:lnTo>
                  <a:lnTo>
                    <a:pt x="526942" y="681900"/>
                  </a:lnTo>
                  <a:lnTo>
                    <a:pt x="502363" y="642496"/>
                  </a:lnTo>
                  <a:lnTo>
                    <a:pt x="477231" y="603342"/>
                  </a:lnTo>
                  <a:lnTo>
                    <a:pt x="451546" y="564442"/>
                  </a:lnTo>
                  <a:lnTo>
                    <a:pt x="425310" y="525803"/>
                  </a:lnTo>
                  <a:lnTo>
                    <a:pt x="398521" y="487429"/>
                  </a:lnTo>
                  <a:lnTo>
                    <a:pt x="371179" y="449326"/>
                  </a:lnTo>
                  <a:lnTo>
                    <a:pt x="343286" y="411500"/>
                  </a:lnTo>
                  <a:lnTo>
                    <a:pt x="314840" y="373956"/>
                  </a:lnTo>
                  <a:lnTo>
                    <a:pt x="285841" y="336701"/>
                  </a:lnTo>
                  <a:lnTo>
                    <a:pt x="256290" y="299738"/>
                  </a:lnTo>
                  <a:lnTo>
                    <a:pt x="226187" y="263075"/>
                  </a:lnTo>
                  <a:lnTo>
                    <a:pt x="195532" y="226716"/>
                  </a:lnTo>
                  <a:lnTo>
                    <a:pt x="164324" y="190667"/>
                  </a:lnTo>
                  <a:lnTo>
                    <a:pt x="132564" y="154933"/>
                  </a:lnTo>
                  <a:lnTo>
                    <a:pt x="100251" y="119521"/>
                  </a:lnTo>
                  <a:lnTo>
                    <a:pt x="67386" y="84435"/>
                  </a:lnTo>
                  <a:lnTo>
                    <a:pt x="33969" y="49681"/>
                  </a:lnTo>
                  <a:lnTo>
                    <a:pt x="0" y="15265"/>
                  </a:lnTo>
                  <a:lnTo>
                    <a:pt x="15265" y="0"/>
                  </a:lnTo>
                  <a:close/>
                </a:path>
              </a:pathLst>
            </a:custGeom>
            <a:noFill/>
            <a:ln cap="flat" cmpd="sng" w="19050">
              <a:solidFill>
                <a:srgbClr val="186B2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40"/>
            <p:cNvSpPr/>
            <p:nvPr/>
          </p:nvSpPr>
          <p:spPr>
            <a:xfrm>
              <a:off x="2670809" y="1523237"/>
              <a:ext cx="7541259" cy="676910"/>
            </a:xfrm>
            <a:custGeom>
              <a:rect b="b" l="l" r="r" t="t"/>
              <a:pathLst>
                <a:path extrusionOk="0" h="676910" w="7541259">
                  <a:moveTo>
                    <a:pt x="7540752" y="0"/>
                  </a:moveTo>
                  <a:lnTo>
                    <a:pt x="0" y="0"/>
                  </a:lnTo>
                  <a:lnTo>
                    <a:pt x="0" y="676656"/>
                  </a:lnTo>
                  <a:lnTo>
                    <a:pt x="7540752" y="676656"/>
                  </a:lnTo>
                  <a:lnTo>
                    <a:pt x="7540752" y="0"/>
                  </a:lnTo>
                  <a:close/>
                </a:path>
              </a:pathLst>
            </a:custGeom>
            <a:solidFill>
              <a:srgbClr val="E9703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40"/>
            <p:cNvSpPr/>
            <p:nvPr/>
          </p:nvSpPr>
          <p:spPr>
            <a:xfrm>
              <a:off x="2670809" y="1523237"/>
              <a:ext cx="7541259" cy="676910"/>
            </a:xfrm>
            <a:custGeom>
              <a:rect b="b" l="l" r="r" t="t"/>
              <a:pathLst>
                <a:path extrusionOk="0" h="676910" w="7541259">
                  <a:moveTo>
                    <a:pt x="0" y="0"/>
                  </a:moveTo>
                  <a:lnTo>
                    <a:pt x="7540752" y="0"/>
                  </a:lnTo>
                  <a:lnTo>
                    <a:pt x="7540752" y="676656"/>
                  </a:lnTo>
                  <a:lnTo>
                    <a:pt x="0" y="676656"/>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40"/>
            <p:cNvSpPr/>
            <p:nvPr/>
          </p:nvSpPr>
          <p:spPr>
            <a:xfrm>
              <a:off x="2247138" y="1437893"/>
              <a:ext cx="845819" cy="847725"/>
            </a:xfrm>
            <a:custGeom>
              <a:rect b="b" l="l" r="r" t="t"/>
              <a:pathLst>
                <a:path extrusionOk="0" h="847725" w="845819">
                  <a:moveTo>
                    <a:pt x="422909" y="0"/>
                  </a:moveTo>
                  <a:lnTo>
                    <a:pt x="373589" y="2850"/>
                  </a:lnTo>
                  <a:lnTo>
                    <a:pt x="325940" y="11189"/>
                  </a:lnTo>
                  <a:lnTo>
                    <a:pt x="280280" y="24699"/>
                  </a:lnTo>
                  <a:lnTo>
                    <a:pt x="236925" y="43062"/>
                  </a:lnTo>
                  <a:lnTo>
                    <a:pt x="196193" y="65961"/>
                  </a:lnTo>
                  <a:lnTo>
                    <a:pt x="158401" y="93076"/>
                  </a:lnTo>
                  <a:lnTo>
                    <a:pt x="123867" y="124091"/>
                  </a:lnTo>
                  <a:lnTo>
                    <a:pt x="92908" y="158687"/>
                  </a:lnTo>
                  <a:lnTo>
                    <a:pt x="65842" y="196547"/>
                  </a:lnTo>
                  <a:lnTo>
                    <a:pt x="42985" y="237353"/>
                  </a:lnTo>
                  <a:lnTo>
                    <a:pt x="24655" y="280786"/>
                  </a:lnTo>
                  <a:lnTo>
                    <a:pt x="11169" y="326528"/>
                  </a:lnTo>
                  <a:lnTo>
                    <a:pt x="2845" y="374263"/>
                  </a:lnTo>
                  <a:lnTo>
                    <a:pt x="0" y="423672"/>
                  </a:lnTo>
                  <a:lnTo>
                    <a:pt x="2845" y="473080"/>
                  </a:lnTo>
                  <a:lnTo>
                    <a:pt x="11169" y="520815"/>
                  </a:lnTo>
                  <a:lnTo>
                    <a:pt x="24655" y="566557"/>
                  </a:lnTo>
                  <a:lnTo>
                    <a:pt x="42985" y="609990"/>
                  </a:lnTo>
                  <a:lnTo>
                    <a:pt x="65842" y="650796"/>
                  </a:lnTo>
                  <a:lnTo>
                    <a:pt x="92908" y="688656"/>
                  </a:lnTo>
                  <a:lnTo>
                    <a:pt x="123867" y="723252"/>
                  </a:lnTo>
                  <a:lnTo>
                    <a:pt x="158401" y="754267"/>
                  </a:lnTo>
                  <a:lnTo>
                    <a:pt x="196193" y="781382"/>
                  </a:lnTo>
                  <a:lnTo>
                    <a:pt x="236925" y="804281"/>
                  </a:lnTo>
                  <a:lnTo>
                    <a:pt x="280280" y="822644"/>
                  </a:lnTo>
                  <a:lnTo>
                    <a:pt x="325940" y="836154"/>
                  </a:lnTo>
                  <a:lnTo>
                    <a:pt x="373589" y="844493"/>
                  </a:lnTo>
                  <a:lnTo>
                    <a:pt x="422909" y="847344"/>
                  </a:lnTo>
                  <a:lnTo>
                    <a:pt x="472230" y="844493"/>
                  </a:lnTo>
                  <a:lnTo>
                    <a:pt x="519879" y="836154"/>
                  </a:lnTo>
                  <a:lnTo>
                    <a:pt x="565539" y="822644"/>
                  </a:lnTo>
                  <a:lnTo>
                    <a:pt x="608894" y="804281"/>
                  </a:lnTo>
                  <a:lnTo>
                    <a:pt x="649626" y="781382"/>
                  </a:lnTo>
                  <a:lnTo>
                    <a:pt x="687418" y="754267"/>
                  </a:lnTo>
                  <a:lnTo>
                    <a:pt x="721952" y="723252"/>
                  </a:lnTo>
                  <a:lnTo>
                    <a:pt x="752911" y="688656"/>
                  </a:lnTo>
                  <a:lnTo>
                    <a:pt x="779977" y="650796"/>
                  </a:lnTo>
                  <a:lnTo>
                    <a:pt x="802834" y="609990"/>
                  </a:lnTo>
                  <a:lnTo>
                    <a:pt x="821164" y="566557"/>
                  </a:lnTo>
                  <a:lnTo>
                    <a:pt x="834650" y="520815"/>
                  </a:lnTo>
                  <a:lnTo>
                    <a:pt x="842974" y="473080"/>
                  </a:lnTo>
                  <a:lnTo>
                    <a:pt x="845819" y="423672"/>
                  </a:lnTo>
                  <a:lnTo>
                    <a:pt x="842974" y="374263"/>
                  </a:lnTo>
                  <a:lnTo>
                    <a:pt x="834650" y="326528"/>
                  </a:lnTo>
                  <a:lnTo>
                    <a:pt x="821164" y="280786"/>
                  </a:lnTo>
                  <a:lnTo>
                    <a:pt x="802834" y="237353"/>
                  </a:lnTo>
                  <a:lnTo>
                    <a:pt x="779977" y="196547"/>
                  </a:lnTo>
                  <a:lnTo>
                    <a:pt x="752911" y="158687"/>
                  </a:lnTo>
                  <a:lnTo>
                    <a:pt x="721952" y="124091"/>
                  </a:lnTo>
                  <a:lnTo>
                    <a:pt x="687418" y="93076"/>
                  </a:lnTo>
                  <a:lnTo>
                    <a:pt x="649626" y="65961"/>
                  </a:lnTo>
                  <a:lnTo>
                    <a:pt x="608894" y="43062"/>
                  </a:lnTo>
                  <a:lnTo>
                    <a:pt x="565539" y="24699"/>
                  </a:lnTo>
                  <a:lnTo>
                    <a:pt x="519879" y="11189"/>
                  </a:lnTo>
                  <a:lnTo>
                    <a:pt x="472230" y="2850"/>
                  </a:lnTo>
                  <a:lnTo>
                    <a:pt x="42290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40"/>
            <p:cNvSpPr/>
            <p:nvPr/>
          </p:nvSpPr>
          <p:spPr>
            <a:xfrm>
              <a:off x="2247138" y="1437893"/>
              <a:ext cx="845819" cy="847725"/>
            </a:xfrm>
            <a:custGeom>
              <a:rect b="b" l="l" r="r" t="t"/>
              <a:pathLst>
                <a:path extrusionOk="0" h="847725" w="845819">
                  <a:moveTo>
                    <a:pt x="0" y="423672"/>
                  </a:moveTo>
                  <a:lnTo>
                    <a:pt x="2845" y="374263"/>
                  </a:lnTo>
                  <a:lnTo>
                    <a:pt x="11169" y="326528"/>
                  </a:lnTo>
                  <a:lnTo>
                    <a:pt x="24655" y="280786"/>
                  </a:lnTo>
                  <a:lnTo>
                    <a:pt x="42985" y="237353"/>
                  </a:lnTo>
                  <a:lnTo>
                    <a:pt x="65842" y="196547"/>
                  </a:lnTo>
                  <a:lnTo>
                    <a:pt x="92908" y="158687"/>
                  </a:lnTo>
                  <a:lnTo>
                    <a:pt x="123867" y="124091"/>
                  </a:lnTo>
                  <a:lnTo>
                    <a:pt x="158401" y="93076"/>
                  </a:lnTo>
                  <a:lnTo>
                    <a:pt x="196193" y="65961"/>
                  </a:lnTo>
                  <a:lnTo>
                    <a:pt x="236925" y="43062"/>
                  </a:lnTo>
                  <a:lnTo>
                    <a:pt x="280280" y="24699"/>
                  </a:lnTo>
                  <a:lnTo>
                    <a:pt x="325940" y="11189"/>
                  </a:lnTo>
                  <a:lnTo>
                    <a:pt x="373589" y="2850"/>
                  </a:lnTo>
                  <a:lnTo>
                    <a:pt x="422909" y="0"/>
                  </a:lnTo>
                  <a:lnTo>
                    <a:pt x="472230" y="2850"/>
                  </a:lnTo>
                  <a:lnTo>
                    <a:pt x="519879" y="11189"/>
                  </a:lnTo>
                  <a:lnTo>
                    <a:pt x="565539" y="24699"/>
                  </a:lnTo>
                  <a:lnTo>
                    <a:pt x="608894" y="43062"/>
                  </a:lnTo>
                  <a:lnTo>
                    <a:pt x="649626" y="65961"/>
                  </a:lnTo>
                  <a:lnTo>
                    <a:pt x="687418" y="93076"/>
                  </a:lnTo>
                  <a:lnTo>
                    <a:pt x="721952" y="124091"/>
                  </a:lnTo>
                  <a:lnTo>
                    <a:pt x="752911" y="158687"/>
                  </a:lnTo>
                  <a:lnTo>
                    <a:pt x="779977" y="196547"/>
                  </a:lnTo>
                  <a:lnTo>
                    <a:pt x="802834" y="237353"/>
                  </a:lnTo>
                  <a:lnTo>
                    <a:pt x="821164" y="280786"/>
                  </a:lnTo>
                  <a:lnTo>
                    <a:pt x="834650" y="326528"/>
                  </a:lnTo>
                  <a:lnTo>
                    <a:pt x="842974" y="374263"/>
                  </a:lnTo>
                  <a:lnTo>
                    <a:pt x="845819" y="423672"/>
                  </a:lnTo>
                  <a:lnTo>
                    <a:pt x="842974" y="473080"/>
                  </a:lnTo>
                  <a:lnTo>
                    <a:pt x="834650" y="520815"/>
                  </a:lnTo>
                  <a:lnTo>
                    <a:pt x="821164" y="566557"/>
                  </a:lnTo>
                  <a:lnTo>
                    <a:pt x="802834" y="609990"/>
                  </a:lnTo>
                  <a:lnTo>
                    <a:pt x="779977" y="650796"/>
                  </a:lnTo>
                  <a:lnTo>
                    <a:pt x="752911" y="688656"/>
                  </a:lnTo>
                  <a:lnTo>
                    <a:pt x="721952" y="723252"/>
                  </a:lnTo>
                  <a:lnTo>
                    <a:pt x="687418" y="754267"/>
                  </a:lnTo>
                  <a:lnTo>
                    <a:pt x="649626" y="781382"/>
                  </a:lnTo>
                  <a:lnTo>
                    <a:pt x="608894" y="804281"/>
                  </a:lnTo>
                  <a:lnTo>
                    <a:pt x="565539" y="822644"/>
                  </a:lnTo>
                  <a:lnTo>
                    <a:pt x="519879" y="836154"/>
                  </a:lnTo>
                  <a:lnTo>
                    <a:pt x="472230" y="844493"/>
                  </a:lnTo>
                  <a:lnTo>
                    <a:pt x="422909" y="847344"/>
                  </a:lnTo>
                  <a:lnTo>
                    <a:pt x="373589" y="844493"/>
                  </a:lnTo>
                  <a:lnTo>
                    <a:pt x="325940" y="836154"/>
                  </a:lnTo>
                  <a:lnTo>
                    <a:pt x="280280" y="822644"/>
                  </a:lnTo>
                  <a:lnTo>
                    <a:pt x="236925" y="804281"/>
                  </a:lnTo>
                  <a:lnTo>
                    <a:pt x="196193" y="781382"/>
                  </a:lnTo>
                  <a:lnTo>
                    <a:pt x="158401" y="754267"/>
                  </a:lnTo>
                  <a:lnTo>
                    <a:pt x="123867" y="723252"/>
                  </a:lnTo>
                  <a:lnTo>
                    <a:pt x="92908" y="688656"/>
                  </a:lnTo>
                  <a:lnTo>
                    <a:pt x="65842" y="650796"/>
                  </a:lnTo>
                  <a:lnTo>
                    <a:pt x="42985" y="609990"/>
                  </a:lnTo>
                  <a:lnTo>
                    <a:pt x="24655" y="566557"/>
                  </a:lnTo>
                  <a:lnTo>
                    <a:pt x="11169" y="520815"/>
                  </a:lnTo>
                  <a:lnTo>
                    <a:pt x="2845" y="473080"/>
                  </a:lnTo>
                  <a:lnTo>
                    <a:pt x="0" y="423672"/>
                  </a:lnTo>
                  <a:close/>
                </a:path>
              </a:pathLst>
            </a:custGeom>
            <a:noFill/>
            <a:ln cap="flat" cmpd="sng" w="19050">
              <a:solidFill>
                <a:srgbClr val="E9703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40"/>
            <p:cNvSpPr/>
            <p:nvPr/>
          </p:nvSpPr>
          <p:spPr>
            <a:xfrm>
              <a:off x="3155441" y="2538222"/>
              <a:ext cx="7056120" cy="678180"/>
            </a:xfrm>
            <a:custGeom>
              <a:rect b="b" l="l" r="r" t="t"/>
              <a:pathLst>
                <a:path extrusionOk="0" h="678180" w="7056120">
                  <a:moveTo>
                    <a:pt x="7056120" y="0"/>
                  </a:moveTo>
                  <a:lnTo>
                    <a:pt x="0" y="0"/>
                  </a:lnTo>
                  <a:lnTo>
                    <a:pt x="0" y="678179"/>
                  </a:lnTo>
                  <a:lnTo>
                    <a:pt x="7056120" y="678179"/>
                  </a:lnTo>
                  <a:lnTo>
                    <a:pt x="7056120" y="0"/>
                  </a:lnTo>
                  <a:close/>
                </a:path>
              </a:pathLst>
            </a:custGeom>
            <a:solidFill>
              <a:srgbClr val="D7B01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40"/>
            <p:cNvSpPr/>
            <p:nvPr/>
          </p:nvSpPr>
          <p:spPr>
            <a:xfrm>
              <a:off x="3155441" y="2538222"/>
              <a:ext cx="7056120" cy="678180"/>
            </a:xfrm>
            <a:custGeom>
              <a:rect b="b" l="l" r="r" t="t"/>
              <a:pathLst>
                <a:path extrusionOk="0" h="678180" w="7056120">
                  <a:moveTo>
                    <a:pt x="0" y="0"/>
                  </a:moveTo>
                  <a:lnTo>
                    <a:pt x="7056120" y="0"/>
                  </a:lnTo>
                  <a:lnTo>
                    <a:pt x="7056120" y="678179"/>
                  </a:lnTo>
                  <a:lnTo>
                    <a:pt x="0" y="678179"/>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40"/>
            <p:cNvSpPr/>
            <p:nvPr/>
          </p:nvSpPr>
          <p:spPr>
            <a:xfrm>
              <a:off x="2731769" y="2454401"/>
              <a:ext cx="847725" cy="847725"/>
            </a:xfrm>
            <a:custGeom>
              <a:rect b="b" l="l" r="r" t="t"/>
              <a:pathLst>
                <a:path extrusionOk="0" h="847725" w="847725">
                  <a:moveTo>
                    <a:pt x="423672" y="0"/>
                  </a:moveTo>
                  <a:lnTo>
                    <a:pt x="374263" y="2850"/>
                  </a:lnTo>
                  <a:lnTo>
                    <a:pt x="326528" y="11189"/>
                  </a:lnTo>
                  <a:lnTo>
                    <a:pt x="280786" y="24699"/>
                  </a:lnTo>
                  <a:lnTo>
                    <a:pt x="237353" y="43062"/>
                  </a:lnTo>
                  <a:lnTo>
                    <a:pt x="196547" y="65961"/>
                  </a:lnTo>
                  <a:lnTo>
                    <a:pt x="158687" y="93076"/>
                  </a:lnTo>
                  <a:lnTo>
                    <a:pt x="124091" y="124091"/>
                  </a:lnTo>
                  <a:lnTo>
                    <a:pt x="93076" y="158687"/>
                  </a:lnTo>
                  <a:lnTo>
                    <a:pt x="65961" y="196547"/>
                  </a:lnTo>
                  <a:lnTo>
                    <a:pt x="43062" y="237353"/>
                  </a:lnTo>
                  <a:lnTo>
                    <a:pt x="24699" y="280786"/>
                  </a:lnTo>
                  <a:lnTo>
                    <a:pt x="11189" y="326528"/>
                  </a:lnTo>
                  <a:lnTo>
                    <a:pt x="2850" y="374263"/>
                  </a:lnTo>
                  <a:lnTo>
                    <a:pt x="0" y="423672"/>
                  </a:lnTo>
                  <a:lnTo>
                    <a:pt x="2850" y="473080"/>
                  </a:lnTo>
                  <a:lnTo>
                    <a:pt x="11189" y="520815"/>
                  </a:lnTo>
                  <a:lnTo>
                    <a:pt x="24699" y="566557"/>
                  </a:lnTo>
                  <a:lnTo>
                    <a:pt x="43062" y="609990"/>
                  </a:lnTo>
                  <a:lnTo>
                    <a:pt x="65961" y="650796"/>
                  </a:lnTo>
                  <a:lnTo>
                    <a:pt x="93076" y="688656"/>
                  </a:lnTo>
                  <a:lnTo>
                    <a:pt x="124091" y="723252"/>
                  </a:lnTo>
                  <a:lnTo>
                    <a:pt x="158687" y="754267"/>
                  </a:lnTo>
                  <a:lnTo>
                    <a:pt x="196547" y="781382"/>
                  </a:lnTo>
                  <a:lnTo>
                    <a:pt x="237353" y="804281"/>
                  </a:lnTo>
                  <a:lnTo>
                    <a:pt x="280786" y="822644"/>
                  </a:lnTo>
                  <a:lnTo>
                    <a:pt x="326528" y="836154"/>
                  </a:lnTo>
                  <a:lnTo>
                    <a:pt x="374263" y="844493"/>
                  </a:lnTo>
                  <a:lnTo>
                    <a:pt x="423672" y="847344"/>
                  </a:lnTo>
                  <a:lnTo>
                    <a:pt x="473080" y="844493"/>
                  </a:lnTo>
                  <a:lnTo>
                    <a:pt x="520815" y="836154"/>
                  </a:lnTo>
                  <a:lnTo>
                    <a:pt x="566557" y="822644"/>
                  </a:lnTo>
                  <a:lnTo>
                    <a:pt x="609990" y="804281"/>
                  </a:lnTo>
                  <a:lnTo>
                    <a:pt x="650796" y="781382"/>
                  </a:lnTo>
                  <a:lnTo>
                    <a:pt x="688656" y="754267"/>
                  </a:lnTo>
                  <a:lnTo>
                    <a:pt x="723252" y="723252"/>
                  </a:lnTo>
                  <a:lnTo>
                    <a:pt x="754267" y="688656"/>
                  </a:lnTo>
                  <a:lnTo>
                    <a:pt x="781382" y="650796"/>
                  </a:lnTo>
                  <a:lnTo>
                    <a:pt x="804281" y="609990"/>
                  </a:lnTo>
                  <a:lnTo>
                    <a:pt x="822644" y="566557"/>
                  </a:lnTo>
                  <a:lnTo>
                    <a:pt x="836154" y="520815"/>
                  </a:lnTo>
                  <a:lnTo>
                    <a:pt x="844493" y="473080"/>
                  </a:lnTo>
                  <a:lnTo>
                    <a:pt x="847344" y="423672"/>
                  </a:lnTo>
                  <a:lnTo>
                    <a:pt x="844493" y="374263"/>
                  </a:lnTo>
                  <a:lnTo>
                    <a:pt x="836154" y="326528"/>
                  </a:lnTo>
                  <a:lnTo>
                    <a:pt x="822644" y="280786"/>
                  </a:lnTo>
                  <a:lnTo>
                    <a:pt x="804281" y="237353"/>
                  </a:lnTo>
                  <a:lnTo>
                    <a:pt x="781382" y="196547"/>
                  </a:lnTo>
                  <a:lnTo>
                    <a:pt x="754267" y="158687"/>
                  </a:lnTo>
                  <a:lnTo>
                    <a:pt x="723252" y="124091"/>
                  </a:lnTo>
                  <a:lnTo>
                    <a:pt x="688656" y="93076"/>
                  </a:lnTo>
                  <a:lnTo>
                    <a:pt x="650796" y="65961"/>
                  </a:lnTo>
                  <a:lnTo>
                    <a:pt x="609990" y="43062"/>
                  </a:lnTo>
                  <a:lnTo>
                    <a:pt x="566557" y="24699"/>
                  </a:lnTo>
                  <a:lnTo>
                    <a:pt x="520815" y="11189"/>
                  </a:lnTo>
                  <a:lnTo>
                    <a:pt x="473080" y="2850"/>
                  </a:lnTo>
                  <a:lnTo>
                    <a:pt x="42367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40"/>
            <p:cNvSpPr/>
            <p:nvPr/>
          </p:nvSpPr>
          <p:spPr>
            <a:xfrm>
              <a:off x="2731769" y="2454401"/>
              <a:ext cx="847725" cy="847725"/>
            </a:xfrm>
            <a:custGeom>
              <a:rect b="b" l="l" r="r" t="t"/>
              <a:pathLst>
                <a:path extrusionOk="0" h="847725" w="847725">
                  <a:moveTo>
                    <a:pt x="0" y="423672"/>
                  </a:moveTo>
                  <a:lnTo>
                    <a:pt x="2850" y="374263"/>
                  </a:lnTo>
                  <a:lnTo>
                    <a:pt x="11189" y="326528"/>
                  </a:lnTo>
                  <a:lnTo>
                    <a:pt x="24699" y="280786"/>
                  </a:lnTo>
                  <a:lnTo>
                    <a:pt x="43062" y="237353"/>
                  </a:lnTo>
                  <a:lnTo>
                    <a:pt x="65961" y="196547"/>
                  </a:lnTo>
                  <a:lnTo>
                    <a:pt x="93076" y="158687"/>
                  </a:lnTo>
                  <a:lnTo>
                    <a:pt x="124091" y="124091"/>
                  </a:lnTo>
                  <a:lnTo>
                    <a:pt x="158687" y="93076"/>
                  </a:lnTo>
                  <a:lnTo>
                    <a:pt x="196547" y="65961"/>
                  </a:lnTo>
                  <a:lnTo>
                    <a:pt x="237353" y="43062"/>
                  </a:lnTo>
                  <a:lnTo>
                    <a:pt x="280786" y="24699"/>
                  </a:lnTo>
                  <a:lnTo>
                    <a:pt x="326528" y="11189"/>
                  </a:lnTo>
                  <a:lnTo>
                    <a:pt x="374263" y="2850"/>
                  </a:lnTo>
                  <a:lnTo>
                    <a:pt x="423672" y="0"/>
                  </a:lnTo>
                  <a:lnTo>
                    <a:pt x="473080" y="2850"/>
                  </a:lnTo>
                  <a:lnTo>
                    <a:pt x="520815" y="11189"/>
                  </a:lnTo>
                  <a:lnTo>
                    <a:pt x="566557" y="24699"/>
                  </a:lnTo>
                  <a:lnTo>
                    <a:pt x="609990" y="43062"/>
                  </a:lnTo>
                  <a:lnTo>
                    <a:pt x="650796" y="65961"/>
                  </a:lnTo>
                  <a:lnTo>
                    <a:pt x="688656" y="93076"/>
                  </a:lnTo>
                  <a:lnTo>
                    <a:pt x="723252" y="124091"/>
                  </a:lnTo>
                  <a:lnTo>
                    <a:pt x="754267" y="158687"/>
                  </a:lnTo>
                  <a:lnTo>
                    <a:pt x="781382" y="196547"/>
                  </a:lnTo>
                  <a:lnTo>
                    <a:pt x="804281" y="237353"/>
                  </a:lnTo>
                  <a:lnTo>
                    <a:pt x="822644" y="280786"/>
                  </a:lnTo>
                  <a:lnTo>
                    <a:pt x="836154" y="326528"/>
                  </a:lnTo>
                  <a:lnTo>
                    <a:pt x="844493" y="374263"/>
                  </a:lnTo>
                  <a:lnTo>
                    <a:pt x="847344" y="423672"/>
                  </a:lnTo>
                  <a:lnTo>
                    <a:pt x="844493" y="473080"/>
                  </a:lnTo>
                  <a:lnTo>
                    <a:pt x="836154" y="520815"/>
                  </a:lnTo>
                  <a:lnTo>
                    <a:pt x="822644" y="566557"/>
                  </a:lnTo>
                  <a:lnTo>
                    <a:pt x="804281" y="609990"/>
                  </a:lnTo>
                  <a:lnTo>
                    <a:pt x="781382" y="650796"/>
                  </a:lnTo>
                  <a:lnTo>
                    <a:pt x="754267" y="688656"/>
                  </a:lnTo>
                  <a:lnTo>
                    <a:pt x="723252" y="723252"/>
                  </a:lnTo>
                  <a:lnTo>
                    <a:pt x="688656" y="754267"/>
                  </a:lnTo>
                  <a:lnTo>
                    <a:pt x="650796" y="781382"/>
                  </a:lnTo>
                  <a:lnTo>
                    <a:pt x="609990" y="804281"/>
                  </a:lnTo>
                  <a:lnTo>
                    <a:pt x="566557" y="822644"/>
                  </a:lnTo>
                  <a:lnTo>
                    <a:pt x="520815" y="836154"/>
                  </a:lnTo>
                  <a:lnTo>
                    <a:pt x="473080" y="844493"/>
                  </a:lnTo>
                  <a:lnTo>
                    <a:pt x="423672" y="847344"/>
                  </a:lnTo>
                  <a:lnTo>
                    <a:pt x="374263" y="844493"/>
                  </a:lnTo>
                  <a:lnTo>
                    <a:pt x="326528" y="836154"/>
                  </a:lnTo>
                  <a:lnTo>
                    <a:pt x="280786" y="822644"/>
                  </a:lnTo>
                  <a:lnTo>
                    <a:pt x="237353" y="804281"/>
                  </a:lnTo>
                  <a:lnTo>
                    <a:pt x="196547" y="781382"/>
                  </a:lnTo>
                  <a:lnTo>
                    <a:pt x="158687" y="754267"/>
                  </a:lnTo>
                  <a:lnTo>
                    <a:pt x="124091" y="723252"/>
                  </a:lnTo>
                  <a:lnTo>
                    <a:pt x="93076" y="688656"/>
                  </a:lnTo>
                  <a:lnTo>
                    <a:pt x="65961" y="650796"/>
                  </a:lnTo>
                  <a:lnTo>
                    <a:pt x="43062" y="609990"/>
                  </a:lnTo>
                  <a:lnTo>
                    <a:pt x="24699" y="566557"/>
                  </a:lnTo>
                  <a:lnTo>
                    <a:pt x="11189" y="520815"/>
                  </a:lnTo>
                  <a:lnTo>
                    <a:pt x="2850" y="473080"/>
                  </a:lnTo>
                  <a:lnTo>
                    <a:pt x="0" y="423672"/>
                  </a:lnTo>
                  <a:close/>
                </a:path>
              </a:pathLst>
            </a:custGeom>
            <a:noFill/>
            <a:ln cap="flat" cmpd="sng" w="19050">
              <a:solidFill>
                <a:srgbClr val="D7B01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40"/>
            <p:cNvSpPr/>
            <p:nvPr/>
          </p:nvSpPr>
          <p:spPr>
            <a:xfrm>
              <a:off x="3304794" y="3554729"/>
              <a:ext cx="6906895" cy="678180"/>
            </a:xfrm>
            <a:custGeom>
              <a:rect b="b" l="l" r="r" t="t"/>
              <a:pathLst>
                <a:path extrusionOk="0" h="678179" w="6906895">
                  <a:moveTo>
                    <a:pt x="6906768" y="0"/>
                  </a:moveTo>
                  <a:lnTo>
                    <a:pt x="0" y="0"/>
                  </a:lnTo>
                  <a:lnTo>
                    <a:pt x="0" y="678180"/>
                  </a:lnTo>
                  <a:lnTo>
                    <a:pt x="6906768" y="678180"/>
                  </a:lnTo>
                  <a:lnTo>
                    <a:pt x="6906768" y="0"/>
                  </a:lnTo>
                  <a:close/>
                </a:path>
              </a:pathLst>
            </a:custGeom>
            <a:solidFill>
              <a:srgbClr val="8EB11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40"/>
            <p:cNvSpPr/>
            <p:nvPr/>
          </p:nvSpPr>
          <p:spPr>
            <a:xfrm>
              <a:off x="3304794" y="3554729"/>
              <a:ext cx="6906895" cy="678180"/>
            </a:xfrm>
            <a:custGeom>
              <a:rect b="b" l="l" r="r" t="t"/>
              <a:pathLst>
                <a:path extrusionOk="0" h="678179" w="6906895">
                  <a:moveTo>
                    <a:pt x="0" y="0"/>
                  </a:moveTo>
                  <a:lnTo>
                    <a:pt x="6906768" y="0"/>
                  </a:lnTo>
                  <a:lnTo>
                    <a:pt x="6906768" y="678180"/>
                  </a:lnTo>
                  <a:lnTo>
                    <a:pt x="0" y="678180"/>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40"/>
            <p:cNvSpPr/>
            <p:nvPr/>
          </p:nvSpPr>
          <p:spPr>
            <a:xfrm>
              <a:off x="2881122" y="3470910"/>
              <a:ext cx="847725" cy="845819"/>
            </a:xfrm>
            <a:custGeom>
              <a:rect b="b" l="l" r="r" t="t"/>
              <a:pathLst>
                <a:path extrusionOk="0" h="845820" w="847725">
                  <a:moveTo>
                    <a:pt x="423672" y="0"/>
                  </a:moveTo>
                  <a:lnTo>
                    <a:pt x="374263" y="2845"/>
                  </a:lnTo>
                  <a:lnTo>
                    <a:pt x="326528" y="11169"/>
                  </a:lnTo>
                  <a:lnTo>
                    <a:pt x="280786" y="24655"/>
                  </a:lnTo>
                  <a:lnTo>
                    <a:pt x="237353" y="42985"/>
                  </a:lnTo>
                  <a:lnTo>
                    <a:pt x="196547" y="65842"/>
                  </a:lnTo>
                  <a:lnTo>
                    <a:pt x="158687" y="92908"/>
                  </a:lnTo>
                  <a:lnTo>
                    <a:pt x="124091" y="123867"/>
                  </a:lnTo>
                  <a:lnTo>
                    <a:pt x="93076" y="158401"/>
                  </a:lnTo>
                  <a:lnTo>
                    <a:pt x="65961" y="196193"/>
                  </a:lnTo>
                  <a:lnTo>
                    <a:pt x="43062" y="236925"/>
                  </a:lnTo>
                  <a:lnTo>
                    <a:pt x="24699" y="280280"/>
                  </a:lnTo>
                  <a:lnTo>
                    <a:pt x="11189" y="325940"/>
                  </a:lnTo>
                  <a:lnTo>
                    <a:pt x="2850" y="373589"/>
                  </a:lnTo>
                  <a:lnTo>
                    <a:pt x="0" y="422909"/>
                  </a:lnTo>
                  <a:lnTo>
                    <a:pt x="2850" y="472230"/>
                  </a:lnTo>
                  <a:lnTo>
                    <a:pt x="11189" y="519879"/>
                  </a:lnTo>
                  <a:lnTo>
                    <a:pt x="24699" y="565539"/>
                  </a:lnTo>
                  <a:lnTo>
                    <a:pt x="43062" y="608894"/>
                  </a:lnTo>
                  <a:lnTo>
                    <a:pt x="65961" y="649626"/>
                  </a:lnTo>
                  <a:lnTo>
                    <a:pt x="93076" y="687418"/>
                  </a:lnTo>
                  <a:lnTo>
                    <a:pt x="124091" y="721952"/>
                  </a:lnTo>
                  <a:lnTo>
                    <a:pt x="158687" y="752911"/>
                  </a:lnTo>
                  <a:lnTo>
                    <a:pt x="196547" y="779977"/>
                  </a:lnTo>
                  <a:lnTo>
                    <a:pt x="237353" y="802834"/>
                  </a:lnTo>
                  <a:lnTo>
                    <a:pt x="280786" y="821164"/>
                  </a:lnTo>
                  <a:lnTo>
                    <a:pt x="326528" y="834650"/>
                  </a:lnTo>
                  <a:lnTo>
                    <a:pt x="374263" y="842974"/>
                  </a:lnTo>
                  <a:lnTo>
                    <a:pt x="423672" y="845819"/>
                  </a:lnTo>
                  <a:lnTo>
                    <a:pt x="473080" y="842974"/>
                  </a:lnTo>
                  <a:lnTo>
                    <a:pt x="520815" y="834650"/>
                  </a:lnTo>
                  <a:lnTo>
                    <a:pt x="566557" y="821164"/>
                  </a:lnTo>
                  <a:lnTo>
                    <a:pt x="609990" y="802834"/>
                  </a:lnTo>
                  <a:lnTo>
                    <a:pt x="650796" y="779977"/>
                  </a:lnTo>
                  <a:lnTo>
                    <a:pt x="688656" y="752911"/>
                  </a:lnTo>
                  <a:lnTo>
                    <a:pt x="723252" y="721952"/>
                  </a:lnTo>
                  <a:lnTo>
                    <a:pt x="754267" y="687418"/>
                  </a:lnTo>
                  <a:lnTo>
                    <a:pt x="781382" y="649626"/>
                  </a:lnTo>
                  <a:lnTo>
                    <a:pt x="804281" y="608894"/>
                  </a:lnTo>
                  <a:lnTo>
                    <a:pt x="822644" y="565539"/>
                  </a:lnTo>
                  <a:lnTo>
                    <a:pt x="836154" y="519879"/>
                  </a:lnTo>
                  <a:lnTo>
                    <a:pt x="844493" y="472230"/>
                  </a:lnTo>
                  <a:lnTo>
                    <a:pt x="847344" y="422909"/>
                  </a:lnTo>
                  <a:lnTo>
                    <a:pt x="844493" y="373589"/>
                  </a:lnTo>
                  <a:lnTo>
                    <a:pt x="836154" y="325940"/>
                  </a:lnTo>
                  <a:lnTo>
                    <a:pt x="822644" y="280280"/>
                  </a:lnTo>
                  <a:lnTo>
                    <a:pt x="804281" y="236925"/>
                  </a:lnTo>
                  <a:lnTo>
                    <a:pt x="781382" y="196193"/>
                  </a:lnTo>
                  <a:lnTo>
                    <a:pt x="754267" y="158401"/>
                  </a:lnTo>
                  <a:lnTo>
                    <a:pt x="723252" y="123867"/>
                  </a:lnTo>
                  <a:lnTo>
                    <a:pt x="688656" y="92908"/>
                  </a:lnTo>
                  <a:lnTo>
                    <a:pt x="650796" y="65842"/>
                  </a:lnTo>
                  <a:lnTo>
                    <a:pt x="609990" y="42985"/>
                  </a:lnTo>
                  <a:lnTo>
                    <a:pt x="566557" y="24655"/>
                  </a:lnTo>
                  <a:lnTo>
                    <a:pt x="520815" y="11169"/>
                  </a:lnTo>
                  <a:lnTo>
                    <a:pt x="473080" y="2845"/>
                  </a:lnTo>
                  <a:lnTo>
                    <a:pt x="42367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40"/>
            <p:cNvSpPr/>
            <p:nvPr/>
          </p:nvSpPr>
          <p:spPr>
            <a:xfrm>
              <a:off x="2881122" y="3470910"/>
              <a:ext cx="847725" cy="845819"/>
            </a:xfrm>
            <a:custGeom>
              <a:rect b="b" l="l" r="r" t="t"/>
              <a:pathLst>
                <a:path extrusionOk="0" h="845820" w="847725">
                  <a:moveTo>
                    <a:pt x="0" y="422909"/>
                  </a:moveTo>
                  <a:lnTo>
                    <a:pt x="2850" y="373589"/>
                  </a:lnTo>
                  <a:lnTo>
                    <a:pt x="11189" y="325940"/>
                  </a:lnTo>
                  <a:lnTo>
                    <a:pt x="24699" y="280280"/>
                  </a:lnTo>
                  <a:lnTo>
                    <a:pt x="43062" y="236925"/>
                  </a:lnTo>
                  <a:lnTo>
                    <a:pt x="65961" y="196193"/>
                  </a:lnTo>
                  <a:lnTo>
                    <a:pt x="93076" y="158401"/>
                  </a:lnTo>
                  <a:lnTo>
                    <a:pt x="124091" y="123867"/>
                  </a:lnTo>
                  <a:lnTo>
                    <a:pt x="158687" y="92908"/>
                  </a:lnTo>
                  <a:lnTo>
                    <a:pt x="196547" y="65842"/>
                  </a:lnTo>
                  <a:lnTo>
                    <a:pt x="237353" y="42985"/>
                  </a:lnTo>
                  <a:lnTo>
                    <a:pt x="280786" y="24655"/>
                  </a:lnTo>
                  <a:lnTo>
                    <a:pt x="326528" y="11169"/>
                  </a:lnTo>
                  <a:lnTo>
                    <a:pt x="374263" y="2845"/>
                  </a:lnTo>
                  <a:lnTo>
                    <a:pt x="423672" y="0"/>
                  </a:lnTo>
                  <a:lnTo>
                    <a:pt x="473080" y="2845"/>
                  </a:lnTo>
                  <a:lnTo>
                    <a:pt x="520815" y="11169"/>
                  </a:lnTo>
                  <a:lnTo>
                    <a:pt x="566557" y="24655"/>
                  </a:lnTo>
                  <a:lnTo>
                    <a:pt x="609990" y="42985"/>
                  </a:lnTo>
                  <a:lnTo>
                    <a:pt x="650796" y="65842"/>
                  </a:lnTo>
                  <a:lnTo>
                    <a:pt x="688656" y="92908"/>
                  </a:lnTo>
                  <a:lnTo>
                    <a:pt x="723252" y="123867"/>
                  </a:lnTo>
                  <a:lnTo>
                    <a:pt x="754267" y="158401"/>
                  </a:lnTo>
                  <a:lnTo>
                    <a:pt x="781382" y="196193"/>
                  </a:lnTo>
                  <a:lnTo>
                    <a:pt x="804281" y="236925"/>
                  </a:lnTo>
                  <a:lnTo>
                    <a:pt x="822644" y="280280"/>
                  </a:lnTo>
                  <a:lnTo>
                    <a:pt x="836154" y="325940"/>
                  </a:lnTo>
                  <a:lnTo>
                    <a:pt x="844493" y="373589"/>
                  </a:lnTo>
                  <a:lnTo>
                    <a:pt x="847344" y="422909"/>
                  </a:lnTo>
                  <a:lnTo>
                    <a:pt x="844493" y="472230"/>
                  </a:lnTo>
                  <a:lnTo>
                    <a:pt x="836154" y="519879"/>
                  </a:lnTo>
                  <a:lnTo>
                    <a:pt x="822644" y="565539"/>
                  </a:lnTo>
                  <a:lnTo>
                    <a:pt x="804281" y="608894"/>
                  </a:lnTo>
                  <a:lnTo>
                    <a:pt x="781382" y="649626"/>
                  </a:lnTo>
                  <a:lnTo>
                    <a:pt x="754267" y="687418"/>
                  </a:lnTo>
                  <a:lnTo>
                    <a:pt x="723252" y="721952"/>
                  </a:lnTo>
                  <a:lnTo>
                    <a:pt x="688656" y="752911"/>
                  </a:lnTo>
                  <a:lnTo>
                    <a:pt x="650796" y="779977"/>
                  </a:lnTo>
                  <a:lnTo>
                    <a:pt x="609990" y="802834"/>
                  </a:lnTo>
                  <a:lnTo>
                    <a:pt x="566557" y="821164"/>
                  </a:lnTo>
                  <a:lnTo>
                    <a:pt x="520815" y="834650"/>
                  </a:lnTo>
                  <a:lnTo>
                    <a:pt x="473080" y="842974"/>
                  </a:lnTo>
                  <a:lnTo>
                    <a:pt x="423672" y="845819"/>
                  </a:lnTo>
                  <a:lnTo>
                    <a:pt x="374263" y="842974"/>
                  </a:lnTo>
                  <a:lnTo>
                    <a:pt x="326528" y="834650"/>
                  </a:lnTo>
                  <a:lnTo>
                    <a:pt x="280786" y="821164"/>
                  </a:lnTo>
                  <a:lnTo>
                    <a:pt x="237353" y="802834"/>
                  </a:lnTo>
                  <a:lnTo>
                    <a:pt x="196547" y="779977"/>
                  </a:lnTo>
                  <a:lnTo>
                    <a:pt x="158687" y="752911"/>
                  </a:lnTo>
                  <a:lnTo>
                    <a:pt x="124091" y="721952"/>
                  </a:lnTo>
                  <a:lnTo>
                    <a:pt x="93076" y="687418"/>
                  </a:lnTo>
                  <a:lnTo>
                    <a:pt x="65961" y="649626"/>
                  </a:lnTo>
                  <a:lnTo>
                    <a:pt x="43062" y="608894"/>
                  </a:lnTo>
                  <a:lnTo>
                    <a:pt x="24699" y="565539"/>
                  </a:lnTo>
                  <a:lnTo>
                    <a:pt x="11189" y="519879"/>
                  </a:lnTo>
                  <a:lnTo>
                    <a:pt x="2850" y="472230"/>
                  </a:lnTo>
                  <a:lnTo>
                    <a:pt x="0" y="422909"/>
                  </a:lnTo>
                  <a:close/>
                </a:path>
              </a:pathLst>
            </a:custGeom>
            <a:noFill/>
            <a:ln cap="flat" cmpd="sng" w="19050">
              <a:solidFill>
                <a:srgbClr val="8EB11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40"/>
            <p:cNvSpPr/>
            <p:nvPr/>
          </p:nvSpPr>
          <p:spPr>
            <a:xfrm>
              <a:off x="3155441" y="4571237"/>
              <a:ext cx="7056120" cy="676910"/>
            </a:xfrm>
            <a:custGeom>
              <a:rect b="b" l="l" r="r" t="t"/>
              <a:pathLst>
                <a:path extrusionOk="0" h="676910" w="7056120">
                  <a:moveTo>
                    <a:pt x="7056120" y="0"/>
                  </a:moveTo>
                  <a:lnTo>
                    <a:pt x="0" y="0"/>
                  </a:lnTo>
                  <a:lnTo>
                    <a:pt x="0" y="676656"/>
                  </a:lnTo>
                  <a:lnTo>
                    <a:pt x="7056120" y="676656"/>
                  </a:lnTo>
                  <a:lnTo>
                    <a:pt x="7056120" y="0"/>
                  </a:lnTo>
                  <a:close/>
                </a:path>
              </a:pathLst>
            </a:custGeom>
            <a:solidFill>
              <a:srgbClr val="408E1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40"/>
            <p:cNvSpPr/>
            <p:nvPr/>
          </p:nvSpPr>
          <p:spPr>
            <a:xfrm>
              <a:off x="3155441" y="4571237"/>
              <a:ext cx="7056120" cy="676910"/>
            </a:xfrm>
            <a:custGeom>
              <a:rect b="b" l="l" r="r" t="t"/>
              <a:pathLst>
                <a:path extrusionOk="0" h="676910" w="7056120">
                  <a:moveTo>
                    <a:pt x="0" y="0"/>
                  </a:moveTo>
                  <a:lnTo>
                    <a:pt x="7056120" y="0"/>
                  </a:lnTo>
                  <a:lnTo>
                    <a:pt x="7056120" y="676656"/>
                  </a:lnTo>
                  <a:lnTo>
                    <a:pt x="0" y="676656"/>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40"/>
            <p:cNvSpPr/>
            <p:nvPr/>
          </p:nvSpPr>
          <p:spPr>
            <a:xfrm>
              <a:off x="2731769" y="4485894"/>
              <a:ext cx="847725" cy="847725"/>
            </a:xfrm>
            <a:custGeom>
              <a:rect b="b" l="l" r="r" t="t"/>
              <a:pathLst>
                <a:path extrusionOk="0" h="847725" w="847725">
                  <a:moveTo>
                    <a:pt x="423672" y="0"/>
                  </a:moveTo>
                  <a:lnTo>
                    <a:pt x="374263" y="2850"/>
                  </a:lnTo>
                  <a:lnTo>
                    <a:pt x="326528" y="11189"/>
                  </a:lnTo>
                  <a:lnTo>
                    <a:pt x="280786" y="24699"/>
                  </a:lnTo>
                  <a:lnTo>
                    <a:pt x="237353" y="43062"/>
                  </a:lnTo>
                  <a:lnTo>
                    <a:pt x="196547" y="65961"/>
                  </a:lnTo>
                  <a:lnTo>
                    <a:pt x="158687" y="93076"/>
                  </a:lnTo>
                  <a:lnTo>
                    <a:pt x="124091" y="124091"/>
                  </a:lnTo>
                  <a:lnTo>
                    <a:pt x="93076" y="158687"/>
                  </a:lnTo>
                  <a:lnTo>
                    <a:pt x="65961" y="196547"/>
                  </a:lnTo>
                  <a:lnTo>
                    <a:pt x="43062" y="237353"/>
                  </a:lnTo>
                  <a:lnTo>
                    <a:pt x="24699" y="280786"/>
                  </a:lnTo>
                  <a:lnTo>
                    <a:pt x="11189" y="326528"/>
                  </a:lnTo>
                  <a:lnTo>
                    <a:pt x="2850" y="374263"/>
                  </a:lnTo>
                  <a:lnTo>
                    <a:pt x="0" y="423671"/>
                  </a:lnTo>
                  <a:lnTo>
                    <a:pt x="2850" y="473080"/>
                  </a:lnTo>
                  <a:lnTo>
                    <a:pt x="11189" y="520815"/>
                  </a:lnTo>
                  <a:lnTo>
                    <a:pt x="24699" y="566557"/>
                  </a:lnTo>
                  <a:lnTo>
                    <a:pt x="43062" y="609990"/>
                  </a:lnTo>
                  <a:lnTo>
                    <a:pt x="65961" y="650796"/>
                  </a:lnTo>
                  <a:lnTo>
                    <a:pt x="93076" y="688656"/>
                  </a:lnTo>
                  <a:lnTo>
                    <a:pt x="124091" y="723252"/>
                  </a:lnTo>
                  <a:lnTo>
                    <a:pt x="158687" y="754267"/>
                  </a:lnTo>
                  <a:lnTo>
                    <a:pt x="196547" y="781382"/>
                  </a:lnTo>
                  <a:lnTo>
                    <a:pt x="237353" y="804281"/>
                  </a:lnTo>
                  <a:lnTo>
                    <a:pt x="280786" y="822644"/>
                  </a:lnTo>
                  <a:lnTo>
                    <a:pt x="326528" y="836154"/>
                  </a:lnTo>
                  <a:lnTo>
                    <a:pt x="374263" y="844493"/>
                  </a:lnTo>
                  <a:lnTo>
                    <a:pt x="423672" y="847343"/>
                  </a:lnTo>
                  <a:lnTo>
                    <a:pt x="473080" y="844493"/>
                  </a:lnTo>
                  <a:lnTo>
                    <a:pt x="520815" y="836154"/>
                  </a:lnTo>
                  <a:lnTo>
                    <a:pt x="566557" y="822644"/>
                  </a:lnTo>
                  <a:lnTo>
                    <a:pt x="609990" y="804281"/>
                  </a:lnTo>
                  <a:lnTo>
                    <a:pt x="650796" y="781382"/>
                  </a:lnTo>
                  <a:lnTo>
                    <a:pt x="688656" y="754267"/>
                  </a:lnTo>
                  <a:lnTo>
                    <a:pt x="723252" y="723252"/>
                  </a:lnTo>
                  <a:lnTo>
                    <a:pt x="754267" y="688656"/>
                  </a:lnTo>
                  <a:lnTo>
                    <a:pt x="781382" y="650796"/>
                  </a:lnTo>
                  <a:lnTo>
                    <a:pt x="804281" y="609990"/>
                  </a:lnTo>
                  <a:lnTo>
                    <a:pt x="822644" y="566557"/>
                  </a:lnTo>
                  <a:lnTo>
                    <a:pt x="836154" y="520815"/>
                  </a:lnTo>
                  <a:lnTo>
                    <a:pt x="844493" y="473080"/>
                  </a:lnTo>
                  <a:lnTo>
                    <a:pt x="847344" y="423671"/>
                  </a:lnTo>
                  <a:lnTo>
                    <a:pt x="844493" y="374263"/>
                  </a:lnTo>
                  <a:lnTo>
                    <a:pt x="836154" y="326528"/>
                  </a:lnTo>
                  <a:lnTo>
                    <a:pt x="822644" y="280786"/>
                  </a:lnTo>
                  <a:lnTo>
                    <a:pt x="804281" y="237353"/>
                  </a:lnTo>
                  <a:lnTo>
                    <a:pt x="781382" y="196547"/>
                  </a:lnTo>
                  <a:lnTo>
                    <a:pt x="754267" y="158687"/>
                  </a:lnTo>
                  <a:lnTo>
                    <a:pt x="723252" y="124091"/>
                  </a:lnTo>
                  <a:lnTo>
                    <a:pt x="688656" y="93076"/>
                  </a:lnTo>
                  <a:lnTo>
                    <a:pt x="650796" y="65961"/>
                  </a:lnTo>
                  <a:lnTo>
                    <a:pt x="609990" y="43062"/>
                  </a:lnTo>
                  <a:lnTo>
                    <a:pt x="566557" y="24699"/>
                  </a:lnTo>
                  <a:lnTo>
                    <a:pt x="520815" y="11189"/>
                  </a:lnTo>
                  <a:lnTo>
                    <a:pt x="473080" y="2850"/>
                  </a:lnTo>
                  <a:lnTo>
                    <a:pt x="42367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40"/>
            <p:cNvSpPr/>
            <p:nvPr/>
          </p:nvSpPr>
          <p:spPr>
            <a:xfrm>
              <a:off x="2731769" y="4485894"/>
              <a:ext cx="847725" cy="847725"/>
            </a:xfrm>
            <a:custGeom>
              <a:rect b="b" l="l" r="r" t="t"/>
              <a:pathLst>
                <a:path extrusionOk="0" h="847725" w="847725">
                  <a:moveTo>
                    <a:pt x="0" y="423671"/>
                  </a:moveTo>
                  <a:lnTo>
                    <a:pt x="2850" y="374263"/>
                  </a:lnTo>
                  <a:lnTo>
                    <a:pt x="11189" y="326528"/>
                  </a:lnTo>
                  <a:lnTo>
                    <a:pt x="24699" y="280786"/>
                  </a:lnTo>
                  <a:lnTo>
                    <a:pt x="43062" y="237353"/>
                  </a:lnTo>
                  <a:lnTo>
                    <a:pt x="65961" y="196547"/>
                  </a:lnTo>
                  <a:lnTo>
                    <a:pt x="93076" y="158687"/>
                  </a:lnTo>
                  <a:lnTo>
                    <a:pt x="124091" y="124091"/>
                  </a:lnTo>
                  <a:lnTo>
                    <a:pt x="158687" y="93076"/>
                  </a:lnTo>
                  <a:lnTo>
                    <a:pt x="196547" y="65961"/>
                  </a:lnTo>
                  <a:lnTo>
                    <a:pt x="237353" y="43062"/>
                  </a:lnTo>
                  <a:lnTo>
                    <a:pt x="280786" y="24699"/>
                  </a:lnTo>
                  <a:lnTo>
                    <a:pt x="326528" y="11189"/>
                  </a:lnTo>
                  <a:lnTo>
                    <a:pt x="374263" y="2850"/>
                  </a:lnTo>
                  <a:lnTo>
                    <a:pt x="423672" y="0"/>
                  </a:lnTo>
                  <a:lnTo>
                    <a:pt x="473080" y="2850"/>
                  </a:lnTo>
                  <a:lnTo>
                    <a:pt x="520815" y="11189"/>
                  </a:lnTo>
                  <a:lnTo>
                    <a:pt x="566557" y="24699"/>
                  </a:lnTo>
                  <a:lnTo>
                    <a:pt x="609990" y="43062"/>
                  </a:lnTo>
                  <a:lnTo>
                    <a:pt x="650796" y="65961"/>
                  </a:lnTo>
                  <a:lnTo>
                    <a:pt x="688656" y="93076"/>
                  </a:lnTo>
                  <a:lnTo>
                    <a:pt x="723252" y="124091"/>
                  </a:lnTo>
                  <a:lnTo>
                    <a:pt x="754267" y="158687"/>
                  </a:lnTo>
                  <a:lnTo>
                    <a:pt x="781382" y="196547"/>
                  </a:lnTo>
                  <a:lnTo>
                    <a:pt x="804281" y="237353"/>
                  </a:lnTo>
                  <a:lnTo>
                    <a:pt x="822644" y="280786"/>
                  </a:lnTo>
                  <a:lnTo>
                    <a:pt x="836154" y="326528"/>
                  </a:lnTo>
                  <a:lnTo>
                    <a:pt x="844493" y="374263"/>
                  </a:lnTo>
                  <a:lnTo>
                    <a:pt x="847344" y="423671"/>
                  </a:lnTo>
                  <a:lnTo>
                    <a:pt x="844493" y="473080"/>
                  </a:lnTo>
                  <a:lnTo>
                    <a:pt x="836154" y="520815"/>
                  </a:lnTo>
                  <a:lnTo>
                    <a:pt x="822644" y="566557"/>
                  </a:lnTo>
                  <a:lnTo>
                    <a:pt x="804281" y="609990"/>
                  </a:lnTo>
                  <a:lnTo>
                    <a:pt x="781382" y="650796"/>
                  </a:lnTo>
                  <a:lnTo>
                    <a:pt x="754267" y="688656"/>
                  </a:lnTo>
                  <a:lnTo>
                    <a:pt x="723252" y="723252"/>
                  </a:lnTo>
                  <a:lnTo>
                    <a:pt x="688656" y="754267"/>
                  </a:lnTo>
                  <a:lnTo>
                    <a:pt x="650796" y="781382"/>
                  </a:lnTo>
                  <a:lnTo>
                    <a:pt x="609990" y="804281"/>
                  </a:lnTo>
                  <a:lnTo>
                    <a:pt x="566557" y="822644"/>
                  </a:lnTo>
                  <a:lnTo>
                    <a:pt x="520815" y="836154"/>
                  </a:lnTo>
                  <a:lnTo>
                    <a:pt x="473080" y="844493"/>
                  </a:lnTo>
                  <a:lnTo>
                    <a:pt x="423672" y="847343"/>
                  </a:lnTo>
                  <a:lnTo>
                    <a:pt x="374263" y="844493"/>
                  </a:lnTo>
                  <a:lnTo>
                    <a:pt x="326528" y="836154"/>
                  </a:lnTo>
                  <a:lnTo>
                    <a:pt x="280786" y="822644"/>
                  </a:lnTo>
                  <a:lnTo>
                    <a:pt x="237353" y="804281"/>
                  </a:lnTo>
                  <a:lnTo>
                    <a:pt x="196547" y="781382"/>
                  </a:lnTo>
                  <a:lnTo>
                    <a:pt x="158687" y="754267"/>
                  </a:lnTo>
                  <a:lnTo>
                    <a:pt x="124091" y="723252"/>
                  </a:lnTo>
                  <a:lnTo>
                    <a:pt x="93076" y="688656"/>
                  </a:lnTo>
                  <a:lnTo>
                    <a:pt x="65961" y="650796"/>
                  </a:lnTo>
                  <a:lnTo>
                    <a:pt x="43062" y="609990"/>
                  </a:lnTo>
                  <a:lnTo>
                    <a:pt x="24699" y="566557"/>
                  </a:lnTo>
                  <a:lnTo>
                    <a:pt x="11189" y="520815"/>
                  </a:lnTo>
                  <a:lnTo>
                    <a:pt x="2850" y="473080"/>
                  </a:lnTo>
                  <a:lnTo>
                    <a:pt x="0" y="423671"/>
                  </a:lnTo>
                  <a:close/>
                </a:path>
              </a:pathLst>
            </a:custGeom>
            <a:noFill/>
            <a:ln cap="flat" cmpd="sng" w="19050">
              <a:solidFill>
                <a:srgbClr val="408E1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40"/>
            <p:cNvSpPr/>
            <p:nvPr/>
          </p:nvSpPr>
          <p:spPr>
            <a:xfrm>
              <a:off x="2670809" y="5586222"/>
              <a:ext cx="7541259" cy="678180"/>
            </a:xfrm>
            <a:custGeom>
              <a:rect b="b" l="l" r="r" t="t"/>
              <a:pathLst>
                <a:path extrusionOk="0" h="678179" w="7541259">
                  <a:moveTo>
                    <a:pt x="7540752" y="0"/>
                  </a:moveTo>
                  <a:lnTo>
                    <a:pt x="0" y="0"/>
                  </a:lnTo>
                  <a:lnTo>
                    <a:pt x="0" y="678179"/>
                  </a:lnTo>
                  <a:lnTo>
                    <a:pt x="7540752" y="678179"/>
                  </a:lnTo>
                  <a:lnTo>
                    <a:pt x="7540752" y="0"/>
                  </a:lnTo>
                  <a:close/>
                </a:path>
              </a:pathLst>
            </a:custGeom>
            <a:solidFill>
              <a:srgbClr val="186B2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40"/>
            <p:cNvSpPr/>
            <p:nvPr/>
          </p:nvSpPr>
          <p:spPr>
            <a:xfrm>
              <a:off x="2670809" y="5586222"/>
              <a:ext cx="7541259" cy="678180"/>
            </a:xfrm>
            <a:custGeom>
              <a:rect b="b" l="l" r="r" t="t"/>
              <a:pathLst>
                <a:path extrusionOk="0" h="678179" w="7541259">
                  <a:moveTo>
                    <a:pt x="0" y="0"/>
                  </a:moveTo>
                  <a:lnTo>
                    <a:pt x="7540752" y="0"/>
                  </a:lnTo>
                  <a:lnTo>
                    <a:pt x="7540752" y="678179"/>
                  </a:lnTo>
                  <a:lnTo>
                    <a:pt x="0" y="678179"/>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2" name="Google Shape;502;p40"/>
          <p:cNvSpPr txBox="1"/>
          <p:nvPr/>
        </p:nvSpPr>
        <p:spPr>
          <a:xfrm>
            <a:off x="3194411" y="1634925"/>
            <a:ext cx="6950075" cy="444055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300">
                <a:solidFill>
                  <a:srgbClr val="FFFFFF"/>
                </a:solidFill>
                <a:latin typeface="Arial"/>
                <a:ea typeface="Arial"/>
                <a:cs typeface="Arial"/>
                <a:sym typeface="Arial"/>
              </a:rPr>
              <a:t>Accountability</a:t>
            </a:r>
            <a:endParaRPr sz="2300">
              <a:solidFill>
                <a:schemeClr val="dk1"/>
              </a:solidFill>
              <a:latin typeface="Arial"/>
              <a:ea typeface="Arial"/>
              <a:cs typeface="Arial"/>
              <a:sym typeface="Arial"/>
            </a:endParaRPr>
          </a:p>
          <a:p>
            <a:pPr indent="-149225" lvl="0" marL="647065" marR="5329555" rtl="0" algn="l">
              <a:lnSpc>
                <a:spcPct val="347826"/>
              </a:lnSpc>
              <a:spcBef>
                <a:spcPts val="1135"/>
              </a:spcBef>
              <a:spcAft>
                <a:spcPts val="0"/>
              </a:spcAft>
              <a:buNone/>
            </a:pPr>
            <a:r>
              <a:rPr lang="en-US" sz="2300">
                <a:solidFill>
                  <a:srgbClr val="FFFFFF"/>
                </a:solidFill>
                <a:latin typeface="Arial"/>
                <a:ea typeface="Arial"/>
                <a:cs typeface="Arial"/>
                <a:sym typeface="Arial"/>
              </a:rPr>
              <a:t>Auditing Logging</a:t>
            </a:r>
            <a:endParaRPr sz="2300">
              <a:solidFill>
                <a:schemeClr val="dk1"/>
              </a:solidFill>
              <a:latin typeface="Arial"/>
              <a:ea typeface="Arial"/>
              <a:cs typeface="Arial"/>
              <a:sym typeface="Arial"/>
            </a:endParaRPr>
          </a:p>
          <a:p>
            <a:pPr indent="485140" lvl="0" marL="12700" marR="5080" rtl="0" algn="l">
              <a:lnSpc>
                <a:spcPct val="347826"/>
              </a:lnSpc>
              <a:spcBef>
                <a:spcPts val="0"/>
              </a:spcBef>
              <a:spcAft>
                <a:spcPts val="0"/>
              </a:spcAft>
              <a:buNone/>
            </a:pPr>
            <a:r>
              <a:rPr lang="en-US" sz="2300">
                <a:solidFill>
                  <a:srgbClr val="FFFFFF"/>
                </a:solidFill>
                <a:latin typeface="Arial"/>
                <a:ea typeface="Arial"/>
                <a:cs typeface="Arial"/>
                <a:sym typeface="Arial"/>
              </a:rPr>
              <a:t>Security Information and Event Management (SIEM) Non-repudiation</a:t>
            </a:r>
            <a:endParaRPr sz="2300">
              <a:solidFill>
                <a:schemeClr val="dk1"/>
              </a:solidFill>
              <a:latin typeface="Arial"/>
              <a:ea typeface="Arial"/>
              <a:cs typeface="Arial"/>
              <a:sym typeface="Arial"/>
            </a:endParaRPr>
          </a:p>
        </p:txBody>
      </p:sp>
      <p:grpSp>
        <p:nvGrpSpPr>
          <p:cNvPr id="503" name="Google Shape;503;p40"/>
          <p:cNvGrpSpPr/>
          <p:nvPr/>
        </p:nvGrpSpPr>
        <p:grpSpPr>
          <a:xfrm>
            <a:off x="2247138" y="5502402"/>
            <a:ext cx="845819" cy="847725"/>
            <a:chOff x="2247138" y="5502402"/>
            <a:chExt cx="845819" cy="847725"/>
          </a:xfrm>
        </p:grpSpPr>
        <p:sp>
          <p:nvSpPr>
            <p:cNvPr id="504" name="Google Shape;504;p40"/>
            <p:cNvSpPr/>
            <p:nvPr/>
          </p:nvSpPr>
          <p:spPr>
            <a:xfrm>
              <a:off x="2247138" y="5502402"/>
              <a:ext cx="845819" cy="847725"/>
            </a:xfrm>
            <a:custGeom>
              <a:rect b="b" l="l" r="r" t="t"/>
              <a:pathLst>
                <a:path extrusionOk="0" h="847725" w="845819">
                  <a:moveTo>
                    <a:pt x="422909" y="0"/>
                  </a:moveTo>
                  <a:lnTo>
                    <a:pt x="373589" y="2850"/>
                  </a:lnTo>
                  <a:lnTo>
                    <a:pt x="325940" y="11189"/>
                  </a:lnTo>
                  <a:lnTo>
                    <a:pt x="280280" y="24699"/>
                  </a:lnTo>
                  <a:lnTo>
                    <a:pt x="236925" y="43062"/>
                  </a:lnTo>
                  <a:lnTo>
                    <a:pt x="196193" y="65961"/>
                  </a:lnTo>
                  <a:lnTo>
                    <a:pt x="158401" y="93076"/>
                  </a:lnTo>
                  <a:lnTo>
                    <a:pt x="123867" y="124091"/>
                  </a:lnTo>
                  <a:lnTo>
                    <a:pt x="92908" y="158687"/>
                  </a:lnTo>
                  <a:lnTo>
                    <a:pt x="65842" y="196547"/>
                  </a:lnTo>
                  <a:lnTo>
                    <a:pt x="42985" y="237353"/>
                  </a:lnTo>
                  <a:lnTo>
                    <a:pt x="24655" y="280786"/>
                  </a:lnTo>
                  <a:lnTo>
                    <a:pt x="11169" y="326528"/>
                  </a:lnTo>
                  <a:lnTo>
                    <a:pt x="2845" y="374263"/>
                  </a:lnTo>
                  <a:lnTo>
                    <a:pt x="0" y="423672"/>
                  </a:lnTo>
                  <a:lnTo>
                    <a:pt x="2845" y="473080"/>
                  </a:lnTo>
                  <a:lnTo>
                    <a:pt x="11169" y="520815"/>
                  </a:lnTo>
                  <a:lnTo>
                    <a:pt x="24655" y="566557"/>
                  </a:lnTo>
                  <a:lnTo>
                    <a:pt x="42985" y="609990"/>
                  </a:lnTo>
                  <a:lnTo>
                    <a:pt x="65842" y="650796"/>
                  </a:lnTo>
                  <a:lnTo>
                    <a:pt x="92908" y="688656"/>
                  </a:lnTo>
                  <a:lnTo>
                    <a:pt x="123867" y="723252"/>
                  </a:lnTo>
                  <a:lnTo>
                    <a:pt x="158401" y="754267"/>
                  </a:lnTo>
                  <a:lnTo>
                    <a:pt x="196193" y="781382"/>
                  </a:lnTo>
                  <a:lnTo>
                    <a:pt x="236925" y="804281"/>
                  </a:lnTo>
                  <a:lnTo>
                    <a:pt x="280280" y="822644"/>
                  </a:lnTo>
                  <a:lnTo>
                    <a:pt x="325940" y="836154"/>
                  </a:lnTo>
                  <a:lnTo>
                    <a:pt x="373589" y="844493"/>
                  </a:lnTo>
                  <a:lnTo>
                    <a:pt x="422909" y="847344"/>
                  </a:lnTo>
                  <a:lnTo>
                    <a:pt x="472230" y="844493"/>
                  </a:lnTo>
                  <a:lnTo>
                    <a:pt x="519879" y="836154"/>
                  </a:lnTo>
                  <a:lnTo>
                    <a:pt x="565539" y="822644"/>
                  </a:lnTo>
                  <a:lnTo>
                    <a:pt x="608894" y="804281"/>
                  </a:lnTo>
                  <a:lnTo>
                    <a:pt x="649626" y="781382"/>
                  </a:lnTo>
                  <a:lnTo>
                    <a:pt x="687418" y="754267"/>
                  </a:lnTo>
                  <a:lnTo>
                    <a:pt x="721952" y="723252"/>
                  </a:lnTo>
                  <a:lnTo>
                    <a:pt x="752911" y="688656"/>
                  </a:lnTo>
                  <a:lnTo>
                    <a:pt x="779977" y="650796"/>
                  </a:lnTo>
                  <a:lnTo>
                    <a:pt x="802834" y="609990"/>
                  </a:lnTo>
                  <a:lnTo>
                    <a:pt x="821164" y="566557"/>
                  </a:lnTo>
                  <a:lnTo>
                    <a:pt x="834650" y="520815"/>
                  </a:lnTo>
                  <a:lnTo>
                    <a:pt x="842974" y="473080"/>
                  </a:lnTo>
                  <a:lnTo>
                    <a:pt x="845819" y="423672"/>
                  </a:lnTo>
                  <a:lnTo>
                    <a:pt x="842974" y="374263"/>
                  </a:lnTo>
                  <a:lnTo>
                    <a:pt x="834650" y="326528"/>
                  </a:lnTo>
                  <a:lnTo>
                    <a:pt x="821164" y="280786"/>
                  </a:lnTo>
                  <a:lnTo>
                    <a:pt x="802834" y="237353"/>
                  </a:lnTo>
                  <a:lnTo>
                    <a:pt x="779977" y="196547"/>
                  </a:lnTo>
                  <a:lnTo>
                    <a:pt x="752911" y="158687"/>
                  </a:lnTo>
                  <a:lnTo>
                    <a:pt x="721952" y="124091"/>
                  </a:lnTo>
                  <a:lnTo>
                    <a:pt x="687418" y="93076"/>
                  </a:lnTo>
                  <a:lnTo>
                    <a:pt x="649626" y="65961"/>
                  </a:lnTo>
                  <a:lnTo>
                    <a:pt x="608894" y="43062"/>
                  </a:lnTo>
                  <a:lnTo>
                    <a:pt x="565539" y="24699"/>
                  </a:lnTo>
                  <a:lnTo>
                    <a:pt x="519879" y="11189"/>
                  </a:lnTo>
                  <a:lnTo>
                    <a:pt x="472230" y="2850"/>
                  </a:lnTo>
                  <a:lnTo>
                    <a:pt x="42290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40"/>
            <p:cNvSpPr/>
            <p:nvPr/>
          </p:nvSpPr>
          <p:spPr>
            <a:xfrm>
              <a:off x="2247138" y="5502402"/>
              <a:ext cx="845819" cy="847725"/>
            </a:xfrm>
            <a:custGeom>
              <a:rect b="b" l="l" r="r" t="t"/>
              <a:pathLst>
                <a:path extrusionOk="0" h="847725" w="845819">
                  <a:moveTo>
                    <a:pt x="0" y="423672"/>
                  </a:moveTo>
                  <a:lnTo>
                    <a:pt x="2845" y="374263"/>
                  </a:lnTo>
                  <a:lnTo>
                    <a:pt x="11169" y="326528"/>
                  </a:lnTo>
                  <a:lnTo>
                    <a:pt x="24655" y="280786"/>
                  </a:lnTo>
                  <a:lnTo>
                    <a:pt x="42985" y="237353"/>
                  </a:lnTo>
                  <a:lnTo>
                    <a:pt x="65842" y="196547"/>
                  </a:lnTo>
                  <a:lnTo>
                    <a:pt x="92908" y="158687"/>
                  </a:lnTo>
                  <a:lnTo>
                    <a:pt x="123867" y="124091"/>
                  </a:lnTo>
                  <a:lnTo>
                    <a:pt x="158401" y="93076"/>
                  </a:lnTo>
                  <a:lnTo>
                    <a:pt x="196193" y="65961"/>
                  </a:lnTo>
                  <a:lnTo>
                    <a:pt x="236925" y="43062"/>
                  </a:lnTo>
                  <a:lnTo>
                    <a:pt x="280280" y="24699"/>
                  </a:lnTo>
                  <a:lnTo>
                    <a:pt x="325940" y="11189"/>
                  </a:lnTo>
                  <a:lnTo>
                    <a:pt x="373589" y="2850"/>
                  </a:lnTo>
                  <a:lnTo>
                    <a:pt x="422909" y="0"/>
                  </a:lnTo>
                  <a:lnTo>
                    <a:pt x="472230" y="2850"/>
                  </a:lnTo>
                  <a:lnTo>
                    <a:pt x="519879" y="11189"/>
                  </a:lnTo>
                  <a:lnTo>
                    <a:pt x="565539" y="24699"/>
                  </a:lnTo>
                  <a:lnTo>
                    <a:pt x="608894" y="43062"/>
                  </a:lnTo>
                  <a:lnTo>
                    <a:pt x="649626" y="65961"/>
                  </a:lnTo>
                  <a:lnTo>
                    <a:pt x="687418" y="93076"/>
                  </a:lnTo>
                  <a:lnTo>
                    <a:pt x="721952" y="124091"/>
                  </a:lnTo>
                  <a:lnTo>
                    <a:pt x="752911" y="158687"/>
                  </a:lnTo>
                  <a:lnTo>
                    <a:pt x="779977" y="196547"/>
                  </a:lnTo>
                  <a:lnTo>
                    <a:pt x="802834" y="237353"/>
                  </a:lnTo>
                  <a:lnTo>
                    <a:pt x="821164" y="280786"/>
                  </a:lnTo>
                  <a:lnTo>
                    <a:pt x="834650" y="326528"/>
                  </a:lnTo>
                  <a:lnTo>
                    <a:pt x="842974" y="374263"/>
                  </a:lnTo>
                  <a:lnTo>
                    <a:pt x="845819" y="423672"/>
                  </a:lnTo>
                  <a:lnTo>
                    <a:pt x="842974" y="473080"/>
                  </a:lnTo>
                  <a:lnTo>
                    <a:pt x="834650" y="520815"/>
                  </a:lnTo>
                  <a:lnTo>
                    <a:pt x="821164" y="566557"/>
                  </a:lnTo>
                  <a:lnTo>
                    <a:pt x="802834" y="609990"/>
                  </a:lnTo>
                  <a:lnTo>
                    <a:pt x="779977" y="650796"/>
                  </a:lnTo>
                  <a:lnTo>
                    <a:pt x="752911" y="688656"/>
                  </a:lnTo>
                  <a:lnTo>
                    <a:pt x="721952" y="723252"/>
                  </a:lnTo>
                  <a:lnTo>
                    <a:pt x="687418" y="754267"/>
                  </a:lnTo>
                  <a:lnTo>
                    <a:pt x="649626" y="781382"/>
                  </a:lnTo>
                  <a:lnTo>
                    <a:pt x="608894" y="804281"/>
                  </a:lnTo>
                  <a:lnTo>
                    <a:pt x="565539" y="822644"/>
                  </a:lnTo>
                  <a:lnTo>
                    <a:pt x="519879" y="836154"/>
                  </a:lnTo>
                  <a:lnTo>
                    <a:pt x="472230" y="844493"/>
                  </a:lnTo>
                  <a:lnTo>
                    <a:pt x="422909" y="847344"/>
                  </a:lnTo>
                  <a:lnTo>
                    <a:pt x="373589" y="844493"/>
                  </a:lnTo>
                  <a:lnTo>
                    <a:pt x="325940" y="836154"/>
                  </a:lnTo>
                  <a:lnTo>
                    <a:pt x="280280" y="822644"/>
                  </a:lnTo>
                  <a:lnTo>
                    <a:pt x="236925" y="804281"/>
                  </a:lnTo>
                  <a:lnTo>
                    <a:pt x="196193" y="781382"/>
                  </a:lnTo>
                  <a:lnTo>
                    <a:pt x="158401" y="754267"/>
                  </a:lnTo>
                  <a:lnTo>
                    <a:pt x="123867" y="723252"/>
                  </a:lnTo>
                  <a:lnTo>
                    <a:pt x="92908" y="688656"/>
                  </a:lnTo>
                  <a:lnTo>
                    <a:pt x="65842" y="650796"/>
                  </a:lnTo>
                  <a:lnTo>
                    <a:pt x="42985" y="609990"/>
                  </a:lnTo>
                  <a:lnTo>
                    <a:pt x="24655" y="566557"/>
                  </a:lnTo>
                  <a:lnTo>
                    <a:pt x="11169" y="520815"/>
                  </a:lnTo>
                  <a:lnTo>
                    <a:pt x="2845" y="473080"/>
                  </a:lnTo>
                  <a:lnTo>
                    <a:pt x="0" y="423672"/>
                  </a:lnTo>
                  <a:close/>
                </a:path>
              </a:pathLst>
            </a:custGeom>
            <a:noFill/>
            <a:ln cap="flat" cmpd="sng" w="19050">
              <a:solidFill>
                <a:srgbClr val="186B2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1"/>
          <p:cNvSpPr txBox="1"/>
          <p:nvPr>
            <p:ph type="title"/>
          </p:nvPr>
        </p:nvSpPr>
        <p:spPr>
          <a:xfrm>
            <a:off x="581891" y="381750"/>
            <a:ext cx="11420301"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Elements of Security Design: Blockchain Example</a:t>
            </a:r>
            <a:endParaRPr/>
          </a:p>
        </p:txBody>
      </p:sp>
      <p:grpSp>
        <p:nvGrpSpPr>
          <p:cNvPr id="511" name="Google Shape;511;p41"/>
          <p:cNvGrpSpPr/>
          <p:nvPr/>
        </p:nvGrpSpPr>
        <p:grpSpPr>
          <a:xfrm>
            <a:off x="3059429" y="2376677"/>
            <a:ext cx="2893060" cy="1736089"/>
            <a:chOff x="3059429" y="2376677"/>
            <a:chExt cx="2893060" cy="1736089"/>
          </a:xfrm>
        </p:grpSpPr>
        <p:sp>
          <p:nvSpPr>
            <p:cNvPr id="512" name="Google Shape;512;p41"/>
            <p:cNvSpPr/>
            <p:nvPr/>
          </p:nvSpPr>
          <p:spPr>
            <a:xfrm>
              <a:off x="3059429" y="2376677"/>
              <a:ext cx="2893060" cy="1736089"/>
            </a:xfrm>
            <a:custGeom>
              <a:rect b="b" l="l" r="r" t="t"/>
              <a:pathLst>
                <a:path extrusionOk="0" h="1736089" w="2893060">
                  <a:moveTo>
                    <a:pt x="2892551" y="0"/>
                  </a:moveTo>
                  <a:lnTo>
                    <a:pt x="0" y="0"/>
                  </a:lnTo>
                  <a:lnTo>
                    <a:pt x="0" y="1735836"/>
                  </a:lnTo>
                  <a:lnTo>
                    <a:pt x="2892551" y="1735836"/>
                  </a:lnTo>
                  <a:lnTo>
                    <a:pt x="2892551" y="0"/>
                  </a:lnTo>
                  <a:close/>
                </a:path>
              </a:pathLst>
            </a:custGeom>
            <a:solidFill>
              <a:srgbClr val="E9703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41"/>
            <p:cNvSpPr/>
            <p:nvPr/>
          </p:nvSpPr>
          <p:spPr>
            <a:xfrm>
              <a:off x="3059429" y="2376677"/>
              <a:ext cx="2893060" cy="1736089"/>
            </a:xfrm>
            <a:custGeom>
              <a:rect b="b" l="l" r="r" t="t"/>
              <a:pathLst>
                <a:path extrusionOk="0" h="1736089" w="2893060">
                  <a:moveTo>
                    <a:pt x="0" y="0"/>
                  </a:moveTo>
                  <a:lnTo>
                    <a:pt x="2892551" y="0"/>
                  </a:lnTo>
                  <a:lnTo>
                    <a:pt x="2892551" y="1735836"/>
                  </a:lnTo>
                  <a:lnTo>
                    <a:pt x="0" y="1735836"/>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4" name="Google Shape;514;p41"/>
          <p:cNvSpPr txBox="1"/>
          <p:nvPr/>
        </p:nvSpPr>
        <p:spPr>
          <a:xfrm>
            <a:off x="3059429" y="2376677"/>
            <a:ext cx="2893060" cy="1736089"/>
          </a:xfrm>
          <a:prstGeom prst="rect">
            <a:avLst/>
          </a:prstGeom>
          <a:noFill/>
          <a:ln>
            <a:noFill/>
          </a:ln>
        </p:spPr>
        <p:txBody>
          <a:bodyPr anchorCtr="0" anchor="t" bIns="0" lIns="0" spcFirstLastPara="1" rIns="0" wrap="square" tIns="273675">
            <a:spAutoFit/>
          </a:bodyPr>
          <a:lstStyle/>
          <a:p>
            <a:pPr indent="0" lvl="0" marL="104139" marR="99695" rtl="0" algn="ctr">
              <a:lnSpc>
                <a:spcPct val="91700"/>
              </a:lnSpc>
              <a:spcBef>
                <a:spcPts val="0"/>
              </a:spcBef>
              <a:spcAft>
                <a:spcPts val="0"/>
              </a:spcAft>
              <a:buNone/>
            </a:pPr>
            <a:r>
              <a:rPr lang="en-US" sz="2700">
                <a:solidFill>
                  <a:srgbClr val="FFFFFF"/>
                </a:solidFill>
                <a:latin typeface="Arial"/>
                <a:ea typeface="Arial"/>
                <a:cs typeface="Arial"/>
                <a:sym typeface="Arial"/>
              </a:rPr>
              <a:t>Protection against unauthorized changes</a:t>
            </a:r>
            <a:endParaRPr sz="2700">
              <a:solidFill>
                <a:schemeClr val="dk1"/>
              </a:solidFill>
              <a:latin typeface="Arial"/>
              <a:ea typeface="Arial"/>
              <a:cs typeface="Arial"/>
              <a:sym typeface="Arial"/>
            </a:endParaRPr>
          </a:p>
        </p:txBody>
      </p:sp>
      <p:grpSp>
        <p:nvGrpSpPr>
          <p:cNvPr id="515" name="Google Shape;515;p41"/>
          <p:cNvGrpSpPr/>
          <p:nvPr/>
        </p:nvGrpSpPr>
        <p:grpSpPr>
          <a:xfrm>
            <a:off x="6241541" y="2376677"/>
            <a:ext cx="2893060" cy="1736089"/>
            <a:chOff x="6241541" y="2376677"/>
            <a:chExt cx="2893060" cy="1736089"/>
          </a:xfrm>
        </p:grpSpPr>
        <p:sp>
          <p:nvSpPr>
            <p:cNvPr id="516" name="Google Shape;516;p41"/>
            <p:cNvSpPr/>
            <p:nvPr/>
          </p:nvSpPr>
          <p:spPr>
            <a:xfrm>
              <a:off x="6241541" y="2376677"/>
              <a:ext cx="2893060" cy="1736089"/>
            </a:xfrm>
            <a:custGeom>
              <a:rect b="b" l="l" r="r" t="t"/>
              <a:pathLst>
                <a:path extrusionOk="0" h="1736089" w="2893059">
                  <a:moveTo>
                    <a:pt x="2892552" y="0"/>
                  </a:moveTo>
                  <a:lnTo>
                    <a:pt x="0" y="0"/>
                  </a:lnTo>
                  <a:lnTo>
                    <a:pt x="0" y="1735836"/>
                  </a:lnTo>
                  <a:lnTo>
                    <a:pt x="2892552" y="1735836"/>
                  </a:lnTo>
                  <a:lnTo>
                    <a:pt x="2892552" y="0"/>
                  </a:lnTo>
                  <a:close/>
                </a:path>
              </a:pathLst>
            </a:custGeom>
            <a:solidFill>
              <a:srgbClr val="8EB11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41"/>
            <p:cNvSpPr/>
            <p:nvPr/>
          </p:nvSpPr>
          <p:spPr>
            <a:xfrm>
              <a:off x="6241541" y="2376677"/>
              <a:ext cx="2893060" cy="1736089"/>
            </a:xfrm>
            <a:custGeom>
              <a:rect b="b" l="l" r="r" t="t"/>
              <a:pathLst>
                <a:path extrusionOk="0" h="1736089" w="2893059">
                  <a:moveTo>
                    <a:pt x="0" y="0"/>
                  </a:moveTo>
                  <a:lnTo>
                    <a:pt x="2892552" y="0"/>
                  </a:lnTo>
                  <a:lnTo>
                    <a:pt x="2892552" y="1735836"/>
                  </a:lnTo>
                  <a:lnTo>
                    <a:pt x="0" y="1735836"/>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8" name="Google Shape;518;p41"/>
          <p:cNvSpPr txBox="1"/>
          <p:nvPr/>
        </p:nvSpPr>
        <p:spPr>
          <a:xfrm>
            <a:off x="6241541" y="2376677"/>
            <a:ext cx="2893060" cy="1736089"/>
          </a:xfrm>
          <a:prstGeom prst="rect">
            <a:avLst/>
          </a:prstGeom>
          <a:noFill/>
          <a:ln>
            <a:noFill/>
          </a:ln>
        </p:spPr>
        <p:txBody>
          <a:bodyPr anchorCtr="0" anchor="t" bIns="0" lIns="0" spcFirstLastPara="1" rIns="0" wrap="square" tIns="85725">
            <a:spAutoFit/>
          </a:bodyPr>
          <a:lstStyle/>
          <a:p>
            <a:pPr indent="0" lvl="0" marL="199390" marR="192405" rtl="0" algn="ctr">
              <a:lnSpc>
                <a:spcPct val="91600"/>
              </a:lnSpc>
              <a:spcBef>
                <a:spcPts val="0"/>
              </a:spcBef>
              <a:spcAft>
                <a:spcPts val="0"/>
              </a:spcAft>
              <a:buNone/>
            </a:pPr>
            <a:r>
              <a:rPr lang="en-US" sz="2700">
                <a:solidFill>
                  <a:srgbClr val="FFFFFF"/>
                </a:solidFill>
                <a:latin typeface="Arial"/>
                <a:ea typeface="Arial"/>
                <a:cs typeface="Arial"/>
                <a:sym typeface="Arial"/>
              </a:rPr>
              <a:t>Redundancy and elimination of single point of failure</a:t>
            </a:r>
            <a:endParaRPr sz="2700">
              <a:solidFill>
                <a:schemeClr val="dk1"/>
              </a:solidFill>
              <a:latin typeface="Arial"/>
              <a:ea typeface="Arial"/>
              <a:cs typeface="Arial"/>
              <a:sym typeface="Arial"/>
            </a:endParaRPr>
          </a:p>
        </p:txBody>
      </p:sp>
      <p:sp>
        <p:nvSpPr>
          <p:cNvPr id="519" name="Google Shape;519;p41"/>
          <p:cNvSpPr txBox="1"/>
          <p:nvPr/>
        </p:nvSpPr>
        <p:spPr>
          <a:xfrm>
            <a:off x="4650485" y="4402073"/>
            <a:ext cx="2893060" cy="1736089"/>
          </a:xfrm>
          <a:prstGeom prst="rect">
            <a:avLst/>
          </a:prstGeom>
          <a:solidFill>
            <a:srgbClr val="186B23"/>
          </a:solidFill>
          <a:ln cap="flat" cmpd="sng" w="19050">
            <a:solidFill>
              <a:srgbClr val="FFFFFF"/>
            </a:solidFill>
            <a:prstDash val="solid"/>
            <a:round/>
            <a:headEnd len="sm" w="sm" type="none"/>
            <a:tailEnd len="sm" w="sm" type="none"/>
          </a:ln>
        </p:spPr>
        <p:txBody>
          <a:bodyPr anchorCtr="0" anchor="t" bIns="0" lIns="0" spcFirstLastPara="1" rIns="0" wrap="square" tIns="221600">
            <a:spAutoFit/>
          </a:bodyPr>
          <a:lstStyle/>
          <a:p>
            <a:pPr indent="0" lvl="0" marL="0" marR="0" rtl="0" algn="l">
              <a:lnSpc>
                <a:spcPct val="100000"/>
              </a:lnSpc>
              <a:spcBef>
                <a:spcPts val="0"/>
              </a:spcBef>
              <a:spcAft>
                <a:spcPts val="0"/>
              </a:spcAft>
              <a:buNone/>
            </a:pPr>
            <a:r>
              <a:t/>
            </a:r>
            <a:endParaRPr sz="2700">
              <a:solidFill>
                <a:schemeClr val="dk1"/>
              </a:solidFill>
              <a:latin typeface="Times New Roman"/>
              <a:ea typeface="Times New Roman"/>
              <a:cs typeface="Times New Roman"/>
              <a:sym typeface="Times New Roman"/>
            </a:endParaRPr>
          </a:p>
          <a:p>
            <a:pPr indent="0" lvl="0" marL="455294" marR="0" rtl="0" algn="l">
              <a:lnSpc>
                <a:spcPct val="100000"/>
              </a:lnSpc>
              <a:spcBef>
                <a:spcPts val="5"/>
              </a:spcBef>
              <a:spcAft>
                <a:spcPts val="0"/>
              </a:spcAft>
              <a:buNone/>
            </a:pPr>
            <a:r>
              <a:rPr lang="en-US" sz="2700">
                <a:solidFill>
                  <a:srgbClr val="FFFFFF"/>
                </a:solidFill>
                <a:latin typeface="Arial"/>
                <a:ea typeface="Arial"/>
                <a:cs typeface="Arial"/>
                <a:sym typeface="Arial"/>
              </a:rPr>
              <a:t>Transparency</a:t>
            </a:r>
            <a:endParaRPr sz="270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Elements of Security Design: Governance, Risk, and Compliance (GRC)</a:t>
            </a:r>
            <a:endParaRPr/>
          </a:p>
        </p:txBody>
      </p:sp>
      <p:sp>
        <p:nvSpPr>
          <p:cNvPr id="525" name="Google Shape;525;p42"/>
          <p:cNvSpPr txBox="1"/>
          <p:nvPr/>
        </p:nvSpPr>
        <p:spPr>
          <a:xfrm>
            <a:off x="1173541" y="2260161"/>
            <a:ext cx="1294130"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000">
                <a:solidFill>
                  <a:srgbClr val="474237"/>
                </a:solidFill>
                <a:latin typeface="Arial"/>
                <a:ea typeface="Arial"/>
                <a:cs typeface="Arial"/>
                <a:sym typeface="Arial"/>
              </a:rPr>
              <a:t>Governance</a:t>
            </a:r>
            <a:endParaRPr sz="2000">
              <a:solidFill>
                <a:schemeClr val="dk1"/>
              </a:solidFill>
              <a:latin typeface="Arial"/>
              <a:ea typeface="Arial"/>
              <a:cs typeface="Arial"/>
              <a:sym typeface="Arial"/>
            </a:endParaRPr>
          </a:p>
        </p:txBody>
      </p:sp>
      <p:sp>
        <p:nvSpPr>
          <p:cNvPr id="526" name="Google Shape;526;p42"/>
          <p:cNvSpPr txBox="1"/>
          <p:nvPr/>
        </p:nvSpPr>
        <p:spPr>
          <a:xfrm>
            <a:off x="1173541" y="2813970"/>
            <a:ext cx="3432175" cy="1600200"/>
          </a:xfrm>
          <a:prstGeom prst="rect">
            <a:avLst/>
          </a:prstGeom>
          <a:noFill/>
          <a:ln>
            <a:noFill/>
          </a:ln>
        </p:spPr>
        <p:txBody>
          <a:bodyPr anchorCtr="0" anchor="t" bIns="0" lIns="0" spcFirstLastPara="1" rIns="0" wrap="square" tIns="12050">
            <a:spAutoFit/>
          </a:bodyPr>
          <a:lstStyle/>
          <a:p>
            <a:pPr indent="0" lvl="0" marL="12700" marR="5080" rtl="0" algn="l">
              <a:lnSpc>
                <a:spcPct val="129200"/>
              </a:lnSpc>
              <a:spcBef>
                <a:spcPts val="0"/>
              </a:spcBef>
              <a:spcAft>
                <a:spcPts val="0"/>
              </a:spcAft>
              <a:buNone/>
            </a:pPr>
            <a:r>
              <a:rPr lang="en-US" sz="2000">
                <a:solidFill>
                  <a:srgbClr val="746457"/>
                </a:solidFill>
                <a:latin typeface="Arial"/>
                <a:ea typeface="Arial"/>
                <a:cs typeface="Arial"/>
                <a:sym typeface="Arial"/>
              </a:rPr>
              <a:t>Establishing policies, procedures, and controls to align software security with business objectives and goals.</a:t>
            </a:r>
            <a:endParaRPr sz="2000">
              <a:solidFill>
                <a:schemeClr val="dk1"/>
              </a:solidFill>
              <a:latin typeface="Arial"/>
              <a:ea typeface="Arial"/>
              <a:cs typeface="Arial"/>
              <a:sym typeface="Arial"/>
            </a:endParaRPr>
          </a:p>
        </p:txBody>
      </p:sp>
      <p:sp>
        <p:nvSpPr>
          <p:cNvPr id="527" name="Google Shape;527;p42"/>
          <p:cNvSpPr txBox="1"/>
          <p:nvPr/>
        </p:nvSpPr>
        <p:spPr>
          <a:xfrm>
            <a:off x="4912009" y="3507250"/>
            <a:ext cx="1924685" cy="33083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000">
                <a:solidFill>
                  <a:srgbClr val="474237"/>
                </a:solidFill>
                <a:latin typeface="Arial"/>
                <a:ea typeface="Arial"/>
                <a:cs typeface="Arial"/>
                <a:sym typeface="Arial"/>
              </a:rPr>
              <a:t>Risk Management</a:t>
            </a:r>
            <a:endParaRPr sz="2000">
              <a:solidFill>
                <a:schemeClr val="dk1"/>
              </a:solidFill>
              <a:latin typeface="Arial"/>
              <a:ea typeface="Arial"/>
              <a:cs typeface="Arial"/>
              <a:sym typeface="Arial"/>
            </a:endParaRPr>
          </a:p>
        </p:txBody>
      </p:sp>
      <p:sp>
        <p:nvSpPr>
          <p:cNvPr id="528" name="Google Shape;528;p42"/>
          <p:cNvSpPr txBox="1"/>
          <p:nvPr/>
        </p:nvSpPr>
        <p:spPr>
          <a:xfrm>
            <a:off x="4912009" y="4061059"/>
            <a:ext cx="2726690" cy="1993264"/>
          </a:xfrm>
          <a:prstGeom prst="rect">
            <a:avLst/>
          </a:prstGeom>
          <a:noFill/>
          <a:ln>
            <a:noFill/>
          </a:ln>
        </p:spPr>
        <p:txBody>
          <a:bodyPr anchorCtr="0" anchor="t" bIns="0" lIns="0" spcFirstLastPara="1" rIns="0" wrap="square" tIns="12050">
            <a:spAutoFit/>
          </a:bodyPr>
          <a:lstStyle/>
          <a:p>
            <a:pPr indent="0" lvl="0" marL="12700" marR="5080" rtl="0" algn="l">
              <a:lnSpc>
                <a:spcPct val="129099"/>
              </a:lnSpc>
              <a:spcBef>
                <a:spcPts val="0"/>
              </a:spcBef>
              <a:spcAft>
                <a:spcPts val="0"/>
              </a:spcAft>
              <a:buNone/>
            </a:pPr>
            <a:r>
              <a:rPr lang="en-US" sz="2000">
                <a:solidFill>
                  <a:srgbClr val="746457"/>
                </a:solidFill>
                <a:latin typeface="Arial"/>
                <a:ea typeface="Arial"/>
                <a:cs typeface="Arial"/>
                <a:sym typeface="Arial"/>
              </a:rPr>
              <a:t>Identifying, analyzing, and mitigating risks to an acceptable level through security design and implementation.</a:t>
            </a:r>
            <a:endParaRPr sz="2000">
              <a:solidFill>
                <a:schemeClr val="dk1"/>
              </a:solidFill>
              <a:latin typeface="Arial"/>
              <a:ea typeface="Arial"/>
              <a:cs typeface="Arial"/>
              <a:sym typeface="Arial"/>
            </a:endParaRPr>
          </a:p>
        </p:txBody>
      </p:sp>
      <p:sp>
        <p:nvSpPr>
          <p:cNvPr id="529" name="Google Shape;529;p42"/>
          <p:cNvSpPr txBox="1"/>
          <p:nvPr/>
        </p:nvSpPr>
        <p:spPr>
          <a:xfrm>
            <a:off x="8305873" y="2275431"/>
            <a:ext cx="1263650"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2000">
                <a:solidFill>
                  <a:srgbClr val="474237"/>
                </a:solidFill>
                <a:latin typeface="Arial"/>
                <a:ea typeface="Arial"/>
                <a:cs typeface="Arial"/>
                <a:sym typeface="Arial"/>
              </a:rPr>
              <a:t>Compliance</a:t>
            </a:r>
            <a:endParaRPr sz="2000">
              <a:solidFill>
                <a:schemeClr val="dk1"/>
              </a:solidFill>
              <a:latin typeface="Arial"/>
              <a:ea typeface="Arial"/>
              <a:cs typeface="Arial"/>
              <a:sym typeface="Arial"/>
            </a:endParaRPr>
          </a:p>
        </p:txBody>
      </p:sp>
      <p:sp>
        <p:nvSpPr>
          <p:cNvPr id="530" name="Google Shape;530;p42"/>
          <p:cNvSpPr txBox="1"/>
          <p:nvPr/>
        </p:nvSpPr>
        <p:spPr>
          <a:xfrm>
            <a:off x="8305873" y="2829241"/>
            <a:ext cx="2907030" cy="1993264"/>
          </a:xfrm>
          <a:prstGeom prst="rect">
            <a:avLst/>
          </a:prstGeom>
          <a:noFill/>
          <a:ln>
            <a:noFill/>
          </a:ln>
        </p:spPr>
        <p:txBody>
          <a:bodyPr anchorCtr="0" anchor="t" bIns="0" lIns="0" spcFirstLastPara="1" rIns="0" wrap="square" tIns="12050">
            <a:spAutoFit/>
          </a:bodyPr>
          <a:lstStyle/>
          <a:p>
            <a:pPr indent="0" lvl="0" marL="12700" marR="5080" rtl="0" algn="l">
              <a:lnSpc>
                <a:spcPct val="129099"/>
              </a:lnSpc>
              <a:spcBef>
                <a:spcPts val="0"/>
              </a:spcBef>
              <a:spcAft>
                <a:spcPts val="0"/>
              </a:spcAft>
              <a:buNone/>
            </a:pPr>
            <a:r>
              <a:rPr lang="en-US" sz="2000">
                <a:solidFill>
                  <a:srgbClr val="746457"/>
                </a:solidFill>
                <a:latin typeface="Arial"/>
                <a:ea typeface="Arial"/>
                <a:cs typeface="Arial"/>
                <a:sym typeface="Arial"/>
              </a:rPr>
              <a:t>Ensuring that the software adheres to relevant laws, regulations, and industry standards to avoid legal and and regulatory issues.</a:t>
            </a:r>
            <a:endParaRPr sz="2000">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02: Security Design Principles</a:t>
            </a:r>
            <a:endParaRPr/>
          </a:p>
        </p:txBody>
      </p:sp>
      <p:sp>
        <p:nvSpPr>
          <p:cNvPr id="536" name="Google Shape;536;p43"/>
          <p:cNvSpPr txBox="1"/>
          <p:nvPr/>
        </p:nvSpPr>
        <p:spPr>
          <a:xfrm>
            <a:off x="1171072" y="1582197"/>
            <a:ext cx="9849856" cy="5275803"/>
          </a:xfrm>
          <a:prstGeom prst="rect">
            <a:avLst/>
          </a:prstGeom>
          <a:noFill/>
          <a:ln>
            <a:noFill/>
          </a:ln>
        </p:spPr>
        <p:txBody>
          <a:bodyPr anchorCtr="0" anchor="t" bIns="0" lIns="0" spcFirstLastPara="1" rIns="0" wrap="square" tIns="119375">
            <a:spAutoFit/>
          </a:bodyPr>
          <a:lstStyle/>
          <a:p>
            <a:pPr indent="-286385" lvl="0" marL="299085" marR="0" rtl="0" algn="l">
              <a:lnSpc>
                <a:spcPct val="100000"/>
              </a:lnSpc>
              <a:spcBef>
                <a:spcPts val="0"/>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Least privilege (e.g., access control, need-to-know, run-time privileges, Zero Trust)</a:t>
            </a:r>
            <a:endParaRPr sz="1800">
              <a:solidFill>
                <a:schemeClr val="dk1"/>
              </a:solidFill>
              <a:latin typeface="Arial"/>
              <a:ea typeface="Arial"/>
              <a:cs typeface="Arial"/>
              <a:sym typeface="Arial"/>
            </a:endParaRPr>
          </a:p>
          <a:p>
            <a:pPr indent="-286385" lvl="0" marL="298450" marR="6350" rtl="0" algn="l">
              <a:lnSpc>
                <a:spcPct val="150000"/>
              </a:lnSpc>
              <a:spcBef>
                <a:spcPts val="0"/>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Segregation	of	Duties	(SoD)	(e.g.,	multi-party	control,	secret  sharing,	split knowledge)</a:t>
            </a:r>
            <a:endParaRPr sz="1800">
              <a:solidFill>
                <a:schemeClr val="dk1"/>
              </a:solidFill>
              <a:latin typeface="Arial"/>
              <a:ea typeface="Arial"/>
              <a:cs typeface="Arial"/>
              <a:sym typeface="Arial"/>
            </a:endParaRPr>
          </a:p>
          <a:p>
            <a:pPr indent="-286385" lvl="0" marL="298450" marR="5715" rtl="0" algn="l">
              <a:lnSpc>
                <a:spcPct val="150000"/>
              </a:lnSpc>
              <a:spcBef>
                <a:spcPts val="0"/>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Defense in depth (e.g., layered controls, geographical diversity, technical diversity, distributed systems)</a:t>
            </a:r>
            <a:endParaRPr sz="1800">
              <a:solidFill>
                <a:schemeClr val="dk1"/>
              </a:solidFill>
              <a:latin typeface="Arial"/>
              <a:ea typeface="Arial"/>
              <a:cs typeface="Arial"/>
              <a:sym typeface="Arial"/>
            </a:endParaRPr>
          </a:p>
          <a:p>
            <a:pPr indent="-286385" lvl="0" marL="299085" marR="0" rtl="0" algn="l">
              <a:lnSpc>
                <a:spcPct val="100000"/>
              </a:lnSpc>
              <a:spcBef>
                <a:spcPts val="835"/>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Resiliency (e.g., fail safe, fail secure, no single point of failure, failover)</a:t>
            </a:r>
            <a:endParaRPr sz="1800">
              <a:solidFill>
                <a:schemeClr val="dk1"/>
              </a:solidFill>
              <a:latin typeface="Arial"/>
              <a:ea typeface="Arial"/>
              <a:cs typeface="Arial"/>
              <a:sym typeface="Arial"/>
            </a:endParaRPr>
          </a:p>
          <a:p>
            <a:pPr indent="-287019" lvl="0" marL="299085" marR="6350" rtl="0" algn="l">
              <a:lnSpc>
                <a:spcPct val="150000"/>
              </a:lnSpc>
              <a:spcBef>
                <a:spcPts val="0"/>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Economy of mechanism (e.g., single sign-on (SSO), password vaults, resource efficiency)</a:t>
            </a:r>
            <a:endParaRPr sz="1800">
              <a:solidFill>
                <a:schemeClr val="dk1"/>
              </a:solidFill>
              <a:latin typeface="Arial"/>
              <a:ea typeface="Arial"/>
              <a:cs typeface="Arial"/>
              <a:sym typeface="Arial"/>
            </a:endParaRPr>
          </a:p>
          <a:p>
            <a:pPr indent="-287019" lvl="0" marL="299085" marR="5080" rtl="0" algn="l">
              <a:lnSpc>
                <a:spcPct val="150000"/>
              </a:lnSpc>
              <a:spcBef>
                <a:spcPts val="0"/>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Complete mediation (e.g., cookie management, session management, caching of credentials)</a:t>
            </a:r>
            <a:endParaRPr sz="1800">
              <a:solidFill>
                <a:schemeClr val="dk1"/>
              </a:solidFill>
              <a:latin typeface="Arial"/>
              <a:ea typeface="Arial"/>
              <a:cs typeface="Arial"/>
              <a:sym typeface="Arial"/>
            </a:endParaRPr>
          </a:p>
          <a:p>
            <a:pPr indent="-286385" lvl="0" marL="299085" marR="0" rtl="0" algn="l">
              <a:lnSpc>
                <a:spcPct val="100000"/>
              </a:lnSpc>
              <a:spcBef>
                <a:spcPts val="840"/>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Least common mechanism (e.g., compartmentalization/isolation, allow/accept list)</a:t>
            </a:r>
            <a:endParaRPr sz="1800">
              <a:solidFill>
                <a:schemeClr val="dk1"/>
              </a:solidFill>
              <a:latin typeface="Arial"/>
              <a:ea typeface="Arial"/>
              <a:cs typeface="Arial"/>
              <a:sym typeface="Arial"/>
            </a:endParaRPr>
          </a:p>
          <a:p>
            <a:pPr indent="-287019" lvl="0" marL="299085" marR="6350" rtl="0" algn="l">
              <a:lnSpc>
                <a:spcPct val="150000"/>
              </a:lnSpc>
              <a:spcBef>
                <a:spcPts val="0"/>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Psychological acceptability (e.g., password complexity, passwordless authentication, screen layouts,</a:t>
            </a:r>
            <a:endParaRPr sz="1800">
              <a:solidFill>
                <a:schemeClr val="dk1"/>
              </a:solidFill>
              <a:latin typeface="Arial"/>
              <a:ea typeface="Arial"/>
              <a:cs typeface="Arial"/>
              <a:sym typeface="Arial"/>
            </a:endParaRPr>
          </a:p>
          <a:p>
            <a:pPr indent="-287019" lvl="0" marL="299085" marR="6350" rtl="0" algn="l">
              <a:lnSpc>
                <a:spcPct val="150000"/>
              </a:lnSpc>
              <a:spcBef>
                <a:spcPts val="0"/>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Completely Automated Public Turing test to tell Computers and Humans Apart (CAPTCHA))</a:t>
            </a:r>
            <a:endParaRPr sz="1800">
              <a:solidFill>
                <a:schemeClr val="dk1"/>
              </a:solidFill>
              <a:latin typeface="Arial"/>
              <a:ea typeface="Arial"/>
              <a:cs typeface="Arial"/>
              <a:sym typeface="Arial"/>
            </a:endParaRPr>
          </a:p>
          <a:p>
            <a:pPr indent="-286385" lvl="0" marL="299085" marR="0" rtl="0" algn="l">
              <a:lnSpc>
                <a:spcPct val="100000"/>
              </a:lnSpc>
              <a:spcBef>
                <a:spcPts val="840"/>
              </a:spcBef>
              <a:spcAft>
                <a:spcPts val="0"/>
              </a:spcAft>
              <a:buClr>
                <a:srgbClr val="404040"/>
              </a:buClr>
              <a:buSzPts val="1800"/>
              <a:buFont typeface="Noto Sans Symbols"/>
              <a:buChar char="⮚"/>
            </a:pPr>
            <a:r>
              <a:rPr lang="en-US" sz="1800">
                <a:solidFill>
                  <a:srgbClr val="404040"/>
                </a:solidFill>
                <a:latin typeface="Arial"/>
                <a:ea typeface="Arial"/>
                <a:cs typeface="Arial"/>
                <a:sym typeface="Arial"/>
              </a:rPr>
              <a:t>Component reuse (e.g., common controls, libraries)</a:t>
            </a:r>
            <a:endParaRPr sz="1800">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4"/>
          <p:cNvSpPr txBox="1"/>
          <p:nvPr>
            <p:ph type="title"/>
          </p:nvPr>
        </p:nvSpPr>
        <p:spPr>
          <a:xfrm>
            <a:off x="1364974"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Least Privilege</a:t>
            </a:r>
            <a:endParaRPr/>
          </a:p>
        </p:txBody>
      </p:sp>
      <p:pic>
        <p:nvPicPr>
          <p:cNvPr id="542" name="Google Shape;542;p44"/>
          <p:cNvPicPr preferRelativeResize="0"/>
          <p:nvPr/>
        </p:nvPicPr>
        <p:blipFill rotWithShape="1">
          <a:blip r:embed="rId3">
            <a:alphaModFix/>
          </a:blip>
          <a:srcRect b="0" l="0" r="0" t="0"/>
          <a:stretch/>
        </p:blipFill>
        <p:spPr>
          <a:xfrm>
            <a:off x="1118997" y="433388"/>
            <a:ext cx="9592055" cy="500119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Defense-in-Depth</a:t>
            </a:r>
            <a:endParaRPr/>
          </a:p>
        </p:txBody>
      </p:sp>
      <p:grpSp>
        <p:nvGrpSpPr>
          <p:cNvPr id="548" name="Google Shape;548;p45"/>
          <p:cNvGrpSpPr/>
          <p:nvPr/>
        </p:nvGrpSpPr>
        <p:grpSpPr>
          <a:xfrm>
            <a:off x="2233422" y="1315590"/>
            <a:ext cx="7982966" cy="5156835"/>
            <a:chOff x="2233422" y="1315590"/>
            <a:chExt cx="7982966" cy="5156835"/>
          </a:xfrm>
        </p:grpSpPr>
        <p:sp>
          <p:nvSpPr>
            <p:cNvPr id="549" name="Google Shape;549;p45"/>
            <p:cNvSpPr/>
            <p:nvPr/>
          </p:nvSpPr>
          <p:spPr>
            <a:xfrm>
              <a:off x="2247496" y="1315590"/>
              <a:ext cx="1083310" cy="5156835"/>
            </a:xfrm>
            <a:custGeom>
              <a:rect b="b" l="l" r="r" t="t"/>
              <a:pathLst>
                <a:path extrusionOk="0" h="5156835" w="1083310">
                  <a:moveTo>
                    <a:pt x="15265" y="0"/>
                  </a:moveTo>
                  <a:lnTo>
                    <a:pt x="49166" y="34343"/>
                  </a:lnTo>
                  <a:lnTo>
                    <a:pt x="82520" y="69020"/>
                  </a:lnTo>
                  <a:lnTo>
                    <a:pt x="115327" y="104026"/>
                  </a:lnTo>
                  <a:lnTo>
                    <a:pt x="147587" y="139356"/>
                  </a:lnTo>
                  <a:lnTo>
                    <a:pt x="179301" y="175004"/>
                  </a:lnTo>
                  <a:lnTo>
                    <a:pt x="210468" y="210964"/>
                  </a:lnTo>
                  <a:lnTo>
                    <a:pt x="241088" y="247231"/>
                  </a:lnTo>
                  <a:lnTo>
                    <a:pt x="271161" y="283800"/>
                  </a:lnTo>
                  <a:lnTo>
                    <a:pt x="300688" y="320665"/>
                  </a:lnTo>
                  <a:lnTo>
                    <a:pt x="329667" y="357821"/>
                  </a:lnTo>
                  <a:lnTo>
                    <a:pt x="358100" y="395263"/>
                  </a:lnTo>
                  <a:lnTo>
                    <a:pt x="385986" y="432984"/>
                  </a:lnTo>
                  <a:lnTo>
                    <a:pt x="413326" y="470980"/>
                  </a:lnTo>
                  <a:lnTo>
                    <a:pt x="440118" y="509245"/>
                  </a:lnTo>
                  <a:lnTo>
                    <a:pt x="466364" y="547773"/>
                  </a:lnTo>
                  <a:lnTo>
                    <a:pt x="492063" y="586560"/>
                  </a:lnTo>
                  <a:lnTo>
                    <a:pt x="517215" y="625600"/>
                  </a:lnTo>
                  <a:lnTo>
                    <a:pt x="541821" y="664886"/>
                  </a:lnTo>
                  <a:lnTo>
                    <a:pt x="565879" y="704415"/>
                  </a:lnTo>
                  <a:lnTo>
                    <a:pt x="589391" y="744180"/>
                  </a:lnTo>
                  <a:lnTo>
                    <a:pt x="612356" y="784176"/>
                  </a:lnTo>
                  <a:lnTo>
                    <a:pt x="634774" y="824398"/>
                  </a:lnTo>
                  <a:lnTo>
                    <a:pt x="656646" y="864840"/>
                  </a:lnTo>
                  <a:lnTo>
                    <a:pt x="677971" y="905496"/>
                  </a:lnTo>
                  <a:lnTo>
                    <a:pt x="698748" y="946362"/>
                  </a:lnTo>
                  <a:lnTo>
                    <a:pt x="718980" y="987432"/>
                  </a:lnTo>
                  <a:lnTo>
                    <a:pt x="738664" y="1028700"/>
                  </a:lnTo>
                  <a:lnTo>
                    <a:pt x="757801" y="1070161"/>
                  </a:lnTo>
                  <a:lnTo>
                    <a:pt x="776392" y="1111809"/>
                  </a:lnTo>
                  <a:lnTo>
                    <a:pt x="794436" y="1153640"/>
                  </a:lnTo>
                  <a:lnTo>
                    <a:pt x="811933" y="1195647"/>
                  </a:lnTo>
                  <a:lnTo>
                    <a:pt x="828884" y="1237826"/>
                  </a:lnTo>
                  <a:lnTo>
                    <a:pt x="845287" y="1280170"/>
                  </a:lnTo>
                  <a:lnTo>
                    <a:pt x="861144" y="1322675"/>
                  </a:lnTo>
                  <a:lnTo>
                    <a:pt x="876454" y="1365334"/>
                  </a:lnTo>
                  <a:lnTo>
                    <a:pt x="891217" y="1408143"/>
                  </a:lnTo>
                  <a:lnTo>
                    <a:pt x="905434" y="1451096"/>
                  </a:lnTo>
                  <a:lnTo>
                    <a:pt x="919104" y="1494188"/>
                  </a:lnTo>
                  <a:lnTo>
                    <a:pt x="932226" y="1537413"/>
                  </a:lnTo>
                  <a:lnTo>
                    <a:pt x="944802" y="1580765"/>
                  </a:lnTo>
                  <a:lnTo>
                    <a:pt x="956832" y="1624240"/>
                  </a:lnTo>
                  <a:lnTo>
                    <a:pt x="968314" y="1667832"/>
                  </a:lnTo>
                  <a:lnTo>
                    <a:pt x="979250" y="1711535"/>
                  </a:lnTo>
                  <a:lnTo>
                    <a:pt x="989639" y="1755344"/>
                  </a:lnTo>
                  <a:lnTo>
                    <a:pt x="999481" y="1799254"/>
                  </a:lnTo>
                  <a:lnTo>
                    <a:pt x="1008777" y="1843259"/>
                  </a:lnTo>
                  <a:lnTo>
                    <a:pt x="1017525" y="1887353"/>
                  </a:lnTo>
                  <a:lnTo>
                    <a:pt x="1025727" y="1931532"/>
                  </a:lnTo>
                  <a:lnTo>
                    <a:pt x="1033382" y="1975790"/>
                  </a:lnTo>
                  <a:lnTo>
                    <a:pt x="1040490" y="2020121"/>
                  </a:lnTo>
                  <a:lnTo>
                    <a:pt x="1047052" y="2064520"/>
                  </a:lnTo>
                  <a:lnTo>
                    <a:pt x="1053066" y="2108981"/>
                  </a:lnTo>
                  <a:lnTo>
                    <a:pt x="1058534" y="2153500"/>
                  </a:lnTo>
                  <a:lnTo>
                    <a:pt x="1063455" y="2198070"/>
                  </a:lnTo>
                  <a:lnTo>
                    <a:pt x="1067830" y="2242686"/>
                  </a:lnTo>
                  <a:lnTo>
                    <a:pt x="1071657" y="2287343"/>
                  </a:lnTo>
                  <a:lnTo>
                    <a:pt x="1074938" y="2332036"/>
                  </a:lnTo>
                  <a:lnTo>
                    <a:pt x="1077672" y="2376758"/>
                  </a:lnTo>
                  <a:lnTo>
                    <a:pt x="1079859" y="2421505"/>
                  </a:lnTo>
                  <a:lnTo>
                    <a:pt x="1081499" y="2466271"/>
                  </a:lnTo>
                  <a:lnTo>
                    <a:pt x="1082593" y="2511050"/>
                  </a:lnTo>
                  <a:lnTo>
                    <a:pt x="1083140" y="2555838"/>
                  </a:lnTo>
                  <a:lnTo>
                    <a:pt x="1083140" y="2600628"/>
                  </a:lnTo>
                  <a:lnTo>
                    <a:pt x="1082593" y="2645416"/>
                  </a:lnTo>
                  <a:lnTo>
                    <a:pt x="1081499" y="2690195"/>
                  </a:lnTo>
                  <a:lnTo>
                    <a:pt x="1079859" y="2734961"/>
                  </a:lnTo>
                  <a:lnTo>
                    <a:pt x="1077672" y="2779708"/>
                  </a:lnTo>
                  <a:lnTo>
                    <a:pt x="1074938" y="2824430"/>
                  </a:lnTo>
                  <a:lnTo>
                    <a:pt x="1071657" y="2869122"/>
                  </a:lnTo>
                  <a:lnTo>
                    <a:pt x="1067830" y="2913780"/>
                  </a:lnTo>
                  <a:lnTo>
                    <a:pt x="1063455" y="2958396"/>
                  </a:lnTo>
                  <a:lnTo>
                    <a:pt x="1058534" y="3002966"/>
                  </a:lnTo>
                  <a:lnTo>
                    <a:pt x="1053066" y="3047485"/>
                  </a:lnTo>
                  <a:lnTo>
                    <a:pt x="1047052" y="3091946"/>
                  </a:lnTo>
                  <a:lnTo>
                    <a:pt x="1040490" y="3136345"/>
                  </a:lnTo>
                  <a:lnTo>
                    <a:pt x="1033382" y="3180676"/>
                  </a:lnTo>
                  <a:lnTo>
                    <a:pt x="1025727" y="3224933"/>
                  </a:lnTo>
                  <a:lnTo>
                    <a:pt x="1017525" y="3269112"/>
                  </a:lnTo>
                  <a:lnTo>
                    <a:pt x="1008777" y="3313207"/>
                  </a:lnTo>
                  <a:lnTo>
                    <a:pt x="999481" y="3357212"/>
                  </a:lnTo>
                  <a:lnTo>
                    <a:pt x="989639" y="3401121"/>
                  </a:lnTo>
                  <a:lnTo>
                    <a:pt x="979250" y="3444931"/>
                  </a:lnTo>
                  <a:lnTo>
                    <a:pt x="968314" y="3488634"/>
                  </a:lnTo>
                  <a:lnTo>
                    <a:pt x="956832" y="3532225"/>
                  </a:lnTo>
                  <a:lnTo>
                    <a:pt x="944802" y="3575700"/>
                  </a:lnTo>
                  <a:lnTo>
                    <a:pt x="932226" y="3619053"/>
                  </a:lnTo>
                  <a:lnTo>
                    <a:pt x="919104" y="3662278"/>
                  </a:lnTo>
                  <a:lnTo>
                    <a:pt x="905434" y="3705369"/>
                  </a:lnTo>
                  <a:lnTo>
                    <a:pt x="891217" y="3748322"/>
                  </a:lnTo>
                  <a:lnTo>
                    <a:pt x="876454" y="3791131"/>
                  </a:lnTo>
                  <a:lnTo>
                    <a:pt x="861144" y="3833791"/>
                  </a:lnTo>
                  <a:lnTo>
                    <a:pt x="845287" y="3876296"/>
                  </a:lnTo>
                  <a:lnTo>
                    <a:pt x="828884" y="3918640"/>
                  </a:lnTo>
                  <a:lnTo>
                    <a:pt x="811933" y="3960818"/>
                  </a:lnTo>
                  <a:lnTo>
                    <a:pt x="794436" y="4002826"/>
                  </a:lnTo>
                  <a:lnTo>
                    <a:pt x="776392" y="4044656"/>
                  </a:lnTo>
                  <a:lnTo>
                    <a:pt x="757801" y="4086305"/>
                  </a:lnTo>
                  <a:lnTo>
                    <a:pt x="738664" y="4127766"/>
                  </a:lnTo>
                  <a:lnTo>
                    <a:pt x="718980" y="4169034"/>
                  </a:lnTo>
                  <a:lnTo>
                    <a:pt x="698748" y="4210104"/>
                  </a:lnTo>
                  <a:lnTo>
                    <a:pt x="677971" y="4250969"/>
                  </a:lnTo>
                  <a:lnTo>
                    <a:pt x="656646" y="4291626"/>
                  </a:lnTo>
                  <a:lnTo>
                    <a:pt x="634774" y="4332068"/>
                  </a:lnTo>
                  <a:lnTo>
                    <a:pt x="612356" y="4372289"/>
                  </a:lnTo>
                  <a:lnTo>
                    <a:pt x="589391" y="4412286"/>
                  </a:lnTo>
                  <a:lnTo>
                    <a:pt x="565879" y="4452051"/>
                  </a:lnTo>
                  <a:lnTo>
                    <a:pt x="541821" y="4491579"/>
                  </a:lnTo>
                  <a:lnTo>
                    <a:pt x="517215" y="4530866"/>
                  </a:lnTo>
                  <a:lnTo>
                    <a:pt x="492063" y="4569906"/>
                  </a:lnTo>
                  <a:lnTo>
                    <a:pt x="466364" y="4608692"/>
                  </a:lnTo>
                  <a:lnTo>
                    <a:pt x="440118" y="4647221"/>
                  </a:lnTo>
                  <a:lnTo>
                    <a:pt x="413326" y="4685486"/>
                  </a:lnTo>
                  <a:lnTo>
                    <a:pt x="385986" y="4723481"/>
                  </a:lnTo>
                  <a:lnTo>
                    <a:pt x="358100" y="4761203"/>
                  </a:lnTo>
                  <a:lnTo>
                    <a:pt x="329667" y="4798644"/>
                  </a:lnTo>
                  <a:lnTo>
                    <a:pt x="300688" y="4835800"/>
                  </a:lnTo>
                  <a:lnTo>
                    <a:pt x="271161" y="4872665"/>
                  </a:lnTo>
                  <a:lnTo>
                    <a:pt x="241088" y="4909234"/>
                  </a:lnTo>
                  <a:lnTo>
                    <a:pt x="210468" y="4945502"/>
                  </a:lnTo>
                  <a:lnTo>
                    <a:pt x="179301" y="4981462"/>
                  </a:lnTo>
                  <a:lnTo>
                    <a:pt x="147587" y="5017110"/>
                  </a:lnTo>
                  <a:lnTo>
                    <a:pt x="115327" y="5052439"/>
                  </a:lnTo>
                  <a:lnTo>
                    <a:pt x="82520" y="5087446"/>
                  </a:lnTo>
                  <a:lnTo>
                    <a:pt x="49166" y="5122123"/>
                  </a:lnTo>
                  <a:lnTo>
                    <a:pt x="15265" y="5156466"/>
                  </a:lnTo>
                  <a:lnTo>
                    <a:pt x="0" y="5141201"/>
                  </a:lnTo>
                  <a:lnTo>
                    <a:pt x="33969" y="5106784"/>
                  </a:lnTo>
                  <a:lnTo>
                    <a:pt x="67386" y="5072030"/>
                  </a:lnTo>
                  <a:lnTo>
                    <a:pt x="100251" y="5036944"/>
                  </a:lnTo>
                  <a:lnTo>
                    <a:pt x="132564" y="5001531"/>
                  </a:lnTo>
                  <a:lnTo>
                    <a:pt x="164324" y="4965798"/>
                  </a:lnTo>
                  <a:lnTo>
                    <a:pt x="195532" y="4929748"/>
                  </a:lnTo>
                  <a:lnTo>
                    <a:pt x="226187" y="4893389"/>
                  </a:lnTo>
                  <a:lnTo>
                    <a:pt x="256290" y="4856725"/>
                  </a:lnTo>
                  <a:lnTo>
                    <a:pt x="285841" y="4819762"/>
                  </a:lnTo>
                  <a:lnTo>
                    <a:pt x="314840" y="4782506"/>
                  </a:lnTo>
                  <a:lnTo>
                    <a:pt x="343286" y="4744963"/>
                  </a:lnTo>
                  <a:lnTo>
                    <a:pt x="371179" y="4707136"/>
                  </a:lnTo>
                  <a:lnTo>
                    <a:pt x="398521" y="4669033"/>
                  </a:lnTo>
                  <a:lnTo>
                    <a:pt x="425310" y="4630659"/>
                  </a:lnTo>
                  <a:lnTo>
                    <a:pt x="451546" y="4592020"/>
                  </a:lnTo>
                  <a:lnTo>
                    <a:pt x="477231" y="4553120"/>
                  </a:lnTo>
                  <a:lnTo>
                    <a:pt x="502363" y="4513965"/>
                  </a:lnTo>
                  <a:lnTo>
                    <a:pt x="526942" y="4474561"/>
                  </a:lnTo>
                  <a:lnTo>
                    <a:pt x="550970" y="4434914"/>
                  </a:lnTo>
                  <a:lnTo>
                    <a:pt x="574444" y="4395029"/>
                  </a:lnTo>
                  <a:lnTo>
                    <a:pt x="597367" y="4354911"/>
                  </a:lnTo>
                  <a:lnTo>
                    <a:pt x="619737" y="4314566"/>
                  </a:lnTo>
                  <a:lnTo>
                    <a:pt x="641555" y="4274000"/>
                  </a:lnTo>
                  <a:lnTo>
                    <a:pt x="662821" y="4233218"/>
                  </a:lnTo>
                  <a:lnTo>
                    <a:pt x="683534" y="4192226"/>
                  </a:lnTo>
                  <a:lnTo>
                    <a:pt x="703695" y="4151029"/>
                  </a:lnTo>
                  <a:lnTo>
                    <a:pt x="723303" y="4109632"/>
                  </a:lnTo>
                  <a:lnTo>
                    <a:pt x="742359" y="4068042"/>
                  </a:lnTo>
                  <a:lnTo>
                    <a:pt x="760863" y="4026264"/>
                  </a:lnTo>
                  <a:lnTo>
                    <a:pt x="778814" y="3984303"/>
                  </a:lnTo>
                  <a:lnTo>
                    <a:pt x="796213" y="3942165"/>
                  </a:lnTo>
                  <a:lnTo>
                    <a:pt x="813060" y="3899855"/>
                  </a:lnTo>
                  <a:lnTo>
                    <a:pt x="829354" y="3857379"/>
                  </a:lnTo>
                  <a:lnTo>
                    <a:pt x="845096" y="3814743"/>
                  </a:lnTo>
                  <a:lnTo>
                    <a:pt x="860286" y="3771952"/>
                  </a:lnTo>
                  <a:lnTo>
                    <a:pt x="874923" y="3729011"/>
                  </a:lnTo>
                  <a:lnTo>
                    <a:pt x="889008" y="3685926"/>
                  </a:lnTo>
                  <a:lnTo>
                    <a:pt x="902541" y="3642703"/>
                  </a:lnTo>
                  <a:lnTo>
                    <a:pt x="915521" y="3599347"/>
                  </a:lnTo>
                  <a:lnTo>
                    <a:pt x="927949" y="3555864"/>
                  </a:lnTo>
                  <a:lnTo>
                    <a:pt x="939825" y="3512259"/>
                  </a:lnTo>
                  <a:lnTo>
                    <a:pt x="951148" y="3468538"/>
                  </a:lnTo>
                  <a:lnTo>
                    <a:pt x="961919" y="3424706"/>
                  </a:lnTo>
                  <a:lnTo>
                    <a:pt x="972137" y="3380769"/>
                  </a:lnTo>
                  <a:lnTo>
                    <a:pt x="981803" y="3336732"/>
                  </a:lnTo>
                  <a:lnTo>
                    <a:pt x="990917" y="3292601"/>
                  </a:lnTo>
                  <a:lnTo>
                    <a:pt x="999478" y="3248382"/>
                  </a:lnTo>
                  <a:lnTo>
                    <a:pt x="1007488" y="3204080"/>
                  </a:lnTo>
                  <a:lnTo>
                    <a:pt x="1014944" y="3159700"/>
                  </a:lnTo>
                  <a:lnTo>
                    <a:pt x="1021849" y="3115248"/>
                  </a:lnTo>
                  <a:lnTo>
                    <a:pt x="1028201" y="3070730"/>
                  </a:lnTo>
                  <a:lnTo>
                    <a:pt x="1034000" y="3026151"/>
                  </a:lnTo>
                  <a:lnTo>
                    <a:pt x="1039248" y="2981516"/>
                  </a:lnTo>
                  <a:lnTo>
                    <a:pt x="1043943" y="2936832"/>
                  </a:lnTo>
                  <a:lnTo>
                    <a:pt x="1048085" y="2892103"/>
                  </a:lnTo>
                  <a:lnTo>
                    <a:pt x="1051676" y="2847336"/>
                  </a:lnTo>
                  <a:lnTo>
                    <a:pt x="1054714" y="2802535"/>
                  </a:lnTo>
                  <a:lnTo>
                    <a:pt x="1057199" y="2757707"/>
                  </a:lnTo>
                  <a:lnTo>
                    <a:pt x="1059132" y="2712857"/>
                  </a:lnTo>
                  <a:lnTo>
                    <a:pt x="1060513" y="2667990"/>
                  </a:lnTo>
                  <a:lnTo>
                    <a:pt x="1061342" y="2623112"/>
                  </a:lnTo>
                  <a:lnTo>
                    <a:pt x="1061618" y="2578228"/>
                  </a:lnTo>
                  <a:lnTo>
                    <a:pt x="1061342" y="2533345"/>
                  </a:lnTo>
                  <a:lnTo>
                    <a:pt x="1060513" y="2488466"/>
                  </a:lnTo>
                  <a:lnTo>
                    <a:pt x="1059132" y="2443600"/>
                  </a:lnTo>
                  <a:lnTo>
                    <a:pt x="1057199" y="2398749"/>
                  </a:lnTo>
                  <a:lnTo>
                    <a:pt x="1054714" y="2353921"/>
                  </a:lnTo>
                  <a:lnTo>
                    <a:pt x="1051676" y="2309120"/>
                  </a:lnTo>
                  <a:lnTo>
                    <a:pt x="1048085" y="2264353"/>
                  </a:lnTo>
                  <a:lnTo>
                    <a:pt x="1043943" y="2219625"/>
                  </a:lnTo>
                  <a:lnTo>
                    <a:pt x="1039248" y="2174940"/>
                  </a:lnTo>
                  <a:lnTo>
                    <a:pt x="1034000" y="2130306"/>
                  </a:lnTo>
                  <a:lnTo>
                    <a:pt x="1028201" y="2085727"/>
                  </a:lnTo>
                  <a:lnTo>
                    <a:pt x="1021849" y="2041209"/>
                  </a:lnTo>
                  <a:lnTo>
                    <a:pt x="1014944" y="1996757"/>
                  </a:lnTo>
                  <a:lnTo>
                    <a:pt x="1007488" y="1952377"/>
                  </a:lnTo>
                  <a:lnTo>
                    <a:pt x="999478" y="1908075"/>
                  </a:lnTo>
                  <a:lnTo>
                    <a:pt x="990917" y="1863855"/>
                  </a:lnTo>
                  <a:lnTo>
                    <a:pt x="981803" y="1819725"/>
                  </a:lnTo>
                  <a:lnTo>
                    <a:pt x="972137" y="1775688"/>
                  </a:lnTo>
                  <a:lnTo>
                    <a:pt x="961919" y="1731751"/>
                  </a:lnTo>
                  <a:lnTo>
                    <a:pt x="951148" y="1687919"/>
                  </a:lnTo>
                  <a:lnTo>
                    <a:pt x="939825" y="1644198"/>
                  </a:lnTo>
                  <a:lnTo>
                    <a:pt x="927949" y="1600593"/>
                  </a:lnTo>
                  <a:lnTo>
                    <a:pt x="915521" y="1557110"/>
                  </a:lnTo>
                  <a:lnTo>
                    <a:pt x="902541" y="1513754"/>
                  </a:lnTo>
                  <a:lnTo>
                    <a:pt x="889008" y="1470532"/>
                  </a:lnTo>
                  <a:lnTo>
                    <a:pt x="874923" y="1427447"/>
                  </a:lnTo>
                  <a:lnTo>
                    <a:pt x="860286" y="1384506"/>
                  </a:lnTo>
                  <a:lnTo>
                    <a:pt x="845096" y="1341715"/>
                  </a:lnTo>
                  <a:lnTo>
                    <a:pt x="829354" y="1299079"/>
                  </a:lnTo>
                  <a:lnTo>
                    <a:pt x="813060" y="1256603"/>
                  </a:lnTo>
                  <a:lnTo>
                    <a:pt x="796213" y="1214294"/>
                  </a:lnTo>
                  <a:lnTo>
                    <a:pt x="778814" y="1172156"/>
                  </a:lnTo>
                  <a:lnTo>
                    <a:pt x="760863" y="1130195"/>
                  </a:lnTo>
                  <a:lnTo>
                    <a:pt x="742359" y="1088417"/>
                  </a:lnTo>
                  <a:lnTo>
                    <a:pt x="723303" y="1046827"/>
                  </a:lnTo>
                  <a:lnTo>
                    <a:pt x="703695" y="1005431"/>
                  </a:lnTo>
                  <a:lnTo>
                    <a:pt x="683534" y="964234"/>
                  </a:lnTo>
                  <a:lnTo>
                    <a:pt x="662821" y="923242"/>
                  </a:lnTo>
                  <a:lnTo>
                    <a:pt x="641555" y="882460"/>
                  </a:lnTo>
                  <a:lnTo>
                    <a:pt x="619737" y="841894"/>
                  </a:lnTo>
                  <a:lnTo>
                    <a:pt x="597367" y="801549"/>
                  </a:lnTo>
                  <a:lnTo>
                    <a:pt x="574444" y="761432"/>
                  </a:lnTo>
                  <a:lnTo>
                    <a:pt x="550970" y="721547"/>
                  </a:lnTo>
                  <a:lnTo>
                    <a:pt x="526942" y="681900"/>
                  </a:lnTo>
                  <a:lnTo>
                    <a:pt x="502363" y="642496"/>
                  </a:lnTo>
                  <a:lnTo>
                    <a:pt x="477231" y="603342"/>
                  </a:lnTo>
                  <a:lnTo>
                    <a:pt x="451546" y="564442"/>
                  </a:lnTo>
                  <a:lnTo>
                    <a:pt x="425310" y="525803"/>
                  </a:lnTo>
                  <a:lnTo>
                    <a:pt x="398521" y="487429"/>
                  </a:lnTo>
                  <a:lnTo>
                    <a:pt x="371179" y="449326"/>
                  </a:lnTo>
                  <a:lnTo>
                    <a:pt x="343286" y="411500"/>
                  </a:lnTo>
                  <a:lnTo>
                    <a:pt x="314840" y="373956"/>
                  </a:lnTo>
                  <a:lnTo>
                    <a:pt x="285841" y="336701"/>
                  </a:lnTo>
                  <a:lnTo>
                    <a:pt x="256290" y="299738"/>
                  </a:lnTo>
                  <a:lnTo>
                    <a:pt x="226187" y="263075"/>
                  </a:lnTo>
                  <a:lnTo>
                    <a:pt x="195532" y="226716"/>
                  </a:lnTo>
                  <a:lnTo>
                    <a:pt x="164324" y="190667"/>
                  </a:lnTo>
                  <a:lnTo>
                    <a:pt x="132564" y="154933"/>
                  </a:lnTo>
                  <a:lnTo>
                    <a:pt x="100251" y="119521"/>
                  </a:lnTo>
                  <a:lnTo>
                    <a:pt x="67386" y="84435"/>
                  </a:lnTo>
                  <a:lnTo>
                    <a:pt x="33969" y="49681"/>
                  </a:lnTo>
                  <a:lnTo>
                    <a:pt x="0" y="15265"/>
                  </a:lnTo>
                  <a:lnTo>
                    <a:pt x="15265" y="0"/>
                  </a:lnTo>
                  <a:close/>
                </a:path>
              </a:pathLst>
            </a:custGeom>
            <a:noFill/>
            <a:ln cap="flat" cmpd="sng" w="19050">
              <a:solidFill>
                <a:srgbClr val="186B2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45"/>
            <p:cNvSpPr/>
            <p:nvPr/>
          </p:nvSpPr>
          <p:spPr>
            <a:xfrm>
              <a:off x="2539746" y="1430273"/>
              <a:ext cx="7676515" cy="492759"/>
            </a:xfrm>
            <a:custGeom>
              <a:rect b="b" l="l" r="r" t="t"/>
              <a:pathLst>
                <a:path extrusionOk="0" h="492760" w="7676515">
                  <a:moveTo>
                    <a:pt x="7676388" y="0"/>
                  </a:moveTo>
                  <a:lnTo>
                    <a:pt x="0" y="0"/>
                  </a:lnTo>
                  <a:lnTo>
                    <a:pt x="0" y="492251"/>
                  </a:lnTo>
                  <a:lnTo>
                    <a:pt x="7676388" y="492251"/>
                  </a:lnTo>
                  <a:lnTo>
                    <a:pt x="7676388" y="0"/>
                  </a:lnTo>
                  <a:close/>
                </a:path>
              </a:pathLst>
            </a:custGeom>
            <a:solidFill>
              <a:srgbClr val="E9703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45"/>
            <p:cNvSpPr/>
            <p:nvPr/>
          </p:nvSpPr>
          <p:spPr>
            <a:xfrm>
              <a:off x="2539746" y="1430273"/>
              <a:ext cx="7676515" cy="492759"/>
            </a:xfrm>
            <a:custGeom>
              <a:rect b="b" l="l" r="r" t="t"/>
              <a:pathLst>
                <a:path extrusionOk="0" h="492760" w="7676515">
                  <a:moveTo>
                    <a:pt x="0" y="0"/>
                  </a:moveTo>
                  <a:lnTo>
                    <a:pt x="7676388" y="0"/>
                  </a:lnTo>
                  <a:lnTo>
                    <a:pt x="7676388" y="492251"/>
                  </a:lnTo>
                  <a:lnTo>
                    <a:pt x="0" y="492251"/>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45"/>
            <p:cNvSpPr/>
            <p:nvPr/>
          </p:nvSpPr>
          <p:spPr>
            <a:xfrm>
              <a:off x="2233422" y="1369313"/>
              <a:ext cx="614680" cy="615950"/>
            </a:xfrm>
            <a:custGeom>
              <a:rect b="b" l="l" r="r" t="t"/>
              <a:pathLst>
                <a:path extrusionOk="0" h="615950" w="614680">
                  <a:moveTo>
                    <a:pt x="307086" y="0"/>
                  </a:moveTo>
                  <a:lnTo>
                    <a:pt x="261707" y="3337"/>
                  </a:lnTo>
                  <a:lnTo>
                    <a:pt x="218396" y="13034"/>
                  </a:lnTo>
                  <a:lnTo>
                    <a:pt x="177627" y="28612"/>
                  </a:lnTo>
                  <a:lnTo>
                    <a:pt x="139875" y="49597"/>
                  </a:lnTo>
                  <a:lnTo>
                    <a:pt x="105616" y="75511"/>
                  </a:lnTo>
                  <a:lnTo>
                    <a:pt x="75324" y="105879"/>
                  </a:lnTo>
                  <a:lnTo>
                    <a:pt x="49474" y="140223"/>
                  </a:lnTo>
                  <a:lnTo>
                    <a:pt x="28541" y="178069"/>
                  </a:lnTo>
                  <a:lnTo>
                    <a:pt x="13001" y="218939"/>
                  </a:lnTo>
                  <a:lnTo>
                    <a:pt x="3329" y="262357"/>
                  </a:lnTo>
                  <a:lnTo>
                    <a:pt x="0" y="307848"/>
                  </a:lnTo>
                  <a:lnTo>
                    <a:pt x="3329" y="353338"/>
                  </a:lnTo>
                  <a:lnTo>
                    <a:pt x="13001" y="396756"/>
                  </a:lnTo>
                  <a:lnTo>
                    <a:pt x="28541" y="437626"/>
                  </a:lnTo>
                  <a:lnTo>
                    <a:pt x="49474" y="475472"/>
                  </a:lnTo>
                  <a:lnTo>
                    <a:pt x="75324" y="509816"/>
                  </a:lnTo>
                  <a:lnTo>
                    <a:pt x="105616" y="540184"/>
                  </a:lnTo>
                  <a:lnTo>
                    <a:pt x="139875" y="566098"/>
                  </a:lnTo>
                  <a:lnTo>
                    <a:pt x="177627" y="587083"/>
                  </a:lnTo>
                  <a:lnTo>
                    <a:pt x="218396" y="602661"/>
                  </a:lnTo>
                  <a:lnTo>
                    <a:pt x="261707" y="612358"/>
                  </a:lnTo>
                  <a:lnTo>
                    <a:pt x="307086" y="615696"/>
                  </a:lnTo>
                  <a:lnTo>
                    <a:pt x="352464" y="612358"/>
                  </a:lnTo>
                  <a:lnTo>
                    <a:pt x="395775" y="602661"/>
                  </a:lnTo>
                  <a:lnTo>
                    <a:pt x="436544" y="587083"/>
                  </a:lnTo>
                  <a:lnTo>
                    <a:pt x="474296" y="566098"/>
                  </a:lnTo>
                  <a:lnTo>
                    <a:pt x="508555" y="540184"/>
                  </a:lnTo>
                  <a:lnTo>
                    <a:pt x="538847" y="509816"/>
                  </a:lnTo>
                  <a:lnTo>
                    <a:pt x="564697" y="475472"/>
                  </a:lnTo>
                  <a:lnTo>
                    <a:pt x="585630" y="437626"/>
                  </a:lnTo>
                  <a:lnTo>
                    <a:pt x="601170" y="396756"/>
                  </a:lnTo>
                  <a:lnTo>
                    <a:pt x="610842" y="353338"/>
                  </a:lnTo>
                  <a:lnTo>
                    <a:pt x="614172" y="307848"/>
                  </a:lnTo>
                  <a:lnTo>
                    <a:pt x="610842" y="262357"/>
                  </a:lnTo>
                  <a:lnTo>
                    <a:pt x="601170" y="218939"/>
                  </a:lnTo>
                  <a:lnTo>
                    <a:pt x="585630" y="178069"/>
                  </a:lnTo>
                  <a:lnTo>
                    <a:pt x="564697" y="140223"/>
                  </a:lnTo>
                  <a:lnTo>
                    <a:pt x="538847" y="105879"/>
                  </a:lnTo>
                  <a:lnTo>
                    <a:pt x="508555" y="75511"/>
                  </a:lnTo>
                  <a:lnTo>
                    <a:pt x="474296" y="49597"/>
                  </a:lnTo>
                  <a:lnTo>
                    <a:pt x="436544" y="28612"/>
                  </a:lnTo>
                  <a:lnTo>
                    <a:pt x="395775" y="13034"/>
                  </a:lnTo>
                  <a:lnTo>
                    <a:pt x="352464" y="3337"/>
                  </a:lnTo>
                  <a:lnTo>
                    <a:pt x="30708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45"/>
            <p:cNvSpPr/>
            <p:nvPr/>
          </p:nvSpPr>
          <p:spPr>
            <a:xfrm>
              <a:off x="2233422" y="1369313"/>
              <a:ext cx="614680" cy="615950"/>
            </a:xfrm>
            <a:custGeom>
              <a:rect b="b" l="l" r="r" t="t"/>
              <a:pathLst>
                <a:path extrusionOk="0" h="615950" w="614680">
                  <a:moveTo>
                    <a:pt x="0" y="307848"/>
                  </a:moveTo>
                  <a:lnTo>
                    <a:pt x="3329" y="262357"/>
                  </a:lnTo>
                  <a:lnTo>
                    <a:pt x="13001" y="218939"/>
                  </a:lnTo>
                  <a:lnTo>
                    <a:pt x="28541" y="178069"/>
                  </a:lnTo>
                  <a:lnTo>
                    <a:pt x="49474" y="140223"/>
                  </a:lnTo>
                  <a:lnTo>
                    <a:pt x="75324" y="105879"/>
                  </a:lnTo>
                  <a:lnTo>
                    <a:pt x="105616" y="75511"/>
                  </a:lnTo>
                  <a:lnTo>
                    <a:pt x="139875" y="49597"/>
                  </a:lnTo>
                  <a:lnTo>
                    <a:pt x="177627" y="28612"/>
                  </a:lnTo>
                  <a:lnTo>
                    <a:pt x="218396" y="13034"/>
                  </a:lnTo>
                  <a:lnTo>
                    <a:pt x="261707" y="3337"/>
                  </a:lnTo>
                  <a:lnTo>
                    <a:pt x="307086" y="0"/>
                  </a:lnTo>
                  <a:lnTo>
                    <a:pt x="352464" y="3337"/>
                  </a:lnTo>
                  <a:lnTo>
                    <a:pt x="395775" y="13034"/>
                  </a:lnTo>
                  <a:lnTo>
                    <a:pt x="436544" y="28612"/>
                  </a:lnTo>
                  <a:lnTo>
                    <a:pt x="474296" y="49597"/>
                  </a:lnTo>
                  <a:lnTo>
                    <a:pt x="508555" y="75511"/>
                  </a:lnTo>
                  <a:lnTo>
                    <a:pt x="538847" y="105879"/>
                  </a:lnTo>
                  <a:lnTo>
                    <a:pt x="564697" y="140223"/>
                  </a:lnTo>
                  <a:lnTo>
                    <a:pt x="585630" y="178069"/>
                  </a:lnTo>
                  <a:lnTo>
                    <a:pt x="601170" y="218939"/>
                  </a:lnTo>
                  <a:lnTo>
                    <a:pt x="610842" y="262357"/>
                  </a:lnTo>
                  <a:lnTo>
                    <a:pt x="614172" y="307848"/>
                  </a:lnTo>
                  <a:lnTo>
                    <a:pt x="610842" y="353338"/>
                  </a:lnTo>
                  <a:lnTo>
                    <a:pt x="601170" y="396756"/>
                  </a:lnTo>
                  <a:lnTo>
                    <a:pt x="585630" y="437626"/>
                  </a:lnTo>
                  <a:lnTo>
                    <a:pt x="564697" y="475472"/>
                  </a:lnTo>
                  <a:lnTo>
                    <a:pt x="538847" y="509816"/>
                  </a:lnTo>
                  <a:lnTo>
                    <a:pt x="508555" y="540184"/>
                  </a:lnTo>
                  <a:lnTo>
                    <a:pt x="474296" y="566098"/>
                  </a:lnTo>
                  <a:lnTo>
                    <a:pt x="436544" y="587083"/>
                  </a:lnTo>
                  <a:lnTo>
                    <a:pt x="395775" y="602661"/>
                  </a:lnTo>
                  <a:lnTo>
                    <a:pt x="352464" y="612358"/>
                  </a:lnTo>
                  <a:lnTo>
                    <a:pt x="307086" y="615696"/>
                  </a:lnTo>
                  <a:lnTo>
                    <a:pt x="261707" y="612358"/>
                  </a:lnTo>
                  <a:lnTo>
                    <a:pt x="218396" y="602661"/>
                  </a:lnTo>
                  <a:lnTo>
                    <a:pt x="177627" y="587083"/>
                  </a:lnTo>
                  <a:lnTo>
                    <a:pt x="139875" y="566098"/>
                  </a:lnTo>
                  <a:lnTo>
                    <a:pt x="105616" y="540184"/>
                  </a:lnTo>
                  <a:lnTo>
                    <a:pt x="75324" y="509816"/>
                  </a:lnTo>
                  <a:lnTo>
                    <a:pt x="49474" y="475472"/>
                  </a:lnTo>
                  <a:lnTo>
                    <a:pt x="28541" y="437626"/>
                  </a:lnTo>
                  <a:lnTo>
                    <a:pt x="13001" y="396756"/>
                  </a:lnTo>
                  <a:lnTo>
                    <a:pt x="3329" y="353338"/>
                  </a:lnTo>
                  <a:lnTo>
                    <a:pt x="0" y="307848"/>
                  </a:lnTo>
                  <a:close/>
                </a:path>
              </a:pathLst>
            </a:custGeom>
            <a:noFill/>
            <a:ln cap="flat" cmpd="sng" w="19050">
              <a:solidFill>
                <a:srgbClr val="E9703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45"/>
            <p:cNvSpPr/>
            <p:nvPr/>
          </p:nvSpPr>
          <p:spPr>
            <a:xfrm>
              <a:off x="2986277" y="2169413"/>
              <a:ext cx="7230109" cy="492759"/>
            </a:xfrm>
            <a:custGeom>
              <a:rect b="b" l="l" r="r" t="t"/>
              <a:pathLst>
                <a:path extrusionOk="0" h="492760" w="7230109">
                  <a:moveTo>
                    <a:pt x="7229856" y="0"/>
                  </a:moveTo>
                  <a:lnTo>
                    <a:pt x="0" y="0"/>
                  </a:lnTo>
                  <a:lnTo>
                    <a:pt x="0" y="492251"/>
                  </a:lnTo>
                  <a:lnTo>
                    <a:pt x="7229856" y="492251"/>
                  </a:lnTo>
                  <a:lnTo>
                    <a:pt x="7229856" y="0"/>
                  </a:lnTo>
                  <a:close/>
                </a:path>
              </a:pathLst>
            </a:custGeom>
            <a:solidFill>
              <a:srgbClr val="E29D1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45"/>
            <p:cNvSpPr/>
            <p:nvPr/>
          </p:nvSpPr>
          <p:spPr>
            <a:xfrm>
              <a:off x="2986277" y="2169413"/>
              <a:ext cx="7230109" cy="492759"/>
            </a:xfrm>
            <a:custGeom>
              <a:rect b="b" l="l" r="r" t="t"/>
              <a:pathLst>
                <a:path extrusionOk="0" h="492760" w="7230109">
                  <a:moveTo>
                    <a:pt x="0" y="0"/>
                  </a:moveTo>
                  <a:lnTo>
                    <a:pt x="7229856" y="0"/>
                  </a:lnTo>
                  <a:lnTo>
                    <a:pt x="7229856" y="492251"/>
                  </a:lnTo>
                  <a:lnTo>
                    <a:pt x="0" y="492251"/>
                  </a:lnTo>
                  <a:lnTo>
                    <a:pt x="0" y="0"/>
                  </a:lnTo>
                  <a:close/>
                </a:path>
              </a:pathLst>
            </a:custGeom>
            <a:noFill/>
            <a:ln cap="flat" cmpd="sng" w="190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45"/>
            <p:cNvSpPr/>
            <p:nvPr/>
          </p:nvSpPr>
          <p:spPr>
            <a:xfrm>
              <a:off x="2678430" y="2108453"/>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8"/>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6"/>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8"/>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45"/>
            <p:cNvSpPr/>
            <p:nvPr/>
          </p:nvSpPr>
          <p:spPr>
            <a:xfrm>
              <a:off x="2678430" y="2108453"/>
              <a:ext cx="615950" cy="615950"/>
            </a:xfrm>
            <a:custGeom>
              <a:rect b="b" l="l" r="r" t="t"/>
              <a:pathLst>
                <a:path extrusionOk="0" h="615950" w="615950">
                  <a:moveTo>
                    <a:pt x="0" y="307848"/>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8"/>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6"/>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8"/>
                  </a:lnTo>
                  <a:close/>
                </a:path>
              </a:pathLst>
            </a:custGeom>
            <a:noFill/>
            <a:ln cap="flat" cmpd="sng" w="19050">
              <a:solidFill>
                <a:srgbClr val="E29D1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45"/>
            <p:cNvSpPr/>
            <p:nvPr/>
          </p:nvSpPr>
          <p:spPr>
            <a:xfrm>
              <a:off x="3230118" y="2908553"/>
              <a:ext cx="6986270" cy="492759"/>
            </a:xfrm>
            <a:custGeom>
              <a:rect b="b" l="l" r="r" t="t"/>
              <a:pathLst>
                <a:path extrusionOk="0" h="492760" w="6986270">
                  <a:moveTo>
                    <a:pt x="6986016" y="0"/>
                  </a:moveTo>
                  <a:lnTo>
                    <a:pt x="0" y="0"/>
                  </a:lnTo>
                  <a:lnTo>
                    <a:pt x="0" y="492251"/>
                  </a:lnTo>
                  <a:lnTo>
                    <a:pt x="6986016" y="492251"/>
                  </a:lnTo>
                  <a:lnTo>
                    <a:pt x="6986016" y="0"/>
                  </a:lnTo>
                  <a:close/>
                </a:path>
              </a:pathLst>
            </a:custGeom>
            <a:solidFill>
              <a:srgbClr val="CAC11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45"/>
            <p:cNvSpPr/>
            <p:nvPr/>
          </p:nvSpPr>
          <p:spPr>
            <a:xfrm>
              <a:off x="3230118" y="2908553"/>
              <a:ext cx="6986270" cy="492759"/>
            </a:xfrm>
            <a:custGeom>
              <a:rect b="b" l="l" r="r" t="t"/>
              <a:pathLst>
                <a:path extrusionOk="0" h="492760" w="6986270">
                  <a:moveTo>
                    <a:pt x="0" y="0"/>
                  </a:moveTo>
                  <a:lnTo>
                    <a:pt x="6986016" y="0"/>
                  </a:lnTo>
                  <a:lnTo>
                    <a:pt x="6986016" y="492251"/>
                  </a:lnTo>
                  <a:lnTo>
                    <a:pt x="0" y="492251"/>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45"/>
            <p:cNvSpPr/>
            <p:nvPr/>
          </p:nvSpPr>
          <p:spPr>
            <a:xfrm>
              <a:off x="2922270" y="2846069"/>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8"/>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6"/>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8"/>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45"/>
            <p:cNvSpPr/>
            <p:nvPr/>
          </p:nvSpPr>
          <p:spPr>
            <a:xfrm>
              <a:off x="2922270" y="2846069"/>
              <a:ext cx="615950" cy="615950"/>
            </a:xfrm>
            <a:custGeom>
              <a:rect b="b" l="l" r="r" t="t"/>
              <a:pathLst>
                <a:path extrusionOk="0" h="615950" w="615950">
                  <a:moveTo>
                    <a:pt x="0" y="307848"/>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8"/>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6"/>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8"/>
                  </a:lnTo>
                  <a:close/>
                </a:path>
              </a:pathLst>
            </a:custGeom>
            <a:noFill/>
            <a:ln cap="flat" cmpd="sng" w="19050">
              <a:solidFill>
                <a:srgbClr val="CAC11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45"/>
            <p:cNvSpPr/>
            <p:nvPr/>
          </p:nvSpPr>
          <p:spPr>
            <a:xfrm>
              <a:off x="3309366" y="3647694"/>
              <a:ext cx="6906895" cy="492759"/>
            </a:xfrm>
            <a:custGeom>
              <a:rect b="b" l="l" r="r" t="t"/>
              <a:pathLst>
                <a:path extrusionOk="0" h="492760" w="6906895">
                  <a:moveTo>
                    <a:pt x="6906768" y="0"/>
                  </a:moveTo>
                  <a:lnTo>
                    <a:pt x="0" y="0"/>
                  </a:lnTo>
                  <a:lnTo>
                    <a:pt x="0" y="492251"/>
                  </a:lnTo>
                  <a:lnTo>
                    <a:pt x="6906768" y="492251"/>
                  </a:lnTo>
                  <a:lnTo>
                    <a:pt x="6906768" y="0"/>
                  </a:lnTo>
                  <a:close/>
                </a:path>
              </a:pathLst>
            </a:custGeom>
            <a:solidFill>
              <a:srgbClr val="8EB11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45"/>
            <p:cNvSpPr/>
            <p:nvPr/>
          </p:nvSpPr>
          <p:spPr>
            <a:xfrm>
              <a:off x="3309366" y="3647694"/>
              <a:ext cx="6906895" cy="492759"/>
            </a:xfrm>
            <a:custGeom>
              <a:rect b="b" l="l" r="r" t="t"/>
              <a:pathLst>
                <a:path extrusionOk="0" h="492760" w="6906895">
                  <a:moveTo>
                    <a:pt x="0" y="0"/>
                  </a:moveTo>
                  <a:lnTo>
                    <a:pt x="6906768" y="0"/>
                  </a:lnTo>
                  <a:lnTo>
                    <a:pt x="6906768" y="492251"/>
                  </a:lnTo>
                  <a:lnTo>
                    <a:pt x="0" y="492251"/>
                  </a:lnTo>
                  <a:lnTo>
                    <a:pt x="0" y="0"/>
                  </a:lnTo>
                  <a:close/>
                </a:path>
              </a:pathLst>
            </a:custGeom>
            <a:noFill/>
            <a:ln cap="flat" cmpd="sng" w="190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45"/>
            <p:cNvSpPr/>
            <p:nvPr/>
          </p:nvSpPr>
          <p:spPr>
            <a:xfrm>
              <a:off x="3001518" y="3585210"/>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7"/>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5"/>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7"/>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45"/>
            <p:cNvSpPr/>
            <p:nvPr/>
          </p:nvSpPr>
          <p:spPr>
            <a:xfrm>
              <a:off x="3001518" y="3585210"/>
              <a:ext cx="615950" cy="615950"/>
            </a:xfrm>
            <a:custGeom>
              <a:rect b="b" l="l" r="r" t="t"/>
              <a:pathLst>
                <a:path extrusionOk="0" h="615950" w="615950">
                  <a:moveTo>
                    <a:pt x="0" y="307847"/>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7"/>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5"/>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7"/>
                  </a:lnTo>
                  <a:close/>
                </a:path>
              </a:pathLst>
            </a:custGeom>
            <a:noFill/>
            <a:ln cap="flat" cmpd="sng" w="19050">
              <a:solidFill>
                <a:srgbClr val="8EB11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45"/>
            <p:cNvSpPr/>
            <p:nvPr/>
          </p:nvSpPr>
          <p:spPr>
            <a:xfrm>
              <a:off x="3230118" y="4386833"/>
              <a:ext cx="6986270" cy="492759"/>
            </a:xfrm>
            <a:custGeom>
              <a:rect b="b" l="l" r="r" t="t"/>
              <a:pathLst>
                <a:path extrusionOk="0" h="492760" w="6986270">
                  <a:moveTo>
                    <a:pt x="6986016" y="0"/>
                  </a:moveTo>
                  <a:lnTo>
                    <a:pt x="0" y="0"/>
                  </a:lnTo>
                  <a:lnTo>
                    <a:pt x="0" y="492252"/>
                  </a:lnTo>
                  <a:lnTo>
                    <a:pt x="6986016" y="492252"/>
                  </a:lnTo>
                  <a:lnTo>
                    <a:pt x="6986016" y="0"/>
                  </a:lnTo>
                  <a:close/>
                </a:path>
              </a:pathLst>
            </a:custGeom>
            <a:solidFill>
              <a:srgbClr val="55991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45"/>
            <p:cNvSpPr/>
            <p:nvPr/>
          </p:nvSpPr>
          <p:spPr>
            <a:xfrm>
              <a:off x="3230118" y="4386833"/>
              <a:ext cx="6986270" cy="492759"/>
            </a:xfrm>
            <a:custGeom>
              <a:rect b="b" l="l" r="r" t="t"/>
              <a:pathLst>
                <a:path extrusionOk="0" h="492760" w="6986270">
                  <a:moveTo>
                    <a:pt x="0" y="0"/>
                  </a:moveTo>
                  <a:lnTo>
                    <a:pt x="6986016" y="0"/>
                  </a:lnTo>
                  <a:lnTo>
                    <a:pt x="6986016" y="492252"/>
                  </a:lnTo>
                  <a:lnTo>
                    <a:pt x="0" y="492252"/>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45"/>
            <p:cNvSpPr/>
            <p:nvPr/>
          </p:nvSpPr>
          <p:spPr>
            <a:xfrm>
              <a:off x="2922270" y="4324350"/>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8"/>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6"/>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8"/>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45"/>
            <p:cNvSpPr/>
            <p:nvPr/>
          </p:nvSpPr>
          <p:spPr>
            <a:xfrm>
              <a:off x="2922270" y="4324350"/>
              <a:ext cx="615950" cy="615950"/>
            </a:xfrm>
            <a:custGeom>
              <a:rect b="b" l="l" r="r" t="t"/>
              <a:pathLst>
                <a:path extrusionOk="0" h="615950" w="615950">
                  <a:moveTo>
                    <a:pt x="0" y="307848"/>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8"/>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6"/>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8"/>
                  </a:lnTo>
                  <a:close/>
                </a:path>
              </a:pathLst>
            </a:custGeom>
            <a:noFill/>
            <a:ln cap="flat" cmpd="sng" w="19050">
              <a:solidFill>
                <a:srgbClr val="55991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45"/>
            <p:cNvSpPr/>
            <p:nvPr/>
          </p:nvSpPr>
          <p:spPr>
            <a:xfrm>
              <a:off x="2986277" y="5124449"/>
              <a:ext cx="7230109" cy="494030"/>
            </a:xfrm>
            <a:custGeom>
              <a:rect b="b" l="l" r="r" t="t"/>
              <a:pathLst>
                <a:path extrusionOk="0" h="494029" w="7230109">
                  <a:moveTo>
                    <a:pt x="7229856" y="0"/>
                  </a:moveTo>
                  <a:lnTo>
                    <a:pt x="0" y="0"/>
                  </a:lnTo>
                  <a:lnTo>
                    <a:pt x="0" y="493775"/>
                  </a:lnTo>
                  <a:lnTo>
                    <a:pt x="7229856" y="493775"/>
                  </a:lnTo>
                  <a:lnTo>
                    <a:pt x="7229856" y="0"/>
                  </a:lnTo>
                  <a:close/>
                </a:path>
              </a:pathLst>
            </a:custGeom>
            <a:solidFill>
              <a:srgbClr val="2C821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45"/>
            <p:cNvSpPr/>
            <p:nvPr/>
          </p:nvSpPr>
          <p:spPr>
            <a:xfrm>
              <a:off x="2986277" y="5124449"/>
              <a:ext cx="7230109" cy="494030"/>
            </a:xfrm>
            <a:custGeom>
              <a:rect b="b" l="l" r="r" t="t"/>
              <a:pathLst>
                <a:path extrusionOk="0" h="494029" w="7230109">
                  <a:moveTo>
                    <a:pt x="0" y="0"/>
                  </a:moveTo>
                  <a:lnTo>
                    <a:pt x="7229856" y="0"/>
                  </a:lnTo>
                  <a:lnTo>
                    <a:pt x="7229856" y="493775"/>
                  </a:lnTo>
                  <a:lnTo>
                    <a:pt x="0" y="493775"/>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45"/>
            <p:cNvSpPr/>
            <p:nvPr/>
          </p:nvSpPr>
          <p:spPr>
            <a:xfrm>
              <a:off x="2678430" y="5063489"/>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8"/>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6"/>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8"/>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45"/>
            <p:cNvSpPr/>
            <p:nvPr/>
          </p:nvSpPr>
          <p:spPr>
            <a:xfrm>
              <a:off x="2678430" y="5063489"/>
              <a:ext cx="615950" cy="615950"/>
            </a:xfrm>
            <a:custGeom>
              <a:rect b="b" l="l" r="r" t="t"/>
              <a:pathLst>
                <a:path extrusionOk="0" h="615950" w="615950">
                  <a:moveTo>
                    <a:pt x="0" y="307848"/>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8"/>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6"/>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8"/>
                  </a:lnTo>
                  <a:close/>
                </a:path>
              </a:pathLst>
            </a:custGeom>
            <a:noFill/>
            <a:ln cap="flat" cmpd="sng" w="19050">
              <a:solidFill>
                <a:srgbClr val="2C821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45"/>
            <p:cNvSpPr/>
            <p:nvPr/>
          </p:nvSpPr>
          <p:spPr>
            <a:xfrm>
              <a:off x="2539746" y="5863589"/>
              <a:ext cx="7676515" cy="494030"/>
            </a:xfrm>
            <a:custGeom>
              <a:rect b="b" l="l" r="r" t="t"/>
              <a:pathLst>
                <a:path extrusionOk="0" h="494029" w="7676515">
                  <a:moveTo>
                    <a:pt x="7676388" y="0"/>
                  </a:moveTo>
                  <a:lnTo>
                    <a:pt x="0" y="0"/>
                  </a:lnTo>
                  <a:lnTo>
                    <a:pt x="0" y="493776"/>
                  </a:lnTo>
                  <a:lnTo>
                    <a:pt x="7676388" y="493776"/>
                  </a:lnTo>
                  <a:lnTo>
                    <a:pt x="7676388" y="0"/>
                  </a:lnTo>
                  <a:close/>
                </a:path>
              </a:pathLst>
            </a:custGeom>
            <a:solidFill>
              <a:srgbClr val="186B2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45"/>
            <p:cNvSpPr/>
            <p:nvPr/>
          </p:nvSpPr>
          <p:spPr>
            <a:xfrm>
              <a:off x="2539746" y="5863589"/>
              <a:ext cx="7676515" cy="494030"/>
            </a:xfrm>
            <a:custGeom>
              <a:rect b="b" l="l" r="r" t="t"/>
              <a:pathLst>
                <a:path extrusionOk="0" h="494029" w="7676515">
                  <a:moveTo>
                    <a:pt x="0" y="0"/>
                  </a:moveTo>
                  <a:lnTo>
                    <a:pt x="7676388" y="0"/>
                  </a:lnTo>
                  <a:lnTo>
                    <a:pt x="7676388" y="493776"/>
                  </a:lnTo>
                  <a:lnTo>
                    <a:pt x="0" y="493776"/>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6" name="Google Shape;576;p45"/>
          <p:cNvSpPr txBox="1"/>
          <p:nvPr/>
        </p:nvSpPr>
        <p:spPr>
          <a:xfrm>
            <a:off x="2917889" y="1433034"/>
            <a:ext cx="3757295" cy="483997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500">
                <a:solidFill>
                  <a:srgbClr val="FFFFFF"/>
                </a:solidFill>
                <a:latin typeface="Arial"/>
                <a:ea typeface="Arial"/>
                <a:cs typeface="Arial"/>
                <a:sym typeface="Arial"/>
              </a:rPr>
              <a:t>Layered Control</a:t>
            </a:r>
            <a:endParaRPr sz="2500">
              <a:solidFill>
                <a:schemeClr val="dk1"/>
              </a:solidFill>
              <a:latin typeface="Arial"/>
              <a:ea typeface="Arial"/>
              <a:cs typeface="Arial"/>
              <a:sym typeface="Arial"/>
            </a:endParaRPr>
          </a:p>
          <a:p>
            <a:pPr indent="-244475" lvl="0" marL="702945" marR="234315" rtl="0" algn="l">
              <a:lnSpc>
                <a:spcPct val="193900"/>
              </a:lnSpc>
              <a:spcBef>
                <a:spcPts val="0"/>
              </a:spcBef>
              <a:spcAft>
                <a:spcPts val="0"/>
              </a:spcAft>
              <a:buNone/>
            </a:pPr>
            <a:r>
              <a:rPr lang="en-US" sz="2500">
                <a:solidFill>
                  <a:srgbClr val="FFFFFF"/>
                </a:solidFill>
                <a:latin typeface="Arial"/>
                <a:ea typeface="Arial"/>
                <a:cs typeface="Arial"/>
                <a:sym typeface="Arial"/>
              </a:rPr>
              <a:t>Input Validation Security Zones Diversity of Defence Resiliency</a:t>
            </a:r>
            <a:endParaRPr sz="2500">
              <a:solidFill>
                <a:schemeClr val="dk1"/>
              </a:solidFill>
              <a:latin typeface="Arial"/>
              <a:ea typeface="Arial"/>
              <a:cs typeface="Arial"/>
              <a:sym typeface="Arial"/>
            </a:endParaRPr>
          </a:p>
          <a:p>
            <a:pPr indent="445769" lvl="0" marL="12700" marR="5080" rtl="0" algn="l">
              <a:lnSpc>
                <a:spcPct val="232800"/>
              </a:lnSpc>
              <a:spcBef>
                <a:spcPts val="459"/>
              </a:spcBef>
              <a:spcAft>
                <a:spcPts val="0"/>
              </a:spcAft>
              <a:buNone/>
            </a:pPr>
            <a:r>
              <a:rPr lang="en-US" sz="2500">
                <a:solidFill>
                  <a:srgbClr val="FFFFFF"/>
                </a:solidFill>
                <a:latin typeface="Arial"/>
                <a:ea typeface="Arial"/>
                <a:cs typeface="Arial"/>
                <a:sym typeface="Arial"/>
              </a:rPr>
              <a:t>Economy of Mechanism Password Vault</a:t>
            </a:r>
            <a:endParaRPr sz="2500">
              <a:solidFill>
                <a:schemeClr val="dk1"/>
              </a:solidFill>
              <a:latin typeface="Arial"/>
              <a:ea typeface="Arial"/>
              <a:cs typeface="Arial"/>
              <a:sym typeface="Arial"/>
            </a:endParaRPr>
          </a:p>
        </p:txBody>
      </p:sp>
      <p:grpSp>
        <p:nvGrpSpPr>
          <p:cNvPr id="577" name="Google Shape;577;p45"/>
          <p:cNvGrpSpPr/>
          <p:nvPr/>
        </p:nvGrpSpPr>
        <p:grpSpPr>
          <a:xfrm>
            <a:off x="2233422" y="5802629"/>
            <a:ext cx="614680" cy="615950"/>
            <a:chOff x="2233422" y="5802629"/>
            <a:chExt cx="614680" cy="615950"/>
          </a:xfrm>
        </p:grpSpPr>
        <p:sp>
          <p:nvSpPr>
            <p:cNvPr id="578" name="Google Shape;578;p45"/>
            <p:cNvSpPr/>
            <p:nvPr/>
          </p:nvSpPr>
          <p:spPr>
            <a:xfrm>
              <a:off x="2233422" y="5802629"/>
              <a:ext cx="614680" cy="615950"/>
            </a:xfrm>
            <a:custGeom>
              <a:rect b="b" l="l" r="r" t="t"/>
              <a:pathLst>
                <a:path extrusionOk="0" h="615950" w="614680">
                  <a:moveTo>
                    <a:pt x="307086" y="0"/>
                  </a:moveTo>
                  <a:lnTo>
                    <a:pt x="261707" y="3337"/>
                  </a:lnTo>
                  <a:lnTo>
                    <a:pt x="218396" y="13034"/>
                  </a:lnTo>
                  <a:lnTo>
                    <a:pt x="177627" y="28612"/>
                  </a:lnTo>
                  <a:lnTo>
                    <a:pt x="139875" y="49597"/>
                  </a:lnTo>
                  <a:lnTo>
                    <a:pt x="105616" y="75511"/>
                  </a:lnTo>
                  <a:lnTo>
                    <a:pt x="75324" y="105879"/>
                  </a:lnTo>
                  <a:lnTo>
                    <a:pt x="49474" y="140223"/>
                  </a:lnTo>
                  <a:lnTo>
                    <a:pt x="28541" y="178069"/>
                  </a:lnTo>
                  <a:lnTo>
                    <a:pt x="13001" y="218939"/>
                  </a:lnTo>
                  <a:lnTo>
                    <a:pt x="3329" y="262357"/>
                  </a:lnTo>
                  <a:lnTo>
                    <a:pt x="0" y="307848"/>
                  </a:lnTo>
                  <a:lnTo>
                    <a:pt x="3329" y="353338"/>
                  </a:lnTo>
                  <a:lnTo>
                    <a:pt x="13001" y="396756"/>
                  </a:lnTo>
                  <a:lnTo>
                    <a:pt x="28541" y="437626"/>
                  </a:lnTo>
                  <a:lnTo>
                    <a:pt x="49474" y="475472"/>
                  </a:lnTo>
                  <a:lnTo>
                    <a:pt x="75324" y="509816"/>
                  </a:lnTo>
                  <a:lnTo>
                    <a:pt x="105616" y="540184"/>
                  </a:lnTo>
                  <a:lnTo>
                    <a:pt x="139875" y="566098"/>
                  </a:lnTo>
                  <a:lnTo>
                    <a:pt x="177627" y="587083"/>
                  </a:lnTo>
                  <a:lnTo>
                    <a:pt x="218396" y="602661"/>
                  </a:lnTo>
                  <a:lnTo>
                    <a:pt x="261707" y="612358"/>
                  </a:lnTo>
                  <a:lnTo>
                    <a:pt x="307086" y="615696"/>
                  </a:lnTo>
                  <a:lnTo>
                    <a:pt x="352464" y="612358"/>
                  </a:lnTo>
                  <a:lnTo>
                    <a:pt x="395775" y="602661"/>
                  </a:lnTo>
                  <a:lnTo>
                    <a:pt x="436544" y="587083"/>
                  </a:lnTo>
                  <a:lnTo>
                    <a:pt x="474296" y="566098"/>
                  </a:lnTo>
                  <a:lnTo>
                    <a:pt x="508555" y="540184"/>
                  </a:lnTo>
                  <a:lnTo>
                    <a:pt x="538847" y="509816"/>
                  </a:lnTo>
                  <a:lnTo>
                    <a:pt x="564697" y="475472"/>
                  </a:lnTo>
                  <a:lnTo>
                    <a:pt x="585630" y="437626"/>
                  </a:lnTo>
                  <a:lnTo>
                    <a:pt x="601170" y="396756"/>
                  </a:lnTo>
                  <a:lnTo>
                    <a:pt x="610842" y="353338"/>
                  </a:lnTo>
                  <a:lnTo>
                    <a:pt x="614172" y="307848"/>
                  </a:lnTo>
                  <a:lnTo>
                    <a:pt x="610842" y="262357"/>
                  </a:lnTo>
                  <a:lnTo>
                    <a:pt x="601170" y="218939"/>
                  </a:lnTo>
                  <a:lnTo>
                    <a:pt x="585630" y="178069"/>
                  </a:lnTo>
                  <a:lnTo>
                    <a:pt x="564697" y="140223"/>
                  </a:lnTo>
                  <a:lnTo>
                    <a:pt x="538847" y="105879"/>
                  </a:lnTo>
                  <a:lnTo>
                    <a:pt x="508555" y="75511"/>
                  </a:lnTo>
                  <a:lnTo>
                    <a:pt x="474296" y="49597"/>
                  </a:lnTo>
                  <a:lnTo>
                    <a:pt x="436544" y="28612"/>
                  </a:lnTo>
                  <a:lnTo>
                    <a:pt x="395775" y="13034"/>
                  </a:lnTo>
                  <a:lnTo>
                    <a:pt x="352464" y="3337"/>
                  </a:lnTo>
                  <a:lnTo>
                    <a:pt x="30708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45"/>
            <p:cNvSpPr/>
            <p:nvPr/>
          </p:nvSpPr>
          <p:spPr>
            <a:xfrm>
              <a:off x="2233422" y="5802629"/>
              <a:ext cx="614680" cy="615950"/>
            </a:xfrm>
            <a:custGeom>
              <a:rect b="b" l="l" r="r" t="t"/>
              <a:pathLst>
                <a:path extrusionOk="0" h="615950" w="614680">
                  <a:moveTo>
                    <a:pt x="0" y="307848"/>
                  </a:moveTo>
                  <a:lnTo>
                    <a:pt x="3329" y="262357"/>
                  </a:lnTo>
                  <a:lnTo>
                    <a:pt x="13001" y="218939"/>
                  </a:lnTo>
                  <a:lnTo>
                    <a:pt x="28541" y="178069"/>
                  </a:lnTo>
                  <a:lnTo>
                    <a:pt x="49474" y="140223"/>
                  </a:lnTo>
                  <a:lnTo>
                    <a:pt x="75324" y="105879"/>
                  </a:lnTo>
                  <a:lnTo>
                    <a:pt x="105616" y="75511"/>
                  </a:lnTo>
                  <a:lnTo>
                    <a:pt x="139875" y="49597"/>
                  </a:lnTo>
                  <a:lnTo>
                    <a:pt x="177627" y="28612"/>
                  </a:lnTo>
                  <a:lnTo>
                    <a:pt x="218396" y="13034"/>
                  </a:lnTo>
                  <a:lnTo>
                    <a:pt x="261707" y="3337"/>
                  </a:lnTo>
                  <a:lnTo>
                    <a:pt x="307086" y="0"/>
                  </a:lnTo>
                  <a:lnTo>
                    <a:pt x="352464" y="3337"/>
                  </a:lnTo>
                  <a:lnTo>
                    <a:pt x="395775" y="13034"/>
                  </a:lnTo>
                  <a:lnTo>
                    <a:pt x="436544" y="28612"/>
                  </a:lnTo>
                  <a:lnTo>
                    <a:pt x="474296" y="49597"/>
                  </a:lnTo>
                  <a:lnTo>
                    <a:pt x="508555" y="75511"/>
                  </a:lnTo>
                  <a:lnTo>
                    <a:pt x="538847" y="105879"/>
                  </a:lnTo>
                  <a:lnTo>
                    <a:pt x="564697" y="140223"/>
                  </a:lnTo>
                  <a:lnTo>
                    <a:pt x="585630" y="178069"/>
                  </a:lnTo>
                  <a:lnTo>
                    <a:pt x="601170" y="218939"/>
                  </a:lnTo>
                  <a:lnTo>
                    <a:pt x="610842" y="262357"/>
                  </a:lnTo>
                  <a:lnTo>
                    <a:pt x="614172" y="307848"/>
                  </a:lnTo>
                  <a:lnTo>
                    <a:pt x="610842" y="353338"/>
                  </a:lnTo>
                  <a:lnTo>
                    <a:pt x="601170" y="396756"/>
                  </a:lnTo>
                  <a:lnTo>
                    <a:pt x="585630" y="437626"/>
                  </a:lnTo>
                  <a:lnTo>
                    <a:pt x="564697" y="475472"/>
                  </a:lnTo>
                  <a:lnTo>
                    <a:pt x="538847" y="509816"/>
                  </a:lnTo>
                  <a:lnTo>
                    <a:pt x="508555" y="540184"/>
                  </a:lnTo>
                  <a:lnTo>
                    <a:pt x="474296" y="566098"/>
                  </a:lnTo>
                  <a:lnTo>
                    <a:pt x="436544" y="587083"/>
                  </a:lnTo>
                  <a:lnTo>
                    <a:pt x="395775" y="602661"/>
                  </a:lnTo>
                  <a:lnTo>
                    <a:pt x="352464" y="612358"/>
                  </a:lnTo>
                  <a:lnTo>
                    <a:pt x="307086" y="615696"/>
                  </a:lnTo>
                  <a:lnTo>
                    <a:pt x="261707" y="612358"/>
                  </a:lnTo>
                  <a:lnTo>
                    <a:pt x="218396" y="602661"/>
                  </a:lnTo>
                  <a:lnTo>
                    <a:pt x="177627" y="587083"/>
                  </a:lnTo>
                  <a:lnTo>
                    <a:pt x="139875" y="566098"/>
                  </a:lnTo>
                  <a:lnTo>
                    <a:pt x="105616" y="540184"/>
                  </a:lnTo>
                  <a:lnTo>
                    <a:pt x="75324" y="509816"/>
                  </a:lnTo>
                  <a:lnTo>
                    <a:pt x="49474" y="475472"/>
                  </a:lnTo>
                  <a:lnTo>
                    <a:pt x="28541" y="437626"/>
                  </a:lnTo>
                  <a:lnTo>
                    <a:pt x="13001" y="396756"/>
                  </a:lnTo>
                  <a:lnTo>
                    <a:pt x="3329" y="353338"/>
                  </a:lnTo>
                  <a:lnTo>
                    <a:pt x="0" y="307848"/>
                  </a:lnTo>
                  <a:close/>
                </a:path>
              </a:pathLst>
            </a:custGeom>
            <a:noFill/>
            <a:ln cap="flat" cmpd="sng" w="19050">
              <a:solidFill>
                <a:srgbClr val="186B2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Defense-in-Depth (Cont..)</a:t>
            </a:r>
            <a:endParaRPr/>
          </a:p>
        </p:txBody>
      </p:sp>
      <p:grpSp>
        <p:nvGrpSpPr>
          <p:cNvPr id="585" name="Google Shape;585;p46"/>
          <p:cNvGrpSpPr/>
          <p:nvPr/>
        </p:nvGrpSpPr>
        <p:grpSpPr>
          <a:xfrm>
            <a:off x="2233422" y="1315590"/>
            <a:ext cx="7982966" cy="5156835"/>
            <a:chOff x="2233422" y="1315590"/>
            <a:chExt cx="7982966" cy="5156835"/>
          </a:xfrm>
        </p:grpSpPr>
        <p:sp>
          <p:nvSpPr>
            <p:cNvPr id="586" name="Google Shape;586;p46"/>
            <p:cNvSpPr/>
            <p:nvPr/>
          </p:nvSpPr>
          <p:spPr>
            <a:xfrm>
              <a:off x="2247496" y="1315590"/>
              <a:ext cx="1083310" cy="5156835"/>
            </a:xfrm>
            <a:custGeom>
              <a:rect b="b" l="l" r="r" t="t"/>
              <a:pathLst>
                <a:path extrusionOk="0" h="5156835" w="1083310">
                  <a:moveTo>
                    <a:pt x="15265" y="0"/>
                  </a:moveTo>
                  <a:lnTo>
                    <a:pt x="49166" y="34343"/>
                  </a:lnTo>
                  <a:lnTo>
                    <a:pt x="82520" y="69020"/>
                  </a:lnTo>
                  <a:lnTo>
                    <a:pt x="115327" y="104026"/>
                  </a:lnTo>
                  <a:lnTo>
                    <a:pt x="147587" y="139356"/>
                  </a:lnTo>
                  <a:lnTo>
                    <a:pt x="179301" y="175004"/>
                  </a:lnTo>
                  <a:lnTo>
                    <a:pt x="210468" y="210964"/>
                  </a:lnTo>
                  <a:lnTo>
                    <a:pt x="241088" y="247231"/>
                  </a:lnTo>
                  <a:lnTo>
                    <a:pt x="271161" y="283800"/>
                  </a:lnTo>
                  <a:lnTo>
                    <a:pt x="300688" y="320665"/>
                  </a:lnTo>
                  <a:lnTo>
                    <a:pt x="329667" y="357821"/>
                  </a:lnTo>
                  <a:lnTo>
                    <a:pt x="358100" y="395263"/>
                  </a:lnTo>
                  <a:lnTo>
                    <a:pt x="385986" y="432984"/>
                  </a:lnTo>
                  <a:lnTo>
                    <a:pt x="413326" y="470980"/>
                  </a:lnTo>
                  <a:lnTo>
                    <a:pt x="440118" y="509245"/>
                  </a:lnTo>
                  <a:lnTo>
                    <a:pt x="466364" y="547773"/>
                  </a:lnTo>
                  <a:lnTo>
                    <a:pt x="492063" y="586560"/>
                  </a:lnTo>
                  <a:lnTo>
                    <a:pt x="517215" y="625600"/>
                  </a:lnTo>
                  <a:lnTo>
                    <a:pt x="541821" y="664886"/>
                  </a:lnTo>
                  <a:lnTo>
                    <a:pt x="565879" y="704415"/>
                  </a:lnTo>
                  <a:lnTo>
                    <a:pt x="589391" y="744180"/>
                  </a:lnTo>
                  <a:lnTo>
                    <a:pt x="612356" y="784176"/>
                  </a:lnTo>
                  <a:lnTo>
                    <a:pt x="634774" y="824398"/>
                  </a:lnTo>
                  <a:lnTo>
                    <a:pt x="656646" y="864840"/>
                  </a:lnTo>
                  <a:lnTo>
                    <a:pt x="677971" y="905496"/>
                  </a:lnTo>
                  <a:lnTo>
                    <a:pt x="698748" y="946362"/>
                  </a:lnTo>
                  <a:lnTo>
                    <a:pt x="718980" y="987432"/>
                  </a:lnTo>
                  <a:lnTo>
                    <a:pt x="738664" y="1028700"/>
                  </a:lnTo>
                  <a:lnTo>
                    <a:pt x="757801" y="1070161"/>
                  </a:lnTo>
                  <a:lnTo>
                    <a:pt x="776392" y="1111809"/>
                  </a:lnTo>
                  <a:lnTo>
                    <a:pt x="794436" y="1153640"/>
                  </a:lnTo>
                  <a:lnTo>
                    <a:pt x="811933" y="1195647"/>
                  </a:lnTo>
                  <a:lnTo>
                    <a:pt x="828884" y="1237826"/>
                  </a:lnTo>
                  <a:lnTo>
                    <a:pt x="845287" y="1280170"/>
                  </a:lnTo>
                  <a:lnTo>
                    <a:pt x="861144" y="1322675"/>
                  </a:lnTo>
                  <a:lnTo>
                    <a:pt x="876454" y="1365334"/>
                  </a:lnTo>
                  <a:lnTo>
                    <a:pt x="891217" y="1408143"/>
                  </a:lnTo>
                  <a:lnTo>
                    <a:pt x="905434" y="1451096"/>
                  </a:lnTo>
                  <a:lnTo>
                    <a:pt x="919104" y="1494188"/>
                  </a:lnTo>
                  <a:lnTo>
                    <a:pt x="932226" y="1537413"/>
                  </a:lnTo>
                  <a:lnTo>
                    <a:pt x="944802" y="1580765"/>
                  </a:lnTo>
                  <a:lnTo>
                    <a:pt x="956832" y="1624240"/>
                  </a:lnTo>
                  <a:lnTo>
                    <a:pt x="968314" y="1667832"/>
                  </a:lnTo>
                  <a:lnTo>
                    <a:pt x="979250" y="1711535"/>
                  </a:lnTo>
                  <a:lnTo>
                    <a:pt x="989639" y="1755344"/>
                  </a:lnTo>
                  <a:lnTo>
                    <a:pt x="999481" y="1799254"/>
                  </a:lnTo>
                  <a:lnTo>
                    <a:pt x="1008777" y="1843259"/>
                  </a:lnTo>
                  <a:lnTo>
                    <a:pt x="1017525" y="1887353"/>
                  </a:lnTo>
                  <a:lnTo>
                    <a:pt x="1025727" y="1931532"/>
                  </a:lnTo>
                  <a:lnTo>
                    <a:pt x="1033382" y="1975790"/>
                  </a:lnTo>
                  <a:lnTo>
                    <a:pt x="1040490" y="2020121"/>
                  </a:lnTo>
                  <a:lnTo>
                    <a:pt x="1047052" y="2064520"/>
                  </a:lnTo>
                  <a:lnTo>
                    <a:pt x="1053066" y="2108981"/>
                  </a:lnTo>
                  <a:lnTo>
                    <a:pt x="1058534" y="2153500"/>
                  </a:lnTo>
                  <a:lnTo>
                    <a:pt x="1063455" y="2198070"/>
                  </a:lnTo>
                  <a:lnTo>
                    <a:pt x="1067830" y="2242686"/>
                  </a:lnTo>
                  <a:lnTo>
                    <a:pt x="1071657" y="2287343"/>
                  </a:lnTo>
                  <a:lnTo>
                    <a:pt x="1074938" y="2332036"/>
                  </a:lnTo>
                  <a:lnTo>
                    <a:pt x="1077672" y="2376758"/>
                  </a:lnTo>
                  <a:lnTo>
                    <a:pt x="1079859" y="2421505"/>
                  </a:lnTo>
                  <a:lnTo>
                    <a:pt x="1081499" y="2466271"/>
                  </a:lnTo>
                  <a:lnTo>
                    <a:pt x="1082593" y="2511050"/>
                  </a:lnTo>
                  <a:lnTo>
                    <a:pt x="1083140" y="2555838"/>
                  </a:lnTo>
                  <a:lnTo>
                    <a:pt x="1083140" y="2600628"/>
                  </a:lnTo>
                  <a:lnTo>
                    <a:pt x="1082593" y="2645416"/>
                  </a:lnTo>
                  <a:lnTo>
                    <a:pt x="1081499" y="2690195"/>
                  </a:lnTo>
                  <a:lnTo>
                    <a:pt x="1079859" y="2734961"/>
                  </a:lnTo>
                  <a:lnTo>
                    <a:pt x="1077672" y="2779708"/>
                  </a:lnTo>
                  <a:lnTo>
                    <a:pt x="1074938" y="2824430"/>
                  </a:lnTo>
                  <a:lnTo>
                    <a:pt x="1071657" y="2869122"/>
                  </a:lnTo>
                  <a:lnTo>
                    <a:pt x="1067830" y="2913780"/>
                  </a:lnTo>
                  <a:lnTo>
                    <a:pt x="1063455" y="2958396"/>
                  </a:lnTo>
                  <a:lnTo>
                    <a:pt x="1058534" y="3002966"/>
                  </a:lnTo>
                  <a:lnTo>
                    <a:pt x="1053066" y="3047485"/>
                  </a:lnTo>
                  <a:lnTo>
                    <a:pt x="1047052" y="3091946"/>
                  </a:lnTo>
                  <a:lnTo>
                    <a:pt x="1040490" y="3136345"/>
                  </a:lnTo>
                  <a:lnTo>
                    <a:pt x="1033382" y="3180676"/>
                  </a:lnTo>
                  <a:lnTo>
                    <a:pt x="1025727" y="3224933"/>
                  </a:lnTo>
                  <a:lnTo>
                    <a:pt x="1017525" y="3269112"/>
                  </a:lnTo>
                  <a:lnTo>
                    <a:pt x="1008777" y="3313207"/>
                  </a:lnTo>
                  <a:lnTo>
                    <a:pt x="999481" y="3357212"/>
                  </a:lnTo>
                  <a:lnTo>
                    <a:pt x="989639" y="3401121"/>
                  </a:lnTo>
                  <a:lnTo>
                    <a:pt x="979250" y="3444931"/>
                  </a:lnTo>
                  <a:lnTo>
                    <a:pt x="968314" y="3488634"/>
                  </a:lnTo>
                  <a:lnTo>
                    <a:pt x="956832" y="3532225"/>
                  </a:lnTo>
                  <a:lnTo>
                    <a:pt x="944802" y="3575700"/>
                  </a:lnTo>
                  <a:lnTo>
                    <a:pt x="932226" y="3619053"/>
                  </a:lnTo>
                  <a:lnTo>
                    <a:pt x="919104" y="3662278"/>
                  </a:lnTo>
                  <a:lnTo>
                    <a:pt x="905434" y="3705369"/>
                  </a:lnTo>
                  <a:lnTo>
                    <a:pt x="891217" y="3748322"/>
                  </a:lnTo>
                  <a:lnTo>
                    <a:pt x="876454" y="3791131"/>
                  </a:lnTo>
                  <a:lnTo>
                    <a:pt x="861144" y="3833791"/>
                  </a:lnTo>
                  <a:lnTo>
                    <a:pt x="845287" y="3876296"/>
                  </a:lnTo>
                  <a:lnTo>
                    <a:pt x="828884" y="3918640"/>
                  </a:lnTo>
                  <a:lnTo>
                    <a:pt x="811933" y="3960818"/>
                  </a:lnTo>
                  <a:lnTo>
                    <a:pt x="794436" y="4002826"/>
                  </a:lnTo>
                  <a:lnTo>
                    <a:pt x="776392" y="4044656"/>
                  </a:lnTo>
                  <a:lnTo>
                    <a:pt x="757801" y="4086305"/>
                  </a:lnTo>
                  <a:lnTo>
                    <a:pt x="738664" y="4127766"/>
                  </a:lnTo>
                  <a:lnTo>
                    <a:pt x="718980" y="4169034"/>
                  </a:lnTo>
                  <a:lnTo>
                    <a:pt x="698748" y="4210104"/>
                  </a:lnTo>
                  <a:lnTo>
                    <a:pt x="677971" y="4250969"/>
                  </a:lnTo>
                  <a:lnTo>
                    <a:pt x="656646" y="4291626"/>
                  </a:lnTo>
                  <a:lnTo>
                    <a:pt x="634774" y="4332068"/>
                  </a:lnTo>
                  <a:lnTo>
                    <a:pt x="612356" y="4372289"/>
                  </a:lnTo>
                  <a:lnTo>
                    <a:pt x="589391" y="4412286"/>
                  </a:lnTo>
                  <a:lnTo>
                    <a:pt x="565879" y="4452051"/>
                  </a:lnTo>
                  <a:lnTo>
                    <a:pt x="541821" y="4491579"/>
                  </a:lnTo>
                  <a:lnTo>
                    <a:pt x="517215" y="4530866"/>
                  </a:lnTo>
                  <a:lnTo>
                    <a:pt x="492063" y="4569906"/>
                  </a:lnTo>
                  <a:lnTo>
                    <a:pt x="466364" y="4608692"/>
                  </a:lnTo>
                  <a:lnTo>
                    <a:pt x="440118" y="4647221"/>
                  </a:lnTo>
                  <a:lnTo>
                    <a:pt x="413326" y="4685486"/>
                  </a:lnTo>
                  <a:lnTo>
                    <a:pt x="385986" y="4723481"/>
                  </a:lnTo>
                  <a:lnTo>
                    <a:pt x="358100" y="4761203"/>
                  </a:lnTo>
                  <a:lnTo>
                    <a:pt x="329667" y="4798644"/>
                  </a:lnTo>
                  <a:lnTo>
                    <a:pt x="300688" y="4835800"/>
                  </a:lnTo>
                  <a:lnTo>
                    <a:pt x="271161" y="4872665"/>
                  </a:lnTo>
                  <a:lnTo>
                    <a:pt x="241088" y="4909234"/>
                  </a:lnTo>
                  <a:lnTo>
                    <a:pt x="210468" y="4945502"/>
                  </a:lnTo>
                  <a:lnTo>
                    <a:pt x="179301" y="4981462"/>
                  </a:lnTo>
                  <a:lnTo>
                    <a:pt x="147587" y="5017110"/>
                  </a:lnTo>
                  <a:lnTo>
                    <a:pt x="115327" y="5052439"/>
                  </a:lnTo>
                  <a:lnTo>
                    <a:pt x="82520" y="5087446"/>
                  </a:lnTo>
                  <a:lnTo>
                    <a:pt x="49166" y="5122123"/>
                  </a:lnTo>
                  <a:lnTo>
                    <a:pt x="15265" y="5156466"/>
                  </a:lnTo>
                  <a:lnTo>
                    <a:pt x="0" y="5141201"/>
                  </a:lnTo>
                  <a:lnTo>
                    <a:pt x="33969" y="5106784"/>
                  </a:lnTo>
                  <a:lnTo>
                    <a:pt x="67386" y="5072030"/>
                  </a:lnTo>
                  <a:lnTo>
                    <a:pt x="100251" y="5036944"/>
                  </a:lnTo>
                  <a:lnTo>
                    <a:pt x="132564" y="5001531"/>
                  </a:lnTo>
                  <a:lnTo>
                    <a:pt x="164324" y="4965798"/>
                  </a:lnTo>
                  <a:lnTo>
                    <a:pt x="195532" y="4929748"/>
                  </a:lnTo>
                  <a:lnTo>
                    <a:pt x="226187" y="4893389"/>
                  </a:lnTo>
                  <a:lnTo>
                    <a:pt x="256290" y="4856725"/>
                  </a:lnTo>
                  <a:lnTo>
                    <a:pt x="285841" y="4819762"/>
                  </a:lnTo>
                  <a:lnTo>
                    <a:pt x="314840" y="4782506"/>
                  </a:lnTo>
                  <a:lnTo>
                    <a:pt x="343286" y="4744963"/>
                  </a:lnTo>
                  <a:lnTo>
                    <a:pt x="371179" y="4707136"/>
                  </a:lnTo>
                  <a:lnTo>
                    <a:pt x="398521" y="4669033"/>
                  </a:lnTo>
                  <a:lnTo>
                    <a:pt x="425310" y="4630659"/>
                  </a:lnTo>
                  <a:lnTo>
                    <a:pt x="451546" y="4592020"/>
                  </a:lnTo>
                  <a:lnTo>
                    <a:pt x="477231" y="4553120"/>
                  </a:lnTo>
                  <a:lnTo>
                    <a:pt x="502363" y="4513965"/>
                  </a:lnTo>
                  <a:lnTo>
                    <a:pt x="526942" y="4474561"/>
                  </a:lnTo>
                  <a:lnTo>
                    <a:pt x="550970" y="4434914"/>
                  </a:lnTo>
                  <a:lnTo>
                    <a:pt x="574444" y="4395029"/>
                  </a:lnTo>
                  <a:lnTo>
                    <a:pt x="597367" y="4354911"/>
                  </a:lnTo>
                  <a:lnTo>
                    <a:pt x="619737" y="4314566"/>
                  </a:lnTo>
                  <a:lnTo>
                    <a:pt x="641555" y="4274000"/>
                  </a:lnTo>
                  <a:lnTo>
                    <a:pt x="662821" y="4233218"/>
                  </a:lnTo>
                  <a:lnTo>
                    <a:pt x="683534" y="4192226"/>
                  </a:lnTo>
                  <a:lnTo>
                    <a:pt x="703695" y="4151029"/>
                  </a:lnTo>
                  <a:lnTo>
                    <a:pt x="723303" y="4109632"/>
                  </a:lnTo>
                  <a:lnTo>
                    <a:pt x="742359" y="4068042"/>
                  </a:lnTo>
                  <a:lnTo>
                    <a:pt x="760863" y="4026264"/>
                  </a:lnTo>
                  <a:lnTo>
                    <a:pt x="778814" y="3984303"/>
                  </a:lnTo>
                  <a:lnTo>
                    <a:pt x="796213" y="3942165"/>
                  </a:lnTo>
                  <a:lnTo>
                    <a:pt x="813060" y="3899855"/>
                  </a:lnTo>
                  <a:lnTo>
                    <a:pt x="829354" y="3857379"/>
                  </a:lnTo>
                  <a:lnTo>
                    <a:pt x="845096" y="3814743"/>
                  </a:lnTo>
                  <a:lnTo>
                    <a:pt x="860286" y="3771952"/>
                  </a:lnTo>
                  <a:lnTo>
                    <a:pt x="874923" y="3729011"/>
                  </a:lnTo>
                  <a:lnTo>
                    <a:pt x="889008" y="3685926"/>
                  </a:lnTo>
                  <a:lnTo>
                    <a:pt x="902541" y="3642703"/>
                  </a:lnTo>
                  <a:lnTo>
                    <a:pt x="915521" y="3599347"/>
                  </a:lnTo>
                  <a:lnTo>
                    <a:pt x="927949" y="3555864"/>
                  </a:lnTo>
                  <a:lnTo>
                    <a:pt x="939825" y="3512259"/>
                  </a:lnTo>
                  <a:lnTo>
                    <a:pt x="951148" y="3468538"/>
                  </a:lnTo>
                  <a:lnTo>
                    <a:pt x="961919" y="3424706"/>
                  </a:lnTo>
                  <a:lnTo>
                    <a:pt x="972137" y="3380769"/>
                  </a:lnTo>
                  <a:lnTo>
                    <a:pt x="981803" y="3336732"/>
                  </a:lnTo>
                  <a:lnTo>
                    <a:pt x="990917" y="3292601"/>
                  </a:lnTo>
                  <a:lnTo>
                    <a:pt x="999478" y="3248382"/>
                  </a:lnTo>
                  <a:lnTo>
                    <a:pt x="1007488" y="3204080"/>
                  </a:lnTo>
                  <a:lnTo>
                    <a:pt x="1014944" y="3159700"/>
                  </a:lnTo>
                  <a:lnTo>
                    <a:pt x="1021849" y="3115248"/>
                  </a:lnTo>
                  <a:lnTo>
                    <a:pt x="1028201" y="3070730"/>
                  </a:lnTo>
                  <a:lnTo>
                    <a:pt x="1034000" y="3026151"/>
                  </a:lnTo>
                  <a:lnTo>
                    <a:pt x="1039248" y="2981516"/>
                  </a:lnTo>
                  <a:lnTo>
                    <a:pt x="1043943" y="2936832"/>
                  </a:lnTo>
                  <a:lnTo>
                    <a:pt x="1048085" y="2892103"/>
                  </a:lnTo>
                  <a:lnTo>
                    <a:pt x="1051676" y="2847336"/>
                  </a:lnTo>
                  <a:lnTo>
                    <a:pt x="1054714" y="2802535"/>
                  </a:lnTo>
                  <a:lnTo>
                    <a:pt x="1057199" y="2757707"/>
                  </a:lnTo>
                  <a:lnTo>
                    <a:pt x="1059132" y="2712857"/>
                  </a:lnTo>
                  <a:lnTo>
                    <a:pt x="1060513" y="2667990"/>
                  </a:lnTo>
                  <a:lnTo>
                    <a:pt x="1061342" y="2623112"/>
                  </a:lnTo>
                  <a:lnTo>
                    <a:pt x="1061618" y="2578228"/>
                  </a:lnTo>
                  <a:lnTo>
                    <a:pt x="1061342" y="2533345"/>
                  </a:lnTo>
                  <a:lnTo>
                    <a:pt x="1060513" y="2488466"/>
                  </a:lnTo>
                  <a:lnTo>
                    <a:pt x="1059132" y="2443600"/>
                  </a:lnTo>
                  <a:lnTo>
                    <a:pt x="1057199" y="2398749"/>
                  </a:lnTo>
                  <a:lnTo>
                    <a:pt x="1054714" y="2353921"/>
                  </a:lnTo>
                  <a:lnTo>
                    <a:pt x="1051676" y="2309120"/>
                  </a:lnTo>
                  <a:lnTo>
                    <a:pt x="1048085" y="2264353"/>
                  </a:lnTo>
                  <a:lnTo>
                    <a:pt x="1043943" y="2219625"/>
                  </a:lnTo>
                  <a:lnTo>
                    <a:pt x="1039248" y="2174940"/>
                  </a:lnTo>
                  <a:lnTo>
                    <a:pt x="1034000" y="2130306"/>
                  </a:lnTo>
                  <a:lnTo>
                    <a:pt x="1028201" y="2085727"/>
                  </a:lnTo>
                  <a:lnTo>
                    <a:pt x="1021849" y="2041209"/>
                  </a:lnTo>
                  <a:lnTo>
                    <a:pt x="1014944" y="1996757"/>
                  </a:lnTo>
                  <a:lnTo>
                    <a:pt x="1007488" y="1952377"/>
                  </a:lnTo>
                  <a:lnTo>
                    <a:pt x="999478" y="1908075"/>
                  </a:lnTo>
                  <a:lnTo>
                    <a:pt x="990917" y="1863855"/>
                  </a:lnTo>
                  <a:lnTo>
                    <a:pt x="981803" y="1819725"/>
                  </a:lnTo>
                  <a:lnTo>
                    <a:pt x="972137" y="1775688"/>
                  </a:lnTo>
                  <a:lnTo>
                    <a:pt x="961919" y="1731751"/>
                  </a:lnTo>
                  <a:lnTo>
                    <a:pt x="951148" y="1687919"/>
                  </a:lnTo>
                  <a:lnTo>
                    <a:pt x="939825" y="1644198"/>
                  </a:lnTo>
                  <a:lnTo>
                    <a:pt x="927949" y="1600593"/>
                  </a:lnTo>
                  <a:lnTo>
                    <a:pt x="915521" y="1557110"/>
                  </a:lnTo>
                  <a:lnTo>
                    <a:pt x="902541" y="1513754"/>
                  </a:lnTo>
                  <a:lnTo>
                    <a:pt x="889008" y="1470532"/>
                  </a:lnTo>
                  <a:lnTo>
                    <a:pt x="874923" y="1427447"/>
                  </a:lnTo>
                  <a:lnTo>
                    <a:pt x="860286" y="1384506"/>
                  </a:lnTo>
                  <a:lnTo>
                    <a:pt x="845096" y="1341715"/>
                  </a:lnTo>
                  <a:lnTo>
                    <a:pt x="829354" y="1299079"/>
                  </a:lnTo>
                  <a:lnTo>
                    <a:pt x="813060" y="1256603"/>
                  </a:lnTo>
                  <a:lnTo>
                    <a:pt x="796213" y="1214294"/>
                  </a:lnTo>
                  <a:lnTo>
                    <a:pt x="778814" y="1172156"/>
                  </a:lnTo>
                  <a:lnTo>
                    <a:pt x="760863" y="1130195"/>
                  </a:lnTo>
                  <a:lnTo>
                    <a:pt x="742359" y="1088417"/>
                  </a:lnTo>
                  <a:lnTo>
                    <a:pt x="723303" y="1046827"/>
                  </a:lnTo>
                  <a:lnTo>
                    <a:pt x="703695" y="1005431"/>
                  </a:lnTo>
                  <a:lnTo>
                    <a:pt x="683534" y="964234"/>
                  </a:lnTo>
                  <a:lnTo>
                    <a:pt x="662821" y="923242"/>
                  </a:lnTo>
                  <a:lnTo>
                    <a:pt x="641555" y="882460"/>
                  </a:lnTo>
                  <a:lnTo>
                    <a:pt x="619737" y="841894"/>
                  </a:lnTo>
                  <a:lnTo>
                    <a:pt x="597367" y="801549"/>
                  </a:lnTo>
                  <a:lnTo>
                    <a:pt x="574444" y="761432"/>
                  </a:lnTo>
                  <a:lnTo>
                    <a:pt x="550970" y="721547"/>
                  </a:lnTo>
                  <a:lnTo>
                    <a:pt x="526942" y="681900"/>
                  </a:lnTo>
                  <a:lnTo>
                    <a:pt x="502363" y="642496"/>
                  </a:lnTo>
                  <a:lnTo>
                    <a:pt x="477231" y="603342"/>
                  </a:lnTo>
                  <a:lnTo>
                    <a:pt x="451546" y="564442"/>
                  </a:lnTo>
                  <a:lnTo>
                    <a:pt x="425310" y="525803"/>
                  </a:lnTo>
                  <a:lnTo>
                    <a:pt x="398521" y="487429"/>
                  </a:lnTo>
                  <a:lnTo>
                    <a:pt x="371179" y="449326"/>
                  </a:lnTo>
                  <a:lnTo>
                    <a:pt x="343286" y="411500"/>
                  </a:lnTo>
                  <a:lnTo>
                    <a:pt x="314840" y="373956"/>
                  </a:lnTo>
                  <a:lnTo>
                    <a:pt x="285841" y="336701"/>
                  </a:lnTo>
                  <a:lnTo>
                    <a:pt x="256290" y="299738"/>
                  </a:lnTo>
                  <a:lnTo>
                    <a:pt x="226187" y="263075"/>
                  </a:lnTo>
                  <a:lnTo>
                    <a:pt x="195532" y="226716"/>
                  </a:lnTo>
                  <a:lnTo>
                    <a:pt x="164324" y="190667"/>
                  </a:lnTo>
                  <a:lnTo>
                    <a:pt x="132564" y="154933"/>
                  </a:lnTo>
                  <a:lnTo>
                    <a:pt x="100251" y="119521"/>
                  </a:lnTo>
                  <a:lnTo>
                    <a:pt x="67386" y="84435"/>
                  </a:lnTo>
                  <a:lnTo>
                    <a:pt x="33969" y="49681"/>
                  </a:lnTo>
                  <a:lnTo>
                    <a:pt x="0" y="15265"/>
                  </a:lnTo>
                  <a:lnTo>
                    <a:pt x="15265" y="0"/>
                  </a:lnTo>
                  <a:close/>
                </a:path>
              </a:pathLst>
            </a:custGeom>
            <a:noFill/>
            <a:ln cap="flat" cmpd="sng" w="19050">
              <a:solidFill>
                <a:srgbClr val="186B2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46"/>
            <p:cNvSpPr/>
            <p:nvPr/>
          </p:nvSpPr>
          <p:spPr>
            <a:xfrm>
              <a:off x="2539746" y="1430273"/>
              <a:ext cx="7676515" cy="492759"/>
            </a:xfrm>
            <a:custGeom>
              <a:rect b="b" l="l" r="r" t="t"/>
              <a:pathLst>
                <a:path extrusionOk="0" h="492760" w="7676515">
                  <a:moveTo>
                    <a:pt x="7676388" y="0"/>
                  </a:moveTo>
                  <a:lnTo>
                    <a:pt x="0" y="0"/>
                  </a:lnTo>
                  <a:lnTo>
                    <a:pt x="0" y="492251"/>
                  </a:lnTo>
                  <a:lnTo>
                    <a:pt x="7676388" y="492251"/>
                  </a:lnTo>
                  <a:lnTo>
                    <a:pt x="7676388" y="0"/>
                  </a:lnTo>
                  <a:close/>
                </a:path>
              </a:pathLst>
            </a:custGeom>
            <a:solidFill>
              <a:srgbClr val="E9703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46"/>
            <p:cNvSpPr/>
            <p:nvPr/>
          </p:nvSpPr>
          <p:spPr>
            <a:xfrm>
              <a:off x="2539746" y="1430273"/>
              <a:ext cx="7676515" cy="492759"/>
            </a:xfrm>
            <a:custGeom>
              <a:rect b="b" l="l" r="r" t="t"/>
              <a:pathLst>
                <a:path extrusionOk="0" h="492760" w="7676515">
                  <a:moveTo>
                    <a:pt x="0" y="0"/>
                  </a:moveTo>
                  <a:lnTo>
                    <a:pt x="7676388" y="0"/>
                  </a:lnTo>
                  <a:lnTo>
                    <a:pt x="7676388" y="492251"/>
                  </a:lnTo>
                  <a:lnTo>
                    <a:pt x="0" y="492251"/>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46"/>
            <p:cNvSpPr/>
            <p:nvPr/>
          </p:nvSpPr>
          <p:spPr>
            <a:xfrm>
              <a:off x="2233422" y="1369313"/>
              <a:ext cx="614680" cy="615950"/>
            </a:xfrm>
            <a:custGeom>
              <a:rect b="b" l="l" r="r" t="t"/>
              <a:pathLst>
                <a:path extrusionOk="0" h="615950" w="614680">
                  <a:moveTo>
                    <a:pt x="307086" y="0"/>
                  </a:moveTo>
                  <a:lnTo>
                    <a:pt x="261707" y="3337"/>
                  </a:lnTo>
                  <a:lnTo>
                    <a:pt x="218396" y="13034"/>
                  </a:lnTo>
                  <a:lnTo>
                    <a:pt x="177627" y="28612"/>
                  </a:lnTo>
                  <a:lnTo>
                    <a:pt x="139875" y="49597"/>
                  </a:lnTo>
                  <a:lnTo>
                    <a:pt x="105616" y="75511"/>
                  </a:lnTo>
                  <a:lnTo>
                    <a:pt x="75324" y="105879"/>
                  </a:lnTo>
                  <a:lnTo>
                    <a:pt x="49474" y="140223"/>
                  </a:lnTo>
                  <a:lnTo>
                    <a:pt x="28541" y="178069"/>
                  </a:lnTo>
                  <a:lnTo>
                    <a:pt x="13001" y="218939"/>
                  </a:lnTo>
                  <a:lnTo>
                    <a:pt x="3329" y="262357"/>
                  </a:lnTo>
                  <a:lnTo>
                    <a:pt x="0" y="307848"/>
                  </a:lnTo>
                  <a:lnTo>
                    <a:pt x="3329" y="353338"/>
                  </a:lnTo>
                  <a:lnTo>
                    <a:pt x="13001" y="396756"/>
                  </a:lnTo>
                  <a:lnTo>
                    <a:pt x="28541" y="437626"/>
                  </a:lnTo>
                  <a:lnTo>
                    <a:pt x="49474" y="475472"/>
                  </a:lnTo>
                  <a:lnTo>
                    <a:pt x="75324" y="509816"/>
                  </a:lnTo>
                  <a:lnTo>
                    <a:pt x="105616" y="540184"/>
                  </a:lnTo>
                  <a:lnTo>
                    <a:pt x="139875" y="566098"/>
                  </a:lnTo>
                  <a:lnTo>
                    <a:pt x="177627" y="587083"/>
                  </a:lnTo>
                  <a:lnTo>
                    <a:pt x="218396" y="602661"/>
                  </a:lnTo>
                  <a:lnTo>
                    <a:pt x="261707" y="612358"/>
                  </a:lnTo>
                  <a:lnTo>
                    <a:pt x="307086" y="615696"/>
                  </a:lnTo>
                  <a:lnTo>
                    <a:pt x="352464" y="612358"/>
                  </a:lnTo>
                  <a:lnTo>
                    <a:pt x="395775" y="602661"/>
                  </a:lnTo>
                  <a:lnTo>
                    <a:pt x="436544" y="587083"/>
                  </a:lnTo>
                  <a:lnTo>
                    <a:pt x="474296" y="566098"/>
                  </a:lnTo>
                  <a:lnTo>
                    <a:pt x="508555" y="540184"/>
                  </a:lnTo>
                  <a:lnTo>
                    <a:pt x="538847" y="509816"/>
                  </a:lnTo>
                  <a:lnTo>
                    <a:pt x="564697" y="475472"/>
                  </a:lnTo>
                  <a:lnTo>
                    <a:pt x="585630" y="437626"/>
                  </a:lnTo>
                  <a:lnTo>
                    <a:pt x="601170" y="396756"/>
                  </a:lnTo>
                  <a:lnTo>
                    <a:pt x="610842" y="353338"/>
                  </a:lnTo>
                  <a:lnTo>
                    <a:pt x="614172" y="307848"/>
                  </a:lnTo>
                  <a:lnTo>
                    <a:pt x="610842" y="262357"/>
                  </a:lnTo>
                  <a:lnTo>
                    <a:pt x="601170" y="218939"/>
                  </a:lnTo>
                  <a:lnTo>
                    <a:pt x="585630" y="178069"/>
                  </a:lnTo>
                  <a:lnTo>
                    <a:pt x="564697" y="140223"/>
                  </a:lnTo>
                  <a:lnTo>
                    <a:pt x="538847" y="105879"/>
                  </a:lnTo>
                  <a:lnTo>
                    <a:pt x="508555" y="75511"/>
                  </a:lnTo>
                  <a:lnTo>
                    <a:pt x="474296" y="49597"/>
                  </a:lnTo>
                  <a:lnTo>
                    <a:pt x="436544" y="28612"/>
                  </a:lnTo>
                  <a:lnTo>
                    <a:pt x="395775" y="13034"/>
                  </a:lnTo>
                  <a:lnTo>
                    <a:pt x="352464" y="3337"/>
                  </a:lnTo>
                  <a:lnTo>
                    <a:pt x="30708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46"/>
            <p:cNvSpPr/>
            <p:nvPr/>
          </p:nvSpPr>
          <p:spPr>
            <a:xfrm>
              <a:off x="2233422" y="1369313"/>
              <a:ext cx="614680" cy="615950"/>
            </a:xfrm>
            <a:custGeom>
              <a:rect b="b" l="l" r="r" t="t"/>
              <a:pathLst>
                <a:path extrusionOk="0" h="615950" w="614680">
                  <a:moveTo>
                    <a:pt x="0" y="307848"/>
                  </a:moveTo>
                  <a:lnTo>
                    <a:pt x="3329" y="262357"/>
                  </a:lnTo>
                  <a:lnTo>
                    <a:pt x="13001" y="218939"/>
                  </a:lnTo>
                  <a:lnTo>
                    <a:pt x="28541" y="178069"/>
                  </a:lnTo>
                  <a:lnTo>
                    <a:pt x="49474" y="140223"/>
                  </a:lnTo>
                  <a:lnTo>
                    <a:pt x="75324" y="105879"/>
                  </a:lnTo>
                  <a:lnTo>
                    <a:pt x="105616" y="75511"/>
                  </a:lnTo>
                  <a:lnTo>
                    <a:pt x="139875" y="49597"/>
                  </a:lnTo>
                  <a:lnTo>
                    <a:pt x="177627" y="28612"/>
                  </a:lnTo>
                  <a:lnTo>
                    <a:pt x="218396" y="13034"/>
                  </a:lnTo>
                  <a:lnTo>
                    <a:pt x="261707" y="3337"/>
                  </a:lnTo>
                  <a:lnTo>
                    <a:pt x="307086" y="0"/>
                  </a:lnTo>
                  <a:lnTo>
                    <a:pt x="352464" y="3337"/>
                  </a:lnTo>
                  <a:lnTo>
                    <a:pt x="395775" y="13034"/>
                  </a:lnTo>
                  <a:lnTo>
                    <a:pt x="436544" y="28612"/>
                  </a:lnTo>
                  <a:lnTo>
                    <a:pt x="474296" y="49597"/>
                  </a:lnTo>
                  <a:lnTo>
                    <a:pt x="508555" y="75511"/>
                  </a:lnTo>
                  <a:lnTo>
                    <a:pt x="538847" y="105879"/>
                  </a:lnTo>
                  <a:lnTo>
                    <a:pt x="564697" y="140223"/>
                  </a:lnTo>
                  <a:lnTo>
                    <a:pt x="585630" y="178069"/>
                  </a:lnTo>
                  <a:lnTo>
                    <a:pt x="601170" y="218939"/>
                  </a:lnTo>
                  <a:lnTo>
                    <a:pt x="610842" y="262357"/>
                  </a:lnTo>
                  <a:lnTo>
                    <a:pt x="614172" y="307848"/>
                  </a:lnTo>
                  <a:lnTo>
                    <a:pt x="610842" y="353338"/>
                  </a:lnTo>
                  <a:lnTo>
                    <a:pt x="601170" y="396756"/>
                  </a:lnTo>
                  <a:lnTo>
                    <a:pt x="585630" y="437626"/>
                  </a:lnTo>
                  <a:lnTo>
                    <a:pt x="564697" y="475472"/>
                  </a:lnTo>
                  <a:lnTo>
                    <a:pt x="538847" y="509816"/>
                  </a:lnTo>
                  <a:lnTo>
                    <a:pt x="508555" y="540184"/>
                  </a:lnTo>
                  <a:lnTo>
                    <a:pt x="474296" y="566098"/>
                  </a:lnTo>
                  <a:lnTo>
                    <a:pt x="436544" y="587083"/>
                  </a:lnTo>
                  <a:lnTo>
                    <a:pt x="395775" y="602661"/>
                  </a:lnTo>
                  <a:lnTo>
                    <a:pt x="352464" y="612358"/>
                  </a:lnTo>
                  <a:lnTo>
                    <a:pt x="307086" y="615696"/>
                  </a:lnTo>
                  <a:lnTo>
                    <a:pt x="261707" y="612358"/>
                  </a:lnTo>
                  <a:lnTo>
                    <a:pt x="218396" y="602661"/>
                  </a:lnTo>
                  <a:lnTo>
                    <a:pt x="177627" y="587083"/>
                  </a:lnTo>
                  <a:lnTo>
                    <a:pt x="139875" y="566098"/>
                  </a:lnTo>
                  <a:lnTo>
                    <a:pt x="105616" y="540184"/>
                  </a:lnTo>
                  <a:lnTo>
                    <a:pt x="75324" y="509816"/>
                  </a:lnTo>
                  <a:lnTo>
                    <a:pt x="49474" y="475472"/>
                  </a:lnTo>
                  <a:lnTo>
                    <a:pt x="28541" y="437626"/>
                  </a:lnTo>
                  <a:lnTo>
                    <a:pt x="13001" y="396756"/>
                  </a:lnTo>
                  <a:lnTo>
                    <a:pt x="3329" y="353338"/>
                  </a:lnTo>
                  <a:lnTo>
                    <a:pt x="0" y="307848"/>
                  </a:lnTo>
                  <a:close/>
                </a:path>
              </a:pathLst>
            </a:custGeom>
            <a:noFill/>
            <a:ln cap="flat" cmpd="sng" w="19050">
              <a:solidFill>
                <a:srgbClr val="E9703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46"/>
            <p:cNvSpPr/>
            <p:nvPr/>
          </p:nvSpPr>
          <p:spPr>
            <a:xfrm>
              <a:off x="2986277" y="2169413"/>
              <a:ext cx="7230109" cy="492759"/>
            </a:xfrm>
            <a:custGeom>
              <a:rect b="b" l="l" r="r" t="t"/>
              <a:pathLst>
                <a:path extrusionOk="0" h="492760" w="7230109">
                  <a:moveTo>
                    <a:pt x="7229856" y="0"/>
                  </a:moveTo>
                  <a:lnTo>
                    <a:pt x="0" y="0"/>
                  </a:lnTo>
                  <a:lnTo>
                    <a:pt x="0" y="492251"/>
                  </a:lnTo>
                  <a:lnTo>
                    <a:pt x="7229856" y="492251"/>
                  </a:lnTo>
                  <a:lnTo>
                    <a:pt x="7229856" y="0"/>
                  </a:lnTo>
                  <a:close/>
                </a:path>
              </a:pathLst>
            </a:custGeom>
            <a:solidFill>
              <a:srgbClr val="E29D1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p46"/>
            <p:cNvSpPr/>
            <p:nvPr/>
          </p:nvSpPr>
          <p:spPr>
            <a:xfrm>
              <a:off x="2986277" y="2169413"/>
              <a:ext cx="7230109" cy="492759"/>
            </a:xfrm>
            <a:custGeom>
              <a:rect b="b" l="l" r="r" t="t"/>
              <a:pathLst>
                <a:path extrusionOk="0" h="492760" w="7230109">
                  <a:moveTo>
                    <a:pt x="0" y="0"/>
                  </a:moveTo>
                  <a:lnTo>
                    <a:pt x="7229856" y="0"/>
                  </a:lnTo>
                  <a:lnTo>
                    <a:pt x="7229856" y="492251"/>
                  </a:lnTo>
                  <a:lnTo>
                    <a:pt x="0" y="492251"/>
                  </a:lnTo>
                  <a:lnTo>
                    <a:pt x="0" y="0"/>
                  </a:lnTo>
                  <a:close/>
                </a:path>
              </a:pathLst>
            </a:custGeom>
            <a:noFill/>
            <a:ln cap="flat" cmpd="sng" w="190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46"/>
            <p:cNvSpPr/>
            <p:nvPr/>
          </p:nvSpPr>
          <p:spPr>
            <a:xfrm>
              <a:off x="2678430" y="2108453"/>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8"/>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6"/>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8"/>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46"/>
            <p:cNvSpPr/>
            <p:nvPr/>
          </p:nvSpPr>
          <p:spPr>
            <a:xfrm>
              <a:off x="2678430" y="2108453"/>
              <a:ext cx="615950" cy="615950"/>
            </a:xfrm>
            <a:custGeom>
              <a:rect b="b" l="l" r="r" t="t"/>
              <a:pathLst>
                <a:path extrusionOk="0" h="615950" w="615950">
                  <a:moveTo>
                    <a:pt x="0" y="307848"/>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8"/>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6"/>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8"/>
                  </a:lnTo>
                  <a:close/>
                </a:path>
              </a:pathLst>
            </a:custGeom>
            <a:noFill/>
            <a:ln cap="flat" cmpd="sng" w="19050">
              <a:solidFill>
                <a:srgbClr val="E29D1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46"/>
            <p:cNvSpPr/>
            <p:nvPr/>
          </p:nvSpPr>
          <p:spPr>
            <a:xfrm>
              <a:off x="3230118" y="2908553"/>
              <a:ext cx="6986270" cy="492759"/>
            </a:xfrm>
            <a:custGeom>
              <a:rect b="b" l="l" r="r" t="t"/>
              <a:pathLst>
                <a:path extrusionOk="0" h="492760" w="6986270">
                  <a:moveTo>
                    <a:pt x="6986016" y="0"/>
                  </a:moveTo>
                  <a:lnTo>
                    <a:pt x="0" y="0"/>
                  </a:lnTo>
                  <a:lnTo>
                    <a:pt x="0" y="492251"/>
                  </a:lnTo>
                  <a:lnTo>
                    <a:pt x="6986016" y="492251"/>
                  </a:lnTo>
                  <a:lnTo>
                    <a:pt x="6986016" y="0"/>
                  </a:lnTo>
                  <a:close/>
                </a:path>
              </a:pathLst>
            </a:custGeom>
            <a:solidFill>
              <a:srgbClr val="CAC11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46"/>
            <p:cNvSpPr/>
            <p:nvPr/>
          </p:nvSpPr>
          <p:spPr>
            <a:xfrm>
              <a:off x="3230118" y="2908553"/>
              <a:ext cx="6986270" cy="492759"/>
            </a:xfrm>
            <a:custGeom>
              <a:rect b="b" l="l" r="r" t="t"/>
              <a:pathLst>
                <a:path extrusionOk="0" h="492760" w="6986270">
                  <a:moveTo>
                    <a:pt x="0" y="0"/>
                  </a:moveTo>
                  <a:lnTo>
                    <a:pt x="6986016" y="0"/>
                  </a:lnTo>
                  <a:lnTo>
                    <a:pt x="6986016" y="492251"/>
                  </a:lnTo>
                  <a:lnTo>
                    <a:pt x="0" y="492251"/>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46"/>
            <p:cNvSpPr/>
            <p:nvPr/>
          </p:nvSpPr>
          <p:spPr>
            <a:xfrm>
              <a:off x="2922270" y="2846069"/>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8"/>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6"/>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8"/>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46"/>
            <p:cNvSpPr/>
            <p:nvPr/>
          </p:nvSpPr>
          <p:spPr>
            <a:xfrm>
              <a:off x="2922270" y="2846069"/>
              <a:ext cx="615950" cy="615950"/>
            </a:xfrm>
            <a:custGeom>
              <a:rect b="b" l="l" r="r" t="t"/>
              <a:pathLst>
                <a:path extrusionOk="0" h="615950" w="615950">
                  <a:moveTo>
                    <a:pt x="0" y="307848"/>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8"/>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6"/>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8"/>
                  </a:lnTo>
                  <a:close/>
                </a:path>
              </a:pathLst>
            </a:custGeom>
            <a:noFill/>
            <a:ln cap="flat" cmpd="sng" w="19050">
              <a:solidFill>
                <a:srgbClr val="CAC11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46"/>
            <p:cNvSpPr/>
            <p:nvPr/>
          </p:nvSpPr>
          <p:spPr>
            <a:xfrm>
              <a:off x="3309366" y="3647694"/>
              <a:ext cx="6906895" cy="492759"/>
            </a:xfrm>
            <a:custGeom>
              <a:rect b="b" l="l" r="r" t="t"/>
              <a:pathLst>
                <a:path extrusionOk="0" h="492760" w="6906895">
                  <a:moveTo>
                    <a:pt x="6906768" y="0"/>
                  </a:moveTo>
                  <a:lnTo>
                    <a:pt x="0" y="0"/>
                  </a:lnTo>
                  <a:lnTo>
                    <a:pt x="0" y="492251"/>
                  </a:lnTo>
                  <a:lnTo>
                    <a:pt x="6906768" y="492251"/>
                  </a:lnTo>
                  <a:lnTo>
                    <a:pt x="6906768" y="0"/>
                  </a:lnTo>
                  <a:close/>
                </a:path>
              </a:pathLst>
            </a:custGeom>
            <a:solidFill>
              <a:srgbClr val="8EB11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46"/>
            <p:cNvSpPr/>
            <p:nvPr/>
          </p:nvSpPr>
          <p:spPr>
            <a:xfrm>
              <a:off x="3309366" y="3647694"/>
              <a:ext cx="6906895" cy="492759"/>
            </a:xfrm>
            <a:custGeom>
              <a:rect b="b" l="l" r="r" t="t"/>
              <a:pathLst>
                <a:path extrusionOk="0" h="492760" w="6906895">
                  <a:moveTo>
                    <a:pt x="0" y="0"/>
                  </a:moveTo>
                  <a:lnTo>
                    <a:pt x="6906768" y="0"/>
                  </a:lnTo>
                  <a:lnTo>
                    <a:pt x="6906768" y="492251"/>
                  </a:lnTo>
                  <a:lnTo>
                    <a:pt x="0" y="492251"/>
                  </a:lnTo>
                  <a:lnTo>
                    <a:pt x="0" y="0"/>
                  </a:lnTo>
                  <a:close/>
                </a:path>
              </a:pathLst>
            </a:custGeom>
            <a:noFill/>
            <a:ln cap="flat" cmpd="sng" w="190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46"/>
            <p:cNvSpPr/>
            <p:nvPr/>
          </p:nvSpPr>
          <p:spPr>
            <a:xfrm>
              <a:off x="3001518" y="3585210"/>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7"/>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5"/>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7"/>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46"/>
            <p:cNvSpPr/>
            <p:nvPr/>
          </p:nvSpPr>
          <p:spPr>
            <a:xfrm>
              <a:off x="3001518" y="3585210"/>
              <a:ext cx="615950" cy="615950"/>
            </a:xfrm>
            <a:custGeom>
              <a:rect b="b" l="l" r="r" t="t"/>
              <a:pathLst>
                <a:path extrusionOk="0" h="615950" w="615950">
                  <a:moveTo>
                    <a:pt x="0" y="307847"/>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7"/>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5"/>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7"/>
                  </a:lnTo>
                  <a:close/>
                </a:path>
              </a:pathLst>
            </a:custGeom>
            <a:noFill/>
            <a:ln cap="flat" cmpd="sng" w="19050">
              <a:solidFill>
                <a:srgbClr val="8EB11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46"/>
            <p:cNvSpPr/>
            <p:nvPr/>
          </p:nvSpPr>
          <p:spPr>
            <a:xfrm>
              <a:off x="3230118" y="4386833"/>
              <a:ext cx="6986270" cy="492759"/>
            </a:xfrm>
            <a:custGeom>
              <a:rect b="b" l="l" r="r" t="t"/>
              <a:pathLst>
                <a:path extrusionOk="0" h="492760" w="6986270">
                  <a:moveTo>
                    <a:pt x="6986016" y="0"/>
                  </a:moveTo>
                  <a:lnTo>
                    <a:pt x="0" y="0"/>
                  </a:lnTo>
                  <a:lnTo>
                    <a:pt x="0" y="492252"/>
                  </a:lnTo>
                  <a:lnTo>
                    <a:pt x="6986016" y="492252"/>
                  </a:lnTo>
                  <a:lnTo>
                    <a:pt x="6986016" y="0"/>
                  </a:lnTo>
                  <a:close/>
                </a:path>
              </a:pathLst>
            </a:custGeom>
            <a:solidFill>
              <a:srgbClr val="55991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46"/>
            <p:cNvSpPr/>
            <p:nvPr/>
          </p:nvSpPr>
          <p:spPr>
            <a:xfrm>
              <a:off x="3230118" y="4386833"/>
              <a:ext cx="6986270" cy="492759"/>
            </a:xfrm>
            <a:custGeom>
              <a:rect b="b" l="l" r="r" t="t"/>
              <a:pathLst>
                <a:path extrusionOk="0" h="492760" w="6986270">
                  <a:moveTo>
                    <a:pt x="0" y="0"/>
                  </a:moveTo>
                  <a:lnTo>
                    <a:pt x="6986016" y="0"/>
                  </a:lnTo>
                  <a:lnTo>
                    <a:pt x="6986016" y="492252"/>
                  </a:lnTo>
                  <a:lnTo>
                    <a:pt x="0" y="492252"/>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46"/>
            <p:cNvSpPr/>
            <p:nvPr/>
          </p:nvSpPr>
          <p:spPr>
            <a:xfrm>
              <a:off x="2922270" y="4324350"/>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8"/>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6"/>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8"/>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46"/>
            <p:cNvSpPr/>
            <p:nvPr/>
          </p:nvSpPr>
          <p:spPr>
            <a:xfrm>
              <a:off x="2922270" y="4324350"/>
              <a:ext cx="615950" cy="615950"/>
            </a:xfrm>
            <a:custGeom>
              <a:rect b="b" l="l" r="r" t="t"/>
              <a:pathLst>
                <a:path extrusionOk="0" h="615950" w="615950">
                  <a:moveTo>
                    <a:pt x="0" y="307848"/>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8"/>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6"/>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8"/>
                  </a:lnTo>
                  <a:close/>
                </a:path>
              </a:pathLst>
            </a:custGeom>
            <a:noFill/>
            <a:ln cap="flat" cmpd="sng" w="19050">
              <a:solidFill>
                <a:srgbClr val="55991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46"/>
            <p:cNvSpPr/>
            <p:nvPr/>
          </p:nvSpPr>
          <p:spPr>
            <a:xfrm>
              <a:off x="2986277" y="5124449"/>
              <a:ext cx="7230109" cy="494030"/>
            </a:xfrm>
            <a:custGeom>
              <a:rect b="b" l="l" r="r" t="t"/>
              <a:pathLst>
                <a:path extrusionOk="0" h="494029" w="7230109">
                  <a:moveTo>
                    <a:pt x="7229856" y="0"/>
                  </a:moveTo>
                  <a:lnTo>
                    <a:pt x="0" y="0"/>
                  </a:lnTo>
                  <a:lnTo>
                    <a:pt x="0" y="493775"/>
                  </a:lnTo>
                  <a:lnTo>
                    <a:pt x="7229856" y="493775"/>
                  </a:lnTo>
                  <a:lnTo>
                    <a:pt x="7229856" y="0"/>
                  </a:lnTo>
                  <a:close/>
                </a:path>
              </a:pathLst>
            </a:custGeom>
            <a:solidFill>
              <a:srgbClr val="2C821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46"/>
            <p:cNvSpPr/>
            <p:nvPr/>
          </p:nvSpPr>
          <p:spPr>
            <a:xfrm>
              <a:off x="2986277" y="5124449"/>
              <a:ext cx="7230109" cy="494030"/>
            </a:xfrm>
            <a:custGeom>
              <a:rect b="b" l="l" r="r" t="t"/>
              <a:pathLst>
                <a:path extrusionOk="0" h="494029" w="7230109">
                  <a:moveTo>
                    <a:pt x="0" y="0"/>
                  </a:moveTo>
                  <a:lnTo>
                    <a:pt x="7229856" y="0"/>
                  </a:lnTo>
                  <a:lnTo>
                    <a:pt x="7229856" y="493775"/>
                  </a:lnTo>
                  <a:lnTo>
                    <a:pt x="0" y="493775"/>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46"/>
            <p:cNvSpPr/>
            <p:nvPr/>
          </p:nvSpPr>
          <p:spPr>
            <a:xfrm>
              <a:off x="2678430" y="5063489"/>
              <a:ext cx="615950" cy="615950"/>
            </a:xfrm>
            <a:custGeom>
              <a:rect b="b" l="l" r="r" t="t"/>
              <a:pathLst>
                <a:path extrusionOk="0" h="615950" w="615950">
                  <a:moveTo>
                    <a:pt x="307848" y="0"/>
                  </a:moveTo>
                  <a:lnTo>
                    <a:pt x="262357" y="3337"/>
                  </a:lnTo>
                  <a:lnTo>
                    <a:pt x="218939" y="13034"/>
                  </a:lnTo>
                  <a:lnTo>
                    <a:pt x="178069" y="28612"/>
                  </a:lnTo>
                  <a:lnTo>
                    <a:pt x="140223" y="49597"/>
                  </a:lnTo>
                  <a:lnTo>
                    <a:pt x="105879" y="75511"/>
                  </a:lnTo>
                  <a:lnTo>
                    <a:pt x="75511" y="105879"/>
                  </a:lnTo>
                  <a:lnTo>
                    <a:pt x="49597" y="140223"/>
                  </a:lnTo>
                  <a:lnTo>
                    <a:pt x="28612" y="178069"/>
                  </a:lnTo>
                  <a:lnTo>
                    <a:pt x="13034" y="218939"/>
                  </a:lnTo>
                  <a:lnTo>
                    <a:pt x="3337" y="262357"/>
                  </a:lnTo>
                  <a:lnTo>
                    <a:pt x="0" y="307848"/>
                  </a:lnTo>
                  <a:lnTo>
                    <a:pt x="3337" y="353338"/>
                  </a:lnTo>
                  <a:lnTo>
                    <a:pt x="13034" y="396756"/>
                  </a:lnTo>
                  <a:lnTo>
                    <a:pt x="28612" y="437626"/>
                  </a:lnTo>
                  <a:lnTo>
                    <a:pt x="49597" y="475472"/>
                  </a:lnTo>
                  <a:lnTo>
                    <a:pt x="75511" y="509816"/>
                  </a:lnTo>
                  <a:lnTo>
                    <a:pt x="105879" y="540184"/>
                  </a:lnTo>
                  <a:lnTo>
                    <a:pt x="140223" y="566098"/>
                  </a:lnTo>
                  <a:lnTo>
                    <a:pt x="178069" y="587083"/>
                  </a:lnTo>
                  <a:lnTo>
                    <a:pt x="218939" y="602661"/>
                  </a:lnTo>
                  <a:lnTo>
                    <a:pt x="262357" y="612358"/>
                  </a:lnTo>
                  <a:lnTo>
                    <a:pt x="307848" y="615696"/>
                  </a:lnTo>
                  <a:lnTo>
                    <a:pt x="353338" y="612358"/>
                  </a:lnTo>
                  <a:lnTo>
                    <a:pt x="396756" y="602661"/>
                  </a:lnTo>
                  <a:lnTo>
                    <a:pt x="437626" y="587083"/>
                  </a:lnTo>
                  <a:lnTo>
                    <a:pt x="475472" y="566098"/>
                  </a:lnTo>
                  <a:lnTo>
                    <a:pt x="509816" y="540184"/>
                  </a:lnTo>
                  <a:lnTo>
                    <a:pt x="540184" y="509816"/>
                  </a:lnTo>
                  <a:lnTo>
                    <a:pt x="566098" y="475472"/>
                  </a:lnTo>
                  <a:lnTo>
                    <a:pt x="587083" y="437626"/>
                  </a:lnTo>
                  <a:lnTo>
                    <a:pt x="602661" y="396756"/>
                  </a:lnTo>
                  <a:lnTo>
                    <a:pt x="612358" y="353338"/>
                  </a:lnTo>
                  <a:lnTo>
                    <a:pt x="615696" y="307848"/>
                  </a:lnTo>
                  <a:lnTo>
                    <a:pt x="612358" y="262357"/>
                  </a:lnTo>
                  <a:lnTo>
                    <a:pt x="602661" y="218939"/>
                  </a:lnTo>
                  <a:lnTo>
                    <a:pt x="587083" y="178069"/>
                  </a:lnTo>
                  <a:lnTo>
                    <a:pt x="566098" y="140223"/>
                  </a:lnTo>
                  <a:lnTo>
                    <a:pt x="540184" y="105879"/>
                  </a:lnTo>
                  <a:lnTo>
                    <a:pt x="509816" y="75511"/>
                  </a:lnTo>
                  <a:lnTo>
                    <a:pt x="475472" y="49597"/>
                  </a:lnTo>
                  <a:lnTo>
                    <a:pt x="437626" y="28612"/>
                  </a:lnTo>
                  <a:lnTo>
                    <a:pt x="396756" y="13034"/>
                  </a:lnTo>
                  <a:lnTo>
                    <a:pt x="353338" y="3337"/>
                  </a:lnTo>
                  <a:lnTo>
                    <a:pt x="30784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0" name="Google Shape;610;p46"/>
            <p:cNvSpPr/>
            <p:nvPr/>
          </p:nvSpPr>
          <p:spPr>
            <a:xfrm>
              <a:off x="2678430" y="5063489"/>
              <a:ext cx="615950" cy="615950"/>
            </a:xfrm>
            <a:custGeom>
              <a:rect b="b" l="l" r="r" t="t"/>
              <a:pathLst>
                <a:path extrusionOk="0" h="615950" w="615950">
                  <a:moveTo>
                    <a:pt x="0" y="307848"/>
                  </a:moveTo>
                  <a:lnTo>
                    <a:pt x="3337" y="262357"/>
                  </a:lnTo>
                  <a:lnTo>
                    <a:pt x="13034" y="218939"/>
                  </a:lnTo>
                  <a:lnTo>
                    <a:pt x="28612" y="178069"/>
                  </a:lnTo>
                  <a:lnTo>
                    <a:pt x="49597" y="140223"/>
                  </a:lnTo>
                  <a:lnTo>
                    <a:pt x="75511" y="105879"/>
                  </a:lnTo>
                  <a:lnTo>
                    <a:pt x="105879" y="75511"/>
                  </a:lnTo>
                  <a:lnTo>
                    <a:pt x="140223" y="49597"/>
                  </a:lnTo>
                  <a:lnTo>
                    <a:pt x="178069" y="28612"/>
                  </a:lnTo>
                  <a:lnTo>
                    <a:pt x="218939" y="13034"/>
                  </a:lnTo>
                  <a:lnTo>
                    <a:pt x="262357" y="3337"/>
                  </a:lnTo>
                  <a:lnTo>
                    <a:pt x="307848" y="0"/>
                  </a:lnTo>
                  <a:lnTo>
                    <a:pt x="353338" y="3337"/>
                  </a:lnTo>
                  <a:lnTo>
                    <a:pt x="396756" y="13034"/>
                  </a:lnTo>
                  <a:lnTo>
                    <a:pt x="437626" y="28612"/>
                  </a:lnTo>
                  <a:lnTo>
                    <a:pt x="475472" y="49597"/>
                  </a:lnTo>
                  <a:lnTo>
                    <a:pt x="509816" y="75511"/>
                  </a:lnTo>
                  <a:lnTo>
                    <a:pt x="540184" y="105879"/>
                  </a:lnTo>
                  <a:lnTo>
                    <a:pt x="566098" y="140223"/>
                  </a:lnTo>
                  <a:lnTo>
                    <a:pt x="587083" y="178069"/>
                  </a:lnTo>
                  <a:lnTo>
                    <a:pt x="602661" y="218939"/>
                  </a:lnTo>
                  <a:lnTo>
                    <a:pt x="612358" y="262357"/>
                  </a:lnTo>
                  <a:lnTo>
                    <a:pt x="615696" y="307848"/>
                  </a:lnTo>
                  <a:lnTo>
                    <a:pt x="612358" y="353338"/>
                  </a:lnTo>
                  <a:lnTo>
                    <a:pt x="602661" y="396756"/>
                  </a:lnTo>
                  <a:lnTo>
                    <a:pt x="587083" y="437626"/>
                  </a:lnTo>
                  <a:lnTo>
                    <a:pt x="566098" y="475472"/>
                  </a:lnTo>
                  <a:lnTo>
                    <a:pt x="540184" y="509816"/>
                  </a:lnTo>
                  <a:lnTo>
                    <a:pt x="509816" y="540184"/>
                  </a:lnTo>
                  <a:lnTo>
                    <a:pt x="475472" y="566098"/>
                  </a:lnTo>
                  <a:lnTo>
                    <a:pt x="437626" y="587083"/>
                  </a:lnTo>
                  <a:lnTo>
                    <a:pt x="396756" y="602661"/>
                  </a:lnTo>
                  <a:lnTo>
                    <a:pt x="353338" y="612358"/>
                  </a:lnTo>
                  <a:lnTo>
                    <a:pt x="307848" y="615696"/>
                  </a:lnTo>
                  <a:lnTo>
                    <a:pt x="262357" y="612358"/>
                  </a:lnTo>
                  <a:lnTo>
                    <a:pt x="218939" y="602661"/>
                  </a:lnTo>
                  <a:lnTo>
                    <a:pt x="178069" y="587083"/>
                  </a:lnTo>
                  <a:lnTo>
                    <a:pt x="140223" y="566098"/>
                  </a:lnTo>
                  <a:lnTo>
                    <a:pt x="105879" y="540184"/>
                  </a:lnTo>
                  <a:lnTo>
                    <a:pt x="75511" y="509816"/>
                  </a:lnTo>
                  <a:lnTo>
                    <a:pt x="49597" y="475472"/>
                  </a:lnTo>
                  <a:lnTo>
                    <a:pt x="28612" y="437626"/>
                  </a:lnTo>
                  <a:lnTo>
                    <a:pt x="13034" y="396756"/>
                  </a:lnTo>
                  <a:lnTo>
                    <a:pt x="3337" y="353338"/>
                  </a:lnTo>
                  <a:lnTo>
                    <a:pt x="0" y="307848"/>
                  </a:lnTo>
                  <a:close/>
                </a:path>
              </a:pathLst>
            </a:custGeom>
            <a:noFill/>
            <a:ln cap="flat" cmpd="sng" w="19050">
              <a:solidFill>
                <a:srgbClr val="2C821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46"/>
            <p:cNvSpPr/>
            <p:nvPr/>
          </p:nvSpPr>
          <p:spPr>
            <a:xfrm>
              <a:off x="2539746" y="5863589"/>
              <a:ext cx="7676515" cy="494030"/>
            </a:xfrm>
            <a:custGeom>
              <a:rect b="b" l="l" r="r" t="t"/>
              <a:pathLst>
                <a:path extrusionOk="0" h="494029" w="7676515">
                  <a:moveTo>
                    <a:pt x="7676388" y="0"/>
                  </a:moveTo>
                  <a:lnTo>
                    <a:pt x="0" y="0"/>
                  </a:lnTo>
                  <a:lnTo>
                    <a:pt x="0" y="493776"/>
                  </a:lnTo>
                  <a:lnTo>
                    <a:pt x="7676388" y="493776"/>
                  </a:lnTo>
                  <a:lnTo>
                    <a:pt x="7676388" y="0"/>
                  </a:lnTo>
                  <a:close/>
                </a:path>
              </a:pathLst>
            </a:custGeom>
            <a:solidFill>
              <a:srgbClr val="186B2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46"/>
            <p:cNvSpPr/>
            <p:nvPr/>
          </p:nvSpPr>
          <p:spPr>
            <a:xfrm>
              <a:off x="2539746" y="5863589"/>
              <a:ext cx="7676515" cy="494030"/>
            </a:xfrm>
            <a:custGeom>
              <a:rect b="b" l="l" r="r" t="t"/>
              <a:pathLst>
                <a:path extrusionOk="0" h="494029" w="7676515">
                  <a:moveTo>
                    <a:pt x="0" y="0"/>
                  </a:moveTo>
                  <a:lnTo>
                    <a:pt x="7676388" y="0"/>
                  </a:lnTo>
                  <a:lnTo>
                    <a:pt x="7676388" y="493776"/>
                  </a:lnTo>
                  <a:lnTo>
                    <a:pt x="0" y="493776"/>
                  </a:lnTo>
                  <a:lnTo>
                    <a:pt x="0" y="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3" name="Google Shape;613;p46"/>
          <p:cNvSpPr txBox="1"/>
          <p:nvPr/>
        </p:nvSpPr>
        <p:spPr>
          <a:xfrm>
            <a:off x="2917889" y="1433034"/>
            <a:ext cx="6477635" cy="483997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500">
                <a:solidFill>
                  <a:srgbClr val="FFFFFF"/>
                </a:solidFill>
                <a:latin typeface="Arial"/>
                <a:ea typeface="Arial"/>
                <a:cs typeface="Arial"/>
                <a:sym typeface="Arial"/>
              </a:rPr>
              <a:t>Resource Efficiency</a:t>
            </a:r>
            <a:endParaRPr sz="2500">
              <a:solidFill>
                <a:schemeClr val="dk1"/>
              </a:solidFill>
              <a:latin typeface="Arial"/>
              <a:ea typeface="Arial"/>
              <a:cs typeface="Arial"/>
              <a:sym typeface="Arial"/>
            </a:endParaRPr>
          </a:p>
          <a:p>
            <a:pPr indent="-244475" lvl="0" marL="702945" marR="3217545" rtl="0" algn="l">
              <a:lnSpc>
                <a:spcPct val="193800"/>
              </a:lnSpc>
              <a:spcBef>
                <a:spcPts val="5"/>
              </a:spcBef>
              <a:spcAft>
                <a:spcPts val="0"/>
              </a:spcAft>
              <a:buNone/>
            </a:pPr>
            <a:r>
              <a:rPr lang="en-US" sz="2500">
                <a:solidFill>
                  <a:srgbClr val="FFFFFF"/>
                </a:solidFill>
                <a:latin typeface="Arial"/>
                <a:ea typeface="Arial"/>
                <a:cs typeface="Arial"/>
                <a:sym typeface="Arial"/>
              </a:rPr>
              <a:t>Complete Mediation Open Design</a:t>
            </a:r>
            <a:endParaRPr sz="2500">
              <a:solidFill>
                <a:schemeClr val="dk1"/>
              </a:solidFill>
              <a:latin typeface="Arial"/>
              <a:ea typeface="Arial"/>
              <a:cs typeface="Arial"/>
              <a:sym typeface="Arial"/>
            </a:endParaRPr>
          </a:p>
          <a:p>
            <a:pPr indent="77470" lvl="0" marL="702945" marR="5080" rtl="0" algn="l">
              <a:lnSpc>
                <a:spcPct val="194000"/>
              </a:lnSpc>
              <a:spcBef>
                <a:spcPts val="0"/>
              </a:spcBef>
              <a:spcAft>
                <a:spcPts val="0"/>
              </a:spcAft>
              <a:buNone/>
            </a:pPr>
            <a:r>
              <a:rPr lang="en-US" sz="2500">
                <a:solidFill>
                  <a:srgbClr val="FFFFFF"/>
                </a:solidFill>
                <a:latin typeface="Arial"/>
                <a:ea typeface="Arial"/>
                <a:cs typeface="Arial"/>
                <a:sym typeface="Arial"/>
              </a:rPr>
              <a:t>Modular Open Systems Approach (MOSA) Resiliency</a:t>
            </a:r>
            <a:endParaRPr sz="2500">
              <a:solidFill>
                <a:schemeClr val="dk1"/>
              </a:solidFill>
              <a:latin typeface="Arial"/>
              <a:ea typeface="Arial"/>
              <a:cs typeface="Arial"/>
              <a:sym typeface="Arial"/>
            </a:endParaRPr>
          </a:p>
          <a:p>
            <a:pPr indent="445769" lvl="0" marL="12700" marR="2940685" rtl="0" algn="l">
              <a:lnSpc>
                <a:spcPct val="232800"/>
              </a:lnSpc>
              <a:spcBef>
                <a:spcPts val="459"/>
              </a:spcBef>
              <a:spcAft>
                <a:spcPts val="0"/>
              </a:spcAft>
              <a:buNone/>
            </a:pPr>
            <a:r>
              <a:rPr lang="en-US" sz="2500">
                <a:solidFill>
                  <a:srgbClr val="FFFFFF"/>
                </a:solidFill>
                <a:latin typeface="Arial"/>
                <a:ea typeface="Arial"/>
                <a:cs typeface="Arial"/>
                <a:sym typeface="Arial"/>
              </a:rPr>
              <a:t>Open Source Software Collaborative Design</a:t>
            </a:r>
            <a:endParaRPr sz="2500">
              <a:solidFill>
                <a:schemeClr val="dk1"/>
              </a:solidFill>
              <a:latin typeface="Arial"/>
              <a:ea typeface="Arial"/>
              <a:cs typeface="Arial"/>
              <a:sym typeface="Arial"/>
            </a:endParaRPr>
          </a:p>
        </p:txBody>
      </p:sp>
      <p:grpSp>
        <p:nvGrpSpPr>
          <p:cNvPr id="614" name="Google Shape;614;p46"/>
          <p:cNvGrpSpPr/>
          <p:nvPr/>
        </p:nvGrpSpPr>
        <p:grpSpPr>
          <a:xfrm>
            <a:off x="2233422" y="5802629"/>
            <a:ext cx="614680" cy="615950"/>
            <a:chOff x="2233422" y="5802629"/>
            <a:chExt cx="614680" cy="615950"/>
          </a:xfrm>
        </p:grpSpPr>
        <p:sp>
          <p:nvSpPr>
            <p:cNvPr id="615" name="Google Shape;615;p46"/>
            <p:cNvSpPr/>
            <p:nvPr/>
          </p:nvSpPr>
          <p:spPr>
            <a:xfrm>
              <a:off x="2233422" y="5802629"/>
              <a:ext cx="614680" cy="615950"/>
            </a:xfrm>
            <a:custGeom>
              <a:rect b="b" l="l" r="r" t="t"/>
              <a:pathLst>
                <a:path extrusionOk="0" h="615950" w="614680">
                  <a:moveTo>
                    <a:pt x="307086" y="0"/>
                  </a:moveTo>
                  <a:lnTo>
                    <a:pt x="261707" y="3337"/>
                  </a:lnTo>
                  <a:lnTo>
                    <a:pt x="218396" y="13034"/>
                  </a:lnTo>
                  <a:lnTo>
                    <a:pt x="177627" y="28612"/>
                  </a:lnTo>
                  <a:lnTo>
                    <a:pt x="139875" y="49597"/>
                  </a:lnTo>
                  <a:lnTo>
                    <a:pt x="105616" y="75511"/>
                  </a:lnTo>
                  <a:lnTo>
                    <a:pt x="75324" y="105879"/>
                  </a:lnTo>
                  <a:lnTo>
                    <a:pt x="49474" y="140223"/>
                  </a:lnTo>
                  <a:lnTo>
                    <a:pt x="28541" y="178069"/>
                  </a:lnTo>
                  <a:lnTo>
                    <a:pt x="13001" y="218939"/>
                  </a:lnTo>
                  <a:lnTo>
                    <a:pt x="3329" y="262357"/>
                  </a:lnTo>
                  <a:lnTo>
                    <a:pt x="0" y="307848"/>
                  </a:lnTo>
                  <a:lnTo>
                    <a:pt x="3329" y="353338"/>
                  </a:lnTo>
                  <a:lnTo>
                    <a:pt x="13001" y="396756"/>
                  </a:lnTo>
                  <a:lnTo>
                    <a:pt x="28541" y="437626"/>
                  </a:lnTo>
                  <a:lnTo>
                    <a:pt x="49474" y="475472"/>
                  </a:lnTo>
                  <a:lnTo>
                    <a:pt x="75324" y="509816"/>
                  </a:lnTo>
                  <a:lnTo>
                    <a:pt x="105616" y="540184"/>
                  </a:lnTo>
                  <a:lnTo>
                    <a:pt x="139875" y="566098"/>
                  </a:lnTo>
                  <a:lnTo>
                    <a:pt x="177627" y="587083"/>
                  </a:lnTo>
                  <a:lnTo>
                    <a:pt x="218396" y="602661"/>
                  </a:lnTo>
                  <a:lnTo>
                    <a:pt x="261707" y="612358"/>
                  </a:lnTo>
                  <a:lnTo>
                    <a:pt x="307086" y="615696"/>
                  </a:lnTo>
                  <a:lnTo>
                    <a:pt x="352464" y="612358"/>
                  </a:lnTo>
                  <a:lnTo>
                    <a:pt x="395775" y="602661"/>
                  </a:lnTo>
                  <a:lnTo>
                    <a:pt x="436544" y="587083"/>
                  </a:lnTo>
                  <a:lnTo>
                    <a:pt x="474296" y="566098"/>
                  </a:lnTo>
                  <a:lnTo>
                    <a:pt x="508555" y="540184"/>
                  </a:lnTo>
                  <a:lnTo>
                    <a:pt x="538847" y="509816"/>
                  </a:lnTo>
                  <a:lnTo>
                    <a:pt x="564697" y="475472"/>
                  </a:lnTo>
                  <a:lnTo>
                    <a:pt x="585630" y="437626"/>
                  </a:lnTo>
                  <a:lnTo>
                    <a:pt x="601170" y="396756"/>
                  </a:lnTo>
                  <a:lnTo>
                    <a:pt x="610842" y="353338"/>
                  </a:lnTo>
                  <a:lnTo>
                    <a:pt x="614172" y="307848"/>
                  </a:lnTo>
                  <a:lnTo>
                    <a:pt x="610842" y="262357"/>
                  </a:lnTo>
                  <a:lnTo>
                    <a:pt x="601170" y="218939"/>
                  </a:lnTo>
                  <a:lnTo>
                    <a:pt x="585630" y="178069"/>
                  </a:lnTo>
                  <a:lnTo>
                    <a:pt x="564697" y="140223"/>
                  </a:lnTo>
                  <a:lnTo>
                    <a:pt x="538847" y="105879"/>
                  </a:lnTo>
                  <a:lnTo>
                    <a:pt x="508555" y="75511"/>
                  </a:lnTo>
                  <a:lnTo>
                    <a:pt x="474296" y="49597"/>
                  </a:lnTo>
                  <a:lnTo>
                    <a:pt x="436544" y="28612"/>
                  </a:lnTo>
                  <a:lnTo>
                    <a:pt x="395775" y="13034"/>
                  </a:lnTo>
                  <a:lnTo>
                    <a:pt x="352464" y="3337"/>
                  </a:lnTo>
                  <a:lnTo>
                    <a:pt x="30708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46"/>
            <p:cNvSpPr/>
            <p:nvPr/>
          </p:nvSpPr>
          <p:spPr>
            <a:xfrm>
              <a:off x="2233422" y="5802629"/>
              <a:ext cx="614680" cy="615950"/>
            </a:xfrm>
            <a:custGeom>
              <a:rect b="b" l="l" r="r" t="t"/>
              <a:pathLst>
                <a:path extrusionOk="0" h="615950" w="614680">
                  <a:moveTo>
                    <a:pt x="0" y="307848"/>
                  </a:moveTo>
                  <a:lnTo>
                    <a:pt x="3329" y="262357"/>
                  </a:lnTo>
                  <a:lnTo>
                    <a:pt x="13001" y="218939"/>
                  </a:lnTo>
                  <a:lnTo>
                    <a:pt x="28541" y="178069"/>
                  </a:lnTo>
                  <a:lnTo>
                    <a:pt x="49474" y="140223"/>
                  </a:lnTo>
                  <a:lnTo>
                    <a:pt x="75324" y="105879"/>
                  </a:lnTo>
                  <a:lnTo>
                    <a:pt x="105616" y="75511"/>
                  </a:lnTo>
                  <a:lnTo>
                    <a:pt x="139875" y="49597"/>
                  </a:lnTo>
                  <a:lnTo>
                    <a:pt x="177627" y="28612"/>
                  </a:lnTo>
                  <a:lnTo>
                    <a:pt x="218396" y="13034"/>
                  </a:lnTo>
                  <a:lnTo>
                    <a:pt x="261707" y="3337"/>
                  </a:lnTo>
                  <a:lnTo>
                    <a:pt x="307086" y="0"/>
                  </a:lnTo>
                  <a:lnTo>
                    <a:pt x="352464" y="3337"/>
                  </a:lnTo>
                  <a:lnTo>
                    <a:pt x="395775" y="13034"/>
                  </a:lnTo>
                  <a:lnTo>
                    <a:pt x="436544" y="28612"/>
                  </a:lnTo>
                  <a:lnTo>
                    <a:pt x="474296" y="49597"/>
                  </a:lnTo>
                  <a:lnTo>
                    <a:pt x="508555" y="75511"/>
                  </a:lnTo>
                  <a:lnTo>
                    <a:pt x="538847" y="105879"/>
                  </a:lnTo>
                  <a:lnTo>
                    <a:pt x="564697" y="140223"/>
                  </a:lnTo>
                  <a:lnTo>
                    <a:pt x="585630" y="178069"/>
                  </a:lnTo>
                  <a:lnTo>
                    <a:pt x="601170" y="218939"/>
                  </a:lnTo>
                  <a:lnTo>
                    <a:pt x="610842" y="262357"/>
                  </a:lnTo>
                  <a:lnTo>
                    <a:pt x="614172" y="307848"/>
                  </a:lnTo>
                  <a:lnTo>
                    <a:pt x="610842" y="353338"/>
                  </a:lnTo>
                  <a:lnTo>
                    <a:pt x="601170" y="396756"/>
                  </a:lnTo>
                  <a:lnTo>
                    <a:pt x="585630" y="437626"/>
                  </a:lnTo>
                  <a:lnTo>
                    <a:pt x="564697" y="475472"/>
                  </a:lnTo>
                  <a:lnTo>
                    <a:pt x="538847" y="509816"/>
                  </a:lnTo>
                  <a:lnTo>
                    <a:pt x="508555" y="540184"/>
                  </a:lnTo>
                  <a:lnTo>
                    <a:pt x="474296" y="566098"/>
                  </a:lnTo>
                  <a:lnTo>
                    <a:pt x="436544" y="587083"/>
                  </a:lnTo>
                  <a:lnTo>
                    <a:pt x="395775" y="602661"/>
                  </a:lnTo>
                  <a:lnTo>
                    <a:pt x="352464" y="612358"/>
                  </a:lnTo>
                  <a:lnTo>
                    <a:pt x="307086" y="615696"/>
                  </a:lnTo>
                  <a:lnTo>
                    <a:pt x="261707" y="612358"/>
                  </a:lnTo>
                  <a:lnTo>
                    <a:pt x="218396" y="602661"/>
                  </a:lnTo>
                  <a:lnTo>
                    <a:pt x="177627" y="587083"/>
                  </a:lnTo>
                  <a:lnTo>
                    <a:pt x="139875" y="566098"/>
                  </a:lnTo>
                  <a:lnTo>
                    <a:pt x="105616" y="540184"/>
                  </a:lnTo>
                  <a:lnTo>
                    <a:pt x="75324" y="509816"/>
                  </a:lnTo>
                  <a:lnTo>
                    <a:pt x="49474" y="475472"/>
                  </a:lnTo>
                  <a:lnTo>
                    <a:pt x="28541" y="437626"/>
                  </a:lnTo>
                  <a:lnTo>
                    <a:pt x="13001" y="396756"/>
                  </a:lnTo>
                  <a:lnTo>
                    <a:pt x="3329" y="353338"/>
                  </a:lnTo>
                  <a:lnTo>
                    <a:pt x="0" y="307848"/>
                  </a:lnTo>
                  <a:close/>
                </a:path>
              </a:pathLst>
            </a:custGeom>
            <a:noFill/>
            <a:ln cap="flat" cmpd="sng" w="19050">
              <a:solidFill>
                <a:srgbClr val="186B2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pic>
        <p:nvPicPr>
          <p:cNvPr id="621" name="Google Shape;621;p47"/>
          <p:cNvPicPr preferRelativeResize="0"/>
          <p:nvPr/>
        </p:nvPicPr>
        <p:blipFill rotWithShape="1">
          <a:blip r:embed="rId3">
            <a:alphaModFix/>
          </a:blip>
          <a:srcRect b="0" l="0" r="0" t="0"/>
          <a:stretch/>
        </p:blipFill>
        <p:spPr>
          <a:xfrm>
            <a:off x="0" y="563575"/>
            <a:ext cx="11497663" cy="52657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48"/>
          <p:cNvSpPr txBox="1"/>
          <p:nvPr>
            <p:ph type="title"/>
          </p:nvPr>
        </p:nvSpPr>
        <p:spPr>
          <a:xfrm>
            <a:off x="838200" y="206861"/>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a:t>Conclusion: Software Security</a:t>
            </a:r>
            <a:endParaRPr/>
          </a:p>
        </p:txBody>
      </p:sp>
      <p:sp>
        <p:nvSpPr>
          <p:cNvPr id="627" name="Google Shape;627;p48"/>
          <p:cNvSpPr txBox="1"/>
          <p:nvPr/>
        </p:nvSpPr>
        <p:spPr>
          <a:xfrm>
            <a:off x="1030779" y="1367641"/>
            <a:ext cx="9760081" cy="5283498"/>
          </a:xfrm>
          <a:prstGeom prst="rect">
            <a:avLst/>
          </a:prstGeom>
          <a:noFill/>
          <a:ln>
            <a:noFill/>
          </a:ln>
        </p:spPr>
        <p:txBody>
          <a:bodyPr anchorCtr="0" anchor="t" bIns="0" lIns="0" spcFirstLastPara="1" rIns="0" wrap="square" tIns="12700">
            <a:spAutoFit/>
          </a:bodyPr>
          <a:lstStyle/>
          <a:p>
            <a:pPr indent="-285750" lvl="0" marL="298450" marR="0" rtl="0" algn="l">
              <a:lnSpc>
                <a:spcPct val="100000"/>
              </a:lnSpc>
              <a:spcBef>
                <a:spcPts val="0"/>
              </a:spcBef>
              <a:spcAft>
                <a:spcPts val="0"/>
              </a:spcAft>
              <a:buClr>
                <a:schemeClr val="dk1"/>
              </a:buClr>
              <a:buSzPts val="2000"/>
              <a:buFont typeface="Noto Sans Symbols"/>
              <a:buChar char="❑"/>
            </a:pPr>
            <a:r>
              <a:rPr lang="en-US" sz="2000">
                <a:solidFill>
                  <a:schemeClr val="dk1"/>
                </a:solidFill>
                <a:latin typeface="Arial"/>
                <a:ea typeface="Arial"/>
                <a:cs typeface="Arial"/>
                <a:sym typeface="Arial"/>
              </a:rPr>
              <a:t>Core Security Objectives:</a:t>
            </a:r>
            <a:endParaRPr sz="2000">
              <a:solidFill>
                <a:schemeClr val="dk1"/>
              </a:solidFill>
              <a:latin typeface="Arial"/>
              <a:ea typeface="Arial"/>
              <a:cs typeface="Arial"/>
              <a:sym typeface="Arial"/>
            </a:endParaRPr>
          </a:p>
          <a:p>
            <a:pPr indent="-287019" lvl="1" marL="756285" marR="17145"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Understand confidentiality, integrity, and availability (CIA) in software security.</a:t>
            </a:r>
            <a:endParaRPr b="0" i="0" sz="2000" u="none" cap="none" strike="noStrike">
              <a:solidFill>
                <a:schemeClr val="dk1"/>
              </a:solidFill>
              <a:latin typeface="Arial"/>
              <a:ea typeface="Arial"/>
              <a:cs typeface="Arial"/>
              <a:sym typeface="Arial"/>
            </a:endParaRPr>
          </a:p>
          <a:p>
            <a:pPr indent="-286385" lvl="1" marL="756285"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Privacy considerations are also critical in security planning.</a:t>
            </a:r>
            <a:endParaRPr b="0" i="0" sz="2000" u="none" cap="none" strike="noStrike">
              <a:solidFill>
                <a:schemeClr val="dk1"/>
              </a:solidFill>
              <a:latin typeface="Arial"/>
              <a:ea typeface="Arial"/>
              <a:cs typeface="Arial"/>
              <a:sym typeface="Arial"/>
            </a:endParaRPr>
          </a:p>
          <a:p>
            <a:pPr indent="0" lvl="1" marL="457200" marR="0" rtl="0" algn="l">
              <a:lnSpc>
                <a:spcPct val="100000"/>
              </a:lnSpc>
              <a:spcBef>
                <a:spcPts val="90"/>
              </a:spcBef>
              <a:spcAft>
                <a:spcPts val="0"/>
              </a:spcAft>
              <a:buClr>
                <a:schemeClr val="dk1"/>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285750" lvl="0" marL="298450" marR="0" rtl="0" algn="l">
              <a:lnSpc>
                <a:spcPct val="100000"/>
              </a:lnSpc>
              <a:spcBef>
                <a:spcPts val="0"/>
              </a:spcBef>
              <a:spcAft>
                <a:spcPts val="0"/>
              </a:spcAft>
              <a:buClr>
                <a:schemeClr val="dk1"/>
              </a:buClr>
              <a:buSzPts val="2000"/>
              <a:buFont typeface="Noto Sans Symbols"/>
              <a:buChar char="❑"/>
            </a:pPr>
            <a:r>
              <a:rPr lang="en-US" sz="2000">
                <a:solidFill>
                  <a:schemeClr val="dk1"/>
                </a:solidFill>
                <a:latin typeface="Arial"/>
                <a:ea typeface="Arial"/>
                <a:cs typeface="Arial"/>
                <a:sym typeface="Arial"/>
              </a:rPr>
              <a:t>Secure Software Concepts:</a:t>
            </a:r>
            <a:endParaRPr sz="2000">
              <a:solidFill>
                <a:schemeClr val="dk1"/>
              </a:solidFill>
              <a:latin typeface="Arial"/>
              <a:ea typeface="Arial"/>
              <a:cs typeface="Arial"/>
              <a:sym typeface="Arial"/>
            </a:endParaRPr>
          </a:p>
          <a:p>
            <a:pPr indent="-287019" lvl="1" marL="756285" marR="73025"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Focus on architectural decisions that are independent of platform or programming language.</a:t>
            </a:r>
            <a:endParaRPr b="0" i="0" sz="2000" u="none" cap="none" strike="noStrike">
              <a:solidFill>
                <a:schemeClr val="dk1"/>
              </a:solidFill>
              <a:latin typeface="Arial"/>
              <a:ea typeface="Arial"/>
              <a:cs typeface="Arial"/>
              <a:sym typeface="Arial"/>
            </a:endParaRPr>
          </a:p>
          <a:p>
            <a:pPr indent="-287019" lvl="1" marL="756285" marR="70231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Establish principles and abstractions to build secure software foundations.</a:t>
            </a:r>
            <a:endParaRPr b="0" i="0" sz="2000" u="none" cap="none" strike="noStrike">
              <a:solidFill>
                <a:schemeClr val="dk1"/>
              </a:solidFill>
              <a:latin typeface="Arial"/>
              <a:ea typeface="Arial"/>
              <a:cs typeface="Arial"/>
              <a:sym typeface="Arial"/>
            </a:endParaRPr>
          </a:p>
          <a:p>
            <a:pPr indent="0" lvl="1" marL="457200" marR="0" rtl="0" algn="l">
              <a:lnSpc>
                <a:spcPct val="100000"/>
              </a:lnSpc>
              <a:spcBef>
                <a:spcPts val="90"/>
              </a:spcBef>
              <a:spcAft>
                <a:spcPts val="0"/>
              </a:spcAft>
              <a:buClr>
                <a:schemeClr val="dk1"/>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285750" lvl="0" marL="298450" marR="0" rtl="0" algn="l">
              <a:lnSpc>
                <a:spcPct val="100000"/>
              </a:lnSpc>
              <a:spcBef>
                <a:spcPts val="0"/>
              </a:spcBef>
              <a:spcAft>
                <a:spcPts val="0"/>
              </a:spcAft>
              <a:buClr>
                <a:schemeClr val="dk1"/>
              </a:buClr>
              <a:buSzPts val="2000"/>
              <a:buFont typeface="Noto Sans Symbols"/>
              <a:buChar char="❑"/>
            </a:pPr>
            <a:r>
              <a:rPr lang="en-US" sz="2000">
                <a:solidFill>
                  <a:schemeClr val="dk1"/>
                </a:solidFill>
                <a:latin typeface="Arial"/>
                <a:ea typeface="Arial"/>
                <a:cs typeface="Arial"/>
                <a:sym typeface="Arial"/>
              </a:rPr>
              <a:t>Consistent Security Process:</a:t>
            </a:r>
            <a:endParaRPr sz="2000">
              <a:solidFill>
                <a:schemeClr val="dk1"/>
              </a:solidFill>
              <a:latin typeface="Arial"/>
              <a:ea typeface="Arial"/>
              <a:cs typeface="Arial"/>
              <a:sym typeface="Arial"/>
            </a:endParaRPr>
          </a:p>
          <a:p>
            <a:pPr indent="-287019" lvl="1" marL="756285" marR="41275"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Ensure secure system and software design is consistent, repeatable, measurable, and monitored across the life cycle.</a:t>
            </a:r>
            <a:endParaRPr b="0" i="0" sz="2000" u="none" cap="none" strike="noStrike">
              <a:solidFill>
                <a:schemeClr val="dk1"/>
              </a:solidFill>
              <a:latin typeface="Arial"/>
              <a:ea typeface="Arial"/>
              <a:cs typeface="Arial"/>
              <a:sym typeface="Arial"/>
            </a:endParaRPr>
          </a:p>
          <a:p>
            <a:pPr indent="0" lvl="1" marL="457200" marR="0" rtl="0" algn="l">
              <a:lnSpc>
                <a:spcPct val="100000"/>
              </a:lnSpc>
              <a:spcBef>
                <a:spcPts val="90"/>
              </a:spcBef>
              <a:spcAft>
                <a:spcPts val="0"/>
              </a:spcAft>
              <a:buClr>
                <a:schemeClr val="dk1"/>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285750" lvl="0" marL="298450" marR="0" rtl="0" algn="l">
              <a:lnSpc>
                <a:spcPct val="100000"/>
              </a:lnSpc>
              <a:spcBef>
                <a:spcPts val="0"/>
              </a:spcBef>
              <a:spcAft>
                <a:spcPts val="0"/>
              </a:spcAft>
              <a:buClr>
                <a:schemeClr val="dk1"/>
              </a:buClr>
              <a:buSzPts val="2000"/>
              <a:buFont typeface="Noto Sans Symbols"/>
              <a:buChar char="❑"/>
            </a:pPr>
            <a:r>
              <a:rPr lang="en-US" sz="2000">
                <a:solidFill>
                  <a:schemeClr val="dk1"/>
                </a:solidFill>
                <a:latin typeface="Arial"/>
                <a:ea typeface="Arial"/>
                <a:cs typeface="Arial"/>
                <a:sym typeface="Arial"/>
              </a:rPr>
              <a:t>Integration of Business and Security Goals:</a:t>
            </a:r>
            <a:endParaRPr sz="2000">
              <a:solidFill>
                <a:schemeClr val="dk1"/>
              </a:solidFill>
              <a:latin typeface="Arial"/>
              <a:ea typeface="Arial"/>
              <a:cs typeface="Arial"/>
              <a:sym typeface="Arial"/>
            </a:endParaRPr>
          </a:p>
          <a:p>
            <a:pPr indent="-287019" lvl="1" marL="756285" marR="508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Incorporate security from the beginning of the system engineering life cycle.</a:t>
            </a:r>
            <a:endParaRPr b="0" i="0" sz="2000" u="none" cap="none" strike="noStrike">
              <a:solidFill>
                <a:schemeClr val="dk1"/>
              </a:solidFill>
              <a:latin typeface="Arial"/>
              <a:ea typeface="Arial"/>
              <a:cs typeface="Arial"/>
              <a:sym typeface="Arial"/>
            </a:endParaRPr>
          </a:p>
          <a:p>
            <a:pPr indent="-287019" lvl="1" marL="756285" marR="26669"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Arial"/>
                <a:ea typeface="Arial"/>
                <a:cs typeface="Arial"/>
                <a:sym typeface="Arial"/>
              </a:rPr>
              <a:t>Governance, Risk, and Compliance (GRC) should integrate business, risk, and compliance into a manageable process.</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49"/>
          <p:cNvSpPr txBox="1"/>
          <p:nvPr>
            <p:ph type="title"/>
          </p:nvPr>
        </p:nvSpPr>
        <p:spPr>
          <a:xfrm>
            <a:off x="272126" y="4506962"/>
            <a:ext cx="10515600" cy="1500187"/>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chemeClr val="dk1"/>
              </a:buClr>
              <a:buSzPct val="100000"/>
              <a:buFont typeface="Arial"/>
              <a:buNone/>
            </a:pPr>
            <a:r>
              <a:rPr b="1" lang="en-US"/>
              <a:t>Part 4: Intelligence in Software Application</a:t>
            </a:r>
            <a:br>
              <a:rPr b="1" lang="en-US"/>
            </a:br>
            <a:br>
              <a:rPr b="1" lang="en-US"/>
            </a:br>
            <a:br>
              <a:rPr b="0" i="1" lang="en-US" sz="2400" u="none" cap="none" strike="noStrike">
                <a:solidFill>
                  <a:srgbClr val="888888"/>
                </a:solidFill>
                <a:latin typeface="Calibri"/>
                <a:ea typeface="Calibri"/>
                <a:cs typeface="Calibri"/>
                <a:sym typeface="Calibri"/>
              </a:rPr>
            </a:br>
            <a:br>
              <a:rPr b="1" lang="en-US"/>
            </a:br>
            <a:endParaRPr b="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0"/>
          <p:cNvSpPr txBox="1"/>
          <p:nvPr>
            <p:ph type="title"/>
          </p:nvPr>
        </p:nvSpPr>
        <p:spPr>
          <a:xfrm>
            <a:off x="2438400" y="526168"/>
            <a:ext cx="7772400" cy="646290"/>
          </a:xfrm>
          <a:prstGeom prst="rect">
            <a:avLst/>
          </a:prstGeom>
          <a:noFill/>
          <a:ln>
            <a:noFill/>
          </a:ln>
        </p:spPr>
        <p:txBody>
          <a:bodyPr anchorCtr="0" anchor="ctr" bIns="45700" lIns="91425" spcFirstLastPara="1" rIns="91425" wrap="square" tIns="45700">
            <a:spAutoFit/>
          </a:bodyPr>
          <a:lstStyle/>
          <a:p>
            <a:pPr indent="0" lvl="0" marL="0" rtl="0" algn="ctr">
              <a:lnSpc>
                <a:spcPct val="90000"/>
              </a:lnSpc>
              <a:spcBef>
                <a:spcPts val="0"/>
              </a:spcBef>
              <a:spcAft>
                <a:spcPts val="0"/>
              </a:spcAft>
              <a:buSzPts val="4000"/>
              <a:buFont typeface="Roboto"/>
              <a:buNone/>
            </a:pPr>
            <a:r>
              <a:rPr b="1" lang="en-US" sz="4000">
                <a:latin typeface="Roboto"/>
                <a:ea typeface="Roboto"/>
                <a:cs typeface="Roboto"/>
                <a:sym typeface="Roboto"/>
              </a:rPr>
              <a:t>What is intelligence?</a:t>
            </a:r>
            <a:endParaRPr/>
          </a:p>
        </p:txBody>
      </p:sp>
      <p:sp>
        <p:nvSpPr>
          <p:cNvPr id="639" name="Google Shape;639;p50"/>
          <p:cNvSpPr txBox="1"/>
          <p:nvPr>
            <p:ph idx="1" type="body"/>
          </p:nvPr>
        </p:nvSpPr>
        <p:spPr>
          <a:xfrm>
            <a:off x="1676400" y="2286001"/>
            <a:ext cx="6096000" cy="38449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sz="2400"/>
              <a:t>For thousands of years people tried to understand </a:t>
            </a:r>
            <a:r>
              <a:rPr i="1" lang="en-US" sz="2400"/>
              <a:t>how we think</a:t>
            </a:r>
            <a:endParaRPr/>
          </a:p>
          <a:p>
            <a:pPr indent="-342900" lvl="0" marL="342900" rtl="0" algn="l">
              <a:lnSpc>
                <a:spcPct val="90000"/>
              </a:lnSpc>
              <a:spcBef>
                <a:spcPts val="480"/>
              </a:spcBef>
              <a:spcAft>
                <a:spcPts val="0"/>
              </a:spcAft>
              <a:buSzPts val="2400"/>
              <a:buChar char="•"/>
            </a:pPr>
            <a:r>
              <a:rPr lang="en-US" sz="2400"/>
              <a:t>  Philosophy</a:t>
            </a:r>
            <a:endParaRPr/>
          </a:p>
          <a:p>
            <a:pPr indent="-342900" lvl="0" marL="342900" rtl="0" algn="l">
              <a:lnSpc>
                <a:spcPct val="90000"/>
              </a:lnSpc>
              <a:spcBef>
                <a:spcPts val="480"/>
              </a:spcBef>
              <a:spcAft>
                <a:spcPts val="0"/>
              </a:spcAft>
              <a:buSzPts val="2400"/>
              <a:buChar char="•"/>
            </a:pPr>
            <a:r>
              <a:rPr lang="en-US" sz="2400"/>
              <a:t>  Mathematics</a:t>
            </a:r>
            <a:endParaRPr/>
          </a:p>
          <a:p>
            <a:pPr indent="-285750" lvl="2" marL="1143000" rtl="0" algn="l">
              <a:lnSpc>
                <a:spcPct val="90000"/>
              </a:lnSpc>
              <a:spcBef>
                <a:spcPts val="400"/>
              </a:spcBef>
              <a:spcAft>
                <a:spcPts val="0"/>
              </a:spcAft>
              <a:buSzPts val="2000"/>
              <a:buChar char="•"/>
            </a:pPr>
            <a:r>
              <a:rPr lang="en-US"/>
              <a:t>What is correct mathematical reasoning?</a:t>
            </a:r>
            <a:endParaRPr/>
          </a:p>
          <a:p>
            <a:pPr indent="-342900" lvl="0" marL="342900" rtl="0" algn="l">
              <a:lnSpc>
                <a:spcPct val="90000"/>
              </a:lnSpc>
              <a:spcBef>
                <a:spcPts val="480"/>
              </a:spcBef>
              <a:spcAft>
                <a:spcPts val="0"/>
              </a:spcAft>
              <a:buSzPts val="2400"/>
              <a:buChar char="•"/>
            </a:pPr>
            <a:r>
              <a:rPr lang="en-US" sz="2400"/>
              <a:t>  Neuroscience</a:t>
            </a:r>
            <a:endParaRPr/>
          </a:p>
          <a:p>
            <a:pPr indent="-342900" lvl="0" marL="342900" rtl="0" algn="l">
              <a:lnSpc>
                <a:spcPct val="90000"/>
              </a:lnSpc>
              <a:spcBef>
                <a:spcPts val="480"/>
              </a:spcBef>
              <a:spcAft>
                <a:spcPts val="0"/>
              </a:spcAft>
              <a:buSzPts val="2400"/>
              <a:buChar char="•"/>
            </a:pPr>
            <a:r>
              <a:rPr lang="en-US" sz="2400"/>
              <a:t>  Psychology</a:t>
            </a:r>
            <a:endParaRPr/>
          </a:p>
          <a:p>
            <a:pPr indent="-342900" lvl="0" marL="342900" rtl="0" algn="l">
              <a:lnSpc>
                <a:spcPct val="90000"/>
              </a:lnSpc>
              <a:spcBef>
                <a:spcPts val="480"/>
              </a:spcBef>
              <a:spcAft>
                <a:spcPts val="0"/>
              </a:spcAft>
              <a:buSzPts val="2400"/>
              <a:buChar char="•"/>
            </a:pPr>
            <a:r>
              <a:rPr lang="en-US" sz="2400"/>
              <a:t>  Economics</a:t>
            </a:r>
            <a:endParaRPr/>
          </a:p>
          <a:p>
            <a:pPr indent="0" lvl="0" marL="0" rtl="0" algn="l">
              <a:lnSpc>
                <a:spcPct val="90000"/>
              </a:lnSpc>
              <a:spcBef>
                <a:spcPts val="480"/>
              </a:spcBef>
              <a:spcAft>
                <a:spcPts val="0"/>
              </a:spcAft>
              <a:buSzPts val="2400"/>
              <a:buNone/>
            </a:pPr>
            <a:r>
              <a:t/>
            </a:r>
            <a:endParaRPr sz="2400"/>
          </a:p>
        </p:txBody>
      </p:sp>
      <p:sp>
        <p:nvSpPr>
          <p:cNvPr id="640" name="Google Shape;640;p50"/>
          <p:cNvSpPr/>
          <p:nvPr/>
        </p:nvSpPr>
        <p:spPr>
          <a:xfrm>
            <a:off x="2971800" y="1556822"/>
            <a:ext cx="7696200" cy="369332"/>
          </a:xfrm>
          <a:prstGeom prst="wedgeRectCallout">
            <a:avLst>
              <a:gd fmla="val 14931" name="adj1"/>
              <a:gd fmla="val -141104" name="adj2"/>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the ability to comprehend, to understand and profit from experience?</a:t>
            </a:r>
            <a:endParaRPr sz="1800">
              <a:solidFill>
                <a:schemeClr val="dk1"/>
              </a:solidFill>
              <a:latin typeface="Calibri"/>
              <a:ea typeface="Calibri"/>
              <a:cs typeface="Calibri"/>
              <a:sym typeface="Calibri"/>
            </a:endParaRPr>
          </a:p>
        </p:txBody>
      </p:sp>
      <p:pic>
        <p:nvPicPr>
          <p:cNvPr id="641" name="Google Shape;641;p50"/>
          <p:cNvPicPr preferRelativeResize="0"/>
          <p:nvPr/>
        </p:nvPicPr>
        <p:blipFill rotWithShape="1">
          <a:blip r:embed="rId3">
            <a:alphaModFix/>
          </a:blip>
          <a:srcRect b="0" l="0" r="0" t="0"/>
          <a:stretch/>
        </p:blipFill>
        <p:spPr>
          <a:xfrm>
            <a:off x="7344776" y="2328767"/>
            <a:ext cx="2293525" cy="3019616"/>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64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7" name="Google Shape;647;p51"/>
          <p:cNvSpPr txBox="1"/>
          <p:nvPr>
            <p:ph idx="4294967295" type="title"/>
          </p:nvPr>
        </p:nvSpPr>
        <p:spPr>
          <a:xfrm>
            <a:off x="4419600" y="80963"/>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Roboto"/>
              <a:buNone/>
            </a:pPr>
            <a:r>
              <a:rPr b="1" lang="en-US">
                <a:latin typeface="Roboto"/>
                <a:ea typeface="Roboto"/>
                <a:cs typeface="Roboto"/>
                <a:sym typeface="Roboto"/>
              </a:rPr>
              <a:t>Intelligence</a:t>
            </a:r>
            <a:endParaRPr/>
          </a:p>
        </p:txBody>
      </p:sp>
      <p:pic>
        <p:nvPicPr>
          <p:cNvPr descr="Theories of Intelligence in Psychology" id="648" name="Google Shape;648;p51"/>
          <p:cNvPicPr preferRelativeResize="0"/>
          <p:nvPr/>
        </p:nvPicPr>
        <p:blipFill rotWithShape="1">
          <a:blip r:embed="rId3">
            <a:alphaModFix/>
          </a:blip>
          <a:srcRect b="5713" l="0" r="0" t="9071"/>
          <a:stretch/>
        </p:blipFill>
        <p:spPr>
          <a:xfrm>
            <a:off x="1524000" y="1152146"/>
            <a:ext cx="9144000" cy="5327313"/>
          </a:xfrm>
          <a:prstGeom prst="rect">
            <a:avLst/>
          </a:prstGeom>
          <a:noFill/>
          <a:ln>
            <a:noFill/>
          </a:ln>
        </p:spPr>
      </p:pic>
      <p:sp>
        <p:nvSpPr>
          <p:cNvPr id="649" name="Google Shape;649;p51"/>
          <p:cNvSpPr txBox="1"/>
          <p:nvPr/>
        </p:nvSpPr>
        <p:spPr>
          <a:xfrm>
            <a:off x="3810000" y="3326732"/>
            <a:ext cx="4572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Roboto"/>
                <a:ea typeface="Roboto"/>
                <a:cs typeface="Roboto"/>
                <a:sym typeface="Roboto"/>
              </a:rPr>
              <a:t>intelligence</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1F1F1F"/>
              </a:buClr>
              <a:buSzPts val="4000"/>
              <a:buFont typeface="Arial"/>
              <a:buNone/>
            </a:pPr>
            <a:r>
              <a:rPr b="0" i="0" lang="en-US">
                <a:solidFill>
                  <a:srgbClr val="1F1F1F"/>
                </a:solidFill>
                <a:latin typeface="Arial"/>
                <a:ea typeface="Arial"/>
                <a:cs typeface="Arial"/>
                <a:sym typeface="Arial"/>
              </a:rPr>
              <a:t>Definition: Intelligent software</a:t>
            </a:r>
            <a:endParaRPr/>
          </a:p>
        </p:txBody>
      </p:sp>
      <p:sp>
        <p:nvSpPr>
          <p:cNvPr id="655" name="Google Shape;655;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1F1F1F"/>
              </a:buClr>
              <a:buSzPts val="2800"/>
              <a:buChar char="•"/>
            </a:pPr>
            <a:r>
              <a:rPr b="0" i="0" lang="en-US">
                <a:solidFill>
                  <a:srgbClr val="1F1F1F"/>
                </a:solidFill>
                <a:latin typeface="Arial"/>
                <a:ea typeface="Arial"/>
                <a:cs typeface="Arial"/>
                <a:sym typeface="Arial"/>
              </a:rPr>
              <a:t>Software that has a good understanding of a multitude of areas and is able to apply this understanding to solving problems; to figure things out, calculate, predict, manage, and analyze. </a:t>
            </a:r>
            <a:endParaRPr/>
          </a:p>
          <a:p>
            <a:pPr indent="-228600" lvl="0" marL="228600" rtl="0" algn="l">
              <a:lnSpc>
                <a:spcPct val="90000"/>
              </a:lnSpc>
              <a:spcBef>
                <a:spcPts val="1000"/>
              </a:spcBef>
              <a:spcAft>
                <a:spcPts val="0"/>
              </a:spcAft>
              <a:buClr>
                <a:srgbClr val="1F1F1F"/>
              </a:buClr>
              <a:buSzPts val="2800"/>
              <a:buChar char="•"/>
            </a:pPr>
            <a:r>
              <a:rPr b="0" i="0" lang="en-US">
                <a:solidFill>
                  <a:srgbClr val="1F1F1F"/>
                </a:solidFill>
                <a:latin typeface="Arial"/>
                <a:ea typeface="Arial"/>
                <a:cs typeface="Arial"/>
                <a:sym typeface="Arial"/>
              </a:rPr>
              <a:t>Able to learn and apply the material of any subject and at any level of complexity. </a:t>
            </a:r>
            <a:endParaRPr/>
          </a:p>
          <a:p>
            <a:pPr indent="-228600" lvl="0" marL="228600" rtl="0" algn="l">
              <a:lnSpc>
                <a:spcPct val="90000"/>
              </a:lnSpc>
              <a:spcBef>
                <a:spcPts val="1000"/>
              </a:spcBef>
              <a:spcAft>
                <a:spcPts val="0"/>
              </a:spcAft>
              <a:buClr>
                <a:srgbClr val="1F1F1F"/>
              </a:buClr>
              <a:buSzPts val="2800"/>
              <a:buChar char="•"/>
            </a:pPr>
            <a:r>
              <a:rPr b="0" i="0" lang="en-US">
                <a:solidFill>
                  <a:srgbClr val="1F1F1F"/>
                </a:solidFill>
                <a:latin typeface="Arial"/>
                <a:ea typeface="Arial"/>
                <a:cs typeface="Arial"/>
                <a:sym typeface="Arial"/>
              </a:rPr>
              <a:t>It should transfer to the computer the ability to increasingly do the tasks that we now do as humans.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400"/>
              <a:buChar char="•"/>
            </a:pPr>
            <a:r>
              <a:rPr lang="en-US" sz="2400"/>
              <a:t>Reference: Feigenbaum, T. D. (2016). </a:t>
            </a:r>
            <a:r>
              <a:rPr i="1" lang="en-US" sz="2400"/>
              <a:t>Building intelligent information systems software</a:t>
            </a:r>
            <a:r>
              <a:rPr lang="en-US" sz="2400"/>
              <a:t>. Morgan Kaufmann.</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3"/>
          <p:cNvSpPr txBox="1"/>
          <p:nvPr/>
        </p:nvSpPr>
        <p:spPr>
          <a:xfrm>
            <a:off x="1524000" y="277813"/>
            <a:ext cx="9144001" cy="11430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What is AI? : </a:t>
            </a:r>
            <a:r>
              <a:rPr b="1" lang="en-US" sz="3200">
                <a:solidFill>
                  <a:srgbClr val="C00000"/>
                </a:solidFill>
                <a:latin typeface="Roboto"/>
                <a:ea typeface="Roboto"/>
                <a:cs typeface="Roboto"/>
                <a:sym typeface="Roboto"/>
              </a:rPr>
              <a:t>From the book…</a:t>
            </a:r>
            <a:endParaRPr sz="1800">
              <a:solidFill>
                <a:schemeClr val="dk1"/>
              </a:solidFill>
              <a:latin typeface="Calibri"/>
              <a:ea typeface="Calibri"/>
              <a:cs typeface="Calibri"/>
              <a:sym typeface="Calibri"/>
            </a:endParaRPr>
          </a:p>
        </p:txBody>
      </p:sp>
      <p:sp>
        <p:nvSpPr>
          <p:cNvPr id="662" name="Google Shape;662;p53"/>
          <p:cNvSpPr/>
          <p:nvPr/>
        </p:nvSpPr>
        <p:spPr>
          <a:xfrm>
            <a:off x="1752600" y="1604026"/>
            <a:ext cx="8382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Artificial Intelligence is composed of two words </a:t>
            </a:r>
            <a:r>
              <a:rPr b="1" lang="en-US" sz="1800">
                <a:solidFill>
                  <a:srgbClr val="000000"/>
                </a:solidFill>
                <a:latin typeface="verdana"/>
                <a:ea typeface="verdana"/>
                <a:cs typeface="verdana"/>
                <a:sym typeface="verdana"/>
              </a:rPr>
              <a:t>Artificial</a:t>
            </a:r>
            <a:r>
              <a:rPr lang="en-US" sz="1800">
                <a:solidFill>
                  <a:srgbClr val="000000"/>
                </a:solidFill>
                <a:latin typeface="verdana"/>
                <a:ea typeface="verdana"/>
                <a:cs typeface="verdana"/>
                <a:sym typeface="verdana"/>
              </a:rPr>
              <a:t> and </a:t>
            </a:r>
            <a:r>
              <a:rPr b="1" lang="en-US" sz="1800">
                <a:solidFill>
                  <a:srgbClr val="000000"/>
                </a:solidFill>
                <a:latin typeface="verdana"/>
                <a:ea typeface="verdana"/>
                <a:cs typeface="verdana"/>
                <a:sym typeface="verdana"/>
              </a:rPr>
              <a:t>Intelligence</a:t>
            </a:r>
            <a:r>
              <a:rPr lang="en-US" sz="1800">
                <a:solidFill>
                  <a:srgbClr val="000000"/>
                </a:solidFill>
                <a:latin typeface="verdana"/>
                <a:ea typeface="verdana"/>
                <a:cs typeface="verdana"/>
                <a:sym typeface="verdana"/>
              </a:rPr>
              <a:t>, where Artificial defines </a:t>
            </a:r>
            <a:r>
              <a:rPr i="1" lang="en-US" sz="1800">
                <a:solidFill>
                  <a:srgbClr val="000000"/>
                </a:solidFill>
                <a:latin typeface="verdana"/>
                <a:ea typeface="verdana"/>
                <a:cs typeface="verdana"/>
                <a:sym typeface="verdana"/>
              </a:rPr>
              <a:t>"man-made,"</a:t>
            </a:r>
            <a:r>
              <a:rPr lang="en-US" sz="1800">
                <a:solidFill>
                  <a:srgbClr val="000000"/>
                </a:solidFill>
                <a:latin typeface="verdana"/>
                <a:ea typeface="verdana"/>
                <a:cs typeface="verdana"/>
                <a:sym typeface="verdana"/>
              </a:rPr>
              <a:t> and intelligence defines </a:t>
            </a:r>
            <a:r>
              <a:rPr i="1" lang="en-US" sz="1800">
                <a:solidFill>
                  <a:srgbClr val="000000"/>
                </a:solidFill>
                <a:latin typeface="verdana"/>
                <a:ea typeface="verdana"/>
                <a:cs typeface="verdana"/>
                <a:sym typeface="verdana"/>
              </a:rPr>
              <a:t>"thinking power"</a:t>
            </a:r>
            <a:r>
              <a:rPr lang="en-US" sz="1800">
                <a:solidFill>
                  <a:srgbClr val="000000"/>
                </a:solidFill>
                <a:latin typeface="verdana"/>
                <a:ea typeface="verdana"/>
                <a:cs typeface="verdana"/>
                <a:sym typeface="verdana"/>
              </a:rPr>
              <a:t>, hence AI means </a:t>
            </a:r>
            <a:r>
              <a:rPr i="1" lang="en-US" sz="1800">
                <a:solidFill>
                  <a:srgbClr val="000000"/>
                </a:solidFill>
                <a:latin typeface="verdana"/>
                <a:ea typeface="verdana"/>
                <a:cs typeface="verdana"/>
                <a:sym typeface="verdana"/>
              </a:rPr>
              <a:t>"a man-made thinking power."</a:t>
            </a:r>
            <a:endParaRPr sz="1800">
              <a:solidFill>
                <a:schemeClr val="dk1"/>
              </a:solidFill>
              <a:latin typeface="Calibri"/>
              <a:ea typeface="Calibri"/>
              <a:cs typeface="Calibri"/>
              <a:sym typeface="Calibri"/>
            </a:endParaRPr>
          </a:p>
        </p:txBody>
      </p:sp>
      <p:pic>
        <p:nvPicPr>
          <p:cNvPr descr="Image result for programmer icon" id="663" name="Google Shape;663;p53"/>
          <p:cNvPicPr preferRelativeResize="0"/>
          <p:nvPr/>
        </p:nvPicPr>
        <p:blipFill rotWithShape="1">
          <a:blip r:embed="rId3">
            <a:alphaModFix/>
          </a:blip>
          <a:srcRect b="0" l="0" r="0" t="0"/>
          <a:stretch/>
        </p:blipFill>
        <p:spPr>
          <a:xfrm>
            <a:off x="2699224" y="3048001"/>
            <a:ext cx="1771177" cy="1771177"/>
          </a:xfrm>
          <a:prstGeom prst="rect">
            <a:avLst/>
          </a:prstGeom>
          <a:noFill/>
          <a:ln>
            <a:noFill/>
          </a:ln>
        </p:spPr>
      </p:pic>
      <p:sp>
        <p:nvSpPr>
          <p:cNvPr id="664" name="Google Shape;664;p53"/>
          <p:cNvSpPr/>
          <p:nvPr/>
        </p:nvSpPr>
        <p:spPr>
          <a:xfrm>
            <a:off x="4495800" y="3333424"/>
            <a:ext cx="4572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mbria"/>
                <a:ea typeface="Cambria"/>
                <a:cs typeface="Cambria"/>
                <a:sym typeface="Cambria"/>
              </a:rPr>
              <a:t>"It is a branch of computer science by which </a:t>
            </a:r>
            <a:r>
              <a:rPr b="1" lang="en-US" sz="1800">
                <a:solidFill>
                  <a:srgbClr val="000000"/>
                </a:solidFill>
                <a:latin typeface="Cambria"/>
                <a:ea typeface="Cambria"/>
                <a:cs typeface="Cambria"/>
                <a:sym typeface="Cambria"/>
              </a:rPr>
              <a:t>we</a:t>
            </a:r>
            <a:r>
              <a:rPr lang="en-US" sz="1800">
                <a:solidFill>
                  <a:srgbClr val="000000"/>
                </a:solidFill>
                <a:latin typeface="Cambria"/>
                <a:ea typeface="Cambria"/>
                <a:cs typeface="Cambria"/>
                <a:sym typeface="Cambria"/>
              </a:rPr>
              <a:t> can </a:t>
            </a:r>
            <a:r>
              <a:rPr b="1" lang="en-US" sz="1800">
                <a:solidFill>
                  <a:srgbClr val="000000"/>
                </a:solidFill>
                <a:latin typeface="Cambria"/>
                <a:ea typeface="Cambria"/>
                <a:cs typeface="Cambria"/>
                <a:sym typeface="Cambria"/>
              </a:rPr>
              <a:t>create intelligent machines </a:t>
            </a:r>
            <a:r>
              <a:rPr lang="en-US" sz="1800">
                <a:solidFill>
                  <a:srgbClr val="000000"/>
                </a:solidFill>
                <a:latin typeface="Cambria"/>
                <a:ea typeface="Cambria"/>
                <a:cs typeface="Cambria"/>
                <a:sym typeface="Cambria"/>
              </a:rPr>
              <a:t>which can </a:t>
            </a:r>
            <a:r>
              <a:rPr b="1" lang="en-US" sz="1800">
                <a:solidFill>
                  <a:srgbClr val="000000"/>
                </a:solidFill>
                <a:latin typeface="Cambria"/>
                <a:ea typeface="Cambria"/>
                <a:cs typeface="Cambria"/>
                <a:sym typeface="Cambria"/>
              </a:rPr>
              <a:t>behave like a human, think like humans, and able to make decisions</a:t>
            </a:r>
            <a:r>
              <a:rPr lang="en-US" sz="1800">
                <a:solidFill>
                  <a:srgbClr val="000000"/>
                </a:solidFill>
                <a:latin typeface="Cambria"/>
                <a:ea typeface="Cambria"/>
                <a:cs typeface="Cambria"/>
                <a:sym typeface="Cambria"/>
              </a:rPr>
              <a:t>." </a:t>
            </a:r>
            <a:endParaRPr sz="1800">
              <a:solidFill>
                <a:schemeClr val="dk1"/>
              </a:solidFill>
              <a:latin typeface="Calibri"/>
              <a:ea typeface="Calibri"/>
              <a:cs typeface="Calibri"/>
              <a:sym typeface="Calibri"/>
            </a:endParaRPr>
          </a:p>
        </p:txBody>
      </p:sp>
      <p:sp>
        <p:nvSpPr>
          <p:cNvPr id="665" name="Google Shape;665;p53"/>
          <p:cNvSpPr/>
          <p:nvPr/>
        </p:nvSpPr>
        <p:spPr>
          <a:xfrm>
            <a:off x="2095500" y="5084396"/>
            <a:ext cx="7696200" cy="923330"/>
          </a:xfrm>
          <a:prstGeom prst="rect">
            <a:avLst/>
          </a:prstGeom>
          <a:solidFill>
            <a:srgbClr val="B7CCE4"/>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000000"/>
                </a:solidFill>
                <a:latin typeface="verdana"/>
                <a:ea typeface="verdana"/>
                <a:cs typeface="verdana"/>
                <a:sym typeface="verdana"/>
              </a:rPr>
              <a:t>Artificial Intelligence </a:t>
            </a:r>
            <a:r>
              <a:rPr lang="en-US" sz="1800">
                <a:solidFill>
                  <a:srgbClr val="000000"/>
                </a:solidFill>
                <a:latin typeface="verdana"/>
                <a:ea typeface="verdana"/>
                <a:cs typeface="verdana"/>
                <a:sym typeface="verdana"/>
              </a:rPr>
              <a:t>exists when a machine can have human based </a:t>
            </a:r>
            <a:r>
              <a:rPr b="1" lang="en-US" sz="1800">
                <a:solidFill>
                  <a:srgbClr val="000000"/>
                </a:solidFill>
                <a:latin typeface="verdana"/>
                <a:ea typeface="verdana"/>
                <a:cs typeface="verdana"/>
                <a:sym typeface="verdana"/>
              </a:rPr>
              <a:t>skills</a:t>
            </a:r>
            <a:r>
              <a:rPr lang="en-US" sz="1800">
                <a:solidFill>
                  <a:srgbClr val="000000"/>
                </a:solidFill>
                <a:latin typeface="verdana"/>
                <a:ea typeface="verdana"/>
                <a:cs typeface="verdana"/>
                <a:sym typeface="verdana"/>
              </a:rPr>
              <a:t> such as </a:t>
            </a:r>
            <a:r>
              <a:rPr b="1" lang="en-US" sz="1800">
                <a:solidFill>
                  <a:srgbClr val="000000"/>
                </a:solidFill>
                <a:latin typeface="verdana"/>
                <a:ea typeface="verdana"/>
                <a:cs typeface="verdana"/>
                <a:sym typeface="verdana"/>
              </a:rPr>
              <a:t>learning</a:t>
            </a:r>
            <a:r>
              <a:rPr lang="en-US" sz="1800">
                <a:solidFill>
                  <a:srgbClr val="000000"/>
                </a:solidFill>
                <a:latin typeface="verdana"/>
                <a:ea typeface="verdana"/>
                <a:cs typeface="verdana"/>
                <a:sym typeface="verdana"/>
              </a:rPr>
              <a:t>, </a:t>
            </a:r>
            <a:r>
              <a:rPr b="1" lang="en-US" sz="1800">
                <a:solidFill>
                  <a:srgbClr val="000000"/>
                </a:solidFill>
                <a:latin typeface="verdana"/>
                <a:ea typeface="verdana"/>
                <a:cs typeface="verdana"/>
                <a:sym typeface="verdana"/>
              </a:rPr>
              <a:t>reasoning</a:t>
            </a:r>
            <a:r>
              <a:rPr lang="en-US" sz="1800">
                <a:solidFill>
                  <a:srgbClr val="000000"/>
                </a:solidFill>
                <a:latin typeface="verdana"/>
                <a:ea typeface="verdana"/>
                <a:cs typeface="verdana"/>
                <a:sym typeface="verdana"/>
              </a:rPr>
              <a:t>, and </a:t>
            </a:r>
            <a:r>
              <a:rPr b="1" lang="en-US" sz="1800">
                <a:solidFill>
                  <a:srgbClr val="000000"/>
                </a:solidFill>
                <a:latin typeface="verdana"/>
                <a:ea typeface="verdana"/>
                <a:cs typeface="verdana"/>
                <a:sym typeface="verdana"/>
              </a:rPr>
              <a:t>solving problems</a:t>
            </a:r>
            <a:r>
              <a:rPr lang="en-US" sz="1800">
                <a:solidFill>
                  <a:srgbClr val="000000"/>
                </a:solidFill>
                <a:latin typeface="verdana"/>
                <a:ea typeface="verdana"/>
                <a:cs typeface="verdana"/>
                <a:sym typeface="verdana"/>
              </a:rPr>
              <a:t>.</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54"/>
          <p:cNvSpPr txBox="1"/>
          <p:nvPr>
            <p:ph type="title"/>
          </p:nvPr>
        </p:nvSpPr>
        <p:spPr>
          <a:xfrm>
            <a:off x="1676400" y="498468"/>
            <a:ext cx="8991600" cy="701690"/>
          </a:xfrm>
          <a:prstGeom prst="rect">
            <a:avLst/>
          </a:prstGeom>
          <a:noFill/>
          <a:ln>
            <a:noFill/>
          </a:ln>
        </p:spPr>
        <p:txBody>
          <a:bodyPr anchorCtr="0" anchor="ctr" bIns="45700" lIns="91425" spcFirstLastPara="1" rIns="91425" wrap="square" tIns="45700">
            <a:spAutoFit/>
          </a:bodyPr>
          <a:lstStyle/>
          <a:p>
            <a:pPr indent="0" lvl="0" marL="0" rtl="0" algn="ctr">
              <a:lnSpc>
                <a:spcPct val="90000"/>
              </a:lnSpc>
              <a:spcBef>
                <a:spcPts val="0"/>
              </a:spcBef>
              <a:spcAft>
                <a:spcPts val="0"/>
              </a:spcAft>
              <a:buSzPts val="4400"/>
              <a:buFont typeface="Roboto"/>
              <a:buNone/>
            </a:pPr>
            <a:r>
              <a:rPr b="1" lang="en-US">
                <a:latin typeface="Roboto"/>
                <a:ea typeface="Roboto"/>
                <a:cs typeface="Roboto"/>
                <a:sym typeface="Roboto"/>
              </a:rPr>
              <a:t>Area of AI?</a:t>
            </a:r>
            <a:endParaRPr/>
          </a:p>
        </p:txBody>
      </p:sp>
      <p:pic>
        <p:nvPicPr>
          <p:cNvPr id="671" name="Google Shape;671;p54"/>
          <p:cNvPicPr preferRelativeResize="0"/>
          <p:nvPr/>
        </p:nvPicPr>
        <p:blipFill rotWithShape="1">
          <a:blip r:embed="rId3">
            <a:alphaModFix/>
          </a:blip>
          <a:srcRect b="0" l="0" r="0" t="6296"/>
          <a:stretch/>
        </p:blipFill>
        <p:spPr>
          <a:xfrm>
            <a:off x="1743075" y="1200158"/>
            <a:ext cx="7452360" cy="455771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55"/>
          <p:cNvSpPr txBox="1"/>
          <p:nvPr/>
        </p:nvSpPr>
        <p:spPr>
          <a:xfrm>
            <a:off x="1524000" y="277813"/>
            <a:ext cx="9144001" cy="11430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1" lang="en-US" sz="3200">
                <a:solidFill>
                  <a:schemeClr val="dk1"/>
                </a:solidFill>
                <a:latin typeface="Roboto"/>
                <a:ea typeface="Roboto"/>
                <a:cs typeface="Roboto"/>
                <a:sym typeface="Roboto"/>
              </a:rPr>
              <a:t>What comprises to Artificial Intelligence?</a:t>
            </a:r>
            <a:endParaRPr b="1" sz="3200">
              <a:solidFill>
                <a:srgbClr val="C00000"/>
              </a:solidFill>
              <a:latin typeface="Roboto"/>
              <a:ea typeface="Roboto"/>
              <a:cs typeface="Roboto"/>
              <a:sym typeface="Roboto"/>
            </a:endParaRPr>
          </a:p>
        </p:txBody>
      </p:sp>
      <p:sp>
        <p:nvSpPr>
          <p:cNvPr id="678" name="Google Shape;678;p55"/>
          <p:cNvSpPr txBox="1"/>
          <p:nvPr>
            <p:ph idx="1" type="body"/>
          </p:nvPr>
        </p:nvSpPr>
        <p:spPr>
          <a:xfrm>
            <a:off x="5783880" y="1420813"/>
            <a:ext cx="5986942" cy="511648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000"/>
              <a:buNone/>
            </a:pPr>
            <a:r>
              <a:rPr lang="en-US" sz="2000"/>
              <a:t>Artificial Intelligence is not just a part of computer science even it's so vast and requires lots of other factors which can contribute to it. To create the AI first we should know that how intelligence is composed, so the Intelligence is an intangible part of our brain which is</a:t>
            </a:r>
            <a:r>
              <a:rPr b="1" lang="en-US" sz="2000" u="sng"/>
              <a:t> a combination of Reasoning, learning, problem-solving perception, language understanding, etc.</a:t>
            </a:r>
            <a:endParaRPr sz="2000"/>
          </a:p>
          <a:p>
            <a:pPr indent="0" lvl="0" marL="0" rtl="0" algn="l">
              <a:lnSpc>
                <a:spcPct val="90000"/>
              </a:lnSpc>
              <a:spcBef>
                <a:spcPts val="306"/>
              </a:spcBef>
              <a:spcAft>
                <a:spcPts val="0"/>
              </a:spcAft>
              <a:buClr>
                <a:schemeClr val="dk1"/>
              </a:buClr>
              <a:buSzPts val="2000"/>
              <a:buNone/>
            </a:pPr>
            <a:r>
              <a:t/>
            </a:r>
            <a:endParaRPr b="1" sz="2000"/>
          </a:p>
          <a:p>
            <a:pPr indent="0" lvl="0" marL="0" rtl="0" algn="l">
              <a:lnSpc>
                <a:spcPct val="90000"/>
              </a:lnSpc>
              <a:spcBef>
                <a:spcPts val="306"/>
              </a:spcBef>
              <a:spcAft>
                <a:spcPts val="0"/>
              </a:spcAft>
              <a:buClr>
                <a:schemeClr val="dk1"/>
              </a:buClr>
              <a:buSzPts val="2000"/>
              <a:buNone/>
            </a:pPr>
            <a:r>
              <a:rPr lang="en-US" sz="2000"/>
              <a:t>To achieve the above factors for a machine or software Artificial Intelligence requires the following discipline:</a:t>
            </a:r>
            <a:endParaRPr sz="2000"/>
          </a:p>
          <a:p>
            <a:pPr indent="-457200" lvl="0" marL="457200" rtl="0" algn="l">
              <a:lnSpc>
                <a:spcPct val="90000"/>
              </a:lnSpc>
              <a:spcBef>
                <a:spcPts val="306"/>
              </a:spcBef>
              <a:spcAft>
                <a:spcPts val="0"/>
              </a:spcAft>
              <a:buClr>
                <a:schemeClr val="dk1"/>
              </a:buClr>
              <a:buSzPts val="2000"/>
              <a:buFont typeface="Calibri"/>
              <a:buAutoNum type="arabicPeriod"/>
            </a:pPr>
            <a:r>
              <a:rPr lang="en-US" sz="2000"/>
              <a:t>Mathematics</a:t>
            </a:r>
            <a:endParaRPr sz="2000"/>
          </a:p>
          <a:p>
            <a:pPr indent="-457200" lvl="0" marL="457200" rtl="0" algn="l">
              <a:lnSpc>
                <a:spcPct val="90000"/>
              </a:lnSpc>
              <a:spcBef>
                <a:spcPts val="306"/>
              </a:spcBef>
              <a:spcAft>
                <a:spcPts val="0"/>
              </a:spcAft>
              <a:buClr>
                <a:schemeClr val="dk1"/>
              </a:buClr>
              <a:buSzPts val="2000"/>
              <a:buFont typeface="Calibri"/>
              <a:buAutoNum type="arabicPeriod"/>
            </a:pPr>
            <a:r>
              <a:rPr lang="en-US" sz="2000"/>
              <a:t>Biology</a:t>
            </a:r>
            <a:endParaRPr sz="2000"/>
          </a:p>
          <a:p>
            <a:pPr indent="-457200" lvl="0" marL="457200" rtl="0" algn="l">
              <a:lnSpc>
                <a:spcPct val="90000"/>
              </a:lnSpc>
              <a:spcBef>
                <a:spcPts val="306"/>
              </a:spcBef>
              <a:spcAft>
                <a:spcPts val="0"/>
              </a:spcAft>
              <a:buClr>
                <a:schemeClr val="dk1"/>
              </a:buClr>
              <a:buSzPts val="2000"/>
              <a:buFont typeface="Calibri"/>
              <a:buAutoNum type="arabicPeriod"/>
            </a:pPr>
            <a:r>
              <a:rPr lang="en-US" sz="2000"/>
              <a:t>Psychology</a:t>
            </a:r>
            <a:endParaRPr sz="2000"/>
          </a:p>
          <a:p>
            <a:pPr indent="-457200" lvl="0" marL="457200" rtl="0" algn="l">
              <a:lnSpc>
                <a:spcPct val="90000"/>
              </a:lnSpc>
              <a:spcBef>
                <a:spcPts val="306"/>
              </a:spcBef>
              <a:spcAft>
                <a:spcPts val="0"/>
              </a:spcAft>
              <a:buClr>
                <a:schemeClr val="dk1"/>
              </a:buClr>
              <a:buSzPts val="2000"/>
              <a:buFont typeface="Calibri"/>
              <a:buAutoNum type="arabicPeriod"/>
            </a:pPr>
            <a:r>
              <a:rPr lang="en-US" sz="2000"/>
              <a:t>Sociology</a:t>
            </a:r>
            <a:endParaRPr sz="2000"/>
          </a:p>
          <a:p>
            <a:pPr indent="-457200" lvl="0" marL="457200" rtl="0" algn="l">
              <a:lnSpc>
                <a:spcPct val="90000"/>
              </a:lnSpc>
              <a:spcBef>
                <a:spcPts val="306"/>
              </a:spcBef>
              <a:spcAft>
                <a:spcPts val="0"/>
              </a:spcAft>
              <a:buClr>
                <a:schemeClr val="dk1"/>
              </a:buClr>
              <a:buSzPts val="2000"/>
              <a:buFont typeface="Calibri"/>
              <a:buAutoNum type="arabicPeriod"/>
            </a:pPr>
            <a:r>
              <a:rPr lang="en-US" sz="2000"/>
              <a:t>Computer Science</a:t>
            </a:r>
            <a:endParaRPr sz="2000"/>
          </a:p>
          <a:p>
            <a:pPr indent="-457200" lvl="0" marL="457200" rtl="0" algn="l">
              <a:lnSpc>
                <a:spcPct val="90000"/>
              </a:lnSpc>
              <a:spcBef>
                <a:spcPts val="306"/>
              </a:spcBef>
              <a:spcAft>
                <a:spcPts val="0"/>
              </a:spcAft>
              <a:buClr>
                <a:schemeClr val="dk1"/>
              </a:buClr>
              <a:buSzPts val="2000"/>
              <a:buFont typeface="Calibri"/>
              <a:buAutoNum type="arabicPeriod"/>
            </a:pPr>
            <a:r>
              <a:rPr lang="en-US" sz="2000"/>
              <a:t>Neurons Study</a:t>
            </a:r>
            <a:endParaRPr sz="2000"/>
          </a:p>
          <a:p>
            <a:pPr indent="-457200" lvl="0" marL="457200" rtl="0" algn="l">
              <a:lnSpc>
                <a:spcPct val="90000"/>
              </a:lnSpc>
              <a:spcBef>
                <a:spcPts val="306"/>
              </a:spcBef>
              <a:spcAft>
                <a:spcPts val="0"/>
              </a:spcAft>
              <a:buClr>
                <a:schemeClr val="dk1"/>
              </a:buClr>
              <a:buSzPts val="2000"/>
              <a:buFont typeface="Calibri"/>
              <a:buAutoNum type="arabicPeriod"/>
            </a:pPr>
            <a:r>
              <a:rPr lang="en-US" sz="2000"/>
              <a:t>Statistics</a:t>
            </a:r>
            <a:endParaRPr sz="2000"/>
          </a:p>
        </p:txBody>
      </p:sp>
      <p:pic>
        <p:nvPicPr>
          <p:cNvPr id="679" name="Google Shape;679;p55"/>
          <p:cNvPicPr preferRelativeResize="0"/>
          <p:nvPr/>
        </p:nvPicPr>
        <p:blipFill rotWithShape="1">
          <a:blip r:embed="rId3">
            <a:alphaModFix/>
          </a:blip>
          <a:srcRect b="0" l="0" r="0" t="0"/>
          <a:stretch/>
        </p:blipFill>
        <p:spPr>
          <a:xfrm>
            <a:off x="1052035" y="1600201"/>
            <a:ext cx="4488944" cy="414496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Main Current Stream in AI</a:t>
            </a:r>
            <a:endParaRPr/>
          </a:p>
        </p:txBody>
      </p:sp>
      <p:pic>
        <p:nvPicPr>
          <p:cNvPr id="686" name="Google Shape;686;p56"/>
          <p:cNvPicPr preferRelativeResize="0"/>
          <p:nvPr/>
        </p:nvPicPr>
        <p:blipFill rotWithShape="1">
          <a:blip r:embed="rId3">
            <a:alphaModFix/>
          </a:blip>
          <a:srcRect b="0" l="0" r="0" t="0"/>
          <a:stretch/>
        </p:blipFill>
        <p:spPr>
          <a:xfrm>
            <a:off x="1583228" y="1417638"/>
            <a:ext cx="9025543" cy="4308763"/>
          </a:xfrm>
          <a:prstGeom prst="rect">
            <a:avLst/>
          </a:prstGeom>
          <a:noFill/>
          <a:ln>
            <a:noFill/>
          </a:ln>
        </p:spPr>
      </p:pic>
      <p:sp>
        <p:nvSpPr>
          <p:cNvPr id="687" name="Google Shape;687;p56"/>
          <p:cNvSpPr txBox="1"/>
          <p:nvPr/>
        </p:nvSpPr>
        <p:spPr>
          <a:xfrm>
            <a:off x="10591800" y="6425740"/>
            <a:ext cx="16002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Dignum, V. (2019)</a:t>
            </a:r>
            <a:endParaRPr sz="14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7"/>
          <p:cNvSpPr/>
          <p:nvPr/>
        </p:nvSpPr>
        <p:spPr>
          <a:xfrm>
            <a:off x="1047405" y="304800"/>
            <a:ext cx="9616670" cy="7078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0070C0"/>
                </a:solidFill>
                <a:latin typeface="Roboto"/>
                <a:ea typeface="Roboto"/>
                <a:cs typeface="Roboto"/>
                <a:sym typeface="Roboto"/>
              </a:rPr>
              <a:t>Applications of AI in Various Sectors</a:t>
            </a:r>
            <a:endParaRPr b="1" sz="4000">
              <a:solidFill>
                <a:schemeClr val="dk1"/>
              </a:solidFill>
              <a:latin typeface="Roboto"/>
              <a:ea typeface="Roboto"/>
              <a:cs typeface="Roboto"/>
              <a:sym typeface="Roboto"/>
            </a:endParaRPr>
          </a:p>
        </p:txBody>
      </p:sp>
      <p:pic>
        <p:nvPicPr>
          <p:cNvPr descr="Application of AI" id="694" name="Google Shape;694;p57"/>
          <p:cNvPicPr preferRelativeResize="0"/>
          <p:nvPr/>
        </p:nvPicPr>
        <p:blipFill rotWithShape="1">
          <a:blip r:embed="rId3">
            <a:alphaModFix/>
          </a:blip>
          <a:srcRect b="0" l="0" r="0" t="0"/>
          <a:stretch/>
        </p:blipFill>
        <p:spPr>
          <a:xfrm>
            <a:off x="2759436" y="1051803"/>
            <a:ext cx="6717073" cy="564825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1F1F1F"/>
              </a:buClr>
              <a:buSzPts val="4000"/>
              <a:buFont typeface="Arial"/>
              <a:buNone/>
            </a:pPr>
            <a:r>
              <a:rPr b="1" i="0" lang="en-US">
                <a:solidFill>
                  <a:srgbClr val="1F1F1F"/>
                </a:solidFill>
                <a:latin typeface="Arial"/>
                <a:ea typeface="Arial"/>
                <a:cs typeface="Arial"/>
                <a:sym typeface="Arial"/>
              </a:rPr>
              <a:t>Conclusion: Intelligent software</a:t>
            </a:r>
            <a:endParaRPr b="1"/>
          </a:p>
        </p:txBody>
      </p:sp>
      <p:sp>
        <p:nvSpPr>
          <p:cNvPr id="701" name="Google Shape;701;p58"/>
          <p:cNvSpPr txBox="1"/>
          <p:nvPr>
            <p:ph idx="1" type="body"/>
          </p:nvPr>
        </p:nvSpPr>
        <p:spPr>
          <a:xfrm>
            <a:off x="838200" y="2643187"/>
            <a:ext cx="10515600" cy="35337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n-US"/>
              <a:t>Software leveraging Artificial Intelligence (AI) and machine learning</a:t>
            </a:r>
            <a:endParaRPr/>
          </a:p>
          <a:p>
            <a:pPr indent="-228600" lvl="0" marL="228600" rtl="0" algn="l">
              <a:lnSpc>
                <a:spcPct val="90000"/>
              </a:lnSpc>
              <a:spcBef>
                <a:spcPts val="1000"/>
              </a:spcBef>
              <a:spcAft>
                <a:spcPts val="0"/>
              </a:spcAft>
              <a:buClr>
                <a:schemeClr val="dk1"/>
              </a:buClr>
              <a:buSzPts val="2800"/>
              <a:buFont typeface="Arial"/>
              <a:buChar char="•"/>
            </a:pPr>
            <a:r>
              <a:rPr lang="en-US"/>
              <a:t>Ability to learn, adapt, and make decisions</a:t>
            </a:r>
            <a:endParaRPr/>
          </a:p>
          <a:p>
            <a:pPr indent="-228600" lvl="0" marL="228600" rtl="0" algn="l">
              <a:lnSpc>
                <a:spcPct val="90000"/>
              </a:lnSpc>
              <a:spcBef>
                <a:spcPts val="1000"/>
              </a:spcBef>
              <a:spcAft>
                <a:spcPts val="0"/>
              </a:spcAft>
              <a:buClr>
                <a:schemeClr val="dk1"/>
              </a:buClr>
              <a:buSzPts val="2800"/>
              <a:buFont typeface="Arial"/>
              <a:buChar char="•"/>
            </a:pPr>
            <a:r>
              <a:rPr lang="en-US"/>
              <a:t>Data-driven and context-aware applications</a:t>
            </a:r>
            <a:endParaRPr/>
          </a:p>
          <a:p>
            <a:pPr indent="-50800" lvl="0" marL="228600" rtl="0" algn="l">
              <a:lnSpc>
                <a:spcPct val="90000"/>
              </a:lnSpc>
              <a:spcBef>
                <a:spcPts val="1000"/>
              </a:spcBef>
              <a:spcAft>
                <a:spcPts val="0"/>
              </a:spcAft>
              <a:buClr>
                <a:schemeClr val="dk1"/>
              </a:buClr>
              <a:buSzPts val="2800"/>
              <a:buFont typeface="Arial"/>
              <a:buNone/>
            </a:pPr>
            <a:r>
              <a:t/>
            </a:r>
            <a:endParaRPr/>
          </a:p>
          <a:p>
            <a:pPr indent="-50800" lvl="0" marL="228600" rtl="0" algn="l">
              <a:lnSpc>
                <a:spcPct val="90000"/>
              </a:lnSpc>
              <a:spcBef>
                <a:spcPts val="1000"/>
              </a:spcBef>
              <a:spcAft>
                <a:spcPts val="0"/>
              </a:spcAft>
              <a:buClr>
                <a:schemeClr val="dk1"/>
              </a:buClr>
              <a:buSzPts val="2800"/>
              <a:buFont typeface="Arial"/>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pic>
        <p:nvPicPr>
          <p:cNvPr id="706" name="Google Shape;706;p59"/>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
        <p:nvSpPr>
          <p:cNvPr id="707" name="Google Shape;707;p59"/>
          <p:cNvSpPr txBox="1"/>
          <p:nvPr>
            <p:ph idx="1" type="body"/>
          </p:nvPr>
        </p:nvSpPr>
        <p:spPr>
          <a:xfrm>
            <a:off x="4995862" y="1310480"/>
            <a:ext cx="6872287" cy="4351338"/>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90000"/>
              </a:lnSpc>
              <a:spcBef>
                <a:spcPts val="0"/>
              </a:spcBef>
              <a:spcAft>
                <a:spcPts val="0"/>
              </a:spcAft>
              <a:buClr>
                <a:schemeClr val="dk1"/>
              </a:buClr>
              <a:buSzPct val="100000"/>
              <a:buNone/>
            </a:pPr>
            <a:r>
              <a:rPr lang="en-US" sz="4000"/>
              <a:t>Key Learning Outcome</a:t>
            </a:r>
            <a:endParaRPr/>
          </a:p>
          <a:p>
            <a:pPr indent="-514381" lvl="0" marL="514350" rtl="0" algn="l">
              <a:lnSpc>
                <a:spcPct val="90000"/>
              </a:lnSpc>
              <a:spcBef>
                <a:spcPts val="1000"/>
              </a:spcBef>
              <a:spcAft>
                <a:spcPts val="0"/>
              </a:spcAft>
              <a:buClr>
                <a:schemeClr val="dk1"/>
              </a:buClr>
              <a:buSzPct val="100000"/>
              <a:buFont typeface="Calibri"/>
              <a:buAutoNum type="arabicPeriod"/>
            </a:pPr>
            <a:r>
              <a:rPr lang="en-US" sz="2900"/>
              <a:t>Explore software applications across business domains, including healthcare, finance, education, government and manufacturing </a:t>
            </a:r>
            <a:endParaRPr/>
          </a:p>
          <a:p>
            <a:pPr indent="-514381" lvl="0" marL="514350" rtl="0" algn="l">
              <a:lnSpc>
                <a:spcPct val="90000"/>
              </a:lnSpc>
              <a:spcBef>
                <a:spcPts val="1000"/>
              </a:spcBef>
              <a:spcAft>
                <a:spcPts val="0"/>
              </a:spcAft>
              <a:buClr>
                <a:schemeClr val="dk1"/>
              </a:buClr>
              <a:buSzPct val="100000"/>
              <a:buFont typeface="Calibri"/>
              <a:buAutoNum type="arabicPeriod"/>
            </a:pPr>
            <a:r>
              <a:rPr lang="en-US" sz="2900"/>
              <a:t>Discuss the roles of software engineers, such as architects, UX/UI designers, full-stack developers, and DevOps engineers, and their focus on creating secure, reliable, sustainable, and adaptable software in collaboration with stakeholders.</a:t>
            </a:r>
            <a:endParaRPr/>
          </a:p>
          <a:p>
            <a:pPr indent="-514381" lvl="0" marL="514350" rtl="0" algn="l">
              <a:lnSpc>
                <a:spcPct val="90000"/>
              </a:lnSpc>
              <a:spcBef>
                <a:spcPts val="1000"/>
              </a:spcBef>
              <a:spcAft>
                <a:spcPts val="0"/>
              </a:spcAft>
              <a:buClr>
                <a:schemeClr val="dk1"/>
              </a:buClr>
              <a:buSzPct val="100000"/>
              <a:buFont typeface="Calibri"/>
              <a:buAutoNum type="arabicPeriod"/>
            </a:pPr>
            <a:r>
              <a:rPr lang="en-US" sz="2900"/>
              <a:t>Examine the importance of sustainability in software engineering, covering environmental, social, and economic aspects, such as reducing carbon footprints, optimizing energy use, ensuring equity, and promoting ethical, long-term business models.</a:t>
            </a:r>
            <a:endParaRPr/>
          </a:p>
          <a:p>
            <a:pPr indent="-514381" lvl="0" marL="514350" rtl="0" algn="l">
              <a:lnSpc>
                <a:spcPct val="90000"/>
              </a:lnSpc>
              <a:spcBef>
                <a:spcPts val="1000"/>
              </a:spcBef>
              <a:spcAft>
                <a:spcPts val="0"/>
              </a:spcAft>
              <a:buClr>
                <a:schemeClr val="dk1"/>
              </a:buClr>
              <a:buSzPct val="100000"/>
              <a:buFont typeface="Calibri"/>
              <a:buAutoNum type="arabicPeriod"/>
            </a:pPr>
            <a:r>
              <a:rPr lang="en-US" sz="2900"/>
              <a:t>Review key security features from the CIA Triad: confidentiality (encryption, access control), integrity (hashing, digital signatures), and availability (redundancy, failover), highlighting their role in secure data management and system reliability.</a:t>
            </a:r>
            <a:endParaRPr/>
          </a:p>
          <a:p>
            <a:pPr indent="-514381" lvl="0" marL="514350" rtl="0" algn="l">
              <a:lnSpc>
                <a:spcPct val="90000"/>
              </a:lnSpc>
              <a:spcBef>
                <a:spcPts val="1000"/>
              </a:spcBef>
              <a:spcAft>
                <a:spcPts val="0"/>
              </a:spcAft>
              <a:buClr>
                <a:schemeClr val="dk1"/>
              </a:buClr>
              <a:buSzPct val="100000"/>
              <a:buFont typeface="Calibri"/>
              <a:buAutoNum type="arabicPeriod"/>
            </a:pPr>
            <a:r>
              <a:rPr lang="en-US" sz="2900"/>
              <a:t>Explore the role of AI and machine learning in creating intelligent software, enabling it to learn, adapt, and make decisions, and examined AI applications across sectors to enhance functionality.</a:t>
            </a:r>
            <a:endParaRPr sz="2400"/>
          </a:p>
        </p:txBody>
      </p:sp>
      <p:sp>
        <p:nvSpPr>
          <p:cNvPr id="708" name="Google Shape;708;p59"/>
          <p:cNvSpPr txBox="1"/>
          <p:nvPr>
            <p:ph type="title"/>
          </p:nvPr>
        </p:nvSpPr>
        <p:spPr>
          <a:xfrm>
            <a:off x="4743450" y="-841327"/>
            <a:ext cx="10515600" cy="150018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b="1" lang="en-US"/>
              <a:t>Summary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2023-12-31T03:09:43Z</dcterms:created>
  <dc:creator>NUR AMALINA BINTI HAMIDI</dc:creator>
</cp:coreProperties>
</file>