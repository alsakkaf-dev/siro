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iekqCZnpu/6cb91oPWm4hcyRSW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2C2384-4AF5-450E-A5C7-469FF8ABA2CD}">
  <a:tblStyle styleId="{7D2C2384-4AF5-450E-A5C7-469FF8ABA2C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6" name="Google Shape;206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5" name="Google Shape;21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4" name="Google Shape;22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3" name="Google Shape;303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1" name="Google Shape;311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9" name="Google Shape;31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9" name="Google Shape;329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8" name="Google Shape;34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58" name="Google Shape;35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7" name="Google Shape;36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6" name="Google Shape;376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5" name="Google Shape;38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98" name="Google Shape;39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07" name="Google Shape;407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0" name="Google Shape;42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9" name="Google Shape;429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2" name="Google Shape;442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51" name="Google Shape;451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0" name="Google Shape;460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9" name="Google Shape;469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78" name="Google Shape;478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87" name="Google Shape;487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97" name="Google Shape;497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06" name="Google Shape;506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15" name="Google Shape;515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4" name="Google Shape;524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>
  <p:cSld name="cover pag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0"/>
          <p:cNvPicPr preferRelativeResize="0"/>
          <p:nvPr/>
        </p:nvPicPr>
        <p:blipFill rotWithShape="1">
          <a:blip r:embed="rId2">
            <a:alphaModFix amt="34000"/>
          </a:blip>
          <a:srcRect b="0" l="0" r="0" t="0"/>
          <a:stretch/>
        </p:blipFill>
        <p:spPr>
          <a:xfrm rot="-5400000">
            <a:off x="1428041" y="-1428041"/>
            <a:ext cx="6880030" cy="9736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0"/>
          <p:cNvPicPr preferRelativeResize="0"/>
          <p:nvPr/>
        </p:nvPicPr>
        <p:blipFill rotWithShape="1">
          <a:blip r:embed="rId3">
            <a:alphaModFix amt="99000"/>
          </a:blip>
          <a:srcRect b="0" l="0" r="0" t="0"/>
          <a:stretch/>
        </p:blipFill>
        <p:spPr>
          <a:xfrm flipH="1">
            <a:off x="59093" y="0"/>
            <a:ext cx="12073813" cy="310918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0"/>
          <p:cNvSpPr/>
          <p:nvPr/>
        </p:nvSpPr>
        <p:spPr>
          <a:xfrm rot="5400000">
            <a:off x="5953544" y="641578"/>
            <a:ext cx="28490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0"/>
          <p:cNvSpPr txBox="1"/>
          <p:nvPr/>
        </p:nvSpPr>
        <p:spPr>
          <a:xfrm>
            <a:off x="5479363" y="6595121"/>
            <a:ext cx="137730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www.utm.my</a:t>
            </a:r>
            <a:endParaRPr b="1" i="0" sz="1100" u="none" cap="none" strike="noStrik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41"/>
          <p:cNvSpPr/>
          <p:nvPr/>
        </p:nvSpPr>
        <p:spPr>
          <a:xfrm>
            <a:off x="3894421" y="21431"/>
            <a:ext cx="4460168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1"/>
          <p:cNvSpPr/>
          <p:nvPr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" name="Google Shape;30;p41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31" name="Google Shape;31;p41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1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2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6764" y="1270"/>
            <a:ext cx="12073813" cy="31091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42"/>
          <p:cNvGrpSpPr/>
          <p:nvPr/>
        </p:nvGrpSpPr>
        <p:grpSpPr>
          <a:xfrm>
            <a:off x="0" y="6438899"/>
            <a:ext cx="4425450" cy="419100"/>
            <a:chOff x="0" y="6438899"/>
            <a:chExt cx="4425450" cy="419100"/>
          </a:xfrm>
        </p:grpSpPr>
        <p:sp>
          <p:nvSpPr>
            <p:cNvPr id="36" name="Google Shape;36;p42"/>
            <p:cNvSpPr/>
            <p:nvPr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2"/>
            <p:cNvSpPr/>
            <p:nvPr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2"/>
          <p:cNvSpPr txBox="1"/>
          <p:nvPr>
            <p:ph type="title"/>
          </p:nvPr>
        </p:nvSpPr>
        <p:spPr>
          <a:xfrm>
            <a:off x="831850" y="1047751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" type="body"/>
          </p:nvPr>
        </p:nvSpPr>
        <p:spPr>
          <a:xfrm>
            <a:off x="831850" y="2814638"/>
            <a:ext cx="10515600" cy="3357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2"/>
          <p:cNvGrpSpPr/>
          <p:nvPr/>
        </p:nvGrpSpPr>
        <p:grpSpPr>
          <a:xfrm>
            <a:off x="0" y="0"/>
            <a:ext cx="2135014" cy="390908"/>
            <a:chOff x="0" y="0"/>
            <a:chExt cx="2135014" cy="390908"/>
          </a:xfrm>
        </p:grpSpPr>
        <p:sp>
          <p:nvSpPr>
            <p:cNvPr id="45" name="Google Shape;45;p42"/>
            <p:cNvSpPr/>
            <p:nvPr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42"/>
            <p:cNvSpPr/>
            <p:nvPr/>
          </p:nvSpPr>
          <p:spPr>
            <a:xfrm flipH="1" rot="10800000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42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48" name="Google Shape;48;p42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42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4713261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3"/>
          <p:cNvSpPr/>
          <p:nvPr/>
        </p:nvSpPr>
        <p:spPr>
          <a:xfrm>
            <a:off x="-38099" y="0"/>
            <a:ext cx="4764088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3"/>
          <p:cNvSpPr txBox="1"/>
          <p:nvPr>
            <p:ph type="title"/>
          </p:nvPr>
        </p:nvSpPr>
        <p:spPr>
          <a:xfrm>
            <a:off x="839788" y="457200"/>
            <a:ext cx="377196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43"/>
          <p:cNvSpPr txBox="1"/>
          <p:nvPr>
            <p:ph idx="2" type="body"/>
          </p:nvPr>
        </p:nvSpPr>
        <p:spPr>
          <a:xfrm>
            <a:off x="839788" y="2057400"/>
            <a:ext cx="377196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" name="Google Shape;56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9" name="Google Shape;5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3"/>
          <p:cNvSpPr/>
          <p:nvPr/>
        </p:nvSpPr>
        <p:spPr>
          <a:xfrm rot="5400000">
            <a:off x="1324286" y="3399184"/>
            <a:ext cx="6858000" cy="59635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" name="Google Shape;61;p43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62" name="Google Shape;62;p43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43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20">
  <p:cSld name="Layout20">
    <p:bg>
      <p:bgPr>
        <a:solidFill>
          <a:srgbClr val="4B473E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7" name="Google Shape;67;p44"/>
          <p:cNvCxnSpPr/>
          <p:nvPr/>
        </p:nvCxnSpPr>
        <p:spPr>
          <a:xfrm>
            <a:off x="-12700" y="101600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2" name="Google Shape;72;p45"/>
          <p:cNvGrpSpPr/>
          <p:nvPr/>
        </p:nvGrpSpPr>
        <p:grpSpPr>
          <a:xfrm>
            <a:off x="0" y="0"/>
            <a:ext cx="4736144" cy="7783867"/>
            <a:chOff x="0" y="0"/>
            <a:chExt cx="4736144" cy="7783867"/>
          </a:xfrm>
        </p:grpSpPr>
        <p:pic>
          <p:nvPicPr>
            <p:cNvPr id="73" name="Google Shape;73;p4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3118649" cy="44635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45"/>
            <p:cNvSpPr/>
            <p:nvPr/>
          </p:nvSpPr>
          <p:spPr>
            <a:xfrm rot="8446488">
              <a:off x="1155879" y="3069975"/>
              <a:ext cx="2214654" cy="3120244"/>
            </a:xfrm>
            <a:prstGeom prst="parallelogram">
              <a:avLst>
                <a:gd fmla="val 25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45"/>
            <p:cNvSpPr/>
            <p:nvPr/>
          </p:nvSpPr>
          <p:spPr>
            <a:xfrm rot="8446488">
              <a:off x="2539020" y="5497285"/>
              <a:ext cx="1784436" cy="1941063"/>
            </a:xfrm>
            <a:custGeom>
              <a:rect b="b" l="l" r="r" t="t"/>
              <a:pathLst>
                <a:path extrusionOk="0" h="1941063" w="1784436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6" name="Google Shape;7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126331" y="-1062392"/>
            <a:ext cx="2405080" cy="3385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45"/>
          <p:cNvPicPr preferRelativeResize="0"/>
          <p:nvPr/>
        </p:nvPicPr>
        <p:blipFill rotWithShape="1">
          <a:blip r:embed="rId4">
            <a:alphaModFix amt="99000"/>
          </a:blip>
          <a:srcRect b="0" l="0" r="0" t="0"/>
          <a:stretch/>
        </p:blipFill>
        <p:spPr>
          <a:xfrm flipH="1" rot="-5400000">
            <a:off x="-2602281" y="2616106"/>
            <a:ext cx="7046892" cy="1814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283211" y="3743462"/>
            <a:ext cx="2080701" cy="2978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830037" y="6046777"/>
            <a:ext cx="4191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46"/>
          <p:cNvPicPr preferRelativeResize="0"/>
          <p:nvPr/>
        </p:nvPicPr>
        <p:blipFill rotWithShape="1">
          <a:blip r:embed="rId2">
            <a:alphaModFix/>
          </a:blip>
          <a:srcRect b="7973" l="0" r="0" t="26333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6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0">
                <a:srgbClr val="6C1D35">
                  <a:alpha val="67450"/>
                </a:srgbClr>
              </a:gs>
              <a:gs pos="12000">
                <a:srgbClr val="6C1D35">
                  <a:alpha val="67450"/>
                </a:srgbClr>
              </a:gs>
              <a:gs pos="77000">
                <a:srgbClr val="511527"/>
              </a:gs>
              <a:gs pos="100000">
                <a:srgbClr val="511527"/>
              </a:gs>
            </a:gsLst>
            <a:lin ang="13500000" scaled="0"/>
          </a:gradFill>
          <a:ln cap="flat" cmpd="sng" w="12700">
            <a:solidFill>
              <a:srgbClr val="2D0C1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7112000" y="-35081"/>
            <a:ext cx="4917440" cy="6921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10800000">
            <a:off x="11268262" y="349094"/>
            <a:ext cx="2010036" cy="2829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page">
  <p:cSld name="end pag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7"/>
          <p:cNvSpPr/>
          <p:nvPr/>
        </p:nvSpPr>
        <p:spPr>
          <a:xfrm>
            <a:off x="0" y="-2"/>
            <a:ext cx="12230100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47"/>
          <p:cNvPicPr preferRelativeResize="0"/>
          <p:nvPr/>
        </p:nvPicPr>
        <p:blipFill rotWithShape="1">
          <a:blip r:embed="rId2">
            <a:alphaModFix amt="32000"/>
          </a:blip>
          <a:srcRect b="0" l="20647" r="0" t="0"/>
          <a:stretch/>
        </p:blipFill>
        <p:spPr>
          <a:xfrm rot="-5400000">
            <a:off x="2686050" y="-2686050"/>
            <a:ext cx="6858000" cy="1223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48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6764" y="1270"/>
            <a:ext cx="12073813" cy="310918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8"/>
          <p:cNvSpPr txBox="1"/>
          <p:nvPr>
            <p:ph type="ctrTitle"/>
          </p:nvPr>
        </p:nvSpPr>
        <p:spPr>
          <a:xfrm>
            <a:off x="1524000" y="1122363"/>
            <a:ext cx="91440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8"/>
          <p:cNvSpPr txBox="1"/>
          <p:nvPr>
            <p:ph idx="1" type="subTitle"/>
          </p:nvPr>
        </p:nvSpPr>
        <p:spPr>
          <a:xfrm>
            <a:off x="1524000" y="2601118"/>
            <a:ext cx="9144000" cy="3461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8" name="Google Shape;9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48"/>
          <p:cNvGrpSpPr/>
          <p:nvPr/>
        </p:nvGrpSpPr>
        <p:grpSpPr>
          <a:xfrm>
            <a:off x="0" y="336866"/>
            <a:ext cx="838200" cy="390908"/>
            <a:chOff x="0" y="585597"/>
            <a:chExt cx="838200" cy="390908"/>
          </a:xfrm>
        </p:grpSpPr>
        <p:sp>
          <p:nvSpPr>
            <p:cNvPr id="103" name="Google Shape;103;p48"/>
            <p:cNvSpPr/>
            <p:nvPr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48"/>
            <p:cNvSpPr/>
            <p:nvPr/>
          </p:nvSpPr>
          <p:spPr>
            <a:xfrm flipH="1" rot="10800000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48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6" name="Google Shape;106;p48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48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9"/>
          <p:cNvSpPr/>
          <p:nvPr/>
        </p:nvSpPr>
        <p:spPr>
          <a:xfrm>
            <a:off x="-38100" y="1690688"/>
            <a:ext cx="12230100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4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4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49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19" name="Google Shape;119;p49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49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50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6764" y="1270"/>
            <a:ext cx="12073813" cy="310918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5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5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5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5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1" name="Google Shape;13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0"/>
          <p:cNvSpPr/>
          <p:nvPr/>
        </p:nvSpPr>
        <p:spPr>
          <a:xfrm>
            <a:off x="6764" y="342265"/>
            <a:ext cx="1026963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50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34" name="Google Shape;134;p50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50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51"/>
          <p:cNvPicPr preferRelativeResize="0"/>
          <p:nvPr/>
        </p:nvPicPr>
        <p:blipFill rotWithShape="1">
          <a:blip r:embed="rId2">
            <a:alphaModFix amt="99000"/>
          </a:blip>
          <a:srcRect b="0" l="0" r="0" t="0"/>
          <a:stretch/>
        </p:blipFill>
        <p:spPr>
          <a:xfrm flipH="1">
            <a:off x="6764" y="1270"/>
            <a:ext cx="12073813" cy="31091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51"/>
          <p:cNvGrpSpPr/>
          <p:nvPr/>
        </p:nvGrpSpPr>
        <p:grpSpPr>
          <a:xfrm flipH="1">
            <a:off x="8896479" y="6438899"/>
            <a:ext cx="3295521" cy="419101"/>
            <a:chOff x="0" y="6438899"/>
            <a:chExt cx="4425450" cy="419100"/>
          </a:xfrm>
        </p:grpSpPr>
        <p:sp>
          <p:nvSpPr>
            <p:cNvPr id="139" name="Google Shape;139;p51"/>
            <p:cNvSpPr/>
            <p:nvPr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51"/>
            <p:cNvSpPr/>
            <p:nvPr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51"/>
          <p:cNvSpPr txBox="1"/>
          <p:nvPr>
            <p:ph type="title"/>
          </p:nvPr>
        </p:nvSpPr>
        <p:spPr>
          <a:xfrm>
            <a:off x="1364974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5" name="Google Shape;14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51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47" name="Google Shape;147;p51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51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" name="Google Shape;15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52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56" name="Google Shape;156;p52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52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color">
  <p:cSld name="Blank-colo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3"/>
          <p:cNvSpPr/>
          <p:nvPr/>
        </p:nvSpPr>
        <p:spPr>
          <a:xfrm>
            <a:off x="-38100" y="0"/>
            <a:ext cx="12230100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" name="Google Shape;160;p53"/>
          <p:cNvGrpSpPr/>
          <p:nvPr/>
        </p:nvGrpSpPr>
        <p:grpSpPr>
          <a:xfrm>
            <a:off x="7180119" y="6473574"/>
            <a:ext cx="5011881" cy="390911"/>
            <a:chOff x="7180118" y="6489891"/>
            <a:chExt cx="5011881" cy="390911"/>
          </a:xfrm>
        </p:grpSpPr>
        <p:sp>
          <p:nvSpPr>
            <p:cNvPr id="161" name="Google Shape;161;p53"/>
            <p:cNvSpPr/>
            <p:nvPr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53"/>
            <p:cNvSpPr/>
            <p:nvPr/>
          </p:nvSpPr>
          <p:spPr>
            <a:xfrm flipH="1">
              <a:off x="7180118" y="6489895"/>
              <a:ext cx="213299" cy="390907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3" name="Google Shape;163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76220" y="283589"/>
            <a:ext cx="1470825" cy="49746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67" name="Google Shape;167;p53"/>
          <p:cNvGrpSpPr/>
          <p:nvPr/>
        </p:nvGrpSpPr>
        <p:grpSpPr>
          <a:xfrm>
            <a:off x="-58882" y="0"/>
            <a:ext cx="2130820" cy="390908"/>
            <a:chOff x="-58882" y="0"/>
            <a:chExt cx="2130820" cy="390908"/>
          </a:xfrm>
        </p:grpSpPr>
        <p:sp>
          <p:nvSpPr>
            <p:cNvPr id="168" name="Google Shape;168;p53"/>
            <p:cNvSpPr/>
            <p:nvPr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53"/>
            <p:cNvSpPr/>
            <p:nvPr/>
          </p:nvSpPr>
          <p:spPr>
            <a:xfrm flipH="1" rot="10800000">
              <a:off x="1858639" y="0"/>
              <a:ext cx="213299" cy="390907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p53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71" name="Google Shape;171;p53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53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8" name="Google Shape;17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54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80" name="Google Shape;180;p54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54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54"/>
          <p:cNvSpPr/>
          <p:nvPr/>
        </p:nvSpPr>
        <p:spPr>
          <a:xfrm rot="5400000">
            <a:off x="6073139" y="761174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4"/>
          <p:cNvSpPr txBox="1"/>
          <p:nvPr>
            <p:ph type="title"/>
          </p:nvPr>
        </p:nvSpPr>
        <p:spPr>
          <a:xfrm>
            <a:off x="838198" y="7810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6765" y="1270"/>
            <a:ext cx="7112053" cy="183146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9" name="Google Shape;18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8878" y="283590"/>
            <a:ext cx="1468167" cy="497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55"/>
          <p:cNvGrpSpPr/>
          <p:nvPr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91" name="Google Shape;191;p55"/>
            <p:cNvSpPr/>
            <p:nvPr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55"/>
            <p:cNvSpPr txBox="1"/>
            <p:nvPr/>
          </p:nvSpPr>
          <p:spPr>
            <a:xfrm rot="-5400000">
              <a:off x="-565323" y="5578170"/>
              <a:ext cx="1377301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2F2F2"/>
                  </a:solidFill>
                  <a:latin typeface="Calibri"/>
                  <a:ea typeface="Calibri"/>
                  <a:cs typeface="Calibri"/>
                  <a:sym typeface="Calibri"/>
                </a:rPr>
                <a:t>www.utm.my</a:t>
              </a:r>
              <a:endParaRPr b="1" i="0" sz="11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55"/>
          <p:cNvSpPr/>
          <p:nvPr/>
        </p:nvSpPr>
        <p:spPr>
          <a:xfrm rot="5400000">
            <a:off x="6079906" y="-6086095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5"/>
          <p:cNvSpPr txBox="1"/>
          <p:nvPr>
            <p:ph type="title"/>
          </p:nvPr>
        </p:nvSpPr>
        <p:spPr>
          <a:xfrm>
            <a:off x="838198" y="7810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jpg"/><Relationship Id="rId4" Type="http://schemas.openxmlformats.org/officeDocument/2006/relationships/hyperlink" Target="http://agilemanifesto.org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Relationship Id="rId4" Type="http://schemas.openxmlformats.org/officeDocument/2006/relationships/hyperlink" Target="http://www.planbox.com/resources/agile-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"/>
          <p:cNvSpPr txBox="1"/>
          <p:nvPr/>
        </p:nvSpPr>
        <p:spPr>
          <a:xfrm>
            <a:off x="1962482" y="3211304"/>
            <a:ext cx="903671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TOPIC 3: SOFTWARE LIFECYCLE MODEL  - PLANNED AND AGILE DRIVEN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"/>
          <p:cNvSpPr txBox="1"/>
          <p:nvPr/>
        </p:nvSpPr>
        <p:spPr>
          <a:xfrm>
            <a:off x="1962482" y="2290193"/>
            <a:ext cx="8532646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6C1D35"/>
                </a:solidFill>
                <a:latin typeface="Calibri"/>
                <a:ea typeface="Calibri"/>
                <a:cs typeface="Calibri"/>
                <a:sym typeface="Calibri"/>
              </a:rPr>
              <a:t>UNIVERSITI TEKNOLOGI MALAYSIA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7149" y="599516"/>
            <a:ext cx="2249407" cy="751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8429" y="6352942"/>
            <a:ext cx="2136771" cy="160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209" name="Google Shape;209;p2"/>
          <p:cNvSpPr txBox="1"/>
          <p:nvPr>
            <p:ph idx="1" type="body"/>
          </p:nvPr>
        </p:nvSpPr>
        <p:spPr>
          <a:xfrm>
            <a:off x="1160060" y="1337481"/>
            <a:ext cx="8392886" cy="4238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3552"/>
              <a:buChar char="•"/>
            </a:pPr>
            <a:r>
              <a:rPr lang="en-US"/>
              <a:t>Software Lifecycle Model 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144"/>
              <a:buChar char="•"/>
            </a:pPr>
            <a:r>
              <a:rPr lang="en-US"/>
              <a:t>PLANNING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144"/>
              <a:buChar char="•"/>
            </a:pPr>
            <a:r>
              <a:rPr lang="en-US"/>
              <a:t>REQUIREMENTS ENGINEERING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144"/>
              <a:buChar char="•"/>
            </a:pPr>
            <a:r>
              <a:rPr lang="en-US"/>
              <a:t>SOFTWARE DESIGN 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144"/>
              <a:buChar char="•"/>
            </a:pPr>
            <a:r>
              <a:rPr lang="en-US"/>
              <a:t>CODING AND TESTING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144"/>
              <a:buChar char="•"/>
            </a:pPr>
            <a:r>
              <a:rPr lang="en-US"/>
              <a:t>MAINTAINANCE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3552"/>
              <a:buChar char="•"/>
            </a:pPr>
            <a:r>
              <a:rPr lang="en-US"/>
              <a:t>Planned Driven Software Process Models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144"/>
              <a:buChar char="•"/>
            </a:pPr>
            <a:r>
              <a:rPr lang="en-US"/>
              <a:t>WATERFALL MODEL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144"/>
              <a:buChar char="•"/>
            </a:pPr>
            <a:r>
              <a:rPr lang="en-US"/>
              <a:t>INCREMENTAL MODEL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3552"/>
              <a:buChar char="•"/>
            </a:pPr>
            <a:r>
              <a:rPr lang="en-US"/>
              <a:t>Agile Driven Software Process Models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144"/>
              <a:buChar char="•"/>
            </a:pPr>
            <a:r>
              <a:rPr lang="en-US"/>
              <a:t>SCRUM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144"/>
              <a:buChar char="•"/>
            </a:pPr>
            <a:r>
              <a:rPr lang="en-US"/>
              <a:t>KANBAN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144"/>
              <a:buChar char="•"/>
            </a:pPr>
            <a:r>
              <a:rPr lang="en-US"/>
              <a:t>HYBRID AGILE MODEL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3552"/>
              <a:buNone/>
            </a:pPr>
            <a:r>
              <a:t/>
            </a:r>
            <a:endParaRPr/>
          </a:p>
          <a:p>
            <a:pPr indent="-139700" lvl="1" marL="800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4144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23552"/>
              <a:buNone/>
            </a:pPr>
            <a:r>
              <a:t/>
            </a:r>
            <a:endParaRPr/>
          </a:p>
        </p:txBody>
      </p:sp>
      <p:sp>
        <p:nvSpPr>
          <p:cNvPr id="210" name="Google Shape;210;p2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11" name="Google Shape;211;p2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2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"/>
          <p:cNvSpPr txBox="1"/>
          <p:nvPr>
            <p:ph type="title"/>
          </p:nvPr>
        </p:nvSpPr>
        <p:spPr>
          <a:xfrm>
            <a:off x="2246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PLAN-DRIVEN SOFTWARE PROCESS MODELS</a:t>
            </a:r>
            <a:endParaRPr/>
          </a:p>
        </p:txBody>
      </p:sp>
      <p:sp>
        <p:nvSpPr>
          <p:cNvPr id="218" name="Google Shape;218;p3"/>
          <p:cNvSpPr txBox="1"/>
          <p:nvPr>
            <p:ph idx="1" type="body"/>
          </p:nvPr>
        </p:nvSpPr>
        <p:spPr>
          <a:xfrm>
            <a:off x="2246313" y="290671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19" name="Google Shape;219;p3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220" name="Google Shape;220;p3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21" name="Google Shape;221;p3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227" name="Google Shape;227;p4"/>
          <p:cNvSpPr txBox="1"/>
          <p:nvPr>
            <p:ph idx="1" type="body"/>
          </p:nvPr>
        </p:nvSpPr>
        <p:spPr>
          <a:xfrm>
            <a:off x="1115167" y="1147550"/>
            <a:ext cx="8686800" cy="4952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Learning Objectives: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/>
              <a:t>Understand the Software Lifecycle Model:</a:t>
            </a:r>
            <a:endParaRPr sz="24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Students will be able to define and explain the key phases of the software lifecycle, including planning, requirements engineering, software design, coding and testing, and maintenance.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/>
              <a:t>Understand Planned Driven Software Process Models:</a:t>
            </a:r>
            <a:endParaRPr sz="24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Students will be able to explain the Waterfall and Incremental models, describing their processes, applications software development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/>
              <a:t>Explore Agile Driven Software Process Models:</a:t>
            </a:r>
            <a:endParaRPr sz="2400"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Students will gain an understanding of Agile methodologies, focusing on the Scrum, Kanban, and Hybrid Agile models, and how these approaches emphasize flexibility and iterative development.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/>
          </a:p>
        </p:txBody>
      </p:sp>
      <p:sp>
        <p:nvSpPr>
          <p:cNvPr id="228" name="Google Shape;228;p4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29" name="Google Shape;229;p4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p4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5"/>
          <p:cNvSpPr txBox="1"/>
          <p:nvPr>
            <p:ph type="title"/>
          </p:nvPr>
        </p:nvSpPr>
        <p:spPr>
          <a:xfrm>
            <a:off x="2246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Software Lifecycle Model (SDLC)</a:t>
            </a:r>
            <a:endParaRPr/>
          </a:p>
        </p:txBody>
      </p:sp>
      <p:sp>
        <p:nvSpPr>
          <p:cNvPr id="236" name="Google Shape;236;p5"/>
          <p:cNvSpPr txBox="1"/>
          <p:nvPr>
            <p:ph idx="1" type="body"/>
          </p:nvPr>
        </p:nvSpPr>
        <p:spPr>
          <a:xfrm>
            <a:off x="2246313" y="290671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238" name="Google Shape;238;p5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39" name="Google Shape;239;p5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Software Development Lifecycle (SDLC)</a:t>
            </a:r>
            <a:endParaRPr/>
          </a:p>
        </p:txBody>
      </p:sp>
      <p:pic>
        <p:nvPicPr>
          <p:cNvPr id="245" name="Google Shape;24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9"/>
            <a:ext cx="10448499" cy="3720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Software Development Lifecycle (SDLC)</a:t>
            </a:r>
            <a:endParaRPr/>
          </a:p>
        </p:txBody>
      </p:sp>
      <p:pic>
        <p:nvPicPr>
          <p:cNvPr id="251" name="Google Shape;251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804" y="1540563"/>
            <a:ext cx="10228996" cy="5215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"/>
          <p:cNvSpPr txBox="1"/>
          <p:nvPr>
            <p:ph type="title"/>
          </p:nvPr>
        </p:nvSpPr>
        <p:spPr>
          <a:xfrm>
            <a:off x="2246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Planned Driven Software Process Models</a:t>
            </a:r>
            <a:endParaRPr/>
          </a:p>
        </p:txBody>
      </p:sp>
      <p:sp>
        <p:nvSpPr>
          <p:cNvPr id="257" name="Google Shape;257;p8"/>
          <p:cNvSpPr txBox="1"/>
          <p:nvPr>
            <p:ph idx="1" type="body"/>
          </p:nvPr>
        </p:nvSpPr>
        <p:spPr>
          <a:xfrm>
            <a:off x="2246313" y="290671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259" name="Google Shape;259;p8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60" name="Google Shape;260;p8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br>
              <a:rPr lang="en-US"/>
            </a:br>
            <a:r>
              <a:rPr lang="en-US"/>
              <a:t>(1) The Waterfall Model</a:t>
            </a:r>
            <a:br>
              <a:rPr lang="en-US"/>
            </a:br>
            <a:endParaRPr/>
          </a:p>
        </p:txBody>
      </p:sp>
      <p:sp>
        <p:nvSpPr>
          <p:cNvPr id="266" name="Google Shape;266;p9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67" name="Google Shape;267;p9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8" name="Google Shape;268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1954" y="1752600"/>
            <a:ext cx="6820647" cy="4061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0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Waterfall Model Phases</a:t>
            </a:r>
            <a:endParaRPr/>
          </a:p>
        </p:txBody>
      </p:sp>
      <p:sp>
        <p:nvSpPr>
          <p:cNvPr id="275" name="Google Shape;275;p10"/>
          <p:cNvSpPr txBox="1"/>
          <p:nvPr>
            <p:ph idx="1" type="body"/>
          </p:nvPr>
        </p:nvSpPr>
        <p:spPr>
          <a:xfrm>
            <a:off x="1981200" y="1600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There are separate identified phases in the waterfall model: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Requirements analysis and definition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System and software design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Implementation and unit testing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Integration and system testing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Operation and maintenance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</a:t>
            </a:r>
            <a:r>
              <a:rPr b="1" lang="en-US">
                <a:solidFill>
                  <a:srgbClr val="C00000"/>
                </a:solidFill>
              </a:rPr>
              <a:t>main drawback </a:t>
            </a:r>
            <a:r>
              <a:rPr lang="en-US"/>
              <a:t>of the waterfall model is the difficulty of accommodating change after the process is underway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principle, a phase has to be complete before moving onto the next phase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77" name="Google Shape;277;p10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Waterfall Model Problems</a:t>
            </a:r>
            <a:endParaRPr/>
          </a:p>
        </p:txBody>
      </p:sp>
      <p:sp>
        <p:nvSpPr>
          <p:cNvPr id="283" name="Google Shape;283;p11"/>
          <p:cNvSpPr txBox="1"/>
          <p:nvPr>
            <p:ph idx="1" type="body"/>
          </p:nvPr>
        </p:nvSpPr>
        <p:spPr>
          <a:xfrm>
            <a:off x="1981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Inflexible partitioning of the project into distinct stages makes it difficult to respond to changing customer requirements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Therefore, this model is </a:t>
            </a:r>
            <a:r>
              <a:rPr b="1" lang="en-US">
                <a:solidFill>
                  <a:srgbClr val="C00000"/>
                </a:solidFill>
              </a:rPr>
              <a:t>only appropriate when the requirements are well-understood and changes will be fairly limited</a:t>
            </a:r>
            <a:r>
              <a:rPr lang="en-US"/>
              <a:t> during the design process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Few business systems have stable requirements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waterfall model is </a:t>
            </a:r>
            <a:r>
              <a:rPr b="1" lang="en-US">
                <a:solidFill>
                  <a:srgbClr val="C00000"/>
                </a:solidFill>
              </a:rPr>
              <a:t>mostly used for embedded systems </a:t>
            </a:r>
            <a:r>
              <a:rPr lang="en-US"/>
              <a:t>(software must interface with hardware), </a:t>
            </a:r>
            <a:r>
              <a:rPr b="1" lang="en-US">
                <a:solidFill>
                  <a:srgbClr val="C00000"/>
                </a:solidFill>
              </a:rPr>
              <a:t>critical systems, and large systems</a:t>
            </a:r>
            <a:r>
              <a:rPr lang="en-US"/>
              <a:t> (system is developed at several sites)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In those circumstances, the </a:t>
            </a:r>
            <a:r>
              <a:rPr b="1" lang="en-US">
                <a:solidFill>
                  <a:srgbClr val="C00000"/>
                </a:solidFill>
              </a:rPr>
              <a:t>plan-driven</a:t>
            </a:r>
            <a:r>
              <a:rPr lang="en-US"/>
              <a:t> nature of the waterfall model helps coordinate the work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85" name="Google Shape;285;p11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(2) Incremental Development </a:t>
            </a:r>
            <a:endParaRPr/>
          </a:p>
        </p:txBody>
      </p:sp>
      <p:sp>
        <p:nvSpPr>
          <p:cNvPr id="291" name="Google Shape;291;p12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292" name="Google Shape;292;p12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3" name="Google Shape;293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1791102"/>
            <a:ext cx="7239000" cy="4100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/>
              <a:t>Incremental Development </a:t>
            </a:r>
            <a:endParaRPr/>
          </a:p>
        </p:txBody>
      </p:sp>
      <p:sp>
        <p:nvSpPr>
          <p:cNvPr id="299" name="Google Shape;299;p13"/>
          <p:cNvSpPr txBox="1"/>
          <p:nvPr>
            <p:ph idx="1" type="body"/>
          </p:nvPr>
        </p:nvSpPr>
        <p:spPr>
          <a:xfrm>
            <a:off x="1981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Char char="•"/>
            </a:pPr>
            <a:r>
              <a:rPr lang="en-US"/>
              <a:t>In a plan-driven approach, the system increments are identified in advance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Char char="•"/>
            </a:pPr>
            <a:r>
              <a:rPr lang="en-US"/>
              <a:t>If an agile approach is adopted, the early increments are identified, but the development of later increments depends on progress and customer priorities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Char char="•"/>
            </a:pPr>
            <a:r>
              <a:rPr lang="en-US"/>
              <a:t>Each increment or version of the system incorporates some of the functionality that is needed by the customer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Char char="•"/>
            </a:pPr>
            <a:r>
              <a:rPr lang="en-US"/>
              <a:t>Generally, the early increments of the system include the most important or most urgently required functionality.</a:t>
            </a:r>
            <a:endParaRPr/>
          </a:p>
        </p:txBody>
      </p:sp>
      <p:sp>
        <p:nvSpPr>
          <p:cNvPr id="300" name="Google Shape;300;p13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Incremental Development Benefits</a:t>
            </a:r>
            <a:endParaRPr/>
          </a:p>
        </p:txBody>
      </p:sp>
      <p:sp>
        <p:nvSpPr>
          <p:cNvPr id="306" name="Google Shape;306;p14"/>
          <p:cNvSpPr txBox="1"/>
          <p:nvPr>
            <p:ph idx="1" type="body"/>
          </p:nvPr>
        </p:nvSpPr>
        <p:spPr>
          <a:xfrm>
            <a:off x="1981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</a:t>
            </a:r>
            <a:r>
              <a:rPr b="1" lang="en-US">
                <a:solidFill>
                  <a:srgbClr val="C00000"/>
                </a:solidFill>
              </a:rPr>
              <a:t>cost of accommodating changing </a:t>
            </a:r>
            <a:r>
              <a:rPr lang="en-US"/>
              <a:t>customer requirements is </a:t>
            </a:r>
            <a:r>
              <a:rPr b="1" lang="en-US">
                <a:solidFill>
                  <a:srgbClr val="C00000"/>
                </a:solidFill>
              </a:rPr>
              <a:t>reduced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The amount of analysis and documentation that has to be redone is much less than is required with the waterfall model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is </a:t>
            </a:r>
            <a:r>
              <a:rPr b="1" lang="en-US">
                <a:solidFill>
                  <a:srgbClr val="C00000"/>
                </a:solidFill>
              </a:rPr>
              <a:t>easier to get customer feedback </a:t>
            </a:r>
            <a:r>
              <a:rPr lang="en-US"/>
              <a:t>on the development work that has been done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Customers can comment on demonstrations of the software and see how much has been implemented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More </a:t>
            </a:r>
            <a:r>
              <a:rPr b="1" lang="en-US">
                <a:solidFill>
                  <a:srgbClr val="C00000"/>
                </a:solidFill>
              </a:rPr>
              <a:t>rapid delivery and deployment </a:t>
            </a:r>
            <a:r>
              <a:rPr lang="en-US"/>
              <a:t>of useful software to the customer is possible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Customers are able to use and gain value from the software earlier than is possible with a waterfall process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308" name="Google Shape;308;p14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Incremental Development Problems</a:t>
            </a:r>
            <a:endParaRPr/>
          </a:p>
        </p:txBody>
      </p:sp>
      <p:sp>
        <p:nvSpPr>
          <p:cNvPr id="314" name="Google Shape;314;p15"/>
          <p:cNvSpPr txBox="1"/>
          <p:nvPr>
            <p:ph idx="1" type="body"/>
          </p:nvPr>
        </p:nvSpPr>
        <p:spPr>
          <a:xfrm>
            <a:off x="1981200" y="1600201"/>
            <a:ext cx="8229600" cy="4959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</a:t>
            </a:r>
            <a:r>
              <a:rPr b="1" lang="en-US">
                <a:solidFill>
                  <a:srgbClr val="C00000"/>
                </a:solidFill>
              </a:rPr>
              <a:t>process is not visible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Managers need regular deliverables to measure progress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If systems are developed quickly, it is not cost-effective to produce documents that reflect every version of the system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System </a:t>
            </a:r>
            <a:r>
              <a:rPr b="1" lang="en-US">
                <a:solidFill>
                  <a:srgbClr val="C00000"/>
                </a:solidFill>
              </a:rPr>
              <a:t>structure tends to degrade </a:t>
            </a:r>
            <a:r>
              <a:rPr lang="en-US"/>
              <a:t>as new increments are added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Unless time and money is spent on refactoring to improve the software, regular change tends to corrupt its structure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Incorporating further software changes becomes increasingly difficult and costly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316" name="Google Shape;316;p15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"/>
          <p:cNvSpPr txBox="1"/>
          <p:nvPr>
            <p:ph type="title"/>
          </p:nvPr>
        </p:nvSpPr>
        <p:spPr>
          <a:xfrm>
            <a:off x="2246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AGILE SOFTWARE PROCESS MODELS</a:t>
            </a:r>
            <a:endParaRPr/>
          </a:p>
        </p:txBody>
      </p:sp>
      <p:sp>
        <p:nvSpPr>
          <p:cNvPr id="322" name="Google Shape;322;p16"/>
          <p:cNvSpPr txBox="1"/>
          <p:nvPr>
            <p:ph idx="1" type="body"/>
          </p:nvPr>
        </p:nvSpPr>
        <p:spPr>
          <a:xfrm>
            <a:off x="2246313" y="290671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324" name="Google Shape;324;p16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325" name="Google Shape;325;p16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Plan-Driven and Agile Development…</a:t>
            </a:r>
            <a:endParaRPr/>
          </a:p>
        </p:txBody>
      </p:sp>
      <p:sp>
        <p:nvSpPr>
          <p:cNvPr id="332" name="Google Shape;332;p17"/>
          <p:cNvSpPr/>
          <p:nvPr/>
        </p:nvSpPr>
        <p:spPr>
          <a:xfrm>
            <a:off x="3352801" y="1676400"/>
            <a:ext cx="5626089" cy="42767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334" name="Google Shape;334;p17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5" name="Google Shape;335;p17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8"/>
          <p:cNvSpPr txBox="1"/>
          <p:nvPr>
            <p:ph type="title"/>
          </p:nvPr>
        </p:nvSpPr>
        <p:spPr>
          <a:xfrm>
            <a:off x="839788" y="457200"/>
            <a:ext cx="377196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41" name="Google Shape;341;p18"/>
          <p:cNvSpPr txBox="1"/>
          <p:nvPr>
            <p:ph idx="1" type="body"/>
          </p:nvPr>
        </p:nvSpPr>
        <p:spPr>
          <a:xfrm>
            <a:off x="7036236" y="56921"/>
            <a:ext cx="3386539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9906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 sz="2400">
                <a:solidFill>
                  <a:srgbClr val="FF0000"/>
                </a:solidFill>
              </a:rPr>
              <a:t>PLAN-DRIVEN TEAM </a:t>
            </a:r>
            <a:r>
              <a:rPr lang="en-US" sz="2400"/>
              <a:t>is based separate development stages with the outputs to be produced at each of these stages planned in advance and documentation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 sz="2400">
                <a:solidFill>
                  <a:srgbClr val="FF0000"/>
                </a:solidFill>
              </a:rPr>
              <a:t>AGILE TEAM</a:t>
            </a:r>
            <a:endParaRPr/>
          </a:p>
          <a:p>
            <a:pPr indent="0" lvl="0" marL="25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sz="2400">
                <a:solidFill>
                  <a:srgbClr val="FF0000"/>
                </a:solidFill>
              </a:rPr>
              <a:t>        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Deliver ideally 2-3 weeks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Specification, design, implementation and testing are </a:t>
            </a:r>
            <a:r>
              <a:rPr lang="en-US" sz="2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inter-leaved</a:t>
            </a:r>
            <a:r>
              <a:rPr lang="en-US" sz="2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the outputs from the development process are decided through a process of negotiation during the software development process</a:t>
            </a:r>
            <a:endParaRPr/>
          </a:p>
          <a:p>
            <a:pPr indent="-9906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  <p:sp>
        <p:nvSpPr>
          <p:cNvPr id="342" name="Google Shape;342;p18"/>
          <p:cNvSpPr txBox="1"/>
          <p:nvPr>
            <p:ph idx="2" type="body"/>
          </p:nvPr>
        </p:nvSpPr>
        <p:spPr>
          <a:xfrm>
            <a:off x="1981201" y="1435101"/>
            <a:ext cx="4264429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43" name="Google Shape;343;p18"/>
          <p:cNvSpPr txBox="1"/>
          <p:nvPr>
            <p:ph idx="12" type="sldNum"/>
          </p:nvPr>
        </p:nvSpPr>
        <p:spPr>
          <a:xfrm>
            <a:off x="859012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4" name="Google Shape;3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16" y="266131"/>
            <a:ext cx="6831519" cy="645534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8"/>
          <p:cNvSpPr txBox="1"/>
          <p:nvPr/>
        </p:nvSpPr>
        <p:spPr>
          <a:xfrm>
            <a:off x="326967" y="370070"/>
            <a:ext cx="2884516" cy="646331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Plan-driven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Agile Manifesto</a:t>
            </a:r>
            <a:endParaRPr/>
          </a:p>
        </p:txBody>
      </p:sp>
      <p:sp>
        <p:nvSpPr>
          <p:cNvPr id="351" name="Google Shape;351;p19"/>
          <p:cNvSpPr/>
          <p:nvPr/>
        </p:nvSpPr>
        <p:spPr>
          <a:xfrm>
            <a:off x="2002219" y="1479540"/>
            <a:ext cx="8208020" cy="492126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 txBox="1"/>
          <p:nvPr/>
        </p:nvSpPr>
        <p:spPr>
          <a:xfrm>
            <a:off x="2059941" y="1198193"/>
            <a:ext cx="8053705" cy="49039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b="0" i="0" lang="en-US" sz="1200" u="none" cap="none" strike="noStrike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200" u="sng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http://agilemanifesto.org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654050" rtl="0" algn="l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b="0" i="0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0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philosophy</a:t>
            </a:r>
            <a:r>
              <a:rPr b="0" i="0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emphasizes</a:t>
            </a:r>
            <a:r>
              <a:rPr b="0" i="0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flexibility</a:t>
            </a:r>
            <a:r>
              <a:rPr b="0" i="0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producing</a:t>
            </a:r>
            <a:r>
              <a:rPr b="0" i="0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r>
              <a:rPr b="0" i="0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quickly</a:t>
            </a:r>
            <a:r>
              <a:rPr b="0" i="0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capably.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25654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“We are uncovering better ways of developing software by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doing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helping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others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it.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Through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this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work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we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have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come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value: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756285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AF5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Individuals</a:t>
            </a:r>
            <a:r>
              <a:rPr b="0" i="1" lang="en-US" sz="2000" u="none" cap="none" strike="noStrike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1" lang="en-US" sz="20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interactions</a:t>
            </a:r>
            <a:r>
              <a:rPr b="0" i="1" lang="en-US" sz="2000" u="none" cap="none" strike="noStrike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over</a:t>
            </a:r>
            <a:r>
              <a:rPr b="0" i="1" lang="en-US" sz="20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processes</a:t>
            </a:r>
            <a:r>
              <a:rPr b="0" i="1" lang="en-US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1" lang="en-US" sz="20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7562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AF5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Working</a:t>
            </a:r>
            <a:r>
              <a:rPr b="0" i="1" lang="en-US" sz="2000" u="none" cap="none" strike="noStrike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r>
              <a:rPr b="0" i="1" lang="en-US" sz="2000" u="none" cap="none" strike="noStrike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over</a:t>
            </a:r>
            <a:r>
              <a:rPr b="0" i="1" lang="en-US" sz="20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comprehensive</a:t>
            </a:r>
            <a:r>
              <a:rPr b="0" i="1" lang="en-US" sz="20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documentation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7562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AF5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r>
              <a:rPr b="0" i="1" lang="en-US" sz="2000" u="none" cap="none" strike="noStrike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collaboration</a:t>
            </a:r>
            <a:r>
              <a:rPr b="0" i="1" lang="en-US" sz="2000" u="none" cap="none" strike="noStrike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over</a:t>
            </a:r>
            <a:r>
              <a:rPr b="0" i="1" lang="en-US" sz="20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contract</a:t>
            </a:r>
            <a:r>
              <a:rPr b="0" i="1" lang="en-US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negotiation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6385" lvl="1" marL="75628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AF50"/>
              </a:buClr>
              <a:buSzPts val="2000"/>
              <a:buFont typeface="Noto Sans Symbols"/>
              <a:buChar char="▪"/>
            </a:pPr>
            <a:r>
              <a:rPr b="0" i="1" lang="en-US" sz="2000" u="none" cap="none" strike="noStrike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Responding</a:t>
            </a:r>
            <a:r>
              <a:rPr b="0" i="1" lang="en-US" sz="2000" u="none" cap="none" strike="noStrike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1" lang="en-US" sz="2000" u="none" cap="none" strike="noStrike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change</a:t>
            </a:r>
            <a:r>
              <a:rPr b="0" i="1" lang="en-US" sz="2000" u="none" cap="none" strike="noStrike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over</a:t>
            </a:r>
            <a:r>
              <a:rPr b="0" i="1" lang="en-US" sz="20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following</a:t>
            </a:r>
            <a:r>
              <a:rPr b="0" i="1" lang="en-US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1" lang="en-US" sz="20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895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is,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there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items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right,</a:t>
            </a:r>
            <a:r>
              <a:rPr b="0" i="1" lang="en-US" sz="2400" u="none" cap="none" strike="noStrike">
                <a:solidFill>
                  <a:srgbClr val="4642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we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rPr>
              <a:t>value the items on the left more.”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9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354" name="Google Shape;354;p19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" name="Google Shape;355;p19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Principles of Agile Methods</a:t>
            </a:r>
            <a:endParaRPr/>
          </a:p>
        </p:txBody>
      </p:sp>
      <p:graphicFrame>
        <p:nvGraphicFramePr>
          <p:cNvPr id="361" name="Google Shape;361;p20"/>
          <p:cNvGraphicFramePr/>
          <p:nvPr/>
        </p:nvGraphicFramePr>
        <p:xfrm>
          <a:off x="1676401" y="1524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{7D2C2384-4AF5-450E-A5C7-469FF8ABA2CD}</a:tableStyleId>
              </a:tblPr>
              <a:tblGrid>
                <a:gridCol w="1524000"/>
                <a:gridCol w="7180825"/>
                <a:gridCol w="134350"/>
              </a:tblGrid>
              <a:tr h="387250"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Principle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0B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0BC"/>
                    </a:solidFill>
                  </a:tcPr>
                </a:tc>
                <a:tc hMerge="1"/>
              </a:tr>
              <a:tr h="1204975"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involvement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66675" marR="5588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should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closely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involved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throughout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development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process.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Their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role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provide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prioritize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new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requirements,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select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features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included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each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successive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build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evaluate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iterations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of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system.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0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 hMerge="1"/>
              </a:tr>
              <a:tr h="708150"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Incremental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delivery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software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developed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increments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specifying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requirements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included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each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increment.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 hMerge="1"/>
              </a:tr>
              <a:tr h="900050"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People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not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66675" marR="5715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skills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of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development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team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should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recognized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exploited.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Team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members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should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left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develop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their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own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ways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of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working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without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prescriptive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processes.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 hMerge="1"/>
              </a:tr>
              <a:tr h="702350"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Embrace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change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66675" marR="5715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Expect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requirements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change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design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system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accommodate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these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changes.</a:t>
                      </a:r>
                      <a:endParaRPr sz="1400" u="none" cap="none" strike="noStrike"/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DF4"/>
                    </a:solidFill>
                  </a:tcPr>
                </a:tc>
                <a:tc hMerge="1"/>
              </a:tr>
              <a:tr h="995750"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Maintain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simplicity</a:t>
                      </a:r>
                      <a:endParaRPr sz="1400" u="none" cap="none" strike="noStrike"/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6675" marR="57785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Focus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on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simplicity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both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software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being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developed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development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process.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Wherever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possible,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actively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work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eliminate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complexity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from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</a:t>
                      </a: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system.</a:t>
                      </a:r>
                      <a:endParaRPr sz="1400" u="none" cap="none" strike="noStrike"/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  <p:sp>
        <p:nvSpPr>
          <p:cNvPr id="362" name="Google Shape;362;p20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363" name="Google Shape;363;p20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20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Agile Methods Applicability</a:t>
            </a:r>
            <a:endParaRPr/>
          </a:p>
        </p:txBody>
      </p:sp>
      <p:sp>
        <p:nvSpPr>
          <p:cNvPr id="370" name="Google Shape;370;p21"/>
          <p:cNvSpPr txBox="1"/>
          <p:nvPr>
            <p:ph idx="1" type="body"/>
          </p:nvPr>
        </p:nvSpPr>
        <p:spPr>
          <a:xfrm>
            <a:off x="1905000" y="16764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Product development where a software company is developing a </a:t>
            </a:r>
            <a:r>
              <a:rPr lang="en-US">
                <a:solidFill>
                  <a:srgbClr val="C00000"/>
                </a:solidFill>
              </a:rPr>
              <a:t>small or medium-sized product </a:t>
            </a:r>
            <a:r>
              <a:rPr lang="en-US"/>
              <a:t>for sale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Virtually all software products and apps are now developed using an agile approach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Custom system development within an organization, where: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there is a </a:t>
            </a:r>
            <a:r>
              <a:rPr lang="en-US">
                <a:solidFill>
                  <a:srgbClr val="C00000"/>
                </a:solidFill>
              </a:rPr>
              <a:t>clear commitment from the customer</a:t>
            </a:r>
            <a:r>
              <a:rPr lang="en-US"/>
              <a:t> to become involved in the development process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/>
              <a:t>there are </a:t>
            </a:r>
            <a:r>
              <a:rPr lang="en-US">
                <a:solidFill>
                  <a:srgbClr val="C00000"/>
                </a:solidFill>
              </a:rPr>
              <a:t>few external rules and regulations </a:t>
            </a:r>
            <a:r>
              <a:rPr lang="en-US"/>
              <a:t>that affect the software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71" name="Google Shape;371;p21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372" name="Google Shape;372;p21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3" name="Google Shape;373;p21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"/>
          <p:cNvSpPr txBox="1"/>
          <p:nvPr>
            <p:ph type="title"/>
          </p:nvPr>
        </p:nvSpPr>
        <p:spPr>
          <a:xfrm>
            <a:off x="2246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AGILE DEVELOPMENT TECHNIQUES</a:t>
            </a:r>
            <a:endParaRPr/>
          </a:p>
        </p:txBody>
      </p:sp>
      <p:sp>
        <p:nvSpPr>
          <p:cNvPr id="379" name="Google Shape;379;p22"/>
          <p:cNvSpPr txBox="1"/>
          <p:nvPr>
            <p:ph idx="1" type="body"/>
          </p:nvPr>
        </p:nvSpPr>
        <p:spPr>
          <a:xfrm>
            <a:off x="2246313" y="290671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80" name="Google Shape;380;p22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381" name="Google Shape;381;p22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382" name="Google Shape;382;p22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Agile Development Techniques</a:t>
            </a:r>
            <a:endParaRPr/>
          </a:p>
        </p:txBody>
      </p:sp>
      <p:pic>
        <p:nvPicPr>
          <p:cNvPr descr="umbrella.png" id="388" name="Google Shape;3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1400" y="1524000"/>
            <a:ext cx="4813300" cy="4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3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390" name="Google Shape;390;p23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23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>
            <a:off x="3657600" y="4343400"/>
            <a:ext cx="1524000" cy="53340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3"/>
          <p:cNvSpPr/>
          <p:nvPr/>
        </p:nvSpPr>
        <p:spPr>
          <a:xfrm>
            <a:off x="3835021" y="5581934"/>
            <a:ext cx="1924334" cy="615666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3"/>
          <p:cNvSpPr txBox="1"/>
          <p:nvPr/>
        </p:nvSpPr>
        <p:spPr>
          <a:xfrm>
            <a:off x="6810233" y="5217279"/>
            <a:ext cx="2645276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Hybrid Agile Model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3"/>
          <p:cNvSpPr/>
          <p:nvPr/>
        </p:nvSpPr>
        <p:spPr>
          <a:xfrm>
            <a:off x="6723987" y="5140278"/>
            <a:ext cx="2731522" cy="615666"/>
          </a:xfrm>
          <a:prstGeom prst="rect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4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Extreme Programming (XP)</a:t>
            </a:r>
            <a:endParaRPr/>
          </a:p>
        </p:txBody>
      </p:sp>
      <p:sp>
        <p:nvSpPr>
          <p:cNvPr id="401" name="Google Shape;401;p24"/>
          <p:cNvSpPr txBox="1"/>
          <p:nvPr>
            <p:ph idx="1" type="body"/>
          </p:nvPr>
        </p:nvSpPr>
        <p:spPr>
          <a:xfrm>
            <a:off x="1981200" y="17526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very influential agile method, developed in the late 1990s, that introduced a range of agile development techniques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Extreme Programming (XP) takes an ‘extreme’ approach to iterative development: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ourier New"/>
              <a:buChar char="o"/>
            </a:pPr>
            <a:r>
              <a:rPr lang="en-US">
                <a:solidFill>
                  <a:srgbClr val="C00000"/>
                </a:solidFill>
              </a:rPr>
              <a:t>New versions </a:t>
            </a:r>
            <a:r>
              <a:rPr lang="en-US"/>
              <a:t>may be built several times per day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ourier New"/>
              <a:buChar char="o"/>
            </a:pPr>
            <a:r>
              <a:rPr lang="en-US">
                <a:solidFill>
                  <a:srgbClr val="C00000"/>
                </a:solidFill>
              </a:rPr>
              <a:t>Increments</a:t>
            </a:r>
            <a:r>
              <a:rPr lang="en-US"/>
              <a:t> are delivered to customers every 2 weeks </a:t>
            </a:r>
            <a:endParaRPr/>
          </a:p>
          <a:p>
            <a:pPr indent="-285750" lvl="1" marL="742950" rtl="0" algn="just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ourier New"/>
              <a:buChar char="o"/>
            </a:pPr>
            <a:r>
              <a:rPr lang="en-US">
                <a:solidFill>
                  <a:srgbClr val="C00000"/>
                </a:solidFill>
              </a:rPr>
              <a:t>All tests </a:t>
            </a:r>
            <a:r>
              <a:rPr lang="en-US"/>
              <a:t>must be run for every build and the build is only accepted if tests run successfully</a:t>
            </a:r>
            <a:endParaRPr/>
          </a:p>
          <a:p>
            <a:pPr indent="-154940" lvl="0" marL="342900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02" name="Google Shape;402;p24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403" name="Google Shape;403;p24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24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5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Extreme Programming </a:t>
            </a:r>
            <a:br>
              <a:rPr lang="en-US"/>
            </a:br>
            <a:r>
              <a:rPr lang="en-US"/>
              <a:t>Release Cycle</a:t>
            </a:r>
            <a:endParaRPr/>
          </a:p>
        </p:txBody>
      </p:sp>
      <p:sp>
        <p:nvSpPr>
          <p:cNvPr id="410" name="Google Shape;410;p25"/>
          <p:cNvSpPr/>
          <p:nvPr/>
        </p:nvSpPr>
        <p:spPr>
          <a:xfrm>
            <a:off x="2789999" y="2394967"/>
            <a:ext cx="6592823" cy="287184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5"/>
          <p:cNvSpPr txBox="1"/>
          <p:nvPr/>
        </p:nvSpPr>
        <p:spPr>
          <a:xfrm>
            <a:off x="1764892" y="3260381"/>
            <a:ext cx="827405" cy="682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b="0"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0"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r>
              <a:rPr b="0"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estimates</a:t>
            </a:r>
            <a:r>
              <a:rPr b="0"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</a:t>
            </a:r>
            <a:r>
              <a:rPr b="0"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</a:t>
            </a:r>
            <a:r>
              <a:rPr b="0"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</a:t>
            </a:r>
            <a:r>
              <a:rPr b="0" i="0" lang="en-US" sz="10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5" marR="0" rtl="0" algn="ctr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5"/>
          <p:cNvSpPr txBox="1"/>
          <p:nvPr/>
        </p:nvSpPr>
        <p:spPr>
          <a:xfrm>
            <a:off x="2059940" y="1991412"/>
            <a:ext cx="25603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r>
              <a:rPr b="0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b="0" i="0" lang="en-US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2715030" y="3058425"/>
            <a:ext cx="451484" cy="572135"/>
          </a:xfrm>
          <a:custGeom>
            <a:rect b="b" l="l" r="r" t="t"/>
            <a:pathLst>
              <a:path extrusionOk="0" h="572135" w="451485">
                <a:moveTo>
                  <a:pt x="328057" y="113214"/>
                </a:moveTo>
                <a:lnTo>
                  <a:pt x="276596" y="193033"/>
                </a:lnTo>
                <a:lnTo>
                  <a:pt x="270235" y="214121"/>
                </a:lnTo>
                <a:lnTo>
                  <a:pt x="262615" y="236585"/>
                </a:lnTo>
                <a:lnTo>
                  <a:pt x="245851" y="279653"/>
                </a:lnTo>
                <a:lnTo>
                  <a:pt x="226420" y="320405"/>
                </a:lnTo>
                <a:lnTo>
                  <a:pt x="205203" y="358383"/>
                </a:lnTo>
                <a:lnTo>
                  <a:pt x="182343" y="393039"/>
                </a:lnTo>
                <a:lnTo>
                  <a:pt x="157840" y="424159"/>
                </a:lnTo>
                <a:lnTo>
                  <a:pt x="119609" y="462899"/>
                </a:lnTo>
                <a:lnTo>
                  <a:pt x="80235" y="491489"/>
                </a:lnTo>
                <a:lnTo>
                  <a:pt x="41041" y="508863"/>
                </a:lnTo>
                <a:lnTo>
                  <a:pt x="0" y="514959"/>
                </a:lnTo>
                <a:lnTo>
                  <a:pt x="2810" y="572109"/>
                </a:lnTo>
                <a:lnTo>
                  <a:pt x="54732" y="564367"/>
                </a:lnTo>
                <a:lnTo>
                  <a:pt x="106905" y="541903"/>
                </a:lnTo>
                <a:lnTo>
                  <a:pt x="139802" y="520171"/>
                </a:lnTo>
                <a:lnTo>
                  <a:pt x="171044" y="493379"/>
                </a:lnTo>
                <a:lnTo>
                  <a:pt x="200381" y="462381"/>
                </a:lnTo>
                <a:lnTo>
                  <a:pt x="227944" y="427481"/>
                </a:lnTo>
                <a:lnTo>
                  <a:pt x="253471" y="389107"/>
                </a:lnTo>
                <a:lnTo>
                  <a:pt x="276831" y="347593"/>
                </a:lnTo>
                <a:lnTo>
                  <a:pt x="297786" y="303275"/>
                </a:lnTo>
                <a:lnTo>
                  <a:pt x="316205" y="256519"/>
                </a:lnTo>
                <a:lnTo>
                  <a:pt x="331826" y="208025"/>
                </a:lnTo>
                <a:lnTo>
                  <a:pt x="344399" y="157733"/>
                </a:lnTo>
                <a:lnTo>
                  <a:pt x="346331" y="147934"/>
                </a:lnTo>
                <a:lnTo>
                  <a:pt x="328057" y="113214"/>
                </a:lnTo>
                <a:close/>
              </a:path>
              <a:path extrusionOk="0" h="572135" w="451485">
                <a:moveTo>
                  <a:pt x="361384" y="53949"/>
                </a:moveTo>
                <a:lnTo>
                  <a:pt x="302108" y="53949"/>
                </a:lnTo>
                <a:lnTo>
                  <a:pt x="359008" y="59283"/>
                </a:lnTo>
                <a:lnTo>
                  <a:pt x="357103" y="79857"/>
                </a:lnTo>
                <a:lnTo>
                  <a:pt x="353793" y="106161"/>
                </a:lnTo>
                <a:lnTo>
                  <a:pt x="349483" y="131947"/>
                </a:lnTo>
                <a:lnTo>
                  <a:pt x="346331" y="147934"/>
                </a:lnTo>
                <a:lnTo>
                  <a:pt x="397739" y="245607"/>
                </a:lnTo>
                <a:lnTo>
                  <a:pt x="405639" y="254968"/>
                </a:lnTo>
                <a:lnTo>
                  <a:pt x="416321" y="260053"/>
                </a:lnTo>
                <a:lnTo>
                  <a:pt x="428215" y="260379"/>
                </a:lnTo>
                <a:lnTo>
                  <a:pt x="441057" y="252163"/>
                </a:lnTo>
                <a:lnTo>
                  <a:pt x="448674" y="242413"/>
                </a:lnTo>
                <a:lnTo>
                  <a:pt x="451381" y="231937"/>
                </a:lnTo>
                <a:lnTo>
                  <a:pt x="449493" y="221541"/>
                </a:lnTo>
                <a:lnTo>
                  <a:pt x="448281" y="218937"/>
                </a:lnTo>
                <a:lnTo>
                  <a:pt x="361384" y="53949"/>
                </a:lnTo>
                <a:close/>
              </a:path>
              <a:path extrusionOk="0" h="572135" w="451485">
                <a:moveTo>
                  <a:pt x="332969" y="0"/>
                </a:moveTo>
                <a:lnTo>
                  <a:pt x="199238" y="208269"/>
                </a:lnTo>
                <a:lnTo>
                  <a:pt x="194930" y="219658"/>
                </a:lnTo>
                <a:lnTo>
                  <a:pt x="195723" y="231393"/>
                </a:lnTo>
                <a:lnTo>
                  <a:pt x="201232" y="241873"/>
                </a:lnTo>
                <a:lnTo>
                  <a:pt x="214364" y="248965"/>
                </a:lnTo>
                <a:lnTo>
                  <a:pt x="226320" y="250996"/>
                </a:lnTo>
                <a:lnTo>
                  <a:pt x="236609" y="248608"/>
                </a:lnTo>
                <a:lnTo>
                  <a:pt x="276596" y="193033"/>
                </a:lnTo>
                <a:lnTo>
                  <a:pt x="288773" y="144627"/>
                </a:lnTo>
                <a:lnTo>
                  <a:pt x="297286" y="96895"/>
                </a:lnTo>
                <a:lnTo>
                  <a:pt x="302108" y="53949"/>
                </a:lnTo>
                <a:lnTo>
                  <a:pt x="361384" y="53949"/>
                </a:lnTo>
                <a:lnTo>
                  <a:pt x="332969" y="0"/>
                </a:lnTo>
                <a:close/>
              </a:path>
              <a:path extrusionOk="0" h="572135" w="451485">
                <a:moveTo>
                  <a:pt x="302108" y="53949"/>
                </a:moveTo>
                <a:lnTo>
                  <a:pt x="297286" y="96895"/>
                </a:lnTo>
                <a:lnTo>
                  <a:pt x="288773" y="144627"/>
                </a:lnTo>
                <a:lnTo>
                  <a:pt x="277093" y="191383"/>
                </a:lnTo>
                <a:lnTo>
                  <a:pt x="276596" y="193033"/>
                </a:lnTo>
                <a:lnTo>
                  <a:pt x="328057" y="113214"/>
                </a:lnTo>
                <a:lnTo>
                  <a:pt x="305287" y="69951"/>
                </a:lnTo>
                <a:lnTo>
                  <a:pt x="358020" y="69951"/>
                </a:lnTo>
                <a:lnTo>
                  <a:pt x="359008" y="59283"/>
                </a:lnTo>
                <a:lnTo>
                  <a:pt x="302108" y="53949"/>
                </a:lnTo>
                <a:close/>
              </a:path>
              <a:path extrusionOk="0" h="572135" w="451485">
                <a:moveTo>
                  <a:pt x="358020" y="69951"/>
                </a:moveTo>
                <a:lnTo>
                  <a:pt x="305287" y="69951"/>
                </a:lnTo>
                <a:lnTo>
                  <a:pt x="354555" y="72115"/>
                </a:lnTo>
                <a:lnTo>
                  <a:pt x="328057" y="113214"/>
                </a:lnTo>
                <a:lnTo>
                  <a:pt x="346331" y="147934"/>
                </a:lnTo>
                <a:lnTo>
                  <a:pt x="349483" y="131947"/>
                </a:lnTo>
                <a:lnTo>
                  <a:pt x="353793" y="106161"/>
                </a:lnTo>
                <a:lnTo>
                  <a:pt x="357103" y="79857"/>
                </a:lnTo>
                <a:lnTo>
                  <a:pt x="358020" y="69951"/>
                </a:lnTo>
                <a:close/>
              </a:path>
              <a:path extrusionOk="0" h="572135" w="451485">
                <a:moveTo>
                  <a:pt x="305287" y="69951"/>
                </a:moveTo>
                <a:lnTo>
                  <a:pt x="328057" y="113214"/>
                </a:lnTo>
                <a:lnTo>
                  <a:pt x="354555" y="72115"/>
                </a:lnTo>
                <a:lnTo>
                  <a:pt x="305287" y="69951"/>
                </a:lnTo>
                <a:close/>
              </a:path>
            </a:pathLst>
          </a:custGeom>
          <a:solidFill>
            <a:srgbClr val="4F80B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5"/>
          <p:cNvSpPr/>
          <p:nvPr/>
        </p:nvSpPr>
        <p:spPr>
          <a:xfrm>
            <a:off x="2525268" y="2241805"/>
            <a:ext cx="7289291" cy="123291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416" name="Google Shape;416;p25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7" name="Google Shape;417;p25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6"/>
          <p:cNvSpPr txBox="1"/>
          <p:nvPr>
            <p:ph type="title"/>
          </p:nvPr>
        </p:nvSpPr>
        <p:spPr>
          <a:xfrm>
            <a:off x="2246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AGILE PROJECT MANAGEMENT</a:t>
            </a:r>
            <a:endParaRPr/>
          </a:p>
        </p:txBody>
      </p:sp>
      <p:sp>
        <p:nvSpPr>
          <p:cNvPr id="423" name="Google Shape;423;p26"/>
          <p:cNvSpPr txBox="1"/>
          <p:nvPr>
            <p:ph idx="1" type="body"/>
          </p:nvPr>
        </p:nvSpPr>
        <p:spPr>
          <a:xfrm>
            <a:off x="2246313" y="290671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24" name="Google Shape;424;p26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425" name="Google Shape;425;p26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426" name="Google Shape;426;p26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7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Agile Project Management</a:t>
            </a:r>
            <a:endParaRPr/>
          </a:p>
        </p:txBody>
      </p:sp>
      <p:sp>
        <p:nvSpPr>
          <p:cNvPr id="432" name="Google Shape;432;p27"/>
          <p:cNvSpPr txBox="1"/>
          <p:nvPr>
            <p:ph idx="1" type="body"/>
          </p:nvPr>
        </p:nvSpPr>
        <p:spPr>
          <a:xfrm>
            <a:off x="1752600" y="1515981"/>
            <a:ext cx="8686800" cy="4486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00"/>
              <a:t>The principal responsibility of </a:t>
            </a:r>
            <a:r>
              <a:rPr b="1" lang="en-US" sz="3400">
                <a:solidFill>
                  <a:srgbClr val="C00000"/>
                </a:solidFill>
              </a:rPr>
              <a:t>software project managers </a:t>
            </a:r>
            <a:r>
              <a:rPr lang="en-US" sz="3400"/>
              <a:t>is to manage the project so that the software is delivered on time and within the planned budget for the project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00"/>
              <a:t>The standard approach to project management is</a:t>
            </a:r>
            <a:r>
              <a:rPr lang="en-US" sz="3400">
                <a:solidFill>
                  <a:srgbClr val="FF0000"/>
                </a:solidFill>
              </a:rPr>
              <a:t> </a:t>
            </a:r>
            <a:r>
              <a:rPr b="1" lang="en-US" sz="3400">
                <a:solidFill>
                  <a:srgbClr val="C00000"/>
                </a:solidFill>
              </a:rPr>
              <a:t>plan- driven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00"/>
              <a:t>Managers draw up a plan for the project showing </a:t>
            </a:r>
            <a:r>
              <a:rPr b="1" lang="en-US" sz="3400">
                <a:solidFill>
                  <a:srgbClr val="C00000"/>
                </a:solidFill>
              </a:rPr>
              <a:t>what</a:t>
            </a:r>
            <a:r>
              <a:rPr lang="en-US" sz="3400"/>
              <a:t> should be delivered, </a:t>
            </a:r>
            <a:r>
              <a:rPr b="1" lang="en-US" sz="3400">
                <a:solidFill>
                  <a:srgbClr val="C00000"/>
                </a:solidFill>
              </a:rPr>
              <a:t>when</a:t>
            </a:r>
            <a:r>
              <a:rPr lang="en-US" sz="3400"/>
              <a:t> it should be delivered and </a:t>
            </a:r>
            <a:r>
              <a:rPr b="1" lang="en-US" sz="3400">
                <a:solidFill>
                  <a:srgbClr val="C00000"/>
                </a:solidFill>
              </a:rPr>
              <a:t>who</a:t>
            </a:r>
            <a:r>
              <a:rPr lang="en-US" sz="3400"/>
              <a:t> will work on the development of the project deliverables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27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400"/>
              <a:t>Agile project management requires a different approach, which is </a:t>
            </a:r>
            <a:r>
              <a:rPr b="1" lang="en-US" sz="3400">
                <a:solidFill>
                  <a:srgbClr val="C00000"/>
                </a:solidFill>
              </a:rPr>
              <a:t>adapted to incremental development </a:t>
            </a:r>
            <a:r>
              <a:rPr lang="en-US" sz="3400"/>
              <a:t>and the practices used in agile methods </a:t>
            </a:r>
            <a:endParaRPr/>
          </a:p>
          <a:p>
            <a:pPr indent="-18542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33" name="Google Shape;433;p27"/>
          <p:cNvSpPr/>
          <p:nvPr/>
        </p:nvSpPr>
        <p:spPr>
          <a:xfrm>
            <a:off x="6567714" y="4811484"/>
            <a:ext cx="3396996" cy="17640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7"/>
          <p:cNvSpPr txBox="1"/>
          <p:nvPr/>
        </p:nvSpPr>
        <p:spPr>
          <a:xfrm>
            <a:off x="2487391" y="6086270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7"/>
          <p:cNvSpPr txBox="1"/>
          <p:nvPr/>
        </p:nvSpPr>
        <p:spPr>
          <a:xfrm>
            <a:off x="2925295" y="5976804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7"/>
          <p:cNvSpPr txBox="1"/>
          <p:nvPr/>
        </p:nvSpPr>
        <p:spPr>
          <a:xfrm>
            <a:off x="3657600" y="6019800"/>
            <a:ext cx="29146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©</a:t>
            </a:r>
            <a:r>
              <a:rPr b="0" i="0" lang="en-US" sz="1200" u="none" cap="none" strike="noStrike">
                <a:solidFill>
                  <a:srgbClr val="A5A5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200" u="sng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http://www.planbox.com/resources/agile-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project-management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7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438" name="Google Shape;438;p27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" name="Google Shape;439;p27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8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Scrum Process</a:t>
            </a:r>
            <a:endParaRPr/>
          </a:p>
        </p:txBody>
      </p:sp>
      <p:sp>
        <p:nvSpPr>
          <p:cNvPr id="445" name="Google Shape;445;p28"/>
          <p:cNvSpPr/>
          <p:nvPr/>
        </p:nvSpPr>
        <p:spPr>
          <a:xfrm>
            <a:off x="2286001" y="1828801"/>
            <a:ext cx="7750233" cy="416393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8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447" name="Google Shape;447;p28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8" name="Google Shape;448;p28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Scrum Analogy</a:t>
            </a:r>
            <a:endParaRPr/>
          </a:p>
        </p:txBody>
      </p:sp>
      <p:sp>
        <p:nvSpPr>
          <p:cNvPr id="454" name="Google Shape;454;p29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455" name="Google Shape;455;p29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6" name="Google Shape;456;p29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457" name="Google Shape;457;p29"/>
          <p:cNvSpPr txBox="1"/>
          <p:nvPr>
            <p:ph idx="1" type="body"/>
          </p:nvPr>
        </p:nvSpPr>
        <p:spPr>
          <a:xfrm>
            <a:off x="1981200" y="1600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1800"/>
              <a:t>Building a house, room by room, with regular feedback</a:t>
            </a:r>
            <a:r>
              <a:rPr lang="en-US" sz="1800"/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1800"/>
              <a:t>Product Backlog</a:t>
            </a:r>
            <a:r>
              <a:rPr lang="en-US" sz="1800"/>
              <a:t>: Imagine you are building a house and have a complete list of features you want (rooms, kitchen, bathrooms). This is your </a:t>
            </a:r>
            <a:r>
              <a:rPr b="1" lang="en-US" sz="1800"/>
              <a:t>product backlog</a:t>
            </a:r>
            <a:r>
              <a:rPr lang="en-US" sz="18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1800"/>
              <a:t>Sprint Planning</a:t>
            </a:r>
            <a:r>
              <a:rPr lang="en-US" sz="1800"/>
              <a:t>: Each sprint is like choosing one room to build (e.g., the kitchen). The team discusses the details of what needs to be done for this room during </a:t>
            </a:r>
            <a:r>
              <a:rPr b="1" lang="en-US" sz="1800"/>
              <a:t>sprint planning</a:t>
            </a:r>
            <a:r>
              <a:rPr lang="en-US" sz="18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1800"/>
              <a:t>Sprint</a:t>
            </a:r>
            <a:r>
              <a:rPr lang="en-US" sz="1800"/>
              <a:t>: During the sprint, the construction team focuses solely on building that one room. They hold </a:t>
            </a:r>
            <a:r>
              <a:rPr b="1" lang="en-US" sz="1800"/>
              <a:t>daily meetings</a:t>
            </a:r>
            <a:r>
              <a:rPr lang="en-US" sz="1800"/>
              <a:t> (daily Scrums) to ensure everyone is on the same page and progress is being made.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1800"/>
              <a:t>Task Board and Burndown Chart</a:t>
            </a:r>
            <a:r>
              <a:rPr lang="en-US" sz="1800"/>
              <a:t>: The task board is like a construction to-do list, showing what's done, in progress, or yet to be started. The </a:t>
            </a:r>
            <a:r>
              <a:rPr b="1" lang="en-US" sz="1800"/>
              <a:t>burndown chart</a:t>
            </a:r>
            <a:r>
              <a:rPr lang="en-US" sz="1800"/>
              <a:t> tracks how quickly work is being completed, ensuring the project is on schedule.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1800"/>
              <a:t>Sprint Review &amp; Retrospective</a:t>
            </a:r>
            <a:r>
              <a:rPr lang="en-US" sz="1800"/>
              <a:t>: Once the room (sprint) is finished, the team meets for a </a:t>
            </a:r>
            <a:r>
              <a:rPr b="1" lang="en-US" sz="1800"/>
              <a:t>review</a:t>
            </a:r>
            <a:r>
              <a:rPr lang="en-US" sz="1800"/>
              <a:t> with the homeowner (product owner) to ensure it meets expectations. They also hold a </a:t>
            </a:r>
            <a:r>
              <a:rPr b="1" lang="en-US" sz="1800"/>
              <a:t>retrospective</a:t>
            </a:r>
            <a:r>
              <a:rPr lang="en-US" sz="1800"/>
              <a:t> to reflect on what went well or what could be improved before starting the next room.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US" sz="1800"/>
              <a:t>Working Software</a:t>
            </a:r>
            <a:r>
              <a:rPr lang="en-US" sz="1800"/>
              <a:t>: After each sprint, a part of the house is complete and functional, much like how a </a:t>
            </a:r>
            <a:r>
              <a:rPr b="1" lang="en-US" sz="1800"/>
              <a:t>working increment of software</a:t>
            </a:r>
            <a:r>
              <a:rPr lang="en-US" sz="1800"/>
              <a:t> is produced after each sprint.</a:t>
            </a:r>
            <a:endParaRPr/>
          </a:p>
          <a:p>
            <a:pPr indent="-122872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0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Task Board</a:t>
            </a:r>
            <a:endParaRPr/>
          </a:p>
        </p:txBody>
      </p:sp>
      <p:pic>
        <p:nvPicPr>
          <p:cNvPr descr="task.jpg" id="463" name="Google Shape;4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447800"/>
            <a:ext cx="8763000" cy="5014796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0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465" name="Google Shape;465;p30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6" name="Google Shape;466;p30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1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Scrum Sprint Cycle</a:t>
            </a:r>
            <a:endParaRPr/>
          </a:p>
        </p:txBody>
      </p:sp>
      <p:sp>
        <p:nvSpPr>
          <p:cNvPr id="472" name="Google Shape;472;p31"/>
          <p:cNvSpPr txBox="1"/>
          <p:nvPr>
            <p:ph idx="1" type="body"/>
          </p:nvPr>
        </p:nvSpPr>
        <p:spPr>
          <a:xfrm>
            <a:off x="1981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Sprints are fixed length, normally 2–4 weeks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starting point for planning is the </a:t>
            </a:r>
            <a:r>
              <a:rPr lang="en-US">
                <a:solidFill>
                  <a:srgbClr val="C00000"/>
                </a:solidFill>
              </a:rPr>
              <a:t>product backlog</a:t>
            </a:r>
            <a:r>
              <a:rPr lang="en-US"/>
              <a:t>, which is the list of work to be done on the project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</a:t>
            </a:r>
            <a:r>
              <a:rPr lang="en-US">
                <a:solidFill>
                  <a:srgbClr val="C00000"/>
                </a:solidFill>
              </a:rPr>
              <a:t>selection phase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involves all the project team members who work with the customer to select the </a:t>
            </a:r>
            <a:r>
              <a:rPr lang="en-US">
                <a:solidFill>
                  <a:srgbClr val="C00000"/>
                </a:solidFill>
              </a:rPr>
              <a:t>features and functionality </a:t>
            </a:r>
            <a:r>
              <a:rPr lang="en-US"/>
              <a:t>from the </a:t>
            </a:r>
            <a:r>
              <a:rPr lang="en-US">
                <a:solidFill>
                  <a:srgbClr val="C00000"/>
                </a:solidFill>
              </a:rPr>
              <a:t>product backlog </a:t>
            </a:r>
            <a:r>
              <a:rPr lang="en-US"/>
              <a:t>to be developed during the sprint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73" name="Google Shape;473;p31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474" name="Google Shape;474;p31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p31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2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Sprint Cycle</a:t>
            </a:r>
            <a:endParaRPr/>
          </a:p>
        </p:txBody>
      </p:sp>
      <p:sp>
        <p:nvSpPr>
          <p:cNvPr id="481" name="Google Shape;481;p32"/>
          <p:cNvSpPr txBox="1"/>
          <p:nvPr>
            <p:ph idx="1" type="body"/>
          </p:nvPr>
        </p:nvSpPr>
        <p:spPr>
          <a:xfrm>
            <a:off x="1981200" y="1600201"/>
            <a:ext cx="84582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Once these are agreed, the team organize themselves to develop the software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During this stage the </a:t>
            </a:r>
            <a:r>
              <a:rPr lang="en-US" sz="2600">
                <a:solidFill>
                  <a:srgbClr val="C00000"/>
                </a:solidFill>
              </a:rPr>
              <a:t>team is isolated from the customer and the organization</a:t>
            </a:r>
            <a:r>
              <a:rPr lang="en-US" sz="2600"/>
              <a:t>, with all communications channelled through the so-called ‘Scrum master’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The role of the </a:t>
            </a:r>
            <a:r>
              <a:rPr lang="en-US" sz="2600">
                <a:solidFill>
                  <a:srgbClr val="C00000"/>
                </a:solidFill>
              </a:rPr>
              <a:t>Scrum master </a:t>
            </a:r>
            <a:r>
              <a:rPr lang="en-US" sz="2600"/>
              <a:t>is to protect the development team from external distractions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At the </a:t>
            </a:r>
            <a:r>
              <a:rPr lang="en-US" sz="2600">
                <a:solidFill>
                  <a:srgbClr val="C00000"/>
                </a:solidFill>
              </a:rPr>
              <a:t>end of the sprint</a:t>
            </a:r>
            <a:r>
              <a:rPr lang="en-US" sz="2600"/>
              <a:t>, the work done is </a:t>
            </a:r>
            <a:r>
              <a:rPr lang="en-US" sz="2600">
                <a:solidFill>
                  <a:srgbClr val="C00000"/>
                </a:solidFill>
              </a:rPr>
              <a:t>reviewed and presented </a:t>
            </a:r>
            <a:r>
              <a:rPr lang="en-US" sz="2600"/>
              <a:t>to stakeholders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The next sprint cycle then begins</a:t>
            </a:r>
            <a:endParaRPr/>
          </a:p>
          <a:p>
            <a:pPr indent="-177800" lvl="0" marL="342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  <p:sp>
        <p:nvSpPr>
          <p:cNvPr id="482" name="Google Shape;482;p32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483" name="Google Shape;483;p32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4" name="Google Shape;484;p32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3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Teamwork in Scrum</a:t>
            </a:r>
            <a:endParaRPr/>
          </a:p>
        </p:txBody>
      </p:sp>
      <p:sp>
        <p:nvSpPr>
          <p:cNvPr id="490" name="Google Shape;490;p33"/>
          <p:cNvSpPr txBox="1"/>
          <p:nvPr>
            <p:ph idx="1" type="body"/>
          </p:nvPr>
        </p:nvSpPr>
        <p:spPr>
          <a:xfrm>
            <a:off x="1981200" y="16002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‘</a:t>
            </a:r>
            <a:r>
              <a:rPr b="1" lang="en-US" sz="2400">
                <a:solidFill>
                  <a:srgbClr val="C00000"/>
                </a:solidFill>
              </a:rPr>
              <a:t>Scrum master</a:t>
            </a:r>
            <a:r>
              <a:rPr lang="en-US" sz="2400"/>
              <a:t>’ is a facilitator who arranges daily meetings, tracks the backlog of work to be done, records decisions, measures progress against the backlog and communicates with customers and management outside of the team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</a:t>
            </a:r>
            <a:r>
              <a:rPr b="1" lang="en-US" sz="2400">
                <a:solidFill>
                  <a:srgbClr val="C00000"/>
                </a:solidFill>
              </a:rPr>
              <a:t>whole team attends short daily meetings </a:t>
            </a:r>
            <a:r>
              <a:rPr lang="en-US" sz="2400"/>
              <a:t>(Scrums) where all team members share information, describe their progress since the last meeting, problems that have arisen and what is planned for the following day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This means that everyone on the team knows what is going on and, if problems arise, can re-plan short-term work to cope with them</a:t>
            </a:r>
            <a:endParaRPr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91" name="Google Shape;491;p33"/>
          <p:cNvSpPr/>
          <p:nvPr/>
        </p:nvSpPr>
        <p:spPr>
          <a:xfrm>
            <a:off x="8763001" y="105810"/>
            <a:ext cx="1558799" cy="12205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3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493" name="Google Shape;493;p33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4" name="Google Shape;494;p33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4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Scrum Benefits</a:t>
            </a:r>
            <a:endParaRPr/>
          </a:p>
        </p:txBody>
      </p:sp>
      <p:sp>
        <p:nvSpPr>
          <p:cNvPr id="500" name="Google Shape;500;p34"/>
          <p:cNvSpPr txBox="1"/>
          <p:nvPr>
            <p:ph idx="1" type="body"/>
          </p:nvPr>
        </p:nvSpPr>
        <p:spPr>
          <a:xfrm>
            <a:off x="1981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product is broken down into a set of </a:t>
            </a:r>
            <a:r>
              <a:rPr lang="en-US">
                <a:solidFill>
                  <a:srgbClr val="C00000"/>
                </a:solidFill>
              </a:rPr>
              <a:t>manageable </a:t>
            </a:r>
            <a:r>
              <a:rPr lang="en-US"/>
              <a:t>and </a:t>
            </a:r>
            <a:r>
              <a:rPr lang="en-US">
                <a:solidFill>
                  <a:srgbClr val="C00000"/>
                </a:solidFill>
              </a:rPr>
              <a:t>understandable</a:t>
            </a:r>
            <a:r>
              <a:rPr lang="en-US"/>
              <a:t> chunks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Unstable requirements do not hold up progress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whole team have</a:t>
            </a:r>
            <a:r>
              <a:rPr lang="en-US">
                <a:solidFill>
                  <a:srgbClr val="C00000"/>
                </a:solidFill>
              </a:rPr>
              <a:t> visibility</a:t>
            </a:r>
            <a:r>
              <a:rPr lang="en-US"/>
              <a:t> of everything and consequently team communication is improved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Customers see </a:t>
            </a:r>
            <a:r>
              <a:rPr lang="en-US">
                <a:solidFill>
                  <a:srgbClr val="C00000"/>
                </a:solidFill>
              </a:rPr>
              <a:t>on-time delivery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of increments and gain feedback on how the product works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>
                <a:solidFill>
                  <a:srgbClr val="C00000"/>
                </a:solidFill>
              </a:rPr>
              <a:t>Trust between customers and developers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is established and a positive culture is created in which everyone expects the project to succeed 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01" name="Google Shape;501;p34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502" name="Google Shape;502;p34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3" name="Google Shape;503;p34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5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Agile Project Management:    JIRA Software</a:t>
            </a:r>
            <a:endParaRPr/>
          </a:p>
        </p:txBody>
      </p:sp>
      <p:pic>
        <p:nvPicPr>
          <p:cNvPr descr="jira2.png" id="509" name="Google Shape;50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371600"/>
            <a:ext cx="9144000" cy="514696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35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511" name="Google Shape;511;p35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2" name="Google Shape;512;p35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JIra.png" id="517" name="Google Shape;51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6237" y="1447800"/>
            <a:ext cx="914400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6"/>
          <p:cNvSpPr txBox="1"/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Agile Project Management:    JIRA Software</a:t>
            </a:r>
            <a:endParaRPr/>
          </a:p>
        </p:txBody>
      </p:sp>
      <p:sp>
        <p:nvSpPr>
          <p:cNvPr id="519" name="Google Shape;519;p36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520" name="Google Shape;520;p36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1" name="Google Shape;521;p36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7"/>
          <p:cNvSpPr txBox="1"/>
          <p:nvPr>
            <p:ph type="title"/>
          </p:nvPr>
        </p:nvSpPr>
        <p:spPr>
          <a:xfrm>
            <a:off x="2246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Agile </a:t>
            </a:r>
            <a:r>
              <a:rPr lang="en-US" sz="2000">
                <a:solidFill>
                  <a:srgbClr val="002060"/>
                </a:solidFill>
              </a:rPr>
              <a:t>(part 2 – Kanban and Hybrid Agile Model)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27" name="Google Shape;527;p37"/>
          <p:cNvSpPr txBox="1"/>
          <p:nvPr>
            <p:ph idx="1" type="body"/>
          </p:nvPr>
        </p:nvSpPr>
        <p:spPr>
          <a:xfrm>
            <a:off x="2246313" y="2906714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28" name="Google Shape;528;p37"/>
          <p:cNvSpPr txBox="1"/>
          <p:nvPr>
            <p:ph idx="10" type="dt"/>
          </p:nvPr>
        </p:nvSpPr>
        <p:spPr>
          <a:xfrm>
            <a:off x="1981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2021</a:t>
            </a:r>
            <a:endParaRPr/>
          </a:p>
        </p:txBody>
      </p:sp>
      <p:sp>
        <p:nvSpPr>
          <p:cNvPr id="529" name="Google Shape;529;p37"/>
          <p:cNvSpPr txBox="1"/>
          <p:nvPr>
            <p:ph idx="11" type="ftr"/>
          </p:nvPr>
        </p:nvSpPr>
        <p:spPr>
          <a:xfrm>
            <a:off x="3993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Software Engineering</a:t>
            </a:r>
            <a:endParaRPr/>
          </a:p>
        </p:txBody>
      </p:sp>
      <p:sp>
        <p:nvSpPr>
          <p:cNvPr id="530" name="Google Shape;530;p37"/>
          <p:cNvSpPr txBox="1"/>
          <p:nvPr>
            <p:ph idx="12" type="sldNum"/>
          </p:nvPr>
        </p:nvSpPr>
        <p:spPr>
          <a:xfrm>
            <a:off x="8077200" y="6598397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2023-12-31T03:09:43Z</dcterms:created>
  <dc:creator>NUR AMALINA BINTI HAMIDI</dc:creator>
</cp:coreProperties>
</file>