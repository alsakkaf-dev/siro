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15" r:id="rId2"/>
    <p:sldId id="257" r:id="rId3"/>
    <p:sldId id="317" r:id="rId4"/>
    <p:sldId id="318" r:id="rId5"/>
    <p:sldId id="260" r:id="rId6"/>
    <p:sldId id="319" r:id="rId7"/>
    <p:sldId id="262" r:id="rId8"/>
    <p:sldId id="320" r:id="rId9"/>
    <p:sldId id="264" r:id="rId10"/>
    <p:sldId id="321" r:id="rId11"/>
    <p:sldId id="322" r:id="rId12"/>
    <p:sldId id="323" r:id="rId13"/>
    <p:sldId id="324" r:id="rId14"/>
    <p:sldId id="325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6C1D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43" autoAdjust="0"/>
    <p:restoredTop sz="95345" autoAdjust="0"/>
  </p:normalViewPr>
  <p:slideViewPr>
    <p:cSldViewPr snapToGrid="0">
      <p:cViewPr varScale="1">
        <p:scale>
          <a:sx n="59" d="100"/>
          <a:sy n="59" d="100"/>
        </p:scale>
        <p:origin x="756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09BF-53EE-4D84-844F-BEC1430829B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B6879-5321-45FF-A6AE-E6B1BB62C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41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24" name="Google Shape;2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312CEF30-2483-B510-8348-4837F4351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>
            <a:extLst>
              <a:ext uri="{FF2B5EF4-FFF2-40B4-BE49-F238E27FC236}">
                <a16:creationId xmlns:a16="http://schemas.microsoft.com/office/drawing/2014/main" id="{5E6016C9-BF99-442F-D87C-92D5B8F54B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>
            <a:extLst>
              <a:ext uri="{FF2B5EF4-FFF2-40B4-BE49-F238E27FC236}">
                <a16:creationId xmlns:a16="http://schemas.microsoft.com/office/drawing/2014/main" id="{E84EAF9E-0151-F8D0-FDFC-2001B6015A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6366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7870537F-5395-1DAA-A801-05ECF9189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>
            <a:extLst>
              <a:ext uri="{FF2B5EF4-FFF2-40B4-BE49-F238E27FC236}">
                <a16:creationId xmlns:a16="http://schemas.microsoft.com/office/drawing/2014/main" id="{FDF70700-277D-B3D0-D6C1-6948EF48A0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>
            <a:extLst>
              <a:ext uri="{FF2B5EF4-FFF2-40B4-BE49-F238E27FC236}">
                <a16:creationId xmlns:a16="http://schemas.microsoft.com/office/drawing/2014/main" id="{C6F61E8C-20B8-0639-A950-A80360BFE4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3415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3788B360-1539-8592-0FC0-6271C0AA1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>
            <a:extLst>
              <a:ext uri="{FF2B5EF4-FFF2-40B4-BE49-F238E27FC236}">
                <a16:creationId xmlns:a16="http://schemas.microsoft.com/office/drawing/2014/main" id="{D06CE641-90B0-DDBA-14E7-35BB65C5F1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>
            <a:extLst>
              <a:ext uri="{FF2B5EF4-FFF2-40B4-BE49-F238E27FC236}">
                <a16:creationId xmlns:a16="http://schemas.microsoft.com/office/drawing/2014/main" id="{4FC5FB2A-BB7B-F78B-3FB1-EF83077D2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6528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9984C723-E7AE-9233-C3E6-8E13F73D0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>
            <a:extLst>
              <a:ext uri="{FF2B5EF4-FFF2-40B4-BE49-F238E27FC236}">
                <a16:creationId xmlns:a16="http://schemas.microsoft.com/office/drawing/2014/main" id="{8A83D729-3834-436A-B89D-AD8DB6345E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>
            <a:extLst>
              <a:ext uri="{FF2B5EF4-FFF2-40B4-BE49-F238E27FC236}">
                <a16:creationId xmlns:a16="http://schemas.microsoft.com/office/drawing/2014/main" id="{26406215-E80F-4D60-CB27-2FA70ED399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44854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8131B611-F624-2F6B-AF44-835012F8D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>
            <a:extLst>
              <a:ext uri="{FF2B5EF4-FFF2-40B4-BE49-F238E27FC236}">
                <a16:creationId xmlns:a16="http://schemas.microsoft.com/office/drawing/2014/main" id="{03BA5E52-76E5-0E38-8569-0B18D0680C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>
            <a:extLst>
              <a:ext uri="{FF2B5EF4-FFF2-40B4-BE49-F238E27FC236}">
                <a16:creationId xmlns:a16="http://schemas.microsoft.com/office/drawing/2014/main" id="{E42315CD-CE37-ADB4-A47A-DE74B266E3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07558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171B52DC-D5C7-FB83-EEFC-5B0842C9F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>
            <a:extLst>
              <a:ext uri="{FF2B5EF4-FFF2-40B4-BE49-F238E27FC236}">
                <a16:creationId xmlns:a16="http://schemas.microsoft.com/office/drawing/2014/main" id="{CCFB7478-462B-C8D0-CCD7-52A7A37E38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>
            <a:extLst>
              <a:ext uri="{FF2B5EF4-FFF2-40B4-BE49-F238E27FC236}">
                <a16:creationId xmlns:a16="http://schemas.microsoft.com/office/drawing/2014/main" id="{63C4941D-9271-ACC2-261D-C47405D190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02937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9EC29655-E948-38F8-2892-9E2977B44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>
            <a:extLst>
              <a:ext uri="{FF2B5EF4-FFF2-40B4-BE49-F238E27FC236}">
                <a16:creationId xmlns:a16="http://schemas.microsoft.com/office/drawing/2014/main" id="{A64D4BAE-F953-5447-E5E8-EC32B8CE70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>
            <a:extLst>
              <a:ext uri="{FF2B5EF4-FFF2-40B4-BE49-F238E27FC236}">
                <a16:creationId xmlns:a16="http://schemas.microsoft.com/office/drawing/2014/main" id="{380DF163-C197-3173-F3B5-DA007DCAED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69239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224B53CF-4DCF-C21F-9027-43BD04360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>
            <a:extLst>
              <a:ext uri="{FF2B5EF4-FFF2-40B4-BE49-F238E27FC236}">
                <a16:creationId xmlns:a16="http://schemas.microsoft.com/office/drawing/2014/main" id="{71CFE48C-F81D-99CE-4535-DCEE60D600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>
            <a:extLst>
              <a:ext uri="{FF2B5EF4-FFF2-40B4-BE49-F238E27FC236}">
                <a16:creationId xmlns:a16="http://schemas.microsoft.com/office/drawing/2014/main" id="{DDCC0B01-5A82-DF3A-0B17-B54D6BFB53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24547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tiff"/><Relationship Id="rId5" Type="http://schemas.openxmlformats.org/officeDocument/2006/relationships/image" Target="../media/image6.svg"/><Relationship Id="rId10" Type="http://schemas.openxmlformats.org/officeDocument/2006/relationships/image" Target="../media/image10.sv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A77FC49-908E-7282-71D1-FF9B45CC79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428041" y="-1428041"/>
            <a:ext cx="6880030" cy="97361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FB5ACA-D821-A539-94D6-EEC7337F3A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9000"/>
          </a:blip>
          <a:stretch>
            <a:fillRect/>
          </a:stretch>
        </p:blipFill>
        <p:spPr>
          <a:xfrm rot="10800000" flipV="1">
            <a:off x="59093" y="0"/>
            <a:ext cx="12073813" cy="31091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00D8EF-2DF1-88B7-4784-92F60D932A2D}"/>
              </a:ext>
            </a:extLst>
          </p:cNvPr>
          <p:cNvSpPr/>
          <p:nvPr userDrawn="1"/>
        </p:nvSpPr>
        <p:spPr>
          <a:xfrm rot="5400000">
            <a:off x="5953544" y="641578"/>
            <a:ext cx="28490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18E44-B184-3318-E83E-1ED0427C4C32}"/>
              </a:ext>
            </a:extLst>
          </p:cNvPr>
          <p:cNvSpPr txBox="1"/>
          <p:nvPr userDrawn="1"/>
        </p:nvSpPr>
        <p:spPr>
          <a:xfrm>
            <a:off x="5479363" y="6595121"/>
            <a:ext cx="1377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i="0" dirty="0">
                <a:solidFill>
                  <a:schemeClr val="bg1">
                    <a:lumMod val="95000"/>
                  </a:schemeClr>
                </a:solidFill>
                <a:ea typeface="Montserrat Semi" charset="0"/>
                <a:cs typeface="Montserrat Semi" charset="0"/>
              </a:rPr>
              <a:t>www.utm.my</a:t>
            </a:r>
            <a:endParaRPr lang="en-US" sz="1100" b="1" i="0" dirty="0">
              <a:solidFill>
                <a:schemeClr val="accent4"/>
              </a:solidFill>
              <a:ea typeface="Montserrat Semi" charset="0"/>
              <a:cs typeface="Montserrat Sem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644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C8336-6E97-19E8-88CA-FE902FF1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694A3-909C-4BC7-8684-CF6A8DF6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86F0-1709-92BF-CEC8-7DFA93F8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993728-E209-C557-FA87-A687A2439D90}"/>
              </a:ext>
            </a:extLst>
          </p:cNvPr>
          <p:cNvGrpSpPr/>
          <p:nvPr userDrawn="1"/>
        </p:nvGrpSpPr>
        <p:grpSpPr>
          <a:xfrm>
            <a:off x="0" y="0"/>
            <a:ext cx="4323456" cy="7438348"/>
            <a:chOff x="0" y="0"/>
            <a:chExt cx="4323456" cy="7438348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291997A-C196-DCDE-0EA0-51D4FDEDAD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0"/>
              <a:ext cx="3118649" cy="4463581"/>
            </a:xfrm>
            <a:prstGeom prst="rect">
              <a:avLst/>
            </a:prstGeom>
          </p:spPr>
        </p:pic>
        <p:sp>
          <p:nvSpPr>
            <p:cNvPr id="2" name="Parallelogram 1">
              <a:extLst>
                <a:ext uri="{FF2B5EF4-FFF2-40B4-BE49-F238E27FC236}">
                  <a16:creationId xmlns:a16="http://schemas.microsoft.com/office/drawing/2014/main" id="{14354985-0AB8-E860-28D0-17AD10E6B863}"/>
                </a:ext>
              </a:extLst>
            </p:cNvPr>
            <p:cNvSpPr/>
            <p:nvPr userDrawn="1"/>
          </p:nvSpPr>
          <p:spPr>
            <a:xfrm rot="8446488">
              <a:off x="1155879" y="3069975"/>
              <a:ext cx="2214654" cy="3120244"/>
            </a:xfrm>
            <a:prstGeom prst="parallelogram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9C95F9B9-2A5B-F93A-EA33-600D61519C46}"/>
                </a:ext>
              </a:extLst>
            </p:cNvPr>
            <p:cNvSpPr/>
            <p:nvPr userDrawn="1"/>
          </p:nvSpPr>
          <p:spPr>
            <a:xfrm rot="8446488">
              <a:off x="2539020" y="5497285"/>
              <a:ext cx="1784436" cy="1941063"/>
            </a:xfrm>
            <a:custGeom>
              <a:avLst/>
              <a:gdLst>
                <a:gd name="connsiteX0" fmla="*/ 0 w 2214654"/>
                <a:gd name="connsiteY0" fmla="*/ 3120244 h 3120244"/>
                <a:gd name="connsiteX1" fmla="*/ 553664 w 2214654"/>
                <a:gd name="connsiteY1" fmla="*/ 0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2214654"/>
                <a:gd name="connsiteY0" fmla="*/ 3120244 h 3120244"/>
                <a:gd name="connsiteX1" fmla="*/ 341522 w 2214654"/>
                <a:gd name="connsiteY1" fmla="*/ 1179181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1784436"/>
                <a:gd name="connsiteY0" fmla="*/ 1941063 h 1941063"/>
                <a:gd name="connsiteX1" fmla="*/ 341522 w 1784436"/>
                <a:gd name="connsiteY1" fmla="*/ 0 h 1941063"/>
                <a:gd name="connsiteX2" fmla="*/ 1784436 w 1784436"/>
                <a:gd name="connsiteY2" fmla="*/ 1205605 h 1941063"/>
                <a:gd name="connsiteX3" fmla="*/ 1660991 w 1784436"/>
                <a:gd name="connsiteY3" fmla="*/ 1941063 h 1941063"/>
                <a:gd name="connsiteX4" fmla="*/ 0 w 1784436"/>
                <a:gd name="connsiteY4" fmla="*/ 1941063 h 194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4436" h="1941063">
                  <a:moveTo>
                    <a:pt x="0" y="1941063"/>
                  </a:moveTo>
                  <a:lnTo>
                    <a:pt x="341522" y="0"/>
                  </a:lnTo>
                  <a:lnTo>
                    <a:pt x="1784436" y="1205605"/>
                  </a:lnTo>
                  <a:lnTo>
                    <a:pt x="1660991" y="1941063"/>
                  </a:lnTo>
                  <a:lnTo>
                    <a:pt x="0" y="194106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0B5606AF-41C6-0137-32A8-807A0A5D0D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126331" y="-1062392"/>
            <a:ext cx="2405080" cy="33850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F4D5AD-886B-F49D-187E-EF188BA5C86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99000"/>
          </a:blip>
          <a:stretch>
            <a:fillRect/>
          </a:stretch>
        </p:blipFill>
        <p:spPr>
          <a:xfrm rot="5400000" flipV="1">
            <a:off x="-2602281" y="2616106"/>
            <a:ext cx="7046892" cy="181468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DB128DF-CD31-0CEB-4D7C-71A65806236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283211" y="3743462"/>
            <a:ext cx="2080701" cy="297801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3FF214BE-EBD1-4C75-B559-2A68D3A7182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1830037" y="6046777"/>
            <a:ext cx="4191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49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E22F56BC-829B-3BC8-96F9-8B26B69F0F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33" b="797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D44EBC3-45F4-19C6-0AEB-16C907B4BCB5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12000">
                <a:srgbClr val="6C1D35">
                  <a:alpha val="68000"/>
                </a:srgbClr>
              </a:gs>
              <a:gs pos="77000">
                <a:schemeClr val="accent1">
                  <a:lumMod val="7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8AE63-F58B-C295-2F24-0E7B07553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40798-1691-00D6-C3D9-64CC3EB82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A835F-2749-4B9F-A9CB-5E0BF4302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BA782F0-1339-9AD7-88E8-E482862A0C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7112000" y="-35081"/>
            <a:ext cx="4917440" cy="6921189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955F31CF-FB2A-3612-E2CA-58665EF22E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11268262" y="349094"/>
            <a:ext cx="2010036" cy="282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84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9A0EB9F-5240-3366-0373-E8B7C3C2A4FE}"/>
              </a:ext>
            </a:extLst>
          </p:cNvPr>
          <p:cNvSpPr/>
          <p:nvPr userDrawn="1"/>
        </p:nvSpPr>
        <p:spPr>
          <a:xfrm>
            <a:off x="0" y="-2"/>
            <a:ext cx="12230100" cy="6858001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F7B2D7-FB34-55B3-113A-7F96DDA7A8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7"/>
          <a:stretch/>
        </p:blipFill>
        <p:spPr>
          <a:xfrm rot="16200000">
            <a:off x="2686050" y="-2686050"/>
            <a:ext cx="6858000" cy="122301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B2BBA-3015-27B9-D210-D15544F2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AB71C-4835-3D07-2B7F-A7456A46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E7A9C-9AFC-99CF-42E5-627A5869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4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CAB3E7-A192-D902-B47D-B2CC33AF3A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9956ED8E-CF4D-D756-5FA9-5F3263853A9C}"/>
              </a:ext>
            </a:extLst>
          </p:cNvPr>
          <p:cNvGrpSpPr/>
          <p:nvPr userDrawn="1"/>
        </p:nvGrpSpPr>
        <p:grpSpPr>
          <a:xfrm>
            <a:off x="0" y="6438899"/>
            <a:ext cx="4425450" cy="419100"/>
            <a:chOff x="0" y="6438899"/>
            <a:chExt cx="4425450" cy="4191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185CCF7-2507-F40E-2E71-04B5C07C7F09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891B4BFE-7090-CB15-ACE2-E76D3D5E6402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796ACF-1284-B0D3-20AC-1A411B0BC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47751"/>
            <a:ext cx="10515600" cy="1500187"/>
          </a:xfrm>
        </p:spPr>
        <p:txBody>
          <a:bodyPr anchor="t"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66E6B-CFF2-F241-A3D1-4FD4DAC4F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14638"/>
            <a:ext cx="10515600" cy="33575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6DBAF-8EC8-76B5-BD68-4EE498D12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C1A71-0977-DB43-6672-9DD2B43F0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1AA75-9A52-677C-BAAB-361020BE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CA6469-707B-4B2D-CE38-C2E80563F8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DB94ABDC-D409-D0CF-BFD9-E874B46B7EEF}"/>
              </a:ext>
            </a:extLst>
          </p:cNvPr>
          <p:cNvGrpSpPr/>
          <p:nvPr userDrawn="1"/>
        </p:nvGrpSpPr>
        <p:grpSpPr>
          <a:xfrm>
            <a:off x="0" y="0"/>
            <a:ext cx="2135014" cy="390908"/>
            <a:chOff x="0" y="0"/>
            <a:chExt cx="2135014" cy="39090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5CC8F0A-14AF-F65B-6D14-A51CBEFF1729}"/>
                </a:ext>
              </a:extLst>
            </p:cNvPr>
            <p:cNvSpPr/>
            <p:nvPr userDrawn="1"/>
          </p:nvSpPr>
          <p:spPr>
            <a:xfrm>
              <a:off x="0" y="1"/>
              <a:ext cx="1921715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7D170A48-ED14-4722-ED48-412F8B7C44AA}"/>
                </a:ext>
              </a:extLst>
            </p:cNvPr>
            <p:cNvSpPr/>
            <p:nvPr userDrawn="1"/>
          </p:nvSpPr>
          <p:spPr>
            <a:xfrm flipV="1">
              <a:off x="1921715" y="0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B6D801-7EDC-E981-F405-040472A43AB5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90F7BDA-9A67-4500-FC96-D0DCA5669FC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D3808A-7510-8E14-D035-56A7CA6C58A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226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45FB79D-2789-2E82-ACD5-FA141CFFB8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06C3F4-36B0-1561-8EFF-3B31A7774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81125"/>
          </a:xfrm>
        </p:spPr>
        <p:txBody>
          <a:bodyPr anchor="t">
            <a:normAutofit/>
          </a:bodyPr>
          <a:lstStyle>
            <a:lvl1pPr algn="l"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4E23C-BC64-3E31-C7C9-1CCB71C59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8"/>
            <a:ext cx="9144000" cy="346175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AAB4A-F681-D1CE-536F-A8600B87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2C815-2D69-C272-C63C-A195EBFE3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7A072-5E8E-BDBB-35CA-3A355E5D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C1D35"/>
                </a:solidFill>
              </a:defRPr>
            </a:lvl1pPr>
          </a:lstStyle>
          <a:p>
            <a:fld id="{B5912E74-8957-4046-8937-1199D066517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FB2FEB-1CDE-753F-3231-2131ED23FF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0EA2A08-0768-E840-71C5-CB5BA198C844}"/>
              </a:ext>
            </a:extLst>
          </p:cNvPr>
          <p:cNvGrpSpPr/>
          <p:nvPr userDrawn="1"/>
        </p:nvGrpSpPr>
        <p:grpSpPr>
          <a:xfrm>
            <a:off x="0" y="336866"/>
            <a:ext cx="838200" cy="390908"/>
            <a:chOff x="0" y="585597"/>
            <a:chExt cx="838200" cy="39090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FE56D3-CDFF-99C8-081E-21872711345C}"/>
                </a:ext>
              </a:extLst>
            </p:cNvPr>
            <p:cNvSpPr/>
            <p:nvPr userDrawn="1"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55D81439-E4CF-3498-4773-82E6A34DB949}"/>
                </a:ext>
              </a:extLst>
            </p:cNvPr>
            <p:cNvSpPr/>
            <p:nvPr userDrawn="1"/>
          </p:nvSpPr>
          <p:spPr>
            <a:xfrm flipV="1">
              <a:off x="624901" y="585597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F56CB3B-27D6-0844-017F-CFA08F52311B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5E31CA-977D-9659-5E4D-1E4EC75ABA7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4385F2-2245-0F8C-C446-564E2DE5084A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5987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5386308-8E2B-C701-D9C5-CFF5B6D9F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8221F6-B30E-6574-4F98-77B2C490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6BEFF-E786-80CC-C462-EC9F1C9C3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6CF37-673E-EFC4-46AD-C8B8CC64E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B8A85-2B88-6B89-6CF8-4D396AB7B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4774E-879A-AA6A-5AEF-0FD775B97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F9B18A-4C13-213C-5ECD-7D00902A82F8}"/>
              </a:ext>
            </a:extLst>
          </p:cNvPr>
          <p:cNvSpPr/>
          <p:nvPr userDrawn="1"/>
        </p:nvSpPr>
        <p:spPr>
          <a:xfrm>
            <a:off x="3894421" y="21431"/>
            <a:ext cx="4460168" cy="256507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A0DAC0-1D7C-425C-A3EA-189775AB00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A6FB34-FC21-998E-F2ED-B41CC15A4311}"/>
              </a:ext>
            </a:extLst>
          </p:cNvPr>
          <p:cNvSpPr/>
          <p:nvPr userDrawn="1"/>
        </p:nvSpPr>
        <p:spPr>
          <a:xfrm>
            <a:off x="-1" y="6808662"/>
            <a:ext cx="12249013" cy="1089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91E5DFC-83E6-86F2-21A3-C9353A831D94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6CDA0-D409-8B80-7C3D-EE78328F12C7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DCC3F2-36B2-C662-DECB-01503AFCAA9E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8066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60D2230-4C54-C188-62C4-95CC76262B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466CAA0-852B-2260-4E79-4DCDC5D3C474}"/>
              </a:ext>
            </a:extLst>
          </p:cNvPr>
          <p:cNvSpPr/>
          <p:nvPr userDrawn="1"/>
        </p:nvSpPr>
        <p:spPr>
          <a:xfrm>
            <a:off x="-38100" y="1690688"/>
            <a:ext cx="12230100" cy="5167312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09984-B07C-717A-A1FC-A0212B12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56CC2-F4AE-C871-25CA-0693B8E51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4C4D5-028B-CF4F-DB83-2E7DAE145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4ECB3-6230-1C4A-4271-8B1B329A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0EBE9-6EE3-30E5-37E9-966CEBBA4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42C9F-71DE-08A3-B2D8-60F040A8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1BACEB-C3CA-5C73-C1CD-7E28828923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32450C2-7E85-EAB2-8C8F-8B13B9657507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93644A-0A35-6B8C-F216-AC1945DFC79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806244-EF9A-642C-8573-A2BFA17DB33E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536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169F28-4F60-04EA-2355-80F723258D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D3BD4A-F379-8CFF-EBD6-707DD0E70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59623-7488-E134-22F1-5329048ED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D7D39-C4CD-9439-3408-FF0BFA1B1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50B8F-83C3-D985-5919-F1A3FDF4D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CF953-DD56-9B85-AB4B-B9C9F0FF0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D25C81-2863-04F8-8182-D218BA27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A521E1-8180-A360-8696-A84620A8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3D6C59-8054-7190-9FD8-FAA59634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23B567-24C2-C088-6F75-913992BE2D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2B20C0-22D4-422D-2940-7F540F191BF7}"/>
              </a:ext>
            </a:extLst>
          </p:cNvPr>
          <p:cNvSpPr/>
          <p:nvPr userDrawn="1"/>
        </p:nvSpPr>
        <p:spPr>
          <a:xfrm>
            <a:off x="6764" y="342265"/>
            <a:ext cx="10269639" cy="45719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70257A-EF80-EF1A-EE95-68EB9FBC2F71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AEA7E83-8757-44B8-B8ED-EFD855548FA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03E4A3-2F29-E99E-59AA-19FD2D71718A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0199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5A05E41-FECA-555C-4DA5-FBDABE88EA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EFDB3D2-BABB-4614-ACBD-74206D54EFA7}"/>
              </a:ext>
            </a:extLst>
          </p:cNvPr>
          <p:cNvGrpSpPr/>
          <p:nvPr userDrawn="1"/>
        </p:nvGrpSpPr>
        <p:grpSpPr>
          <a:xfrm flipH="1">
            <a:off x="8896479" y="6438899"/>
            <a:ext cx="3295521" cy="419101"/>
            <a:chOff x="0" y="6438899"/>
            <a:chExt cx="4425450" cy="4191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C9DBE5-42FF-593C-82CE-C4B2774E3AD0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id="{D8516993-C2D5-28D4-6E6E-D3A5B19FD20F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B218D0-0E4A-6601-1430-D75D1D898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974" y="2766218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07DD1-72E8-53B4-A8B5-16105BC6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21DE3-618B-CDA6-C30A-1DB7F4E9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68125-E5E8-EEE2-D064-3848DBBA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F13517-FB38-BE9B-5A77-235BBF8CE8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15FA5D2-1257-770C-1E2F-2CCA5238FD2A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9FA834-B150-3245-D347-588904243A5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EF11FA-4280-83FF-5E5F-70581310F2C4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1669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80EC996-29B5-35CD-CAA8-09FAAB535A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4713261" y="1270"/>
            <a:ext cx="7112053" cy="183146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4E085B5-6456-E991-6904-BB25D1005185}"/>
              </a:ext>
            </a:extLst>
          </p:cNvPr>
          <p:cNvSpPr/>
          <p:nvPr userDrawn="1"/>
        </p:nvSpPr>
        <p:spPr>
          <a:xfrm>
            <a:off x="-38099" y="0"/>
            <a:ext cx="4764088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B5AF6C-3A58-DD89-B778-7C9B4E49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771969" cy="1600200"/>
          </a:xfrm>
        </p:spPr>
        <p:txBody>
          <a:bodyPr anchor="b">
            <a:normAutofit/>
          </a:bodyPr>
          <a:lstStyle>
            <a:lvl1pPr>
              <a:defRPr sz="28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30643-5DEF-0301-05FB-43BFE7810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84E7D-D23B-8AA6-561F-6482F0A12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77196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0D1C3-135E-09A0-2E54-EFBC9A5D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11F67-329D-954C-CD5C-1AA093EC2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EB87E-06D7-61E3-D9E0-49BF14B3E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8EA7C3-CAA4-9F46-F633-CAA69D61B6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DD1F696-3383-CCD0-5F6F-4B9E89375262}"/>
              </a:ext>
            </a:extLst>
          </p:cNvPr>
          <p:cNvSpPr/>
          <p:nvPr userDrawn="1"/>
        </p:nvSpPr>
        <p:spPr>
          <a:xfrm rot="5400000">
            <a:off x="1324286" y="3399184"/>
            <a:ext cx="6858000" cy="596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7DF8517-697A-D659-D645-CCC025297F18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8F6DD2-968A-9801-9B22-22DBD1C894E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835E16-0810-A050-7387-E04FC0CFD8C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0109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BDE0F43-CB86-1C9B-53B1-54930B9BBD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A7D5CF-8052-62A2-8652-9E5660A058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CEA865B-9359-931D-9136-36413785F784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C6828-16EB-91B9-7078-52ADFDC0F2F1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EA9D62-1A2E-5482-2A68-9FCEFEB913F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9613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-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6208AF-0FB5-0709-9E4A-86BB9C81B267}"/>
              </a:ext>
            </a:extLst>
          </p:cNvPr>
          <p:cNvSpPr/>
          <p:nvPr userDrawn="1"/>
        </p:nvSpPr>
        <p:spPr>
          <a:xfrm>
            <a:off x="-38100" y="0"/>
            <a:ext cx="12230100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D46B25-0C92-A630-DD9E-0DC228627926}"/>
              </a:ext>
            </a:extLst>
          </p:cNvPr>
          <p:cNvGrpSpPr/>
          <p:nvPr userDrawn="1"/>
        </p:nvGrpSpPr>
        <p:grpSpPr>
          <a:xfrm>
            <a:off x="7180119" y="6473574"/>
            <a:ext cx="5011881" cy="390911"/>
            <a:chOff x="7180118" y="6489891"/>
            <a:chExt cx="5011881" cy="39091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51D9DD-D54B-BD6E-1FC0-1E96064A7DD4}"/>
                </a:ext>
              </a:extLst>
            </p:cNvPr>
            <p:cNvSpPr/>
            <p:nvPr userDrawn="1"/>
          </p:nvSpPr>
          <p:spPr>
            <a:xfrm rot="10800000">
              <a:off x="7393415" y="6489891"/>
              <a:ext cx="4798584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B12D63A4-B45F-D7EE-07AE-ED4F2AA9FBF6}"/>
                </a:ext>
              </a:extLst>
            </p:cNvPr>
            <p:cNvSpPr/>
            <p:nvPr userDrawn="1"/>
          </p:nvSpPr>
          <p:spPr>
            <a:xfrm rot="10800000" flipV="1">
              <a:off x="7180118" y="6489895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E4DBBFF-D866-CE38-8CC8-48E42BA7EF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220" y="283589"/>
            <a:ext cx="1470825" cy="497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ECA337-96B6-AF15-88CE-5A1B9B8EBDB6}"/>
              </a:ext>
            </a:extLst>
          </p:cNvPr>
          <p:cNvGrpSpPr/>
          <p:nvPr userDrawn="1"/>
        </p:nvGrpSpPr>
        <p:grpSpPr>
          <a:xfrm>
            <a:off x="-58882" y="0"/>
            <a:ext cx="2130820" cy="390908"/>
            <a:chOff x="-58882" y="0"/>
            <a:chExt cx="2130820" cy="3909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55327DB-3941-6535-2638-26DDF5148B23}"/>
                </a:ext>
              </a:extLst>
            </p:cNvPr>
            <p:cNvSpPr/>
            <p:nvPr userDrawn="1"/>
          </p:nvSpPr>
          <p:spPr>
            <a:xfrm>
              <a:off x="-58882" y="1"/>
              <a:ext cx="1921715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ight Triangle 13">
              <a:extLst>
                <a:ext uri="{FF2B5EF4-FFF2-40B4-BE49-F238E27FC236}">
                  <a16:creationId xmlns:a16="http://schemas.microsoft.com/office/drawing/2014/main" id="{751988F2-DBDB-53FA-2E8B-DE674D6D2B6A}"/>
                </a:ext>
              </a:extLst>
            </p:cNvPr>
            <p:cNvSpPr/>
            <p:nvPr userDrawn="1"/>
          </p:nvSpPr>
          <p:spPr>
            <a:xfrm flipV="1">
              <a:off x="1858639" y="0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5B451E3-7C30-F7E8-27F1-20A1711850CE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F9E3A6-8792-EBEF-E21F-6506CA347F7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D7814D-56F3-7C85-157F-E73DAB5F042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2828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812957FA-0954-130C-016A-4BAA3351102F}"/>
              </a:ext>
            </a:extLst>
          </p:cNvPr>
          <p:cNvSpPr/>
          <p:nvPr userDrawn="1"/>
        </p:nvSpPr>
        <p:spPr>
          <a:xfrm rot="5400000">
            <a:off x="6073139" y="761174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B5F1816-5F6B-7928-15B1-1910931B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781051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43350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AE4AFB9-D289-5BB8-FC6E-3A98AE611BFD}"/>
              </a:ext>
            </a:extLst>
          </p:cNvPr>
          <p:cNvSpPr/>
          <p:nvPr userDrawn="1"/>
        </p:nvSpPr>
        <p:spPr>
          <a:xfrm rot="5400000">
            <a:off x="6079906" y="-6086095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59C5E7F-48AB-BACC-5157-81B70262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781051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8661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65660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9975F-708A-F234-4722-AEB234342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7F26E-314A-B65E-03F9-0EADD49DA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C2CC6-2915-3AF9-A194-796105577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959E7-45DE-4A2D-ACFD-0D8C8BBAB79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4C745-1356-0A9F-002D-66D467AF4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9A2B0-BC9C-678A-D6F9-6A0D62CAA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553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6" r:id="rId3"/>
    <p:sldLayoutId id="2147483662" r:id="rId4"/>
    <p:sldLayoutId id="2147483651" r:id="rId5"/>
    <p:sldLayoutId id="2147483649" r:id="rId6"/>
    <p:sldLayoutId id="2147483650" r:id="rId7"/>
    <p:sldLayoutId id="2147483652" r:id="rId8"/>
    <p:sldLayoutId id="2147483653" r:id="rId9"/>
    <p:sldLayoutId id="2147483654" r:id="rId10"/>
    <p:sldLayoutId id="2147483656" r:id="rId11"/>
    <p:sldLayoutId id="2147483655" r:id="rId12"/>
    <p:sldLayoutId id="2147483660" r:id="rId13"/>
    <p:sldLayoutId id="2147483657" r:id="rId14"/>
    <p:sldLayoutId id="2147483663" r:id="rId15"/>
    <p:sldLayoutId id="2147483667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57FEA5-9459-537C-E1D9-3C7D22507583}"/>
              </a:ext>
            </a:extLst>
          </p:cNvPr>
          <p:cNvSpPr txBox="1"/>
          <p:nvPr/>
        </p:nvSpPr>
        <p:spPr>
          <a:xfrm>
            <a:off x="2270453" y="3875053"/>
            <a:ext cx="8539061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3200" dirty="0"/>
              <a:t>TOPIC 3.1 : DEVELOPING APPLICATION BASED ON STAKEHOLDER/CUSTOMER PROBLEM</a:t>
            </a:r>
          </a:p>
          <a:p>
            <a:endParaRPr lang="en" sz="3200" dirty="0"/>
          </a:p>
          <a:p>
            <a:r>
              <a:rPr lang="en-MY" sz="2400" dirty="0"/>
              <a:t>Combination of Design Thinking and User Stories</a:t>
            </a:r>
          </a:p>
          <a:p>
            <a:endParaRPr lang="en-MY" sz="32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02EFA-FD94-7D1F-B76C-45B63CEC7823}"/>
              </a:ext>
            </a:extLst>
          </p:cNvPr>
          <p:cNvSpPr txBox="1"/>
          <p:nvPr/>
        </p:nvSpPr>
        <p:spPr>
          <a:xfrm>
            <a:off x="2270453" y="2210206"/>
            <a:ext cx="643189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kern="0" dirty="0">
                <a:solidFill>
                  <a:srgbClr val="6C1D35"/>
                </a:solidFill>
              </a:rPr>
              <a:t>UNIVERSITI TEKNOLOGI MALAYSIA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0A5E36-46DF-4261-B2A9-84180659C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149" y="599516"/>
            <a:ext cx="2249407" cy="75189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AB95FE-9FB6-3175-C6AD-6B6A256E7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429" y="6352942"/>
            <a:ext cx="2136771" cy="16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46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14FCDD-7D36-EB88-0C69-D8F2B9539CAA}"/>
              </a:ext>
            </a:extLst>
          </p:cNvPr>
          <p:cNvSpPr txBox="1"/>
          <p:nvPr/>
        </p:nvSpPr>
        <p:spPr>
          <a:xfrm>
            <a:off x="885824" y="1155601"/>
            <a:ext cx="8666389" cy="569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Clr>
                <a:schemeClr val="dk1"/>
              </a:buClr>
              <a:buSzPct val="30554"/>
              <a:buNone/>
            </a:pPr>
            <a:r>
              <a:rPr lang="en-MY" sz="2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Integrating Design Thinking into Scrum Development</a:t>
            </a:r>
          </a:p>
        </p:txBody>
      </p:sp>
      <p:pic>
        <p:nvPicPr>
          <p:cNvPr id="70" name="Google Shape;7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7282" y="1930499"/>
            <a:ext cx="95885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 txBox="1"/>
          <p:nvPr/>
        </p:nvSpPr>
        <p:spPr>
          <a:xfrm>
            <a:off x="551167" y="5907397"/>
            <a:ext cx="11579600" cy="82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Website URL: https://www.linkedin.com/pulse/how-integrate-design-thinking-scrum-development-aleksandre-oniani</a:t>
            </a:r>
            <a:endParaRPr sz="18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MY" sz="4800" dirty="0"/>
              <a:t>Design Thinking</a:t>
            </a:r>
            <a:endParaRPr sz="4800" dirty="0"/>
          </a:p>
        </p:txBody>
      </p:sp>
      <p:sp>
        <p:nvSpPr>
          <p:cNvPr id="227" name="Google Shape;227;p4"/>
          <p:cNvSpPr txBox="1">
            <a:spLocks noGrp="1"/>
          </p:cNvSpPr>
          <p:nvPr>
            <p:ph type="body" idx="1"/>
          </p:nvPr>
        </p:nvSpPr>
        <p:spPr>
          <a:xfrm>
            <a:off x="1981200" y="1819837"/>
            <a:ext cx="8686800" cy="495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</a:pPr>
            <a:r>
              <a:rPr lang="en-MY" sz="3600" dirty="0"/>
              <a:t>Empathized </a:t>
            </a:r>
          </a:p>
          <a:p>
            <a:pPr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</a:pPr>
            <a:r>
              <a:rPr lang="en-MY" sz="3600" dirty="0"/>
              <a:t>Define</a:t>
            </a:r>
          </a:p>
          <a:p>
            <a:pPr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</a:pPr>
            <a:r>
              <a:rPr lang="en-MY" sz="3600" dirty="0"/>
              <a:t>Ideate </a:t>
            </a:r>
          </a:p>
          <a:p>
            <a:pPr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</a:pPr>
            <a:r>
              <a:rPr lang="en-MY" sz="3600" dirty="0"/>
              <a:t>Prototype</a:t>
            </a:r>
          </a:p>
          <a:p>
            <a:pPr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</a:pPr>
            <a:r>
              <a:rPr lang="en-MY" sz="3600" dirty="0"/>
              <a:t>Test</a:t>
            </a: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dirty="0"/>
          </a:p>
        </p:txBody>
      </p:sp>
      <p:sp>
        <p:nvSpPr>
          <p:cNvPr id="228" name="Google Shape;228;p4"/>
          <p:cNvSpPr txBox="1">
            <a:spLocks noGrp="1"/>
          </p:cNvSpPr>
          <p:nvPr>
            <p:ph type="ftr" idx="11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229" name="Google Shape;229;p4"/>
          <p:cNvSpPr txBox="1">
            <a:spLocks noGrp="1"/>
          </p:cNvSpPr>
          <p:nvPr>
            <p:ph type="sldNum" idx="12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30" name="Google Shape;230;p4"/>
          <p:cNvSpPr txBox="1">
            <a:spLocks noGrp="1"/>
          </p:cNvSpPr>
          <p:nvPr>
            <p:ph type="dt" idx="10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50CD72C2-682B-2EBF-D1FA-C9E29B9E1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6DF395-909A-39B3-CC33-23CC90C5B201}"/>
              </a:ext>
            </a:extLst>
          </p:cNvPr>
          <p:cNvSpPr txBox="1"/>
          <p:nvPr/>
        </p:nvSpPr>
        <p:spPr>
          <a:xfrm>
            <a:off x="885824" y="1072634"/>
            <a:ext cx="82908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200" b="1" dirty="0">
                <a:latin typeface="Roboto"/>
                <a:ea typeface="Roboto"/>
                <a:cs typeface="Roboto"/>
                <a:sym typeface="Roboto"/>
              </a:rPr>
              <a:t>Why Combine Scrum and Design Thinking?</a:t>
            </a:r>
            <a:endParaRPr lang="en-MY" sz="3200" dirty="0"/>
          </a:p>
        </p:txBody>
      </p:sp>
      <p:pic>
        <p:nvPicPr>
          <p:cNvPr id="77" name="Google Shape;7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6957" y="2115457"/>
            <a:ext cx="7594600" cy="2006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4681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SzPts val="5200"/>
            </a:pPr>
            <a:r>
              <a:rPr lang="en"/>
              <a:t>Design Thinking Explained</a:t>
            </a:r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"/>
              <a:t>Reference: Alex Cowan - Agile and Design Thinking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D50A970F-8375-87C7-D2BA-53E3CDB33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534612-7100-6921-97F8-EDBBBF0BE3A8}"/>
              </a:ext>
            </a:extLst>
          </p:cNvPr>
          <p:cNvSpPr txBox="1"/>
          <p:nvPr/>
        </p:nvSpPr>
        <p:spPr>
          <a:xfrm>
            <a:off x="869497" y="1317562"/>
            <a:ext cx="61150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200" b="1" dirty="0"/>
              <a:t>Empathized</a:t>
            </a:r>
            <a:endParaRPr lang="en-MY" sz="3200" dirty="0"/>
          </a:p>
        </p:txBody>
      </p:sp>
      <p:pic>
        <p:nvPicPr>
          <p:cNvPr id="5" name="Google Shape;88;p6">
            <a:extLst>
              <a:ext uri="{FF2B5EF4-FFF2-40B4-BE49-F238E27FC236}">
                <a16:creationId xmlns:a16="http://schemas.microsoft.com/office/drawing/2014/main" id="{369BA956-5A62-2BED-04AF-DECD848EBA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9497" y="2279632"/>
            <a:ext cx="9867900" cy="359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7317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buSzPct val="111111"/>
            </a:pPr>
            <a:r>
              <a:rPr lang="en"/>
              <a:t>Empathized</a:t>
            </a:r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Aft>
                <a:spcPts val="1600"/>
              </a:spcAft>
              <a:buNone/>
            </a:pPr>
            <a:endParaRPr/>
          </a:p>
        </p:txBody>
      </p:sp>
      <p:pic>
        <p:nvPicPr>
          <p:cNvPr id="96" name="Google Shape;96;p7" title="Afraid of Mic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6039" y="1356967"/>
            <a:ext cx="9592867" cy="5609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078554E9-5357-7F1F-F3C2-8A97DB848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3;p8">
            <a:extLst>
              <a:ext uri="{FF2B5EF4-FFF2-40B4-BE49-F238E27FC236}">
                <a16:creationId xmlns:a16="http://schemas.microsoft.com/office/drawing/2014/main" id="{F76B7F20-D4D3-5502-EA70-0358BE847E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528" y="2548989"/>
            <a:ext cx="9525000" cy="25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9F87EE-414E-28B2-962D-50EEC13510E3}"/>
              </a:ext>
            </a:extLst>
          </p:cNvPr>
          <p:cNvSpPr txBox="1"/>
          <p:nvPr/>
        </p:nvSpPr>
        <p:spPr>
          <a:xfrm>
            <a:off x="660528" y="1268576"/>
            <a:ext cx="61150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4000" dirty="0"/>
              <a:t>Define </a:t>
            </a:r>
            <a:endParaRPr lang="en-MY" sz="4000" dirty="0"/>
          </a:p>
        </p:txBody>
      </p:sp>
    </p:spTree>
    <p:extLst>
      <p:ext uri="{BB962C8B-B14F-4D97-AF65-F5344CB8AC3E}">
        <p14:creationId xmlns:p14="http://schemas.microsoft.com/office/powerpoint/2010/main" val="3093546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Aft>
                <a:spcPts val="1600"/>
              </a:spcAft>
              <a:buNone/>
            </a:pPr>
            <a:endParaRPr/>
          </a:p>
        </p:txBody>
      </p:sp>
      <p:pic>
        <p:nvPicPr>
          <p:cNvPr id="110" name="Google Shape;11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1201" y="1536633"/>
            <a:ext cx="10684256" cy="471721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9"/>
          <p:cNvSpPr txBox="1">
            <a:spLocks noGrp="1"/>
          </p:cNvSpPr>
          <p:nvPr>
            <p:ph type="title"/>
          </p:nvPr>
        </p:nvSpPr>
        <p:spPr>
          <a:xfrm>
            <a:off x="321200" y="185133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lnSpc>
                <a:spcPct val="115000"/>
              </a:lnSpc>
              <a:buSzPct val="119658"/>
            </a:pPr>
            <a:r>
              <a:rPr lang="en" sz="3467" b="1">
                <a:solidFill>
                  <a:srgbClr val="FF0000"/>
                </a:solidFill>
              </a:rPr>
              <a:t>Define - synthesis/ findings about mice</a:t>
            </a:r>
            <a:endParaRPr sz="3467" b="1">
              <a:solidFill>
                <a:schemeClr val="dk2"/>
              </a:solidFill>
            </a:endParaRPr>
          </a:p>
          <a:p>
            <a:pPr>
              <a:spcBef>
                <a:spcPts val="1600"/>
              </a:spcBef>
              <a:buSzPct val="111111"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C6492233-CDF5-BDDF-5474-D98A1E1F8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51E1C3A-A95F-982B-5D21-96207122C830}"/>
              </a:ext>
            </a:extLst>
          </p:cNvPr>
          <p:cNvSpPr txBox="1"/>
          <p:nvPr/>
        </p:nvSpPr>
        <p:spPr>
          <a:xfrm>
            <a:off x="660527" y="1268576"/>
            <a:ext cx="970811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4400"/>
              <a:t>Define Using User Stories</a:t>
            </a:r>
            <a:endParaRPr lang="en-MY" sz="4400" dirty="0"/>
          </a:p>
        </p:txBody>
      </p:sp>
      <p:pic>
        <p:nvPicPr>
          <p:cNvPr id="3" name="Google Shape;118;p10">
            <a:extLst>
              <a:ext uri="{FF2B5EF4-FFF2-40B4-BE49-F238E27FC236}">
                <a16:creationId xmlns:a16="http://schemas.microsoft.com/office/drawing/2014/main" id="{A608F82C-3CDE-0F03-D8AF-3B73C3C460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3971" y="2601687"/>
            <a:ext cx="8686800" cy="213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0818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92F72197-9AE4-B1EE-8FE4-CDEB14ED2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09FD7C-504A-7D04-FFC4-7D273405F6A2}"/>
              </a:ext>
            </a:extLst>
          </p:cNvPr>
          <p:cNvSpPr txBox="1"/>
          <p:nvPr/>
        </p:nvSpPr>
        <p:spPr>
          <a:xfrm>
            <a:off x="669165" y="925677"/>
            <a:ext cx="61150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4000" b="1" dirty="0">
                <a:solidFill>
                  <a:srgbClr val="FF0000"/>
                </a:solidFill>
              </a:rPr>
              <a:t>Ideate</a:t>
            </a:r>
            <a:endParaRPr lang="en-MY" sz="4000" dirty="0"/>
          </a:p>
        </p:txBody>
      </p:sp>
      <p:pic>
        <p:nvPicPr>
          <p:cNvPr id="5" name="Google Shape;125;p11">
            <a:extLst>
              <a:ext uri="{FF2B5EF4-FFF2-40B4-BE49-F238E27FC236}">
                <a16:creationId xmlns:a16="http://schemas.microsoft.com/office/drawing/2014/main" id="{923828BD-9594-4AEA-003F-5384EC370E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165" y="2123420"/>
            <a:ext cx="9563100" cy="4152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9301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FA7CF96A-182D-A7F8-CF71-5B16011FE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 txBox="1">
            <a:spLocks/>
          </p:cNvSpPr>
          <p:nvPr/>
        </p:nvSpPr>
        <p:spPr>
          <a:xfrm>
            <a:off x="669165" y="887886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buSzPct val="119658"/>
            </a:pPr>
            <a:r>
              <a:rPr lang="en-MY" sz="3467" b="1">
                <a:solidFill>
                  <a:srgbClr val="FF0000"/>
                </a:solidFill>
              </a:rPr>
              <a:t>Prototype</a:t>
            </a:r>
            <a:r>
              <a:rPr lang="en-MY" sz="3467" b="1">
                <a:solidFill>
                  <a:schemeClr val="dk2"/>
                </a:solidFill>
              </a:rPr>
              <a:t> and </a:t>
            </a:r>
            <a:r>
              <a:rPr lang="en-MY" sz="3467" b="1">
                <a:solidFill>
                  <a:srgbClr val="FF0000"/>
                </a:solidFill>
              </a:rPr>
              <a:t>Test</a:t>
            </a:r>
          </a:p>
          <a:p>
            <a:pPr>
              <a:spcBef>
                <a:spcPts val="1600"/>
              </a:spcBef>
              <a:buSzPct val="111111"/>
            </a:pPr>
            <a:endParaRPr lang="en-MY" dirty="0"/>
          </a:p>
        </p:txBody>
      </p:sp>
      <p:pic>
        <p:nvPicPr>
          <p:cNvPr id="2" name="Google Shape;139;p13">
            <a:extLst>
              <a:ext uri="{FF2B5EF4-FFF2-40B4-BE49-F238E27FC236}">
                <a16:creationId xmlns:a16="http://schemas.microsoft.com/office/drawing/2014/main" id="{12893636-DD34-E46D-2828-AD4429B0DB2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256" y="2178957"/>
            <a:ext cx="9923543" cy="19031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3405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C22B56A8-3AED-3F91-0284-50024DB96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>
            <a:extLst>
              <a:ext uri="{FF2B5EF4-FFF2-40B4-BE49-F238E27FC236}">
                <a16:creationId xmlns:a16="http://schemas.microsoft.com/office/drawing/2014/main" id="{0FDBCEDB-9408-733B-9BB8-4BF70E146C0D}"/>
              </a:ext>
            </a:extLst>
          </p:cNvPr>
          <p:cNvSpPr txBox="1">
            <a:spLocks/>
          </p:cNvSpPr>
          <p:nvPr/>
        </p:nvSpPr>
        <p:spPr>
          <a:xfrm>
            <a:off x="669165" y="887886"/>
            <a:ext cx="1518864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5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buSzPct val="119658"/>
            </a:pPr>
            <a:r>
              <a:rPr lang="en-MY" sz="6700" b="1" dirty="0">
                <a:solidFill>
                  <a:srgbClr val="FF0000"/>
                </a:solidFill>
              </a:rPr>
              <a:t>Test</a:t>
            </a:r>
          </a:p>
          <a:p>
            <a:pPr>
              <a:spcBef>
                <a:spcPts val="1600"/>
              </a:spcBef>
              <a:buSzPct val="111111"/>
            </a:pPr>
            <a:endParaRPr lang="en-MY" dirty="0"/>
          </a:p>
        </p:txBody>
      </p:sp>
      <p:pic>
        <p:nvPicPr>
          <p:cNvPr id="3" name="Google Shape;146;p14">
            <a:extLst>
              <a:ext uri="{FF2B5EF4-FFF2-40B4-BE49-F238E27FC236}">
                <a16:creationId xmlns:a16="http://schemas.microsoft.com/office/drawing/2014/main" id="{992EDD08-46D7-19AC-F6EF-978A89E56C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165" y="2765553"/>
            <a:ext cx="10822033" cy="1066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2792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162D0DD0-19B1-3380-6A8F-9BE23A256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1;p15">
            <a:extLst>
              <a:ext uri="{FF2B5EF4-FFF2-40B4-BE49-F238E27FC236}">
                <a16:creationId xmlns:a16="http://schemas.microsoft.com/office/drawing/2014/main" id="{700C83F0-4485-FC1F-6686-13A800377119}"/>
              </a:ext>
            </a:extLst>
          </p:cNvPr>
          <p:cNvSpPr txBox="1">
            <a:spLocks/>
          </p:cNvSpPr>
          <p:nvPr/>
        </p:nvSpPr>
        <p:spPr>
          <a:xfrm>
            <a:off x="415600" y="1001581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33333"/>
              </a:lnSpc>
              <a:buClr>
                <a:schemeClr val="dk1"/>
              </a:buClr>
              <a:buSzPct val="50768"/>
            </a:pPr>
            <a:r>
              <a:rPr lang="en-MY" sz="2888" b="1">
                <a:latin typeface="Roboto"/>
                <a:ea typeface="Roboto"/>
                <a:cs typeface="Roboto"/>
                <a:sym typeface="Roboto"/>
              </a:rPr>
              <a:t>Synchronizing Design Thinking and Scrum</a:t>
            </a:r>
          </a:p>
          <a:p>
            <a:pPr>
              <a:buSzPct val="111111"/>
            </a:pPr>
            <a:endParaRPr lang="en-MY" dirty="0"/>
          </a:p>
        </p:txBody>
      </p:sp>
      <p:pic>
        <p:nvPicPr>
          <p:cNvPr id="4" name="Google Shape;153;p15">
            <a:extLst>
              <a:ext uri="{FF2B5EF4-FFF2-40B4-BE49-F238E27FC236}">
                <a16:creationId xmlns:a16="http://schemas.microsoft.com/office/drawing/2014/main" id="{C2B3B6A3-E004-D69D-DBF8-6C2E8E9D5E1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5585" y="1655233"/>
            <a:ext cx="9690100" cy="431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0757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SzPct val="111111"/>
            </a:pPr>
            <a:r>
              <a:rPr lang="en"/>
              <a:t>Ride Sharing apps for Car Pooling (sustainability initiative)</a:t>
            </a:r>
            <a:endParaRPr/>
          </a:p>
        </p:txBody>
      </p:sp>
      <p:sp>
        <p:nvSpPr>
          <p:cNvPr id="159" name="Google Shape;159;p16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"/>
              <a:t>In Class Activity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>
            <a:spLocks noGrp="1"/>
          </p:cNvSpPr>
          <p:nvPr>
            <p:ph type="title"/>
          </p:nvPr>
        </p:nvSpPr>
        <p:spPr>
          <a:xfrm>
            <a:off x="0" y="357033"/>
            <a:ext cx="1331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 algn="ctr">
              <a:buSzPct val="111111"/>
            </a:pPr>
            <a:r>
              <a:rPr lang="en" b="1">
                <a:solidFill>
                  <a:srgbClr val="FF0000"/>
                </a:solidFill>
              </a:rPr>
              <a:t>EMPATHY </a:t>
            </a:r>
            <a:r>
              <a:rPr lang="en"/>
              <a:t>- Understand the as-is problem of your customer/stakeholder </a:t>
            </a:r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body" idx="1"/>
          </p:nvPr>
        </p:nvSpPr>
        <p:spPr>
          <a:xfrm>
            <a:off x="415600" y="1504600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Aft>
                <a:spcPts val="1600"/>
              </a:spcAft>
              <a:buNone/>
            </a:pPr>
            <a:endParaRPr>
              <a:solidFill>
                <a:srgbClr val="FF0000"/>
              </a:solidFill>
            </a:endParaRPr>
          </a:p>
        </p:txBody>
      </p:sp>
      <p:pic>
        <p:nvPicPr>
          <p:cNvPr id="166" name="Google Shape;166;p17" title="Ride sharing for car-pooling - visual selecti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44334" y="1312368"/>
            <a:ext cx="8377901" cy="554563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9041167" y="1504600"/>
            <a:ext cx="24780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" sz="1467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Currently, triders with significantly different routes or destinations paired togather , leading to long detours and extended travel times that discourage users from choosing carpooling.</a:t>
            </a:r>
            <a:endParaRPr sz="1467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9600767" y="3563267"/>
            <a:ext cx="19184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" sz="1467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Riders in a carpool have inconsistent pickup and drop-off schedules, resulting in delays and unpredictability,</a:t>
            </a:r>
            <a:endParaRPr sz="1467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534167" y="2172467"/>
            <a:ext cx="19184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" sz="1467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Drivers are hesitant to accept carpooling trips due to increased complexity, time commitment, and perceived lower earnings </a:t>
            </a:r>
            <a:endParaRPr sz="1467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534167" y="4615100"/>
            <a:ext cx="19184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" sz="1467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The fare split among carpool riders is not clearly explained or visibly fair,</a:t>
            </a:r>
            <a:endParaRPr sz="1467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268667" y="6005900"/>
            <a:ext cx="47944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" sz="1467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Users are not sufficiently incentivized to choose carpooling over solo rides, leading to low adoption rates</a:t>
            </a:r>
            <a:endParaRPr sz="1467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8268367" y="5345367"/>
            <a:ext cx="4023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" sz="1467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Currently to do car pooling manually -  lacks support for users to set preferences (e.g., quiet rides, no pets, female-only carpools), leading to dissatisfaction and privacy concerns.</a:t>
            </a:r>
            <a:endParaRPr sz="1467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 algn="ctr">
              <a:buClr>
                <a:schemeClr val="dk1"/>
              </a:buClr>
              <a:buSzPct val="39285"/>
            </a:pPr>
            <a:r>
              <a:rPr lang="en" b="1">
                <a:solidFill>
                  <a:srgbClr val="FF0000"/>
                </a:solidFill>
              </a:rPr>
              <a:t>Define - </a:t>
            </a:r>
            <a:r>
              <a:rPr lang="en" b="1">
                <a:solidFill>
                  <a:srgbClr val="000000"/>
                </a:solidFill>
              </a:rPr>
              <a:t>User stories to define stakeholder/ customer</a:t>
            </a:r>
            <a:r>
              <a:rPr lang="en" b="1">
                <a:solidFill>
                  <a:srgbClr val="FF0000"/>
                </a:solidFill>
              </a:rPr>
              <a:t>  </a:t>
            </a:r>
            <a:endParaRPr/>
          </a:p>
        </p:txBody>
      </p:sp>
      <p:sp>
        <p:nvSpPr>
          <p:cNvPr id="178" name="Google Shape;178;p1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marR="507987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sz="2000" b="1" dirty="0">
                <a:solidFill>
                  <a:schemeClr val="dk1"/>
                </a:solidFill>
              </a:rPr>
              <a:t>The description part of a user story is typically written by using the following template:</a:t>
            </a:r>
            <a:endParaRPr sz="2000" b="1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sz="2000" b="1" dirty="0">
                <a:solidFill>
                  <a:schemeClr val="dk1"/>
                </a:solidFill>
              </a:rPr>
              <a:t>As a</a:t>
            </a:r>
            <a:r>
              <a:rPr lang="en" sz="2000" dirty="0">
                <a:solidFill>
                  <a:schemeClr val="dk1"/>
                </a:solidFill>
              </a:rPr>
              <a:t> </a:t>
            </a:r>
            <a:r>
              <a:rPr lang="en" sz="20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&lt;role&gt;</a:t>
            </a:r>
            <a:r>
              <a:rPr lang="en" sz="2000" dirty="0">
                <a:solidFill>
                  <a:schemeClr val="dk1"/>
                </a:solidFill>
              </a:rPr>
              <a:t>, </a:t>
            </a:r>
            <a:r>
              <a:rPr lang="en" sz="2000" b="1" dirty="0">
                <a:solidFill>
                  <a:schemeClr val="dk1"/>
                </a:solidFill>
              </a:rPr>
              <a:t>I want to</a:t>
            </a:r>
            <a:r>
              <a:rPr lang="en" sz="2000" dirty="0">
                <a:solidFill>
                  <a:schemeClr val="dk1"/>
                </a:solidFill>
              </a:rPr>
              <a:t> </a:t>
            </a:r>
            <a:r>
              <a:rPr lang="en" sz="20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&lt;task&gt;</a:t>
            </a:r>
            <a:r>
              <a:rPr lang="en" sz="2000" dirty="0">
                <a:solidFill>
                  <a:schemeClr val="dk1"/>
                </a:solidFill>
              </a:rPr>
              <a:t> </a:t>
            </a:r>
            <a:r>
              <a:rPr lang="en" sz="2000" b="1" dirty="0">
                <a:solidFill>
                  <a:schemeClr val="dk1"/>
                </a:solidFill>
              </a:rPr>
              <a:t>so that</a:t>
            </a:r>
            <a:r>
              <a:rPr lang="en" sz="2000" dirty="0">
                <a:solidFill>
                  <a:schemeClr val="dk1"/>
                </a:solidFill>
              </a:rPr>
              <a:t> </a:t>
            </a:r>
            <a:r>
              <a:rPr lang="en" sz="20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&lt;benefit&gt;</a:t>
            </a:r>
            <a:endParaRPr sz="20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sz="2000" dirty="0">
                <a:solidFill>
                  <a:schemeClr val="dk1"/>
                </a:solidFill>
              </a:rPr>
              <a:t>The angle brackets (</a:t>
            </a:r>
            <a:r>
              <a:rPr lang="en" sz="20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 &gt;</a:t>
            </a:r>
            <a:r>
              <a:rPr lang="en" sz="2000" dirty="0">
                <a:solidFill>
                  <a:schemeClr val="dk1"/>
                </a:solidFill>
              </a:rPr>
              <a:t>) enclose placeholders for text.</a:t>
            </a:r>
            <a:endParaRPr sz="2000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sz="253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 algn="ctr">
              <a:buSzPct val="111111"/>
            </a:pPr>
            <a:r>
              <a:rPr lang="en" b="1">
                <a:solidFill>
                  <a:srgbClr val="FF0000"/>
                </a:solidFill>
              </a:rPr>
              <a:t>Ideate- </a:t>
            </a:r>
            <a:r>
              <a:rPr lang="en" b="1">
                <a:solidFill>
                  <a:srgbClr val="000000"/>
                </a:solidFill>
              </a:rPr>
              <a:t>User stories to define stakeholder/ customer</a:t>
            </a:r>
            <a:r>
              <a:rPr lang="en" b="1">
                <a:solidFill>
                  <a:srgbClr val="FF0000"/>
                </a:solidFill>
              </a:rPr>
              <a:t>  </a:t>
            </a:r>
            <a:endParaRPr/>
          </a:p>
        </p:txBody>
      </p:sp>
      <p:sp>
        <p:nvSpPr>
          <p:cNvPr id="184" name="Google Shape;184;p1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marR="507987" indent="0">
              <a:spcBef>
                <a:spcPts val="1600"/>
              </a:spcBef>
              <a:buNone/>
            </a:pPr>
            <a:endParaRPr sz="2000" b="1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" sz="2000" b="1">
                <a:solidFill>
                  <a:schemeClr val="dk1"/>
                </a:solidFill>
              </a:rPr>
              <a:t>As a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&lt;rider&gt;</a:t>
            </a:r>
            <a:r>
              <a:rPr lang="en" sz="2000">
                <a:solidFill>
                  <a:schemeClr val="dk1"/>
                </a:solidFill>
              </a:rPr>
              <a:t>, </a:t>
            </a:r>
            <a:r>
              <a:rPr lang="en" sz="2000" b="1">
                <a:solidFill>
                  <a:schemeClr val="dk1"/>
                </a:solidFill>
              </a:rPr>
              <a:t>I want to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&lt;be able to be assigned to riders with the same destination as I am&gt;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 b="1">
                <a:solidFill>
                  <a:schemeClr val="dk1"/>
                </a:solidFill>
              </a:rPr>
              <a:t>so that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&lt;I can have an efficient journey to my destination&gt;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" sz="2000">
                <a:solidFill>
                  <a:schemeClr val="dk1"/>
                </a:solidFill>
              </a:rPr>
              <a:t>The angle brackets (</a:t>
            </a:r>
            <a:r>
              <a:rPr lang="e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 &gt;</a:t>
            </a:r>
            <a:r>
              <a:rPr lang="en" sz="2000">
                <a:solidFill>
                  <a:schemeClr val="dk1"/>
                </a:solidFill>
              </a:rPr>
              <a:t>) enclose placeholders for text.</a:t>
            </a:r>
            <a:endParaRPr sz="200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sz="2533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C1D35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6C3636"/>
      </a:accent6>
      <a:hlink>
        <a:srgbClr val="CC9900"/>
      </a:hlink>
      <a:folHlink>
        <a:srgbClr val="96A9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7299</TotalTime>
  <Words>354</Words>
  <Application>Microsoft Office PowerPoint</Application>
  <PresentationFormat>Widescreen</PresentationFormat>
  <Paragraphs>44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Montserrat Semi</vt:lpstr>
      <vt:lpstr>Roboto</vt:lpstr>
      <vt:lpstr>Roboto Mono</vt:lpstr>
      <vt:lpstr>Office Theme</vt:lpstr>
      <vt:lpstr>PowerPoint Presentation</vt:lpstr>
      <vt:lpstr>PowerPoint Presentation</vt:lpstr>
      <vt:lpstr>Design Thinking</vt:lpstr>
      <vt:lpstr>PowerPoint Presentation</vt:lpstr>
      <vt:lpstr>Design Thinking Explained</vt:lpstr>
      <vt:lpstr>PowerPoint Presentation</vt:lpstr>
      <vt:lpstr>Empathized</vt:lpstr>
      <vt:lpstr>PowerPoint Presentation</vt:lpstr>
      <vt:lpstr>Define - synthesis/ findings about mice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Ride Sharing apps for Car Pooling (sustainability initiative)</vt:lpstr>
      <vt:lpstr>EMPATHY - Understand the as-is problem of your customer/stakeholder </vt:lpstr>
      <vt:lpstr>Define - User stories to define stakeholder/ customer  </vt:lpstr>
      <vt:lpstr>Ideate- User stories to define stakeholder/ customer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NUR AMALINA BINTI HAMIDI</dc:creator>
  <cp:lastModifiedBy>Norsham Idris</cp:lastModifiedBy>
  <cp:revision>45</cp:revision>
  <dcterms:created xsi:type="dcterms:W3CDTF">2023-12-31T03:09:43Z</dcterms:created>
  <dcterms:modified xsi:type="dcterms:W3CDTF">2025-04-14T02:00:46Z</dcterms:modified>
</cp:coreProperties>
</file>