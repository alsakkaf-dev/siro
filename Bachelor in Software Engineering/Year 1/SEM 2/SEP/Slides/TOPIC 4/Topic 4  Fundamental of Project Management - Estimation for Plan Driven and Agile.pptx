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43" roundtripDataSignature="AMtx7mjoG6bel2G1MRO1j7ybWCqVlcJs+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DF398B2A-15F8-4116-8A9A-C70BB34DCDE9}">
  <a:tblStyle styleId="{DF398B2A-15F8-4116-8A9A-C70BB34DCDE9}"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AE7E7"/>
          </a:solidFill>
        </a:fill>
      </a:tcStyle>
    </a:wholeTbl>
    <a:band1H>
      <a:tcTxStyle b="off" i="off"/>
      <a:tcStyle>
        <a:tcBdr/>
        <a:fill>
          <a:solidFill>
            <a:srgbClr val="D3CBCC"/>
          </a:solidFill>
        </a:fill>
      </a:tcStyle>
    </a:band1H>
    <a:band2H>
      <a:tcTxStyle b="off" i="off"/>
      <a:tcStyle>
        <a:tcBdr/>
      </a:tcStyle>
    </a:band2H>
    <a:band1V>
      <a:tcTxStyle b="off" i="off"/>
      <a:tcStyle>
        <a:tcBdr/>
        <a:fill>
          <a:solidFill>
            <a:srgbClr val="D3CBCC"/>
          </a:solidFill>
        </a:fill>
      </a:tcStyle>
    </a:band1V>
    <a:band2V>
      <a:tcTxStyle b="off" i="off"/>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b="off" i="off"/>
      <a:tcStyle>
        <a:tcBdr/>
      </a:tcStyle>
    </a:seCell>
    <a:swCell>
      <a:tcTxStyle b="off" i="off"/>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924"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7"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MY"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3" name="Google Shape;193;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2" name="Google Shape;202;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8" name="Google Shape;208;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3" name="Google Shape;213;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8" name="Google Shape;218;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4" name="Google Shape;224;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0" name="Google Shape;230;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6" name="Google Shape;236;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2" name="Google Shape;242;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p2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7" name="Google Shape;247;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p2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2" name="Google Shape;252;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p2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7" name="Google Shape;257;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p2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2" name="Google Shape;262;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p2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7" name="Google Shape;267;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p2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5" name="Google Shape;275;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p2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1" name="Google Shape;281;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
        <p:cNvGrpSpPr/>
        <p:nvPr/>
      </p:nvGrpSpPr>
      <p:grpSpPr>
        <a:xfrm>
          <a:off x="0" y="0"/>
          <a:ext cx="0" cy="0"/>
          <a:chOff x="0" y="0"/>
          <a:chExt cx="0" cy="0"/>
        </a:xfrm>
      </p:grpSpPr>
      <p:sp>
        <p:nvSpPr>
          <p:cNvPr id="285" name="Google Shape;285;p3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6" name="Google Shape;286;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
        <p:cNvGrpSpPr/>
        <p:nvPr/>
      </p:nvGrpSpPr>
      <p:grpSpPr>
        <a:xfrm>
          <a:off x="0" y="0"/>
          <a:ext cx="0" cy="0"/>
          <a:chOff x="0" y="0"/>
          <a:chExt cx="0" cy="0"/>
        </a:xfrm>
      </p:grpSpPr>
      <p:sp>
        <p:nvSpPr>
          <p:cNvPr id="291" name="Google Shape;291;p3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92" name="Google Shape;292;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p3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97" name="Google Shape;297;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
        <p:cNvGrpSpPr/>
        <p:nvPr/>
      </p:nvGrpSpPr>
      <p:grpSpPr>
        <a:xfrm>
          <a:off x="0" y="0"/>
          <a:ext cx="0" cy="0"/>
          <a:chOff x="0" y="0"/>
          <a:chExt cx="0" cy="0"/>
        </a:xfrm>
      </p:grpSpPr>
      <p:sp>
        <p:nvSpPr>
          <p:cNvPr id="301" name="Google Shape;301;p3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2" name="Google Shape;302;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p3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7" name="Google Shape;307;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3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2" name="Google Shape;312;p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
        <p:cNvGrpSpPr/>
        <p:nvPr/>
      </p:nvGrpSpPr>
      <p:grpSpPr>
        <a:xfrm>
          <a:off x="0" y="0"/>
          <a:ext cx="0" cy="0"/>
          <a:chOff x="0" y="0"/>
          <a:chExt cx="0" cy="0"/>
        </a:xfrm>
      </p:grpSpPr>
      <p:sp>
        <p:nvSpPr>
          <p:cNvPr id="318" name="Google Shape;318;p3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9" name="Google Shape;319;p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
        <p:cNvGrpSpPr/>
        <p:nvPr/>
      </p:nvGrpSpPr>
      <p:grpSpPr>
        <a:xfrm>
          <a:off x="0" y="0"/>
          <a:ext cx="0" cy="0"/>
          <a:chOff x="0" y="0"/>
          <a:chExt cx="0" cy="0"/>
        </a:xfrm>
      </p:grpSpPr>
      <p:sp>
        <p:nvSpPr>
          <p:cNvPr id="323" name="Google Shape;323;p3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4" name="Google Shape;324;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p3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9" name="Google Shape;329;p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
        <p:cNvGrpSpPr/>
        <p:nvPr/>
      </p:nvGrpSpPr>
      <p:grpSpPr>
        <a:xfrm>
          <a:off x="0" y="0"/>
          <a:ext cx="0" cy="0"/>
          <a:chOff x="0" y="0"/>
          <a:chExt cx="0" cy="0"/>
        </a:xfrm>
      </p:grpSpPr>
      <p:sp>
        <p:nvSpPr>
          <p:cNvPr id="333" name="Google Shape;333;g350e4eff796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4" name="Google Shape;334;g350e4eff796_0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5" name="Google Shape;335;g350e4eff796_0_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MY"/>
              <a:t>26</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9"/>
        <p:cNvGrpSpPr/>
        <p:nvPr/>
      </p:nvGrpSpPr>
      <p:grpSpPr>
        <a:xfrm>
          <a:off x="0" y="0"/>
          <a:ext cx="0" cy="0"/>
          <a:chOff x="0" y="0"/>
          <a:chExt cx="0" cy="0"/>
        </a:xfrm>
      </p:grpSpPr>
      <p:sp>
        <p:nvSpPr>
          <p:cNvPr id="340" name="Google Shape;340;p2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41" name="Google Shape;341;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p5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6" name="Google Shape;346;p5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1"/>
        <p:cNvGrpSpPr/>
        <p:nvPr/>
      </p:nvGrpSpPr>
      <p:grpSpPr>
        <a:xfrm>
          <a:off x="0" y="0"/>
          <a:ext cx="0" cy="0"/>
          <a:chOff x="0" y="0"/>
          <a:chExt cx="0" cy="0"/>
        </a:xfrm>
      </p:grpSpPr>
      <p:sp>
        <p:nvSpPr>
          <p:cNvPr id="352" name="Google Shape;352;p6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3" name="Google Shape;353;p6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7"/>
        <p:cNvGrpSpPr/>
        <p:nvPr/>
      </p:nvGrpSpPr>
      <p:grpSpPr>
        <a:xfrm>
          <a:off x="0" y="0"/>
          <a:ext cx="0" cy="0"/>
          <a:chOff x="0" y="0"/>
          <a:chExt cx="0" cy="0"/>
        </a:xfrm>
      </p:grpSpPr>
      <p:sp>
        <p:nvSpPr>
          <p:cNvPr id="358" name="Google Shape;358;p6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9" name="Google Shape;359;p6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
        <p:cNvGrpSpPr/>
        <p:nvPr/>
      </p:nvGrpSpPr>
      <p:grpSpPr>
        <a:xfrm>
          <a:off x="0" y="0"/>
          <a:ext cx="0" cy="0"/>
          <a:chOff x="0" y="0"/>
          <a:chExt cx="0" cy="0"/>
        </a:xfrm>
      </p:grpSpPr>
      <p:sp>
        <p:nvSpPr>
          <p:cNvPr id="364" name="Google Shape;364;p6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5" name="Google Shape;365;p6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p:cNvGrpSpPr/>
        <p:nvPr/>
      </p:nvGrpSpPr>
      <p:grpSpPr>
        <a:xfrm>
          <a:off x="0" y="0"/>
          <a:ext cx="0" cy="0"/>
          <a:chOff x="0" y="0"/>
          <a:chExt cx="0" cy="0"/>
        </a:xfrm>
      </p:grpSpPr>
      <p:sp>
        <p:nvSpPr>
          <p:cNvPr id="370" name="Google Shape;370;p6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1" name="Google Shape;371;p6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7"/>
        <p:cNvGrpSpPr/>
        <p:nvPr/>
      </p:nvGrpSpPr>
      <p:grpSpPr>
        <a:xfrm>
          <a:off x="0" y="0"/>
          <a:ext cx="0" cy="0"/>
          <a:chOff x="0" y="0"/>
          <a:chExt cx="0" cy="0"/>
        </a:xfrm>
      </p:grpSpPr>
      <p:sp>
        <p:nvSpPr>
          <p:cNvPr id="378" name="Google Shape;378;p6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9" name="Google Shape;379;p6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4"/>
        <p:cNvGrpSpPr/>
        <p:nvPr/>
      </p:nvGrpSpPr>
      <p:grpSpPr>
        <a:xfrm>
          <a:off x="0" y="0"/>
          <a:ext cx="0" cy="0"/>
          <a:chOff x="0" y="0"/>
          <a:chExt cx="0" cy="0"/>
        </a:xfrm>
      </p:grpSpPr>
      <p:sp>
        <p:nvSpPr>
          <p:cNvPr id="385" name="Google Shape;385;p3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86" name="Google Shape;386;p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0"/>
        <p:cNvGrpSpPr/>
        <p:nvPr/>
      </p:nvGrpSpPr>
      <p:grpSpPr>
        <a:xfrm>
          <a:off x="0" y="0"/>
          <a:ext cx="0" cy="0"/>
          <a:chOff x="0" y="0"/>
          <a:chExt cx="0" cy="0"/>
        </a:xfrm>
      </p:grpSpPr>
      <p:sp>
        <p:nvSpPr>
          <p:cNvPr id="391" name="Google Shape;391;p4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92" name="Google Shape;392;p4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6"/>
        <p:cNvGrpSpPr/>
        <p:nvPr/>
      </p:nvGrpSpPr>
      <p:grpSpPr>
        <a:xfrm>
          <a:off x="0" y="0"/>
          <a:ext cx="0" cy="0"/>
          <a:chOff x="0" y="0"/>
          <a:chExt cx="0" cy="0"/>
        </a:xfrm>
      </p:grpSpPr>
      <p:sp>
        <p:nvSpPr>
          <p:cNvPr id="397" name="Google Shape;397;p4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98" name="Google Shape;398;p4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2"/>
        <p:cNvGrpSpPr/>
        <p:nvPr/>
      </p:nvGrpSpPr>
      <p:grpSpPr>
        <a:xfrm>
          <a:off x="0" y="0"/>
          <a:ext cx="0" cy="0"/>
          <a:chOff x="0" y="0"/>
          <a:chExt cx="0" cy="0"/>
        </a:xfrm>
      </p:grpSpPr>
      <p:sp>
        <p:nvSpPr>
          <p:cNvPr id="403" name="Google Shape;403;p4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04" name="Google Shape;404;p4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cover page">
  <p:cSld name="cover page">
    <p:spTree>
      <p:nvGrpSpPr>
        <p:cNvPr id="1" name="Shape 15"/>
        <p:cNvGrpSpPr/>
        <p:nvPr/>
      </p:nvGrpSpPr>
      <p:grpSpPr>
        <a:xfrm>
          <a:off x="0" y="0"/>
          <a:ext cx="0" cy="0"/>
          <a:chOff x="0" y="0"/>
          <a:chExt cx="0" cy="0"/>
        </a:xfrm>
      </p:grpSpPr>
      <p:pic>
        <p:nvPicPr>
          <p:cNvPr id="16" name="Google Shape;16;p44"/>
          <p:cNvPicPr preferRelativeResize="0"/>
          <p:nvPr/>
        </p:nvPicPr>
        <p:blipFill rotWithShape="1">
          <a:blip r:embed="rId2">
            <a:alphaModFix amt="34000"/>
          </a:blip>
          <a:srcRect/>
          <a:stretch/>
        </p:blipFill>
        <p:spPr>
          <a:xfrm rot="-5400000">
            <a:off x="1428041" y="-1428041"/>
            <a:ext cx="6880030" cy="9736110"/>
          </a:xfrm>
          <a:prstGeom prst="rect">
            <a:avLst/>
          </a:prstGeom>
          <a:noFill/>
          <a:ln>
            <a:noFill/>
          </a:ln>
        </p:spPr>
      </p:pic>
      <p:pic>
        <p:nvPicPr>
          <p:cNvPr id="17" name="Google Shape;17;p44"/>
          <p:cNvPicPr preferRelativeResize="0"/>
          <p:nvPr/>
        </p:nvPicPr>
        <p:blipFill rotWithShape="1">
          <a:blip r:embed="rId3">
            <a:alphaModFix amt="99000"/>
          </a:blip>
          <a:srcRect/>
          <a:stretch/>
        </p:blipFill>
        <p:spPr>
          <a:xfrm flipH="1">
            <a:off x="59093" y="0"/>
            <a:ext cx="12073813" cy="3109189"/>
          </a:xfrm>
          <a:prstGeom prst="rect">
            <a:avLst/>
          </a:prstGeom>
          <a:noFill/>
          <a:ln>
            <a:noFill/>
          </a:ln>
        </p:spPr>
      </p:pic>
      <p:sp>
        <p:nvSpPr>
          <p:cNvPr id="18" name="Google Shape;18;p44"/>
          <p:cNvSpPr/>
          <p:nvPr/>
        </p:nvSpPr>
        <p:spPr>
          <a:xfrm rot="5400000">
            <a:off x="5953544" y="641578"/>
            <a:ext cx="284909" cy="12192000"/>
          </a:xfrm>
          <a:prstGeom prst="rect">
            <a:avLst/>
          </a:prstGeom>
          <a:solidFill>
            <a:srgbClr val="6C1D3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9" name="Google Shape;19;p44"/>
          <p:cNvSpPr txBox="1"/>
          <p:nvPr/>
        </p:nvSpPr>
        <p:spPr>
          <a:xfrm>
            <a:off x="5479363" y="6595121"/>
            <a:ext cx="1377301" cy="26161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MY" sz="1100" b="1" i="0" u="none" strike="noStrike" cap="none">
                <a:solidFill>
                  <a:srgbClr val="F2F2F2"/>
                </a:solidFill>
                <a:latin typeface="Calibri"/>
                <a:ea typeface="Calibri"/>
                <a:cs typeface="Calibri"/>
                <a:sym typeface="Calibri"/>
              </a:rPr>
              <a:t>www.utm.my</a:t>
            </a:r>
            <a:endParaRPr sz="1100" b="1" i="0" u="none" strike="noStrike" cap="none">
              <a:solidFill>
                <a:schemeClr val="accent4"/>
              </a:solidFill>
              <a:latin typeface="Calibri"/>
              <a:ea typeface="Calibri"/>
              <a:cs typeface="Calibri"/>
              <a:sym typeface="Calibri"/>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0"/>
        <p:cNvGrpSpPr/>
        <p:nvPr/>
      </p:nvGrpSpPr>
      <p:grpSpPr>
        <a:xfrm>
          <a:off x="0" y="0"/>
          <a:ext cx="0" cy="0"/>
          <a:chOff x="0" y="0"/>
          <a:chExt cx="0" cy="0"/>
        </a:xfrm>
      </p:grpSpPr>
      <p:pic>
        <p:nvPicPr>
          <p:cNvPr id="21" name="Google Shape;21;p45"/>
          <p:cNvPicPr preferRelativeResize="0"/>
          <p:nvPr/>
        </p:nvPicPr>
        <p:blipFill rotWithShape="1">
          <a:blip r:embed="rId2">
            <a:alphaModFix/>
          </a:blip>
          <a:srcRect/>
          <a:stretch/>
        </p:blipFill>
        <p:spPr>
          <a:xfrm flipH="1">
            <a:off x="6765" y="1270"/>
            <a:ext cx="7112053" cy="1831461"/>
          </a:xfrm>
          <a:prstGeom prst="rect">
            <a:avLst/>
          </a:prstGeom>
          <a:noFill/>
          <a:ln>
            <a:noFill/>
          </a:ln>
        </p:spPr>
      </p:pic>
      <p:sp>
        <p:nvSpPr>
          <p:cNvPr id="22" name="Google Shape;22;p4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dk1"/>
              </a:buClr>
              <a:buSzPts val="4000"/>
              <a:buFont typeface="Calibri"/>
              <a:buNone/>
              <a:defRPr sz="4000">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4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4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4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4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MY"/>
              <a:t>‹#›</a:t>
            </a:fld>
            <a:endParaRPr/>
          </a:p>
        </p:txBody>
      </p:sp>
      <p:sp>
        <p:nvSpPr>
          <p:cNvPr id="27" name="Google Shape;27;p45"/>
          <p:cNvSpPr/>
          <p:nvPr/>
        </p:nvSpPr>
        <p:spPr>
          <a:xfrm>
            <a:off x="3894421" y="21431"/>
            <a:ext cx="4460168" cy="256507"/>
          </a:xfrm>
          <a:prstGeom prst="rect">
            <a:avLst/>
          </a:prstGeom>
          <a:solidFill>
            <a:srgbClr val="6C1D3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28" name="Google Shape;28;p45"/>
          <p:cNvPicPr preferRelativeResize="0"/>
          <p:nvPr/>
        </p:nvPicPr>
        <p:blipFill rotWithShape="1">
          <a:blip r:embed="rId3">
            <a:alphaModFix/>
          </a:blip>
          <a:srcRect/>
          <a:stretch/>
        </p:blipFill>
        <p:spPr>
          <a:xfrm>
            <a:off x="10478878" y="283590"/>
            <a:ext cx="1468167" cy="497461"/>
          </a:xfrm>
          <a:prstGeom prst="rect">
            <a:avLst/>
          </a:prstGeom>
          <a:noFill/>
          <a:ln>
            <a:noFill/>
          </a:ln>
        </p:spPr>
      </p:pic>
      <p:sp>
        <p:nvSpPr>
          <p:cNvPr id="29" name="Google Shape;29;p45"/>
          <p:cNvSpPr/>
          <p:nvPr/>
        </p:nvSpPr>
        <p:spPr>
          <a:xfrm>
            <a:off x="-1" y="6808662"/>
            <a:ext cx="12249013" cy="108973"/>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30" name="Google Shape;30;p45"/>
          <p:cNvGrpSpPr/>
          <p:nvPr/>
        </p:nvGrpSpPr>
        <p:grpSpPr>
          <a:xfrm>
            <a:off x="11930388" y="4900065"/>
            <a:ext cx="261612" cy="1456285"/>
            <a:chOff x="-7479" y="4982614"/>
            <a:chExt cx="261612" cy="1456285"/>
          </a:xfrm>
        </p:grpSpPr>
        <p:sp>
          <p:nvSpPr>
            <p:cNvPr id="31" name="Google Shape;31;p45"/>
            <p:cNvSpPr/>
            <p:nvPr/>
          </p:nvSpPr>
          <p:spPr>
            <a:xfrm>
              <a:off x="-7479" y="4982614"/>
              <a:ext cx="261612" cy="1456285"/>
            </a:xfrm>
            <a:prstGeom prst="rect">
              <a:avLst/>
            </a:prstGeom>
            <a:solidFill>
              <a:srgbClr val="26262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2" name="Google Shape;32;p45"/>
            <p:cNvSpPr txBox="1"/>
            <p:nvPr/>
          </p:nvSpPr>
          <p:spPr>
            <a:xfrm rot="-5400000">
              <a:off x="-565323" y="5578170"/>
              <a:ext cx="1377301" cy="26161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MY" sz="1100" b="1" i="0" u="none" strike="noStrike" cap="none">
                  <a:solidFill>
                    <a:srgbClr val="F2F2F2"/>
                  </a:solidFill>
                  <a:latin typeface="Calibri"/>
                  <a:ea typeface="Calibri"/>
                  <a:cs typeface="Calibri"/>
                  <a:sym typeface="Calibri"/>
                </a:rPr>
                <a:t>www.utm.my</a:t>
              </a:r>
              <a:endParaRPr sz="1100" b="1" i="0" u="none" strike="noStrike" cap="none">
                <a:solidFill>
                  <a:schemeClr val="accent4"/>
                </a:solidFill>
                <a:latin typeface="Calibri"/>
                <a:ea typeface="Calibri"/>
                <a:cs typeface="Calibri"/>
                <a:sym typeface="Calibri"/>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end page">
  <p:cSld name="end page">
    <p:spTree>
      <p:nvGrpSpPr>
        <p:cNvPr id="1" name="Shape 33"/>
        <p:cNvGrpSpPr/>
        <p:nvPr/>
      </p:nvGrpSpPr>
      <p:grpSpPr>
        <a:xfrm>
          <a:off x="0" y="0"/>
          <a:ext cx="0" cy="0"/>
          <a:chOff x="0" y="0"/>
          <a:chExt cx="0" cy="0"/>
        </a:xfrm>
      </p:grpSpPr>
      <p:sp>
        <p:nvSpPr>
          <p:cNvPr id="34" name="Google Shape;34;p46"/>
          <p:cNvSpPr/>
          <p:nvPr/>
        </p:nvSpPr>
        <p:spPr>
          <a:xfrm>
            <a:off x="0" y="-2"/>
            <a:ext cx="12230100" cy="6858001"/>
          </a:xfrm>
          <a:prstGeom prst="rect">
            <a:avLst/>
          </a:prstGeom>
          <a:solidFill>
            <a:srgbClr val="6C1D3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35" name="Google Shape;35;p46"/>
          <p:cNvPicPr preferRelativeResize="0"/>
          <p:nvPr/>
        </p:nvPicPr>
        <p:blipFill rotWithShape="1">
          <a:blip r:embed="rId2">
            <a:alphaModFix amt="32000"/>
          </a:blip>
          <a:srcRect l="20647"/>
          <a:stretch/>
        </p:blipFill>
        <p:spPr>
          <a:xfrm rot="-5400000">
            <a:off x="2686050" y="-2686050"/>
            <a:ext cx="6858000" cy="12230100"/>
          </a:xfrm>
          <a:prstGeom prst="rect">
            <a:avLst/>
          </a:prstGeom>
          <a:noFill/>
          <a:ln>
            <a:noFill/>
          </a:ln>
        </p:spPr>
      </p:pic>
      <p:sp>
        <p:nvSpPr>
          <p:cNvPr id="36" name="Google Shape;36;p4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4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4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MY"/>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39"/>
        <p:cNvGrpSpPr/>
        <p:nvPr/>
      </p:nvGrpSpPr>
      <p:grpSpPr>
        <a:xfrm>
          <a:off x="0" y="0"/>
          <a:ext cx="0" cy="0"/>
          <a:chOff x="0" y="0"/>
          <a:chExt cx="0" cy="0"/>
        </a:xfrm>
      </p:grpSpPr>
      <p:sp>
        <p:nvSpPr>
          <p:cNvPr id="40" name="Google Shape;40;p4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4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4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MY"/>
              <a:t>‹#›</a:t>
            </a:fld>
            <a:endParaRPr/>
          </a:p>
        </p:txBody>
      </p:sp>
      <p:grpSp>
        <p:nvGrpSpPr>
          <p:cNvPr id="43" name="Google Shape;43;p47"/>
          <p:cNvGrpSpPr/>
          <p:nvPr/>
        </p:nvGrpSpPr>
        <p:grpSpPr>
          <a:xfrm>
            <a:off x="0" y="0"/>
            <a:ext cx="4736144" cy="7783867"/>
            <a:chOff x="0" y="0"/>
            <a:chExt cx="4736144" cy="7783867"/>
          </a:xfrm>
        </p:grpSpPr>
        <p:pic>
          <p:nvPicPr>
            <p:cNvPr id="44" name="Google Shape;44;p47"/>
            <p:cNvPicPr preferRelativeResize="0"/>
            <p:nvPr/>
          </p:nvPicPr>
          <p:blipFill rotWithShape="1">
            <a:blip r:embed="rId2">
              <a:alphaModFix/>
            </a:blip>
            <a:srcRect/>
            <a:stretch/>
          </p:blipFill>
          <p:spPr>
            <a:xfrm>
              <a:off x="0" y="0"/>
              <a:ext cx="3118649" cy="4463581"/>
            </a:xfrm>
            <a:prstGeom prst="rect">
              <a:avLst/>
            </a:prstGeom>
            <a:noFill/>
            <a:ln>
              <a:noFill/>
            </a:ln>
          </p:spPr>
        </p:pic>
        <p:sp>
          <p:nvSpPr>
            <p:cNvPr id="45" name="Google Shape;45;p47"/>
            <p:cNvSpPr/>
            <p:nvPr/>
          </p:nvSpPr>
          <p:spPr>
            <a:xfrm rot="8446488">
              <a:off x="1155879" y="3069975"/>
              <a:ext cx="2214654" cy="3120244"/>
            </a:xfrm>
            <a:prstGeom prst="parallelogram">
              <a:avLst>
                <a:gd name="adj" fmla="val 25000"/>
              </a:avLst>
            </a:prstGeom>
            <a:solidFill>
              <a:srgbClr val="F2F2F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6" name="Google Shape;46;p47"/>
            <p:cNvSpPr/>
            <p:nvPr/>
          </p:nvSpPr>
          <p:spPr>
            <a:xfrm rot="8446488">
              <a:off x="2539020" y="5497285"/>
              <a:ext cx="1784436" cy="1941063"/>
            </a:xfrm>
            <a:custGeom>
              <a:avLst/>
              <a:gdLst/>
              <a:ahLst/>
              <a:cxnLst/>
              <a:rect l="l" t="t" r="r" b="b"/>
              <a:pathLst>
                <a:path w="1784436" h="1941063" extrusionOk="0">
                  <a:moveTo>
                    <a:pt x="0" y="1941063"/>
                  </a:moveTo>
                  <a:lnTo>
                    <a:pt x="341522" y="0"/>
                  </a:lnTo>
                  <a:lnTo>
                    <a:pt x="1784436" y="1205605"/>
                  </a:lnTo>
                  <a:lnTo>
                    <a:pt x="1660991" y="1941063"/>
                  </a:lnTo>
                  <a:lnTo>
                    <a:pt x="0" y="1941063"/>
                  </a:lnTo>
                  <a:close/>
                </a:path>
              </a:pathLst>
            </a:custGeom>
            <a:solidFill>
              <a:srgbClr val="F2F2F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pic>
        <p:nvPicPr>
          <p:cNvPr id="47" name="Google Shape;47;p47"/>
          <p:cNvPicPr preferRelativeResize="0"/>
          <p:nvPr/>
        </p:nvPicPr>
        <p:blipFill rotWithShape="1">
          <a:blip r:embed="rId3">
            <a:alphaModFix/>
          </a:blip>
          <a:srcRect/>
          <a:stretch/>
        </p:blipFill>
        <p:spPr>
          <a:xfrm flipH="1">
            <a:off x="2126331" y="-1062392"/>
            <a:ext cx="2405080" cy="3385097"/>
          </a:xfrm>
          <a:prstGeom prst="rect">
            <a:avLst/>
          </a:prstGeom>
          <a:noFill/>
          <a:ln>
            <a:noFill/>
          </a:ln>
        </p:spPr>
      </p:pic>
      <p:pic>
        <p:nvPicPr>
          <p:cNvPr id="48" name="Google Shape;48;p47"/>
          <p:cNvPicPr preferRelativeResize="0"/>
          <p:nvPr/>
        </p:nvPicPr>
        <p:blipFill rotWithShape="1">
          <a:blip r:embed="rId4">
            <a:alphaModFix amt="99000"/>
          </a:blip>
          <a:srcRect/>
          <a:stretch/>
        </p:blipFill>
        <p:spPr>
          <a:xfrm rot="-5400000" flipH="1">
            <a:off x="-2602281" y="2616106"/>
            <a:ext cx="7046892" cy="1814681"/>
          </a:xfrm>
          <a:prstGeom prst="rect">
            <a:avLst/>
          </a:prstGeom>
          <a:noFill/>
          <a:ln>
            <a:noFill/>
          </a:ln>
        </p:spPr>
      </p:pic>
      <p:pic>
        <p:nvPicPr>
          <p:cNvPr id="49" name="Google Shape;49;p47"/>
          <p:cNvPicPr preferRelativeResize="0"/>
          <p:nvPr/>
        </p:nvPicPr>
        <p:blipFill rotWithShape="1">
          <a:blip r:embed="rId5">
            <a:alphaModFix/>
          </a:blip>
          <a:srcRect/>
          <a:stretch/>
        </p:blipFill>
        <p:spPr>
          <a:xfrm rot="10800000">
            <a:off x="283211" y="3743462"/>
            <a:ext cx="2080701" cy="2978013"/>
          </a:xfrm>
          <a:prstGeom prst="rect">
            <a:avLst/>
          </a:prstGeom>
          <a:noFill/>
          <a:ln>
            <a:noFill/>
          </a:ln>
        </p:spPr>
      </p:pic>
      <p:pic>
        <p:nvPicPr>
          <p:cNvPr id="50" name="Google Shape;50;p47"/>
          <p:cNvPicPr preferRelativeResize="0"/>
          <p:nvPr/>
        </p:nvPicPr>
        <p:blipFill rotWithShape="1">
          <a:blip r:embed="rId6">
            <a:alphaModFix/>
          </a:blip>
          <a:srcRect/>
          <a:stretch/>
        </p:blipFill>
        <p:spPr>
          <a:xfrm rot="5400000">
            <a:off x="1830037" y="6046777"/>
            <a:ext cx="419100" cy="790575"/>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2_Custom Layout">
  <p:cSld name="2_Custom Layout">
    <p:spTree>
      <p:nvGrpSpPr>
        <p:cNvPr id="1" name="Shape 51"/>
        <p:cNvGrpSpPr/>
        <p:nvPr/>
      </p:nvGrpSpPr>
      <p:grpSpPr>
        <a:xfrm>
          <a:off x="0" y="0"/>
          <a:ext cx="0" cy="0"/>
          <a:chOff x="0" y="0"/>
          <a:chExt cx="0" cy="0"/>
        </a:xfrm>
      </p:grpSpPr>
      <p:pic>
        <p:nvPicPr>
          <p:cNvPr id="52" name="Google Shape;52;p48"/>
          <p:cNvPicPr preferRelativeResize="0"/>
          <p:nvPr/>
        </p:nvPicPr>
        <p:blipFill rotWithShape="1">
          <a:blip r:embed="rId2">
            <a:alphaModFix/>
          </a:blip>
          <a:srcRect t="26333" b="7973"/>
          <a:stretch/>
        </p:blipFill>
        <p:spPr>
          <a:xfrm>
            <a:off x="0" y="0"/>
            <a:ext cx="12192000" cy="6858000"/>
          </a:xfrm>
          <a:prstGeom prst="rect">
            <a:avLst/>
          </a:prstGeom>
          <a:noFill/>
          <a:ln>
            <a:noFill/>
          </a:ln>
        </p:spPr>
      </p:pic>
      <p:sp>
        <p:nvSpPr>
          <p:cNvPr id="53" name="Google Shape;53;p48"/>
          <p:cNvSpPr/>
          <p:nvPr/>
        </p:nvSpPr>
        <p:spPr>
          <a:xfrm>
            <a:off x="0" y="1"/>
            <a:ext cx="12192000" cy="6858000"/>
          </a:xfrm>
          <a:prstGeom prst="rect">
            <a:avLst/>
          </a:prstGeom>
          <a:gradFill>
            <a:gsLst>
              <a:gs pos="0">
                <a:srgbClr val="6C1D35">
                  <a:alpha val="67450"/>
                </a:srgbClr>
              </a:gs>
              <a:gs pos="12000">
                <a:srgbClr val="6C1D35">
                  <a:alpha val="67450"/>
                </a:srgbClr>
              </a:gs>
              <a:gs pos="77000">
                <a:srgbClr val="511527"/>
              </a:gs>
              <a:gs pos="100000">
                <a:srgbClr val="511527"/>
              </a:gs>
            </a:gsLst>
            <a:lin ang="13500000" scaled="0"/>
          </a:gradFill>
          <a:ln w="12700" cap="flat" cmpd="sng">
            <a:solidFill>
              <a:srgbClr val="2D0C1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4" name="Google Shape;54;p4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4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4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MY"/>
              <a:t>‹#›</a:t>
            </a:fld>
            <a:endParaRPr/>
          </a:p>
        </p:txBody>
      </p:sp>
      <p:pic>
        <p:nvPicPr>
          <p:cNvPr id="57" name="Google Shape;57;p48"/>
          <p:cNvPicPr preferRelativeResize="0"/>
          <p:nvPr/>
        </p:nvPicPr>
        <p:blipFill rotWithShape="1">
          <a:blip r:embed="rId3">
            <a:alphaModFix/>
          </a:blip>
          <a:srcRect/>
          <a:stretch/>
        </p:blipFill>
        <p:spPr>
          <a:xfrm rot="10800000" flipH="1">
            <a:off x="7112000" y="-35081"/>
            <a:ext cx="4917440" cy="6921189"/>
          </a:xfrm>
          <a:prstGeom prst="rect">
            <a:avLst/>
          </a:prstGeom>
          <a:noFill/>
          <a:ln>
            <a:noFill/>
          </a:ln>
        </p:spPr>
      </p:pic>
      <p:pic>
        <p:nvPicPr>
          <p:cNvPr id="58" name="Google Shape;58;p48"/>
          <p:cNvPicPr preferRelativeResize="0"/>
          <p:nvPr/>
        </p:nvPicPr>
        <p:blipFill rotWithShape="1">
          <a:blip r:embed="rId3">
            <a:alphaModFix/>
          </a:blip>
          <a:srcRect/>
          <a:stretch/>
        </p:blipFill>
        <p:spPr>
          <a:xfrm rot="10800000" flipH="1">
            <a:off x="11268262" y="349094"/>
            <a:ext cx="2010036" cy="2829081"/>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59"/>
        <p:cNvGrpSpPr/>
        <p:nvPr/>
      </p:nvGrpSpPr>
      <p:grpSpPr>
        <a:xfrm>
          <a:off x="0" y="0"/>
          <a:ext cx="0" cy="0"/>
          <a:chOff x="0" y="0"/>
          <a:chExt cx="0" cy="0"/>
        </a:xfrm>
      </p:grpSpPr>
      <p:pic>
        <p:nvPicPr>
          <p:cNvPr id="60" name="Google Shape;60;p49"/>
          <p:cNvPicPr preferRelativeResize="0"/>
          <p:nvPr/>
        </p:nvPicPr>
        <p:blipFill rotWithShape="1">
          <a:blip r:embed="rId2">
            <a:alphaModFix amt="99000"/>
          </a:blip>
          <a:srcRect/>
          <a:stretch/>
        </p:blipFill>
        <p:spPr>
          <a:xfrm flipH="1">
            <a:off x="6764" y="1270"/>
            <a:ext cx="12073813" cy="3109189"/>
          </a:xfrm>
          <a:prstGeom prst="rect">
            <a:avLst/>
          </a:prstGeom>
          <a:noFill/>
          <a:ln>
            <a:noFill/>
          </a:ln>
        </p:spPr>
      </p:pic>
      <p:grpSp>
        <p:nvGrpSpPr>
          <p:cNvPr id="61" name="Google Shape;61;p49"/>
          <p:cNvGrpSpPr/>
          <p:nvPr/>
        </p:nvGrpSpPr>
        <p:grpSpPr>
          <a:xfrm>
            <a:off x="0" y="6438899"/>
            <a:ext cx="4425450" cy="419100"/>
            <a:chOff x="0" y="6438899"/>
            <a:chExt cx="4425450" cy="419100"/>
          </a:xfrm>
        </p:grpSpPr>
        <p:sp>
          <p:nvSpPr>
            <p:cNvPr id="62" name="Google Shape;62;p49"/>
            <p:cNvSpPr/>
            <p:nvPr/>
          </p:nvSpPr>
          <p:spPr>
            <a:xfrm>
              <a:off x="0" y="6438900"/>
              <a:ext cx="4115884" cy="419099"/>
            </a:xfrm>
            <a:prstGeom prst="rect">
              <a:avLst/>
            </a:prstGeom>
            <a:solidFill>
              <a:srgbClr val="6C1D3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 name="Google Shape;63;p49"/>
            <p:cNvSpPr/>
            <p:nvPr/>
          </p:nvSpPr>
          <p:spPr>
            <a:xfrm>
              <a:off x="4115884" y="6438899"/>
              <a:ext cx="309566" cy="419100"/>
            </a:xfrm>
            <a:prstGeom prst="rtTriangle">
              <a:avLst/>
            </a:prstGeom>
            <a:solidFill>
              <a:srgbClr val="6C1D3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4" name="Google Shape;64;p49"/>
          <p:cNvSpPr txBox="1">
            <a:spLocks noGrp="1"/>
          </p:cNvSpPr>
          <p:nvPr>
            <p:ph type="title"/>
          </p:nvPr>
        </p:nvSpPr>
        <p:spPr>
          <a:xfrm>
            <a:off x="831850" y="1047751"/>
            <a:ext cx="10515600" cy="1500187"/>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chemeClr val="dk1"/>
              </a:buClr>
              <a:buSzPts val="4000"/>
              <a:buFont typeface="Calibri"/>
              <a:buNone/>
              <a:defRPr sz="4000">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49"/>
          <p:cNvSpPr txBox="1">
            <a:spLocks noGrp="1"/>
          </p:cNvSpPr>
          <p:nvPr>
            <p:ph type="body" idx="1"/>
          </p:nvPr>
        </p:nvSpPr>
        <p:spPr>
          <a:xfrm>
            <a:off x="831850" y="2814638"/>
            <a:ext cx="10515600" cy="335756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66" name="Google Shape;66;p4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4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8" name="Google Shape;68;p4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MY"/>
              <a:t>‹#›</a:t>
            </a:fld>
            <a:endParaRPr/>
          </a:p>
        </p:txBody>
      </p:sp>
      <p:pic>
        <p:nvPicPr>
          <p:cNvPr id="69" name="Google Shape;69;p49"/>
          <p:cNvPicPr preferRelativeResize="0"/>
          <p:nvPr/>
        </p:nvPicPr>
        <p:blipFill rotWithShape="1">
          <a:blip r:embed="rId3">
            <a:alphaModFix/>
          </a:blip>
          <a:srcRect/>
          <a:stretch/>
        </p:blipFill>
        <p:spPr>
          <a:xfrm>
            <a:off x="10478878" y="283590"/>
            <a:ext cx="1468167" cy="497461"/>
          </a:xfrm>
          <a:prstGeom prst="rect">
            <a:avLst/>
          </a:prstGeom>
          <a:noFill/>
          <a:ln>
            <a:noFill/>
          </a:ln>
        </p:spPr>
      </p:pic>
      <p:grpSp>
        <p:nvGrpSpPr>
          <p:cNvPr id="70" name="Google Shape;70;p49"/>
          <p:cNvGrpSpPr/>
          <p:nvPr/>
        </p:nvGrpSpPr>
        <p:grpSpPr>
          <a:xfrm>
            <a:off x="0" y="0"/>
            <a:ext cx="2135014" cy="390908"/>
            <a:chOff x="0" y="0"/>
            <a:chExt cx="2135014" cy="390908"/>
          </a:xfrm>
        </p:grpSpPr>
        <p:sp>
          <p:nvSpPr>
            <p:cNvPr id="71" name="Google Shape;71;p49"/>
            <p:cNvSpPr/>
            <p:nvPr/>
          </p:nvSpPr>
          <p:spPr>
            <a:xfrm>
              <a:off x="0" y="1"/>
              <a:ext cx="1921715" cy="390907"/>
            </a:xfrm>
            <a:prstGeom prst="rect">
              <a:avLst/>
            </a:prstGeom>
            <a:solidFill>
              <a:srgbClr val="6C1D3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2" name="Google Shape;72;p49"/>
            <p:cNvSpPr/>
            <p:nvPr/>
          </p:nvSpPr>
          <p:spPr>
            <a:xfrm rot="10800000" flipH="1">
              <a:off x="1921715" y="0"/>
              <a:ext cx="213299" cy="390907"/>
            </a:xfrm>
            <a:prstGeom prst="rtTriangle">
              <a:avLst/>
            </a:prstGeom>
            <a:solidFill>
              <a:srgbClr val="6C1D3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grpSp>
        <p:nvGrpSpPr>
          <p:cNvPr id="73" name="Google Shape;73;p49"/>
          <p:cNvGrpSpPr/>
          <p:nvPr/>
        </p:nvGrpSpPr>
        <p:grpSpPr>
          <a:xfrm>
            <a:off x="11930388" y="4900065"/>
            <a:ext cx="261612" cy="1456285"/>
            <a:chOff x="-7479" y="4982614"/>
            <a:chExt cx="261612" cy="1456285"/>
          </a:xfrm>
        </p:grpSpPr>
        <p:sp>
          <p:nvSpPr>
            <p:cNvPr id="74" name="Google Shape;74;p49"/>
            <p:cNvSpPr/>
            <p:nvPr/>
          </p:nvSpPr>
          <p:spPr>
            <a:xfrm>
              <a:off x="-7479" y="4982614"/>
              <a:ext cx="261612" cy="1456285"/>
            </a:xfrm>
            <a:prstGeom prst="rect">
              <a:avLst/>
            </a:prstGeom>
            <a:solidFill>
              <a:srgbClr val="26262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5" name="Google Shape;75;p49"/>
            <p:cNvSpPr txBox="1"/>
            <p:nvPr/>
          </p:nvSpPr>
          <p:spPr>
            <a:xfrm rot="-5400000">
              <a:off x="-565323" y="5578170"/>
              <a:ext cx="1377301" cy="26161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MY" sz="1100" b="1" i="0" u="none" strike="noStrike" cap="none">
                  <a:solidFill>
                    <a:srgbClr val="F2F2F2"/>
                  </a:solidFill>
                  <a:latin typeface="Calibri"/>
                  <a:ea typeface="Calibri"/>
                  <a:cs typeface="Calibri"/>
                  <a:sym typeface="Calibri"/>
                </a:rPr>
                <a:t>www.utm.my</a:t>
              </a:r>
              <a:endParaRPr sz="1100" b="1" i="0" u="none" strike="noStrike" cap="none">
                <a:solidFill>
                  <a:schemeClr val="accent4"/>
                </a:solidFill>
                <a:latin typeface="Calibri"/>
                <a:ea typeface="Calibri"/>
                <a:cs typeface="Calibri"/>
                <a:sym typeface="Calibri"/>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76"/>
        <p:cNvGrpSpPr/>
        <p:nvPr/>
      </p:nvGrpSpPr>
      <p:grpSpPr>
        <a:xfrm>
          <a:off x="0" y="0"/>
          <a:ext cx="0" cy="0"/>
          <a:chOff x="0" y="0"/>
          <a:chExt cx="0" cy="0"/>
        </a:xfrm>
      </p:grpSpPr>
      <p:pic>
        <p:nvPicPr>
          <p:cNvPr id="77" name="Google Shape;77;p50"/>
          <p:cNvPicPr preferRelativeResize="0"/>
          <p:nvPr/>
        </p:nvPicPr>
        <p:blipFill rotWithShape="1">
          <a:blip r:embed="rId2">
            <a:alphaModFix amt="99000"/>
          </a:blip>
          <a:srcRect/>
          <a:stretch/>
        </p:blipFill>
        <p:spPr>
          <a:xfrm flipH="1">
            <a:off x="6764" y="1270"/>
            <a:ext cx="12073813" cy="3109189"/>
          </a:xfrm>
          <a:prstGeom prst="rect">
            <a:avLst/>
          </a:prstGeom>
          <a:noFill/>
          <a:ln>
            <a:noFill/>
          </a:ln>
        </p:spPr>
      </p:pic>
      <p:sp>
        <p:nvSpPr>
          <p:cNvPr id="78" name="Google Shape;78;p50"/>
          <p:cNvSpPr txBox="1">
            <a:spLocks noGrp="1"/>
          </p:cNvSpPr>
          <p:nvPr>
            <p:ph type="ctrTitle"/>
          </p:nvPr>
        </p:nvSpPr>
        <p:spPr>
          <a:xfrm>
            <a:off x="1524000" y="1122363"/>
            <a:ext cx="9144000" cy="1381125"/>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chemeClr val="dk1"/>
              </a:buClr>
              <a:buSzPts val="4000"/>
              <a:buFont typeface="Calibri"/>
              <a:buNone/>
              <a:defRPr sz="4000">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50"/>
          <p:cNvSpPr txBox="1">
            <a:spLocks noGrp="1"/>
          </p:cNvSpPr>
          <p:nvPr>
            <p:ph type="subTitle" idx="1"/>
          </p:nvPr>
        </p:nvSpPr>
        <p:spPr>
          <a:xfrm>
            <a:off x="1524000" y="2601118"/>
            <a:ext cx="9144000" cy="3461751"/>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80" name="Google Shape;80;p5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5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5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6C1D35"/>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6C1D35"/>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6C1D35"/>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6C1D35"/>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6C1D35"/>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6C1D35"/>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6C1D35"/>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6C1D35"/>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6C1D35"/>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MY"/>
              <a:t>‹#›</a:t>
            </a:fld>
            <a:endParaRPr/>
          </a:p>
        </p:txBody>
      </p:sp>
      <p:pic>
        <p:nvPicPr>
          <p:cNvPr id="83" name="Google Shape;83;p50"/>
          <p:cNvPicPr preferRelativeResize="0"/>
          <p:nvPr/>
        </p:nvPicPr>
        <p:blipFill rotWithShape="1">
          <a:blip r:embed="rId3">
            <a:alphaModFix/>
          </a:blip>
          <a:srcRect/>
          <a:stretch/>
        </p:blipFill>
        <p:spPr>
          <a:xfrm>
            <a:off x="10478878" y="283590"/>
            <a:ext cx="1468167" cy="497461"/>
          </a:xfrm>
          <a:prstGeom prst="rect">
            <a:avLst/>
          </a:prstGeom>
          <a:noFill/>
          <a:ln>
            <a:noFill/>
          </a:ln>
        </p:spPr>
      </p:pic>
      <p:grpSp>
        <p:nvGrpSpPr>
          <p:cNvPr id="84" name="Google Shape;84;p50"/>
          <p:cNvGrpSpPr/>
          <p:nvPr/>
        </p:nvGrpSpPr>
        <p:grpSpPr>
          <a:xfrm>
            <a:off x="0" y="336866"/>
            <a:ext cx="838200" cy="390908"/>
            <a:chOff x="0" y="585597"/>
            <a:chExt cx="838200" cy="390908"/>
          </a:xfrm>
        </p:grpSpPr>
        <p:sp>
          <p:nvSpPr>
            <p:cNvPr id="85" name="Google Shape;85;p50"/>
            <p:cNvSpPr/>
            <p:nvPr/>
          </p:nvSpPr>
          <p:spPr>
            <a:xfrm>
              <a:off x="0" y="585598"/>
              <a:ext cx="624901" cy="390907"/>
            </a:xfrm>
            <a:prstGeom prst="rect">
              <a:avLst/>
            </a:prstGeom>
            <a:solidFill>
              <a:srgbClr val="6C1D3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86" name="Google Shape;86;p50"/>
            <p:cNvSpPr/>
            <p:nvPr/>
          </p:nvSpPr>
          <p:spPr>
            <a:xfrm rot="10800000" flipH="1">
              <a:off x="624901" y="585597"/>
              <a:ext cx="213299" cy="390907"/>
            </a:xfrm>
            <a:prstGeom prst="rtTriangle">
              <a:avLst/>
            </a:prstGeom>
            <a:solidFill>
              <a:srgbClr val="6C1D3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grpSp>
        <p:nvGrpSpPr>
          <p:cNvPr id="87" name="Google Shape;87;p50"/>
          <p:cNvGrpSpPr/>
          <p:nvPr/>
        </p:nvGrpSpPr>
        <p:grpSpPr>
          <a:xfrm>
            <a:off x="11930388" y="4900065"/>
            <a:ext cx="261612" cy="1456285"/>
            <a:chOff x="-7479" y="4982614"/>
            <a:chExt cx="261612" cy="1456285"/>
          </a:xfrm>
        </p:grpSpPr>
        <p:sp>
          <p:nvSpPr>
            <p:cNvPr id="88" name="Google Shape;88;p50"/>
            <p:cNvSpPr/>
            <p:nvPr/>
          </p:nvSpPr>
          <p:spPr>
            <a:xfrm>
              <a:off x="-7479" y="4982614"/>
              <a:ext cx="261612" cy="1456285"/>
            </a:xfrm>
            <a:prstGeom prst="rect">
              <a:avLst/>
            </a:prstGeom>
            <a:solidFill>
              <a:srgbClr val="26262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89" name="Google Shape;89;p50"/>
            <p:cNvSpPr txBox="1"/>
            <p:nvPr/>
          </p:nvSpPr>
          <p:spPr>
            <a:xfrm rot="-5400000">
              <a:off x="-565323" y="5578170"/>
              <a:ext cx="1377301" cy="26161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MY" sz="1100" b="1" i="0" u="none" strike="noStrike" cap="none">
                  <a:solidFill>
                    <a:srgbClr val="F2F2F2"/>
                  </a:solidFill>
                  <a:latin typeface="Calibri"/>
                  <a:ea typeface="Calibri"/>
                  <a:cs typeface="Calibri"/>
                  <a:sym typeface="Calibri"/>
                </a:rPr>
                <a:t>www.utm.my</a:t>
              </a:r>
              <a:endParaRPr sz="1100" b="1" i="0" u="none" strike="noStrike" cap="none">
                <a:solidFill>
                  <a:schemeClr val="accent4"/>
                </a:solidFill>
                <a:latin typeface="Calibri"/>
                <a:ea typeface="Calibri"/>
                <a:cs typeface="Calibri"/>
                <a:sym typeface="Calibri"/>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90"/>
        <p:cNvGrpSpPr/>
        <p:nvPr/>
      </p:nvGrpSpPr>
      <p:grpSpPr>
        <a:xfrm>
          <a:off x="0" y="0"/>
          <a:ext cx="0" cy="0"/>
          <a:chOff x="0" y="0"/>
          <a:chExt cx="0" cy="0"/>
        </a:xfrm>
      </p:grpSpPr>
      <p:pic>
        <p:nvPicPr>
          <p:cNvPr id="91" name="Google Shape;91;p51"/>
          <p:cNvPicPr preferRelativeResize="0"/>
          <p:nvPr/>
        </p:nvPicPr>
        <p:blipFill rotWithShape="1">
          <a:blip r:embed="rId2">
            <a:alphaModFix/>
          </a:blip>
          <a:srcRect/>
          <a:stretch/>
        </p:blipFill>
        <p:spPr>
          <a:xfrm flipH="1">
            <a:off x="6765" y="1270"/>
            <a:ext cx="7112053" cy="1831461"/>
          </a:xfrm>
          <a:prstGeom prst="rect">
            <a:avLst/>
          </a:prstGeom>
          <a:noFill/>
          <a:ln>
            <a:noFill/>
          </a:ln>
        </p:spPr>
      </p:pic>
      <p:sp>
        <p:nvSpPr>
          <p:cNvPr id="92" name="Google Shape;92;p51"/>
          <p:cNvSpPr/>
          <p:nvPr/>
        </p:nvSpPr>
        <p:spPr>
          <a:xfrm>
            <a:off x="-38100" y="1690688"/>
            <a:ext cx="12230100" cy="5167312"/>
          </a:xfrm>
          <a:prstGeom prst="rect">
            <a:avLst/>
          </a:prstGeom>
          <a:solidFill>
            <a:srgbClr val="6C1D3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93" name="Google Shape;93;p5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4000"/>
              <a:buFont typeface="Calibri"/>
              <a:buNone/>
              <a:defRPr sz="4000">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4" name="Google Shape;94;p51"/>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5" name="Google Shape;95;p51"/>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6" name="Google Shape;96;p5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7" name="Google Shape;97;p5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8" name="Google Shape;98;p5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MY"/>
              <a:t>‹#›</a:t>
            </a:fld>
            <a:endParaRPr/>
          </a:p>
        </p:txBody>
      </p:sp>
      <p:pic>
        <p:nvPicPr>
          <p:cNvPr id="99" name="Google Shape;99;p51"/>
          <p:cNvPicPr preferRelativeResize="0"/>
          <p:nvPr/>
        </p:nvPicPr>
        <p:blipFill rotWithShape="1">
          <a:blip r:embed="rId3">
            <a:alphaModFix/>
          </a:blip>
          <a:srcRect/>
          <a:stretch/>
        </p:blipFill>
        <p:spPr>
          <a:xfrm>
            <a:off x="10478878" y="283590"/>
            <a:ext cx="1468167" cy="497461"/>
          </a:xfrm>
          <a:prstGeom prst="rect">
            <a:avLst/>
          </a:prstGeom>
          <a:noFill/>
          <a:ln>
            <a:noFill/>
          </a:ln>
        </p:spPr>
      </p:pic>
      <p:grpSp>
        <p:nvGrpSpPr>
          <p:cNvPr id="100" name="Google Shape;100;p51"/>
          <p:cNvGrpSpPr/>
          <p:nvPr/>
        </p:nvGrpSpPr>
        <p:grpSpPr>
          <a:xfrm>
            <a:off x="11930388" y="4900065"/>
            <a:ext cx="261612" cy="1456285"/>
            <a:chOff x="-7479" y="4982614"/>
            <a:chExt cx="261612" cy="1456285"/>
          </a:xfrm>
        </p:grpSpPr>
        <p:sp>
          <p:nvSpPr>
            <p:cNvPr id="101" name="Google Shape;101;p51"/>
            <p:cNvSpPr/>
            <p:nvPr/>
          </p:nvSpPr>
          <p:spPr>
            <a:xfrm>
              <a:off x="-7479" y="4982614"/>
              <a:ext cx="261612" cy="1456285"/>
            </a:xfrm>
            <a:prstGeom prst="rect">
              <a:avLst/>
            </a:prstGeom>
            <a:solidFill>
              <a:srgbClr val="26262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02" name="Google Shape;102;p51"/>
            <p:cNvSpPr txBox="1"/>
            <p:nvPr/>
          </p:nvSpPr>
          <p:spPr>
            <a:xfrm rot="-5400000">
              <a:off x="-565323" y="5578170"/>
              <a:ext cx="1377301" cy="26161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MY" sz="1100" b="1" i="0" u="none" strike="noStrike" cap="none">
                  <a:solidFill>
                    <a:srgbClr val="F2F2F2"/>
                  </a:solidFill>
                  <a:latin typeface="Calibri"/>
                  <a:ea typeface="Calibri"/>
                  <a:cs typeface="Calibri"/>
                  <a:sym typeface="Calibri"/>
                </a:rPr>
                <a:t>www.utm.my</a:t>
              </a:r>
              <a:endParaRPr sz="1100" b="1" i="0" u="none" strike="noStrike" cap="none">
                <a:solidFill>
                  <a:schemeClr val="accent4"/>
                </a:solidFill>
                <a:latin typeface="Calibri"/>
                <a:ea typeface="Calibri"/>
                <a:cs typeface="Calibri"/>
                <a:sym typeface="Calibri"/>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103"/>
        <p:cNvGrpSpPr/>
        <p:nvPr/>
      </p:nvGrpSpPr>
      <p:grpSpPr>
        <a:xfrm>
          <a:off x="0" y="0"/>
          <a:ext cx="0" cy="0"/>
          <a:chOff x="0" y="0"/>
          <a:chExt cx="0" cy="0"/>
        </a:xfrm>
      </p:grpSpPr>
      <p:pic>
        <p:nvPicPr>
          <p:cNvPr id="104" name="Google Shape;104;p52"/>
          <p:cNvPicPr preferRelativeResize="0"/>
          <p:nvPr/>
        </p:nvPicPr>
        <p:blipFill rotWithShape="1">
          <a:blip r:embed="rId2">
            <a:alphaModFix amt="99000"/>
          </a:blip>
          <a:srcRect/>
          <a:stretch/>
        </p:blipFill>
        <p:spPr>
          <a:xfrm flipH="1">
            <a:off x="6764" y="1270"/>
            <a:ext cx="12073813" cy="3109189"/>
          </a:xfrm>
          <a:prstGeom prst="rect">
            <a:avLst/>
          </a:prstGeom>
          <a:noFill/>
          <a:ln>
            <a:noFill/>
          </a:ln>
        </p:spPr>
      </p:pic>
      <p:sp>
        <p:nvSpPr>
          <p:cNvPr id="105" name="Google Shape;105;p52"/>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6" name="Google Shape;106;p52"/>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07" name="Google Shape;107;p52"/>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8" name="Google Shape;108;p52"/>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09" name="Google Shape;109;p52"/>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0" name="Google Shape;110;p5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1" name="Google Shape;111;p5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2" name="Google Shape;112;p5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MY"/>
              <a:t>‹#›</a:t>
            </a:fld>
            <a:endParaRPr/>
          </a:p>
        </p:txBody>
      </p:sp>
      <p:pic>
        <p:nvPicPr>
          <p:cNvPr id="113" name="Google Shape;113;p52"/>
          <p:cNvPicPr preferRelativeResize="0"/>
          <p:nvPr/>
        </p:nvPicPr>
        <p:blipFill rotWithShape="1">
          <a:blip r:embed="rId3">
            <a:alphaModFix/>
          </a:blip>
          <a:srcRect/>
          <a:stretch/>
        </p:blipFill>
        <p:spPr>
          <a:xfrm>
            <a:off x="10478878" y="283590"/>
            <a:ext cx="1468167" cy="497461"/>
          </a:xfrm>
          <a:prstGeom prst="rect">
            <a:avLst/>
          </a:prstGeom>
          <a:noFill/>
          <a:ln>
            <a:noFill/>
          </a:ln>
        </p:spPr>
      </p:pic>
      <p:sp>
        <p:nvSpPr>
          <p:cNvPr id="114" name="Google Shape;114;p52"/>
          <p:cNvSpPr/>
          <p:nvPr/>
        </p:nvSpPr>
        <p:spPr>
          <a:xfrm>
            <a:off x="6764" y="342265"/>
            <a:ext cx="10269639" cy="45719"/>
          </a:xfrm>
          <a:prstGeom prst="rect">
            <a:avLst/>
          </a:prstGeom>
          <a:solidFill>
            <a:srgbClr val="6C1D3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115" name="Google Shape;115;p52"/>
          <p:cNvGrpSpPr/>
          <p:nvPr/>
        </p:nvGrpSpPr>
        <p:grpSpPr>
          <a:xfrm>
            <a:off x="11930388" y="4900065"/>
            <a:ext cx="261612" cy="1456285"/>
            <a:chOff x="-7479" y="4982614"/>
            <a:chExt cx="261612" cy="1456285"/>
          </a:xfrm>
        </p:grpSpPr>
        <p:sp>
          <p:nvSpPr>
            <p:cNvPr id="116" name="Google Shape;116;p52"/>
            <p:cNvSpPr/>
            <p:nvPr/>
          </p:nvSpPr>
          <p:spPr>
            <a:xfrm>
              <a:off x="-7479" y="4982614"/>
              <a:ext cx="261612" cy="1456285"/>
            </a:xfrm>
            <a:prstGeom prst="rect">
              <a:avLst/>
            </a:prstGeom>
            <a:solidFill>
              <a:srgbClr val="26262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17" name="Google Shape;117;p52"/>
            <p:cNvSpPr txBox="1"/>
            <p:nvPr/>
          </p:nvSpPr>
          <p:spPr>
            <a:xfrm rot="-5400000">
              <a:off x="-565323" y="5578170"/>
              <a:ext cx="1377301" cy="26161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MY" sz="1100" b="1" i="0" u="none" strike="noStrike" cap="none">
                  <a:solidFill>
                    <a:srgbClr val="F2F2F2"/>
                  </a:solidFill>
                  <a:latin typeface="Calibri"/>
                  <a:ea typeface="Calibri"/>
                  <a:cs typeface="Calibri"/>
                  <a:sym typeface="Calibri"/>
                </a:rPr>
                <a:t>www.utm.my</a:t>
              </a:r>
              <a:endParaRPr sz="1100" b="1" i="0" u="none" strike="noStrike" cap="none">
                <a:solidFill>
                  <a:schemeClr val="accent4"/>
                </a:solidFill>
                <a:latin typeface="Calibri"/>
                <a:ea typeface="Calibri"/>
                <a:cs typeface="Calibri"/>
                <a:sym typeface="Calibri"/>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18"/>
        <p:cNvGrpSpPr/>
        <p:nvPr/>
      </p:nvGrpSpPr>
      <p:grpSpPr>
        <a:xfrm>
          <a:off x="0" y="0"/>
          <a:ext cx="0" cy="0"/>
          <a:chOff x="0" y="0"/>
          <a:chExt cx="0" cy="0"/>
        </a:xfrm>
      </p:grpSpPr>
      <p:pic>
        <p:nvPicPr>
          <p:cNvPr id="119" name="Google Shape;119;p53"/>
          <p:cNvPicPr preferRelativeResize="0"/>
          <p:nvPr/>
        </p:nvPicPr>
        <p:blipFill rotWithShape="1">
          <a:blip r:embed="rId2">
            <a:alphaModFix amt="99000"/>
          </a:blip>
          <a:srcRect/>
          <a:stretch/>
        </p:blipFill>
        <p:spPr>
          <a:xfrm flipH="1">
            <a:off x="6764" y="1270"/>
            <a:ext cx="12073813" cy="3109189"/>
          </a:xfrm>
          <a:prstGeom prst="rect">
            <a:avLst/>
          </a:prstGeom>
          <a:noFill/>
          <a:ln>
            <a:noFill/>
          </a:ln>
        </p:spPr>
      </p:pic>
      <p:grpSp>
        <p:nvGrpSpPr>
          <p:cNvPr id="120" name="Google Shape;120;p53"/>
          <p:cNvGrpSpPr/>
          <p:nvPr/>
        </p:nvGrpSpPr>
        <p:grpSpPr>
          <a:xfrm flipH="1">
            <a:off x="8896479" y="6438899"/>
            <a:ext cx="3295521" cy="419101"/>
            <a:chOff x="0" y="6438899"/>
            <a:chExt cx="4425450" cy="419100"/>
          </a:xfrm>
        </p:grpSpPr>
        <p:sp>
          <p:nvSpPr>
            <p:cNvPr id="121" name="Google Shape;121;p53"/>
            <p:cNvSpPr/>
            <p:nvPr/>
          </p:nvSpPr>
          <p:spPr>
            <a:xfrm>
              <a:off x="0" y="6438900"/>
              <a:ext cx="4115884" cy="419099"/>
            </a:xfrm>
            <a:prstGeom prst="rect">
              <a:avLst/>
            </a:prstGeom>
            <a:solidFill>
              <a:srgbClr val="6C1D3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22" name="Google Shape;122;p53"/>
            <p:cNvSpPr/>
            <p:nvPr/>
          </p:nvSpPr>
          <p:spPr>
            <a:xfrm>
              <a:off x="4115884" y="6438899"/>
              <a:ext cx="309566" cy="419100"/>
            </a:xfrm>
            <a:prstGeom prst="rtTriangle">
              <a:avLst/>
            </a:prstGeom>
            <a:solidFill>
              <a:srgbClr val="6C1D3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123" name="Google Shape;123;p53"/>
          <p:cNvSpPr txBox="1">
            <a:spLocks noGrp="1"/>
          </p:cNvSpPr>
          <p:nvPr>
            <p:ph type="title"/>
          </p:nvPr>
        </p:nvSpPr>
        <p:spPr>
          <a:xfrm>
            <a:off x="1364974" y="2766218"/>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4000"/>
              <a:buFont typeface="Calibri"/>
              <a:buNone/>
              <a:defRPr>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4" name="Google Shape;124;p5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5" name="Google Shape;125;p5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6" name="Google Shape;126;p5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MY"/>
              <a:t>‹#›</a:t>
            </a:fld>
            <a:endParaRPr/>
          </a:p>
        </p:txBody>
      </p:sp>
      <p:pic>
        <p:nvPicPr>
          <p:cNvPr id="127" name="Google Shape;127;p53"/>
          <p:cNvPicPr preferRelativeResize="0"/>
          <p:nvPr/>
        </p:nvPicPr>
        <p:blipFill rotWithShape="1">
          <a:blip r:embed="rId3">
            <a:alphaModFix/>
          </a:blip>
          <a:srcRect/>
          <a:stretch/>
        </p:blipFill>
        <p:spPr>
          <a:xfrm>
            <a:off x="10478878" y="283590"/>
            <a:ext cx="1468167" cy="497461"/>
          </a:xfrm>
          <a:prstGeom prst="rect">
            <a:avLst/>
          </a:prstGeom>
          <a:noFill/>
          <a:ln>
            <a:noFill/>
          </a:ln>
        </p:spPr>
      </p:pic>
      <p:grpSp>
        <p:nvGrpSpPr>
          <p:cNvPr id="128" name="Google Shape;128;p53"/>
          <p:cNvGrpSpPr/>
          <p:nvPr/>
        </p:nvGrpSpPr>
        <p:grpSpPr>
          <a:xfrm>
            <a:off x="11930388" y="4900065"/>
            <a:ext cx="261612" cy="1456285"/>
            <a:chOff x="-7479" y="4982614"/>
            <a:chExt cx="261612" cy="1456285"/>
          </a:xfrm>
        </p:grpSpPr>
        <p:sp>
          <p:nvSpPr>
            <p:cNvPr id="129" name="Google Shape;129;p53"/>
            <p:cNvSpPr/>
            <p:nvPr/>
          </p:nvSpPr>
          <p:spPr>
            <a:xfrm>
              <a:off x="-7479" y="4982614"/>
              <a:ext cx="261612" cy="1456285"/>
            </a:xfrm>
            <a:prstGeom prst="rect">
              <a:avLst/>
            </a:prstGeom>
            <a:solidFill>
              <a:srgbClr val="26262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30" name="Google Shape;130;p53"/>
            <p:cNvSpPr txBox="1"/>
            <p:nvPr/>
          </p:nvSpPr>
          <p:spPr>
            <a:xfrm rot="-5400000">
              <a:off x="-565323" y="5578170"/>
              <a:ext cx="1377301" cy="26161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MY" sz="1100" b="1" i="0" u="none" strike="noStrike" cap="none">
                  <a:solidFill>
                    <a:srgbClr val="F2F2F2"/>
                  </a:solidFill>
                  <a:latin typeface="Calibri"/>
                  <a:ea typeface="Calibri"/>
                  <a:cs typeface="Calibri"/>
                  <a:sym typeface="Calibri"/>
                </a:rPr>
                <a:t>www.utm.my</a:t>
              </a:r>
              <a:endParaRPr sz="1100" b="1" i="0" u="none" strike="noStrike" cap="none">
                <a:solidFill>
                  <a:schemeClr val="accent4"/>
                </a:solidFill>
                <a:latin typeface="Calibri"/>
                <a:ea typeface="Calibri"/>
                <a:cs typeface="Calibri"/>
                <a:sym typeface="Calibri"/>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131"/>
        <p:cNvGrpSpPr/>
        <p:nvPr/>
      </p:nvGrpSpPr>
      <p:grpSpPr>
        <a:xfrm>
          <a:off x="0" y="0"/>
          <a:ext cx="0" cy="0"/>
          <a:chOff x="0" y="0"/>
          <a:chExt cx="0" cy="0"/>
        </a:xfrm>
      </p:grpSpPr>
      <p:pic>
        <p:nvPicPr>
          <p:cNvPr id="132" name="Google Shape;132;p54"/>
          <p:cNvPicPr preferRelativeResize="0"/>
          <p:nvPr/>
        </p:nvPicPr>
        <p:blipFill rotWithShape="1">
          <a:blip r:embed="rId2">
            <a:alphaModFix/>
          </a:blip>
          <a:srcRect/>
          <a:stretch/>
        </p:blipFill>
        <p:spPr>
          <a:xfrm flipH="1">
            <a:off x="4713261" y="1270"/>
            <a:ext cx="7112053" cy="1831461"/>
          </a:xfrm>
          <a:prstGeom prst="rect">
            <a:avLst/>
          </a:prstGeom>
          <a:noFill/>
          <a:ln>
            <a:noFill/>
          </a:ln>
        </p:spPr>
      </p:pic>
      <p:sp>
        <p:nvSpPr>
          <p:cNvPr id="133" name="Google Shape;133;p54"/>
          <p:cNvSpPr/>
          <p:nvPr/>
        </p:nvSpPr>
        <p:spPr>
          <a:xfrm>
            <a:off x="-38099" y="0"/>
            <a:ext cx="4764088" cy="6858000"/>
          </a:xfrm>
          <a:prstGeom prst="rect">
            <a:avLst/>
          </a:prstGeom>
          <a:solidFill>
            <a:srgbClr val="6C1D3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34" name="Google Shape;134;p54"/>
          <p:cNvSpPr txBox="1">
            <a:spLocks noGrp="1"/>
          </p:cNvSpPr>
          <p:nvPr>
            <p:ph type="title"/>
          </p:nvPr>
        </p:nvSpPr>
        <p:spPr>
          <a:xfrm>
            <a:off x="839788" y="457200"/>
            <a:ext cx="3771969"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800"/>
              <a:buFont typeface="Calibri"/>
              <a:buNone/>
              <a:defRPr sz="2800">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5" name="Google Shape;135;p5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136" name="Google Shape;136;p54"/>
          <p:cNvSpPr txBox="1">
            <a:spLocks noGrp="1"/>
          </p:cNvSpPr>
          <p:nvPr>
            <p:ph type="body" idx="2"/>
          </p:nvPr>
        </p:nvSpPr>
        <p:spPr>
          <a:xfrm>
            <a:off x="839788" y="2057400"/>
            <a:ext cx="3771969"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37" name="Google Shape;137;p5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8" name="Google Shape;138;p5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9" name="Google Shape;139;p5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MY"/>
              <a:t>‹#›</a:t>
            </a:fld>
            <a:endParaRPr/>
          </a:p>
        </p:txBody>
      </p:sp>
      <p:pic>
        <p:nvPicPr>
          <p:cNvPr id="140" name="Google Shape;140;p54"/>
          <p:cNvPicPr preferRelativeResize="0"/>
          <p:nvPr/>
        </p:nvPicPr>
        <p:blipFill rotWithShape="1">
          <a:blip r:embed="rId3">
            <a:alphaModFix/>
          </a:blip>
          <a:srcRect/>
          <a:stretch/>
        </p:blipFill>
        <p:spPr>
          <a:xfrm>
            <a:off x="10478878" y="283590"/>
            <a:ext cx="1468167" cy="497461"/>
          </a:xfrm>
          <a:prstGeom prst="rect">
            <a:avLst/>
          </a:prstGeom>
          <a:noFill/>
          <a:ln>
            <a:noFill/>
          </a:ln>
        </p:spPr>
      </p:pic>
      <p:sp>
        <p:nvSpPr>
          <p:cNvPr id="141" name="Google Shape;141;p54"/>
          <p:cNvSpPr/>
          <p:nvPr/>
        </p:nvSpPr>
        <p:spPr>
          <a:xfrm rot="5400000">
            <a:off x="1324286" y="3399184"/>
            <a:ext cx="6858000" cy="59635"/>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142" name="Google Shape;142;p54"/>
          <p:cNvGrpSpPr/>
          <p:nvPr/>
        </p:nvGrpSpPr>
        <p:grpSpPr>
          <a:xfrm>
            <a:off x="11930388" y="4900065"/>
            <a:ext cx="261612" cy="1456285"/>
            <a:chOff x="-7479" y="4982614"/>
            <a:chExt cx="261612" cy="1456285"/>
          </a:xfrm>
        </p:grpSpPr>
        <p:sp>
          <p:nvSpPr>
            <p:cNvPr id="143" name="Google Shape;143;p54"/>
            <p:cNvSpPr/>
            <p:nvPr/>
          </p:nvSpPr>
          <p:spPr>
            <a:xfrm>
              <a:off x="-7479" y="4982614"/>
              <a:ext cx="261612" cy="1456285"/>
            </a:xfrm>
            <a:prstGeom prst="rect">
              <a:avLst/>
            </a:prstGeom>
            <a:solidFill>
              <a:srgbClr val="26262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44" name="Google Shape;144;p54"/>
            <p:cNvSpPr txBox="1"/>
            <p:nvPr/>
          </p:nvSpPr>
          <p:spPr>
            <a:xfrm rot="-5400000">
              <a:off x="-565323" y="5578170"/>
              <a:ext cx="1377301" cy="26161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MY" sz="1100" b="1" i="0" u="none" strike="noStrike" cap="none">
                  <a:solidFill>
                    <a:srgbClr val="F2F2F2"/>
                  </a:solidFill>
                  <a:latin typeface="Calibri"/>
                  <a:ea typeface="Calibri"/>
                  <a:cs typeface="Calibri"/>
                  <a:sym typeface="Calibri"/>
                </a:rPr>
                <a:t>www.utm.my</a:t>
              </a:r>
              <a:endParaRPr sz="1100" b="1" i="0" u="none" strike="noStrike" cap="none">
                <a:solidFill>
                  <a:schemeClr val="accent4"/>
                </a:solidFill>
                <a:latin typeface="Calibri"/>
                <a:ea typeface="Calibri"/>
                <a:cs typeface="Calibri"/>
                <a:sym typeface="Calibri"/>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45"/>
        <p:cNvGrpSpPr/>
        <p:nvPr/>
      </p:nvGrpSpPr>
      <p:grpSpPr>
        <a:xfrm>
          <a:off x="0" y="0"/>
          <a:ext cx="0" cy="0"/>
          <a:chOff x="0" y="0"/>
          <a:chExt cx="0" cy="0"/>
        </a:xfrm>
      </p:grpSpPr>
      <p:pic>
        <p:nvPicPr>
          <p:cNvPr id="146" name="Google Shape;146;p55"/>
          <p:cNvPicPr preferRelativeResize="0"/>
          <p:nvPr/>
        </p:nvPicPr>
        <p:blipFill rotWithShape="1">
          <a:blip r:embed="rId2">
            <a:alphaModFix/>
          </a:blip>
          <a:srcRect/>
          <a:stretch/>
        </p:blipFill>
        <p:spPr>
          <a:xfrm flipH="1">
            <a:off x="6765" y="1270"/>
            <a:ext cx="7112053" cy="1831461"/>
          </a:xfrm>
          <a:prstGeom prst="rect">
            <a:avLst/>
          </a:prstGeom>
          <a:noFill/>
          <a:ln>
            <a:noFill/>
          </a:ln>
        </p:spPr>
      </p:pic>
      <p:sp>
        <p:nvSpPr>
          <p:cNvPr id="147" name="Google Shape;147;p5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8" name="Google Shape;148;p5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9" name="Google Shape;149;p5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MY"/>
              <a:t>‹#›</a:t>
            </a:fld>
            <a:endParaRPr/>
          </a:p>
        </p:txBody>
      </p:sp>
      <p:pic>
        <p:nvPicPr>
          <p:cNvPr id="150" name="Google Shape;150;p55"/>
          <p:cNvPicPr preferRelativeResize="0"/>
          <p:nvPr/>
        </p:nvPicPr>
        <p:blipFill rotWithShape="1">
          <a:blip r:embed="rId3">
            <a:alphaModFix/>
          </a:blip>
          <a:srcRect/>
          <a:stretch/>
        </p:blipFill>
        <p:spPr>
          <a:xfrm>
            <a:off x="10478878" y="283590"/>
            <a:ext cx="1468167" cy="497461"/>
          </a:xfrm>
          <a:prstGeom prst="rect">
            <a:avLst/>
          </a:prstGeom>
          <a:noFill/>
          <a:ln>
            <a:noFill/>
          </a:ln>
        </p:spPr>
      </p:pic>
      <p:grpSp>
        <p:nvGrpSpPr>
          <p:cNvPr id="151" name="Google Shape;151;p55"/>
          <p:cNvGrpSpPr/>
          <p:nvPr/>
        </p:nvGrpSpPr>
        <p:grpSpPr>
          <a:xfrm>
            <a:off x="11930388" y="4900065"/>
            <a:ext cx="261612" cy="1456285"/>
            <a:chOff x="-7479" y="4982614"/>
            <a:chExt cx="261612" cy="1456285"/>
          </a:xfrm>
        </p:grpSpPr>
        <p:sp>
          <p:nvSpPr>
            <p:cNvPr id="152" name="Google Shape;152;p55"/>
            <p:cNvSpPr/>
            <p:nvPr/>
          </p:nvSpPr>
          <p:spPr>
            <a:xfrm>
              <a:off x="-7479" y="4982614"/>
              <a:ext cx="261612" cy="1456285"/>
            </a:xfrm>
            <a:prstGeom prst="rect">
              <a:avLst/>
            </a:prstGeom>
            <a:solidFill>
              <a:srgbClr val="26262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53" name="Google Shape;153;p55"/>
            <p:cNvSpPr txBox="1"/>
            <p:nvPr/>
          </p:nvSpPr>
          <p:spPr>
            <a:xfrm rot="-5400000">
              <a:off x="-565323" y="5578170"/>
              <a:ext cx="1377301" cy="26161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MY" sz="1100" b="1" i="0" u="none" strike="noStrike" cap="none">
                  <a:solidFill>
                    <a:srgbClr val="F2F2F2"/>
                  </a:solidFill>
                  <a:latin typeface="Calibri"/>
                  <a:ea typeface="Calibri"/>
                  <a:cs typeface="Calibri"/>
                  <a:sym typeface="Calibri"/>
                </a:rPr>
                <a:t>www.utm.my</a:t>
              </a:r>
              <a:endParaRPr sz="1100" b="1" i="0" u="none" strike="noStrike" cap="none">
                <a:solidFill>
                  <a:schemeClr val="accent4"/>
                </a:solidFill>
                <a:latin typeface="Calibri"/>
                <a:ea typeface="Calibri"/>
                <a:cs typeface="Calibri"/>
                <a:sym typeface="Calibri"/>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lank-color">
  <p:cSld name="Blank-color">
    <p:spTree>
      <p:nvGrpSpPr>
        <p:cNvPr id="1" name="Shape 154"/>
        <p:cNvGrpSpPr/>
        <p:nvPr/>
      </p:nvGrpSpPr>
      <p:grpSpPr>
        <a:xfrm>
          <a:off x="0" y="0"/>
          <a:ext cx="0" cy="0"/>
          <a:chOff x="0" y="0"/>
          <a:chExt cx="0" cy="0"/>
        </a:xfrm>
      </p:grpSpPr>
      <p:sp>
        <p:nvSpPr>
          <p:cNvPr id="155" name="Google Shape;155;p56"/>
          <p:cNvSpPr/>
          <p:nvPr/>
        </p:nvSpPr>
        <p:spPr>
          <a:xfrm>
            <a:off x="-38100" y="0"/>
            <a:ext cx="12230100" cy="6858000"/>
          </a:xfrm>
          <a:prstGeom prst="rect">
            <a:avLst/>
          </a:prstGeom>
          <a:solidFill>
            <a:srgbClr val="6C1D3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156" name="Google Shape;156;p56"/>
          <p:cNvGrpSpPr/>
          <p:nvPr/>
        </p:nvGrpSpPr>
        <p:grpSpPr>
          <a:xfrm>
            <a:off x="7180119" y="6473574"/>
            <a:ext cx="5011881" cy="390911"/>
            <a:chOff x="7180118" y="6489891"/>
            <a:chExt cx="5011881" cy="390911"/>
          </a:xfrm>
        </p:grpSpPr>
        <p:sp>
          <p:nvSpPr>
            <p:cNvPr id="157" name="Google Shape;157;p56"/>
            <p:cNvSpPr/>
            <p:nvPr/>
          </p:nvSpPr>
          <p:spPr>
            <a:xfrm rot="10800000">
              <a:off x="7393415" y="6489891"/>
              <a:ext cx="4798584" cy="390907"/>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58" name="Google Shape;158;p56"/>
            <p:cNvSpPr/>
            <p:nvPr/>
          </p:nvSpPr>
          <p:spPr>
            <a:xfrm flipH="1">
              <a:off x="7180118" y="6489895"/>
              <a:ext cx="213299" cy="390907"/>
            </a:xfrm>
            <a:prstGeom prst="rtTriangl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pic>
        <p:nvPicPr>
          <p:cNvPr id="159" name="Google Shape;159;p56"/>
          <p:cNvPicPr preferRelativeResize="0"/>
          <p:nvPr/>
        </p:nvPicPr>
        <p:blipFill rotWithShape="1">
          <a:blip r:embed="rId2">
            <a:alphaModFix/>
          </a:blip>
          <a:srcRect/>
          <a:stretch/>
        </p:blipFill>
        <p:spPr>
          <a:xfrm>
            <a:off x="10476220" y="283589"/>
            <a:ext cx="1470825" cy="497461"/>
          </a:xfrm>
          <a:prstGeom prst="rect">
            <a:avLst/>
          </a:prstGeom>
          <a:noFill/>
          <a:ln>
            <a:noFill/>
          </a:ln>
        </p:spPr>
      </p:pic>
      <p:sp>
        <p:nvSpPr>
          <p:cNvPr id="160" name="Google Shape;160;p5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1" name="Google Shape;161;p5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2" name="Google Shape;162;p5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MY"/>
              <a:t>‹#›</a:t>
            </a:fld>
            <a:endParaRPr/>
          </a:p>
        </p:txBody>
      </p:sp>
      <p:grpSp>
        <p:nvGrpSpPr>
          <p:cNvPr id="163" name="Google Shape;163;p56"/>
          <p:cNvGrpSpPr/>
          <p:nvPr/>
        </p:nvGrpSpPr>
        <p:grpSpPr>
          <a:xfrm>
            <a:off x="-58882" y="0"/>
            <a:ext cx="2130820" cy="390908"/>
            <a:chOff x="-58882" y="0"/>
            <a:chExt cx="2130820" cy="390908"/>
          </a:xfrm>
        </p:grpSpPr>
        <p:sp>
          <p:nvSpPr>
            <p:cNvPr id="164" name="Google Shape;164;p56"/>
            <p:cNvSpPr/>
            <p:nvPr/>
          </p:nvSpPr>
          <p:spPr>
            <a:xfrm>
              <a:off x="-58882" y="1"/>
              <a:ext cx="1921715" cy="390907"/>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65" name="Google Shape;165;p56"/>
            <p:cNvSpPr/>
            <p:nvPr/>
          </p:nvSpPr>
          <p:spPr>
            <a:xfrm rot="10800000" flipH="1">
              <a:off x="1858639" y="0"/>
              <a:ext cx="213299" cy="390907"/>
            </a:xfrm>
            <a:prstGeom prst="rtTriangl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grpSp>
        <p:nvGrpSpPr>
          <p:cNvPr id="166" name="Google Shape;166;p56"/>
          <p:cNvGrpSpPr/>
          <p:nvPr/>
        </p:nvGrpSpPr>
        <p:grpSpPr>
          <a:xfrm>
            <a:off x="11930388" y="4900065"/>
            <a:ext cx="261612" cy="1456285"/>
            <a:chOff x="-7479" y="4982614"/>
            <a:chExt cx="261612" cy="1456285"/>
          </a:xfrm>
        </p:grpSpPr>
        <p:sp>
          <p:nvSpPr>
            <p:cNvPr id="167" name="Google Shape;167;p56"/>
            <p:cNvSpPr/>
            <p:nvPr/>
          </p:nvSpPr>
          <p:spPr>
            <a:xfrm>
              <a:off x="-7479" y="4982614"/>
              <a:ext cx="261612" cy="1456285"/>
            </a:xfrm>
            <a:prstGeom prst="rect">
              <a:avLst/>
            </a:prstGeom>
            <a:solidFill>
              <a:srgbClr val="26262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68" name="Google Shape;168;p56"/>
            <p:cNvSpPr txBox="1"/>
            <p:nvPr/>
          </p:nvSpPr>
          <p:spPr>
            <a:xfrm rot="-5400000">
              <a:off x="-565323" y="5578170"/>
              <a:ext cx="1377301" cy="26161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MY" sz="1100" b="1" i="0" u="none" strike="noStrike" cap="none">
                  <a:solidFill>
                    <a:srgbClr val="F2F2F2"/>
                  </a:solidFill>
                  <a:latin typeface="Calibri"/>
                  <a:ea typeface="Calibri"/>
                  <a:cs typeface="Calibri"/>
                  <a:sym typeface="Calibri"/>
                </a:rPr>
                <a:t>www.utm.my</a:t>
              </a:r>
              <a:endParaRPr sz="1100" b="1" i="0" u="none" strike="noStrike" cap="none">
                <a:solidFill>
                  <a:schemeClr val="accent4"/>
                </a:solidFill>
                <a:latin typeface="Calibri"/>
                <a:ea typeface="Calibri"/>
                <a:cs typeface="Calibri"/>
                <a:sym typeface="Calibri"/>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Picture with Caption">
  <p:cSld name="Picture with Caption">
    <p:spTree>
      <p:nvGrpSpPr>
        <p:cNvPr id="1" name="Shape 169"/>
        <p:cNvGrpSpPr/>
        <p:nvPr/>
      </p:nvGrpSpPr>
      <p:grpSpPr>
        <a:xfrm>
          <a:off x="0" y="0"/>
          <a:ext cx="0" cy="0"/>
          <a:chOff x="0" y="0"/>
          <a:chExt cx="0" cy="0"/>
        </a:xfrm>
      </p:grpSpPr>
      <p:pic>
        <p:nvPicPr>
          <p:cNvPr id="170" name="Google Shape;170;p57"/>
          <p:cNvPicPr preferRelativeResize="0"/>
          <p:nvPr/>
        </p:nvPicPr>
        <p:blipFill rotWithShape="1">
          <a:blip r:embed="rId2">
            <a:alphaModFix/>
          </a:blip>
          <a:srcRect/>
          <a:stretch/>
        </p:blipFill>
        <p:spPr>
          <a:xfrm flipH="1">
            <a:off x="6765" y="1270"/>
            <a:ext cx="7112053" cy="1831461"/>
          </a:xfrm>
          <a:prstGeom prst="rect">
            <a:avLst/>
          </a:prstGeom>
          <a:noFill/>
          <a:ln>
            <a:noFill/>
          </a:ln>
        </p:spPr>
      </p:pic>
      <p:sp>
        <p:nvSpPr>
          <p:cNvPr id="171" name="Google Shape;171;p5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2" name="Google Shape;172;p5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3" name="Google Shape;173;p5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MY"/>
              <a:t>‹#›</a:t>
            </a:fld>
            <a:endParaRPr/>
          </a:p>
        </p:txBody>
      </p:sp>
      <p:pic>
        <p:nvPicPr>
          <p:cNvPr id="174" name="Google Shape;174;p57"/>
          <p:cNvPicPr preferRelativeResize="0"/>
          <p:nvPr/>
        </p:nvPicPr>
        <p:blipFill rotWithShape="1">
          <a:blip r:embed="rId3">
            <a:alphaModFix/>
          </a:blip>
          <a:srcRect/>
          <a:stretch/>
        </p:blipFill>
        <p:spPr>
          <a:xfrm>
            <a:off x="10478878" y="283590"/>
            <a:ext cx="1468167" cy="497461"/>
          </a:xfrm>
          <a:prstGeom prst="rect">
            <a:avLst/>
          </a:prstGeom>
          <a:noFill/>
          <a:ln>
            <a:noFill/>
          </a:ln>
        </p:spPr>
      </p:pic>
      <p:grpSp>
        <p:nvGrpSpPr>
          <p:cNvPr id="175" name="Google Shape;175;p57"/>
          <p:cNvGrpSpPr/>
          <p:nvPr/>
        </p:nvGrpSpPr>
        <p:grpSpPr>
          <a:xfrm>
            <a:off x="11930388" y="4900065"/>
            <a:ext cx="261612" cy="1456285"/>
            <a:chOff x="-7479" y="4982614"/>
            <a:chExt cx="261612" cy="1456285"/>
          </a:xfrm>
        </p:grpSpPr>
        <p:sp>
          <p:nvSpPr>
            <p:cNvPr id="176" name="Google Shape;176;p57"/>
            <p:cNvSpPr/>
            <p:nvPr/>
          </p:nvSpPr>
          <p:spPr>
            <a:xfrm>
              <a:off x="-7479" y="4982614"/>
              <a:ext cx="261612" cy="1456285"/>
            </a:xfrm>
            <a:prstGeom prst="rect">
              <a:avLst/>
            </a:prstGeom>
            <a:solidFill>
              <a:srgbClr val="26262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77" name="Google Shape;177;p57"/>
            <p:cNvSpPr txBox="1"/>
            <p:nvPr/>
          </p:nvSpPr>
          <p:spPr>
            <a:xfrm rot="-5400000">
              <a:off x="-565323" y="5578170"/>
              <a:ext cx="1377301" cy="26161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MY" sz="1100" b="1" i="0" u="none" strike="noStrike" cap="none">
                  <a:solidFill>
                    <a:srgbClr val="F2F2F2"/>
                  </a:solidFill>
                  <a:latin typeface="Calibri"/>
                  <a:ea typeface="Calibri"/>
                  <a:cs typeface="Calibri"/>
                  <a:sym typeface="Calibri"/>
                </a:rPr>
                <a:t>www.utm.my</a:t>
              </a:r>
              <a:endParaRPr sz="1100" b="1" i="0" u="none" strike="noStrike" cap="none">
                <a:solidFill>
                  <a:schemeClr val="accent4"/>
                </a:solidFill>
                <a:latin typeface="Calibri"/>
                <a:ea typeface="Calibri"/>
                <a:cs typeface="Calibri"/>
                <a:sym typeface="Calibri"/>
              </a:endParaRPr>
            </a:p>
          </p:txBody>
        </p:sp>
      </p:grpSp>
      <p:sp>
        <p:nvSpPr>
          <p:cNvPr id="178" name="Google Shape;178;p57"/>
          <p:cNvSpPr/>
          <p:nvPr/>
        </p:nvSpPr>
        <p:spPr>
          <a:xfrm rot="5400000">
            <a:off x="6073139" y="761174"/>
            <a:ext cx="45719" cy="12192000"/>
          </a:xfrm>
          <a:prstGeom prst="rect">
            <a:avLst/>
          </a:prstGeom>
          <a:solidFill>
            <a:srgbClr val="6C1D3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79" name="Google Shape;179;p57"/>
          <p:cNvSpPr txBox="1">
            <a:spLocks noGrp="1"/>
          </p:cNvSpPr>
          <p:nvPr>
            <p:ph type="title"/>
          </p:nvPr>
        </p:nvSpPr>
        <p:spPr>
          <a:xfrm>
            <a:off x="838198" y="781051"/>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4000"/>
              <a:buFont typeface="Calibri"/>
              <a:buNone/>
              <a:defRPr>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_Picture with Caption">
  <p:cSld name="1_Picture with Caption">
    <p:spTree>
      <p:nvGrpSpPr>
        <p:cNvPr id="1" name="Shape 180"/>
        <p:cNvGrpSpPr/>
        <p:nvPr/>
      </p:nvGrpSpPr>
      <p:grpSpPr>
        <a:xfrm>
          <a:off x="0" y="0"/>
          <a:ext cx="0" cy="0"/>
          <a:chOff x="0" y="0"/>
          <a:chExt cx="0" cy="0"/>
        </a:xfrm>
      </p:grpSpPr>
      <p:pic>
        <p:nvPicPr>
          <p:cNvPr id="181" name="Google Shape;181;p58"/>
          <p:cNvPicPr preferRelativeResize="0"/>
          <p:nvPr/>
        </p:nvPicPr>
        <p:blipFill rotWithShape="1">
          <a:blip r:embed="rId2">
            <a:alphaModFix/>
          </a:blip>
          <a:srcRect/>
          <a:stretch/>
        </p:blipFill>
        <p:spPr>
          <a:xfrm flipH="1">
            <a:off x="6765" y="1270"/>
            <a:ext cx="7112053" cy="1831461"/>
          </a:xfrm>
          <a:prstGeom prst="rect">
            <a:avLst/>
          </a:prstGeom>
          <a:noFill/>
          <a:ln>
            <a:noFill/>
          </a:ln>
        </p:spPr>
      </p:pic>
      <p:sp>
        <p:nvSpPr>
          <p:cNvPr id="182" name="Google Shape;182;p5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3" name="Google Shape;183;p5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4" name="Google Shape;184;p5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MY"/>
              <a:t>‹#›</a:t>
            </a:fld>
            <a:endParaRPr/>
          </a:p>
        </p:txBody>
      </p:sp>
      <p:pic>
        <p:nvPicPr>
          <p:cNvPr id="185" name="Google Shape;185;p58"/>
          <p:cNvPicPr preferRelativeResize="0"/>
          <p:nvPr/>
        </p:nvPicPr>
        <p:blipFill rotWithShape="1">
          <a:blip r:embed="rId3">
            <a:alphaModFix/>
          </a:blip>
          <a:srcRect/>
          <a:stretch/>
        </p:blipFill>
        <p:spPr>
          <a:xfrm>
            <a:off x="10478878" y="283590"/>
            <a:ext cx="1468167" cy="497461"/>
          </a:xfrm>
          <a:prstGeom prst="rect">
            <a:avLst/>
          </a:prstGeom>
          <a:noFill/>
          <a:ln>
            <a:noFill/>
          </a:ln>
        </p:spPr>
      </p:pic>
      <p:grpSp>
        <p:nvGrpSpPr>
          <p:cNvPr id="186" name="Google Shape;186;p58"/>
          <p:cNvGrpSpPr/>
          <p:nvPr/>
        </p:nvGrpSpPr>
        <p:grpSpPr>
          <a:xfrm>
            <a:off x="11930388" y="4900065"/>
            <a:ext cx="261612" cy="1456285"/>
            <a:chOff x="-7479" y="4982614"/>
            <a:chExt cx="261612" cy="1456285"/>
          </a:xfrm>
        </p:grpSpPr>
        <p:sp>
          <p:nvSpPr>
            <p:cNvPr id="187" name="Google Shape;187;p58"/>
            <p:cNvSpPr/>
            <p:nvPr/>
          </p:nvSpPr>
          <p:spPr>
            <a:xfrm>
              <a:off x="-7479" y="4982614"/>
              <a:ext cx="261612" cy="1456285"/>
            </a:xfrm>
            <a:prstGeom prst="rect">
              <a:avLst/>
            </a:prstGeom>
            <a:solidFill>
              <a:srgbClr val="26262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88" name="Google Shape;188;p58"/>
            <p:cNvSpPr txBox="1"/>
            <p:nvPr/>
          </p:nvSpPr>
          <p:spPr>
            <a:xfrm rot="-5400000">
              <a:off x="-565323" y="5578170"/>
              <a:ext cx="1377301" cy="26161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MY" sz="1100" b="1" i="0" u="none" strike="noStrike" cap="none">
                  <a:solidFill>
                    <a:srgbClr val="F2F2F2"/>
                  </a:solidFill>
                  <a:latin typeface="Calibri"/>
                  <a:ea typeface="Calibri"/>
                  <a:cs typeface="Calibri"/>
                  <a:sym typeface="Calibri"/>
                </a:rPr>
                <a:t>www.utm.my</a:t>
              </a:r>
              <a:endParaRPr sz="1100" b="1" i="0" u="none" strike="noStrike" cap="none">
                <a:solidFill>
                  <a:schemeClr val="accent4"/>
                </a:solidFill>
                <a:latin typeface="Calibri"/>
                <a:ea typeface="Calibri"/>
                <a:cs typeface="Calibri"/>
                <a:sym typeface="Calibri"/>
              </a:endParaRPr>
            </a:p>
          </p:txBody>
        </p:sp>
      </p:grpSp>
      <p:sp>
        <p:nvSpPr>
          <p:cNvPr id="189" name="Google Shape;189;p58"/>
          <p:cNvSpPr/>
          <p:nvPr/>
        </p:nvSpPr>
        <p:spPr>
          <a:xfrm rot="5400000">
            <a:off x="6079906" y="-6086095"/>
            <a:ext cx="45719" cy="12192000"/>
          </a:xfrm>
          <a:prstGeom prst="rect">
            <a:avLst/>
          </a:prstGeom>
          <a:solidFill>
            <a:srgbClr val="6C1D3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90" name="Google Shape;190;p58"/>
          <p:cNvSpPr txBox="1">
            <a:spLocks noGrp="1"/>
          </p:cNvSpPr>
          <p:nvPr>
            <p:ph type="title"/>
          </p:nvPr>
        </p:nvSpPr>
        <p:spPr>
          <a:xfrm>
            <a:off x="838198" y="781051"/>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4000"/>
              <a:buFont typeface="Calibri"/>
              <a:buNone/>
              <a:defRPr>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4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000"/>
              <a:buFont typeface="Calibri"/>
              <a:buNone/>
              <a:defRPr sz="40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4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4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4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4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MY"/>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3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7.xml"/><Relationship Id="rId1" Type="http://schemas.openxmlformats.org/officeDocument/2006/relationships/slideLayout" Target="../slideLayouts/slideLayout3.xml"/><Relationship Id="rId4" Type="http://schemas.openxmlformats.org/officeDocument/2006/relationships/image" Target="../media/image2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p1"/>
          <p:cNvSpPr txBox="1"/>
          <p:nvPr/>
        </p:nvSpPr>
        <p:spPr>
          <a:xfrm>
            <a:off x="2653990" y="4657148"/>
            <a:ext cx="8800847" cy="95406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MY" sz="2800" b="1" i="0" u="none" strike="noStrike" cap="none" dirty="0">
                <a:solidFill>
                  <a:srgbClr val="002060"/>
                </a:solidFill>
                <a:latin typeface="Calibri"/>
                <a:ea typeface="Calibri"/>
                <a:cs typeface="Calibri"/>
                <a:sym typeface="Calibri"/>
              </a:rPr>
              <a:t>PROJECT SIZE ESTIMATION – PLAN-DRIVEN AND AGILE-DRIVEN</a:t>
            </a:r>
            <a:endParaRPr sz="2400" b="1" i="0" u="none" strike="noStrike" cap="none" dirty="0">
              <a:solidFill>
                <a:srgbClr val="002060"/>
              </a:solidFill>
              <a:latin typeface="Arial"/>
              <a:ea typeface="Arial"/>
              <a:cs typeface="Arial"/>
              <a:sym typeface="Arial"/>
            </a:endParaRPr>
          </a:p>
        </p:txBody>
      </p:sp>
      <p:sp>
        <p:nvSpPr>
          <p:cNvPr id="196" name="Google Shape;196;p1"/>
          <p:cNvSpPr txBox="1"/>
          <p:nvPr/>
        </p:nvSpPr>
        <p:spPr>
          <a:xfrm>
            <a:off x="2687444" y="2991897"/>
            <a:ext cx="5943600" cy="144650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4400"/>
              <a:buFont typeface="Arial"/>
              <a:buNone/>
            </a:pPr>
            <a:r>
              <a:rPr lang="en-MY" sz="4400" b="0" i="0" u="none" strike="noStrike" cap="none">
                <a:solidFill>
                  <a:srgbClr val="3F3F3F"/>
                </a:solidFill>
                <a:latin typeface="Calibri"/>
                <a:ea typeface="Calibri"/>
                <a:cs typeface="Calibri"/>
                <a:sym typeface="Calibri"/>
              </a:rPr>
              <a:t>FUNDAMENTAL OF PROJECT MANAGEMENT</a:t>
            </a:r>
            <a:endParaRPr sz="2000" b="0" i="0" u="none" strike="noStrike" cap="none">
              <a:solidFill>
                <a:srgbClr val="000000"/>
              </a:solidFill>
              <a:latin typeface="Arial"/>
              <a:ea typeface="Arial"/>
              <a:cs typeface="Arial"/>
              <a:sym typeface="Arial"/>
            </a:endParaRPr>
          </a:p>
        </p:txBody>
      </p:sp>
      <p:sp>
        <p:nvSpPr>
          <p:cNvPr id="197" name="Google Shape;197;p1"/>
          <p:cNvSpPr txBox="1"/>
          <p:nvPr/>
        </p:nvSpPr>
        <p:spPr>
          <a:xfrm>
            <a:off x="2653990" y="2113085"/>
            <a:ext cx="5977054" cy="76944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4400"/>
              <a:buFont typeface="Arial"/>
              <a:buNone/>
            </a:pPr>
            <a:r>
              <a:rPr lang="en-MY" sz="4400" b="1" i="0" u="none" strike="noStrike" cap="none">
                <a:solidFill>
                  <a:srgbClr val="6C1D35"/>
                </a:solidFill>
                <a:latin typeface="Calibri"/>
                <a:ea typeface="Calibri"/>
                <a:cs typeface="Calibri"/>
                <a:sym typeface="Calibri"/>
              </a:rPr>
              <a:t>TOPIC 4:</a:t>
            </a:r>
            <a:endParaRPr sz="1400" b="0" i="0" u="none" strike="noStrike" cap="none">
              <a:solidFill>
                <a:srgbClr val="000000"/>
              </a:solidFill>
              <a:latin typeface="Arial"/>
              <a:ea typeface="Arial"/>
              <a:cs typeface="Arial"/>
              <a:sym typeface="Arial"/>
            </a:endParaRPr>
          </a:p>
        </p:txBody>
      </p:sp>
      <p:pic>
        <p:nvPicPr>
          <p:cNvPr id="198" name="Google Shape;198;p1"/>
          <p:cNvPicPr preferRelativeResize="0"/>
          <p:nvPr/>
        </p:nvPicPr>
        <p:blipFill rotWithShape="1">
          <a:blip r:embed="rId3">
            <a:alphaModFix/>
          </a:blip>
          <a:srcRect/>
          <a:stretch/>
        </p:blipFill>
        <p:spPr>
          <a:xfrm>
            <a:off x="4727149" y="599516"/>
            <a:ext cx="2249407" cy="751894"/>
          </a:xfrm>
          <a:prstGeom prst="rect">
            <a:avLst/>
          </a:prstGeom>
          <a:noFill/>
          <a:ln>
            <a:noFill/>
          </a:ln>
        </p:spPr>
      </p:pic>
      <p:pic>
        <p:nvPicPr>
          <p:cNvPr id="199" name="Google Shape;199;p1"/>
          <p:cNvPicPr preferRelativeResize="0"/>
          <p:nvPr/>
        </p:nvPicPr>
        <p:blipFill rotWithShape="1">
          <a:blip r:embed="rId4">
            <a:alphaModFix/>
          </a:blip>
          <a:srcRect/>
          <a:stretch/>
        </p:blipFill>
        <p:spPr>
          <a:xfrm>
            <a:off x="5178429" y="6352942"/>
            <a:ext cx="2136771" cy="160806"/>
          </a:xfrm>
          <a:prstGeom prst="rect">
            <a:avLst/>
          </a:prstGeom>
          <a:noFill/>
          <a:ln>
            <a:noFill/>
          </a:ln>
        </p:spPr>
      </p:pic>
      <p:sp>
        <p:nvSpPr>
          <p:cNvPr id="2" name="TextBox 1">
            <a:extLst>
              <a:ext uri="{FF2B5EF4-FFF2-40B4-BE49-F238E27FC236}">
                <a16:creationId xmlns:a16="http://schemas.microsoft.com/office/drawing/2014/main" id="{961448D3-CD9B-D302-A705-CDDBFB9BB96D}"/>
              </a:ext>
            </a:extLst>
          </p:cNvPr>
          <p:cNvSpPr txBox="1"/>
          <p:nvPr/>
        </p:nvSpPr>
        <p:spPr>
          <a:xfrm>
            <a:off x="7315200" y="6279456"/>
            <a:ext cx="4883068" cy="307777"/>
          </a:xfrm>
          <a:prstGeom prst="rect">
            <a:avLst/>
          </a:prstGeom>
          <a:noFill/>
        </p:spPr>
        <p:txBody>
          <a:bodyPr wrap="none" rtlCol="0">
            <a:spAutoFit/>
          </a:bodyPr>
          <a:lstStyle/>
          <a:p>
            <a:r>
              <a:rPr lang="en-MY" b="1" dirty="0">
                <a:solidFill>
                  <a:srgbClr val="0070C0"/>
                </a:solidFill>
              </a:rPr>
              <a:t>Prepared by Dr Alif </a:t>
            </a:r>
            <a:r>
              <a:rPr lang="en-MY" b="1" dirty="0" err="1">
                <a:solidFill>
                  <a:srgbClr val="0070C0"/>
                </a:solidFill>
              </a:rPr>
              <a:t>Ridzuan</a:t>
            </a:r>
            <a:r>
              <a:rPr lang="en-MY" b="1" dirty="0">
                <a:solidFill>
                  <a:srgbClr val="0070C0"/>
                </a:solidFill>
              </a:rPr>
              <a:t> dan Dr </a:t>
            </a:r>
            <a:r>
              <a:rPr lang="en-MY" b="1" dirty="0" err="1">
                <a:solidFill>
                  <a:srgbClr val="0070C0"/>
                </a:solidFill>
              </a:rPr>
              <a:t>Shahliza</a:t>
            </a:r>
            <a:r>
              <a:rPr lang="en-MY" b="1" dirty="0">
                <a:solidFill>
                  <a:srgbClr val="0070C0"/>
                </a:solidFill>
              </a:rPr>
              <a:t> Abd Halim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000"/>
              <a:buFont typeface="Calibri"/>
              <a:buNone/>
            </a:pPr>
            <a:r>
              <a:rPr lang="en-MY"/>
              <a:t>LEARNING OUTCOME</a:t>
            </a:r>
            <a:endParaRPr/>
          </a:p>
        </p:txBody>
      </p:sp>
      <p:sp>
        <p:nvSpPr>
          <p:cNvPr id="205" name="Google Shape;205;p2"/>
          <p:cNvSpPr txBox="1"/>
          <p:nvPr/>
        </p:nvSpPr>
        <p:spPr>
          <a:xfrm>
            <a:off x="979448" y="1549746"/>
            <a:ext cx="10233103" cy="4739719"/>
          </a:xfrm>
          <a:prstGeom prst="rect">
            <a:avLst/>
          </a:prstGeom>
          <a:noFill/>
          <a:ln>
            <a:noFill/>
          </a:ln>
        </p:spPr>
        <p:txBody>
          <a:bodyPr spcFirstLastPara="1" wrap="square" lIns="0" tIns="45700" rIns="0" bIns="45700" anchor="t" anchorCtr="0">
            <a:spAutoFit/>
          </a:bodyPr>
          <a:lstStyle/>
          <a:p>
            <a:pPr marL="457200" marR="0" lvl="0" indent="-457200" algn="just" rtl="0">
              <a:lnSpc>
                <a:spcPct val="100000"/>
              </a:lnSpc>
              <a:spcBef>
                <a:spcPts val="0"/>
              </a:spcBef>
              <a:spcAft>
                <a:spcPts val="0"/>
              </a:spcAft>
              <a:buClr>
                <a:schemeClr val="dk1"/>
              </a:buClr>
              <a:buSzPts val="3600"/>
              <a:buFont typeface="Arial"/>
              <a:buChar char="•"/>
            </a:pPr>
            <a:r>
              <a:rPr lang="en-MY" sz="3600" b="0" i="0" u="none" strike="noStrike" cap="none">
                <a:solidFill>
                  <a:schemeClr val="dk1"/>
                </a:solidFill>
                <a:latin typeface="Calibri"/>
                <a:ea typeface="Calibri"/>
                <a:cs typeface="Calibri"/>
                <a:sym typeface="Calibri"/>
              </a:rPr>
              <a:t>Able to understand fundamental concept of project size estimation in software management.</a:t>
            </a:r>
            <a:endParaRPr sz="1400" b="0" i="0" u="none" strike="noStrike" cap="none">
              <a:solidFill>
                <a:srgbClr val="000000"/>
              </a:solidFill>
              <a:latin typeface="Arial"/>
              <a:ea typeface="Arial"/>
              <a:cs typeface="Arial"/>
              <a:sym typeface="Arial"/>
            </a:endParaRPr>
          </a:p>
          <a:p>
            <a:pPr marL="457200" marR="0" lvl="0" indent="-457200" algn="just" rtl="0">
              <a:lnSpc>
                <a:spcPct val="100000"/>
              </a:lnSpc>
              <a:spcBef>
                <a:spcPts val="0"/>
              </a:spcBef>
              <a:spcAft>
                <a:spcPts val="0"/>
              </a:spcAft>
              <a:buClr>
                <a:schemeClr val="dk1"/>
              </a:buClr>
              <a:buSzPts val="3600"/>
              <a:buFont typeface="Arial"/>
              <a:buChar char="•"/>
            </a:pPr>
            <a:r>
              <a:rPr lang="en-MY" sz="3600" b="0" i="0" u="none" strike="noStrike" cap="none">
                <a:solidFill>
                  <a:schemeClr val="dk1"/>
                </a:solidFill>
                <a:latin typeface="Calibri"/>
                <a:ea typeface="Calibri"/>
                <a:cs typeface="Calibri"/>
                <a:sym typeface="Calibri"/>
              </a:rPr>
              <a:t>Able to apply the concept of  function point analysis (FPA) in plan-driven software project estimation.</a:t>
            </a:r>
            <a:endParaRPr/>
          </a:p>
          <a:p>
            <a:pPr marL="457200" marR="0" lvl="0" indent="-457200" algn="just" rtl="0">
              <a:lnSpc>
                <a:spcPct val="100000"/>
              </a:lnSpc>
              <a:spcBef>
                <a:spcPts val="0"/>
              </a:spcBef>
              <a:spcAft>
                <a:spcPts val="0"/>
              </a:spcAft>
              <a:buClr>
                <a:schemeClr val="dk1"/>
              </a:buClr>
              <a:buSzPts val="3600"/>
              <a:buFont typeface="Arial"/>
              <a:buChar char="•"/>
            </a:pPr>
            <a:r>
              <a:rPr lang="en-MY" sz="3600" b="0" i="0" u="none" strike="noStrike" cap="none">
                <a:solidFill>
                  <a:schemeClr val="dk1"/>
                </a:solidFill>
                <a:latin typeface="Calibri"/>
                <a:ea typeface="Calibri"/>
                <a:cs typeface="Calibri"/>
                <a:sym typeface="Calibri"/>
              </a:rPr>
              <a:t>Able to apply agile driven software estimation with Story Points and Velocity</a:t>
            </a:r>
            <a:endParaRPr/>
          </a:p>
          <a:p>
            <a:pPr marL="457200" marR="0" lvl="0" indent="-228600" algn="just" rtl="0">
              <a:lnSpc>
                <a:spcPct val="100000"/>
              </a:lnSpc>
              <a:spcBef>
                <a:spcPts val="0"/>
              </a:spcBef>
              <a:spcAft>
                <a:spcPts val="0"/>
              </a:spcAft>
              <a:buClr>
                <a:schemeClr val="dk1"/>
              </a:buClr>
              <a:buSzPts val="3600"/>
              <a:buFont typeface="Arial"/>
              <a:buNone/>
            </a:pPr>
            <a:endParaRPr sz="3600" b="0" i="0" u="none" strike="noStrike" cap="none">
              <a:solidFill>
                <a:schemeClr val="dk1"/>
              </a:solidFill>
              <a:latin typeface="Calibri"/>
              <a:ea typeface="Calibri"/>
              <a:cs typeface="Calibri"/>
              <a:sym typeface="Calibri"/>
            </a:endParaRPr>
          </a:p>
          <a:p>
            <a:pPr marL="457200" marR="0" lvl="0" indent="-228600" algn="just" rtl="0">
              <a:lnSpc>
                <a:spcPct val="100000"/>
              </a:lnSpc>
              <a:spcBef>
                <a:spcPts val="0"/>
              </a:spcBef>
              <a:spcAft>
                <a:spcPts val="0"/>
              </a:spcAft>
              <a:buClr>
                <a:schemeClr val="dk1"/>
              </a:buClr>
              <a:buSzPts val="3600"/>
              <a:buFont typeface="Arial"/>
              <a:buNone/>
            </a:pPr>
            <a:endParaRPr sz="3600" b="0" i="0" u="none" strike="noStrike" cap="none">
              <a:solidFill>
                <a:schemeClr val="dk1"/>
              </a:solidFill>
              <a:latin typeface="Calibri"/>
              <a:ea typeface="Calibri"/>
              <a:cs typeface="Calibri"/>
              <a:sym typeface="Calibri"/>
            </a:endParaRPr>
          </a:p>
          <a:p>
            <a:pPr marL="0" marR="0" lvl="0" indent="0" algn="just"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p7"/>
          <p:cNvSpPr txBox="1"/>
          <p:nvPr/>
        </p:nvSpPr>
        <p:spPr>
          <a:xfrm>
            <a:off x="979448" y="927802"/>
            <a:ext cx="10233103" cy="3936527"/>
          </a:xfrm>
          <a:prstGeom prst="rect">
            <a:avLst/>
          </a:prstGeom>
          <a:noFill/>
          <a:ln>
            <a:noFill/>
          </a:ln>
        </p:spPr>
        <p:txBody>
          <a:bodyPr spcFirstLastPara="1" wrap="square" lIns="0" tIns="45700" rIns="0" bIns="45700" anchor="t" anchorCtr="0">
            <a:spAutoFit/>
          </a:bodyPr>
          <a:lstStyle/>
          <a:p>
            <a:pPr marL="0" marR="0" lvl="0" indent="0" algn="just" rtl="0">
              <a:lnSpc>
                <a:spcPct val="107000"/>
              </a:lnSpc>
              <a:spcBef>
                <a:spcPts val="0"/>
              </a:spcBef>
              <a:spcAft>
                <a:spcPts val="0"/>
              </a:spcAft>
              <a:buClr>
                <a:schemeClr val="dk1"/>
              </a:buClr>
              <a:buSzPts val="3600"/>
              <a:buFont typeface="Arial"/>
              <a:buNone/>
            </a:pPr>
            <a:r>
              <a:rPr lang="en-MY" sz="3600" b="0" i="0" u="none" strike="noStrike" cap="none">
                <a:solidFill>
                  <a:schemeClr val="dk1"/>
                </a:solidFill>
                <a:latin typeface="Arial"/>
                <a:ea typeface="Arial"/>
                <a:cs typeface="Arial"/>
                <a:sym typeface="Arial"/>
              </a:rPr>
              <a:t>So, what is Software Project Size Estimation?</a:t>
            </a:r>
            <a:endParaRPr sz="1400" b="0" i="0" u="none" strike="noStrike" cap="none">
              <a:solidFill>
                <a:srgbClr val="000000"/>
              </a:solidFill>
              <a:latin typeface="Arial"/>
              <a:ea typeface="Arial"/>
              <a:cs typeface="Arial"/>
              <a:sym typeface="Arial"/>
            </a:endParaRPr>
          </a:p>
          <a:p>
            <a:pPr marL="0" marR="0" lvl="0" indent="0" algn="just" rtl="0">
              <a:lnSpc>
                <a:spcPct val="107000"/>
              </a:lnSpc>
              <a:spcBef>
                <a:spcPts val="800"/>
              </a:spcBef>
              <a:spcAft>
                <a:spcPts val="0"/>
              </a:spcAft>
              <a:buClr>
                <a:schemeClr val="dk1"/>
              </a:buClr>
              <a:buSzPts val="3600"/>
              <a:buFont typeface="Calibri"/>
              <a:buNone/>
            </a:pPr>
            <a:endParaRPr sz="3600" b="0" i="0" u="none" strike="noStrike" cap="none">
              <a:solidFill>
                <a:schemeClr val="dk1"/>
              </a:solidFill>
              <a:latin typeface="Arial"/>
              <a:ea typeface="Arial"/>
              <a:cs typeface="Arial"/>
              <a:sym typeface="Arial"/>
            </a:endParaRPr>
          </a:p>
          <a:p>
            <a:pPr marL="285750" marR="0" lvl="0" indent="-285750" algn="just" rtl="0">
              <a:lnSpc>
                <a:spcPct val="107000"/>
              </a:lnSpc>
              <a:spcBef>
                <a:spcPts val="800"/>
              </a:spcBef>
              <a:spcAft>
                <a:spcPts val="0"/>
              </a:spcAft>
              <a:buClr>
                <a:schemeClr val="dk1"/>
              </a:buClr>
              <a:buSzPts val="3600"/>
              <a:buFont typeface="Arial"/>
              <a:buChar char="•"/>
            </a:pPr>
            <a:r>
              <a:rPr lang="en-MY" sz="3600" b="0" i="0" u="none" strike="noStrike" cap="none">
                <a:solidFill>
                  <a:schemeClr val="dk1"/>
                </a:solidFill>
                <a:latin typeface="Arial"/>
                <a:ea typeface="Arial"/>
                <a:cs typeface="Arial"/>
                <a:sym typeface="Arial"/>
              </a:rPr>
              <a:t>It is a process of predicting effort, cost, time, and resources to complete a software project.</a:t>
            </a:r>
            <a:endParaRPr sz="1400" b="0" i="0" u="none" strike="noStrike" cap="none">
              <a:solidFill>
                <a:srgbClr val="000000"/>
              </a:solidFill>
              <a:latin typeface="Arial"/>
              <a:ea typeface="Arial"/>
              <a:cs typeface="Arial"/>
              <a:sym typeface="Arial"/>
            </a:endParaRPr>
          </a:p>
          <a:p>
            <a:pPr marL="342900" marR="0" lvl="0" indent="-342900" algn="just" rtl="0">
              <a:lnSpc>
                <a:spcPct val="107000"/>
              </a:lnSpc>
              <a:spcBef>
                <a:spcPts val="800"/>
              </a:spcBef>
              <a:spcAft>
                <a:spcPts val="0"/>
              </a:spcAft>
              <a:buClr>
                <a:schemeClr val="dk1"/>
              </a:buClr>
              <a:buSzPts val="3600"/>
              <a:buFont typeface="Arial"/>
              <a:buChar char="•"/>
            </a:pPr>
            <a:r>
              <a:rPr lang="en-MY" sz="3600" b="0" i="0" u="none" strike="noStrike" cap="none">
                <a:solidFill>
                  <a:schemeClr val="dk1"/>
                </a:solidFill>
                <a:latin typeface="Arial"/>
                <a:ea typeface="Arial"/>
                <a:cs typeface="Arial"/>
                <a:sym typeface="Arial"/>
              </a:rPr>
              <a:t>It helps with planning, scheduling, budgeting, risk management, and allocating resources efficiently.</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p4"/>
          <p:cNvSpPr txBox="1">
            <a:spLocks noGrp="1"/>
          </p:cNvSpPr>
          <p:nvPr>
            <p:ph type="title"/>
          </p:nvPr>
        </p:nvSpPr>
        <p:spPr>
          <a:xfrm>
            <a:off x="838200" y="518464"/>
            <a:ext cx="10515600" cy="5821071"/>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5400"/>
              <a:buFont typeface="Calibri"/>
              <a:buNone/>
            </a:pPr>
            <a:r>
              <a:rPr lang="en-MY" sz="5400"/>
              <a:t>PROJECT SIZE ESTIMATION</a:t>
            </a:r>
            <a:br>
              <a:rPr lang="en-MY" sz="5400"/>
            </a:br>
            <a:r>
              <a:rPr lang="en-MY" sz="5400"/>
              <a:t>IN SOFTWARE MANAGAMENT</a:t>
            </a:r>
            <a:endParaRPr sz="54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sp>
        <p:nvSpPr>
          <p:cNvPr id="220" name="Google Shape;220;p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000"/>
              <a:buFont typeface="Calibri"/>
              <a:buNone/>
            </a:pPr>
            <a:r>
              <a:rPr lang="en-MY"/>
              <a:t>INTRODUCTION</a:t>
            </a:r>
            <a:endParaRPr/>
          </a:p>
        </p:txBody>
      </p:sp>
      <p:sp>
        <p:nvSpPr>
          <p:cNvPr id="221" name="Google Shape;221;p5"/>
          <p:cNvSpPr txBox="1"/>
          <p:nvPr/>
        </p:nvSpPr>
        <p:spPr>
          <a:xfrm>
            <a:off x="979448" y="1549746"/>
            <a:ext cx="10233103" cy="4583819"/>
          </a:xfrm>
          <a:prstGeom prst="rect">
            <a:avLst/>
          </a:prstGeom>
          <a:noFill/>
          <a:ln>
            <a:noFill/>
          </a:ln>
        </p:spPr>
        <p:txBody>
          <a:bodyPr spcFirstLastPara="1" wrap="square" lIns="0" tIns="45700" rIns="0" bIns="45700" anchor="t" anchorCtr="0">
            <a:spAutoFit/>
          </a:bodyPr>
          <a:lstStyle/>
          <a:p>
            <a:pPr marL="457200" marR="0" lvl="0" indent="-457200" algn="just" rtl="0">
              <a:lnSpc>
                <a:spcPct val="100000"/>
              </a:lnSpc>
              <a:spcBef>
                <a:spcPts val="0"/>
              </a:spcBef>
              <a:spcAft>
                <a:spcPts val="0"/>
              </a:spcAft>
              <a:buClr>
                <a:schemeClr val="dk1"/>
              </a:buClr>
              <a:buSzPts val="2000"/>
              <a:buFont typeface="Arial"/>
              <a:buChar char="•"/>
            </a:pPr>
            <a:r>
              <a:rPr lang="en-MY" sz="2000" b="0" i="0" u="none" strike="noStrike" cap="none">
                <a:solidFill>
                  <a:schemeClr val="dk1"/>
                </a:solidFill>
                <a:latin typeface="Arial"/>
                <a:ea typeface="Arial"/>
                <a:cs typeface="Arial"/>
                <a:sym typeface="Arial"/>
              </a:rPr>
              <a:t>In software project management, the project size is the most significant and important factors that influence effort, cost, and schedule.</a:t>
            </a:r>
            <a:endParaRPr sz="1400" b="0" i="0" u="none" strike="noStrike" cap="none">
              <a:solidFill>
                <a:srgbClr val="000000"/>
              </a:solidFill>
              <a:latin typeface="Arial"/>
              <a:ea typeface="Arial"/>
              <a:cs typeface="Arial"/>
              <a:sym typeface="Arial"/>
            </a:endParaRPr>
          </a:p>
          <a:p>
            <a:pPr marL="342900" marR="0" lvl="0" indent="-215900" algn="just" rtl="0">
              <a:lnSpc>
                <a:spcPct val="100000"/>
              </a:lnSpc>
              <a:spcBef>
                <a:spcPts val="0"/>
              </a:spcBef>
              <a:spcAft>
                <a:spcPts val="0"/>
              </a:spcAft>
              <a:buClr>
                <a:schemeClr val="dk1"/>
              </a:buClr>
              <a:buSzPts val="2000"/>
              <a:buFont typeface="Arial"/>
              <a:buNone/>
            </a:pPr>
            <a:endParaRPr sz="2000" b="0" i="0" u="none" strike="noStrike" cap="none">
              <a:solidFill>
                <a:schemeClr val="dk1"/>
              </a:solidFill>
              <a:latin typeface="Arial"/>
              <a:ea typeface="Arial"/>
              <a:cs typeface="Arial"/>
              <a:sym typeface="Arial"/>
            </a:endParaRPr>
          </a:p>
          <a:p>
            <a:pPr marL="457200" marR="0" lvl="0" indent="-457200" algn="just" rtl="0">
              <a:lnSpc>
                <a:spcPct val="100000"/>
              </a:lnSpc>
              <a:spcBef>
                <a:spcPts val="0"/>
              </a:spcBef>
              <a:spcAft>
                <a:spcPts val="0"/>
              </a:spcAft>
              <a:buClr>
                <a:schemeClr val="dk1"/>
              </a:buClr>
              <a:buSzPts val="2000"/>
              <a:buFont typeface="Arial"/>
              <a:buChar char="•"/>
            </a:pPr>
            <a:r>
              <a:rPr lang="en-MY" sz="2000" b="0" i="0" u="none" strike="noStrike" cap="none">
                <a:solidFill>
                  <a:schemeClr val="dk1"/>
                </a:solidFill>
                <a:latin typeface="Arial"/>
                <a:ea typeface="Arial"/>
                <a:cs typeface="Arial"/>
                <a:sym typeface="Arial"/>
              </a:rPr>
              <a:t>Typically, the size of software project can be categorized into </a:t>
            </a:r>
            <a:r>
              <a:rPr lang="en-MY" sz="2000" b="1" i="0" u="none" strike="noStrike" cap="none">
                <a:solidFill>
                  <a:schemeClr val="dk1"/>
                </a:solidFill>
                <a:latin typeface="Arial"/>
                <a:ea typeface="Arial"/>
                <a:cs typeface="Arial"/>
                <a:sym typeface="Arial"/>
              </a:rPr>
              <a:t>small</a:t>
            </a:r>
            <a:r>
              <a:rPr lang="en-MY" sz="2000" b="0" i="0" u="none" strike="noStrike" cap="none">
                <a:solidFill>
                  <a:schemeClr val="dk1"/>
                </a:solidFill>
                <a:latin typeface="Arial"/>
                <a:ea typeface="Arial"/>
                <a:cs typeface="Arial"/>
                <a:sym typeface="Arial"/>
              </a:rPr>
              <a:t>, </a:t>
            </a:r>
            <a:r>
              <a:rPr lang="en-MY" sz="2000" b="1" i="0" u="none" strike="noStrike" cap="none">
                <a:solidFill>
                  <a:schemeClr val="dk1"/>
                </a:solidFill>
                <a:latin typeface="Arial"/>
                <a:ea typeface="Arial"/>
                <a:cs typeface="Arial"/>
                <a:sym typeface="Arial"/>
              </a:rPr>
              <a:t>large</a:t>
            </a:r>
            <a:r>
              <a:rPr lang="en-MY" sz="2000" b="0" i="0" u="none" strike="noStrike" cap="none">
                <a:solidFill>
                  <a:schemeClr val="dk1"/>
                </a:solidFill>
                <a:latin typeface="Arial"/>
                <a:ea typeface="Arial"/>
                <a:cs typeface="Arial"/>
                <a:sym typeface="Arial"/>
              </a:rPr>
              <a:t> and </a:t>
            </a:r>
            <a:r>
              <a:rPr lang="en-MY" sz="2000" b="1" i="0" u="none" strike="noStrike" cap="none">
                <a:solidFill>
                  <a:schemeClr val="dk1"/>
                </a:solidFill>
                <a:latin typeface="Arial"/>
                <a:ea typeface="Arial"/>
                <a:cs typeface="Arial"/>
                <a:sym typeface="Arial"/>
              </a:rPr>
              <a:t>medium</a:t>
            </a:r>
            <a:r>
              <a:rPr lang="en-MY" sz="2000" b="0" i="0" u="none" strike="noStrike" cap="none">
                <a:solidFill>
                  <a:schemeClr val="dk1"/>
                </a:solidFill>
                <a:latin typeface="Arial"/>
                <a:ea typeface="Arial"/>
                <a:cs typeface="Arial"/>
                <a:sym typeface="Arial"/>
              </a:rPr>
              <a:t>.</a:t>
            </a:r>
            <a:endParaRPr sz="1400" b="0" i="0" u="none" strike="noStrike" cap="none">
              <a:solidFill>
                <a:srgbClr val="000000"/>
              </a:solidFill>
              <a:latin typeface="Arial"/>
              <a:ea typeface="Arial"/>
              <a:cs typeface="Arial"/>
              <a:sym typeface="Arial"/>
            </a:endParaRPr>
          </a:p>
          <a:p>
            <a:pPr marL="342900" marR="0" lvl="0" indent="-215900" algn="just" rtl="0">
              <a:lnSpc>
                <a:spcPct val="100000"/>
              </a:lnSpc>
              <a:spcBef>
                <a:spcPts val="0"/>
              </a:spcBef>
              <a:spcAft>
                <a:spcPts val="0"/>
              </a:spcAft>
              <a:buClr>
                <a:schemeClr val="dk1"/>
              </a:buClr>
              <a:buSzPts val="2000"/>
              <a:buFont typeface="Arial"/>
              <a:buNone/>
            </a:pPr>
            <a:endParaRPr sz="2000" b="0" i="0" u="none" strike="noStrike" cap="none">
              <a:solidFill>
                <a:schemeClr val="dk1"/>
              </a:solidFill>
              <a:latin typeface="Arial"/>
              <a:ea typeface="Arial"/>
              <a:cs typeface="Arial"/>
              <a:sym typeface="Arial"/>
            </a:endParaRPr>
          </a:p>
          <a:p>
            <a:pPr marL="342900" marR="0" lvl="0" indent="-342900" algn="just" rtl="0">
              <a:lnSpc>
                <a:spcPct val="107000"/>
              </a:lnSpc>
              <a:spcBef>
                <a:spcPts val="0"/>
              </a:spcBef>
              <a:spcAft>
                <a:spcPts val="0"/>
              </a:spcAft>
              <a:buClr>
                <a:schemeClr val="dk1"/>
              </a:buClr>
              <a:buSzPts val="2000"/>
              <a:buFont typeface="Arial"/>
              <a:buChar char="•"/>
            </a:pPr>
            <a:r>
              <a:rPr lang="en-MY" sz="2000" b="1" i="0" u="none" strike="noStrike" cap="none">
                <a:solidFill>
                  <a:schemeClr val="dk1"/>
                </a:solidFill>
                <a:latin typeface="Arial"/>
                <a:ea typeface="Arial"/>
                <a:cs typeface="Arial"/>
                <a:sym typeface="Arial"/>
              </a:rPr>
              <a:t>Small size project:</a:t>
            </a:r>
            <a:endParaRPr sz="1400" b="0" i="0" u="none" strike="noStrike" cap="none">
              <a:solidFill>
                <a:srgbClr val="000000"/>
              </a:solidFill>
              <a:latin typeface="Arial"/>
              <a:ea typeface="Arial"/>
              <a:cs typeface="Arial"/>
              <a:sym typeface="Arial"/>
            </a:endParaRPr>
          </a:p>
          <a:p>
            <a:pPr marL="800100" marR="0" lvl="1" indent="-342900" algn="just" rtl="0">
              <a:lnSpc>
                <a:spcPct val="107000"/>
              </a:lnSpc>
              <a:spcBef>
                <a:spcPts val="0"/>
              </a:spcBef>
              <a:spcAft>
                <a:spcPts val="0"/>
              </a:spcAft>
              <a:buClr>
                <a:schemeClr val="dk1"/>
              </a:buClr>
              <a:buSzPts val="2000"/>
              <a:buFont typeface="Arial"/>
              <a:buChar char="•"/>
            </a:pPr>
            <a:r>
              <a:rPr lang="en-MY" sz="2000" b="0" i="0" u="none" strike="noStrike" cap="none">
                <a:solidFill>
                  <a:schemeClr val="dk1"/>
                </a:solidFill>
                <a:latin typeface="Arial"/>
                <a:ea typeface="Arial"/>
                <a:cs typeface="Arial"/>
                <a:sym typeface="Arial"/>
              </a:rPr>
              <a:t>Five or fewer total technical staff and the project duration is less than 3 months.</a:t>
            </a:r>
            <a:endParaRPr sz="1400" b="0" i="0" u="none" strike="noStrike" cap="none">
              <a:solidFill>
                <a:srgbClr val="000000"/>
              </a:solidFill>
              <a:latin typeface="Arial"/>
              <a:ea typeface="Arial"/>
              <a:cs typeface="Arial"/>
              <a:sym typeface="Arial"/>
            </a:endParaRPr>
          </a:p>
          <a:p>
            <a:pPr marL="800100" marR="0" lvl="1" indent="-342900" algn="just" rtl="0">
              <a:lnSpc>
                <a:spcPct val="107000"/>
              </a:lnSpc>
              <a:spcBef>
                <a:spcPts val="0"/>
              </a:spcBef>
              <a:spcAft>
                <a:spcPts val="0"/>
              </a:spcAft>
              <a:buClr>
                <a:schemeClr val="dk1"/>
              </a:buClr>
              <a:buSzPts val="2000"/>
              <a:buFont typeface="Arial"/>
              <a:buChar char="•"/>
            </a:pPr>
            <a:r>
              <a:rPr lang="en-MY" sz="2000" b="0" i="0" u="none" strike="noStrike" cap="none">
                <a:solidFill>
                  <a:schemeClr val="dk1"/>
                </a:solidFill>
                <a:latin typeface="Arial"/>
                <a:ea typeface="Arial"/>
                <a:cs typeface="Arial"/>
                <a:sym typeface="Arial"/>
              </a:rPr>
              <a:t>Typically, can’t use the statistically oriented techniques that larger projects can use because variations in individual productivity drown out other factors.</a:t>
            </a:r>
            <a:endParaRPr sz="1400" b="0" i="0" u="none" strike="noStrike" cap="none">
              <a:solidFill>
                <a:srgbClr val="000000"/>
              </a:solidFill>
              <a:latin typeface="Arial"/>
              <a:ea typeface="Arial"/>
              <a:cs typeface="Arial"/>
              <a:sym typeface="Arial"/>
            </a:endParaRPr>
          </a:p>
          <a:p>
            <a:pPr marL="800100" marR="0" lvl="1" indent="-342900" algn="just" rtl="0">
              <a:lnSpc>
                <a:spcPct val="107000"/>
              </a:lnSpc>
              <a:spcBef>
                <a:spcPts val="0"/>
              </a:spcBef>
              <a:spcAft>
                <a:spcPts val="0"/>
              </a:spcAft>
              <a:buClr>
                <a:schemeClr val="dk1"/>
              </a:buClr>
              <a:buSzPts val="2000"/>
              <a:buFont typeface="Arial"/>
              <a:buChar char="•"/>
            </a:pPr>
            <a:r>
              <a:rPr lang="en-MY" sz="2000" b="0" i="0" u="none" strike="noStrike" cap="none">
                <a:solidFill>
                  <a:schemeClr val="dk1"/>
                </a:solidFill>
                <a:latin typeface="Arial"/>
                <a:ea typeface="Arial"/>
                <a:cs typeface="Arial"/>
                <a:sym typeface="Arial"/>
              </a:rPr>
              <a:t>More likely to use a flat staffing model (using the same number of people on the team for the entire project), which invalidates some of the more algorithmically oriented large-project estimation approaches.</a:t>
            </a:r>
            <a:endParaRPr sz="1400" b="0" i="0" u="none" strike="noStrike" cap="none">
              <a:solidFill>
                <a:srgbClr val="000000"/>
              </a:solidFill>
              <a:latin typeface="Arial"/>
              <a:ea typeface="Arial"/>
              <a:cs typeface="Arial"/>
              <a:sym typeface="Arial"/>
            </a:endParaRPr>
          </a:p>
          <a:p>
            <a:pPr marL="800100" marR="0" lvl="1" indent="-342900" algn="just" rtl="0">
              <a:lnSpc>
                <a:spcPct val="107000"/>
              </a:lnSpc>
              <a:spcBef>
                <a:spcPts val="0"/>
              </a:spcBef>
              <a:spcAft>
                <a:spcPts val="0"/>
              </a:spcAft>
              <a:buClr>
                <a:schemeClr val="dk1"/>
              </a:buClr>
              <a:buSzPts val="2000"/>
              <a:buFont typeface="Arial"/>
              <a:buChar char="•"/>
            </a:pPr>
            <a:r>
              <a:rPr lang="en-MY" sz="2000" b="0" i="0" u="none" strike="noStrike" cap="none">
                <a:solidFill>
                  <a:schemeClr val="dk1"/>
                </a:solidFill>
                <a:latin typeface="Arial"/>
                <a:ea typeface="Arial"/>
                <a:cs typeface="Arial"/>
                <a:sym typeface="Arial"/>
              </a:rPr>
              <a:t>The software project has low complexity.</a:t>
            </a:r>
            <a:endParaRPr sz="1400" b="0" i="0" u="none" strike="noStrike" cap="none">
              <a:solidFill>
                <a:srgbClr val="000000"/>
              </a:solidFill>
              <a:latin typeface="Arial"/>
              <a:ea typeface="Arial"/>
              <a:cs typeface="Arial"/>
              <a:sym typeface="Arial"/>
            </a:endParaRPr>
          </a:p>
          <a:p>
            <a:pPr marL="800100" marR="0" lvl="1" indent="-342900" algn="just" rtl="0">
              <a:lnSpc>
                <a:spcPct val="107000"/>
              </a:lnSpc>
              <a:spcBef>
                <a:spcPts val="0"/>
              </a:spcBef>
              <a:spcAft>
                <a:spcPts val="0"/>
              </a:spcAft>
              <a:buClr>
                <a:schemeClr val="dk1"/>
              </a:buClr>
              <a:buSzPts val="2000"/>
              <a:buFont typeface="Arial"/>
              <a:buChar char="•"/>
            </a:pPr>
            <a:r>
              <a:rPr lang="en-MY" sz="2000" b="0" i="0" u="none" strike="noStrike" cap="none">
                <a:solidFill>
                  <a:schemeClr val="dk1"/>
                </a:solidFill>
                <a:latin typeface="Arial"/>
                <a:ea typeface="Arial"/>
                <a:cs typeface="Arial"/>
                <a:sym typeface="Arial"/>
              </a:rPr>
              <a:t>Low cost</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sp>
        <p:nvSpPr>
          <p:cNvPr id="226" name="Google Shape;226;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000"/>
              <a:buFont typeface="Calibri"/>
              <a:buNone/>
            </a:pPr>
            <a:r>
              <a:rPr lang="en-MY"/>
              <a:t>INTRODUCTION</a:t>
            </a:r>
            <a:endParaRPr/>
          </a:p>
        </p:txBody>
      </p:sp>
      <p:sp>
        <p:nvSpPr>
          <p:cNvPr id="227" name="Google Shape;227;p6"/>
          <p:cNvSpPr txBox="1"/>
          <p:nvPr/>
        </p:nvSpPr>
        <p:spPr>
          <a:xfrm>
            <a:off x="979448" y="1549746"/>
            <a:ext cx="10233103" cy="4767524"/>
          </a:xfrm>
          <a:prstGeom prst="rect">
            <a:avLst/>
          </a:prstGeom>
          <a:noFill/>
          <a:ln>
            <a:noFill/>
          </a:ln>
        </p:spPr>
        <p:txBody>
          <a:bodyPr spcFirstLastPara="1" wrap="square" lIns="0" tIns="45700" rIns="0" bIns="45700" anchor="t" anchorCtr="0">
            <a:spAutoFit/>
          </a:bodyPr>
          <a:lstStyle/>
          <a:p>
            <a:pPr marL="171450" marR="0" lvl="0" indent="-171450" algn="just" rtl="0">
              <a:lnSpc>
                <a:spcPct val="107000"/>
              </a:lnSpc>
              <a:spcBef>
                <a:spcPts val="0"/>
              </a:spcBef>
              <a:spcAft>
                <a:spcPts val="0"/>
              </a:spcAft>
              <a:buClr>
                <a:schemeClr val="dk1"/>
              </a:buClr>
              <a:buSzPts val="1600"/>
              <a:buFont typeface="Arial"/>
              <a:buChar char="•"/>
            </a:pPr>
            <a:r>
              <a:rPr lang="en-MY" sz="1600" b="1" i="0" u="none" strike="noStrike" cap="none">
                <a:solidFill>
                  <a:schemeClr val="dk1"/>
                </a:solidFill>
                <a:latin typeface="Arial"/>
                <a:ea typeface="Arial"/>
                <a:cs typeface="Arial"/>
                <a:sym typeface="Arial"/>
              </a:rPr>
              <a:t>Large size project:</a:t>
            </a:r>
            <a:endParaRPr sz="1400" b="0" i="0" u="none" strike="noStrike" cap="none">
              <a:solidFill>
                <a:srgbClr val="000000"/>
              </a:solidFill>
              <a:latin typeface="Arial"/>
              <a:ea typeface="Arial"/>
              <a:cs typeface="Arial"/>
              <a:sym typeface="Arial"/>
            </a:endParaRPr>
          </a:p>
          <a:p>
            <a:pPr marL="628650" marR="0" lvl="1" indent="-171450" algn="just" rtl="0">
              <a:lnSpc>
                <a:spcPct val="107000"/>
              </a:lnSpc>
              <a:spcBef>
                <a:spcPts val="0"/>
              </a:spcBef>
              <a:spcAft>
                <a:spcPts val="0"/>
              </a:spcAft>
              <a:buClr>
                <a:schemeClr val="dk1"/>
              </a:buClr>
              <a:buSzPts val="1600"/>
              <a:buFont typeface="Arial"/>
              <a:buChar char="•"/>
            </a:pPr>
            <a:r>
              <a:rPr lang="en-MY" sz="1600" b="0" i="0" u="none" strike="noStrike" cap="none">
                <a:solidFill>
                  <a:schemeClr val="dk1"/>
                </a:solidFill>
                <a:latin typeface="Arial"/>
                <a:ea typeface="Arial"/>
                <a:cs typeface="Arial"/>
                <a:sym typeface="Arial"/>
              </a:rPr>
              <a:t>Team of approximately 25 people or more that lasts 6 to 12 months or more.</a:t>
            </a:r>
            <a:endParaRPr sz="1400" b="0" i="0" u="none" strike="noStrike" cap="none">
              <a:solidFill>
                <a:srgbClr val="000000"/>
              </a:solidFill>
              <a:latin typeface="Arial"/>
              <a:ea typeface="Arial"/>
              <a:cs typeface="Arial"/>
              <a:sym typeface="Arial"/>
            </a:endParaRPr>
          </a:p>
          <a:p>
            <a:pPr marL="628650" marR="0" lvl="1" indent="-171450" algn="just" rtl="0">
              <a:lnSpc>
                <a:spcPct val="107000"/>
              </a:lnSpc>
              <a:spcBef>
                <a:spcPts val="0"/>
              </a:spcBef>
              <a:spcAft>
                <a:spcPts val="0"/>
              </a:spcAft>
              <a:buClr>
                <a:schemeClr val="dk1"/>
              </a:buClr>
              <a:buSzPts val="1600"/>
              <a:buFont typeface="Arial"/>
              <a:buChar char="•"/>
            </a:pPr>
            <a:r>
              <a:rPr lang="en-MY" sz="1600" b="0" i="0" u="none" strike="noStrike" cap="none">
                <a:solidFill>
                  <a:schemeClr val="dk1"/>
                </a:solidFill>
                <a:latin typeface="Arial"/>
                <a:ea typeface="Arial"/>
                <a:cs typeface="Arial"/>
                <a:sym typeface="Arial"/>
              </a:rPr>
              <a:t>Requires organized task allocations and coordinated workflow due to large team members.</a:t>
            </a:r>
            <a:endParaRPr sz="1400" b="0" i="0" u="none" strike="noStrike" cap="none">
              <a:solidFill>
                <a:srgbClr val="000000"/>
              </a:solidFill>
              <a:latin typeface="Arial"/>
              <a:ea typeface="Arial"/>
              <a:cs typeface="Arial"/>
              <a:sym typeface="Arial"/>
            </a:endParaRPr>
          </a:p>
          <a:p>
            <a:pPr marL="628650" marR="0" lvl="1" indent="-171450" algn="just" rtl="0">
              <a:lnSpc>
                <a:spcPct val="107000"/>
              </a:lnSpc>
              <a:spcBef>
                <a:spcPts val="0"/>
              </a:spcBef>
              <a:spcAft>
                <a:spcPts val="0"/>
              </a:spcAft>
              <a:buClr>
                <a:schemeClr val="dk1"/>
              </a:buClr>
              <a:buSzPts val="1600"/>
              <a:buFont typeface="Arial"/>
              <a:buChar char="•"/>
            </a:pPr>
            <a:r>
              <a:rPr lang="en-MY" sz="1600" b="0" i="0" u="none" strike="noStrike" cap="none">
                <a:solidFill>
                  <a:schemeClr val="dk1"/>
                </a:solidFill>
                <a:latin typeface="Arial"/>
                <a:ea typeface="Arial"/>
                <a:cs typeface="Arial"/>
                <a:sym typeface="Arial"/>
              </a:rPr>
              <a:t>Different members have specific roles and responsibilities. Sometimes assigned to different team or department.</a:t>
            </a:r>
            <a:endParaRPr sz="1400" b="0" i="0" u="none" strike="noStrike" cap="none">
              <a:solidFill>
                <a:srgbClr val="000000"/>
              </a:solidFill>
              <a:latin typeface="Arial"/>
              <a:ea typeface="Arial"/>
              <a:cs typeface="Arial"/>
              <a:sym typeface="Arial"/>
            </a:endParaRPr>
          </a:p>
          <a:p>
            <a:pPr marL="628650" marR="0" lvl="1" indent="-171450" algn="just" rtl="0">
              <a:lnSpc>
                <a:spcPct val="107000"/>
              </a:lnSpc>
              <a:spcBef>
                <a:spcPts val="0"/>
              </a:spcBef>
              <a:spcAft>
                <a:spcPts val="0"/>
              </a:spcAft>
              <a:buClr>
                <a:schemeClr val="dk1"/>
              </a:buClr>
              <a:buSzPts val="1600"/>
              <a:buFont typeface="Arial"/>
              <a:buChar char="•"/>
            </a:pPr>
            <a:r>
              <a:rPr lang="en-MY" sz="1600" b="0" i="0" u="none" strike="noStrike" cap="none">
                <a:solidFill>
                  <a:schemeClr val="dk1"/>
                </a:solidFill>
                <a:latin typeface="Arial"/>
                <a:ea typeface="Arial"/>
                <a:cs typeface="Arial"/>
                <a:sym typeface="Arial"/>
              </a:rPr>
              <a:t>The software project has high complexity.</a:t>
            </a:r>
            <a:endParaRPr sz="1400" b="0" i="0" u="none" strike="noStrike" cap="none">
              <a:solidFill>
                <a:srgbClr val="000000"/>
              </a:solidFill>
              <a:latin typeface="Arial"/>
              <a:ea typeface="Arial"/>
              <a:cs typeface="Arial"/>
              <a:sym typeface="Arial"/>
            </a:endParaRPr>
          </a:p>
          <a:p>
            <a:pPr marL="628650" marR="0" lvl="1" indent="-171450" algn="just" rtl="0">
              <a:lnSpc>
                <a:spcPct val="107000"/>
              </a:lnSpc>
              <a:spcBef>
                <a:spcPts val="0"/>
              </a:spcBef>
              <a:spcAft>
                <a:spcPts val="0"/>
              </a:spcAft>
              <a:buClr>
                <a:schemeClr val="dk1"/>
              </a:buClr>
              <a:buSzPts val="1600"/>
              <a:buFont typeface="Arial"/>
              <a:buChar char="•"/>
            </a:pPr>
            <a:r>
              <a:rPr lang="en-MY" sz="1600" b="0" i="0" u="none" strike="noStrike" cap="none">
                <a:solidFill>
                  <a:schemeClr val="dk1"/>
                </a:solidFill>
                <a:latin typeface="Arial"/>
                <a:ea typeface="Arial"/>
                <a:cs typeface="Arial"/>
                <a:sym typeface="Arial"/>
              </a:rPr>
              <a:t>High cost</a:t>
            </a:r>
            <a:endParaRPr sz="1400" b="0" i="0" u="none" strike="noStrike" cap="none">
              <a:solidFill>
                <a:srgbClr val="000000"/>
              </a:solidFill>
              <a:latin typeface="Arial"/>
              <a:ea typeface="Arial"/>
              <a:cs typeface="Arial"/>
              <a:sym typeface="Arial"/>
            </a:endParaRPr>
          </a:p>
          <a:p>
            <a:pPr marL="457200" marR="0" lvl="1" indent="0" algn="just" rtl="0">
              <a:lnSpc>
                <a:spcPct val="107000"/>
              </a:lnSpc>
              <a:spcBef>
                <a:spcPts val="0"/>
              </a:spcBef>
              <a:spcAft>
                <a:spcPts val="0"/>
              </a:spcAft>
              <a:buClr>
                <a:srgbClr val="000000"/>
              </a:buClr>
              <a:buSzPts val="1600"/>
              <a:buFont typeface="Arial"/>
              <a:buNone/>
            </a:pPr>
            <a:endParaRPr sz="1600" b="0" i="0" u="none" strike="noStrike" cap="none">
              <a:solidFill>
                <a:schemeClr val="dk1"/>
              </a:solidFill>
              <a:latin typeface="Arial"/>
              <a:ea typeface="Arial"/>
              <a:cs typeface="Arial"/>
              <a:sym typeface="Arial"/>
            </a:endParaRPr>
          </a:p>
          <a:p>
            <a:pPr marL="171450" marR="0" lvl="0" indent="-171450" algn="just" rtl="0">
              <a:lnSpc>
                <a:spcPct val="107000"/>
              </a:lnSpc>
              <a:spcBef>
                <a:spcPts val="0"/>
              </a:spcBef>
              <a:spcAft>
                <a:spcPts val="0"/>
              </a:spcAft>
              <a:buClr>
                <a:schemeClr val="dk1"/>
              </a:buClr>
              <a:buSzPts val="1600"/>
              <a:buFont typeface="Arial"/>
              <a:buChar char="•"/>
            </a:pPr>
            <a:r>
              <a:rPr lang="en-MY" sz="1600" b="1" i="0" u="none" strike="noStrike" cap="none">
                <a:solidFill>
                  <a:schemeClr val="dk1"/>
                </a:solidFill>
                <a:latin typeface="Arial"/>
                <a:ea typeface="Arial"/>
                <a:cs typeface="Arial"/>
                <a:sym typeface="Arial"/>
              </a:rPr>
              <a:t>Medium size project:</a:t>
            </a:r>
            <a:endParaRPr sz="1400" b="0" i="0" u="none" strike="noStrike" cap="none">
              <a:solidFill>
                <a:srgbClr val="000000"/>
              </a:solidFill>
              <a:latin typeface="Arial"/>
              <a:ea typeface="Arial"/>
              <a:cs typeface="Arial"/>
              <a:sym typeface="Arial"/>
            </a:endParaRPr>
          </a:p>
          <a:p>
            <a:pPr marL="628650" marR="0" lvl="1" indent="-171450" algn="just" rtl="0">
              <a:lnSpc>
                <a:spcPct val="107000"/>
              </a:lnSpc>
              <a:spcBef>
                <a:spcPts val="0"/>
              </a:spcBef>
              <a:spcAft>
                <a:spcPts val="0"/>
              </a:spcAft>
              <a:buClr>
                <a:schemeClr val="dk1"/>
              </a:buClr>
              <a:buSzPts val="1600"/>
              <a:buFont typeface="Arial"/>
              <a:buChar char="•"/>
            </a:pPr>
            <a:r>
              <a:rPr lang="en-MY" sz="1600" b="0" i="0" u="none" strike="noStrike" cap="none">
                <a:solidFill>
                  <a:schemeClr val="dk1"/>
                </a:solidFill>
                <a:latin typeface="Arial"/>
                <a:ea typeface="Arial"/>
                <a:cs typeface="Arial"/>
                <a:sym typeface="Arial"/>
              </a:rPr>
              <a:t>Team of approximately 5 to 25 people that last 3 to 12 months.</a:t>
            </a:r>
            <a:endParaRPr sz="1400" b="0" i="0" u="none" strike="noStrike" cap="none">
              <a:solidFill>
                <a:srgbClr val="000000"/>
              </a:solidFill>
              <a:latin typeface="Arial"/>
              <a:ea typeface="Arial"/>
              <a:cs typeface="Arial"/>
              <a:sym typeface="Arial"/>
            </a:endParaRPr>
          </a:p>
          <a:p>
            <a:pPr marL="628650" marR="0" lvl="1" indent="-171450" algn="just" rtl="0">
              <a:lnSpc>
                <a:spcPct val="107000"/>
              </a:lnSpc>
              <a:spcBef>
                <a:spcPts val="0"/>
              </a:spcBef>
              <a:spcAft>
                <a:spcPts val="0"/>
              </a:spcAft>
              <a:buClr>
                <a:schemeClr val="dk1"/>
              </a:buClr>
              <a:buSzPts val="1600"/>
              <a:buFont typeface="Arial"/>
              <a:buChar char="•"/>
            </a:pPr>
            <a:r>
              <a:rPr lang="en-MY" sz="1600" b="0" i="0" u="none" strike="noStrike" cap="none">
                <a:solidFill>
                  <a:schemeClr val="dk1"/>
                </a:solidFill>
                <a:latin typeface="Arial"/>
                <a:ea typeface="Arial"/>
                <a:cs typeface="Arial"/>
                <a:sym typeface="Arial"/>
              </a:rPr>
              <a:t>Have the advantage of being able to use virtually all the estimation techniques that large projects can use and several of the small-project techniques, too.</a:t>
            </a:r>
            <a:endParaRPr sz="1400" b="0" i="0" u="none" strike="noStrike" cap="none">
              <a:solidFill>
                <a:srgbClr val="000000"/>
              </a:solidFill>
              <a:latin typeface="Arial"/>
              <a:ea typeface="Arial"/>
              <a:cs typeface="Arial"/>
              <a:sym typeface="Arial"/>
            </a:endParaRPr>
          </a:p>
          <a:p>
            <a:pPr marL="628650" marR="0" lvl="1" indent="-171450" algn="just" rtl="0">
              <a:lnSpc>
                <a:spcPct val="107000"/>
              </a:lnSpc>
              <a:spcBef>
                <a:spcPts val="0"/>
              </a:spcBef>
              <a:spcAft>
                <a:spcPts val="0"/>
              </a:spcAft>
              <a:buClr>
                <a:schemeClr val="dk1"/>
              </a:buClr>
              <a:buSzPts val="1600"/>
              <a:buFont typeface="Arial"/>
              <a:buChar char="•"/>
            </a:pPr>
            <a:r>
              <a:rPr lang="en-MY" sz="1600" b="0" i="0" u="none" strike="noStrike" cap="none">
                <a:solidFill>
                  <a:schemeClr val="dk1"/>
                </a:solidFill>
                <a:latin typeface="Arial"/>
                <a:ea typeface="Arial"/>
                <a:cs typeface="Arial"/>
                <a:sym typeface="Arial"/>
              </a:rPr>
              <a:t>The software project has medium complexity but can be scaled to low or high depending on the project characteristic and complexity.</a:t>
            </a:r>
            <a:endParaRPr sz="1400" b="0" i="0" u="none" strike="noStrike" cap="none">
              <a:solidFill>
                <a:srgbClr val="000000"/>
              </a:solidFill>
              <a:latin typeface="Arial"/>
              <a:ea typeface="Arial"/>
              <a:cs typeface="Arial"/>
              <a:sym typeface="Arial"/>
            </a:endParaRPr>
          </a:p>
          <a:p>
            <a:pPr marL="628650" marR="0" lvl="1" indent="-171450" algn="just" rtl="0">
              <a:lnSpc>
                <a:spcPct val="107000"/>
              </a:lnSpc>
              <a:spcBef>
                <a:spcPts val="0"/>
              </a:spcBef>
              <a:spcAft>
                <a:spcPts val="0"/>
              </a:spcAft>
              <a:buClr>
                <a:schemeClr val="dk1"/>
              </a:buClr>
              <a:buSzPts val="1600"/>
              <a:buFont typeface="Arial"/>
              <a:buChar char="•"/>
            </a:pPr>
            <a:r>
              <a:rPr lang="en-MY" sz="1600" b="0" i="0" u="none" strike="noStrike" cap="none">
                <a:solidFill>
                  <a:schemeClr val="dk1"/>
                </a:solidFill>
                <a:latin typeface="Arial"/>
                <a:ea typeface="Arial"/>
                <a:cs typeface="Arial"/>
                <a:sym typeface="Arial"/>
              </a:rPr>
              <a:t>Cost depends on the project size scaling.</a:t>
            </a:r>
            <a:endParaRPr sz="1600" b="0" i="0" u="none" strike="noStrike" cap="none">
              <a:solidFill>
                <a:schemeClr val="dk1"/>
              </a:solidFill>
              <a:latin typeface="Arial"/>
              <a:ea typeface="Arial"/>
              <a:cs typeface="Arial"/>
              <a:sym typeface="Arial"/>
            </a:endParaRPr>
          </a:p>
          <a:p>
            <a:pPr marL="457200" marR="0" lvl="1" indent="0" algn="just" rtl="0">
              <a:lnSpc>
                <a:spcPct val="107000"/>
              </a:lnSpc>
              <a:spcBef>
                <a:spcPts val="800"/>
              </a:spcBef>
              <a:spcAft>
                <a:spcPts val="0"/>
              </a:spcAft>
              <a:buClr>
                <a:srgbClr val="000000"/>
              </a:buClr>
              <a:buSzPts val="1600"/>
              <a:buFont typeface="Arial"/>
              <a:buNone/>
            </a:pPr>
            <a:endParaRPr sz="1600" b="0" i="0" u="none" strike="noStrike" cap="none">
              <a:solidFill>
                <a:schemeClr val="dk1"/>
              </a:solidFill>
              <a:latin typeface="Arial"/>
              <a:ea typeface="Arial"/>
              <a:cs typeface="Arial"/>
              <a:sym typeface="Arial"/>
            </a:endParaRPr>
          </a:p>
          <a:p>
            <a:pPr marL="285750" marR="0" lvl="0" indent="-285750" algn="just" rtl="0">
              <a:lnSpc>
                <a:spcPct val="107000"/>
              </a:lnSpc>
              <a:spcBef>
                <a:spcPts val="800"/>
              </a:spcBef>
              <a:spcAft>
                <a:spcPts val="0"/>
              </a:spcAft>
              <a:buClr>
                <a:schemeClr val="dk1"/>
              </a:buClr>
              <a:buSzPts val="1600"/>
              <a:buFont typeface="Arial"/>
              <a:buChar char="•"/>
            </a:pPr>
            <a:r>
              <a:rPr lang="en-MY" sz="1600" b="0" i="0" u="none" strike="noStrike" cap="none">
                <a:solidFill>
                  <a:schemeClr val="dk1"/>
                </a:solidFill>
                <a:latin typeface="Arial"/>
                <a:ea typeface="Arial"/>
                <a:cs typeface="Arial"/>
                <a:sym typeface="Arial"/>
              </a:rPr>
              <a:t>Thus, estimating the right size of the software project is </a:t>
            </a:r>
            <a:r>
              <a:rPr lang="en-MY" sz="1600" b="1" i="0" u="none" strike="noStrike" cap="none">
                <a:solidFill>
                  <a:schemeClr val="dk1"/>
                </a:solidFill>
                <a:latin typeface="Arial"/>
                <a:ea typeface="Arial"/>
                <a:cs typeface="Arial"/>
                <a:sym typeface="Arial"/>
              </a:rPr>
              <a:t>necessary</a:t>
            </a:r>
            <a:r>
              <a:rPr lang="en-MY" sz="1600" b="0" i="0" u="none" strike="noStrike" cap="none">
                <a:solidFill>
                  <a:schemeClr val="dk1"/>
                </a:solidFill>
                <a:latin typeface="Arial"/>
                <a:ea typeface="Arial"/>
                <a:cs typeface="Arial"/>
                <a:sym typeface="Arial"/>
              </a:rPr>
              <a:t>.</a:t>
            </a:r>
            <a:endParaRPr sz="1600" b="0" i="0" u="none" strike="noStrike" cap="none">
              <a:solidFill>
                <a:schemeClr val="dk1"/>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32" name="Google Shape;232;p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000"/>
              <a:buFont typeface="Calibri"/>
              <a:buNone/>
            </a:pPr>
            <a:r>
              <a:rPr lang="en-MY" sz="4000"/>
              <a:t>ADVANTAGES</a:t>
            </a:r>
            <a:endParaRPr/>
          </a:p>
        </p:txBody>
      </p:sp>
      <p:sp>
        <p:nvSpPr>
          <p:cNvPr id="233" name="Google Shape;233;p9"/>
          <p:cNvSpPr txBox="1"/>
          <p:nvPr/>
        </p:nvSpPr>
        <p:spPr>
          <a:xfrm>
            <a:off x="979448" y="1549746"/>
            <a:ext cx="10233103" cy="3253070"/>
          </a:xfrm>
          <a:prstGeom prst="rect">
            <a:avLst/>
          </a:prstGeom>
          <a:noFill/>
          <a:ln>
            <a:noFill/>
          </a:ln>
        </p:spPr>
        <p:txBody>
          <a:bodyPr spcFirstLastPara="1" wrap="square" lIns="0" tIns="45700" rIns="0" bIns="45700" anchor="t" anchorCtr="0">
            <a:spAutoFit/>
          </a:bodyPr>
          <a:lstStyle/>
          <a:p>
            <a:pPr marL="342900" marR="0" lvl="0" indent="-342900" algn="just" rtl="0">
              <a:lnSpc>
                <a:spcPct val="107000"/>
              </a:lnSpc>
              <a:spcBef>
                <a:spcPts val="0"/>
              </a:spcBef>
              <a:spcAft>
                <a:spcPts val="0"/>
              </a:spcAft>
              <a:buClr>
                <a:schemeClr val="dk1"/>
              </a:buClr>
              <a:buSzPts val="2800"/>
              <a:buFont typeface="Calibri"/>
              <a:buAutoNum type="arabicPeriod"/>
            </a:pPr>
            <a:r>
              <a:rPr lang="en-MY" sz="2800" b="0" i="0" u="none" strike="noStrike" cap="none">
                <a:solidFill>
                  <a:schemeClr val="dk1"/>
                </a:solidFill>
                <a:latin typeface="Arial"/>
                <a:ea typeface="Arial"/>
                <a:cs typeface="Arial"/>
                <a:sym typeface="Arial"/>
              </a:rPr>
              <a:t>Estimation is closer to the developer’s perspective.</a:t>
            </a:r>
            <a:endParaRPr sz="1400" b="0" i="0" u="none" strike="noStrike" cap="none">
              <a:solidFill>
                <a:srgbClr val="000000"/>
              </a:solidFill>
              <a:latin typeface="Arial"/>
              <a:ea typeface="Arial"/>
              <a:cs typeface="Arial"/>
              <a:sym typeface="Arial"/>
            </a:endParaRPr>
          </a:p>
          <a:p>
            <a:pPr marL="342900" marR="0" lvl="0" indent="-342900" algn="just" rtl="0">
              <a:lnSpc>
                <a:spcPct val="107000"/>
              </a:lnSpc>
              <a:spcBef>
                <a:spcPts val="800"/>
              </a:spcBef>
              <a:spcAft>
                <a:spcPts val="0"/>
              </a:spcAft>
              <a:buClr>
                <a:schemeClr val="dk1"/>
              </a:buClr>
              <a:buSzPts val="2800"/>
              <a:buFont typeface="Calibri"/>
              <a:buAutoNum type="arabicPeriod"/>
            </a:pPr>
            <a:r>
              <a:rPr lang="en-MY" sz="2800" b="0" i="0" u="none" strike="noStrike" cap="none">
                <a:solidFill>
                  <a:schemeClr val="dk1"/>
                </a:solidFill>
                <a:latin typeface="Arial"/>
                <a:ea typeface="Arial"/>
                <a:cs typeface="Arial"/>
                <a:sym typeface="Arial"/>
              </a:rPr>
              <a:t>Commonly used and become a practice in most organizations to manage software project.</a:t>
            </a:r>
            <a:endParaRPr sz="1400" b="0" i="0" u="none" strike="noStrike" cap="none">
              <a:solidFill>
                <a:srgbClr val="000000"/>
              </a:solidFill>
              <a:latin typeface="Arial"/>
              <a:ea typeface="Arial"/>
              <a:cs typeface="Arial"/>
              <a:sym typeface="Arial"/>
            </a:endParaRPr>
          </a:p>
          <a:p>
            <a:pPr marL="342900" marR="0" lvl="0" indent="-342900" algn="just" rtl="0">
              <a:lnSpc>
                <a:spcPct val="107000"/>
              </a:lnSpc>
              <a:spcBef>
                <a:spcPts val="800"/>
              </a:spcBef>
              <a:spcAft>
                <a:spcPts val="0"/>
              </a:spcAft>
              <a:buClr>
                <a:schemeClr val="dk1"/>
              </a:buClr>
              <a:buSzPts val="2800"/>
              <a:buFont typeface="Calibri"/>
              <a:buAutoNum type="arabicPeriod"/>
            </a:pPr>
            <a:r>
              <a:rPr lang="en-MY" sz="2800" b="0" i="0" u="none" strike="noStrike" cap="none">
                <a:solidFill>
                  <a:schemeClr val="dk1"/>
                </a:solidFill>
                <a:latin typeface="Arial"/>
                <a:ea typeface="Arial"/>
                <a:cs typeface="Arial"/>
                <a:sym typeface="Arial"/>
              </a:rPr>
              <a:t>Easily quantified upon project completion.</a:t>
            </a:r>
            <a:endParaRPr sz="1400" b="0" i="0" u="none" strike="noStrike" cap="none">
              <a:solidFill>
                <a:srgbClr val="000000"/>
              </a:solidFill>
              <a:latin typeface="Arial"/>
              <a:ea typeface="Arial"/>
              <a:cs typeface="Arial"/>
              <a:sym typeface="Arial"/>
            </a:endParaRPr>
          </a:p>
          <a:p>
            <a:pPr marL="342900" marR="0" lvl="0" indent="-342900" algn="just" rtl="0">
              <a:lnSpc>
                <a:spcPct val="107000"/>
              </a:lnSpc>
              <a:spcBef>
                <a:spcPts val="800"/>
              </a:spcBef>
              <a:spcAft>
                <a:spcPts val="0"/>
              </a:spcAft>
              <a:buClr>
                <a:schemeClr val="dk1"/>
              </a:buClr>
              <a:buSzPts val="2800"/>
              <a:buFont typeface="Calibri"/>
              <a:buAutoNum type="arabicPeriod"/>
            </a:pPr>
            <a:r>
              <a:rPr lang="en-MY" sz="2800" b="0" i="0" u="none" strike="noStrike" cap="none">
                <a:solidFill>
                  <a:schemeClr val="dk1"/>
                </a:solidFill>
                <a:latin typeface="Arial"/>
                <a:ea typeface="Arial"/>
                <a:cs typeface="Arial"/>
                <a:sym typeface="Arial"/>
              </a:rPr>
              <a:t>Supports better decision-making in software development.</a:t>
            </a:r>
            <a:endParaRPr sz="1400" b="0" i="0" u="none" strike="noStrike" cap="none">
              <a:solidFill>
                <a:srgbClr val="000000"/>
              </a:solidFill>
              <a:latin typeface="Arial"/>
              <a:ea typeface="Arial"/>
              <a:cs typeface="Arial"/>
              <a:sym typeface="Arial"/>
            </a:endParaRPr>
          </a:p>
          <a:p>
            <a:pPr marL="342900" marR="0" lvl="0" indent="-342900" algn="just" rtl="0">
              <a:lnSpc>
                <a:spcPct val="107000"/>
              </a:lnSpc>
              <a:spcBef>
                <a:spcPts val="800"/>
              </a:spcBef>
              <a:spcAft>
                <a:spcPts val="0"/>
              </a:spcAft>
              <a:buClr>
                <a:schemeClr val="dk1"/>
              </a:buClr>
              <a:buSzPts val="2800"/>
              <a:buFont typeface="Calibri"/>
              <a:buAutoNum type="arabicPeriod"/>
            </a:pPr>
            <a:r>
              <a:rPr lang="en-MY" sz="2800" b="0" i="0" u="none" strike="noStrike" cap="none">
                <a:solidFill>
                  <a:schemeClr val="dk1"/>
                </a:solidFill>
                <a:latin typeface="Arial"/>
                <a:ea typeface="Arial"/>
                <a:cs typeface="Arial"/>
                <a:sym typeface="Arial"/>
              </a:rPr>
              <a:t>Simple to use and implement.</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000"/>
              <a:buFont typeface="Calibri"/>
              <a:buNone/>
            </a:pPr>
            <a:r>
              <a:rPr lang="en-MY" sz="4000"/>
              <a:t>DISADVANTAGES</a:t>
            </a:r>
            <a:endParaRPr/>
          </a:p>
        </p:txBody>
      </p:sp>
      <p:sp>
        <p:nvSpPr>
          <p:cNvPr id="239" name="Google Shape;239;p10"/>
          <p:cNvSpPr txBox="1"/>
          <p:nvPr/>
        </p:nvSpPr>
        <p:spPr>
          <a:xfrm>
            <a:off x="979448" y="1549746"/>
            <a:ext cx="10233103" cy="3611501"/>
          </a:xfrm>
          <a:prstGeom prst="rect">
            <a:avLst/>
          </a:prstGeom>
          <a:noFill/>
          <a:ln>
            <a:noFill/>
          </a:ln>
        </p:spPr>
        <p:txBody>
          <a:bodyPr spcFirstLastPara="1" wrap="square" lIns="0" tIns="45700" rIns="0" bIns="45700" anchor="t" anchorCtr="0">
            <a:spAutoFit/>
          </a:bodyPr>
          <a:lstStyle/>
          <a:p>
            <a:pPr marL="342900" marR="0" lvl="0" indent="-342900" algn="just" rtl="0">
              <a:lnSpc>
                <a:spcPct val="107000"/>
              </a:lnSpc>
              <a:spcBef>
                <a:spcPts val="0"/>
              </a:spcBef>
              <a:spcAft>
                <a:spcPts val="0"/>
              </a:spcAft>
              <a:buClr>
                <a:schemeClr val="dk1"/>
              </a:buClr>
              <a:buSzPts val="2800"/>
              <a:buFont typeface="Calibri"/>
              <a:buAutoNum type="arabicPeriod"/>
            </a:pPr>
            <a:r>
              <a:rPr lang="en-MY" sz="2800" b="0" i="0" u="none" strike="noStrike" cap="none">
                <a:solidFill>
                  <a:schemeClr val="dk1"/>
                </a:solidFill>
                <a:latin typeface="Arial"/>
                <a:ea typeface="Arial"/>
                <a:cs typeface="Arial"/>
                <a:sym typeface="Arial"/>
              </a:rPr>
              <a:t>Different programming languages contain a different number of lines and complexity.</a:t>
            </a:r>
            <a:endParaRPr sz="1400" b="0" i="0" u="none" strike="noStrike" cap="none">
              <a:solidFill>
                <a:srgbClr val="000000"/>
              </a:solidFill>
              <a:latin typeface="Arial"/>
              <a:ea typeface="Arial"/>
              <a:cs typeface="Arial"/>
              <a:sym typeface="Arial"/>
            </a:endParaRPr>
          </a:p>
          <a:p>
            <a:pPr marL="342900" marR="0" lvl="0" indent="-342900" algn="just" rtl="0">
              <a:lnSpc>
                <a:spcPct val="107000"/>
              </a:lnSpc>
              <a:spcBef>
                <a:spcPts val="800"/>
              </a:spcBef>
              <a:spcAft>
                <a:spcPts val="0"/>
              </a:spcAft>
              <a:buClr>
                <a:schemeClr val="dk1"/>
              </a:buClr>
              <a:buSzPts val="2800"/>
              <a:buFont typeface="Calibri"/>
              <a:buAutoNum type="arabicPeriod"/>
            </a:pPr>
            <a:r>
              <a:rPr lang="en-MY" sz="2800" b="0" i="0" u="none" strike="noStrike" cap="none">
                <a:solidFill>
                  <a:schemeClr val="dk1"/>
                </a:solidFill>
                <a:latin typeface="Arial"/>
                <a:ea typeface="Arial"/>
                <a:cs typeface="Arial"/>
                <a:sym typeface="Arial"/>
              </a:rPr>
              <a:t>No proper industry standard exists for this technique.</a:t>
            </a:r>
            <a:endParaRPr sz="1400" b="0" i="0" u="none" strike="noStrike" cap="none">
              <a:solidFill>
                <a:srgbClr val="000000"/>
              </a:solidFill>
              <a:latin typeface="Arial"/>
              <a:ea typeface="Arial"/>
              <a:cs typeface="Arial"/>
              <a:sym typeface="Arial"/>
            </a:endParaRPr>
          </a:p>
          <a:p>
            <a:pPr marL="342900" marR="0" lvl="0" indent="-342900" algn="just" rtl="0">
              <a:lnSpc>
                <a:spcPct val="107000"/>
              </a:lnSpc>
              <a:spcBef>
                <a:spcPts val="800"/>
              </a:spcBef>
              <a:spcAft>
                <a:spcPts val="0"/>
              </a:spcAft>
              <a:buClr>
                <a:schemeClr val="dk1"/>
              </a:buClr>
              <a:buSzPts val="2800"/>
              <a:buFont typeface="Calibri"/>
              <a:buAutoNum type="arabicPeriod"/>
            </a:pPr>
            <a:r>
              <a:rPr lang="en-MY" sz="2800" b="0" i="0" u="none" strike="noStrike" cap="none">
                <a:solidFill>
                  <a:schemeClr val="dk1"/>
                </a:solidFill>
                <a:latin typeface="Arial"/>
                <a:ea typeface="Arial"/>
                <a:cs typeface="Arial"/>
                <a:sym typeface="Arial"/>
              </a:rPr>
              <a:t>It is difficult to estimate the size using this technique in the early stages of the project.</a:t>
            </a:r>
            <a:endParaRPr sz="1400" b="0" i="0" u="none" strike="noStrike" cap="none">
              <a:solidFill>
                <a:srgbClr val="000000"/>
              </a:solidFill>
              <a:latin typeface="Arial"/>
              <a:ea typeface="Arial"/>
              <a:cs typeface="Arial"/>
              <a:sym typeface="Arial"/>
            </a:endParaRPr>
          </a:p>
          <a:p>
            <a:pPr marL="342900" marR="0" lvl="0" indent="-342900" algn="just" rtl="0">
              <a:lnSpc>
                <a:spcPct val="107000"/>
              </a:lnSpc>
              <a:spcBef>
                <a:spcPts val="800"/>
              </a:spcBef>
              <a:spcAft>
                <a:spcPts val="0"/>
              </a:spcAft>
              <a:buClr>
                <a:schemeClr val="dk1"/>
              </a:buClr>
              <a:buSzPts val="2800"/>
              <a:buFont typeface="Calibri"/>
              <a:buAutoNum type="arabicPeriod"/>
            </a:pPr>
            <a:r>
              <a:rPr lang="en-MY" sz="2800" b="0" i="0" u="none" strike="noStrike" cap="none">
                <a:solidFill>
                  <a:schemeClr val="dk1"/>
                </a:solidFill>
                <a:latin typeface="Arial"/>
                <a:ea typeface="Arial"/>
                <a:cs typeface="Arial"/>
                <a:sym typeface="Arial"/>
              </a:rPr>
              <a:t>When platforms and languages are different, difficult to normalize.</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sp>
        <p:nvSpPr>
          <p:cNvPr id="244" name="Google Shape;244;p11"/>
          <p:cNvSpPr txBox="1">
            <a:spLocks noGrp="1"/>
          </p:cNvSpPr>
          <p:nvPr>
            <p:ph type="title"/>
          </p:nvPr>
        </p:nvSpPr>
        <p:spPr>
          <a:xfrm>
            <a:off x="838200" y="518464"/>
            <a:ext cx="10515600" cy="5821071"/>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5400"/>
              <a:buFont typeface="Arial"/>
              <a:buNone/>
            </a:pPr>
            <a:br>
              <a:rPr lang="en-MY" sz="4800">
                <a:latin typeface="Arial"/>
                <a:ea typeface="Arial"/>
                <a:cs typeface="Arial"/>
                <a:sym typeface="Arial"/>
              </a:rPr>
            </a:br>
            <a:r>
              <a:rPr lang="en-MY" sz="4800">
                <a:latin typeface="Arial"/>
                <a:ea typeface="Arial"/>
                <a:cs typeface="Arial"/>
                <a:sym typeface="Arial"/>
              </a:rPr>
              <a:t>FUNCTION POINT ANALYSIS (FPA)</a:t>
            </a:r>
            <a:br>
              <a:rPr lang="en-MY" sz="5400">
                <a:latin typeface="Arial"/>
                <a:ea typeface="Arial"/>
                <a:cs typeface="Arial"/>
                <a:sym typeface="Arial"/>
              </a:rPr>
            </a:br>
            <a:r>
              <a:rPr lang="en-MY" sz="4400">
                <a:latin typeface="Arial"/>
                <a:ea typeface="Arial"/>
                <a:cs typeface="Arial"/>
                <a:sym typeface="Arial"/>
              </a:rPr>
              <a:t>(Plan-Driven Estimation)</a:t>
            </a:r>
            <a:endParaRPr sz="54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p21"/>
          <p:cNvSpPr txBox="1"/>
          <p:nvPr/>
        </p:nvSpPr>
        <p:spPr>
          <a:xfrm>
            <a:off x="979448" y="927802"/>
            <a:ext cx="10233103" cy="4113650"/>
          </a:xfrm>
          <a:prstGeom prst="rect">
            <a:avLst/>
          </a:prstGeom>
          <a:noFill/>
          <a:ln>
            <a:noFill/>
          </a:ln>
        </p:spPr>
        <p:txBody>
          <a:bodyPr spcFirstLastPara="1" wrap="square" lIns="0" tIns="45700" rIns="0" bIns="45700" anchor="t" anchorCtr="0">
            <a:spAutoFit/>
          </a:bodyPr>
          <a:lstStyle/>
          <a:p>
            <a:pPr marL="0" marR="0" lvl="0" indent="0" algn="just" rtl="0">
              <a:lnSpc>
                <a:spcPct val="107000"/>
              </a:lnSpc>
              <a:spcBef>
                <a:spcPts val="0"/>
              </a:spcBef>
              <a:spcAft>
                <a:spcPts val="0"/>
              </a:spcAft>
              <a:buClr>
                <a:schemeClr val="dk1"/>
              </a:buClr>
              <a:buSzPts val="2400"/>
              <a:buFont typeface="Arial"/>
              <a:buNone/>
            </a:pPr>
            <a:r>
              <a:rPr lang="en-MY" sz="2400" b="0" i="0" u="none" strike="noStrike" cap="none">
                <a:solidFill>
                  <a:schemeClr val="dk1"/>
                </a:solidFill>
                <a:latin typeface="Arial"/>
                <a:ea typeface="Arial"/>
                <a:cs typeface="Arial"/>
                <a:sym typeface="Arial"/>
              </a:rPr>
              <a:t>What is Function Point Analysis (FPA)?</a:t>
            </a:r>
            <a:endParaRPr sz="1400" b="0" i="0" u="none" strike="noStrike" cap="none">
              <a:solidFill>
                <a:srgbClr val="000000"/>
              </a:solidFill>
              <a:latin typeface="Arial"/>
              <a:ea typeface="Arial"/>
              <a:cs typeface="Arial"/>
              <a:sym typeface="Arial"/>
            </a:endParaRPr>
          </a:p>
          <a:p>
            <a:pPr marL="0" marR="0" lvl="0" indent="0" algn="just" rtl="0">
              <a:lnSpc>
                <a:spcPct val="107000"/>
              </a:lnSpc>
              <a:spcBef>
                <a:spcPts val="800"/>
              </a:spcBef>
              <a:spcAft>
                <a:spcPts val="0"/>
              </a:spcAft>
              <a:buClr>
                <a:schemeClr val="dk1"/>
              </a:buClr>
              <a:buSzPts val="800"/>
              <a:buFont typeface="Calibri"/>
              <a:buNone/>
            </a:pPr>
            <a:endParaRPr sz="800" b="0" i="0" u="none" strike="noStrike" cap="none">
              <a:solidFill>
                <a:schemeClr val="dk1"/>
              </a:solidFill>
              <a:latin typeface="Arial"/>
              <a:ea typeface="Arial"/>
              <a:cs typeface="Arial"/>
              <a:sym typeface="Arial"/>
            </a:endParaRPr>
          </a:p>
          <a:p>
            <a:pPr marL="342900" marR="0" lvl="0" indent="-342900" algn="just" rtl="0">
              <a:lnSpc>
                <a:spcPct val="107000"/>
              </a:lnSpc>
              <a:spcBef>
                <a:spcPts val="0"/>
              </a:spcBef>
              <a:spcAft>
                <a:spcPts val="0"/>
              </a:spcAft>
              <a:buClr>
                <a:schemeClr val="dk1"/>
              </a:buClr>
              <a:buSzPts val="2400"/>
              <a:buFont typeface="Noto Sans Symbols"/>
              <a:buChar char="∙"/>
            </a:pPr>
            <a:r>
              <a:rPr lang="en-MY" sz="2400" b="0" i="0" u="none" strike="noStrike" cap="none">
                <a:solidFill>
                  <a:schemeClr val="dk1"/>
                </a:solidFill>
                <a:latin typeface="Arial"/>
                <a:ea typeface="Arial"/>
                <a:cs typeface="Arial"/>
                <a:sym typeface="Arial"/>
              </a:rPr>
              <a:t>FPA is a systematic approach to measure the different functionalities of a software application based on function point metrics.</a:t>
            </a:r>
            <a:endParaRPr sz="1400" b="0" i="0" u="none" strike="noStrike" cap="none">
              <a:solidFill>
                <a:srgbClr val="000000"/>
              </a:solidFill>
              <a:latin typeface="Arial"/>
              <a:ea typeface="Arial"/>
              <a:cs typeface="Arial"/>
              <a:sym typeface="Arial"/>
            </a:endParaRPr>
          </a:p>
          <a:p>
            <a:pPr marL="342900" marR="0" lvl="0" indent="-342900" algn="just" rtl="0">
              <a:lnSpc>
                <a:spcPct val="107000"/>
              </a:lnSpc>
              <a:spcBef>
                <a:spcPts val="0"/>
              </a:spcBef>
              <a:spcAft>
                <a:spcPts val="0"/>
              </a:spcAft>
              <a:buClr>
                <a:schemeClr val="dk1"/>
              </a:buClr>
              <a:buSzPts val="2400"/>
              <a:buFont typeface="Noto Sans Symbols"/>
              <a:buChar char="∙"/>
            </a:pPr>
            <a:r>
              <a:rPr lang="en-MY" sz="2400" b="0" i="0" u="none" strike="noStrike" cap="none">
                <a:solidFill>
                  <a:schemeClr val="dk1"/>
                </a:solidFill>
                <a:latin typeface="Arial"/>
                <a:ea typeface="Arial"/>
                <a:cs typeface="Arial"/>
                <a:sym typeface="Arial"/>
              </a:rPr>
              <a:t>FPA is used to estimate project effort, cost, and productivity by quantifying the functionalities delivered to the user.</a:t>
            </a:r>
            <a:endParaRPr sz="1400" b="0" i="0" u="none" strike="noStrike" cap="none">
              <a:solidFill>
                <a:srgbClr val="000000"/>
              </a:solidFill>
              <a:latin typeface="Arial"/>
              <a:ea typeface="Arial"/>
              <a:cs typeface="Arial"/>
              <a:sym typeface="Arial"/>
            </a:endParaRPr>
          </a:p>
          <a:p>
            <a:pPr marL="342900" marR="0" lvl="0" indent="-342900" algn="just" rtl="0">
              <a:lnSpc>
                <a:spcPct val="107000"/>
              </a:lnSpc>
              <a:spcBef>
                <a:spcPts val="0"/>
              </a:spcBef>
              <a:spcAft>
                <a:spcPts val="0"/>
              </a:spcAft>
              <a:buClr>
                <a:schemeClr val="dk1"/>
              </a:buClr>
              <a:buSzPts val="2400"/>
              <a:buFont typeface="Noto Sans Symbols"/>
              <a:buChar char="∙"/>
            </a:pPr>
            <a:r>
              <a:rPr lang="en-MY" sz="2400" b="0" i="0" u="none" strike="noStrike" cap="none">
                <a:solidFill>
                  <a:schemeClr val="dk1"/>
                </a:solidFill>
                <a:latin typeface="Arial"/>
                <a:ea typeface="Arial"/>
                <a:cs typeface="Arial"/>
                <a:sym typeface="Arial"/>
              </a:rPr>
              <a:t>FPA evaluate functionality from the perspective of the user, that is, based on the requests and responses they receive.</a:t>
            </a:r>
            <a:endParaRPr sz="1400" b="0" i="0" u="none" strike="noStrike" cap="none">
              <a:solidFill>
                <a:srgbClr val="000000"/>
              </a:solidFill>
              <a:latin typeface="Arial"/>
              <a:ea typeface="Arial"/>
              <a:cs typeface="Arial"/>
              <a:sym typeface="Arial"/>
            </a:endParaRPr>
          </a:p>
          <a:p>
            <a:pPr marL="342900" marR="0" lvl="0" indent="-342900" algn="just" rtl="0">
              <a:lnSpc>
                <a:spcPct val="107000"/>
              </a:lnSpc>
              <a:spcBef>
                <a:spcPts val="0"/>
              </a:spcBef>
              <a:spcAft>
                <a:spcPts val="0"/>
              </a:spcAft>
              <a:buClr>
                <a:schemeClr val="dk1"/>
              </a:buClr>
              <a:buSzPts val="2400"/>
              <a:buFont typeface="Noto Sans Symbols"/>
              <a:buChar char="∙"/>
            </a:pPr>
            <a:r>
              <a:rPr lang="en-MY" sz="2400" b="0" i="0" u="none" strike="noStrike" cap="none">
                <a:solidFill>
                  <a:schemeClr val="dk1"/>
                </a:solidFill>
                <a:latin typeface="Arial"/>
                <a:ea typeface="Arial"/>
                <a:cs typeface="Arial"/>
                <a:sym typeface="Arial"/>
              </a:rPr>
              <a:t>Technology independent: Measures the software based on functionality, not on the programming language or technology used.</a:t>
            </a:r>
            <a:endParaRPr sz="2400" b="0" i="0" u="none" strike="noStrike" cap="none">
              <a:solidFill>
                <a:schemeClr val="dk1"/>
              </a:solidFill>
              <a:latin typeface="Arial"/>
              <a:ea typeface="Arial"/>
              <a:cs typeface="Arial"/>
              <a:sym typeface="Arial"/>
            </a:endParaRPr>
          </a:p>
          <a:p>
            <a:pPr marL="342900" marR="0" lvl="0" indent="-190500" algn="just" rtl="0">
              <a:lnSpc>
                <a:spcPct val="107000"/>
              </a:lnSpc>
              <a:spcBef>
                <a:spcPts val="0"/>
              </a:spcBef>
              <a:spcAft>
                <a:spcPts val="0"/>
              </a:spcAft>
              <a:buClr>
                <a:schemeClr val="dk1"/>
              </a:buClr>
              <a:buSzPts val="2400"/>
              <a:buFont typeface="Noto Sans Symbols"/>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sp>
        <p:nvSpPr>
          <p:cNvPr id="254" name="Google Shape;254;p24"/>
          <p:cNvSpPr txBox="1"/>
          <p:nvPr/>
        </p:nvSpPr>
        <p:spPr>
          <a:xfrm>
            <a:off x="979448" y="927802"/>
            <a:ext cx="10233103" cy="5421228"/>
          </a:xfrm>
          <a:prstGeom prst="rect">
            <a:avLst/>
          </a:prstGeom>
          <a:noFill/>
          <a:ln>
            <a:noFill/>
          </a:ln>
        </p:spPr>
        <p:txBody>
          <a:bodyPr spcFirstLastPara="1" wrap="square" lIns="0" tIns="45700" rIns="0" bIns="45700" anchor="t" anchorCtr="0">
            <a:spAutoFit/>
          </a:bodyPr>
          <a:lstStyle/>
          <a:p>
            <a:pPr marL="0" marR="0" lvl="0" indent="0" algn="just" rtl="0">
              <a:lnSpc>
                <a:spcPct val="107000"/>
              </a:lnSpc>
              <a:spcBef>
                <a:spcPts val="0"/>
              </a:spcBef>
              <a:spcAft>
                <a:spcPts val="0"/>
              </a:spcAft>
              <a:buClr>
                <a:schemeClr val="dk1"/>
              </a:buClr>
              <a:buSzPts val="2400"/>
              <a:buFont typeface="Arial"/>
              <a:buNone/>
            </a:pPr>
            <a:r>
              <a:rPr lang="en-MY" sz="2400" b="0" i="0" u="none" strike="noStrike" cap="none">
                <a:solidFill>
                  <a:schemeClr val="dk1"/>
                </a:solidFill>
                <a:latin typeface="Arial"/>
                <a:ea typeface="Arial"/>
                <a:cs typeface="Arial"/>
                <a:sym typeface="Arial"/>
              </a:rPr>
              <a:t>Advantages of Function Point Analysis (FPA):</a:t>
            </a:r>
            <a:endParaRPr sz="1400" b="0" i="0" u="none" strike="noStrike" cap="none">
              <a:solidFill>
                <a:srgbClr val="000000"/>
              </a:solidFill>
              <a:latin typeface="Arial"/>
              <a:ea typeface="Arial"/>
              <a:cs typeface="Arial"/>
              <a:sym typeface="Arial"/>
            </a:endParaRPr>
          </a:p>
          <a:p>
            <a:pPr marL="0" marR="0" lvl="0" indent="0" algn="just" rtl="0">
              <a:lnSpc>
                <a:spcPct val="107000"/>
              </a:lnSpc>
              <a:spcBef>
                <a:spcPts val="800"/>
              </a:spcBef>
              <a:spcAft>
                <a:spcPts val="0"/>
              </a:spcAft>
              <a:buClr>
                <a:schemeClr val="dk1"/>
              </a:buClr>
              <a:buSzPts val="2400"/>
              <a:buFont typeface="Calibri"/>
              <a:buNone/>
            </a:pPr>
            <a:endParaRPr sz="2400" b="0" i="0" u="none" strike="noStrike" cap="none">
              <a:solidFill>
                <a:schemeClr val="dk1"/>
              </a:solidFill>
              <a:latin typeface="Arial"/>
              <a:ea typeface="Arial"/>
              <a:cs typeface="Arial"/>
              <a:sym typeface="Arial"/>
            </a:endParaRPr>
          </a:p>
          <a:p>
            <a:pPr marL="342900" marR="0" lvl="0" indent="-342900" algn="just" rtl="0">
              <a:lnSpc>
                <a:spcPct val="107000"/>
              </a:lnSpc>
              <a:spcBef>
                <a:spcPts val="800"/>
              </a:spcBef>
              <a:spcAft>
                <a:spcPts val="0"/>
              </a:spcAft>
              <a:buClr>
                <a:schemeClr val="dk1"/>
              </a:buClr>
              <a:buSzPts val="2400"/>
              <a:buFont typeface="Calibri"/>
              <a:buAutoNum type="arabicPeriod"/>
            </a:pPr>
            <a:r>
              <a:rPr lang="en-MY" sz="2400" b="1" i="0" u="none" strike="noStrike" cap="none">
                <a:solidFill>
                  <a:schemeClr val="dk1"/>
                </a:solidFill>
                <a:latin typeface="Arial"/>
                <a:ea typeface="Arial"/>
                <a:cs typeface="Arial"/>
                <a:sym typeface="Arial"/>
              </a:rPr>
              <a:t>Technological Independence</a:t>
            </a:r>
            <a:endParaRPr sz="1400" b="0" i="0" u="none" strike="noStrike" cap="none">
              <a:solidFill>
                <a:srgbClr val="000000"/>
              </a:solidFill>
              <a:latin typeface="Arial"/>
              <a:ea typeface="Arial"/>
              <a:cs typeface="Arial"/>
              <a:sym typeface="Arial"/>
            </a:endParaRPr>
          </a:p>
          <a:p>
            <a:pPr marL="742950" marR="0" lvl="1" indent="-285750" algn="just" rtl="0">
              <a:lnSpc>
                <a:spcPct val="107000"/>
              </a:lnSpc>
              <a:spcBef>
                <a:spcPts val="0"/>
              </a:spcBef>
              <a:spcAft>
                <a:spcPts val="0"/>
              </a:spcAft>
              <a:buClr>
                <a:schemeClr val="dk1"/>
              </a:buClr>
              <a:buSzPts val="2400"/>
              <a:buFont typeface="Arial"/>
              <a:buChar char="•"/>
            </a:pPr>
            <a:r>
              <a:rPr lang="en-MY" sz="2400" b="0" i="0" u="none" strike="noStrike" cap="none">
                <a:solidFill>
                  <a:schemeClr val="dk1"/>
                </a:solidFill>
                <a:latin typeface="Arial"/>
                <a:ea typeface="Arial"/>
                <a:cs typeface="Arial"/>
                <a:sym typeface="Arial"/>
              </a:rPr>
              <a:t>Calculates a software system’s functional size independent of the underlying technology or programming language used to implement it.</a:t>
            </a:r>
            <a:endParaRPr sz="1400" b="0" i="0" u="none" strike="noStrike" cap="none">
              <a:solidFill>
                <a:srgbClr val="000000"/>
              </a:solidFill>
              <a:latin typeface="Arial"/>
              <a:ea typeface="Arial"/>
              <a:cs typeface="Arial"/>
              <a:sym typeface="Arial"/>
            </a:endParaRPr>
          </a:p>
          <a:p>
            <a:pPr marL="342900" marR="0" lvl="0" indent="-342900" algn="just" rtl="0">
              <a:lnSpc>
                <a:spcPct val="107000"/>
              </a:lnSpc>
              <a:spcBef>
                <a:spcPts val="0"/>
              </a:spcBef>
              <a:spcAft>
                <a:spcPts val="0"/>
              </a:spcAft>
              <a:buClr>
                <a:schemeClr val="dk1"/>
              </a:buClr>
              <a:buSzPts val="2400"/>
              <a:buFont typeface="Calibri"/>
              <a:buAutoNum type="arabicPeriod"/>
            </a:pPr>
            <a:r>
              <a:rPr lang="en-MY" sz="2400" b="1" i="0" u="none" strike="noStrike" cap="none">
                <a:solidFill>
                  <a:schemeClr val="dk1"/>
                </a:solidFill>
                <a:latin typeface="Arial"/>
                <a:ea typeface="Arial"/>
                <a:cs typeface="Arial"/>
                <a:sym typeface="Arial"/>
              </a:rPr>
              <a:t>Better Accurate Project Estimation</a:t>
            </a:r>
            <a:endParaRPr sz="1400" b="0" i="0" u="none" strike="noStrike" cap="none">
              <a:solidFill>
                <a:srgbClr val="000000"/>
              </a:solidFill>
              <a:latin typeface="Arial"/>
              <a:ea typeface="Arial"/>
              <a:cs typeface="Arial"/>
              <a:sym typeface="Arial"/>
            </a:endParaRPr>
          </a:p>
          <a:p>
            <a:pPr marL="742950" marR="0" lvl="1" indent="-285750" algn="just" rtl="0">
              <a:lnSpc>
                <a:spcPct val="107000"/>
              </a:lnSpc>
              <a:spcBef>
                <a:spcPts val="0"/>
              </a:spcBef>
              <a:spcAft>
                <a:spcPts val="0"/>
              </a:spcAft>
              <a:buClr>
                <a:schemeClr val="dk1"/>
              </a:buClr>
              <a:buSzPts val="2400"/>
              <a:buFont typeface="Arial"/>
              <a:buChar char="•"/>
            </a:pPr>
            <a:r>
              <a:rPr lang="en-MY" sz="2400" b="0" i="0" u="none" strike="noStrike" cap="none">
                <a:solidFill>
                  <a:schemeClr val="dk1"/>
                </a:solidFill>
                <a:latin typeface="Arial"/>
                <a:ea typeface="Arial"/>
                <a:cs typeface="Arial"/>
                <a:sym typeface="Arial"/>
              </a:rPr>
              <a:t>Improve project estimation accuracy by measuring user interactions and functional needs.</a:t>
            </a:r>
            <a:endParaRPr sz="1400" b="0" i="0" u="none" strike="noStrike" cap="none">
              <a:solidFill>
                <a:srgbClr val="000000"/>
              </a:solidFill>
              <a:latin typeface="Arial"/>
              <a:ea typeface="Arial"/>
              <a:cs typeface="Arial"/>
              <a:sym typeface="Arial"/>
            </a:endParaRPr>
          </a:p>
          <a:p>
            <a:pPr marL="742950" marR="0" lvl="1" indent="-285750" algn="just" rtl="0">
              <a:lnSpc>
                <a:spcPct val="107000"/>
              </a:lnSpc>
              <a:spcBef>
                <a:spcPts val="0"/>
              </a:spcBef>
              <a:spcAft>
                <a:spcPts val="0"/>
              </a:spcAft>
              <a:buClr>
                <a:schemeClr val="dk1"/>
              </a:buClr>
              <a:buSzPts val="2400"/>
              <a:buFont typeface="Arial"/>
              <a:buChar char="•"/>
            </a:pPr>
            <a:r>
              <a:rPr lang="en-MY" sz="2400" b="0" i="0" u="none" strike="noStrike" cap="none">
                <a:solidFill>
                  <a:schemeClr val="dk1"/>
                </a:solidFill>
                <a:latin typeface="Arial"/>
                <a:ea typeface="Arial"/>
                <a:cs typeface="Arial"/>
                <a:sym typeface="Arial"/>
              </a:rPr>
              <a:t>Useful in long-term project estimation.</a:t>
            </a:r>
            <a:endParaRPr sz="1400" b="0" i="0" u="none" strike="noStrike" cap="none">
              <a:solidFill>
                <a:srgbClr val="000000"/>
              </a:solidFill>
              <a:latin typeface="Arial"/>
              <a:ea typeface="Arial"/>
              <a:cs typeface="Arial"/>
              <a:sym typeface="Arial"/>
            </a:endParaRPr>
          </a:p>
          <a:p>
            <a:pPr marL="342900" marR="0" lvl="0" indent="-342900" algn="just" rtl="0">
              <a:lnSpc>
                <a:spcPct val="107000"/>
              </a:lnSpc>
              <a:spcBef>
                <a:spcPts val="0"/>
              </a:spcBef>
              <a:spcAft>
                <a:spcPts val="0"/>
              </a:spcAft>
              <a:buClr>
                <a:schemeClr val="dk1"/>
              </a:buClr>
              <a:buSzPts val="2400"/>
              <a:buFont typeface="Calibri"/>
              <a:buAutoNum type="arabicPeriod"/>
            </a:pPr>
            <a:r>
              <a:rPr lang="en-MY" sz="2400" b="1" i="0" u="none" strike="noStrike" cap="none">
                <a:solidFill>
                  <a:schemeClr val="dk1"/>
                </a:solidFill>
                <a:latin typeface="Arial"/>
                <a:ea typeface="Arial"/>
                <a:cs typeface="Arial"/>
                <a:sym typeface="Arial"/>
              </a:rPr>
              <a:t>Improved Interaction</a:t>
            </a:r>
            <a:endParaRPr sz="1400" b="0" i="0" u="none" strike="noStrike" cap="none">
              <a:solidFill>
                <a:srgbClr val="000000"/>
              </a:solidFill>
              <a:latin typeface="Arial"/>
              <a:ea typeface="Arial"/>
              <a:cs typeface="Arial"/>
              <a:sym typeface="Arial"/>
            </a:endParaRPr>
          </a:p>
          <a:p>
            <a:pPr marL="742950" marR="0" lvl="1" indent="-285750" algn="just" rtl="0">
              <a:lnSpc>
                <a:spcPct val="107000"/>
              </a:lnSpc>
              <a:spcBef>
                <a:spcPts val="0"/>
              </a:spcBef>
              <a:spcAft>
                <a:spcPts val="0"/>
              </a:spcAft>
              <a:buClr>
                <a:schemeClr val="dk1"/>
              </a:buClr>
              <a:buSzPts val="2400"/>
              <a:buFont typeface="Arial"/>
              <a:buChar char="•"/>
            </a:pPr>
            <a:r>
              <a:rPr lang="en-MY" sz="2400" b="0" i="0" u="none" strike="noStrike" cap="none">
                <a:solidFill>
                  <a:schemeClr val="dk1"/>
                </a:solidFill>
                <a:latin typeface="Arial"/>
                <a:ea typeface="Arial"/>
                <a:cs typeface="Arial"/>
                <a:sym typeface="Arial"/>
              </a:rPr>
              <a:t>Provides a common language for business analysts, developers, and project managers to communicate with one another and with other stakeholders.</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59" name="Google Shape;259;p25"/>
          <p:cNvSpPr txBox="1"/>
          <p:nvPr/>
        </p:nvSpPr>
        <p:spPr>
          <a:xfrm>
            <a:off x="979448" y="927802"/>
            <a:ext cx="10233103" cy="3854028"/>
          </a:xfrm>
          <a:prstGeom prst="rect">
            <a:avLst/>
          </a:prstGeom>
          <a:noFill/>
          <a:ln>
            <a:noFill/>
          </a:ln>
        </p:spPr>
        <p:txBody>
          <a:bodyPr spcFirstLastPara="1" wrap="square" lIns="0" tIns="45700" rIns="0" bIns="45700" anchor="t" anchorCtr="0">
            <a:spAutoFit/>
          </a:bodyPr>
          <a:lstStyle/>
          <a:p>
            <a:pPr marL="0" marR="0" lvl="0" indent="0" algn="just" rtl="0">
              <a:lnSpc>
                <a:spcPct val="107000"/>
              </a:lnSpc>
              <a:spcBef>
                <a:spcPts val="0"/>
              </a:spcBef>
              <a:spcAft>
                <a:spcPts val="0"/>
              </a:spcAft>
              <a:buClr>
                <a:schemeClr val="dk1"/>
              </a:buClr>
              <a:buSzPts val="2400"/>
              <a:buFont typeface="Arial"/>
              <a:buNone/>
            </a:pPr>
            <a:r>
              <a:rPr lang="en-MY" sz="2400" b="0" i="0" u="none" strike="noStrike" cap="none">
                <a:solidFill>
                  <a:schemeClr val="dk1"/>
                </a:solidFill>
                <a:latin typeface="Arial"/>
                <a:ea typeface="Arial"/>
                <a:cs typeface="Arial"/>
                <a:sym typeface="Arial"/>
              </a:rPr>
              <a:t>Advantages of Function Point Analysis (FPA):</a:t>
            </a:r>
            <a:endParaRPr sz="1400" b="0" i="0" u="none" strike="noStrike" cap="none">
              <a:solidFill>
                <a:srgbClr val="000000"/>
              </a:solidFill>
              <a:latin typeface="Arial"/>
              <a:ea typeface="Arial"/>
              <a:cs typeface="Arial"/>
              <a:sym typeface="Arial"/>
            </a:endParaRPr>
          </a:p>
          <a:p>
            <a:pPr marL="0" marR="0" lvl="0" indent="0" algn="just" rtl="0">
              <a:lnSpc>
                <a:spcPct val="107000"/>
              </a:lnSpc>
              <a:spcBef>
                <a:spcPts val="800"/>
              </a:spcBef>
              <a:spcAft>
                <a:spcPts val="0"/>
              </a:spcAft>
              <a:buClr>
                <a:schemeClr val="dk1"/>
              </a:buClr>
              <a:buSzPts val="2400"/>
              <a:buFont typeface="Calibri"/>
              <a:buNone/>
            </a:pPr>
            <a:endParaRPr sz="2400" b="0" i="0" u="none" strike="noStrike" cap="none">
              <a:solidFill>
                <a:schemeClr val="dk1"/>
              </a:solidFill>
              <a:latin typeface="Arial"/>
              <a:ea typeface="Arial"/>
              <a:cs typeface="Arial"/>
              <a:sym typeface="Arial"/>
            </a:endParaRPr>
          </a:p>
          <a:p>
            <a:pPr marL="457200" marR="0" lvl="0" indent="-457200" algn="just" rtl="0">
              <a:lnSpc>
                <a:spcPct val="107000"/>
              </a:lnSpc>
              <a:spcBef>
                <a:spcPts val="800"/>
              </a:spcBef>
              <a:spcAft>
                <a:spcPts val="0"/>
              </a:spcAft>
              <a:buClr>
                <a:schemeClr val="dk1"/>
              </a:buClr>
              <a:buSzPts val="2400"/>
              <a:buFont typeface="Calibri"/>
              <a:buAutoNum type="arabicPeriod" startAt="4"/>
            </a:pPr>
            <a:r>
              <a:rPr lang="en-MY" sz="2400" b="1" i="0" u="none" strike="noStrike" cap="none">
                <a:solidFill>
                  <a:schemeClr val="dk1"/>
                </a:solidFill>
                <a:latin typeface="Arial"/>
                <a:ea typeface="Arial"/>
                <a:cs typeface="Arial"/>
                <a:sym typeface="Arial"/>
              </a:rPr>
              <a:t>Making Well-Informed Decisions</a:t>
            </a:r>
            <a:endParaRPr sz="1400" b="0" i="0" u="none" strike="noStrike" cap="none">
              <a:solidFill>
                <a:srgbClr val="000000"/>
              </a:solidFill>
              <a:latin typeface="Arial"/>
              <a:ea typeface="Arial"/>
              <a:cs typeface="Arial"/>
              <a:sym typeface="Arial"/>
            </a:endParaRPr>
          </a:p>
          <a:p>
            <a:pPr marL="742950" marR="0" lvl="1" indent="-285750" algn="just" rtl="0">
              <a:lnSpc>
                <a:spcPct val="107000"/>
              </a:lnSpc>
              <a:spcBef>
                <a:spcPts val="0"/>
              </a:spcBef>
              <a:spcAft>
                <a:spcPts val="0"/>
              </a:spcAft>
              <a:buClr>
                <a:schemeClr val="dk1"/>
              </a:buClr>
              <a:buSzPts val="2400"/>
              <a:buFont typeface="Arial"/>
              <a:buChar char="•"/>
            </a:pPr>
            <a:r>
              <a:rPr lang="en-MY" sz="2400" b="0" i="0" u="none" strike="noStrike" cap="none">
                <a:solidFill>
                  <a:schemeClr val="dk1"/>
                </a:solidFill>
                <a:latin typeface="Arial"/>
                <a:ea typeface="Arial"/>
                <a:cs typeface="Arial"/>
                <a:sym typeface="Arial"/>
              </a:rPr>
              <a:t>Assists in making well-informed decisions at every stage of the software development life cycle.</a:t>
            </a:r>
            <a:endParaRPr sz="1400" b="0" i="0" u="none" strike="noStrike" cap="none">
              <a:solidFill>
                <a:srgbClr val="000000"/>
              </a:solidFill>
              <a:latin typeface="Arial"/>
              <a:ea typeface="Arial"/>
              <a:cs typeface="Arial"/>
              <a:sym typeface="Arial"/>
            </a:endParaRPr>
          </a:p>
          <a:p>
            <a:pPr marL="742950" marR="0" lvl="1" indent="-285750" algn="just" rtl="0">
              <a:lnSpc>
                <a:spcPct val="107000"/>
              </a:lnSpc>
              <a:spcBef>
                <a:spcPts val="0"/>
              </a:spcBef>
              <a:spcAft>
                <a:spcPts val="0"/>
              </a:spcAft>
              <a:buClr>
                <a:schemeClr val="dk1"/>
              </a:buClr>
              <a:buSzPts val="2400"/>
              <a:buFont typeface="Arial"/>
              <a:buChar char="•"/>
            </a:pPr>
            <a:r>
              <a:rPr lang="en-MY" sz="2400" b="0" i="0" u="none" strike="noStrike" cap="none">
                <a:solidFill>
                  <a:schemeClr val="dk1"/>
                </a:solidFill>
                <a:latin typeface="Arial"/>
                <a:ea typeface="Arial"/>
                <a:cs typeface="Arial"/>
                <a:sym typeface="Arial"/>
              </a:rPr>
              <a:t>FPA is a high-level estimation, thus useful for project manager to estimates the overall project effort, cost and time.</a:t>
            </a:r>
            <a:endParaRPr sz="1400" b="0" i="0" u="none" strike="noStrike" cap="none">
              <a:solidFill>
                <a:srgbClr val="000000"/>
              </a:solidFill>
              <a:latin typeface="Arial"/>
              <a:ea typeface="Arial"/>
              <a:cs typeface="Arial"/>
              <a:sym typeface="Arial"/>
            </a:endParaRPr>
          </a:p>
          <a:p>
            <a:pPr marL="742950" marR="0" lvl="1" indent="-285750" algn="just" rtl="0">
              <a:lnSpc>
                <a:spcPct val="107000"/>
              </a:lnSpc>
              <a:spcBef>
                <a:spcPts val="0"/>
              </a:spcBef>
              <a:spcAft>
                <a:spcPts val="0"/>
              </a:spcAft>
              <a:buClr>
                <a:schemeClr val="dk1"/>
              </a:buClr>
              <a:buSzPts val="2400"/>
              <a:buFont typeface="Arial"/>
              <a:buChar char="•"/>
            </a:pPr>
            <a:r>
              <a:rPr lang="en-MY" sz="2400" b="0" i="0" u="none" strike="noStrike" cap="none">
                <a:solidFill>
                  <a:schemeClr val="dk1"/>
                </a:solidFill>
                <a:latin typeface="Arial"/>
                <a:ea typeface="Arial"/>
                <a:cs typeface="Arial"/>
                <a:sym typeface="Arial"/>
              </a:rPr>
              <a:t>Helps to make decisions about resource allocation, project prioritization, and technology selection.</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63"/>
        <p:cNvGrpSpPr/>
        <p:nvPr/>
      </p:nvGrpSpPr>
      <p:grpSpPr>
        <a:xfrm>
          <a:off x="0" y="0"/>
          <a:ext cx="0" cy="0"/>
          <a:chOff x="0" y="0"/>
          <a:chExt cx="0" cy="0"/>
        </a:xfrm>
      </p:grpSpPr>
      <p:sp>
        <p:nvSpPr>
          <p:cNvPr id="264" name="Google Shape;264;p26"/>
          <p:cNvSpPr txBox="1"/>
          <p:nvPr/>
        </p:nvSpPr>
        <p:spPr>
          <a:xfrm>
            <a:off x="979448" y="927802"/>
            <a:ext cx="10233103" cy="3195386"/>
          </a:xfrm>
          <a:prstGeom prst="rect">
            <a:avLst/>
          </a:prstGeom>
          <a:noFill/>
          <a:ln>
            <a:noFill/>
          </a:ln>
        </p:spPr>
        <p:txBody>
          <a:bodyPr spcFirstLastPara="1" wrap="square" lIns="0" tIns="45700" rIns="0" bIns="45700" anchor="t" anchorCtr="0">
            <a:spAutoFit/>
          </a:bodyPr>
          <a:lstStyle/>
          <a:p>
            <a:pPr marL="0" marR="0" lvl="0" indent="0" algn="just" rtl="0">
              <a:lnSpc>
                <a:spcPct val="107000"/>
              </a:lnSpc>
              <a:spcBef>
                <a:spcPts val="0"/>
              </a:spcBef>
              <a:spcAft>
                <a:spcPts val="0"/>
              </a:spcAft>
              <a:buClr>
                <a:schemeClr val="dk1"/>
              </a:buClr>
              <a:buSzPts val="2400"/>
              <a:buFont typeface="Arial"/>
              <a:buNone/>
            </a:pPr>
            <a:r>
              <a:rPr lang="en-MY" sz="2400" b="0" i="0" u="none" strike="noStrike" cap="none">
                <a:solidFill>
                  <a:schemeClr val="dk1"/>
                </a:solidFill>
                <a:latin typeface="Arial"/>
                <a:ea typeface="Arial"/>
                <a:cs typeface="Arial"/>
                <a:sym typeface="Arial"/>
              </a:rPr>
              <a:t>Disadvantages of Function Point Analysis (FPA):</a:t>
            </a:r>
            <a:endParaRPr sz="1400" b="0" i="0" u="none" strike="noStrike" cap="none">
              <a:solidFill>
                <a:srgbClr val="000000"/>
              </a:solidFill>
              <a:latin typeface="Arial"/>
              <a:ea typeface="Arial"/>
              <a:cs typeface="Arial"/>
              <a:sym typeface="Arial"/>
            </a:endParaRPr>
          </a:p>
          <a:p>
            <a:pPr marL="0" marR="0" lvl="0" indent="0" algn="just" rtl="0">
              <a:lnSpc>
                <a:spcPct val="107000"/>
              </a:lnSpc>
              <a:spcBef>
                <a:spcPts val="800"/>
              </a:spcBef>
              <a:spcAft>
                <a:spcPts val="0"/>
              </a:spcAft>
              <a:buClr>
                <a:schemeClr val="dk1"/>
              </a:buClr>
              <a:buSzPts val="800"/>
              <a:buFont typeface="Calibri"/>
              <a:buNone/>
            </a:pPr>
            <a:endParaRPr sz="800" b="0" i="0" u="none" strike="noStrike" cap="none">
              <a:solidFill>
                <a:schemeClr val="dk1"/>
              </a:solidFill>
              <a:latin typeface="Arial"/>
              <a:ea typeface="Arial"/>
              <a:cs typeface="Arial"/>
              <a:sym typeface="Arial"/>
            </a:endParaRPr>
          </a:p>
          <a:p>
            <a:pPr marL="228600" marR="0" lvl="0" indent="-228600" algn="just" rtl="0">
              <a:lnSpc>
                <a:spcPct val="107000"/>
              </a:lnSpc>
              <a:spcBef>
                <a:spcPts val="800"/>
              </a:spcBef>
              <a:spcAft>
                <a:spcPts val="0"/>
              </a:spcAft>
              <a:buClr>
                <a:schemeClr val="dk1"/>
              </a:buClr>
              <a:buSzPts val="2400"/>
              <a:buFont typeface="Calibri"/>
              <a:buAutoNum type="arabicPeriod"/>
            </a:pPr>
            <a:r>
              <a:rPr lang="en-MY" sz="2400" b="1" i="0" u="none" strike="noStrike" cap="none">
                <a:solidFill>
                  <a:schemeClr val="dk1"/>
                </a:solidFill>
                <a:latin typeface="Arial"/>
                <a:ea typeface="Arial"/>
                <a:cs typeface="Arial"/>
                <a:sym typeface="Arial"/>
              </a:rPr>
              <a:t>Subjective Judgement: </a:t>
            </a:r>
            <a:r>
              <a:rPr lang="en-MY" sz="2400" b="0" i="0" u="none" strike="noStrike" cap="none">
                <a:solidFill>
                  <a:schemeClr val="dk1"/>
                </a:solidFill>
                <a:latin typeface="Arial"/>
                <a:ea typeface="Arial"/>
                <a:cs typeface="Arial"/>
                <a:sym typeface="Arial"/>
              </a:rPr>
              <a:t>FPA heavily relying on personal opinions and interpretations instead of just using clear, measurable standards.</a:t>
            </a:r>
            <a:endParaRPr sz="1400" b="0" i="0" u="none" strike="noStrike" cap="none">
              <a:solidFill>
                <a:srgbClr val="000000"/>
              </a:solidFill>
              <a:latin typeface="Arial"/>
              <a:ea typeface="Arial"/>
              <a:cs typeface="Arial"/>
              <a:sym typeface="Arial"/>
            </a:endParaRPr>
          </a:p>
          <a:p>
            <a:pPr marL="228600" marR="0" lvl="0" indent="-228600" algn="just" rtl="0">
              <a:lnSpc>
                <a:spcPct val="107000"/>
              </a:lnSpc>
              <a:spcBef>
                <a:spcPts val="0"/>
              </a:spcBef>
              <a:spcAft>
                <a:spcPts val="0"/>
              </a:spcAft>
              <a:buClr>
                <a:schemeClr val="dk1"/>
              </a:buClr>
              <a:buSzPts val="2400"/>
              <a:buFont typeface="Calibri"/>
              <a:buAutoNum type="arabicPeriod"/>
            </a:pPr>
            <a:r>
              <a:rPr lang="en-MY" sz="2400" b="1" i="0" u="none" strike="noStrike" cap="none">
                <a:solidFill>
                  <a:schemeClr val="dk1"/>
                </a:solidFill>
                <a:latin typeface="Arial"/>
                <a:ea typeface="Arial"/>
                <a:cs typeface="Arial"/>
                <a:sym typeface="Arial"/>
              </a:rPr>
              <a:t>Low Accuracy: </a:t>
            </a:r>
            <a:r>
              <a:rPr lang="en-MY" sz="2400" b="0" i="0" u="none" strike="noStrike" cap="none">
                <a:solidFill>
                  <a:schemeClr val="dk1"/>
                </a:solidFill>
                <a:latin typeface="Arial"/>
                <a:ea typeface="Arial"/>
                <a:cs typeface="Arial"/>
                <a:sym typeface="Arial"/>
              </a:rPr>
              <a:t>Has low evaluation accuracy as it’s dependency on subjective judgement.</a:t>
            </a:r>
            <a:endParaRPr sz="1400" b="0" i="0" u="none" strike="noStrike" cap="none">
              <a:solidFill>
                <a:srgbClr val="000000"/>
              </a:solidFill>
              <a:latin typeface="Arial"/>
              <a:ea typeface="Arial"/>
              <a:cs typeface="Arial"/>
              <a:sym typeface="Arial"/>
            </a:endParaRPr>
          </a:p>
          <a:p>
            <a:pPr marL="228600" marR="0" lvl="0" indent="-228600" algn="just" rtl="0">
              <a:lnSpc>
                <a:spcPct val="107000"/>
              </a:lnSpc>
              <a:spcBef>
                <a:spcPts val="0"/>
              </a:spcBef>
              <a:spcAft>
                <a:spcPts val="0"/>
              </a:spcAft>
              <a:buClr>
                <a:schemeClr val="dk1"/>
              </a:buClr>
              <a:buSzPts val="2400"/>
              <a:buFont typeface="Calibri"/>
              <a:buAutoNum type="arabicPeriod"/>
            </a:pPr>
            <a:r>
              <a:rPr lang="en-MY" sz="2400" b="1" i="0" u="none" strike="noStrike" cap="none">
                <a:solidFill>
                  <a:schemeClr val="dk1"/>
                </a:solidFill>
                <a:latin typeface="Arial"/>
                <a:ea typeface="Arial"/>
                <a:cs typeface="Arial"/>
                <a:sym typeface="Arial"/>
              </a:rPr>
              <a:t>Time Consuming: </a:t>
            </a:r>
            <a:r>
              <a:rPr lang="en-MY" sz="2400" b="0" i="0" u="none" strike="noStrike" cap="none">
                <a:solidFill>
                  <a:schemeClr val="dk1"/>
                </a:solidFill>
                <a:latin typeface="Arial"/>
                <a:ea typeface="Arial"/>
                <a:cs typeface="Arial"/>
                <a:sym typeface="Arial"/>
              </a:rPr>
              <a:t>FPA is time-consuming, particularly during the initial stages of implementation.</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68"/>
        <p:cNvGrpSpPr/>
        <p:nvPr/>
      </p:nvGrpSpPr>
      <p:grpSpPr>
        <a:xfrm>
          <a:off x="0" y="0"/>
          <a:ext cx="0" cy="0"/>
          <a:chOff x="0" y="0"/>
          <a:chExt cx="0" cy="0"/>
        </a:xfrm>
      </p:grpSpPr>
      <p:sp>
        <p:nvSpPr>
          <p:cNvPr id="269" name="Google Shape;269;p29"/>
          <p:cNvSpPr txBox="1"/>
          <p:nvPr/>
        </p:nvSpPr>
        <p:spPr>
          <a:xfrm>
            <a:off x="979448" y="927802"/>
            <a:ext cx="10233103" cy="473976"/>
          </a:xfrm>
          <a:prstGeom prst="rect">
            <a:avLst/>
          </a:prstGeom>
          <a:noFill/>
          <a:ln>
            <a:noFill/>
          </a:ln>
        </p:spPr>
        <p:txBody>
          <a:bodyPr spcFirstLastPara="1" wrap="square" lIns="0" tIns="45700" rIns="0" bIns="45700" anchor="t" anchorCtr="0">
            <a:spAutoFit/>
          </a:bodyPr>
          <a:lstStyle/>
          <a:p>
            <a:pPr marL="0" marR="0" lvl="0" indent="0" algn="just" rtl="0">
              <a:lnSpc>
                <a:spcPct val="107000"/>
              </a:lnSpc>
              <a:spcBef>
                <a:spcPts val="0"/>
              </a:spcBef>
              <a:spcAft>
                <a:spcPts val="0"/>
              </a:spcAft>
              <a:buClr>
                <a:schemeClr val="dk1"/>
              </a:buClr>
              <a:buSzPts val="2400"/>
              <a:buFont typeface="Arial"/>
              <a:buNone/>
            </a:pPr>
            <a:r>
              <a:rPr lang="en-MY" sz="2400" b="0" i="0" u="none" strike="noStrike" cap="none">
                <a:solidFill>
                  <a:schemeClr val="dk1"/>
                </a:solidFill>
                <a:latin typeface="Arial"/>
                <a:ea typeface="Arial"/>
                <a:cs typeface="Arial"/>
                <a:sym typeface="Arial"/>
              </a:rPr>
              <a:t>The components in FPA are categorized into </a:t>
            </a:r>
            <a:r>
              <a:rPr lang="en-MY" sz="2400" b="1" i="0" u="none" strike="noStrike" cap="none">
                <a:solidFill>
                  <a:schemeClr val="dk1"/>
                </a:solidFill>
                <a:latin typeface="Arial"/>
                <a:ea typeface="Arial"/>
                <a:cs typeface="Arial"/>
                <a:sym typeface="Arial"/>
              </a:rPr>
              <a:t>two</a:t>
            </a:r>
            <a:r>
              <a:rPr lang="en-MY" sz="2400" b="0" i="0" u="none" strike="noStrike" cap="none">
                <a:solidFill>
                  <a:schemeClr val="dk1"/>
                </a:solidFill>
                <a:latin typeface="Arial"/>
                <a:ea typeface="Arial"/>
                <a:cs typeface="Arial"/>
                <a:sym typeface="Arial"/>
              </a:rPr>
              <a:t> functional types:</a:t>
            </a:r>
            <a:endParaRPr sz="2400" b="0" i="0" u="none" strike="noStrike" cap="none">
              <a:solidFill>
                <a:schemeClr val="dk1"/>
              </a:solidFill>
              <a:latin typeface="Arial"/>
              <a:ea typeface="Arial"/>
              <a:cs typeface="Arial"/>
              <a:sym typeface="Arial"/>
            </a:endParaRPr>
          </a:p>
        </p:txBody>
      </p:sp>
      <p:pic>
        <p:nvPicPr>
          <p:cNvPr id="270" name="Google Shape;270;p29" descr="A diagram of a function&#10;&#10;AI-generated content may be incorrect."/>
          <p:cNvPicPr preferRelativeResize="0"/>
          <p:nvPr/>
        </p:nvPicPr>
        <p:blipFill rotWithShape="1">
          <a:blip r:embed="rId3">
            <a:alphaModFix/>
          </a:blip>
          <a:srcRect/>
          <a:stretch/>
        </p:blipFill>
        <p:spPr>
          <a:xfrm>
            <a:off x="1564859" y="1618896"/>
            <a:ext cx="9062279" cy="4591325"/>
          </a:xfrm>
          <a:prstGeom prst="rect">
            <a:avLst/>
          </a:prstGeom>
          <a:noFill/>
          <a:ln>
            <a:noFill/>
          </a:ln>
        </p:spPr>
      </p:pic>
      <p:sp>
        <p:nvSpPr>
          <p:cNvPr id="271" name="Google Shape;271;p29"/>
          <p:cNvSpPr txBox="1"/>
          <p:nvPr/>
        </p:nvSpPr>
        <p:spPr>
          <a:xfrm>
            <a:off x="6720839" y="6210221"/>
            <a:ext cx="4966855" cy="670889"/>
          </a:xfrm>
          <a:prstGeom prst="rect">
            <a:avLst/>
          </a:prstGeom>
          <a:noFill/>
          <a:ln>
            <a:noFill/>
          </a:ln>
        </p:spPr>
        <p:txBody>
          <a:bodyPr spcFirstLastPara="1" wrap="square" lIns="91425" tIns="45700" rIns="91425" bIns="45700" anchor="t" anchorCtr="0">
            <a:spAutoFit/>
          </a:bodyPr>
          <a:lstStyle/>
          <a:p>
            <a:pPr marL="342900" marR="0" lvl="0" indent="-342900" algn="just" rtl="0">
              <a:lnSpc>
                <a:spcPct val="107000"/>
              </a:lnSpc>
              <a:spcBef>
                <a:spcPts val="0"/>
              </a:spcBef>
              <a:spcAft>
                <a:spcPts val="0"/>
              </a:spcAft>
              <a:buClr>
                <a:schemeClr val="dk1"/>
              </a:buClr>
              <a:buSzPts val="2400"/>
              <a:buFont typeface="Noto Sans Symbols"/>
              <a:buChar char="∙"/>
            </a:pPr>
            <a:r>
              <a:rPr lang="en-MY" sz="1200" b="0" i="0" u="none" strike="noStrike" cap="none">
                <a:solidFill>
                  <a:srgbClr val="002060"/>
                </a:solidFill>
                <a:latin typeface="Arial"/>
                <a:ea typeface="Arial"/>
                <a:cs typeface="Arial"/>
                <a:sym typeface="Arial"/>
              </a:rPr>
              <a:t>FPA count the number of different data structures that are used and assumed that the number of different data structures is a good size indicator. </a:t>
            </a:r>
            <a:endParaRPr/>
          </a:p>
        </p:txBody>
      </p:sp>
      <p:sp>
        <p:nvSpPr>
          <p:cNvPr id="272" name="Google Shape;272;p29"/>
          <p:cNvSpPr txBox="1"/>
          <p:nvPr/>
        </p:nvSpPr>
        <p:spPr>
          <a:xfrm>
            <a:off x="719050" y="6159028"/>
            <a:ext cx="6126480" cy="536622"/>
          </a:xfrm>
          <a:prstGeom prst="rect">
            <a:avLst/>
          </a:prstGeom>
          <a:noFill/>
          <a:ln>
            <a:noFill/>
          </a:ln>
        </p:spPr>
        <p:txBody>
          <a:bodyPr spcFirstLastPara="1" wrap="square" lIns="91425" tIns="45700" rIns="91425" bIns="45700" anchor="t" anchorCtr="0">
            <a:spAutoFit/>
          </a:bodyPr>
          <a:lstStyle/>
          <a:p>
            <a:pPr marL="342900" marR="0" lvl="0" indent="-342900" algn="just" rtl="0">
              <a:lnSpc>
                <a:spcPct val="107000"/>
              </a:lnSpc>
              <a:spcBef>
                <a:spcPts val="0"/>
              </a:spcBef>
              <a:spcAft>
                <a:spcPts val="0"/>
              </a:spcAft>
              <a:buClr>
                <a:schemeClr val="dk1"/>
              </a:buClr>
              <a:buSzPts val="2400"/>
              <a:buFont typeface="Noto Sans Symbols"/>
              <a:buChar char="∙"/>
            </a:pPr>
            <a:r>
              <a:rPr lang="en-MY" sz="1400" b="0" i="0" u="none" strike="noStrike" cap="none">
                <a:solidFill>
                  <a:srgbClr val="002060"/>
                </a:solidFill>
                <a:latin typeface="Arial"/>
                <a:ea typeface="Arial"/>
                <a:cs typeface="Arial"/>
                <a:sym typeface="Arial"/>
              </a:rPr>
              <a:t>FPA evaluate functionality from the perspective of the user, that is, based on the requests and responses they receive.</a:t>
            </a:r>
            <a:endParaRPr sz="1400" b="0" i="0" u="none" strike="noStrike" cap="none">
              <a:solidFill>
                <a:srgbClr val="00206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sp>
        <p:nvSpPr>
          <p:cNvPr id="277" name="Google Shape;277;p27"/>
          <p:cNvSpPr txBox="1"/>
          <p:nvPr/>
        </p:nvSpPr>
        <p:spPr>
          <a:xfrm>
            <a:off x="979448" y="927802"/>
            <a:ext cx="10233103" cy="1469505"/>
          </a:xfrm>
          <a:prstGeom prst="rect">
            <a:avLst/>
          </a:prstGeom>
          <a:noFill/>
          <a:ln>
            <a:noFill/>
          </a:ln>
        </p:spPr>
        <p:txBody>
          <a:bodyPr spcFirstLastPara="1" wrap="square" lIns="0" tIns="45700" rIns="0" bIns="45700" anchor="t" anchorCtr="0">
            <a:spAutoFit/>
          </a:bodyPr>
          <a:lstStyle/>
          <a:p>
            <a:pPr marL="0" marR="0" lvl="0" indent="0" algn="just" rtl="0">
              <a:lnSpc>
                <a:spcPct val="107000"/>
              </a:lnSpc>
              <a:spcBef>
                <a:spcPts val="0"/>
              </a:spcBef>
              <a:spcAft>
                <a:spcPts val="0"/>
              </a:spcAft>
              <a:buClr>
                <a:schemeClr val="dk1"/>
              </a:buClr>
              <a:buSzPts val="2400"/>
              <a:buFont typeface="Arial"/>
              <a:buNone/>
            </a:pPr>
            <a:r>
              <a:rPr lang="en-MY" sz="2400" b="0" i="0" u="none" strike="noStrike" cap="none">
                <a:solidFill>
                  <a:schemeClr val="dk1"/>
                </a:solidFill>
                <a:latin typeface="Arial"/>
                <a:ea typeface="Arial"/>
                <a:cs typeface="Arial"/>
                <a:sym typeface="Arial"/>
              </a:rPr>
              <a:t>Components in Function Point Analysis (FPA):</a:t>
            </a:r>
            <a:endParaRPr sz="1400" b="0" i="0" u="none" strike="noStrike" cap="none">
              <a:solidFill>
                <a:srgbClr val="000000"/>
              </a:solidFill>
              <a:latin typeface="Arial"/>
              <a:ea typeface="Arial"/>
              <a:cs typeface="Arial"/>
              <a:sym typeface="Arial"/>
            </a:endParaRPr>
          </a:p>
          <a:p>
            <a:pPr marL="285750" marR="0" lvl="0" indent="-285750" algn="just" rtl="0">
              <a:lnSpc>
                <a:spcPct val="107000"/>
              </a:lnSpc>
              <a:spcBef>
                <a:spcPts val="800"/>
              </a:spcBef>
              <a:spcAft>
                <a:spcPts val="0"/>
              </a:spcAft>
              <a:buClr>
                <a:schemeClr val="dk1"/>
              </a:buClr>
              <a:buSzPts val="2400"/>
              <a:buFont typeface="Arial"/>
              <a:buChar char="•"/>
            </a:pPr>
            <a:r>
              <a:rPr lang="en-MY" sz="2400" b="0" i="0" u="none" strike="noStrike" cap="none">
                <a:solidFill>
                  <a:schemeClr val="dk1"/>
                </a:solidFill>
                <a:latin typeface="Arial"/>
                <a:ea typeface="Arial"/>
                <a:cs typeface="Arial"/>
                <a:sym typeface="Arial"/>
              </a:rPr>
              <a:t>There are </a:t>
            </a:r>
            <a:r>
              <a:rPr lang="en-MY" sz="2400" b="1" i="0" u="none" strike="noStrike" cap="none">
                <a:solidFill>
                  <a:schemeClr val="dk1"/>
                </a:solidFill>
                <a:latin typeface="Arial"/>
                <a:ea typeface="Arial"/>
                <a:cs typeface="Arial"/>
                <a:sym typeface="Arial"/>
              </a:rPr>
              <a:t>five</a:t>
            </a:r>
            <a:r>
              <a:rPr lang="en-MY" sz="2400" b="0" i="0" u="none" strike="noStrike" cap="none">
                <a:solidFill>
                  <a:schemeClr val="dk1"/>
                </a:solidFill>
                <a:latin typeface="Arial"/>
                <a:ea typeface="Arial"/>
                <a:cs typeface="Arial"/>
                <a:sym typeface="Arial"/>
              </a:rPr>
              <a:t> components that play a central role in FPA:</a:t>
            </a:r>
            <a:endParaRPr sz="1400" b="0" i="0" u="none" strike="noStrike" cap="none">
              <a:solidFill>
                <a:srgbClr val="000000"/>
              </a:solidFill>
              <a:latin typeface="Arial"/>
              <a:ea typeface="Arial"/>
              <a:cs typeface="Arial"/>
              <a:sym typeface="Arial"/>
            </a:endParaRPr>
          </a:p>
          <a:p>
            <a:pPr marL="0" marR="0" lvl="0" indent="0" algn="just" rtl="0">
              <a:lnSpc>
                <a:spcPct val="107000"/>
              </a:lnSpc>
              <a:spcBef>
                <a:spcPts val="800"/>
              </a:spcBef>
              <a:spcAft>
                <a:spcPts val="0"/>
              </a:spcAft>
              <a:buClr>
                <a:schemeClr val="dk1"/>
              </a:buClr>
              <a:buSzPts val="2400"/>
              <a:buFont typeface="Calibri"/>
              <a:buNone/>
            </a:pPr>
            <a:endParaRPr sz="2400" b="0" i="0" u="none" strike="noStrike" cap="none">
              <a:solidFill>
                <a:schemeClr val="dk1"/>
              </a:solidFill>
              <a:latin typeface="Arial"/>
              <a:ea typeface="Arial"/>
              <a:cs typeface="Arial"/>
              <a:sym typeface="Arial"/>
            </a:endParaRPr>
          </a:p>
        </p:txBody>
      </p:sp>
      <p:graphicFrame>
        <p:nvGraphicFramePr>
          <p:cNvPr id="278" name="Google Shape;278;p27"/>
          <p:cNvGraphicFramePr/>
          <p:nvPr/>
        </p:nvGraphicFramePr>
        <p:xfrm>
          <a:off x="1122649" y="2039462"/>
          <a:ext cx="9946700" cy="3890745"/>
        </p:xfrm>
        <a:graphic>
          <a:graphicData uri="http://schemas.openxmlformats.org/drawingml/2006/table">
            <a:tbl>
              <a:tblPr firstRow="1" bandRow="1">
                <a:noFill/>
                <a:tableStyleId>{DF398B2A-15F8-4116-8A9A-C70BB34DCDE9}</a:tableStyleId>
              </a:tblPr>
              <a:tblGrid>
                <a:gridCol w="2367000">
                  <a:extLst>
                    <a:ext uri="{9D8B030D-6E8A-4147-A177-3AD203B41FA5}">
                      <a16:colId xmlns:a16="http://schemas.microsoft.com/office/drawing/2014/main" val="20000"/>
                    </a:ext>
                  </a:extLst>
                </a:gridCol>
                <a:gridCol w="7579700">
                  <a:extLst>
                    <a:ext uri="{9D8B030D-6E8A-4147-A177-3AD203B41FA5}">
                      <a16:colId xmlns:a16="http://schemas.microsoft.com/office/drawing/2014/main" val="20001"/>
                    </a:ext>
                  </a:extLst>
                </a:gridCol>
              </a:tblGrid>
              <a:tr h="690325">
                <a:tc>
                  <a:txBody>
                    <a:bodyPr/>
                    <a:lstStyle/>
                    <a:p>
                      <a:pPr marL="0" marR="0" lvl="0" indent="0" algn="ctr" rtl="0">
                        <a:lnSpc>
                          <a:spcPct val="100000"/>
                        </a:lnSpc>
                        <a:spcBef>
                          <a:spcPts val="0"/>
                        </a:spcBef>
                        <a:spcAft>
                          <a:spcPts val="0"/>
                        </a:spcAft>
                        <a:buClr>
                          <a:srgbClr val="000000"/>
                        </a:buClr>
                        <a:buSzPts val="1800"/>
                        <a:buFont typeface="Arial"/>
                        <a:buNone/>
                      </a:pPr>
                      <a:r>
                        <a:rPr lang="en-MY" sz="1800" u="none" strike="noStrike" cap="none"/>
                        <a:t>Component</a:t>
                      </a:r>
                      <a:endParaRPr sz="1800" u="none" strike="noStrike" cap="none"/>
                    </a:p>
                  </a:txBody>
                  <a:tcPr marL="91450" marR="91450" marT="45725" marB="45725" anchor="ctr"/>
                </a:tc>
                <a:tc>
                  <a:txBody>
                    <a:bodyPr/>
                    <a:lstStyle/>
                    <a:p>
                      <a:pPr marL="0" marR="0" lvl="0" indent="0" algn="ctr" rtl="0">
                        <a:lnSpc>
                          <a:spcPct val="100000"/>
                        </a:lnSpc>
                        <a:spcBef>
                          <a:spcPts val="0"/>
                        </a:spcBef>
                        <a:spcAft>
                          <a:spcPts val="0"/>
                        </a:spcAft>
                        <a:buClr>
                          <a:srgbClr val="000000"/>
                        </a:buClr>
                        <a:buSzPts val="1800"/>
                        <a:buFont typeface="Arial"/>
                        <a:buNone/>
                      </a:pPr>
                      <a:r>
                        <a:rPr lang="en-MY" sz="1800" u="none" strike="noStrike" cap="none"/>
                        <a:t>Description</a:t>
                      </a:r>
                      <a:endParaRPr sz="1800" u="none" strike="noStrike" cap="none"/>
                    </a:p>
                  </a:txBody>
                  <a:tcPr marL="91450" marR="91450" marT="45725" marB="45725" anchor="ctr"/>
                </a:tc>
                <a:extLst>
                  <a:ext uri="{0D108BD9-81ED-4DB2-BD59-A6C34878D82A}">
                    <a16:rowId xmlns:a16="http://schemas.microsoft.com/office/drawing/2014/main" val="10000"/>
                  </a:ext>
                </a:extLst>
              </a:tr>
              <a:tr h="690325">
                <a:tc>
                  <a:txBody>
                    <a:bodyPr/>
                    <a:lstStyle/>
                    <a:p>
                      <a:pPr marL="0" marR="0" lvl="0" indent="0" algn="l" rtl="0">
                        <a:lnSpc>
                          <a:spcPct val="100000"/>
                        </a:lnSpc>
                        <a:spcBef>
                          <a:spcPts val="0"/>
                        </a:spcBef>
                        <a:spcAft>
                          <a:spcPts val="0"/>
                        </a:spcAft>
                        <a:buClr>
                          <a:schemeClr val="dk1"/>
                        </a:buClr>
                        <a:buSzPts val="1800"/>
                        <a:buFont typeface="Calibri"/>
                        <a:buNone/>
                      </a:pPr>
                      <a:r>
                        <a:rPr lang="en-MY" sz="1800" u="none" strike="noStrike" cap="none">
                          <a:solidFill>
                            <a:schemeClr val="dk1"/>
                          </a:solidFill>
                          <a:latin typeface="Calibri"/>
                          <a:ea typeface="Calibri"/>
                          <a:cs typeface="Calibri"/>
                          <a:sym typeface="Calibri"/>
                        </a:rPr>
                        <a:t>External inputs (</a:t>
                      </a:r>
                      <a:r>
                        <a:rPr lang="en-MY" sz="1800" i="1" u="none" strike="noStrike" cap="none">
                          <a:solidFill>
                            <a:schemeClr val="dk1"/>
                          </a:solidFill>
                          <a:latin typeface="Calibri"/>
                          <a:ea typeface="Calibri"/>
                          <a:cs typeface="Calibri"/>
                          <a:sym typeface="Calibri"/>
                        </a:rPr>
                        <a:t>EI</a:t>
                      </a:r>
                      <a:r>
                        <a:rPr lang="en-MY" sz="1800" u="none" strike="noStrike" cap="none">
                          <a:solidFill>
                            <a:schemeClr val="dk1"/>
                          </a:solidFill>
                          <a:latin typeface="Calibri"/>
                          <a:ea typeface="Calibri"/>
                          <a:cs typeface="Calibri"/>
                          <a:sym typeface="Calibri"/>
                        </a:rPr>
                        <a:t>)</a:t>
                      </a:r>
                      <a:endParaRPr sz="1400" u="none" strike="noStrike" cap="none"/>
                    </a:p>
                  </a:txBody>
                  <a:tcPr marL="91450" marR="91450" marT="45725" marB="45725" anchor="ctr"/>
                </a:tc>
                <a:tc>
                  <a:txBody>
                    <a:bodyPr/>
                    <a:lstStyle/>
                    <a:p>
                      <a:pPr marL="285750" marR="0" lvl="0" indent="-285750" algn="l" rtl="0">
                        <a:lnSpc>
                          <a:spcPct val="100000"/>
                        </a:lnSpc>
                        <a:spcBef>
                          <a:spcPts val="0"/>
                        </a:spcBef>
                        <a:spcAft>
                          <a:spcPts val="0"/>
                        </a:spcAft>
                        <a:buClr>
                          <a:schemeClr val="dk1"/>
                        </a:buClr>
                        <a:buSzPts val="1800"/>
                        <a:buFont typeface="Arial"/>
                        <a:buChar char="•"/>
                      </a:pPr>
                      <a:r>
                        <a:rPr lang="en-MY" sz="1800" i="1" u="none" strike="noStrike" cap="none">
                          <a:solidFill>
                            <a:schemeClr val="dk1"/>
                          </a:solidFill>
                          <a:latin typeface="Calibri"/>
                          <a:ea typeface="Calibri"/>
                          <a:cs typeface="Calibri"/>
                          <a:sym typeface="Calibri"/>
                        </a:rPr>
                        <a:t>EI</a:t>
                      </a:r>
                      <a:r>
                        <a:rPr lang="en-MY" sz="1800" u="none" strike="noStrike" cap="none">
                          <a:solidFill>
                            <a:schemeClr val="dk1"/>
                          </a:solidFill>
                          <a:latin typeface="Calibri"/>
                          <a:ea typeface="Calibri"/>
                          <a:cs typeface="Calibri"/>
                          <a:sym typeface="Calibri"/>
                        </a:rPr>
                        <a:t> refer only to user input that results in changes in data structures.</a:t>
                      </a:r>
                      <a:endParaRPr sz="1400" u="none" strike="noStrike" cap="none"/>
                    </a:p>
                    <a:p>
                      <a:pPr marL="285750" marR="0" lvl="0" indent="-285750" algn="l" rtl="0">
                        <a:lnSpc>
                          <a:spcPct val="100000"/>
                        </a:lnSpc>
                        <a:spcBef>
                          <a:spcPts val="0"/>
                        </a:spcBef>
                        <a:spcAft>
                          <a:spcPts val="0"/>
                        </a:spcAft>
                        <a:buClr>
                          <a:schemeClr val="dk1"/>
                        </a:buClr>
                        <a:buSzPts val="1800"/>
                        <a:buFont typeface="Arial"/>
                        <a:buChar char="•"/>
                      </a:pPr>
                      <a:r>
                        <a:rPr lang="en-MY" sz="1800" u="none" strike="noStrike" cap="none">
                          <a:solidFill>
                            <a:schemeClr val="dk1"/>
                          </a:solidFill>
                          <a:latin typeface="Calibri"/>
                          <a:ea typeface="Calibri"/>
                          <a:cs typeface="Calibri"/>
                          <a:sym typeface="Calibri"/>
                        </a:rPr>
                        <a:t>It does not concern user input which is solely concerned with controlling the program’s execution.</a:t>
                      </a:r>
                      <a:endParaRPr sz="1400" u="none" strike="noStrike" cap="none"/>
                    </a:p>
                    <a:p>
                      <a:pPr marL="285750" marR="0" lvl="0" indent="-285750" algn="l" rtl="0">
                        <a:lnSpc>
                          <a:spcPct val="100000"/>
                        </a:lnSpc>
                        <a:spcBef>
                          <a:spcPts val="0"/>
                        </a:spcBef>
                        <a:spcAft>
                          <a:spcPts val="0"/>
                        </a:spcAft>
                        <a:buClr>
                          <a:schemeClr val="dk1"/>
                        </a:buClr>
                        <a:buSzPts val="1800"/>
                        <a:buFont typeface="Arial"/>
                        <a:buChar char="•"/>
                      </a:pPr>
                      <a:r>
                        <a:rPr lang="en-MY" sz="1800" u="none" strike="noStrike" cap="none">
                          <a:solidFill>
                            <a:schemeClr val="dk1"/>
                          </a:solidFill>
                          <a:latin typeface="Calibri"/>
                          <a:ea typeface="Calibri"/>
                          <a:cs typeface="Calibri"/>
                          <a:sym typeface="Calibri"/>
                        </a:rPr>
                        <a:t>Each input type that has a different format, or is treated differently, is counted.</a:t>
                      </a:r>
                      <a:endParaRPr sz="1400" u="none" strike="noStrike" cap="none"/>
                    </a:p>
                    <a:p>
                      <a:pPr marL="285750" marR="0" lvl="0" indent="-285750" algn="l" rtl="0">
                        <a:lnSpc>
                          <a:spcPct val="100000"/>
                        </a:lnSpc>
                        <a:spcBef>
                          <a:spcPts val="0"/>
                        </a:spcBef>
                        <a:spcAft>
                          <a:spcPts val="0"/>
                        </a:spcAft>
                        <a:buClr>
                          <a:schemeClr val="dk1"/>
                        </a:buClr>
                        <a:buSzPts val="1800"/>
                        <a:buFont typeface="Arial"/>
                        <a:buChar char="•"/>
                      </a:pPr>
                      <a:r>
                        <a:rPr lang="en-MY" sz="1800" u="none" strike="noStrike" cap="none">
                          <a:solidFill>
                            <a:schemeClr val="dk1"/>
                          </a:solidFill>
                          <a:latin typeface="Calibri"/>
                          <a:ea typeface="Calibri"/>
                          <a:cs typeface="Calibri"/>
                          <a:sym typeface="Calibri"/>
                        </a:rPr>
                        <a:t>Though the records of a master file and those of a mutation file may have the same format, they are still counted separately.</a:t>
                      </a:r>
                      <a:endParaRPr sz="1400" u="none" strike="noStrike" cap="none"/>
                    </a:p>
                    <a:p>
                      <a:pPr marL="285750" marR="0" lvl="0" indent="-285750" algn="l" rtl="0">
                        <a:lnSpc>
                          <a:spcPct val="100000"/>
                        </a:lnSpc>
                        <a:spcBef>
                          <a:spcPts val="0"/>
                        </a:spcBef>
                        <a:spcAft>
                          <a:spcPts val="0"/>
                        </a:spcAft>
                        <a:buClr>
                          <a:schemeClr val="dk1"/>
                        </a:buClr>
                        <a:buSzPts val="1800"/>
                        <a:buFont typeface="Arial"/>
                        <a:buChar char="•"/>
                      </a:pPr>
                      <a:r>
                        <a:rPr lang="en-MY" sz="1800" u="none" strike="noStrike" cap="none">
                          <a:solidFill>
                            <a:schemeClr val="dk1"/>
                          </a:solidFill>
                          <a:latin typeface="Calibri"/>
                          <a:ea typeface="Calibri"/>
                          <a:cs typeface="Calibri"/>
                          <a:sym typeface="Calibri"/>
                        </a:rPr>
                        <a:t>Example: A login form accepting username and password.</a:t>
                      </a:r>
                      <a:endParaRPr sz="1400" u="none" strike="noStrike" cap="none"/>
                    </a:p>
                  </a:txBody>
                  <a:tcPr marL="91450" marR="91450" marT="45725" marB="45725" anchor="ctr"/>
                </a:tc>
                <a:extLst>
                  <a:ext uri="{0D108BD9-81ED-4DB2-BD59-A6C34878D82A}">
                    <a16:rowId xmlns:a16="http://schemas.microsoft.com/office/drawing/2014/main" val="10001"/>
                  </a:ext>
                </a:extLst>
              </a:tr>
              <a:tr h="690325">
                <a:tc>
                  <a:txBody>
                    <a:bodyPr/>
                    <a:lstStyle/>
                    <a:p>
                      <a:pPr marL="0" marR="0" lvl="0" indent="0" algn="l" rtl="0">
                        <a:lnSpc>
                          <a:spcPct val="100000"/>
                        </a:lnSpc>
                        <a:spcBef>
                          <a:spcPts val="0"/>
                        </a:spcBef>
                        <a:spcAft>
                          <a:spcPts val="0"/>
                        </a:spcAft>
                        <a:buClr>
                          <a:srgbClr val="000000"/>
                        </a:buClr>
                        <a:buSzPts val="1800"/>
                        <a:buFont typeface="Arial"/>
                        <a:buNone/>
                      </a:pPr>
                      <a:r>
                        <a:rPr lang="en-MY" sz="1800" u="none" strike="noStrike" cap="none">
                          <a:solidFill>
                            <a:schemeClr val="dk1"/>
                          </a:solidFill>
                          <a:latin typeface="Calibri"/>
                          <a:ea typeface="Calibri"/>
                          <a:cs typeface="Calibri"/>
                          <a:sym typeface="Calibri"/>
                        </a:rPr>
                        <a:t>External outputs (</a:t>
                      </a:r>
                      <a:r>
                        <a:rPr lang="en-MY" sz="1800" i="1" u="none" strike="noStrike" cap="none">
                          <a:solidFill>
                            <a:schemeClr val="dk1"/>
                          </a:solidFill>
                          <a:latin typeface="Calibri"/>
                          <a:ea typeface="Calibri"/>
                          <a:cs typeface="Calibri"/>
                          <a:sym typeface="Calibri"/>
                        </a:rPr>
                        <a:t>EO</a:t>
                      </a:r>
                      <a:r>
                        <a:rPr lang="en-MY" sz="1800" u="none" strike="noStrike" cap="none">
                          <a:solidFill>
                            <a:schemeClr val="dk1"/>
                          </a:solidFill>
                          <a:latin typeface="Calibri"/>
                          <a:ea typeface="Calibri"/>
                          <a:cs typeface="Calibri"/>
                          <a:sym typeface="Calibri"/>
                        </a:rPr>
                        <a:t>)</a:t>
                      </a:r>
                      <a:endParaRPr sz="1800" u="none" strike="noStrike" cap="none"/>
                    </a:p>
                  </a:txBody>
                  <a:tcPr marL="91450" marR="91450" marT="45725" marB="45725" anchor="ctr"/>
                </a:tc>
                <a:tc>
                  <a:txBody>
                    <a:bodyPr/>
                    <a:lstStyle/>
                    <a:p>
                      <a:pPr marL="285750" marR="0" lvl="0" indent="-285750" algn="l" rtl="0">
                        <a:lnSpc>
                          <a:spcPct val="100000"/>
                        </a:lnSpc>
                        <a:spcBef>
                          <a:spcPts val="0"/>
                        </a:spcBef>
                        <a:spcAft>
                          <a:spcPts val="0"/>
                        </a:spcAft>
                        <a:buClr>
                          <a:schemeClr val="dk1"/>
                        </a:buClr>
                        <a:buSzPts val="1800"/>
                        <a:buFont typeface="Arial"/>
                        <a:buChar char="•"/>
                      </a:pPr>
                      <a:r>
                        <a:rPr lang="en-MY" sz="1800" i="1" u="none" strike="noStrike" cap="none">
                          <a:solidFill>
                            <a:schemeClr val="dk1"/>
                          </a:solidFill>
                          <a:latin typeface="Calibri"/>
                          <a:ea typeface="Calibri"/>
                          <a:cs typeface="Calibri"/>
                          <a:sym typeface="Calibri"/>
                        </a:rPr>
                        <a:t>EO</a:t>
                      </a:r>
                      <a:r>
                        <a:rPr lang="en-MY" sz="1800" u="none" strike="noStrike" cap="none">
                          <a:solidFill>
                            <a:schemeClr val="dk1"/>
                          </a:solidFill>
                          <a:latin typeface="Calibri"/>
                          <a:ea typeface="Calibri"/>
                          <a:cs typeface="Calibri"/>
                          <a:sym typeface="Calibri"/>
                        </a:rPr>
                        <a:t> generates data or control information sent outside the application’s boundary.</a:t>
                      </a:r>
                      <a:endParaRPr sz="1400" u="none" strike="noStrike" cap="none"/>
                    </a:p>
                    <a:p>
                      <a:pPr marL="285750" marR="0" lvl="0" indent="-285750" algn="l" rtl="0">
                        <a:lnSpc>
                          <a:spcPct val="100000"/>
                        </a:lnSpc>
                        <a:spcBef>
                          <a:spcPts val="0"/>
                        </a:spcBef>
                        <a:spcAft>
                          <a:spcPts val="0"/>
                        </a:spcAft>
                        <a:buClr>
                          <a:schemeClr val="dk1"/>
                        </a:buClr>
                        <a:buSzPts val="1800"/>
                        <a:buFont typeface="Arial"/>
                        <a:buChar char="•"/>
                      </a:pPr>
                      <a:r>
                        <a:rPr lang="en-MY" sz="1800" u="none" strike="noStrike" cap="none">
                          <a:solidFill>
                            <a:schemeClr val="dk1"/>
                          </a:solidFill>
                          <a:latin typeface="Calibri"/>
                          <a:ea typeface="Calibri"/>
                          <a:cs typeface="Calibri"/>
                          <a:sym typeface="Calibri"/>
                        </a:rPr>
                        <a:t>Example: Invoice report etc.</a:t>
                      </a:r>
                      <a:endParaRPr sz="1400" u="none" strike="noStrike" cap="none"/>
                    </a:p>
                  </a:txBody>
                  <a:tcPr marL="91450" marR="91450" marT="45725" marB="45725" anchor="ctr"/>
                </a:tc>
                <a:extLst>
                  <a:ext uri="{0D108BD9-81ED-4DB2-BD59-A6C34878D82A}">
                    <a16:rowId xmlns:a16="http://schemas.microsoft.com/office/drawing/2014/main" val="10002"/>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graphicFrame>
        <p:nvGraphicFramePr>
          <p:cNvPr id="283" name="Google Shape;283;p28"/>
          <p:cNvGraphicFramePr/>
          <p:nvPr/>
        </p:nvGraphicFramePr>
        <p:xfrm>
          <a:off x="1122650" y="1437912"/>
          <a:ext cx="9946700" cy="3982195"/>
        </p:xfrm>
        <a:graphic>
          <a:graphicData uri="http://schemas.openxmlformats.org/drawingml/2006/table">
            <a:tbl>
              <a:tblPr firstRow="1" bandRow="1">
                <a:noFill/>
                <a:tableStyleId>{DF398B2A-15F8-4116-8A9A-C70BB34DCDE9}</a:tableStyleId>
              </a:tblPr>
              <a:tblGrid>
                <a:gridCol w="2684250">
                  <a:extLst>
                    <a:ext uri="{9D8B030D-6E8A-4147-A177-3AD203B41FA5}">
                      <a16:colId xmlns:a16="http://schemas.microsoft.com/office/drawing/2014/main" val="20000"/>
                    </a:ext>
                  </a:extLst>
                </a:gridCol>
                <a:gridCol w="7262450">
                  <a:extLst>
                    <a:ext uri="{9D8B030D-6E8A-4147-A177-3AD203B41FA5}">
                      <a16:colId xmlns:a16="http://schemas.microsoft.com/office/drawing/2014/main" val="20001"/>
                    </a:ext>
                  </a:extLst>
                </a:gridCol>
              </a:tblGrid>
              <a:tr h="690325">
                <a:tc>
                  <a:txBody>
                    <a:bodyPr/>
                    <a:lstStyle/>
                    <a:p>
                      <a:pPr marL="0" marR="0" lvl="0" indent="0" algn="ctr" rtl="0">
                        <a:lnSpc>
                          <a:spcPct val="100000"/>
                        </a:lnSpc>
                        <a:spcBef>
                          <a:spcPts val="0"/>
                        </a:spcBef>
                        <a:spcAft>
                          <a:spcPts val="0"/>
                        </a:spcAft>
                        <a:buClr>
                          <a:srgbClr val="000000"/>
                        </a:buClr>
                        <a:buSzPts val="1800"/>
                        <a:buFont typeface="Arial"/>
                        <a:buNone/>
                      </a:pPr>
                      <a:r>
                        <a:rPr lang="en-MY" sz="1800" u="none" strike="noStrike" cap="none"/>
                        <a:t>Component</a:t>
                      </a:r>
                      <a:endParaRPr sz="1800" u="none" strike="noStrike" cap="none"/>
                    </a:p>
                  </a:txBody>
                  <a:tcPr marL="91450" marR="91450" marT="45725" marB="45725" anchor="ctr"/>
                </a:tc>
                <a:tc>
                  <a:txBody>
                    <a:bodyPr/>
                    <a:lstStyle/>
                    <a:p>
                      <a:pPr marL="0" marR="0" lvl="0" indent="0" algn="ctr" rtl="0">
                        <a:lnSpc>
                          <a:spcPct val="100000"/>
                        </a:lnSpc>
                        <a:spcBef>
                          <a:spcPts val="0"/>
                        </a:spcBef>
                        <a:spcAft>
                          <a:spcPts val="0"/>
                        </a:spcAft>
                        <a:buClr>
                          <a:srgbClr val="000000"/>
                        </a:buClr>
                        <a:buSzPts val="1800"/>
                        <a:buFont typeface="Arial"/>
                        <a:buNone/>
                      </a:pPr>
                      <a:r>
                        <a:rPr lang="en-MY" sz="1800" u="none" strike="noStrike" cap="none"/>
                        <a:t>Description</a:t>
                      </a:r>
                      <a:endParaRPr sz="1800" u="none" strike="noStrike" cap="none"/>
                    </a:p>
                  </a:txBody>
                  <a:tcPr marL="91450" marR="91450" marT="45725" marB="45725" anchor="ctr"/>
                </a:tc>
                <a:extLst>
                  <a:ext uri="{0D108BD9-81ED-4DB2-BD59-A6C34878D82A}">
                    <a16:rowId xmlns:a16="http://schemas.microsoft.com/office/drawing/2014/main" val="10000"/>
                  </a:ext>
                </a:extLst>
              </a:tr>
              <a:tr h="690325">
                <a:tc>
                  <a:txBody>
                    <a:bodyPr/>
                    <a:lstStyle/>
                    <a:p>
                      <a:pPr marL="0" marR="0" lvl="0" indent="0" algn="l" rtl="0">
                        <a:lnSpc>
                          <a:spcPct val="100000"/>
                        </a:lnSpc>
                        <a:spcBef>
                          <a:spcPts val="0"/>
                        </a:spcBef>
                        <a:spcAft>
                          <a:spcPts val="0"/>
                        </a:spcAft>
                        <a:buClr>
                          <a:srgbClr val="000000"/>
                        </a:buClr>
                        <a:buSzPts val="1800"/>
                        <a:buFont typeface="Arial"/>
                        <a:buNone/>
                      </a:pPr>
                      <a:r>
                        <a:rPr lang="en-MY" sz="1800" u="none" strike="noStrike" cap="none">
                          <a:solidFill>
                            <a:schemeClr val="dk1"/>
                          </a:solidFill>
                          <a:latin typeface="Calibri"/>
                          <a:ea typeface="Calibri"/>
                          <a:cs typeface="Calibri"/>
                          <a:sym typeface="Calibri"/>
                        </a:rPr>
                        <a:t>External inquiry (</a:t>
                      </a:r>
                      <a:r>
                        <a:rPr lang="en-MY" sz="1800" i="1" u="none" strike="noStrike" cap="none">
                          <a:solidFill>
                            <a:schemeClr val="dk1"/>
                          </a:solidFill>
                          <a:latin typeface="Calibri"/>
                          <a:ea typeface="Calibri"/>
                          <a:cs typeface="Calibri"/>
                          <a:sym typeface="Calibri"/>
                        </a:rPr>
                        <a:t>EQ</a:t>
                      </a:r>
                      <a:r>
                        <a:rPr lang="en-MY" sz="1800" u="none" strike="noStrike" cap="none">
                          <a:solidFill>
                            <a:schemeClr val="dk1"/>
                          </a:solidFill>
                          <a:latin typeface="Calibri"/>
                          <a:ea typeface="Calibri"/>
                          <a:cs typeface="Calibri"/>
                          <a:sym typeface="Calibri"/>
                        </a:rPr>
                        <a:t>)</a:t>
                      </a:r>
                      <a:endParaRPr sz="1800" u="none" strike="noStrike" cap="none"/>
                    </a:p>
                  </a:txBody>
                  <a:tcPr marL="91450" marR="91450" marT="45725" marB="45725" anchor="ctr"/>
                </a:tc>
                <a:tc>
                  <a:txBody>
                    <a:bodyPr/>
                    <a:lstStyle/>
                    <a:p>
                      <a:pPr marL="285750" marR="0" lvl="0" indent="-285750" algn="l" rtl="0">
                        <a:lnSpc>
                          <a:spcPct val="100000"/>
                        </a:lnSpc>
                        <a:spcBef>
                          <a:spcPts val="0"/>
                        </a:spcBef>
                        <a:spcAft>
                          <a:spcPts val="0"/>
                        </a:spcAft>
                        <a:buClr>
                          <a:schemeClr val="dk1"/>
                        </a:buClr>
                        <a:buSzPts val="1800"/>
                        <a:buFont typeface="Arial"/>
                        <a:buChar char="•"/>
                      </a:pPr>
                      <a:r>
                        <a:rPr lang="en-MY" sz="1800" i="1" u="none" strike="noStrike" cap="none">
                          <a:solidFill>
                            <a:schemeClr val="dk1"/>
                          </a:solidFill>
                          <a:latin typeface="Calibri"/>
                          <a:ea typeface="Calibri"/>
                          <a:cs typeface="Calibri"/>
                          <a:sym typeface="Calibri"/>
                        </a:rPr>
                        <a:t>EQ</a:t>
                      </a:r>
                      <a:r>
                        <a:rPr lang="en-MY" sz="1800" u="none" strike="noStrike" cap="none">
                          <a:solidFill>
                            <a:schemeClr val="dk1"/>
                          </a:solidFill>
                          <a:latin typeface="Calibri"/>
                          <a:ea typeface="Calibri"/>
                          <a:cs typeface="Calibri"/>
                          <a:sym typeface="Calibri"/>
                        </a:rPr>
                        <a:t> concern on input that controls the execution of the program and does not change internal data structures.</a:t>
                      </a:r>
                      <a:endParaRPr sz="1400" u="none" strike="noStrike" cap="none"/>
                    </a:p>
                    <a:p>
                      <a:pPr marL="285750" marR="0" lvl="0" indent="-285750" algn="l" rtl="0">
                        <a:lnSpc>
                          <a:spcPct val="100000"/>
                        </a:lnSpc>
                        <a:spcBef>
                          <a:spcPts val="0"/>
                        </a:spcBef>
                        <a:spcAft>
                          <a:spcPts val="0"/>
                        </a:spcAft>
                        <a:buClr>
                          <a:schemeClr val="dk1"/>
                        </a:buClr>
                        <a:buSzPts val="1800"/>
                        <a:buFont typeface="Arial"/>
                        <a:buChar char="•"/>
                      </a:pPr>
                      <a:r>
                        <a:rPr lang="en-MY" sz="1800" u="none" strike="noStrike" cap="none">
                          <a:solidFill>
                            <a:schemeClr val="dk1"/>
                          </a:solidFill>
                          <a:latin typeface="Calibri"/>
                          <a:ea typeface="Calibri"/>
                          <a:cs typeface="Calibri"/>
                          <a:sym typeface="Calibri"/>
                        </a:rPr>
                        <a:t>Examples: Menu selection, query criteria or searching for a customer in a database.</a:t>
                      </a:r>
                      <a:endParaRPr sz="1400" u="none" strike="noStrike" cap="none"/>
                    </a:p>
                  </a:txBody>
                  <a:tcPr marL="91450" marR="91450" marT="45725" marB="45725" anchor="ctr"/>
                </a:tc>
                <a:extLst>
                  <a:ext uri="{0D108BD9-81ED-4DB2-BD59-A6C34878D82A}">
                    <a16:rowId xmlns:a16="http://schemas.microsoft.com/office/drawing/2014/main" val="10001"/>
                  </a:ext>
                </a:extLst>
              </a:tr>
              <a:tr h="690325">
                <a:tc>
                  <a:txBody>
                    <a:bodyPr/>
                    <a:lstStyle/>
                    <a:p>
                      <a:pPr marL="0" marR="0" lvl="0" indent="0" algn="l" rtl="0">
                        <a:lnSpc>
                          <a:spcPct val="100000"/>
                        </a:lnSpc>
                        <a:spcBef>
                          <a:spcPts val="0"/>
                        </a:spcBef>
                        <a:spcAft>
                          <a:spcPts val="0"/>
                        </a:spcAft>
                        <a:buClr>
                          <a:schemeClr val="dk1"/>
                        </a:buClr>
                        <a:buSzPts val="1800"/>
                        <a:buFont typeface="Calibri"/>
                        <a:buNone/>
                      </a:pPr>
                      <a:r>
                        <a:rPr lang="en-MY" sz="1800" u="none" strike="noStrike" cap="none">
                          <a:solidFill>
                            <a:schemeClr val="dk1"/>
                          </a:solidFill>
                          <a:latin typeface="Calibri"/>
                          <a:ea typeface="Calibri"/>
                          <a:cs typeface="Calibri"/>
                          <a:sym typeface="Calibri"/>
                        </a:rPr>
                        <a:t>Internal logical files (</a:t>
                      </a:r>
                      <a:r>
                        <a:rPr lang="en-MY" sz="1800" i="1" u="none" strike="noStrike" cap="none">
                          <a:solidFill>
                            <a:schemeClr val="dk1"/>
                          </a:solidFill>
                          <a:latin typeface="Calibri"/>
                          <a:ea typeface="Calibri"/>
                          <a:cs typeface="Calibri"/>
                          <a:sym typeface="Calibri"/>
                        </a:rPr>
                        <a:t>ILF</a:t>
                      </a:r>
                      <a:r>
                        <a:rPr lang="en-MY" sz="1800" u="none" strike="noStrike" cap="none">
                          <a:solidFill>
                            <a:schemeClr val="dk1"/>
                          </a:solidFill>
                          <a:latin typeface="Calibri"/>
                          <a:ea typeface="Calibri"/>
                          <a:cs typeface="Calibri"/>
                          <a:sym typeface="Calibri"/>
                        </a:rPr>
                        <a:t>)</a:t>
                      </a:r>
                      <a:endParaRPr sz="1400" u="none" strike="noStrike" cap="none"/>
                    </a:p>
                  </a:txBody>
                  <a:tcPr marL="91450" marR="91450" marT="45725" marB="45725" anchor="ctr"/>
                </a:tc>
                <a:tc>
                  <a:txBody>
                    <a:bodyPr/>
                    <a:lstStyle/>
                    <a:p>
                      <a:pPr marL="285750" marR="0" lvl="0" indent="-285750" algn="l" rtl="0">
                        <a:lnSpc>
                          <a:spcPct val="100000"/>
                        </a:lnSpc>
                        <a:spcBef>
                          <a:spcPts val="0"/>
                        </a:spcBef>
                        <a:spcAft>
                          <a:spcPts val="0"/>
                        </a:spcAft>
                        <a:buClr>
                          <a:schemeClr val="dk1"/>
                        </a:buClr>
                        <a:buSzPts val="1800"/>
                        <a:buFont typeface="Arial"/>
                        <a:buChar char="•"/>
                      </a:pPr>
                      <a:r>
                        <a:rPr lang="en-MY" sz="1800" u="none" strike="noStrike" cap="none">
                          <a:solidFill>
                            <a:schemeClr val="dk1"/>
                          </a:solidFill>
                          <a:latin typeface="Calibri"/>
                          <a:ea typeface="Calibri"/>
                          <a:cs typeface="Calibri"/>
                          <a:sym typeface="Calibri"/>
                        </a:rPr>
                        <a:t>This concerns internal data generated by the system, and used and maintained by the system, such as, for example, an index file or database records.</a:t>
                      </a:r>
                      <a:endParaRPr sz="1400" u="none" strike="noStrike" cap="none"/>
                    </a:p>
                    <a:p>
                      <a:pPr marL="285750" marR="0" lvl="0" indent="-285750" algn="l" rtl="0">
                        <a:lnSpc>
                          <a:spcPct val="100000"/>
                        </a:lnSpc>
                        <a:spcBef>
                          <a:spcPts val="0"/>
                        </a:spcBef>
                        <a:spcAft>
                          <a:spcPts val="0"/>
                        </a:spcAft>
                        <a:buClr>
                          <a:schemeClr val="dk1"/>
                        </a:buClr>
                        <a:buSzPts val="1800"/>
                        <a:buFont typeface="Arial"/>
                        <a:buChar char="•"/>
                      </a:pPr>
                      <a:r>
                        <a:rPr lang="en-MY" sz="1800" u="none" strike="noStrike" cap="none">
                          <a:solidFill>
                            <a:schemeClr val="dk1"/>
                          </a:solidFill>
                          <a:latin typeface="Calibri"/>
                          <a:ea typeface="Calibri"/>
                          <a:cs typeface="Calibri"/>
                          <a:sym typeface="Calibri"/>
                        </a:rPr>
                        <a:t>Example: A database table storing employee records.</a:t>
                      </a:r>
                      <a:endParaRPr sz="1400" u="none" strike="noStrike" cap="none"/>
                    </a:p>
                  </a:txBody>
                  <a:tcPr marL="91450" marR="91450" marT="45725" marB="45725" anchor="ctr"/>
                </a:tc>
                <a:extLst>
                  <a:ext uri="{0D108BD9-81ED-4DB2-BD59-A6C34878D82A}">
                    <a16:rowId xmlns:a16="http://schemas.microsoft.com/office/drawing/2014/main" val="10002"/>
                  </a:ext>
                </a:extLst>
              </a:tr>
              <a:tr h="690325">
                <a:tc>
                  <a:txBody>
                    <a:bodyPr/>
                    <a:lstStyle/>
                    <a:p>
                      <a:pPr marL="0" marR="0" lvl="0" indent="0" algn="l" rtl="0">
                        <a:lnSpc>
                          <a:spcPct val="100000"/>
                        </a:lnSpc>
                        <a:spcBef>
                          <a:spcPts val="0"/>
                        </a:spcBef>
                        <a:spcAft>
                          <a:spcPts val="0"/>
                        </a:spcAft>
                        <a:buClr>
                          <a:schemeClr val="dk1"/>
                        </a:buClr>
                        <a:buSzPts val="1800"/>
                        <a:buFont typeface="Calibri"/>
                        <a:buNone/>
                      </a:pPr>
                      <a:r>
                        <a:rPr lang="en-MY" sz="1800" u="none" strike="noStrike" cap="none">
                          <a:solidFill>
                            <a:schemeClr val="dk1"/>
                          </a:solidFill>
                          <a:latin typeface="Calibri"/>
                          <a:ea typeface="Calibri"/>
                          <a:cs typeface="Calibri"/>
                          <a:sym typeface="Calibri"/>
                        </a:rPr>
                        <a:t>External Interface File (</a:t>
                      </a:r>
                      <a:r>
                        <a:rPr lang="en-MY" sz="1800" i="1" u="none" strike="noStrike" cap="none">
                          <a:solidFill>
                            <a:schemeClr val="dk1"/>
                          </a:solidFill>
                          <a:latin typeface="Calibri"/>
                          <a:ea typeface="Calibri"/>
                          <a:cs typeface="Calibri"/>
                          <a:sym typeface="Calibri"/>
                        </a:rPr>
                        <a:t>EIF</a:t>
                      </a:r>
                      <a:r>
                        <a:rPr lang="en-MY" sz="1800" u="none" strike="noStrike" cap="none">
                          <a:solidFill>
                            <a:schemeClr val="dk1"/>
                          </a:solidFill>
                          <a:latin typeface="Calibri"/>
                          <a:ea typeface="Calibri"/>
                          <a:cs typeface="Calibri"/>
                          <a:sym typeface="Calibri"/>
                        </a:rPr>
                        <a:t>)</a:t>
                      </a:r>
                      <a:endParaRPr sz="1400" u="none" strike="noStrike" cap="none"/>
                    </a:p>
                  </a:txBody>
                  <a:tcPr marL="91450" marR="91450" marT="45725" marB="45725" anchor="ctr"/>
                </a:tc>
                <a:tc>
                  <a:txBody>
                    <a:bodyPr/>
                    <a:lstStyle/>
                    <a:p>
                      <a:pPr marL="285750" marR="0" lvl="0" indent="-285750" algn="l" rtl="0">
                        <a:lnSpc>
                          <a:spcPct val="100000"/>
                        </a:lnSpc>
                        <a:spcBef>
                          <a:spcPts val="0"/>
                        </a:spcBef>
                        <a:spcAft>
                          <a:spcPts val="0"/>
                        </a:spcAft>
                        <a:buClr>
                          <a:schemeClr val="dk1"/>
                        </a:buClr>
                        <a:buSzPts val="1800"/>
                        <a:buFont typeface="Arial"/>
                        <a:buChar char="•"/>
                      </a:pPr>
                      <a:r>
                        <a:rPr lang="en-MY" sz="1800" u="none" strike="noStrike" cap="none">
                          <a:solidFill>
                            <a:schemeClr val="dk1"/>
                          </a:solidFill>
                          <a:latin typeface="Calibri"/>
                          <a:ea typeface="Calibri"/>
                          <a:cs typeface="Calibri"/>
                          <a:sym typeface="Calibri"/>
                        </a:rPr>
                        <a:t>This concerns data that is output to another application or is shared with some other application.</a:t>
                      </a:r>
                      <a:endParaRPr sz="1400" u="none" strike="noStrike" cap="none"/>
                    </a:p>
                    <a:p>
                      <a:pPr marL="285750" marR="0" lvl="0" indent="-285750" algn="l" rtl="0">
                        <a:lnSpc>
                          <a:spcPct val="100000"/>
                        </a:lnSpc>
                        <a:spcBef>
                          <a:spcPts val="0"/>
                        </a:spcBef>
                        <a:spcAft>
                          <a:spcPts val="0"/>
                        </a:spcAft>
                        <a:buClr>
                          <a:schemeClr val="dk1"/>
                        </a:buClr>
                        <a:buSzPts val="1800"/>
                        <a:buFont typeface="Arial"/>
                        <a:buChar char="•"/>
                      </a:pPr>
                      <a:r>
                        <a:rPr lang="en-MY" sz="1800" u="none" strike="noStrike" cap="none">
                          <a:solidFill>
                            <a:schemeClr val="dk1"/>
                          </a:solidFill>
                          <a:latin typeface="Calibri"/>
                          <a:ea typeface="Calibri"/>
                          <a:cs typeface="Calibri"/>
                          <a:sym typeface="Calibri"/>
                        </a:rPr>
                        <a:t>Example: A product list imported from an external system.</a:t>
                      </a:r>
                      <a:endParaRPr sz="1400" u="none" strike="noStrike" cap="none"/>
                    </a:p>
                  </a:txBody>
                  <a:tcPr marL="91450" marR="91450" marT="45725" marB="45725" anchor="ctr"/>
                </a:tc>
                <a:extLst>
                  <a:ext uri="{0D108BD9-81ED-4DB2-BD59-A6C34878D82A}">
                    <a16:rowId xmlns:a16="http://schemas.microsoft.com/office/drawing/2014/main" val="10003"/>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87"/>
        <p:cNvGrpSpPr/>
        <p:nvPr/>
      </p:nvGrpSpPr>
      <p:grpSpPr>
        <a:xfrm>
          <a:off x="0" y="0"/>
          <a:ext cx="0" cy="0"/>
          <a:chOff x="0" y="0"/>
          <a:chExt cx="0" cy="0"/>
        </a:xfrm>
      </p:grpSpPr>
      <p:graphicFrame>
        <p:nvGraphicFramePr>
          <p:cNvPr id="288" name="Google Shape;288;p30"/>
          <p:cNvGraphicFramePr/>
          <p:nvPr/>
        </p:nvGraphicFramePr>
        <p:xfrm>
          <a:off x="838199" y="1909903"/>
          <a:ext cx="10515625" cy="3697575"/>
        </p:xfrm>
        <a:graphic>
          <a:graphicData uri="http://schemas.openxmlformats.org/drawingml/2006/table">
            <a:tbl>
              <a:tblPr firstRow="1" firstCol="1" bandRow="1">
                <a:noFill/>
                <a:tableStyleId>{DF398B2A-15F8-4116-8A9A-C70BB34DCDE9}</a:tableStyleId>
              </a:tblPr>
              <a:tblGrid>
                <a:gridCol w="3750925">
                  <a:extLst>
                    <a:ext uri="{9D8B030D-6E8A-4147-A177-3AD203B41FA5}">
                      <a16:colId xmlns:a16="http://schemas.microsoft.com/office/drawing/2014/main" val="20000"/>
                    </a:ext>
                  </a:extLst>
                </a:gridCol>
                <a:gridCol w="1910250">
                  <a:extLst>
                    <a:ext uri="{9D8B030D-6E8A-4147-A177-3AD203B41FA5}">
                      <a16:colId xmlns:a16="http://schemas.microsoft.com/office/drawing/2014/main" val="20001"/>
                    </a:ext>
                  </a:extLst>
                </a:gridCol>
                <a:gridCol w="2837625">
                  <a:extLst>
                    <a:ext uri="{9D8B030D-6E8A-4147-A177-3AD203B41FA5}">
                      <a16:colId xmlns:a16="http://schemas.microsoft.com/office/drawing/2014/main" val="20002"/>
                    </a:ext>
                  </a:extLst>
                </a:gridCol>
                <a:gridCol w="2016825">
                  <a:extLst>
                    <a:ext uri="{9D8B030D-6E8A-4147-A177-3AD203B41FA5}">
                      <a16:colId xmlns:a16="http://schemas.microsoft.com/office/drawing/2014/main" val="20003"/>
                    </a:ext>
                  </a:extLst>
                </a:gridCol>
              </a:tblGrid>
              <a:tr h="528225">
                <a:tc rowSpan="2">
                  <a:txBody>
                    <a:bodyPr/>
                    <a:lstStyle/>
                    <a:p>
                      <a:pPr marL="0" marR="0" lvl="0" indent="0" algn="ctr" rtl="0">
                        <a:lnSpc>
                          <a:spcPct val="107000"/>
                        </a:lnSpc>
                        <a:spcBef>
                          <a:spcPts val="0"/>
                        </a:spcBef>
                        <a:spcAft>
                          <a:spcPts val="0"/>
                        </a:spcAft>
                        <a:buClr>
                          <a:schemeClr val="dk1"/>
                        </a:buClr>
                        <a:buSzPts val="2800"/>
                        <a:buFont typeface="Calibri"/>
                        <a:buNone/>
                      </a:pPr>
                      <a:r>
                        <a:rPr lang="en-MY" sz="2800" u="none" strike="noStrike" cap="none"/>
                        <a:t>Component</a:t>
                      </a:r>
                      <a:endParaRPr sz="2800" u="none" strike="noStrike" cap="none">
                        <a:latin typeface="Arial"/>
                        <a:ea typeface="Arial"/>
                        <a:cs typeface="Arial"/>
                        <a:sym typeface="Arial"/>
                      </a:endParaRPr>
                    </a:p>
                  </a:txBody>
                  <a:tcPr marL="173925" marR="173925" marT="0" marB="0" anchor="ctr"/>
                </a:tc>
                <a:tc gridSpan="3">
                  <a:txBody>
                    <a:bodyPr/>
                    <a:lstStyle/>
                    <a:p>
                      <a:pPr marL="0" marR="0" lvl="0" indent="0" algn="ctr" rtl="0">
                        <a:lnSpc>
                          <a:spcPct val="107000"/>
                        </a:lnSpc>
                        <a:spcBef>
                          <a:spcPts val="0"/>
                        </a:spcBef>
                        <a:spcAft>
                          <a:spcPts val="0"/>
                        </a:spcAft>
                        <a:buClr>
                          <a:schemeClr val="dk1"/>
                        </a:buClr>
                        <a:buSzPts val="2800"/>
                        <a:buFont typeface="Calibri"/>
                        <a:buNone/>
                      </a:pPr>
                      <a:r>
                        <a:rPr lang="en-MY" sz="2800" u="none" strike="noStrike" cap="none"/>
                        <a:t>Complexity Weight</a:t>
                      </a:r>
                      <a:endParaRPr sz="2800" u="none" strike="noStrike" cap="none">
                        <a:latin typeface="Arial"/>
                        <a:ea typeface="Arial"/>
                        <a:cs typeface="Arial"/>
                        <a:sym typeface="Arial"/>
                      </a:endParaRPr>
                    </a:p>
                  </a:txBody>
                  <a:tcPr marL="173925" marR="173925" marT="0" marB="0" anchor="ct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28225">
                <a:tc vMerge="1">
                  <a:txBody>
                    <a:bodyPr/>
                    <a:lstStyle/>
                    <a:p>
                      <a:endParaRPr lang="en-US"/>
                    </a:p>
                  </a:txBody>
                  <a:tcPr/>
                </a:tc>
                <a:tc>
                  <a:txBody>
                    <a:bodyPr/>
                    <a:lstStyle/>
                    <a:p>
                      <a:pPr marL="0" marR="0" lvl="0" indent="0" algn="ctr" rtl="0">
                        <a:lnSpc>
                          <a:spcPct val="107000"/>
                        </a:lnSpc>
                        <a:spcBef>
                          <a:spcPts val="0"/>
                        </a:spcBef>
                        <a:spcAft>
                          <a:spcPts val="0"/>
                        </a:spcAft>
                        <a:buClr>
                          <a:schemeClr val="dk1"/>
                        </a:buClr>
                        <a:buSzPts val="2800"/>
                        <a:buFont typeface="Calibri"/>
                        <a:buNone/>
                      </a:pPr>
                      <a:r>
                        <a:rPr lang="en-MY" sz="2800" b="1" u="none" strike="noStrike" cap="none"/>
                        <a:t>Low</a:t>
                      </a:r>
                      <a:endParaRPr sz="2800" b="1" u="none" strike="noStrike" cap="none">
                        <a:latin typeface="Arial"/>
                        <a:ea typeface="Arial"/>
                        <a:cs typeface="Arial"/>
                        <a:sym typeface="Arial"/>
                      </a:endParaRPr>
                    </a:p>
                  </a:txBody>
                  <a:tcPr marL="173925" marR="173925" marT="0" marB="0" anchor="ctr"/>
                </a:tc>
                <a:tc>
                  <a:txBody>
                    <a:bodyPr/>
                    <a:lstStyle/>
                    <a:p>
                      <a:pPr marL="0" marR="0" lvl="0" indent="0" algn="ctr" rtl="0">
                        <a:lnSpc>
                          <a:spcPct val="107000"/>
                        </a:lnSpc>
                        <a:spcBef>
                          <a:spcPts val="0"/>
                        </a:spcBef>
                        <a:spcAft>
                          <a:spcPts val="0"/>
                        </a:spcAft>
                        <a:buClr>
                          <a:schemeClr val="dk1"/>
                        </a:buClr>
                        <a:buSzPts val="2800"/>
                        <a:buFont typeface="Calibri"/>
                        <a:buNone/>
                      </a:pPr>
                      <a:r>
                        <a:rPr lang="en-MY" sz="2800" b="1" u="none" strike="noStrike" cap="none"/>
                        <a:t>Average</a:t>
                      </a:r>
                      <a:endParaRPr sz="2800" b="1" u="none" strike="noStrike" cap="none">
                        <a:latin typeface="Arial"/>
                        <a:ea typeface="Arial"/>
                        <a:cs typeface="Arial"/>
                        <a:sym typeface="Arial"/>
                      </a:endParaRPr>
                    </a:p>
                  </a:txBody>
                  <a:tcPr marL="173925" marR="173925" marT="0" marB="0" anchor="ctr"/>
                </a:tc>
                <a:tc>
                  <a:txBody>
                    <a:bodyPr/>
                    <a:lstStyle/>
                    <a:p>
                      <a:pPr marL="0" marR="0" lvl="0" indent="0" algn="ctr" rtl="0">
                        <a:lnSpc>
                          <a:spcPct val="107000"/>
                        </a:lnSpc>
                        <a:spcBef>
                          <a:spcPts val="0"/>
                        </a:spcBef>
                        <a:spcAft>
                          <a:spcPts val="0"/>
                        </a:spcAft>
                        <a:buClr>
                          <a:schemeClr val="dk1"/>
                        </a:buClr>
                        <a:buSzPts val="2800"/>
                        <a:buFont typeface="Calibri"/>
                        <a:buNone/>
                      </a:pPr>
                      <a:r>
                        <a:rPr lang="en-MY" sz="2800" b="1" u="none" strike="noStrike" cap="none"/>
                        <a:t>High</a:t>
                      </a:r>
                      <a:endParaRPr sz="2800" b="1" u="none" strike="noStrike" cap="none">
                        <a:latin typeface="Arial"/>
                        <a:ea typeface="Arial"/>
                        <a:cs typeface="Arial"/>
                        <a:sym typeface="Arial"/>
                      </a:endParaRPr>
                    </a:p>
                  </a:txBody>
                  <a:tcPr marL="173925" marR="173925" marT="0" marB="0" anchor="ctr"/>
                </a:tc>
                <a:extLst>
                  <a:ext uri="{0D108BD9-81ED-4DB2-BD59-A6C34878D82A}">
                    <a16:rowId xmlns:a16="http://schemas.microsoft.com/office/drawing/2014/main" val="10001"/>
                  </a:ext>
                </a:extLst>
              </a:tr>
              <a:tr h="528225">
                <a:tc>
                  <a:txBody>
                    <a:bodyPr/>
                    <a:lstStyle/>
                    <a:p>
                      <a:pPr marL="0" marR="0" lvl="0" indent="0" algn="ctr" rtl="0">
                        <a:lnSpc>
                          <a:spcPct val="107000"/>
                        </a:lnSpc>
                        <a:spcBef>
                          <a:spcPts val="0"/>
                        </a:spcBef>
                        <a:spcAft>
                          <a:spcPts val="0"/>
                        </a:spcAft>
                        <a:buClr>
                          <a:schemeClr val="dk1"/>
                        </a:buClr>
                        <a:buSzPts val="2800"/>
                        <a:buFont typeface="Calibri"/>
                        <a:buNone/>
                      </a:pPr>
                      <a:r>
                        <a:rPr lang="en-MY" sz="2800" i="1" u="none" strike="noStrike" cap="none"/>
                        <a:t>EI</a:t>
                      </a:r>
                      <a:endParaRPr sz="2800" i="1" u="none" strike="noStrike" cap="none">
                        <a:latin typeface="Arial"/>
                        <a:ea typeface="Arial"/>
                        <a:cs typeface="Arial"/>
                        <a:sym typeface="Arial"/>
                      </a:endParaRPr>
                    </a:p>
                  </a:txBody>
                  <a:tcPr marL="173925" marR="173925" marT="0" marB="0" anchor="ctr"/>
                </a:tc>
                <a:tc>
                  <a:txBody>
                    <a:bodyPr/>
                    <a:lstStyle/>
                    <a:p>
                      <a:pPr marL="0" marR="0" lvl="0" indent="0" algn="ctr" rtl="0">
                        <a:lnSpc>
                          <a:spcPct val="107000"/>
                        </a:lnSpc>
                        <a:spcBef>
                          <a:spcPts val="0"/>
                        </a:spcBef>
                        <a:spcAft>
                          <a:spcPts val="0"/>
                        </a:spcAft>
                        <a:buClr>
                          <a:schemeClr val="dk1"/>
                        </a:buClr>
                        <a:buSzPts val="2800"/>
                        <a:buFont typeface="Calibri"/>
                        <a:buNone/>
                      </a:pPr>
                      <a:r>
                        <a:rPr lang="en-MY" sz="2800" u="none" strike="noStrike" cap="none"/>
                        <a:t>3</a:t>
                      </a:r>
                      <a:endParaRPr sz="2800" u="none" strike="noStrike" cap="none">
                        <a:latin typeface="Arial"/>
                        <a:ea typeface="Arial"/>
                        <a:cs typeface="Arial"/>
                        <a:sym typeface="Arial"/>
                      </a:endParaRPr>
                    </a:p>
                  </a:txBody>
                  <a:tcPr marL="173925" marR="173925" marT="0" marB="0" anchor="ctr"/>
                </a:tc>
                <a:tc>
                  <a:txBody>
                    <a:bodyPr/>
                    <a:lstStyle/>
                    <a:p>
                      <a:pPr marL="0" marR="0" lvl="0" indent="0" algn="ctr" rtl="0">
                        <a:lnSpc>
                          <a:spcPct val="107000"/>
                        </a:lnSpc>
                        <a:spcBef>
                          <a:spcPts val="0"/>
                        </a:spcBef>
                        <a:spcAft>
                          <a:spcPts val="0"/>
                        </a:spcAft>
                        <a:buClr>
                          <a:schemeClr val="dk1"/>
                        </a:buClr>
                        <a:buSzPts val="2800"/>
                        <a:buFont typeface="Calibri"/>
                        <a:buNone/>
                      </a:pPr>
                      <a:r>
                        <a:rPr lang="en-MY" sz="2800" u="none" strike="noStrike" cap="none"/>
                        <a:t>4</a:t>
                      </a:r>
                      <a:endParaRPr sz="2800" u="none" strike="noStrike" cap="none">
                        <a:latin typeface="Arial"/>
                        <a:ea typeface="Arial"/>
                        <a:cs typeface="Arial"/>
                        <a:sym typeface="Arial"/>
                      </a:endParaRPr>
                    </a:p>
                  </a:txBody>
                  <a:tcPr marL="173925" marR="173925" marT="0" marB="0" anchor="ctr"/>
                </a:tc>
                <a:tc>
                  <a:txBody>
                    <a:bodyPr/>
                    <a:lstStyle/>
                    <a:p>
                      <a:pPr marL="0" marR="0" lvl="0" indent="0" algn="ctr" rtl="0">
                        <a:lnSpc>
                          <a:spcPct val="107000"/>
                        </a:lnSpc>
                        <a:spcBef>
                          <a:spcPts val="0"/>
                        </a:spcBef>
                        <a:spcAft>
                          <a:spcPts val="0"/>
                        </a:spcAft>
                        <a:buClr>
                          <a:schemeClr val="dk1"/>
                        </a:buClr>
                        <a:buSzPts val="2800"/>
                        <a:buFont typeface="Calibri"/>
                        <a:buNone/>
                      </a:pPr>
                      <a:r>
                        <a:rPr lang="en-MY" sz="2800" u="none" strike="noStrike" cap="none"/>
                        <a:t>6</a:t>
                      </a:r>
                      <a:endParaRPr sz="2800" u="none" strike="noStrike" cap="none">
                        <a:latin typeface="Arial"/>
                        <a:ea typeface="Arial"/>
                        <a:cs typeface="Arial"/>
                        <a:sym typeface="Arial"/>
                      </a:endParaRPr>
                    </a:p>
                  </a:txBody>
                  <a:tcPr marL="173925" marR="173925" marT="0" marB="0" anchor="ctr"/>
                </a:tc>
                <a:extLst>
                  <a:ext uri="{0D108BD9-81ED-4DB2-BD59-A6C34878D82A}">
                    <a16:rowId xmlns:a16="http://schemas.microsoft.com/office/drawing/2014/main" val="10002"/>
                  </a:ext>
                </a:extLst>
              </a:tr>
              <a:tr h="528225">
                <a:tc>
                  <a:txBody>
                    <a:bodyPr/>
                    <a:lstStyle/>
                    <a:p>
                      <a:pPr marL="0" marR="0" lvl="0" indent="0" algn="ctr" rtl="0">
                        <a:lnSpc>
                          <a:spcPct val="107000"/>
                        </a:lnSpc>
                        <a:spcBef>
                          <a:spcPts val="0"/>
                        </a:spcBef>
                        <a:spcAft>
                          <a:spcPts val="0"/>
                        </a:spcAft>
                        <a:buClr>
                          <a:schemeClr val="dk1"/>
                        </a:buClr>
                        <a:buSzPts val="2800"/>
                        <a:buFont typeface="Calibri"/>
                        <a:buNone/>
                      </a:pPr>
                      <a:r>
                        <a:rPr lang="en-MY" sz="2800" i="1" u="none" strike="noStrike" cap="none"/>
                        <a:t>EO</a:t>
                      </a:r>
                      <a:endParaRPr sz="2800" i="1" u="none" strike="noStrike" cap="none">
                        <a:latin typeface="Arial"/>
                        <a:ea typeface="Arial"/>
                        <a:cs typeface="Arial"/>
                        <a:sym typeface="Arial"/>
                      </a:endParaRPr>
                    </a:p>
                  </a:txBody>
                  <a:tcPr marL="173925" marR="173925" marT="0" marB="0" anchor="ctr"/>
                </a:tc>
                <a:tc>
                  <a:txBody>
                    <a:bodyPr/>
                    <a:lstStyle/>
                    <a:p>
                      <a:pPr marL="0" marR="0" lvl="0" indent="0" algn="ctr" rtl="0">
                        <a:lnSpc>
                          <a:spcPct val="107000"/>
                        </a:lnSpc>
                        <a:spcBef>
                          <a:spcPts val="0"/>
                        </a:spcBef>
                        <a:spcAft>
                          <a:spcPts val="0"/>
                        </a:spcAft>
                        <a:buClr>
                          <a:schemeClr val="dk1"/>
                        </a:buClr>
                        <a:buSzPts val="2800"/>
                        <a:buFont typeface="Calibri"/>
                        <a:buNone/>
                      </a:pPr>
                      <a:r>
                        <a:rPr lang="en-MY" sz="2800" u="none" strike="noStrike" cap="none"/>
                        <a:t>4</a:t>
                      </a:r>
                      <a:endParaRPr sz="2800" u="none" strike="noStrike" cap="none">
                        <a:latin typeface="Arial"/>
                        <a:ea typeface="Arial"/>
                        <a:cs typeface="Arial"/>
                        <a:sym typeface="Arial"/>
                      </a:endParaRPr>
                    </a:p>
                  </a:txBody>
                  <a:tcPr marL="173925" marR="173925" marT="0" marB="0" anchor="ctr"/>
                </a:tc>
                <a:tc>
                  <a:txBody>
                    <a:bodyPr/>
                    <a:lstStyle/>
                    <a:p>
                      <a:pPr marL="0" marR="0" lvl="0" indent="0" algn="ctr" rtl="0">
                        <a:lnSpc>
                          <a:spcPct val="107000"/>
                        </a:lnSpc>
                        <a:spcBef>
                          <a:spcPts val="0"/>
                        </a:spcBef>
                        <a:spcAft>
                          <a:spcPts val="0"/>
                        </a:spcAft>
                        <a:buClr>
                          <a:schemeClr val="dk1"/>
                        </a:buClr>
                        <a:buSzPts val="2800"/>
                        <a:buFont typeface="Calibri"/>
                        <a:buNone/>
                      </a:pPr>
                      <a:r>
                        <a:rPr lang="en-MY" sz="2800" u="none" strike="noStrike" cap="none"/>
                        <a:t>5</a:t>
                      </a:r>
                      <a:endParaRPr sz="2800" u="none" strike="noStrike" cap="none">
                        <a:latin typeface="Arial"/>
                        <a:ea typeface="Arial"/>
                        <a:cs typeface="Arial"/>
                        <a:sym typeface="Arial"/>
                      </a:endParaRPr>
                    </a:p>
                  </a:txBody>
                  <a:tcPr marL="173925" marR="173925" marT="0" marB="0" anchor="ctr"/>
                </a:tc>
                <a:tc>
                  <a:txBody>
                    <a:bodyPr/>
                    <a:lstStyle/>
                    <a:p>
                      <a:pPr marL="0" marR="0" lvl="0" indent="0" algn="ctr" rtl="0">
                        <a:lnSpc>
                          <a:spcPct val="107000"/>
                        </a:lnSpc>
                        <a:spcBef>
                          <a:spcPts val="0"/>
                        </a:spcBef>
                        <a:spcAft>
                          <a:spcPts val="0"/>
                        </a:spcAft>
                        <a:buClr>
                          <a:schemeClr val="dk1"/>
                        </a:buClr>
                        <a:buSzPts val="2800"/>
                        <a:buFont typeface="Calibri"/>
                        <a:buNone/>
                      </a:pPr>
                      <a:r>
                        <a:rPr lang="en-MY" sz="2800" u="none" strike="noStrike" cap="none"/>
                        <a:t>7</a:t>
                      </a:r>
                      <a:endParaRPr sz="2800" u="none" strike="noStrike" cap="none">
                        <a:latin typeface="Arial"/>
                        <a:ea typeface="Arial"/>
                        <a:cs typeface="Arial"/>
                        <a:sym typeface="Arial"/>
                      </a:endParaRPr>
                    </a:p>
                  </a:txBody>
                  <a:tcPr marL="173925" marR="173925" marT="0" marB="0" anchor="ctr"/>
                </a:tc>
                <a:extLst>
                  <a:ext uri="{0D108BD9-81ED-4DB2-BD59-A6C34878D82A}">
                    <a16:rowId xmlns:a16="http://schemas.microsoft.com/office/drawing/2014/main" val="10003"/>
                  </a:ext>
                </a:extLst>
              </a:tr>
              <a:tr h="528225">
                <a:tc>
                  <a:txBody>
                    <a:bodyPr/>
                    <a:lstStyle/>
                    <a:p>
                      <a:pPr marL="0" marR="0" lvl="0" indent="0" algn="ctr" rtl="0">
                        <a:lnSpc>
                          <a:spcPct val="107000"/>
                        </a:lnSpc>
                        <a:spcBef>
                          <a:spcPts val="0"/>
                        </a:spcBef>
                        <a:spcAft>
                          <a:spcPts val="0"/>
                        </a:spcAft>
                        <a:buClr>
                          <a:schemeClr val="dk1"/>
                        </a:buClr>
                        <a:buSzPts val="2800"/>
                        <a:buFont typeface="Calibri"/>
                        <a:buNone/>
                      </a:pPr>
                      <a:r>
                        <a:rPr lang="en-MY" sz="2800" i="1" u="none" strike="noStrike" cap="none"/>
                        <a:t>EQ</a:t>
                      </a:r>
                      <a:endParaRPr sz="2800" i="1" u="none" strike="noStrike" cap="none">
                        <a:latin typeface="Arial"/>
                        <a:ea typeface="Arial"/>
                        <a:cs typeface="Arial"/>
                        <a:sym typeface="Arial"/>
                      </a:endParaRPr>
                    </a:p>
                  </a:txBody>
                  <a:tcPr marL="173925" marR="173925" marT="0" marB="0" anchor="ctr"/>
                </a:tc>
                <a:tc>
                  <a:txBody>
                    <a:bodyPr/>
                    <a:lstStyle/>
                    <a:p>
                      <a:pPr marL="0" marR="0" lvl="0" indent="0" algn="ctr" rtl="0">
                        <a:lnSpc>
                          <a:spcPct val="107000"/>
                        </a:lnSpc>
                        <a:spcBef>
                          <a:spcPts val="0"/>
                        </a:spcBef>
                        <a:spcAft>
                          <a:spcPts val="0"/>
                        </a:spcAft>
                        <a:buClr>
                          <a:schemeClr val="dk1"/>
                        </a:buClr>
                        <a:buSzPts val="2800"/>
                        <a:buFont typeface="Calibri"/>
                        <a:buNone/>
                      </a:pPr>
                      <a:r>
                        <a:rPr lang="en-MY" sz="2800" u="none" strike="noStrike" cap="none"/>
                        <a:t>3</a:t>
                      </a:r>
                      <a:endParaRPr sz="2800" u="none" strike="noStrike" cap="none">
                        <a:latin typeface="Arial"/>
                        <a:ea typeface="Arial"/>
                        <a:cs typeface="Arial"/>
                        <a:sym typeface="Arial"/>
                      </a:endParaRPr>
                    </a:p>
                  </a:txBody>
                  <a:tcPr marL="173925" marR="173925" marT="0" marB="0" anchor="ctr"/>
                </a:tc>
                <a:tc>
                  <a:txBody>
                    <a:bodyPr/>
                    <a:lstStyle/>
                    <a:p>
                      <a:pPr marL="0" marR="0" lvl="0" indent="0" algn="ctr" rtl="0">
                        <a:lnSpc>
                          <a:spcPct val="107000"/>
                        </a:lnSpc>
                        <a:spcBef>
                          <a:spcPts val="0"/>
                        </a:spcBef>
                        <a:spcAft>
                          <a:spcPts val="0"/>
                        </a:spcAft>
                        <a:buClr>
                          <a:schemeClr val="dk1"/>
                        </a:buClr>
                        <a:buSzPts val="2800"/>
                        <a:buFont typeface="Calibri"/>
                        <a:buNone/>
                      </a:pPr>
                      <a:r>
                        <a:rPr lang="en-MY" sz="2800" u="none" strike="noStrike" cap="none"/>
                        <a:t>4</a:t>
                      </a:r>
                      <a:endParaRPr sz="2800" u="none" strike="noStrike" cap="none">
                        <a:latin typeface="Arial"/>
                        <a:ea typeface="Arial"/>
                        <a:cs typeface="Arial"/>
                        <a:sym typeface="Arial"/>
                      </a:endParaRPr>
                    </a:p>
                  </a:txBody>
                  <a:tcPr marL="173925" marR="173925" marT="0" marB="0" anchor="ctr"/>
                </a:tc>
                <a:tc>
                  <a:txBody>
                    <a:bodyPr/>
                    <a:lstStyle/>
                    <a:p>
                      <a:pPr marL="0" marR="0" lvl="0" indent="0" algn="ctr" rtl="0">
                        <a:lnSpc>
                          <a:spcPct val="107000"/>
                        </a:lnSpc>
                        <a:spcBef>
                          <a:spcPts val="0"/>
                        </a:spcBef>
                        <a:spcAft>
                          <a:spcPts val="0"/>
                        </a:spcAft>
                        <a:buClr>
                          <a:schemeClr val="dk1"/>
                        </a:buClr>
                        <a:buSzPts val="2800"/>
                        <a:buFont typeface="Calibri"/>
                        <a:buNone/>
                      </a:pPr>
                      <a:r>
                        <a:rPr lang="en-MY" sz="2800" u="none" strike="noStrike" cap="none"/>
                        <a:t>6</a:t>
                      </a:r>
                      <a:endParaRPr sz="2800" u="none" strike="noStrike" cap="none">
                        <a:latin typeface="Arial"/>
                        <a:ea typeface="Arial"/>
                        <a:cs typeface="Arial"/>
                        <a:sym typeface="Arial"/>
                      </a:endParaRPr>
                    </a:p>
                  </a:txBody>
                  <a:tcPr marL="173925" marR="173925" marT="0" marB="0" anchor="ctr"/>
                </a:tc>
                <a:extLst>
                  <a:ext uri="{0D108BD9-81ED-4DB2-BD59-A6C34878D82A}">
                    <a16:rowId xmlns:a16="http://schemas.microsoft.com/office/drawing/2014/main" val="10004"/>
                  </a:ext>
                </a:extLst>
              </a:tr>
              <a:tr h="528225">
                <a:tc>
                  <a:txBody>
                    <a:bodyPr/>
                    <a:lstStyle/>
                    <a:p>
                      <a:pPr marL="0" marR="0" lvl="0" indent="0" algn="ctr" rtl="0">
                        <a:lnSpc>
                          <a:spcPct val="107000"/>
                        </a:lnSpc>
                        <a:spcBef>
                          <a:spcPts val="0"/>
                        </a:spcBef>
                        <a:spcAft>
                          <a:spcPts val="0"/>
                        </a:spcAft>
                        <a:buClr>
                          <a:schemeClr val="dk1"/>
                        </a:buClr>
                        <a:buSzPts val="2800"/>
                        <a:buFont typeface="Calibri"/>
                        <a:buNone/>
                      </a:pPr>
                      <a:r>
                        <a:rPr lang="en-MY" sz="2800" i="1" u="none" strike="noStrike" cap="none"/>
                        <a:t>ILF</a:t>
                      </a:r>
                      <a:endParaRPr sz="2800" i="1" u="none" strike="noStrike" cap="none">
                        <a:latin typeface="Arial"/>
                        <a:ea typeface="Arial"/>
                        <a:cs typeface="Arial"/>
                        <a:sym typeface="Arial"/>
                      </a:endParaRPr>
                    </a:p>
                  </a:txBody>
                  <a:tcPr marL="173925" marR="173925" marT="0" marB="0" anchor="ctr"/>
                </a:tc>
                <a:tc>
                  <a:txBody>
                    <a:bodyPr/>
                    <a:lstStyle/>
                    <a:p>
                      <a:pPr marL="0" marR="0" lvl="0" indent="0" algn="ctr" rtl="0">
                        <a:lnSpc>
                          <a:spcPct val="107000"/>
                        </a:lnSpc>
                        <a:spcBef>
                          <a:spcPts val="0"/>
                        </a:spcBef>
                        <a:spcAft>
                          <a:spcPts val="0"/>
                        </a:spcAft>
                        <a:buClr>
                          <a:schemeClr val="dk1"/>
                        </a:buClr>
                        <a:buSzPts val="2800"/>
                        <a:buFont typeface="Calibri"/>
                        <a:buNone/>
                      </a:pPr>
                      <a:r>
                        <a:rPr lang="en-MY" sz="2800" u="none" strike="noStrike" cap="none"/>
                        <a:t>7</a:t>
                      </a:r>
                      <a:endParaRPr sz="2800" u="none" strike="noStrike" cap="none">
                        <a:latin typeface="Arial"/>
                        <a:ea typeface="Arial"/>
                        <a:cs typeface="Arial"/>
                        <a:sym typeface="Arial"/>
                      </a:endParaRPr>
                    </a:p>
                  </a:txBody>
                  <a:tcPr marL="173925" marR="173925" marT="0" marB="0" anchor="ctr"/>
                </a:tc>
                <a:tc>
                  <a:txBody>
                    <a:bodyPr/>
                    <a:lstStyle/>
                    <a:p>
                      <a:pPr marL="0" marR="0" lvl="0" indent="0" algn="ctr" rtl="0">
                        <a:lnSpc>
                          <a:spcPct val="107000"/>
                        </a:lnSpc>
                        <a:spcBef>
                          <a:spcPts val="0"/>
                        </a:spcBef>
                        <a:spcAft>
                          <a:spcPts val="0"/>
                        </a:spcAft>
                        <a:buClr>
                          <a:schemeClr val="dk1"/>
                        </a:buClr>
                        <a:buSzPts val="2800"/>
                        <a:buFont typeface="Calibri"/>
                        <a:buNone/>
                      </a:pPr>
                      <a:r>
                        <a:rPr lang="en-MY" sz="2800" u="none" strike="noStrike" cap="none"/>
                        <a:t>10</a:t>
                      </a:r>
                      <a:endParaRPr sz="2800" u="none" strike="noStrike" cap="none">
                        <a:latin typeface="Arial"/>
                        <a:ea typeface="Arial"/>
                        <a:cs typeface="Arial"/>
                        <a:sym typeface="Arial"/>
                      </a:endParaRPr>
                    </a:p>
                  </a:txBody>
                  <a:tcPr marL="173925" marR="173925" marT="0" marB="0" anchor="ctr"/>
                </a:tc>
                <a:tc>
                  <a:txBody>
                    <a:bodyPr/>
                    <a:lstStyle/>
                    <a:p>
                      <a:pPr marL="0" marR="0" lvl="0" indent="0" algn="ctr" rtl="0">
                        <a:lnSpc>
                          <a:spcPct val="107000"/>
                        </a:lnSpc>
                        <a:spcBef>
                          <a:spcPts val="0"/>
                        </a:spcBef>
                        <a:spcAft>
                          <a:spcPts val="0"/>
                        </a:spcAft>
                        <a:buClr>
                          <a:schemeClr val="dk1"/>
                        </a:buClr>
                        <a:buSzPts val="2800"/>
                        <a:buFont typeface="Calibri"/>
                        <a:buNone/>
                      </a:pPr>
                      <a:r>
                        <a:rPr lang="en-MY" sz="2800" u="none" strike="noStrike" cap="none"/>
                        <a:t>15</a:t>
                      </a:r>
                      <a:endParaRPr sz="2800" u="none" strike="noStrike" cap="none">
                        <a:latin typeface="Arial"/>
                        <a:ea typeface="Arial"/>
                        <a:cs typeface="Arial"/>
                        <a:sym typeface="Arial"/>
                      </a:endParaRPr>
                    </a:p>
                  </a:txBody>
                  <a:tcPr marL="173925" marR="173925" marT="0" marB="0" anchor="ctr"/>
                </a:tc>
                <a:extLst>
                  <a:ext uri="{0D108BD9-81ED-4DB2-BD59-A6C34878D82A}">
                    <a16:rowId xmlns:a16="http://schemas.microsoft.com/office/drawing/2014/main" val="10005"/>
                  </a:ext>
                </a:extLst>
              </a:tr>
              <a:tr h="528225">
                <a:tc>
                  <a:txBody>
                    <a:bodyPr/>
                    <a:lstStyle/>
                    <a:p>
                      <a:pPr marL="0" marR="0" lvl="0" indent="0" algn="ctr" rtl="0">
                        <a:lnSpc>
                          <a:spcPct val="107000"/>
                        </a:lnSpc>
                        <a:spcBef>
                          <a:spcPts val="0"/>
                        </a:spcBef>
                        <a:spcAft>
                          <a:spcPts val="0"/>
                        </a:spcAft>
                        <a:buClr>
                          <a:schemeClr val="dk1"/>
                        </a:buClr>
                        <a:buSzPts val="2800"/>
                        <a:buFont typeface="Calibri"/>
                        <a:buNone/>
                      </a:pPr>
                      <a:r>
                        <a:rPr lang="en-MY" sz="2800" i="1" u="none" strike="noStrike" cap="none"/>
                        <a:t>EIF</a:t>
                      </a:r>
                      <a:endParaRPr sz="2800" i="1" u="none" strike="noStrike" cap="none">
                        <a:latin typeface="Arial"/>
                        <a:ea typeface="Arial"/>
                        <a:cs typeface="Arial"/>
                        <a:sym typeface="Arial"/>
                      </a:endParaRPr>
                    </a:p>
                  </a:txBody>
                  <a:tcPr marL="173925" marR="173925" marT="0" marB="0" anchor="ctr"/>
                </a:tc>
                <a:tc>
                  <a:txBody>
                    <a:bodyPr/>
                    <a:lstStyle/>
                    <a:p>
                      <a:pPr marL="0" marR="0" lvl="0" indent="0" algn="ctr" rtl="0">
                        <a:lnSpc>
                          <a:spcPct val="107000"/>
                        </a:lnSpc>
                        <a:spcBef>
                          <a:spcPts val="0"/>
                        </a:spcBef>
                        <a:spcAft>
                          <a:spcPts val="0"/>
                        </a:spcAft>
                        <a:buClr>
                          <a:schemeClr val="dk1"/>
                        </a:buClr>
                        <a:buSzPts val="2800"/>
                        <a:buFont typeface="Calibri"/>
                        <a:buNone/>
                      </a:pPr>
                      <a:r>
                        <a:rPr lang="en-MY" sz="2800" u="none" strike="noStrike" cap="none"/>
                        <a:t>5</a:t>
                      </a:r>
                      <a:endParaRPr sz="2800" u="none" strike="noStrike" cap="none">
                        <a:latin typeface="Arial"/>
                        <a:ea typeface="Arial"/>
                        <a:cs typeface="Arial"/>
                        <a:sym typeface="Arial"/>
                      </a:endParaRPr>
                    </a:p>
                  </a:txBody>
                  <a:tcPr marL="173925" marR="173925" marT="0" marB="0" anchor="ctr"/>
                </a:tc>
                <a:tc>
                  <a:txBody>
                    <a:bodyPr/>
                    <a:lstStyle/>
                    <a:p>
                      <a:pPr marL="0" marR="0" lvl="0" indent="0" algn="ctr" rtl="0">
                        <a:lnSpc>
                          <a:spcPct val="107000"/>
                        </a:lnSpc>
                        <a:spcBef>
                          <a:spcPts val="0"/>
                        </a:spcBef>
                        <a:spcAft>
                          <a:spcPts val="0"/>
                        </a:spcAft>
                        <a:buClr>
                          <a:schemeClr val="dk1"/>
                        </a:buClr>
                        <a:buSzPts val="2800"/>
                        <a:buFont typeface="Calibri"/>
                        <a:buNone/>
                      </a:pPr>
                      <a:r>
                        <a:rPr lang="en-MY" sz="2800" u="none" strike="noStrike" cap="none"/>
                        <a:t>7</a:t>
                      </a:r>
                      <a:endParaRPr sz="2800" u="none" strike="noStrike" cap="none">
                        <a:latin typeface="Arial"/>
                        <a:ea typeface="Arial"/>
                        <a:cs typeface="Arial"/>
                        <a:sym typeface="Arial"/>
                      </a:endParaRPr>
                    </a:p>
                  </a:txBody>
                  <a:tcPr marL="173925" marR="173925" marT="0" marB="0" anchor="ctr"/>
                </a:tc>
                <a:tc>
                  <a:txBody>
                    <a:bodyPr/>
                    <a:lstStyle/>
                    <a:p>
                      <a:pPr marL="0" marR="0" lvl="0" indent="0" algn="ctr" rtl="0">
                        <a:lnSpc>
                          <a:spcPct val="107000"/>
                        </a:lnSpc>
                        <a:spcBef>
                          <a:spcPts val="0"/>
                        </a:spcBef>
                        <a:spcAft>
                          <a:spcPts val="0"/>
                        </a:spcAft>
                        <a:buClr>
                          <a:schemeClr val="dk1"/>
                        </a:buClr>
                        <a:buSzPts val="2800"/>
                        <a:buFont typeface="Calibri"/>
                        <a:buNone/>
                      </a:pPr>
                      <a:r>
                        <a:rPr lang="en-MY" sz="2800" u="none" strike="noStrike" cap="none"/>
                        <a:t>10</a:t>
                      </a:r>
                      <a:endParaRPr sz="2800" u="none" strike="noStrike" cap="none">
                        <a:latin typeface="Arial"/>
                        <a:ea typeface="Arial"/>
                        <a:cs typeface="Arial"/>
                        <a:sym typeface="Arial"/>
                      </a:endParaRPr>
                    </a:p>
                  </a:txBody>
                  <a:tcPr marL="173925" marR="173925" marT="0" marB="0" anchor="ctr"/>
                </a:tc>
                <a:extLst>
                  <a:ext uri="{0D108BD9-81ED-4DB2-BD59-A6C34878D82A}">
                    <a16:rowId xmlns:a16="http://schemas.microsoft.com/office/drawing/2014/main" val="10006"/>
                  </a:ext>
                </a:extLst>
              </a:tr>
            </a:tbl>
          </a:graphicData>
        </a:graphic>
      </p:graphicFrame>
      <p:sp>
        <p:nvSpPr>
          <p:cNvPr id="289" name="Google Shape;289;p30"/>
          <p:cNvSpPr txBox="1"/>
          <p:nvPr/>
        </p:nvSpPr>
        <p:spPr>
          <a:xfrm>
            <a:off x="979448" y="927802"/>
            <a:ext cx="10233103" cy="757130"/>
          </a:xfrm>
          <a:prstGeom prst="rect">
            <a:avLst/>
          </a:prstGeom>
          <a:noFill/>
          <a:ln>
            <a:noFill/>
          </a:ln>
        </p:spPr>
        <p:txBody>
          <a:bodyPr spcFirstLastPara="1" wrap="square" lIns="0" tIns="45700" rIns="0" bIns="45700" anchor="t" anchorCtr="0">
            <a:spAutoFit/>
          </a:bodyPr>
          <a:lstStyle/>
          <a:p>
            <a:pPr marL="0" marR="0" lvl="0" indent="0" algn="l" rtl="0">
              <a:lnSpc>
                <a:spcPct val="90000"/>
              </a:lnSpc>
              <a:spcBef>
                <a:spcPts val="0"/>
              </a:spcBef>
              <a:spcAft>
                <a:spcPts val="0"/>
              </a:spcAft>
              <a:buClr>
                <a:srgbClr val="000000"/>
              </a:buClr>
              <a:buSzPts val="2400"/>
              <a:buFont typeface="Arial"/>
              <a:buNone/>
            </a:pPr>
            <a:r>
              <a:rPr lang="en-MY" sz="2400" b="0" i="0" u="none" strike="noStrike" cap="none">
                <a:solidFill>
                  <a:schemeClr val="dk1"/>
                </a:solidFill>
                <a:latin typeface="Calibri"/>
                <a:ea typeface="Calibri"/>
                <a:cs typeface="Calibri"/>
                <a:sym typeface="Calibri"/>
              </a:rPr>
              <a:t>In Function Point Analysis (FPA), there is a standard</a:t>
            </a:r>
            <a:r>
              <a:rPr lang="en-MY" sz="2400" b="1" i="0" u="none" strike="noStrike" cap="none">
                <a:solidFill>
                  <a:schemeClr val="dk1"/>
                </a:solidFill>
                <a:latin typeface="Calibri"/>
                <a:ea typeface="Calibri"/>
                <a:cs typeface="Calibri"/>
                <a:sym typeface="Calibri"/>
              </a:rPr>
              <a:t> complexity weights </a:t>
            </a:r>
            <a:r>
              <a:rPr lang="en-MY" sz="2400" b="0" i="0" u="none" strike="noStrike" cap="none">
                <a:solidFill>
                  <a:schemeClr val="dk1"/>
                </a:solidFill>
                <a:latin typeface="Calibri"/>
                <a:ea typeface="Calibri"/>
                <a:cs typeface="Calibri"/>
                <a:sym typeface="Calibri"/>
              </a:rPr>
              <a:t>table used as reference when determining FPA component complexity:</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93"/>
        <p:cNvGrpSpPr/>
        <p:nvPr/>
      </p:nvGrpSpPr>
      <p:grpSpPr>
        <a:xfrm>
          <a:off x="0" y="0"/>
          <a:ext cx="0" cy="0"/>
          <a:chOff x="0" y="0"/>
          <a:chExt cx="0" cy="0"/>
        </a:xfrm>
      </p:grpSpPr>
      <p:sp>
        <p:nvSpPr>
          <p:cNvPr id="294" name="Google Shape;294;p31"/>
          <p:cNvSpPr txBox="1"/>
          <p:nvPr/>
        </p:nvSpPr>
        <p:spPr>
          <a:xfrm>
            <a:off x="979448" y="927802"/>
            <a:ext cx="10233103" cy="4900059"/>
          </a:xfrm>
          <a:prstGeom prst="rect">
            <a:avLst/>
          </a:prstGeom>
          <a:blipFill rotWithShape="1">
            <a:blip r:embed="rId3">
              <a:alphaModFix/>
            </a:blip>
            <a:stretch>
              <a:fillRect l="-1845" t="-743" r="-1843"/>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MY"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299" name="Google Shape;299;p32"/>
          <p:cNvSpPr txBox="1"/>
          <p:nvPr/>
        </p:nvSpPr>
        <p:spPr>
          <a:xfrm>
            <a:off x="979448" y="927802"/>
            <a:ext cx="10233103" cy="5482655"/>
          </a:xfrm>
          <a:prstGeom prst="rect">
            <a:avLst/>
          </a:prstGeom>
          <a:noFill/>
          <a:ln>
            <a:noFill/>
          </a:ln>
        </p:spPr>
        <p:txBody>
          <a:bodyPr spcFirstLastPara="1" wrap="square" lIns="0" tIns="45700" rIns="0" bIns="45700" anchor="t" anchorCtr="0">
            <a:spAutoFit/>
          </a:bodyPr>
          <a:lstStyle/>
          <a:p>
            <a:pPr marL="342900" marR="0" lvl="0" indent="-342900" algn="just" rtl="0">
              <a:lnSpc>
                <a:spcPct val="107000"/>
              </a:lnSpc>
              <a:spcBef>
                <a:spcPts val="0"/>
              </a:spcBef>
              <a:spcAft>
                <a:spcPts val="0"/>
              </a:spcAft>
              <a:buClr>
                <a:schemeClr val="dk1"/>
              </a:buClr>
              <a:buSzPts val="2400"/>
              <a:buFont typeface="Calibri"/>
              <a:buAutoNum type="arabicPeriod" startAt="4"/>
            </a:pPr>
            <a:r>
              <a:rPr lang="en-MY" sz="2400" b="0" i="0" u="none" strike="noStrike" cap="none">
                <a:solidFill>
                  <a:schemeClr val="dk1"/>
                </a:solidFill>
                <a:latin typeface="Arial"/>
                <a:ea typeface="Arial"/>
                <a:cs typeface="Arial"/>
                <a:sym typeface="Arial"/>
              </a:rPr>
              <a:t>Apply value adjustment factor (VAF)</a:t>
            </a:r>
            <a:endParaRPr sz="1400" b="0" i="0" u="none" strike="noStrike" cap="none">
              <a:solidFill>
                <a:srgbClr val="000000"/>
              </a:solidFill>
              <a:latin typeface="Arial"/>
              <a:ea typeface="Arial"/>
              <a:cs typeface="Arial"/>
              <a:sym typeface="Arial"/>
            </a:endParaRPr>
          </a:p>
          <a:p>
            <a:pPr marL="0" marR="0" lvl="0" indent="0" algn="just" rtl="0">
              <a:lnSpc>
                <a:spcPct val="107000"/>
              </a:lnSpc>
              <a:spcBef>
                <a:spcPts val="0"/>
              </a:spcBef>
              <a:spcAft>
                <a:spcPts val="0"/>
              </a:spcAft>
              <a:buClr>
                <a:srgbClr val="000000"/>
              </a:buClr>
              <a:buSzPts val="1600"/>
              <a:buFont typeface="Arial"/>
              <a:buNone/>
            </a:pPr>
            <a:endParaRPr sz="1600" b="0" i="0" u="none" strike="noStrike" cap="none">
              <a:solidFill>
                <a:schemeClr val="dk1"/>
              </a:solidFill>
              <a:latin typeface="Arial"/>
              <a:ea typeface="Arial"/>
              <a:cs typeface="Arial"/>
              <a:sym typeface="Arial"/>
            </a:endParaRPr>
          </a:p>
          <a:p>
            <a:pPr marL="0" marR="0" lvl="0" indent="0" algn="just" rtl="0">
              <a:lnSpc>
                <a:spcPct val="107000"/>
              </a:lnSpc>
              <a:spcBef>
                <a:spcPts val="0"/>
              </a:spcBef>
              <a:spcAft>
                <a:spcPts val="0"/>
              </a:spcAft>
              <a:buClr>
                <a:srgbClr val="000000"/>
              </a:buClr>
              <a:buSzPts val="1800"/>
              <a:buFont typeface="Arial"/>
              <a:buNone/>
            </a:pPr>
            <a:r>
              <a:rPr lang="en-MY" sz="1800" b="0" i="0" u="none" strike="noStrike" cap="none">
                <a:solidFill>
                  <a:schemeClr val="dk1"/>
                </a:solidFill>
                <a:latin typeface="Arial"/>
                <a:ea typeface="Arial"/>
                <a:cs typeface="Arial"/>
                <a:sym typeface="Arial"/>
              </a:rPr>
              <a:t>4.1	Estimates </a:t>
            </a:r>
            <a:r>
              <a:rPr lang="en-MY" sz="1800" b="1" i="0" u="none" strike="noStrike" cap="none">
                <a:solidFill>
                  <a:schemeClr val="dk1"/>
                </a:solidFill>
                <a:latin typeface="Arial"/>
                <a:ea typeface="Arial"/>
                <a:cs typeface="Arial"/>
                <a:sym typeface="Arial"/>
              </a:rPr>
              <a:t>total degree of influence (</a:t>
            </a:r>
            <a:r>
              <a:rPr lang="en-MY" sz="1800" b="1" i="1" u="none" strike="noStrike" cap="none">
                <a:solidFill>
                  <a:schemeClr val="dk1"/>
                </a:solidFill>
                <a:latin typeface="Arial"/>
                <a:ea typeface="Arial"/>
                <a:cs typeface="Arial"/>
                <a:sym typeface="Arial"/>
              </a:rPr>
              <a:t>TDI</a:t>
            </a:r>
            <a:r>
              <a:rPr lang="en-MY" sz="1800" b="1" i="0" u="none" strike="noStrike" cap="none">
                <a:solidFill>
                  <a:schemeClr val="dk1"/>
                </a:solidFill>
                <a:latin typeface="Arial"/>
                <a:ea typeface="Arial"/>
                <a:cs typeface="Arial"/>
                <a:sym typeface="Arial"/>
              </a:rPr>
              <a:t>)</a:t>
            </a:r>
            <a:r>
              <a:rPr lang="en-MY" sz="1800" b="0" i="0" u="none" strike="noStrike" cap="none">
                <a:solidFill>
                  <a:schemeClr val="dk1"/>
                </a:solidFill>
                <a:latin typeface="Arial"/>
                <a:ea typeface="Arial"/>
                <a:cs typeface="Arial"/>
                <a:sym typeface="Arial"/>
              </a:rPr>
              <a:t> based on </a:t>
            </a:r>
            <a:r>
              <a:rPr lang="en-MY" sz="1800" b="1" i="0" u="none" strike="noStrike" cap="none">
                <a:solidFill>
                  <a:schemeClr val="dk1"/>
                </a:solidFill>
                <a:latin typeface="Arial"/>
                <a:ea typeface="Arial"/>
                <a:cs typeface="Arial"/>
                <a:sym typeface="Arial"/>
              </a:rPr>
              <a:t>14 general system characteristics (GSCs) </a:t>
            </a:r>
            <a:r>
              <a:rPr lang="en-MY" sz="1800" b="0" i="0" u="none" strike="noStrike" cap="none">
                <a:solidFill>
                  <a:schemeClr val="dk1"/>
                </a:solidFill>
                <a:latin typeface="Arial"/>
                <a:ea typeface="Arial"/>
                <a:cs typeface="Arial"/>
                <a:sym typeface="Arial"/>
              </a:rPr>
              <a:t>	which rate the general functionality of the software being measured:</a:t>
            </a:r>
            <a:endParaRPr sz="1400" b="0" i="0" u="none" strike="noStrike" cap="none">
              <a:solidFill>
                <a:srgbClr val="000000"/>
              </a:solidFill>
              <a:latin typeface="Arial"/>
              <a:ea typeface="Arial"/>
              <a:cs typeface="Arial"/>
              <a:sym typeface="Arial"/>
            </a:endParaRPr>
          </a:p>
          <a:p>
            <a:pPr marL="1314450" marR="0" lvl="2" indent="-400050" algn="just" rtl="0">
              <a:lnSpc>
                <a:spcPct val="107000"/>
              </a:lnSpc>
              <a:spcBef>
                <a:spcPts val="0"/>
              </a:spcBef>
              <a:spcAft>
                <a:spcPts val="0"/>
              </a:spcAft>
              <a:buClr>
                <a:schemeClr val="dk1"/>
              </a:buClr>
              <a:buSzPts val="1800"/>
              <a:buFont typeface="Calibri"/>
              <a:buAutoNum type="romanLcPeriod"/>
            </a:pPr>
            <a:r>
              <a:rPr lang="en-MY" sz="1800" b="0" i="0" u="none" strike="noStrike" cap="none">
                <a:solidFill>
                  <a:schemeClr val="dk1"/>
                </a:solidFill>
                <a:latin typeface="Arial"/>
                <a:ea typeface="Arial"/>
                <a:cs typeface="Arial"/>
                <a:sym typeface="Arial"/>
              </a:rPr>
              <a:t>Data communication.</a:t>
            </a:r>
            <a:endParaRPr sz="1400" b="0" i="0" u="none" strike="noStrike" cap="none">
              <a:solidFill>
                <a:srgbClr val="000000"/>
              </a:solidFill>
              <a:latin typeface="Arial"/>
              <a:ea typeface="Arial"/>
              <a:cs typeface="Arial"/>
              <a:sym typeface="Arial"/>
            </a:endParaRPr>
          </a:p>
          <a:p>
            <a:pPr marL="1314450" marR="0" lvl="2" indent="-400050" algn="just" rtl="0">
              <a:lnSpc>
                <a:spcPct val="107000"/>
              </a:lnSpc>
              <a:spcBef>
                <a:spcPts val="0"/>
              </a:spcBef>
              <a:spcAft>
                <a:spcPts val="0"/>
              </a:spcAft>
              <a:buClr>
                <a:schemeClr val="dk1"/>
              </a:buClr>
              <a:buSzPts val="1800"/>
              <a:buFont typeface="Calibri"/>
              <a:buAutoNum type="romanLcPeriod"/>
            </a:pPr>
            <a:r>
              <a:rPr lang="en-MY" sz="1800" b="0" i="0" u="none" strike="noStrike" cap="none">
                <a:solidFill>
                  <a:schemeClr val="dk1"/>
                </a:solidFill>
                <a:latin typeface="Arial"/>
                <a:ea typeface="Arial"/>
                <a:cs typeface="Arial"/>
                <a:sym typeface="Arial"/>
              </a:rPr>
              <a:t>Distributed data processing.</a:t>
            </a:r>
            <a:endParaRPr sz="1400" b="0" i="0" u="none" strike="noStrike" cap="none">
              <a:solidFill>
                <a:srgbClr val="000000"/>
              </a:solidFill>
              <a:latin typeface="Arial"/>
              <a:ea typeface="Arial"/>
              <a:cs typeface="Arial"/>
              <a:sym typeface="Arial"/>
            </a:endParaRPr>
          </a:p>
          <a:p>
            <a:pPr marL="1314450" marR="0" lvl="2" indent="-400050" algn="just" rtl="0">
              <a:lnSpc>
                <a:spcPct val="107000"/>
              </a:lnSpc>
              <a:spcBef>
                <a:spcPts val="0"/>
              </a:spcBef>
              <a:spcAft>
                <a:spcPts val="0"/>
              </a:spcAft>
              <a:buClr>
                <a:schemeClr val="dk1"/>
              </a:buClr>
              <a:buSzPts val="1800"/>
              <a:buFont typeface="Calibri"/>
              <a:buAutoNum type="romanLcPeriod"/>
            </a:pPr>
            <a:r>
              <a:rPr lang="en-MY" sz="1800" b="0" i="0" u="none" strike="noStrike" cap="none">
                <a:solidFill>
                  <a:schemeClr val="dk1"/>
                </a:solidFill>
                <a:latin typeface="Arial"/>
                <a:ea typeface="Arial"/>
                <a:cs typeface="Arial"/>
                <a:sym typeface="Arial"/>
              </a:rPr>
              <a:t>Performance (response time).</a:t>
            </a:r>
            <a:endParaRPr sz="1400" b="0" i="0" u="none" strike="noStrike" cap="none">
              <a:solidFill>
                <a:srgbClr val="000000"/>
              </a:solidFill>
              <a:latin typeface="Arial"/>
              <a:ea typeface="Arial"/>
              <a:cs typeface="Arial"/>
              <a:sym typeface="Arial"/>
            </a:endParaRPr>
          </a:p>
          <a:p>
            <a:pPr marL="1314450" marR="0" lvl="2" indent="-400050" algn="just" rtl="0">
              <a:lnSpc>
                <a:spcPct val="107000"/>
              </a:lnSpc>
              <a:spcBef>
                <a:spcPts val="0"/>
              </a:spcBef>
              <a:spcAft>
                <a:spcPts val="0"/>
              </a:spcAft>
              <a:buClr>
                <a:schemeClr val="dk1"/>
              </a:buClr>
              <a:buSzPts val="1800"/>
              <a:buFont typeface="Calibri"/>
              <a:buAutoNum type="romanLcPeriod"/>
            </a:pPr>
            <a:r>
              <a:rPr lang="en-MY" sz="1800" b="0" i="0" u="none" strike="noStrike" cap="none">
                <a:solidFill>
                  <a:schemeClr val="dk1"/>
                </a:solidFill>
                <a:latin typeface="Arial"/>
                <a:ea typeface="Arial"/>
                <a:cs typeface="Arial"/>
                <a:sym typeface="Arial"/>
              </a:rPr>
              <a:t>Heavily used configuration.</a:t>
            </a:r>
            <a:endParaRPr sz="1400" b="0" i="0" u="none" strike="noStrike" cap="none">
              <a:solidFill>
                <a:srgbClr val="000000"/>
              </a:solidFill>
              <a:latin typeface="Arial"/>
              <a:ea typeface="Arial"/>
              <a:cs typeface="Arial"/>
              <a:sym typeface="Arial"/>
            </a:endParaRPr>
          </a:p>
          <a:p>
            <a:pPr marL="1314450" marR="0" lvl="2" indent="-400050" algn="just" rtl="0">
              <a:lnSpc>
                <a:spcPct val="107000"/>
              </a:lnSpc>
              <a:spcBef>
                <a:spcPts val="0"/>
              </a:spcBef>
              <a:spcAft>
                <a:spcPts val="0"/>
              </a:spcAft>
              <a:buClr>
                <a:schemeClr val="dk1"/>
              </a:buClr>
              <a:buSzPts val="1800"/>
              <a:buFont typeface="Calibri"/>
              <a:buAutoNum type="romanLcPeriod"/>
            </a:pPr>
            <a:r>
              <a:rPr lang="en-MY" sz="1800" b="0" i="0" u="none" strike="noStrike" cap="none">
                <a:solidFill>
                  <a:schemeClr val="dk1"/>
                </a:solidFill>
                <a:latin typeface="Arial"/>
                <a:ea typeface="Arial"/>
                <a:cs typeface="Arial"/>
                <a:sym typeface="Arial"/>
              </a:rPr>
              <a:t>Transaction rate (peak transaction period monthly, weekly, daily, etc.).</a:t>
            </a:r>
            <a:endParaRPr sz="1400" b="0" i="0" u="none" strike="noStrike" cap="none">
              <a:solidFill>
                <a:srgbClr val="000000"/>
              </a:solidFill>
              <a:latin typeface="Arial"/>
              <a:ea typeface="Arial"/>
              <a:cs typeface="Arial"/>
              <a:sym typeface="Arial"/>
            </a:endParaRPr>
          </a:p>
          <a:p>
            <a:pPr marL="1314450" marR="0" lvl="2" indent="-400050" algn="just" rtl="0">
              <a:lnSpc>
                <a:spcPct val="107000"/>
              </a:lnSpc>
              <a:spcBef>
                <a:spcPts val="0"/>
              </a:spcBef>
              <a:spcAft>
                <a:spcPts val="0"/>
              </a:spcAft>
              <a:buClr>
                <a:schemeClr val="dk1"/>
              </a:buClr>
              <a:buSzPts val="1800"/>
              <a:buFont typeface="Calibri"/>
              <a:buAutoNum type="romanLcPeriod"/>
            </a:pPr>
            <a:r>
              <a:rPr lang="en-MY" sz="1800" b="0" i="0" u="none" strike="noStrike" cap="none">
                <a:solidFill>
                  <a:schemeClr val="dk1"/>
                </a:solidFill>
                <a:latin typeface="Arial"/>
                <a:ea typeface="Arial"/>
                <a:cs typeface="Arial"/>
                <a:sym typeface="Arial"/>
              </a:rPr>
              <a:t>On-line data entry (what percent of total application development is data entry screens).</a:t>
            </a:r>
            <a:endParaRPr sz="1400" b="0" i="0" u="none" strike="noStrike" cap="none">
              <a:solidFill>
                <a:srgbClr val="000000"/>
              </a:solidFill>
              <a:latin typeface="Arial"/>
              <a:ea typeface="Arial"/>
              <a:cs typeface="Arial"/>
              <a:sym typeface="Arial"/>
            </a:endParaRPr>
          </a:p>
          <a:p>
            <a:pPr marL="1314450" marR="0" lvl="2" indent="-400050" algn="just" rtl="0">
              <a:lnSpc>
                <a:spcPct val="107000"/>
              </a:lnSpc>
              <a:spcBef>
                <a:spcPts val="0"/>
              </a:spcBef>
              <a:spcAft>
                <a:spcPts val="0"/>
              </a:spcAft>
              <a:buClr>
                <a:schemeClr val="dk1"/>
              </a:buClr>
              <a:buSzPts val="1800"/>
              <a:buFont typeface="Calibri"/>
              <a:buAutoNum type="romanLcPeriod"/>
            </a:pPr>
            <a:r>
              <a:rPr lang="en-MY" sz="1800" b="0" i="0" u="none" strike="noStrike" cap="none">
                <a:solidFill>
                  <a:schemeClr val="dk1"/>
                </a:solidFill>
                <a:latin typeface="Arial"/>
                <a:ea typeface="Arial"/>
                <a:cs typeface="Arial"/>
                <a:sym typeface="Arial"/>
              </a:rPr>
              <a:t>End user efficiency (degree of user friendliness provided in the application).</a:t>
            </a:r>
            <a:endParaRPr sz="1400" b="0" i="0" u="none" strike="noStrike" cap="none">
              <a:solidFill>
                <a:srgbClr val="000000"/>
              </a:solidFill>
              <a:latin typeface="Arial"/>
              <a:ea typeface="Arial"/>
              <a:cs typeface="Arial"/>
              <a:sym typeface="Arial"/>
            </a:endParaRPr>
          </a:p>
          <a:p>
            <a:pPr marL="1314450" marR="0" lvl="2" indent="-400050" algn="just" rtl="0">
              <a:lnSpc>
                <a:spcPct val="107000"/>
              </a:lnSpc>
              <a:spcBef>
                <a:spcPts val="0"/>
              </a:spcBef>
              <a:spcAft>
                <a:spcPts val="0"/>
              </a:spcAft>
              <a:buClr>
                <a:schemeClr val="dk1"/>
              </a:buClr>
              <a:buSzPts val="1800"/>
              <a:buFont typeface="Calibri"/>
              <a:buAutoNum type="romanLcPeriod"/>
            </a:pPr>
            <a:r>
              <a:rPr lang="en-MY" sz="1800" b="0" i="0" u="none" strike="noStrike" cap="none">
                <a:solidFill>
                  <a:schemeClr val="dk1"/>
                </a:solidFill>
                <a:latin typeface="Arial"/>
                <a:ea typeface="Arial"/>
                <a:cs typeface="Arial"/>
                <a:sym typeface="Arial"/>
              </a:rPr>
              <a:t>On-line update.</a:t>
            </a:r>
            <a:endParaRPr sz="1400" b="0" i="0" u="none" strike="noStrike" cap="none">
              <a:solidFill>
                <a:srgbClr val="000000"/>
              </a:solidFill>
              <a:latin typeface="Arial"/>
              <a:ea typeface="Arial"/>
              <a:cs typeface="Arial"/>
              <a:sym typeface="Arial"/>
            </a:endParaRPr>
          </a:p>
          <a:p>
            <a:pPr marL="1314450" marR="0" lvl="2" indent="-400050" algn="just" rtl="0">
              <a:lnSpc>
                <a:spcPct val="107000"/>
              </a:lnSpc>
              <a:spcBef>
                <a:spcPts val="0"/>
              </a:spcBef>
              <a:spcAft>
                <a:spcPts val="0"/>
              </a:spcAft>
              <a:buClr>
                <a:schemeClr val="dk1"/>
              </a:buClr>
              <a:buSzPts val="1800"/>
              <a:buFont typeface="Calibri"/>
              <a:buAutoNum type="romanLcPeriod"/>
            </a:pPr>
            <a:r>
              <a:rPr lang="en-MY" sz="1800" b="0" i="0" u="none" strike="noStrike" cap="none">
                <a:solidFill>
                  <a:schemeClr val="dk1"/>
                </a:solidFill>
                <a:latin typeface="Arial"/>
                <a:ea typeface="Arial"/>
                <a:cs typeface="Arial"/>
                <a:sym typeface="Arial"/>
              </a:rPr>
              <a:t>Complex processing (degree of mathematical and logical processing).</a:t>
            </a:r>
            <a:endParaRPr sz="1400" b="0" i="0" u="none" strike="noStrike" cap="none">
              <a:solidFill>
                <a:srgbClr val="000000"/>
              </a:solidFill>
              <a:latin typeface="Arial"/>
              <a:ea typeface="Arial"/>
              <a:cs typeface="Arial"/>
              <a:sym typeface="Arial"/>
            </a:endParaRPr>
          </a:p>
          <a:p>
            <a:pPr marL="1314450" marR="0" lvl="2" indent="-400050" algn="just" rtl="0">
              <a:lnSpc>
                <a:spcPct val="107000"/>
              </a:lnSpc>
              <a:spcBef>
                <a:spcPts val="0"/>
              </a:spcBef>
              <a:spcAft>
                <a:spcPts val="0"/>
              </a:spcAft>
              <a:buClr>
                <a:schemeClr val="dk1"/>
              </a:buClr>
              <a:buSzPts val="1800"/>
              <a:buFont typeface="Calibri"/>
              <a:buAutoNum type="romanLcPeriod"/>
            </a:pPr>
            <a:r>
              <a:rPr lang="en-MY" sz="1800" b="0" i="0" u="none" strike="noStrike" cap="none">
                <a:solidFill>
                  <a:schemeClr val="dk1"/>
                </a:solidFill>
                <a:latin typeface="Arial"/>
                <a:ea typeface="Arial"/>
                <a:cs typeface="Arial"/>
                <a:sym typeface="Arial"/>
              </a:rPr>
              <a:t>Reusability (What percent of code is reusable).</a:t>
            </a:r>
            <a:endParaRPr sz="1400" b="0" i="0" u="none" strike="noStrike" cap="none">
              <a:solidFill>
                <a:srgbClr val="000000"/>
              </a:solidFill>
              <a:latin typeface="Arial"/>
              <a:ea typeface="Arial"/>
              <a:cs typeface="Arial"/>
              <a:sym typeface="Arial"/>
            </a:endParaRPr>
          </a:p>
          <a:p>
            <a:pPr marL="1314450" marR="0" lvl="2" indent="-400050" algn="just" rtl="0">
              <a:lnSpc>
                <a:spcPct val="107000"/>
              </a:lnSpc>
              <a:spcBef>
                <a:spcPts val="0"/>
              </a:spcBef>
              <a:spcAft>
                <a:spcPts val="0"/>
              </a:spcAft>
              <a:buClr>
                <a:schemeClr val="dk1"/>
              </a:buClr>
              <a:buSzPts val="1800"/>
              <a:buFont typeface="Calibri"/>
              <a:buAutoNum type="romanLcPeriod"/>
            </a:pPr>
            <a:r>
              <a:rPr lang="en-MY" sz="1800" b="0" i="0" u="none" strike="noStrike" cap="none">
                <a:solidFill>
                  <a:schemeClr val="dk1"/>
                </a:solidFill>
                <a:latin typeface="Arial"/>
                <a:ea typeface="Arial"/>
                <a:cs typeface="Arial"/>
                <a:sym typeface="Arial"/>
              </a:rPr>
              <a:t>Installation ease.</a:t>
            </a:r>
            <a:endParaRPr sz="1400" b="0" i="0" u="none" strike="noStrike" cap="none">
              <a:solidFill>
                <a:srgbClr val="000000"/>
              </a:solidFill>
              <a:latin typeface="Arial"/>
              <a:ea typeface="Arial"/>
              <a:cs typeface="Arial"/>
              <a:sym typeface="Arial"/>
            </a:endParaRPr>
          </a:p>
          <a:p>
            <a:pPr marL="1314450" marR="0" lvl="2" indent="-400050" algn="just" rtl="0">
              <a:lnSpc>
                <a:spcPct val="107000"/>
              </a:lnSpc>
              <a:spcBef>
                <a:spcPts val="0"/>
              </a:spcBef>
              <a:spcAft>
                <a:spcPts val="0"/>
              </a:spcAft>
              <a:buClr>
                <a:schemeClr val="dk1"/>
              </a:buClr>
              <a:buSzPts val="1800"/>
              <a:buFont typeface="Calibri"/>
              <a:buAutoNum type="romanLcPeriod"/>
            </a:pPr>
            <a:r>
              <a:rPr lang="en-MY" sz="1800" b="0" i="0" u="none" strike="noStrike" cap="none">
                <a:solidFill>
                  <a:schemeClr val="dk1"/>
                </a:solidFill>
                <a:latin typeface="Arial"/>
                <a:ea typeface="Arial"/>
                <a:cs typeface="Arial"/>
                <a:sym typeface="Arial"/>
              </a:rPr>
              <a:t>Operational ease.</a:t>
            </a:r>
            <a:endParaRPr sz="1400" b="0" i="0" u="none" strike="noStrike" cap="none">
              <a:solidFill>
                <a:srgbClr val="000000"/>
              </a:solidFill>
              <a:latin typeface="Arial"/>
              <a:ea typeface="Arial"/>
              <a:cs typeface="Arial"/>
              <a:sym typeface="Arial"/>
            </a:endParaRPr>
          </a:p>
          <a:p>
            <a:pPr marL="1314450" marR="0" lvl="2" indent="-400050" algn="just" rtl="0">
              <a:lnSpc>
                <a:spcPct val="107000"/>
              </a:lnSpc>
              <a:spcBef>
                <a:spcPts val="0"/>
              </a:spcBef>
              <a:spcAft>
                <a:spcPts val="0"/>
              </a:spcAft>
              <a:buClr>
                <a:schemeClr val="dk1"/>
              </a:buClr>
              <a:buSzPts val="1800"/>
              <a:buFont typeface="Calibri"/>
              <a:buAutoNum type="romanLcPeriod"/>
            </a:pPr>
            <a:r>
              <a:rPr lang="en-MY" sz="1800" b="0" i="0" u="none" strike="noStrike" cap="none">
                <a:solidFill>
                  <a:schemeClr val="dk1"/>
                </a:solidFill>
                <a:latin typeface="Arial"/>
                <a:ea typeface="Arial"/>
                <a:cs typeface="Arial"/>
                <a:sym typeface="Arial"/>
              </a:rPr>
              <a:t>Multiple sites.</a:t>
            </a:r>
            <a:endParaRPr sz="1400" b="0" i="0" u="none" strike="noStrike" cap="none">
              <a:solidFill>
                <a:srgbClr val="000000"/>
              </a:solidFill>
              <a:latin typeface="Arial"/>
              <a:ea typeface="Arial"/>
              <a:cs typeface="Arial"/>
              <a:sym typeface="Arial"/>
            </a:endParaRPr>
          </a:p>
          <a:p>
            <a:pPr marL="1314450" marR="0" lvl="2" indent="-400050" algn="just" rtl="0">
              <a:lnSpc>
                <a:spcPct val="107000"/>
              </a:lnSpc>
              <a:spcBef>
                <a:spcPts val="0"/>
              </a:spcBef>
              <a:spcAft>
                <a:spcPts val="0"/>
              </a:spcAft>
              <a:buClr>
                <a:schemeClr val="dk1"/>
              </a:buClr>
              <a:buSzPts val="1800"/>
              <a:buFont typeface="Calibri"/>
              <a:buAutoNum type="romanLcPeriod"/>
            </a:pPr>
            <a:r>
              <a:rPr lang="en-MY" sz="1800" b="0" i="0" u="none" strike="noStrike" cap="none">
                <a:solidFill>
                  <a:schemeClr val="dk1"/>
                </a:solidFill>
                <a:latin typeface="Arial"/>
                <a:ea typeface="Arial"/>
                <a:cs typeface="Arial"/>
                <a:sym typeface="Arial"/>
              </a:rPr>
              <a:t>Facilitate change (flexible queries and report facilities).</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3"/>
        <p:cNvGrpSpPr/>
        <p:nvPr/>
      </p:nvGrpSpPr>
      <p:grpSpPr>
        <a:xfrm>
          <a:off x="0" y="0"/>
          <a:ext cx="0" cy="0"/>
          <a:chOff x="0" y="0"/>
          <a:chExt cx="0" cy="0"/>
        </a:xfrm>
      </p:grpSpPr>
      <p:sp>
        <p:nvSpPr>
          <p:cNvPr id="304" name="Google Shape;304;p33"/>
          <p:cNvSpPr txBox="1"/>
          <p:nvPr/>
        </p:nvSpPr>
        <p:spPr>
          <a:xfrm>
            <a:off x="979448" y="927802"/>
            <a:ext cx="10233103" cy="4810804"/>
          </a:xfrm>
          <a:prstGeom prst="rect">
            <a:avLst/>
          </a:prstGeom>
          <a:blipFill rotWithShape="1">
            <a:blip r:embed="rId3">
              <a:alphaModFix/>
            </a:blip>
            <a:stretch>
              <a:fillRect l="-1845" t="-757" r="-1843" b="-758"/>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MY"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p:nvPr/>
        </p:nvSpPr>
        <p:spPr>
          <a:xfrm>
            <a:off x="979448" y="927802"/>
            <a:ext cx="10233103" cy="5409686"/>
          </a:xfrm>
          <a:prstGeom prst="rect">
            <a:avLst/>
          </a:prstGeom>
          <a:blipFill rotWithShape="1">
            <a:blip r:embed="rId3">
              <a:alphaModFix/>
            </a:blip>
            <a:stretch>
              <a:fillRect l="-1547" t="-561" b="-1010"/>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MY"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35"/>
          <p:cNvSpPr txBox="1"/>
          <p:nvPr/>
        </p:nvSpPr>
        <p:spPr>
          <a:xfrm>
            <a:off x="979448" y="927802"/>
            <a:ext cx="10233103" cy="1237455"/>
          </a:xfrm>
          <a:prstGeom prst="rect">
            <a:avLst/>
          </a:prstGeom>
          <a:noFill/>
          <a:ln>
            <a:noFill/>
          </a:ln>
        </p:spPr>
        <p:txBody>
          <a:bodyPr spcFirstLastPara="1" wrap="square" lIns="0" tIns="45700" rIns="0" bIns="45700" anchor="t" anchorCtr="0">
            <a:spAutoFit/>
          </a:bodyPr>
          <a:lstStyle/>
          <a:p>
            <a:pPr marL="0" marR="0" lvl="0" indent="0" algn="just" rtl="0">
              <a:lnSpc>
                <a:spcPct val="107000"/>
              </a:lnSpc>
              <a:spcBef>
                <a:spcPts val="0"/>
              </a:spcBef>
              <a:spcAft>
                <a:spcPts val="0"/>
              </a:spcAft>
              <a:buClr>
                <a:schemeClr val="dk1"/>
              </a:buClr>
              <a:buSzPts val="2400"/>
              <a:buFont typeface="Arial"/>
              <a:buNone/>
            </a:pPr>
            <a:r>
              <a:rPr lang="en-MY" sz="2400" b="0" i="0" u="none" strike="noStrike" cap="none">
                <a:solidFill>
                  <a:schemeClr val="dk1"/>
                </a:solidFill>
                <a:latin typeface="Arial"/>
                <a:ea typeface="Arial"/>
                <a:cs typeface="Arial"/>
                <a:sym typeface="Arial"/>
              </a:rPr>
              <a:t>Example:</a:t>
            </a:r>
            <a:endParaRPr sz="2400" b="0" i="0" u="none" strike="noStrike" cap="none">
              <a:solidFill>
                <a:schemeClr val="dk1"/>
              </a:solidFill>
              <a:latin typeface="Arial"/>
              <a:ea typeface="Arial"/>
              <a:cs typeface="Arial"/>
              <a:sym typeface="Arial"/>
            </a:endParaRPr>
          </a:p>
          <a:p>
            <a:pPr marL="0" marR="0" lvl="0" indent="0" algn="just" rtl="0">
              <a:lnSpc>
                <a:spcPct val="107000"/>
              </a:lnSpc>
              <a:spcBef>
                <a:spcPts val="800"/>
              </a:spcBef>
              <a:spcAft>
                <a:spcPts val="0"/>
              </a:spcAft>
              <a:buClr>
                <a:srgbClr val="000000"/>
              </a:buClr>
              <a:buSzPts val="2000"/>
              <a:buFont typeface="Arial"/>
              <a:buNone/>
            </a:pPr>
            <a:r>
              <a:rPr lang="en-MY" sz="2000" b="0" i="0" u="none" strike="noStrike" cap="none">
                <a:solidFill>
                  <a:schemeClr val="dk1"/>
                </a:solidFill>
                <a:latin typeface="Arial"/>
                <a:ea typeface="Arial"/>
                <a:cs typeface="Arial"/>
                <a:sym typeface="Arial"/>
              </a:rPr>
              <a:t>A company wants to develop a web-based eCommerce management system. Suppose the system to be developed has the following components:</a:t>
            </a:r>
            <a:endParaRPr sz="1400" b="0" i="0" u="none" strike="noStrike" cap="none">
              <a:solidFill>
                <a:srgbClr val="000000"/>
              </a:solidFill>
              <a:latin typeface="Arial"/>
              <a:ea typeface="Arial"/>
              <a:cs typeface="Arial"/>
              <a:sym typeface="Arial"/>
            </a:endParaRPr>
          </a:p>
        </p:txBody>
      </p:sp>
      <p:graphicFrame>
        <p:nvGraphicFramePr>
          <p:cNvPr id="315" name="Google Shape;315;p35"/>
          <p:cNvGraphicFramePr/>
          <p:nvPr/>
        </p:nvGraphicFramePr>
        <p:xfrm>
          <a:off x="3200331" y="2165257"/>
          <a:ext cx="5791300" cy="2359800"/>
        </p:xfrm>
        <a:graphic>
          <a:graphicData uri="http://schemas.openxmlformats.org/drawingml/2006/table">
            <a:tbl>
              <a:tblPr firstRow="1" firstCol="1" bandRow="1">
                <a:noFill/>
                <a:tableStyleId>{DF398B2A-15F8-4116-8A9A-C70BB34DCDE9}</a:tableStyleId>
              </a:tblPr>
              <a:tblGrid>
                <a:gridCol w="1447825">
                  <a:extLst>
                    <a:ext uri="{9D8B030D-6E8A-4147-A177-3AD203B41FA5}">
                      <a16:colId xmlns:a16="http://schemas.microsoft.com/office/drawing/2014/main" val="20000"/>
                    </a:ext>
                  </a:extLst>
                </a:gridCol>
                <a:gridCol w="1447825">
                  <a:extLst>
                    <a:ext uri="{9D8B030D-6E8A-4147-A177-3AD203B41FA5}">
                      <a16:colId xmlns:a16="http://schemas.microsoft.com/office/drawing/2014/main" val="20001"/>
                    </a:ext>
                  </a:extLst>
                </a:gridCol>
                <a:gridCol w="1447825">
                  <a:extLst>
                    <a:ext uri="{9D8B030D-6E8A-4147-A177-3AD203B41FA5}">
                      <a16:colId xmlns:a16="http://schemas.microsoft.com/office/drawing/2014/main" val="20002"/>
                    </a:ext>
                  </a:extLst>
                </a:gridCol>
                <a:gridCol w="1447825">
                  <a:extLst>
                    <a:ext uri="{9D8B030D-6E8A-4147-A177-3AD203B41FA5}">
                      <a16:colId xmlns:a16="http://schemas.microsoft.com/office/drawing/2014/main" val="20003"/>
                    </a:ext>
                  </a:extLst>
                </a:gridCol>
              </a:tblGrid>
              <a:tr h="393300">
                <a:tc>
                  <a:txBody>
                    <a:bodyPr/>
                    <a:lstStyle/>
                    <a:p>
                      <a:pPr marL="0" marR="0" lvl="0" indent="0" algn="ctr" rtl="0">
                        <a:lnSpc>
                          <a:spcPct val="107000"/>
                        </a:lnSpc>
                        <a:spcBef>
                          <a:spcPts val="0"/>
                        </a:spcBef>
                        <a:spcAft>
                          <a:spcPts val="0"/>
                        </a:spcAft>
                        <a:buClr>
                          <a:schemeClr val="dk1"/>
                        </a:buClr>
                        <a:buSzPts val="2000"/>
                        <a:buFont typeface="Calibri"/>
                        <a:buNone/>
                      </a:pPr>
                      <a:r>
                        <a:rPr lang="en-MY" sz="2000" u="none" strike="noStrike" cap="none"/>
                        <a:t>Component</a:t>
                      </a:r>
                      <a:endParaRPr sz="2000" u="none" strike="noStrike" cap="none">
                        <a:latin typeface="Arial"/>
                        <a:ea typeface="Arial"/>
                        <a:cs typeface="Arial"/>
                        <a:sym typeface="Arial"/>
                      </a:endParaRPr>
                    </a:p>
                  </a:txBody>
                  <a:tcPr marL="68575" marR="68575" marT="0" marB="0" anchor="ctr"/>
                </a:tc>
                <a:tc>
                  <a:txBody>
                    <a:bodyPr/>
                    <a:lstStyle/>
                    <a:p>
                      <a:pPr marL="0" marR="0" lvl="0" indent="0" algn="ctr" rtl="0">
                        <a:lnSpc>
                          <a:spcPct val="107000"/>
                        </a:lnSpc>
                        <a:spcBef>
                          <a:spcPts val="0"/>
                        </a:spcBef>
                        <a:spcAft>
                          <a:spcPts val="0"/>
                        </a:spcAft>
                        <a:buClr>
                          <a:schemeClr val="dk1"/>
                        </a:buClr>
                        <a:buSzPts val="2000"/>
                        <a:buFont typeface="Calibri"/>
                        <a:buNone/>
                      </a:pPr>
                      <a:r>
                        <a:rPr lang="en-MY" sz="2000" u="none" strike="noStrike" cap="none"/>
                        <a:t>Count</a:t>
                      </a:r>
                      <a:endParaRPr sz="2000" u="none" strike="noStrike" cap="none">
                        <a:latin typeface="Arial"/>
                        <a:ea typeface="Arial"/>
                        <a:cs typeface="Arial"/>
                        <a:sym typeface="Arial"/>
                      </a:endParaRPr>
                    </a:p>
                  </a:txBody>
                  <a:tcPr marL="68575" marR="68575" marT="0" marB="0" anchor="ctr"/>
                </a:tc>
                <a:tc>
                  <a:txBody>
                    <a:bodyPr/>
                    <a:lstStyle/>
                    <a:p>
                      <a:pPr marL="0" marR="0" lvl="0" indent="0" algn="ctr" rtl="0">
                        <a:lnSpc>
                          <a:spcPct val="107000"/>
                        </a:lnSpc>
                        <a:spcBef>
                          <a:spcPts val="0"/>
                        </a:spcBef>
                        <a:spcAft>
                          <a:spcPts val="0"/>
                        </a:spcAft>
                        <a:buClr>
                          <a:schemeClr val="dk1"/>
                        </a:buClr>
                        <a:buSzPts val="2000"/>
                        <a:buFont typeface="Calibri"/>
                        <a:buNone/>
                      </a:pPr>
                      <a:r>
                        <a:rPr lang="en-MY" sz="2000" u="none" strike="noStrike" cap="none"/>
                        <a:t>Complexity</a:t>
                      </a:r>
                      <a:endParaRPr sz="2000" u="none" strike="noStrike" cap="none">
                        <a:latin typeface="Arial"/>
                        <a:ea typeface="Arial"/>
                        <a:cs typeface="Arial"/>
                        <a:sym typeface="Arial"/>
                      </a:endParaRPr>
                    </a:p>
                  </a:txBody>
                  <a:tcPr marL="68575" marR="68575" marT="0" marB="0" anchor="ctr"/>
                </a:tc>
                <a:tc>
                  <a:txBody>
                    <a:bodyPr/>
                    <a:lstStyle/>
                    <a:p>
                      <a:pPr marL="0" marR="0" lvl="0" indent="0" algn="ctr" rtl="0">
                        <a:lnSpc>
                          <a:spcPct val="107000"/>
                        </a:lnSpc>
                        <a:spcBef>
                          <a:spcPts val="0"/>
                        </a:spcBef>
                        <a:spcAft>
                          <a:spcPts val="0"/>
                        </a:spcAft>
                        <a:buClr>
                          <a:schemeClr val="dk1"/>
                        </a:buClr>
                        <a:buSzPts val="2000"/>
                        <a:buFont typeface="Calibri"/>
                        <a:buNone/>
                      </a:pPr>
                      <a:r>
                        <a:rPr lang="en-MY" sz="2000" u="none" strike="noStrike" cap="none"/>
                        <a:t>Weight</a:t>
                      </a:r>
                      <a:endParaRPr sz="2000" u="none" strike="noStrike" cap="none">
                        <a:latin typeface="Arial"/>
                        <a:ea typeface="Arial"/>
                        <a:cs typeface="Arial"/>
                        <a:sym typeface="Arial"/>
                      </a:endParaRPr>
                    </a:p>
                  </a:txBody>
                  <a:tcPr marL="68575" marR="68575" marT="0" marB="0" anchor="ctr"/>
                </a:tc>
                <a:extLst>
                  <a:ext uri="{0D108BD9-81ED-4DB2-BD59-A6C34878D82A}">
                    <a16:rowId xmlns:a16="http://schemas.microsoft.com/office/drawing/2014/main" val="10000"/>
                  </a:ext>
                </a:extLst>
              </a:tr>
              <a:tr h="393300">
                <a:tc>
                  <a:txBody>
                    <a:bodyPr/>
                    <a:lstStyle/>
                    <a:p>
                      <a:pPr marL="0" marR="0" lvl="0" indent="0" algn="ctr" rtl="0">
                        <a:lnSpc>
                          <a:spcPct val="107000"/>
                        </a:lnSpc>
                        <a:spcBef>
                          <a:spcPts val="0"/>
                        </a:spcBef>
                        <a:spcAft>
                          <a:spcPts val="0"/>
                        </a:spcAft>
                        <a:buClr>
                          <a:schemeClr val="dk1"/>
                        </a:buClr>
                        <a:buSzPts val="2000"/>
                        <a:buFont typeface="Calibri"/>
                        <a:buNone/>
                      </a:pPr>
                      <a:r>
                        <a:rPr lang="en-MY" sz="2000" u="none" strike="noStrike" cap="none"/>
                        <a:t>EI</a:t>
                      </a:r>
                      <a:endParaRPr sz="2000" u="none" strike="noStrike" cap="none">
                        <a:latin typeface="Arial"/>
                        <a:ea typeface="Arial"/>
                        <a:cs typeface="Arial"/>
                        <a:sym typeface="Arial"/>
                      </a:endParaRPr>
                    </a:p>
                  </a:txBody>
                  <a:tcPr marL="68575" marR="68575" marT="0" marB="0" anchor="ctr"/>
                </a:tc>
                <a:tc>
                  <a:txBody>
                    <a:bodyPr/>
                    <a:lstStyle/>
                    <a:p>
                      <a:pPr marL="0" marR="0" lvl="0" indent="0" algn="ctr" rtl="0">
                        <a:lnSpc>
                          <a:spcPct val="107000"/>
                        </a:lnSpc>
                        <a:spcBef>
                          <a:spcPts val="0"/>
                        </a:spcBef>
                        <a:spcAft>
                          <a:spcPts val="0"/>
                        </a:spcAft>
                        <a:buClr>
                          <a:schemeClr val="dk1"/>
                        </a:buClr>
                        <a:buSzPts val="2000"/>
                        <a:buFont typeface="Calibri"/>
                        <a:buNone/>
                      </a:pPr>
                      <a:r>
                        <a:rPr lang="en-MY" sz="2000" u="none" strike="noStrike" cap="none"/>
                        <a:t>10</a:t>
                      </a:r>
                      <a:endParaRPr sz="2000" u="none" strike="noStrike" cap="none">
                        <a:latin typeface="Arial"/>
                        <a:ea typeface="Arial"/>
                        <a:cs typeface="Arial"/>
                        <a:sym typeface="Arial"/>
                      </a:endParaRPr>
                    </a:p>
                  </a:txBody>
                  <a:tcPr marL="68575" marR="68575" marT="0" marB="0" anchor="ctr"/>
                </a:tc>
                <a:tc>
                  <a:txBody>
                    <a:bodyPr/>
                    <a:lstStyle/>
                    <a:p>
                      <a:pPr marL="0" marR="0" lvl="0" indent="0" algn="ctr" rtl="0">
                        <a:lnSpc>
                          <a:spcPct val="107000"/>
                        </a:lnSpc>
                        <a:spcBef>
                          <a:spcPts val="0"/>
                        </a:spcBef>
                        <a:spcAft>
                          <a:spcPts val="0"/>
                        </a:spcAft>
                        <a:buClr>
                          <a:schemeClr val="dk1"/>
                        </a:buClr>
                        <a:buSzPts val="2000"/>
                        <a:buFont typeface="Calibri"/>
                        <a:buNone/>
                      </a:pPr>
                      <a:r>
                        <a:rPr lang="en-MY" sz="2000" u="none" strike="noStrike" cap="none"/>
                        <a:t>Low</a:t>
                      </a:r>
                      <a:endParaRPr sz="2000" u="none" strike="noStrike" cap="none">
                        <a:latin typeface="Arial"/>
                        <a:ea typeface="Arial"/>
                        <a:cs typeface="Arial"/>
                        <a:sym typeface="Arial"/>
                      </a:endParaRPr>
                    </a:p>
                  </a:txBody>
                  <a:tcPr marL="68575" marR="68575" marT="0" marB="0" anchor="ctr"/>
                </a:tc>
                <a:tc>
                  <a:txBody>
                    <a:bodyPr/>
                    <a:lstStyle/>
                    <a:p>
                      <a:pPr marL="0" marR="0" lvl="0" indent="0" algn="ctr" rtl="0">
                        <a:lnSpc>
                          <a:spcPct val="107000"/>
                        </a:lnSpc>
                        <a:spcBef>
                          <a:spcPts val="0"/>
                        </a:spcBef>
                        <a:spcAft>
                          <a:spcPts val="0"/>
                        </a:spcAft>
                        <a:buClr>
                          <a:schemeClr val="dk1"/>
                        </a:buClr>
                        <a:buSzPts val="2000"/>
                        <a:buFont typeface="Calibri"/>
                        <a:buNone/>
                      </a:pPr>
                      <a:r>
                        <a:rPr lang="en-MY" sz="2000" u="none" strike="noStrike" cap="none"/>
                        <a:t>3</a:t>
                      </a:r>
                      <a:endParaRPr sz="2000" u="none" strike="noStrike" cap="none">
                        <a:latin typeface="Arial"/>
                        <a:ea typeface="Arial"/>
                        <a:cs typeface="Arial"/>
                        <a:sym typeface="Arial"/>
                      </a:endParaRPr>
                    </a:p>
                  </a:txBody>
                  <a:tcPr marL="68575" marR="68575" marT="0" marB="0" anchor="ctr"/>
                </a:tc>
                <a:extLst>
                  <a:ext uri="{0D108BD9-81ED-4DB2-BD59-A6C34878D82A}">
                    <a16:rowId xmlns:a16="http://schemas.microsoft.com/office/drawing/2014/main" val="10001"/>
                  </a:ext>
                </a:extLst>
              </a:tr>
              <a:tr h="393300">
                <a:tc>
                  <a:txBody>
                    <a:bodyPr/>
                    <a:lstStyle/>
                    <a:p>
                      <a:pPr marL="0" marR="0" lvl="0" indent="0" algn="ctr" rtl="0">
                        <a:lnSpc>
                          <a:spcPct val="107000"/>
                        </a:lnSpc>
                        <a:spcBef>
                          <a:spcPts val="0"/>
                        </a:spcBef>
                        <a:spcAft>
                          <a:spcPts val="0"/>
                        </a:spcAft>
                        <a:buClr>
                          <a:schemeClr val="dk1"/>
                        </a:buClr>
                        <a:buSzPts val="2000"/>
                        <a:buFont typeface="Calibri"/>
                        <a:buNone/>
                      </a:pPr>
                      <a:r>
                        <a:rPr lang="en-MY" sz="2000" u="none" strike="noStrike" cap="none"/>
                        <a:t>EO</a:t>
                      </a:r>
                      <a:endParaRPr sz="2000" u="none" strike="noStrike" cap="none">
                        <a:latin typeface="Arial"/>
                        <a:ea typeface="Arial"/>
                        <a:cs typeface="Arial"/>
                        <a:sym typeface="Arial"/>
                      </a:endParaRPr>
                    </a:p>
                  </a:txBody>
                  <a:tcPr marL="68575" marR="68575" marT="0" marB="0" anchor="ctr"/>
                </a:tc>
                <a:tc>
                  <a:txBody>
                    <a:bodyPr/>
                    <a:lstStyle/>
                    <a:p>
                      <a:pPr marL="0" marR="0" lvl="0" indent="0" algn="ctr" rtl="0">
                        <a:lnSpc>
                          <a:spcPct val="107000"/>
                        </a:lnSpc>
                        <a:spcBef>
                          <a:spcPts val="0"/>
                        </a:spcBef>
                        <a:spcAft>
                          <a:spcPts val="0"/>
                        </a:spcAft>
                        <a:buClr>
                          <a:schemeClr val="dk1"/>
                        </a:buClr>
                        <a:buSzPts val="2000"/>
                        <a:buFont typeface="Calibri"/>
                        <a:buNone/>
                      </a:pPr>
                      <a:r>
                        <a:rPr lang="en-MY" sz="2000" u="none" strike="noStrike" cap="none"/>
                        <a:t>5</a:t>
                      </a:r>
                      <a:endParaRPr sz="2000" u="none" strike="noStrike" cap="none">
                        <a:latin typeface="Arial"/>
                        <a:ea typeface="Arial"/>
                        <a:cs typeface="Arial"/>
                        <a:sym typeface="Arial"/>
                      </a:endParaRPr>
                    </a:p>
                  </a:txBody>
                  <a:tcPr marL="68575" marR="68575" marT="0" marB="0" anchor="ctr"/>
                </a:tc>
                <a:tc>
                  <a:txBody>
                    <a:bodyPr/>
                    <a:lstStyle/>
                    <a:p>
                      <a:pPr marL="0" marR="0" lvl="0" indent="0" algn="ctr" rtl="0">
                        <a:lnSpc>
                          <a:spcPct val="107000"/>
                        </a:lnSpc>
                        <a:spcBef>
                          <a:spcPts val="0"/>
                        </a:spcBef>
                        <a:spcAft>
                          <a:spcPts val="0"/>
                        </a:spcAft>
                        <a:buClr>
                          <a:schemeClr val="dk1"/>
                        </a:buClr>
                        <a:buSzPts val="2000"/>
                        <a:buFont typeface="Calibri"/>
                        <a:buNone/>
                      </a:pPr>
                      <a:r>
                        <a:rPr lang="en-MY" sz="2000" u="none" strike="noStrike" cap="none"/>
                        <a:t>Average</a:t>
                      </a:r>
                      <a:endParaRPr sz="2000" u="none" strike="noStrike" cap="none">
                        <a:latin typeface="Arial"/>
                        <a:ea typeface="Arial"/>
                        <a:cs typeface="Arial"/>
                        <a:sym typeface="Arial"/>
                      </a:endParaRPr>
                    </a:p>
                  </a:txBody>
                  <a:tcPr marL="68575" marR="68575" marT="0" marB="0" anchor="ctr"/>
                </a:tc>
                <a:tc>
                  <a:txBody>
                    <a:bodyPr/>
                    <a:lstStyle/>
                    <a:p>
                      <a:pPr marL="0" marR="0" lvl="0" indent="0" algn="ctr" rtl="0">
                        <a:lnSpc>
                          <a:spcPct val="107000"/>
                        </a:lnSpc>
                        <a:spcBef>
                          <a:spcPts val="0"/>
                        </a:spcBef>
                        <a:spcAft>
                          <a:spcPts val="0"/>
                        </a:spcAft>
                        <a:buClr>
                          <a:schemeClr val="dk1"/>
                        </a:buClr>
                        <a:buSzPts val="2000"/>
                        <a:buFont typeface="Calibri"/>
                        <a:buNone/>
                      </a:pPr>
                      <a:r>
                        <a:rPr lang="en-MY" sz="2000" u="none" strike="noStrike" cap="none"/>
                        <a:t>5</a:t>
                      </a:r>
                      <a:endParaRPr sz="2000" u="none" strike="noStrike" cap="none">
                        <a:latin typeface="Arial"/>
                        <a:ea typeface="Arial"/>
                        <a:cs typeface="Arial"/>
                        <a:sym typeface="Arial"/>
                      </a:endParaRPr>
                    </a:p>
                  </a:txBody>
                  <a:tcPr marL="68575" marR="68575" marT="0" marB="0" anchor="ctr"/>
                </a:tc>
                <a:extLst>
                  <a:ext uri="{0D108BD9-81ED-4DB2-BD59-A6C34878D82A}">
                    <a16:rowId xmlns:a16="http://schemas.microsoft.com/office/drawing/2014/main" val="10002"/>
                  </a:ext>
                </a:extLst>
              </a:tr>
              <a:tr h="393300">
                <a:tc>
                  <a:txBody>
                    <a:bodyPr/>
                    <a:lstStyle/>
                    <a:p>
                      <a:pPr marL="0" marR="0" lvl="0" indent="0" algn="ctr" rtl="0">
                        <a:lnSpc>
                          <a:spcPct val="107000"/>
                        </a:lnSpc>
                        <a:spcBef>
                          <a:spcPts val="0"/>
                        </a:spcBef>
                        <a:spcAft>
                          <a:spcPts val="0"/>
                        </a:spcAft>
                        <a:buClr>
                          <a:schemeClr val="dk1"/>
                        </a:buClr>
                        <a:buSzPts val="2000"/>
                        <a:buFont typeface="Calibri"/>
                        <a:buNone/>
                      </a:pPr>
                      <a:r>
                        <a:rPr lang="en-MY" sz="2000" u="none" strike="noStrike" cap="none"/>
                        <a:t>EQ</a:t>
                      </a:r>
                      <a:endParaRPr sz="2000" u="none" strike="noStrike" cap="none">
                        <a:latin typeface="Arial"/>
                        <a:ea typeface="Arial"/>
                        <a:cs typeface="Arial"/>
                        <a:sym typeface="Arial"/>
                      </a:endParaRPr>
                    </a:p>
                  </a:txBody>
                  <a:tcPr marL="68575" marR="68575" marT="0" marB="0" anchor="ctr"/>
                </a:tc>
                <a:tc>
                  <a:txBody>
                    <a:bodyPr/>
                    <a:lstStyle/>
                    <a:p>
                      <a:pPr marL="0" marR="0" lvl="0" indent="0" algn="ctr" rtl="0">
                        <a:lnSpc>
                          <a:spcPct val="107000"/>
                        </a:lnSpc>
                        <a:spcBef>
                          <a:spcPts val="0"/>
                        </a:spcBef>
                        <a:spcAft>
                          <a:spcPts val="0"/>
                        </a:spcAft>
                        <a:buClr>
                          <a:schemeClr val="dk1"/>
                        </a:buClr>
                        <a:buSzPts val="2000"/>
                        <a:buFont typeface="Calibri"/>
                        <a:buNone/>
                      </a:pPr>
                      <a:r>
                        <a:rPr lang="en-MY" sz="2000" u="none" strike="noStrike" cap="none"/>
                        <a:t>8</a:t>
                      </a:r>
                      <a:endParaRPr sz="2000" u="none" strike="noStrike" cap="none">
                        <a:latin typeface="Arial"/>
                        <a:ea typeface="Arial"/>
                        <a:cs typeface="Arial"/>
                        <a:sym typeface="Arial"/>
                      </a:endParaRPr>
                    </a:p>
                  </a:txBody>
                  <a:tcPr marL="68575" marR="68575" marT="0" marB="0" anchor="ctr"/>
                </a:tc>
                <a:tc>
                  <a:txBody>
                    <a:bodyPr/>
                    <a:lstStyle/>
                    <a:p>
                      <a:pPr marL="0" marR="0" lvl="0" indent="0" algn="ctr" rtl="0">
                        <a:lnSpc>
                          <a:spcPct val="107000"/>
                        </a:lnSpc>
                        <a:spcBef>
                          <a:spcPts val="0"/>
                        </a:spcBef>
                        <a:spcAft>
                          <a:spcPts val="0"/>
                        </a:spcAft>
                        <a:buClr>
                          <a:schemeClr val="dk1"/>
                        </a:buClr>
                        <a:buSzPts val="2000"/>
                        <a:buFont typeface="Calibri"/>
                        <a:buNone/>
                      </a:pPr>
                      <a:r>
                        <a:rPr lang="en-MY" sz="2000" u="none" strike="noStrike" cap="none"/>
                        <a:t>Low</a:t>
                      </a:r>
                      <a:endParaRPr sz="2000" u="none" strike="noStrike" cap="none">
                        <a:latin typeface="Arial"/>
                        <a:ea typeface="Arial"/>
                        <a:cs typeface="Arial"/>
                        <a:sym typeface="Arial"/>
                      </a:endParaRPr>
                    </a:p>
                  </a:txBody>
                  <a:tcPr marL="68575" marR="68575" marT="0" marB="0" anchor="ctr"/>
                </a:tc>
                <a:tc>
                  <a:txBody>
                    <a:bodyPr/>
                    <a:lstStyle/>
                    <a:p>
                      <a:pPr marL="0" marR="0" lvl="0" indent="0" algn="ctr" rtl="0">
                        <a:lnSpc>
                          <a:spcPct val="107000"/>
                        </a:lnSpc>
                        <a:spcBef>
                          <a:spcPts val="0"/>
                        </a:spcBef>
                        <a:spcAft>
                          <a:spcPts val="0"/>
                        </a:spcAft>
                        <a:buClr>
                          <a:schemeClr val="dk1"/>
                        </a:buClr>
                        <a:buSzPts val="2000"/>
                        <a:buFont typeface="Calibri"/>
                        <a:buNone/>
                      </a:pPr>
                      <a:r>
                        <a:rPr lang="en-MY" sz="2000" u="none" strike="noStrike" cap="none"/>
                        <a:t>3</a:t>
                      </a:r>
                      <a:endParaRPr sz="2000" u="none" strike="noStrike" cap="none">
                        <a:latin typeface="Arial"/>
                        <a:ea typeface="Arial"/>
                        <a:cs typeface="Arial"/>
                        <a:sym typeface="Arial"/>
                      </a:endParaRPr>
                    </a:p>
                  </a:txBody>
                  <a:tcPr marL="68575" marR="68575" marT="0" marB="0" anchor="ctr"/>
                </a:tc>
                <a:extLst>
                  <a:ext uri="{0D108BD9-81ED-4DB2-BD59-A6C34878D82A}">
                    <a16:rowId xmlns:a16="http://schemas.microsoft.com/office/drawing/2014/main" val="10003"/>
                  </a:ext>
                </a:extLst>
              </a:tr>
              <a:tr h="393300">
                <a:tc>
                  <a:txBody>
                    <a:bodyPr/>
                    <a:lstStyle/>
                    <a:p>
                      <a:pPr marL="0" marR="0" lvl="0" indent="0" algn="ctr" rtl="0">
                        <a:lnSpc>
                          <a:spcPct val="107000"/>
                        </a:lnSpc>
                        <a:spcBef>
                          <a:spcPts val="0"/>
                        </a:spcBef>
                        <a:spcAft>
                          <a:spcPts val="0"/>
                        </a:spcAft>
                        <a:buClr>
                          <a:schemeClr val="dk1"/>
                        </a:buClr>
                        <a:buSzPts val="2000"/>
                        <a:buFont typeface="Calibri"/>
                        <a:buNone/>
                      </a:pPr>
                      <a:r>
                        <a:rPr lang="en-MY" sz="2000" u="none" strike="noStrike" cap="none"/>
                        <a:t>ILF</a:t>
                      </a:r>
                      <a:endParaRPr sz="2000" u="none" strike="noStrike" cap="none">
                        <a:latin typeface="Arial"/>
                        <a:ea typeface="Arial"/>
                        <a:cs typeface="Arial"/>
                        <a:sym typeface="Arial"/>
                      </a:endParaRPr>
                    </a:p>
                  </a:txBody>
                  <a:tcPr marL="68575" marR="68575" marT="0" marB="0" anchor="ctr"/>
                </a:tc>
                <a:tc>
                  <a:txBody>
                    <a:bodyPr/>
                    <a:lstStyle/>
                    <a:p>
                      <a:pPr marL="0" marR="0" lvl="0" indent="0" algn="ctr" rtl="0">
                        <a:lnSpc>
                          <a:spcPct val="107000"/>
                        </a:lnSpc>
                        <a:spcBef>
                          <a:spcPts val="0"/>
                        </a:spcBef>
                        <a:spcAft>
                          <a:spcPts val="0"/>
                        </a:spcAft>
                        <a:buClr>
                          <a:schemeClr val="dk1"/>
                        </a:buClr>
                        <a:buSzPts val="2000"/>
                        <a:buFont typeface="Calibri"/>
                        <a:buNone/>
                      </a:pPr>
                      <a:r>
                        <a:rPr lang="en-MY" sz="2000" u="none" strike="noStrike" cap="none"/>
                        <a:t>4</a:t>
                      </a:r>
                      <a:endParaRPr sz="2000" u="none" strike="noStrike" cap="none">
                        <a:latin typeface="Arial"/>
                        <a:ea typeface="Arial"/>
                        <a:cs typeface="Arial"/>
                        <a:sym typeface="Arial"/>
                      </a:endParaRPr>
                    </a:p>
                  </a:txBody>
                  <a:tcPr marL="68575" marR="68575" marT="0" marB="0" anchor="ctr"/>
                </a:tc>
                <a:tc>
                  <a:txBody>
                    <a:bodyPr/>
                    <a:lstStyle/>
                    <a:p>
                      <a:pPr marL="0" marR="0" lvl="0" indent="0" algn="ctr" rtl="0">
                        <a:lnSpc>
                          <a:spcPct val="107000"/>
                        </a:lnSpc>
                        <a:spcBef>
                          <a:spcPts val="0"/>
                        </a:spcBef>
                        <a:spcAft>
                          <a:spcPts val="0"/>
                        </a:spcAft>
                        <a:buClr>
                          <a:schemeClr val="dk1"/>
                        </a:buClr>
                        <a:buSzPts val="2000"/>
                        <a:buFont typeface="Calibri"/>
                        <a:buNone/>
                      </a:pPr>
                      <a:r>
                        <a:rPr lang="en-MY" sz="2000" u="none" strike="noStrike" cap="none"/>
                        <a:t>High</a:t>
                      </a:r>
                      <a:endParaRPr sz="2000" u="none" strike="noStrike" cap="none">
                        <a:latin typeface="Arial"/>
                        <a:ea typeface="Arial"/>
                        <a:cs typeface="Arial"/>
                        <a:sym typeface="Arial"/>
                      </a:endParaRPr>
                    </a:p>
                  </a:txBody>
                  <a:tcPr marL="68575" marR="68575" marT="0" marB="0" anchor="ctr"/>
                </a:tc>
                <a:tc>
                  <a:txBody>
                    <a:bodyPr/>
                    <a:lstStyle/>
                    <a:p>
                      <a:pPr marL="0" marR="0" lvl="0" indent="0" algn="ctr" rtl="0">
                        <a:lnSpc>
                          <a:spcPct val="107000"/>
                        </a:lnSpc>
                        <a:spcBef>
                          <a:spcPts val="0"/>
                        </a:spcBef>
                        <a:spcAft>
                          <a:spcPts val="0"/>
                        </a:spcAft>
                        <a:buClr>
                          <a:schemeClr val="dk1"/>
                        </a:buClr>
                        <a:buSzPts val="2000"/>
                        <a:buFont typeface="Calibri"/>
                        <a:buNone/>
                      </a:pPr>
                      <a:r>
                        <a:rPr lang="en-MY" sz="2000" u="none" strike="noStrike" cap="none"/>
                        <a:t>15</a:t>
                      </a:r>
                      <a:endParaRPr sz="2000" u="none" strike="noStrike" cap="none">
                        <a:latin typeface="Arial"/>
                        <a:ea typeface="Arial"/>
                        <a:cs typeface="Arial"/>
                        <a:sym typeface="Arial"/>
                      </a:endParaRPr>
                    </a:p>
                  </a:txBody>
                  <a:tcPr marL="68575" marR="68575" marT="0" marB="0" anchor="ctr"/>
                </a:tc>
                <a:extLst>
                  <a:ext uri="{0D108BD9-81ED-4DB2-BD59-A6C34878D82A}">
                    <a16:rowId xmlns:a16="http://schemas.microsoft.com/office/drawing/2014/main" val="10004"/>
                  </a:ext>
                </a:extLst>
              </a:tr>
              <a:tr h="393300">
                <a:tc>
                  <a:txBody>
                    <a:bodyPr/>
                    <a:lstStyle/>
                    <a:p>
                      <a:pPr marL="0" marR="0" lvl="0" indent="0" algn="ctr" rtl="0">
                        <a:lnSpc>
                          <a:spcPct val="107000"/>
                        </a:lnSpc>
                        <a:spcBef>
                          <a:spcPts val="0"/>
                        </a:spcBef>
                        <a:spcAft>
                          <a:spcPts val="0"/>
                        </a:spcAft>
                        <a:buClr>
                          <a:schemeClr val="dk1"/>
                        </a:buClr>
                        <a:buSzPts val="2000"/>
                        <a:buFont typeface="Calibri"/>
                        <a:buNone/>
                      </a:pPr>
                      <a:r>
                        <a:rPr lang="en-MY" sz="2000" u="none" strike="noStrike" cap="none"/>
                        <a:t>EIF</a:t>
                      </a:r>
                      <a:endParaRPr sz="2000" u="none" strike="noStrike" cap="none">
                        <a:latin typeface="Arial"/>
                        <a:ea typeface="Arial"/>
                        <a:cs typeface="Arial"/>
                        <a:sym typeface="Arial"/>
                      </a:endParaRPr>
                    </a:p>
                  </a:txBody>
                  <a:tcPr marL="68575" marR="68575" marT="0" marB="0" anchor="ctr"/>
                </a:tc>
                <a:tc>
                  <a:txBody>
                    <a:bodyPr/>
                    <a:lstStyle/>
                    <a:p>
                      <a:pPr marL="0" marR="0" lvl="0" indent="0" algn="ctr" rtl="0">
                        <a:lnSpc>
                          <a:spcPct val="107000"/>
                        </a:lnSpc>
                        <a:spcBef>
                          <a:spcPts val="0"/>
                        </a:spcBef>
                        <a:spcAft>
                          <a:spcPts val="0"/>
                        </a:spcAft>
                        <a:buClr>
                          <a:schemeClr val="dk1"/>
                        </a:buClr>
                        <a:buSzPts val="2000"/>
                        <a:buFont typeface="Calibri"/>
                        <a:buNone/>
                      </a:pPr>
                      <a:r>
                        <a:rPr lang="en-MY" sz="2000" u="none" strike="noStrike" cap="none"/>
                        <a:t>3</a:t>
                      </a:r>
                      <a:endParaRPr sz="2000" u="none" strike="noStrike" cap="none">
                        <a:latin typeface="Arial"/>
                        <a:ea typeface="Arial"/>
                        <a:cs typeface="Arial"/>
                        <a:sym typeface="Arial"/>
                      </a:endParaRPr>
                    </a:p>
                  </a:txBody>
                  <a:tcPr marL="68575" marR="68575" marT="0" marB="0" anchor="ctr"/>
                </a:tc>
                <a:tc>
                  <a:txBody>
                    <a:bodyPr/>
                    <a:lstStyle/>
                    <a:p>
                      <a:pPr marL="0" marR="0" lvl="0" indent="0" algn="ctr" rtl="0">
                        <a:lnSpc>
                          <a:spcPct val="107000"/>
                        </a:lnSpc>
                        <a:spcBef>
                          <a:spcPts val="0"/>
                        </a:spcBef>
                        <a:spcAft>
                          <a:spcPts val="0"/>
                        </a:spcAft>
                        <a:buClr>
                          <a:schemeClr val="dk1"/>
                        </a:buClr>
                        <a:buSzPts val="2000"/>
                        <a:buFont typeface="Calibri"/>
                        <a:buNone/>
                      </a:pPr>
                      <a:r>
                        <a:rPr lang="en-MY" sz="2000" u="none" strike="noStrike" cap="none"/>
                        <a:t>Average</a:t>
                      </a:r>
                      <a:endParaRPr sz="2000" u="none" strike="noStrike" cap="none">
                        <a:latin typeface="Arial"/>
                        <a:ea typeface="Arial"/>
                        <a:cs typeface="Arial"/>
                        <a:sym typeface="Arial"/>
                      </a:endParaRPr>
                    </a:p>
                  </a:txBody>
                  <a:tcPr marL="68575" marR="68575" marT="0" marB="0" anchor="ctr"/>
                </a:tc>
                <a:tc>
                  <a:txBody>
                    <a:bodyPr/>
                    <a:lstStyle/>
                    <a:p>
                      <a:pPr marL="0" marR="0" lvl="0" indent="0" algn="ctr" rtl="0">
                        <a:lnSpc>
                          <a:spcPct val="107000"/>
                        </a:lnSpc>
                        <a:spcBef>
                          <a:spcPts val="0"/>
                        </a:spcBef>
                        <a:spcAft>
                          <a:spcPts val="0"/>
                        </a:spcAft>
                        <a:buClr>
                          <a:schemeClr val="dk1"/>
                        </a:buClr>
                        <a:buSzPts val="2000"/>
                        <a:buFont typeface="Calibri"/>
                        <a:buNone/>
                      </a:pPr>
                      <a:r>
                        <a:rPr lang="en-MY" sz="2000" u="none" strike="noStrike" cap="none"/>
                        <a:t>7</a:t>
                      </a:r>
                      <a:endParaRPr sz="2000" u="none" strike="noStrike" cap="none">
                        <a:latin typeface="Arial"/>
                        <a:ea typeface="Arial"/>
                        <a:cs typeface="Arial"/>
                        <a:sym typeface="Arial"/>
                      </a:endParaRPr>
                    </a:p>
                  </a:txBody>
                  <a:tcPr marL="68575" marR="68575" marT="0" marB="0" anchor="ctr"/>
                </a:tc>
                <a:extLst>
                  <a:ext uri="{0D108BD9-81ED-4DB2-BD59-A6C34878D82A}">
                    <a16:rowId xmlns:a16="http://schemas.microsoft.com/office/drawing/2014/main" val="10005"/>
                  </a:ext>
                </a:extLst>
              </a:tr>
            </a:tbl>
          </a:graphicData>
        </a:graphic>
      </p:graphicFrame>
      <p:sp>
        <p:nvSpPr>
          <p:cNvPr id="316" name="Google Shape;316;p35"/>
          <p:cNvSpPr txBox="1"/>
          <p:nvPr/>
        </p:nvSpPr>
        <p:spPr>
          <a:xfrm>
            <a:off x="979448" y="4589781"/>
            <a:ext cx="10233103" cy="2397539"/>
          </a:xfrm>
          <a:prstGeom prst="rect">
            <a:avLst/>
          </a:prstGeom>
          <a:noFill/>
          <a:ln>
            <a:noFill/>
          </a:ln>
        </p:spPr>
        <p:txBody>
          <a:bodyPr spcFirstLastPara="1" wrap="square" lIns="91425" tIns="45700" rIns="91425" bIns="45700" anchor="t" anchorCtr="0">
            <a:spAutoFit/>
          </a:bodyPr>
          <a:lstStyle/>
          <a:p>
            <a:pPr marL="342900" marR="0" lvl="0" indent="-342900" algn="just" rtl="0">
              <a:lnSpc>
                <a:spcPct val="107000"/>
              </a:lnSpc>
              <a:spcBef>
                <a:spcPts val="0"/>
              </a:spcBef>
              <a:spcAft>
                <a:spcPts val="0"/>
              </a:spcAft>
              <a:buClr>
                <a:schemeClr val="dk1"/>
              </a:buClr>
              <a:buSzPts val="2000"/>
              <a:buFont typeface="Arial"/>
              <a:buChar char="•"/>
            </a:pPr>
            <a:r>
              <a:rPr lang="en-MY" sz="2000" b="0" i="0" u="none" strike="noStrike" cap="none">
                <a:solidFill>
                  <a:schemeClr val="dk1"/>
                </a:solidFill>
                <a:latin typeface="Arial"/>
                <a:ea typeface="Arial"/>
                <a:cs typeface="Arial"/>
                <a:sym typeface="Arial"/>
              </a:rPr>
              <a:t>Perform </a:t>
            </a:r>
            <a:r>
              <a:rPr lang="en-MY" sz="2000" b="1" i="0" u="none" strike="noStrike" cap="none">
                <a:solidFill>
                  <a:schemeClr val="dk1"/>
                </a:solidFill>
                <a:latin typeface="Arial"/>
                <a:ea typeface="Arial"/>
                <a:cs typeface="Arial"/>
                <a:sym typeface="Arial"/>
              </a:rPr>
              <a:t>function point analysis (FPA)</a:t>
            </a:r>
            <a:r>
              <a:rPr lang="en-MY" sz="2000" b="0" i="0" u="none" strike="noStrike" cap="none">
                <a:solidFill>
                  <a:schemeClr val="dk1"/>
                </a:solidFill>
                <a:latin typeface="Arial"/>
                <a:ea typeface="Arial"/>
                <a:cs typeface="Arial"/>
                <a:sym typeface="Arial"/>
              </a:rPr>
              <a:t> to calculate </a:t>
            </a:r>
            <a:r>
              <a:rPr lang="en-MY" sz="2000" b="1" i="1" u="none" strike="noStrike" cap="none">
                <a:solidFill>
                  <a:schemeClr val="dk1"/>
                </a:solidFill>
                <a:latin typeface="Arial"/>
                <a:ea typeface="Arial"/>
                <a:cs typeface="Arial"/>
                <a:sym typeface="Arial"/>
              </a:rPr>
              <a:t>UFP</a:t>
            </a:r>
            <a:r>
              <a:rPr lang="en-MY" sz="2000" b="0" i="0" u="none" strike="noStrike" cap="none">
                <a:solidFill>
                  <a:schemeClr val="dk1"/>
                </a:solidFill>
                <a:latin typeface="Arial"/>
                <a:ea typeface="Arial"/>
                <a:cs typeface="Arial"/>
                <a:sym typeface="Arial"/>
              </a:rPr>
              <a:t>, </a:t>
            </a:r>
            <a:r>
              <a:rPr lang="en-MY" sz="2000" b="1" i="1" u="none" strike="noStrike" cap="none">
                <a:solidFill>
                  <a:schemeClr val="dk1"/>
                </a:solidFill>
                <a:latin typeface="Arial"/>
                <a:ea typeface="Arial"/>
                <a:cs typeface="Arial"/>
                <a:sym typeface="Arial"/>
              </a:rPr>
              <a:t>VAF</a:t>
            </a:r>
            <a:r>
              <a:rPr lang="en-MY" sz="2000" b="0" i="0" u="none" strike="noStrike" cap="none">
                <a:solidFill>
                  <a:schemeClr val="dk1"/>
                </a:solidFill>
                <a:latin typeface="Arial"/>
                <a:ea typeface="Arial"/>
                <a:cs typeface="Arial"/>
                <a:sym typeface="Arial"/>
              </a:rPr>
              <a:t>, </a:t>
            </a:r>
            <a:r>
              <a:rPr lang="en-MY" sz="2000" b="1" i="1" u="none" strike="noStrike" cap="none">
                <a:solidFill>
                  <a:schemeClr val="dk1"/>
                </a:solidFill>
                <a:latin typeface="Arial"/>
                <a:ea typeface="Arial"/>
                <a:cs typeface="Arial"/>
                <a:sym typeface="Arial"/>
              </a:rPr>
              <a:t>FPC</a:t>
            </a:r>
            <a:r>
              <a:rPr lang="en-MY" sz="2000" b="0" i="0" u="none" strike="noStrike" cap="none">
                <a:solidFill>
                  <a:schemeClr val="dk1"/>
                </a:solidFill>
                <a:latin typeface="Arial"/>
                <a:ea typeface="Arial"/>
                <a:cs typeface="Arial"/>
                <a:sym typeface="Arial"/>
              </a:rPr>
              <a:t>, </a:t>
            </a:r>
            <a:r>
              <a:rPr lang="en-MY" sz="2000" b="1" i="1" u="none" strike="noStrike" cap="none">
                <a:solidFill>
                  <a:schemeClr val="dk1"/>
                </a:solidFill>
                <a:latin typeface="Arial"/>
                <a:ea typeface="Arial"/>
                <a:cs typeface="Arial"/>
                <a:sym typeface="Arial"/>
              </a:rPr>
              <a:t>Effort</a:t>
            </a:r>
            <a:r>
              <a:rPr lang="en-MY" sz="2000" b="0" i="0" u="none" strike="noStrike" cap="none">
                <a:solidFill>
                  <a:schemeClr val="dk1"/>
                </a:solidFill>
                <a:latin typeface="Arial"/>
                <a:ea typeface="Arial"/>
                <a:cs typeface="Arial"/>
                <a:sym typeface="Arial"/>
              </a:rPr>
              <a:t> and </a:t>
            </a:r>
            <a:r>
              <a:rPr lang="en-MY" sz="2000" b="1" i="1" u="none" strike="noStrike" cap="none">
                <a:solidFill>
                  <a:schemeClr val="dk1"/>
                </a:solidFill>
                <a:latin typeface="Arial"/>
                <a:ea typeface="Arial"/>
                <a:cs typeface="Arial"/>
                <a:sym typeface="Arial"/>
              </a:rPr>
              <a:t>Cost</a:t>
            </a:r>
            <a:r>
              <a:rPr lang="en-MY" sz="2000" b="0" i="0" u="none" strike="noStrike" cap="none">
                <a:solidFill>
                  <a:schemeClr val="dk1"/>
                </a:solidFill>
                <a:latin typeface="Arial"/>
                <a:ea typeface="Arial"/>
                <a:cs typeface="Arial"/>
                <a:sym typeface="Arial"/>
              </a:rPr>
              <a:t>.</a:t>
            </a:r>
            <a:endParaRPr sz="1400" b="0" i="0" u="none" strike="noStrike" cap="none">
              <a:solidFill>
                <a:srgbClr val="000000"/>
              </a:solidFill>
              <a:latin typeface="Arial"/>
              <a:ea typeface="Arial"/>
              <a:cs typeface="Arial"/>
              <a:sym typeface="Arial"/>
            </a:endParaRPr>
          </a:p>
          <a:p>
            <a:pPr marL="0" marR="0" lvl="0" indent="0" algn="just" rtl="0">
              <a:lnSpc>
                <a:spcPct val="107000"/>
              </a:lnSpc>
              <a:spcBef>
                <a:spcPts val="0"/>
              </a:spcBef>
              <a:spcAft>
                <a:spcPts val="0"/>
              </a:spcAft>
              <a:buClr>
                <a:srgbClr val="000000"/>
              </a:buClr>
              <a:buSzPts val="2000"/>
              <a:buFont typeface="Arial"/>
              <a:buNone/>
            </a:pPr>
            <a:endParaRPr sz="2000" b="0" i="0" u="none" strike="noStrike" cap="none">
              <a:solidFill>
                <a:schemeClr val="dk1"/>
              </a:solidFill>
              <a:latin typeface="Arial"/>
              <a:ea typeface="Arial"/>
              <a:cs typeface="Arial"/>
              <a:sym typeface="Arial"/>
            </a:endParaRPr>
          </a:p>
          <a:p>
            <a:pPr marL="342900" marR="0" lvl="0" indent="-342900" algn="just" rtl="0">
              <a:lnSpc>
                <a:spcPct val="107000"/>
              </a:lnSpc>
              <a:spcBef>
                <a:spcPts val="0"/>
              </a:spcBef>
              <a:spcAft>
                <a:spcPts val="0"/>
              </a:spcAft>
              <a:buClr>
                <a:schemeClr val="dk1"/>
              </a:buClr>
              <a:buSzPts val="2000"/>
              <a:buFont typeface="Arial"/>
              <a:buChar char="•"/>
            </a:pPr>
            <a:r>
              <a:rPr lang="en-MY" sz="2000" b="0" i="0" u="none" strike="noStrike" cap="none">
                <a:solidFill>
                  <a:schemeClr val="dk1"/>
                </a:solidFill>
                <a:latin typeface="Arial"/>
                <a:ea typeface="Arial"/>
                <a:cs typeface="Arial"/>
                <a:sym typeface="Arial"/>
              </a:rPr>
              <a:t>Following information are provided:</a:t>
            </a:r>
            <a:endParaRPr sz="2000" b="0" i="0" u="none" strike="noStrike" cap="none">
              <a:solidFill>
                <a:schemeClr val="dk1"/>
              </a:solidFill>
              <a:latin typeface="Arial"/>
              <a:ea typeface="Arial"/>
              <a:cs typeface="Arial"/>
              <a:sym typeface="Arial"/>
            </a:endParaRPr>
          </a:p>
          <a:p>
            <a:pPr marL="800100" marR="0" lvl="1" indent="-342900" algn="just" rtl="0">
              <a:lnSpc>
                <a:spcPct val="107000"/>
              </a:lnSpc>
              <a:spcBef>
                <a:spcPts val="0"/>
              </a:spcBef>
              <a:spcAft>
                <a:spcPts val="0"/>
              </a:spcAft>
              <a:buClr>
                <a:schemeClr val="dk1"/>
              </a:buClr>
              <a:buSzPts val="2000"/>
              <a:buFont typeface="Arial"/>
              <a:buChar char="•"/>
            </a:pPr>
            <a:r>
              <a:rPr lang="en-MY" sz="2000" b="1" i="0" u="none" strike="noStrike" cap="none">
                <a:solidFill>
                  <a:schemeClr val="dk1"/>
                </a:solidFill>
                <a:latin typeface="Arial"/>
                <a:ea typeface="Arial"/>
                <a:cs typeface="Arial"/>
                <a:sym typeface="Arial"/>
              </a:rPr>
              <a:t>Total degree of influence (TDI)</a:t>
            </a:r>
            <a:r>
              <a:rPr lang="en-MY" sz="2000" b="0" i="0" u="none" strike="noStrike" cap="none">
                <a:solidFill>
                  <a:schemeClr val="dk1"/>
                </a:solidFill>
                <a:latin typeface="Arial"/>
                <a:ea typeface="Arial"/>
                <a:cs typeface="Arial"/>
                <a:sym typeface="Arial"/>
              </a:rPr>
              <a:t> is </a:t>
            </a:r>
            <a:r>
              <a:rPr lang="en-MY" sz="2000" b="1" i="0" u="none" strike="noStrike" cap="none">
                <a:solidFill>
                  <a:schemeClr val="dk1"/>
                </a:solidFill>
                <a:latin typeface="Arial"/>
                <a:ea typeface="Arial"/>
                <a:cs typeface="Arial"/>
                <a:sym typeface="Arial"/>
              </a:rPr>
              <a:t>40</a:t>
            </a:r>
            <a:r>
              <a:rPr lang="en-MY" sz="2000" b="0" i="0" u="none" strike="noStrike" cap="none">
                <a:solidFill>
                  <a:schemeClr val="dk1"/>
                </a:solidFill>
                <a:latin typeface="Arial"/>
                <a:ea typeface="Arial"/>
                <a:cs typeface="Arial"/>
                <a:sym typeface="Arial"/>
              </a:rPr>
              <a:t> considering the project characteristics.</a:t>
            </a:r>
            <a:endParaRPr sz="1400" b="0" i="0" u="none" strike="noStrike" cap="none">
              <a:solidFill>
                <a:srgbClr val="000000"/>
              </a:solidFill>
              <a:latin typeface="Arial"/>
              <a:ea typeface="Arial"/>
              <a:cs typeface="Arial"/>
              <a:sym typeface="Arial"/>
            </a:endParaRPr>
          </a:p>
          <a:p>
            <a:pPr marL="800100" marR="0" lvl="1" indent="-342900" algn="just" rtl="0">
              <a:lnSpc>
                <a:spcPct val="107000"/>
              </a:lnSpc>
              <a:spcBef>
                <a:spcPts val="0"/>
              </a:spcBef>
              <a:spcAft>
                <a:spcPts val="0"/>
              </a:spcAft>
              <a:buClr>
                <a:schemeClr val="dk1"/>
              </a:buClr>
              <a:buSzPts val="2000"/>
              <a:buFont typeface="Arial"/>
              <a:buChar char="•"/>
            </a:pPr>
            <a:r>
              <a:rPr lang="en-MY" sz="2000" b="1" i="0" u="none" strike="noStrike" cap="none">
                <a:solidFill>
                  <a:schemeClr val="dk1"/>
                </a:solidFill>
                <a:latin typeface="Arial"/>
                <a:ea typeface="Arial"/>
                <a:cs typeface="Arial"/>
                <a:sym typeface="Arial"/>
              </a:rPr>
              <a:t>Productivity factor </a:t>
            </a:r>
            <a:r>
              <a:rPr lang="en-MY" sz="2000" b="0" i="0" u="none" strike="noStrike" cap="none">
                <a:solidFill>
                  <a:schemeClr val="dk1"/>
                </a:solidFill>
                <a:latin typeface="Arial"/>
                <a:ea typeface="Arial"/>
                <a:cs typeface="Arial"/>
                <a:sym typeface="Arial"/>
              </a:rPr>
              <a:t>is </a:t>
            </a:r>
            <a:r>
              <a:rPr lang="en-MY" sz="2000" b="1" i="0" u="none" strike="noStrike" cap="none">
                <a:solidFill>
                  <a:schemeClr val="dk1"/>
                </a:solidFill>
                <a:latin typeface="Arial"/>
                <a:ea typeface="Arial"/>
                <a:cs typeface="Arial"/>
                <a:sym typeface="Arial"/>
              </a:rPr>
              <a:t>15</a:t>
            </a:r>
            <a:r>
              <a:rPr lang="en-MY" sz="2000" b="0" i="0" u="none" strike="noStrike" cap="none">
                <a:solidFill>
                  <a:schemeClr val="dk1"/>
                </a:solidFill>
                <a:latin typeface="Arial"/>
                <a:ea typeface="Arial"/>
                <a:cs typeface="Arial"/>
                <a:sym typeface="Arial"/>
              </a:rPr>
              <a:t> person-hours.</a:t>
            </a:r>
            <a:endParaRPr sz="1400" b="0" i="0" u="none" strike="noStrike" cap="none">
              <a:solidFill>
                <a:srgbClr val="000000"/>
              </a:solidFill>
              <a:latin typeface="Arial"/>
              <a:ea typeface="Arial"/>
              <a:cs typeface="Arial"/>
              <a:sym typeface="Arial"/>
            </a:endParaRPr>
          </a:p>
          <a:p>
            <a:pPr marL="800100" marR="0" lvl="1" indent="-342900" algn="just" rtl="0">
              <a:lnSpc>
                <a:spcPct val="107000"/>
              </a:lnSpc>
              <a:spcBef>
                <a:spcPts val="0"/>
              </a:spcBef>
              <a:spcAft>
                <a:spcPts val="0"/>
              </a:spcAft>
              <a:buClr>
                <a:schemeClr val="dk1"/>
              </a:buClr>
              <a:buSzPts val="2000"/>
              <a:buFont typeface="Arial"/>
              <a:buChar char="•"/>
            </a:pPr>
            <a:r>
              <a:rPr lang="en-MY" sz="2000" b="1" i="0" u="none" strike="noStrike" cap="none">
                <a:solidFill>
                  <a:schemeClr val="dk1"/>
                </a:solidFill>
                <a:latin typeface="Arial"/>
                <a:ea typeface="Arial"/>
                <a:cs typeface="Arial"/>
                <a:sym typeface="Arial"/>
              </a:rPr>
              <a:t>Cost per hour </a:t>
            </a:r>
            <a:r>
              <a:rPr lang="en-MY" sz="2000" b="0" i="0" u="none" strike="noStrike" cap="none">
                <a:solidFill>
                  <a:schemeClr val="dk1"/>
                </a:solidFill>
                <a:latin typeface="Arial"/>
                <a:ea typeface="Arial"/>
                <a:cs typeface="Arial"/>
                <a:sym typeface="Arial"/>
              </a:rPr>
              <a:t>is </a:t>
            </a:r>
            <a:r>
              <a:rPr lang="en-MY" sz="2000" b="1" i="0" u="none" strike="noStrike" cap="none">
                <a:solidFill>
                  <a:schemeClr val="dk1"/>
                </a:solidFill>
                <a:latin typeface="Arial"/>
                <a:ea typeface="Arial"/>
                <a:cs typeface="Arial"/>
                <a:sym typeface="Arial"/>
              </a:rPr>
              <a:t>$40 </a:t>
            </a:r>
            <a:r>
              <a:rPr lang="en-MY" sz="2000" b="0" i="0" u="none" strike="noStrike" cap="none">
                <a:solidFill>
                  <a:schemeClr val="dk1"/>
                </a:solidFill>
                <a:latin typeface="Arial"/>
                <a:ea typeface="Arial"/>
                <a:cs typeface="Arial"/>
                <a:sym typeface="Arial"/>
              </a:rPr>
              <a:t>for each developer.</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20"/>
        <p:cNvGrpSpPr/>
        <p:nvPr/>
      </p:nvGrpSpPr>
      <p:grpSpPr>
        <a:xfrm>
          <a:off x="0" y="0"/>
          <a:ext cx="0" cy="0"/>
          <a:chOff x="0" y="0"/>
          <a:chExt cx="0" cy="0"/>
        </a:xfrm>
      </p:grpSpPr>
      <p:sp>
        <p:nvSpPr>
          <p:cNvPr id="321" name="Google Shape;321;p36"/>
          <p:cNvSpPr txBox="1"/>
          <p:nvPr/>
        </p:nvSpPr>
        <p:spPr>
          <a:xfrm>
            <a:off x="979448" y="927802"/>
            <a:ext cx="10233103" cy="5718232"/>
          </a:xfrm>
          <a:prstGeom prst="rect">
            <a:avLst/>
          </a:prstGeom>
          <a:blipFill rotWithShape="1">
            <a:blip r:embed="rId3">
              <a:alphaModFix/>
            </a:blip>
            <a:stretch>
              <a:fillRect l="-1844" t="-638"/>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MY"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p:sp>
        <p:nvSpPr>
          <p:cNvPr id="326" name="Google Shape;326;p37"/>
          <p:cNvSpPr txBox="1"/>
          <p:nvPr/>
        </p:nvSpPr>
        <p:spPr>
          <a:xfrm>
            <a:off x="979448" y="927802"/>
            <a:ext cx="10233103" cy="5728748"/>
          </a:xfrm>
          <a:prstGeom prst="rect">
            <a:avLst/>
          </a:prstGeom>
          <a:blipFill rotWithShape="1">
            <a:blip r:embed="rId3">
              <a:alphaModFix/>
            </a:blip>
            <a:stretch>
              <a:fillRect l="-1547" t="-315"/>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MY"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30"/>
        <p:cNvGrpSpPr/>
        <p:nvPr/>
      </p:nvGrpSpPr>
      <p:grpSpPr>
        <a:xfrm>
          <a:off x="0" y="0"/>
          <a:ext cx="0" cy="0"/>
          <a:chOff x="0" y="0"/>
          <a:chExt cx="0" cy="0"/>
        </a:xfrm>
      </p:grpSpPr>
      <p:sp>
        <p:nvSpPr>
          <p:cNvPr id="331" name="Google Shape;331;p38"/>
          <p:cNvSpPr txBox="1"/>
          <p:nvPr/>
        </p:nvSpPr>
        <p:spPr>
          <a:xfrm>
            <a:off x="979448" y="927802"/>
            <a:ext cx="10233103" cy="2840714"/>
          </a:xfrm>
          <a:prstGeom prst="rect">
            <a:avLst/>
          </a:prstGeom>
          <a:noFill/>
          <a:ln>
            <a:noFill/>
          </a:ln>
        </p:spPr>
        <p:txBody>
          <a:bodyPr spcFirstLastPara="1" wrap="square" lIns="0" tIns="45700" rIns="0" bIns="45700" anchor="t" anchorCtr="0">
            <a:spAutoFit/>
          </a:bodyPr>
          <a:lstStyle/>
          <a:p>
            <a:pPr marL="0" marR="0" lvl="0" indent="0" algn="just" rtl="0">
              <a:lnSpc>
                <a:spcPct val="107000"/>
              </a:lnSpc>
              <a:spcBef>
                <a:spcPts val="0"/>
              </a:spcBef>
              <a:spcAft>
                <a:spcPts val="0"/>
              </a:spcAft>
              <a:buClr>
                <a:srgbClr val="000000"/>
              </a:buClr>
              <a:buSzPts val="3200"/>
              <a:buFont typeface="Arial"/>
              <a:buNone/>
            </a:pPr>
            <a:r>
              <a:rPr lang="en-MY" sz="3200" b="0" i="0" u="none" strike="noStrike" cap="none">
                <a:solidFill>
                  <a:schemeClr val="dk1"/>
                </a:solidFill>
                <a:latin typeface="Arial"/>
                <a:ea typeface="Arial"/>
                <a:cs typeface="Arial"/>
                <a:sym typeface="Arial"/>
              </a:rPr>
              <a:t>From the FPA result,</a:t>
            </a:r>
            <a:endParaRPr sz="1400" b="0" i="0" u="none" strike="noStrike" cap="none">
              <a:solidFill>
                <a:srgbClr val="000000"/>
              </a:solidFill>
              <a:latin typeface="Arial"/>
              <a:ea typeface="Arial"/>
              <a:cs typeface="Arial"/>
              <a:sym typeface="Arial"/>
            </a:endParaRPr>
          </a:p>
          <a:p>
            <a:pPr marL="0" marR="0" lvl="0" indent="0" algn="just" rtl="0">
              <a:lnSpc>
                <a:spcPct val="107000"/>
              </a:lnSpc>
              <a:spcBef>
                <a:spcPts val="0"/>
              </a:spcBef>
              <a:spcAft>
                <a:spcPts val="0"/>
              </a:spcAft>
              <a:buClr>
                <a:srgbClr val="000000"/>
              </a:buClr>
              <a:buSzPts val="800"/>
              <a:buFont typeface="Arial"/>
              <a:buNone/>
            </a:pPr>
            <a:endParaRPr sz="800" b="0" i="0" u="none" strike="noStrike" cap="none">
              <a:solidFill>
                <a:schemeClr val="dk1"/>
              </a:solidFill>
              <a:latin typeface="Arial"/>
              <a:ea typeface="Arial"/>
              <a:cs typeface="Arial"/>
              <a:sym typeface="Arial"/>
            </a:endParaRPr>
          </a:p>
          <a:p>
            <a:pPr marL="457200" marR="0" lvl="0" indent="-457200" algn="just" rtl="0">
              <a:lnSpc>
                <a:spcPct val="107000"/>
              </a:lnSpc>
              <a:spcBef>
                <a:spcPts val="0"/>
              </a:spcBef>
              <a:spcAft>
                <a:spcPts val="0"/>
              </a:spcAft>
              <a:buClr>
                <a:schemeClr val="dk1"/>
              </a:buClr>
              <a:buSzPts val="3200"/>
              <a:buFont typeface="Arial"/>
              <a:buChar char="•"/>
            </a:pPr>
            <a:r>
              <a:rPr lang="en-MY" sz="3200" b="0" i="0" u="none" strike="noStrike" cap="none">
                <a:solidFill>
                  <a:schemeClr val="dk1"/>
                </a:solidFill>
                <a:latin typeface="Arial"/>
                <a:ea typeface="Arial"/>
                <a:cs typeface="Arial"/>
                <a:sym typeface="Arial"/>
              </a:rPr>
              <a:t>Function point count (FPC) for the project is </a:t>
            </a:r>
            <a:r>
              <a:rPr lang="en-MY" sz="3200" b="1" i="0" u="none" strike="noStrike" cap="none">
                <a:solidFill>
                  <a:schemeClr val="dk1"/>
                </a:solidFill>
                <a:latin typeface="Arial"/>
                <a:ea typeface="Arial"/>
                <a:cs typeface="Arial"/>
                <a:sym typeface="Arial"/>
              </a:rPr>
              <a:t>168</a:t>
            </a:r>
            <a:r>
              <a:rPr lang="en-MY" sz="3200" b="0" i="0" u="none" strike="noStrike" cap="none">
                <a:solidFill>
                  <a:schemeClr val="dk1"/>
                </a:solidFill>
                <a:latin typeface="Arial"/>
                <a:ea typeface="Arial"/>
                <a:cs typeface="Arial"/>
                <a:sym typeface="Arial"/>
              </a:rPr>
              <a:t>.</a:t>
            </a:r>
            <a:endParaRPr sz="3200" b="0" i="0" u="none" strike="noStrike" cap="none">
              <a:solidFill>
                <a:schemeClr val="dk1"/>
              </a:solidFill>
              <a:latin typeface="Arial"/>
              <a:ea typeface="Arial"/>
              <a:cs typeface="Arial"/>
              <a:sym typeface="Arial"/>
            </a:endParaRPr>
          </a:p>
          <a:p>
            <a:pPr marL="457200" marR="0" lvl="0" indent="-457200" algn="just" rtl="0">
              <a:lnSpc>
                <a:spcPct val="107000"/>
              </a:lnSpc>
              <a:spcBef>
                <a:spcPts val="0"/>
              </a:spcBef>
              <a:spcAft>
                <a:spcPts val="0"/>
              </a:spcAft>
              <a:buClr>
                <a:schemeClr val="dk1"/>
              </a:buClr>
              <a:buSzPts val="3200"/>
              <a:buFont typeface="Arial"/>
              <a:buChar char="•"/>
            </a:pPr>
            <a:r>
              <a:rPr lang="en-MY" sz="3200" b="0" i="0" u="none" strike="noStrike" cap="none">
                <a:solidFill>
                  <a:schemeClr val="dk1"/>
                </a:solidFill>
                <a:latin typeface="Arial"/>
                <a:ea typeface="Arial"/>
                <a:cs typeface="Arial"/>
                <a:sym typeface="Arial"/>
              </a:rPr>
              <a:t>Estimated effort needed to complete the project is </a:t>
            </a:r>
            <a:r>
              <a:rPr lang="en-MY" sz="3200" b="1" i="0" u="none" strike="noStrike" cap="none">
                <a:solidFill>
                  <a:schemeClr val="dk1"/>
                </a:solidFill>
                <a:latin typeface="Arial"/>
                <a:ea typeface="Arial"/>
                <a:cs typeface="Arial"/>
                <a:sym typeface="Arial"/>
              </a:rPr>
              <a:t>2520</a:t>
            </a:r>
            <a:r>
              <a:rPr lang="en-MY" sz="3200" b="0" i="0" u="none" strike="noStrike" cap="none">
                <a:solidFill>
                  <a:schemeClr val="dk1"/>
                </a:solidFill>
                <a:latin typeface="Arial"/>
                <a:ea typeface="Arial"/>
                <a:cs typeface="Arial"/>
                <a:sym typeface="Arial"/>
              </a:rPr>
              <a:t> person-hours.</a:t>
            </a:r>
            <a:endParaRPr sz="3200" b="0" i="0" u="none" strike="noStrike" cap="none">
              <a:solidFill>
                <a:schemeClr val="dk1"/>
              </a:solidFill>
              <a:latin typeface="Arial"/>
              <a:ea typeface="Arial"/>
              <a:cs typeface="Arial"/>
              <a:sym typeface="Arial"/>
            </a:endParaRPr>
          </a:p>
          <a:p>
            <a:pPr marL="457200" marR="0" lvl="0" indent="-457200" algn="just" rtl="0">
              <a:lnSpc>
                <a:spcPct val="107000"/>
              </a:lnSpc>
              <a:spcBef>
                <a:spcPts val="0"/>
              </a:spcBef>
              <a:spcAft>
                <a:spcPts val="0"/>
              </a:spcAft>
              <a:buClr>
                <a:schemeClr val="dk1"/>
              </a:buClr>
              <a:buSzPts val="3200"/>
              <a:buFont typeface="Arial"/>
              <a:buChar char="•"/>
            </a:pPr>
            <a:r>
              <a:rPr lang="en-MY" sz="3200" b="0" i="0" u="none" strike="noStrike" cap="none">
                <a:solidFill>
                  <a:schemeClr val="dk1"/>
                </a:solidFill>
                <a:latin typeface="Arial"/>
                <a:ea typeface="Arial"/>
                <a:cs typeface="Arial"/>
                <a:sym typeface="Arial"/>
              </a:rPr>
              <a:t>Estimated cost to develop the software is </a:t>
            </a:r>
            <a:r>
              <a:rPr lang="en-MY" sz="3200" b="1" i="0" u="none" strike="noStrike" cap="none">
                <a:solidFill>
                  <a:schemeClr val="dk1"/>
                </a:solidFill>
                <a:latin typeface="Arial"/>
                <a:ea typeface="Arial"/>
                <a:cs typeface="Arial"/>
                <a:sym typeface="Arial"/>
              </a:rPr>
              <a:t>$100800</a:t>
            </a:r>
            <a:r>
              <a:rPr lang="en-MY" sz="3200" b="0" i="0" u="none" strike="noStrike" cap="none">
                <a:solidFill>
                  <a:schemeClr val="dk1"/>
                </a:solidFill>
                <a:latin typeface="Arial"/>
                <a:ea typeface="Arial"/>
                <a:cs typeface="Arial"/>
                <a:sym typeface="Arial"/>
              </a:rPr>
              <a:t>.</a:t>
            </a:r>
            <a:endParaRPr sz="3200" b="0" i="0" u="none" strike="noStrike" cap="none">
              <a:solidFill>
                <a:schemeClr val="dk1"/>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36"/>
        <p:cNvGrpSpPr/>
        <p:nvPr/>
      </p:nvGrpSpPr>
      <p:grpSpPr>
        <a:xfrm>
          <a:off x="0" y="0"/>
          <a:ext cx="0" cy="0"/>
          <a:chOff x="0" y="0"/>
          <a:chExt cx="0" cy="0"/>
        </a:xfrm>
      </p:grpSpPr>
      <p:sp>
        <p:nvSpPr>
          <p:cNvPr id="337" name="Google Shape;337;g350e4eff796_0_0"/>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ctr" rtl="0">
              <a:spcBef>
                <a:spcPts val="0"/>
              </a:spcBef>
              <a:spcAft>
                <a:spcPts val="0"/>
              </a:spcAft>
              <a:buNone/>
            </a:pPr>
            <a:r>
              <a:rPr lang="en-MY"/>
              <a:t>Estimation</a:t>
            </a:r>
            <a:endParaRPr/>
          </a:p>
        </p:txBody>
      </p:sp>
      <p:sp>
        <p:nvSpPr>
          <p:cNvPr id="338" name="Google Shape;338;g350e4eff796_0_0"/>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r>
              <a:rPr lang="en-MY"/>
              <a:t>A classical plan-driven or Waterfall project is usually based on somewhat of a contractual relationship between the business users and the project team.</a:t>
            </a:r>
            <a:endParaRPr/>
          </a:p>
          <a:p>
            <a:pPr marL="0" lvl="0" indent="0" algn="l" rtl="0">
              <a:spcBef>
                <a:spcPts val="1000"/>
              </a:spcBef>
              <a:spcAft>
                <a:spcPts val="0"/>
              </a:spcAft>
              <a:buNone/>
            </a:pPr>
            <a:endParaRPr/>
          </a:p>
          <a:p>
            <a:pPr marL="0" lvl="0" indent="0" algn="l" rtl="0">
              <a:spcBef>
                <a:spcPts val="1000"/>
              </a:spcBef>
              <a:spcAft>
                <a:spcPts val="0"/>
              </a:spcAft>
              <a:buNone/>
            </a:pPr>
            <a:r>
              <a:rPr lang="en-MY"/>
              <a:t>An Agile project has a very different model. First, the requirements are typically not necessarily well-defined in detail upfront; and, in addition, change is the norm rather than the exception. Change is expected and encouraged as the project is in progress.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42"/>
        <p:cNvGrpSpPr/>
        <p:nvPr/>
      </p:nvGrpSpPr>
      <p:grpSpPr>
        <a:xfrm>
          <a:off x="0" y="0"/>
          <a:ext cx="0" cy="0"/>
          <a:chOff x="0" y="0"/>
          <a:chExt cx="0" cy="0"/>
        </a:xfrm>
      </p:grpSpPr>
      <p:sp>
        <p:nvSpPr>
          <p:cNvPr id="343" name="Google Shape;343;p23"/>
          <p:cNvSpPr txBox="1">
            <a:spLocks noGrp="1"/>
          </p:cNvSpPr>
          <p:nvPr>
            <p:ph type="title"/>
          </p:nvPr>
        </p:nvSpPr>
        <p:spPr>
          <a:xfrm>
            <a:off x="838200" y="518464"/>
            <a:ext cx="10515600" cy="5821071"/>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5400"/>
              <a:buFont typeface="Arial"/>
              <a:buNone/>
            </a:pPr>
            <a:br>
              <a:rPr lang="en-MY" sz="4800">
                <a:latin typeface="Arial"/>
                <a:ea typeface="Arial"/>
                <a:cs typeface="Arial"/>
                <a:sym typeface="Arial"/>
              </a:rPr>
            </a:br>
            <a:r>
              <a:rPr lang="en-MY" sz="4800">
                <a:latin typeface="Arial"/>
                <a:ea typeface="Arial"/>
                <a:cs typeface="Arial"/>
                <a:sym typeface="Arial"/>
              </a:rPr>
              <a:t>STORY POINTS AND VELOCITY</a:t>
            </a:r>
            <a:br>
              <a:rPr lang="en-MY" sz="4800">
                <a:latin typeface="Arial"/>
                <a:ea typeface="Arial"/>
                <a:cs typeface="Arial"/>
                <a:sym typeface="Arial"/>
              </a:rPr>
            </a:br>
            <a:r>
              <a:rPr lang="en-MY" sz="4400">
                <a:latin typeface="Arial"/>
                <a:ea typeface="Arial"/>
                <a:cs typeface="Arial"/>
                <a:sym typeface="Arial"/>
              </a:rPr>
              <a:t>(Agile Estimation)</a:t>
            </a:r>
            <a:endParaRPr sz="540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sp>
        <p:nvSpPr>
          <p:cNvPr id="348" name="Google Shape;348;p59"/>
          <p:cNvSpPr txBox="1"/>
          <p:nvPr/>
        </p:nvSpPr>
        <p:spPr>
          <a:xfrm>
            <a:off x="6065520" y="813141"/>
            <a:ext cx="6126480" cy="415498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MY" sz="2400" b="0" i="0" u="none" strike="noStrike" cap="none">
                <a:solidFill>
                  <a:srgbClr val="000000"/>
                </a:solidFill>
                <a:latin typeface="Arial"/>
                <a:ea typeface="Arial"/>
                <a:cs typeface="Arial"/>
                <a:sym typeface="Arial"/>
              </a:rPr>
              <a:t>Why Agile Estimation?</a:t>
            </a:r>
            <a:endParaRPr/>
          </a:p>
          <a:p>
            <a:pPr marL="0" marR="0" lvl="0" indent="0" algn="l" rtl="0">
              <a:lnSpc>
                <a:spcPct val="100000"/>
              </a:lnSpc>
              <a:spcBef>
                <a:spcPts val="0"/>
              </a:spcBef>
              <a:spcAft>
                <a:spcPts val="0"/>
              </a:spcAft>
              <a:buNone/>
            </a:pPr>
            <a:endParaRPr sz="2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MY" sz="2400" b="0" i="0" u="none" strike="noStrike" cap="none">
                <a:solidFill>
                  <a:srgbClr val="000000"/>
                </a:solidFill>
                <a:latin typeface="Arial"/>
                <a:ea typeface="Arial"/>
                <a:cs typeface="Arial"/>
                <a:sym typeface="Arial"/>
              </a:rPr>
              <a:t>The fact is, when developing innovative products, you can’t create complete requirements or designs up front by simply working longer and harder. </a:t>
            </a:r>
            <a:endParaRPr/>
          </a:p>
          <a:p>
            <a:pPr marL="0" marR="0" lvl="0" indent="0" algn="l" rtl="0">
              <a:lnSpc>
                <a:spcPct val="100000"/>
              </a:lnSpc>
              <a:spcBef>
                <a:spcPts val="0"/>
              </a:spcBef>
              <a:spcAft>
                <a:spcPts val="0"/>
              </a:spcAft>
              <a:buNone/>
            </a:pPr>
            <a:endParaRPr sz="2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MY" sz="2400" b="0" i="0" u="none" strike="noStrike" cap="none">
                <a:solidFill>
                  <a:srgbClr val="000000"/>
                </a:solidFill>
                <a:latin typeface="Arial"/>
                <a:ea typeface="Arial"/>
                <a:cs typeface="Arial"/>
                <a:sym typeface="Arial"/>
              </a:rPr>
              <a:t>Some requirements and design will always emerge once product development is under way; no amount of comprehensive up-front work will prevent that.</a:t>
            </a:r>
            <a:endParaRPr/>
          </a:p>
        </p:txBody>
      </p:sp>
      <p:pic>
        <p:nvPicPr>
          <p:cNvPr id="349" name="Google Shape;349;p59"/>
          <p:cNvPicPr preferRelativeResize="0"/>
          <p:nvPr/>
        </p:nvPicPr>
        <p:blipFill rotWithShape="1">
          <a:blip r:embed="rId3">
            <a:alphaModFix/>
          </a:blip>
          <a:srcRect/>
          <a:stretch/>
        </p:blipFill>
        <p:spPr>
          <a:xfrm>
            <a:off x="-1" y="0"/>
            <a:ext cx="5469775" cy="6858000"/>
          </a:xfrm>
          <a:prstGeom prst="rect">
            <a:avLst/>
          </a:prstGeom>
          <a:noFill/>
          <a:ln>
            <a:noFill/>
          </a:ln>
        </p:spPr>
      </p:pic>
      <p:sp>
        <p:nvSpPr>
          <p:cNvPr id="350" name="Google Shape;350;p59"/>
          <p:cNvSpPr txBox="1"/>
          <p:nvPr/>
        </p:nvSpPr>
        <p:spPr>
          <a:xfrm>
            <a:off x="6096000" y="4968125"/>
            <a:ext cx="754795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MY" sz="1200" b="1" i="0" u="none" strike="noStrike" cap="none">
                <a:solidFill>
                  <a:srgbClr val="002060"/>
                </a:solidFill>
                <a:latin typeface="Arial"/>
                <a:ea typeface="Arial"/>
                <a:cs typeface="Arial"/>
                <a:sym typeface="Arial"/>
              </a:rPr>
              <a:t>Essential Scrum: A Practical Guide to the Most Popular Agile Process </a:t>
            </a:r>
            <a:endParaRPr/>
          </a:p>
          <a:p>
            <a:pPr marL="0" marR="0" lvl="0" indent="0" algn="l" rtl="0">
              <a:lnSpc>
                <a:spcPct val="100000"/>
              </a:lnSpc>
              <a:spcBef>
                <a:spcPts val="0"/>
              </a:spcBef>
              <a:spcAft>
                <a:spcPts val="0"/>
              </a:spcAft>
              <a:buNone/>
            </a:pPr>
            <a:r>
              <a:rPr lang="en-MY" sz="1200" b="1" i="0" u="none" strike="noStrike" cap="none">
                <a:solidFill>
                  <a:srgbClr val="002060"/>
                </a:solidFill>
                <a:latin typeface="Arial"/>
                <a:ea typeface="Arial"/>
                <a:cs typeface="Arial"/>
                <a:sym typeface="Arial"/>
              </a:rPr>
              <a:t>(Addison-Wesley Signature Series (Cohn)</a:t>
            </a:r>
            <a:endParaRPr sz="1200" b="1" i="0" u="none" strike="noStrike" cap="none">
              <a:solidFill>
                <a:srgbClr val="002060"/>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54"/>
        <p:cNvGrpSpPr/>
        <p:nvPr/>
      </p:nvGrpSpPr>
      <p:grpSpPr>
        <a:xfrm>
          <a:off x="0" y="0"/>
          <a:ext cx="0" cy="0"/>
          <a:chOff x="0" y="0"/>
          <a:chExt cx="0" cy="0"/>
        </a:xfrm>
      </p:grpSpPr>
      <p:sp>
        <p:nvSpPr>
          <p:cNvPr id="355" name="Google Shape;355;p6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000"/>
              <a:buFont typeface="Calibri"/>
              <a:buNone/>
            </a:pPr>
            <a:r>
              <a:rPr lang="en-MY"/>
              <a:t>STORY POINTS</a:t>
            </a:r>
            <a:endParaRPr/>
          </a:p>
        </p:txBody>
      </p:sp>
      <p:sp>
        <p:nvSpPr>
          <p:cNvPr id="356" name="Google Shape;356;p6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fontScale="92500"/>
          </a:bodyPr>
          <a:lstStyle/>
          <a:p>
            <a:pPr marL="457200" lvl="0" indent="-342900" algn="l" rtl="0">
              <a:lnSpc>
                <a:spcPct val="90000"/>
              </a:lnSpc>
              <a:spcBef>
                <a:spcPts val="1000"/>
              </a:spcBef>
              <a:spcAft>
                <a:spcPts val="0"/>
              </a:spcAft>
              <a:buSzPct val="69498"/>
              <a:buFont typeface="Noto Sans Symbols"/>
              <a:buChar char="▪"/>
            </a:pPr>
            <a:r>
              <a:rPr lang="en-MY" b="1"/>
              <a:t>A story point</a:t>
            </a:r>
            <a:r>
              <a:rPr lang="en-MY"/>
              <a:t> is a metric commonly used for estimation in Agile projects.</a:t>
            </a:r>
            <a:endParaRPr/>
          </a:p>
          <a:p>
            <a:pPr marL="457200" lvl="0" indent="-342900" algn="l" rtl="0">
              <a:lnSpc>
                <a:spcPct val="90000"/>
              </a:lnSpc>
              <a:spcBef>
                <a:spcPts val="1000"/>
              </a:spcBef>
              <a:spcAft>
                <a:spcPts val="0"/>
              </a:spcAft>
              <a:buSzPct val="69498"/>
              <a:buFont typeface="Noto Sans Symbols"/>
              <a:buChar char="▪"/>
            </a:pPr>
            <a:r>
              <a:rPr lang="en-MY"/>
              <a:t> It is a way of </a:t>
            </a:r>
            <a:r>
              <a:rPr lang="en-MY">
                <a:solidFill>
                  <a:srgbClr val="C00000"/>
                </a:solidFill>
              </a:rPr>
              <a:t>sizing the level of effort associated with a particular user story. </a:t>
            </a:r>
            <a:endParaRPr/>
          </a:p>
          <a:p>
            <a:pPr marL="457200" lvl="0" indent="-342900" algn="l" rtl="0">
              <a:lnSpc>
                <a:spcPct val="90000"/>
              </a:lnSpc>
              <a:spcBef>
                <a:spcPts val="1000"/>
              </a:spcBef>
              <a:spcAft>
                <a:spcPts val="0"/>
              </a:spcAft>
              <a:buSzPct val="69498"/>
              <a:buFont typeface="Noto Sans Symbols"/>
              <a:buChar char="▪"/>
            </a:pPr>
            <a:r>
              <a:rPr lang="en-MY"/>
              <a:t>A story point is normally not directly tied to any specific measure of time; it is simply a relative measure of the level of difficulty of a particular story relative to other stories, and a story point may not have the same meaning among different Agile teams.</a:t>
            </a:r>
            <a:endParaRPr/>
          </a:p>
          <a:p>
            <a:pPr marL="457200" lvl="0" indent="-342900" algn="l" rtl="0">
              <a:lnSpc>
                <a:spcPct val="90000"/>
              </a:lnSpc>
              <a:spcBef>
                <a:spcPts val="1000"/>
              </a:spcBef>
              <a:spcAft>
                <a:spcPts val="0"/>
              </a:spcAft>
              <a:buSzPct val="88452"/>
              <a:buFont typeface="Noto Sans Symbols"/>
              <a:buChar char="▪"/>
            </a:pPr>
            <a:r>
              <a:rPr lang="en-MY" sz="2200">
                <a:solidFill>
                  <a:srgbClr val="002060"/>
                </a:solidFill>
              </a:rPr>
              <a:t>Story points combine factors like complexity and physical size into one relative size measure. The goal is to be able to compare stories and say things like “Well, if the create-a-ticket story is a 2, then the search-for-a-ticket story is an 8,” implying that the searching story is roughly four times the size of the creation story.</a:t>
            </a:r>
            <a:endParaRPr sz="2200">
              <a:solidFill>
                <a:srgbClr val="002060"/>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60"/>
        <p:cNvGrpSpPr/>
        <p:nvPr/>
      </p:nvGrpSpPr>
      <p:grpSpPr>
        <a:xfrm>
          <a:off x="0" y="0"/>
          <a:ext cx="0" cy="0"/>
          <a:chOff x="0" y="0"/>
          <a:chExt cx="0" cy="0"/>
        </a:xfrm>
      </p:grpSpPr>
      <p:sp>
        <p:nvSpPr>
          <p:cNvPr id="361" name="Google Shape;361;p6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000"/>
              <a:buFont typeface="Calibri"/>
              <a:buNone/>
            </a:pPr>
            <a:r>
              <a:rPr lang="en-MY"/>
              <a:t>STORY POINTS</a:t>
            </a:r>
            <a:endParaRPr/>
          </a:p>
        </p:txBody>
      </p:sp>
      <p:sp>
        <p:nvSpPr>
          <p:cNvPr id="362" name="Google Shape;362;p61"/>
          <p:cNvSpPr txBox="1">
            <a:spLocks noGrp="1"/>
          </p:cNvSpPr>
          <p:nvPr>
            <p:ph type="body" idx="1"/>
          </p:nvPr>
        </p:nvSpPr>
        <p:spPr>
          <a:xfrm>
            <a:off x="838200" y="1413164"/>
            <a:ext cx="10515600" cy="4763799"/>
          </a:xfrm>
          <a:prstGeom prst="rect">
            <a:avLst/>
          </a:prstGeom>
          <a:noFill/>
          <a:ln>
            <a:noFill/>
          </a:ln>
        </p:spPr>
        <p:txBody>
          <a:bodyPr spcFirstLastPara="1" wrap="square" lIns="91425" tIns="45700" rIns="91425" bIns="45700" anchor="t" anchorCtr="0">
            <a:normAutofit/>
          </a:bodyPr>
          <a:lstStyle/>
          <a:p>
            <a:pPr marL="457200" lvl="0" indent="-342900" algn="l" rtl="0">
              <a:lnSpc>
                <a:spcPct val="90000"/>
              </a:lnSpc>
              <a:spcBef>
                <a:spcPts val="1000"/>
              </a:spcBef>
              <a:spcAft>
                <a:spcPts val="0"/>
              </a:spcAft>
              <a:buClr>
                <a:schemeClr val="dk1"/>
              </a:buClr>
              <a:buSzPts val="1800"/>
              <a:buChar char="•"/>
            </a:pPr>
            <a:r>
              <a:rPr lang="en-MY"/>
              <a:t>Other ways to estimate story points</a:t>
            </a:r>
            <a:endParaRPr/>
          </a:p>
          <a:p>
            <a:pPr marL="914400" lvl="1" indent="-342900" algn="l" rtl="0">
              <a:lnSpc>
                <a:spcPct val="90000"/>
              </a:lnSpc>
              <a:spcBef>
                <a:spcPts val="500"/>
              </a:spcBef>
              <a:spcAft>
                <a:spcPts val="0"/>
              </a:spcAft>
              <a:buSzPts val="1800"/>
              <a:buFont typeface="Noto Sans Symbols"/>
              <a:buChar char="✔"/>
            </a:pPr>
            <a:r>
              <a:rPr lang="en-MY"/>
              <a:t>A Fibonacci sequence is often used for story point estimates because it provides an appropriate level of discrimination between large and small estimates without attempting to very accurately discriminate large estimates. A Fibonacci sequence is a series of numbers of the form of (1, 2, 3, 5, 8, 13, 21 — where each number is the sum of the previous two numbers).</a:t>
            </a:r>
            <a:endParaRPr/>
          </a:p>
          <a:p>
            <a:pPr marL="914400" lvl="1" indent="-342900" algn="l" rtl="0">
              <a:lnSpc>
                <a:spcPct val="90000"/>
              </a:lnSpc>
              <a:spcBef>
                <a:spcPts val="500"/>
              </a:spcBef>
              <a:spcAft>
                <a:spcPts val="0"/>
              </a:spcAft>
              <a:buSzPts val="1800"/>
              <a:buFont typeface="Noto Sans Symbols"/>
              <a:buChar char="✔"/>
            </a:pPr>
            <a:r>
              <a:rPr lang="en-MY"/>
              <a:t>T-shirt sizes (Small, Medium, Large, XLarge, etc.) can also be used to create estimates.</a:t>
            </a:r>
            <a:endParaRPr/>
          </a:p>
          <a:p>
            <a:pPr marL="457200" lvl="0" indent="-342900" algn="l" rtl="0">
              <a:lnSpc>
                <a:spcPct val="90000"/>
              </a:lnSpc>
              <a:spcBef>
                <a:spcPts val="1000"/>
              </a:spcBef>
              <a:spcAft>
                <a:spcPts val="0"/>
              </a:spcAft>
              <a:buSzPts val="1800"/>
              <a:buFont typeface="Arial"/>
              <a:buChar char="•"/>
            </a:pPr>
            <a:r>
              <a:rPr lang="en-MY"/>
              <a:t>Both story points and T-shirt sizes are designed to provide a very imprecise framework for making estimates that is appropriate to an Agile environment.</a:t>
            </a:r>
            <a:endParaRPr/>
          </a:p>
          <a:p>
            <a:pPr marL="457200" lvl="0" indent="-228600" algn="l" rtl="0">
              <a:lnSpc>
                <a:spcPct val="90000"/>
              </a:lnSpc>
              <a:spcBef>
                <a:spcPts val="1000"/>
              </a:spcBef>
              <a:spcAft>
                <a:spcPts val="0"/>
              </a:spcAft>
              <a:buClr>
                <a:schemeClr val="dk1"/>
              </a:buClr>
              <a:buSzPts val="1800"/>
              <a:buNone/>
            </a:pPr>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66"/>
        <p:cNvGrpSpPr/>
        <p:nvPr/>
      </p:nvGrpSpPr>
      <p:grpSpPr>
        <a:xfrm>
          <a:off x="0" y="0"/>
          <a:ext cx="0" cy="0"/>
          <a:chOff x="0" y="0"/>
          <a:chExt cx="0" cy="0"/>
        </a:xfrm>
      </p:grpSpPr>
      <p:sp>
        <p:nvSpPr>
          <p:cNvPr id="367" name="Google Shape;367;p6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000"/>
              <a:buFont typeface="Calibri"/>
              <a:buNone/>
            </a:pPr>
            <a:r>
              <a:rPr lang="en-MY"/>
              <a:t>VELOCITY</a:t>
            </a:r>
            <a:endParaRPr/>
          </a:p>
        </p:txBody>
      </p:sp>
      <p:sp>
        <p:nvSpPr>
          <p:cNvPr id="368" name="Google Shape;368;p62"/>
          <p:cNvSpPr txBox="1">
            <a:spLocks noGrp="1"/>
          </p:cNvSpPr>
          <p:nvPr>
            <p:ph type="body" idx="1"/>
          </p:nvPr>
        </p:nvSpPr>
        <p:spPr>
          <a:xfrm>
            <a:off x="838200" y="1496291"/>
            <a:ext cx="10515600" cy="4680672"/>
          </a:xfrm>
          <a:prstGeom prst="rect">
            <a:avLst/>
          </a:prstGeom>
          <a:noFill/>
          <a:ln>
            <a:noFill/>
          </a:ln>
        </p:spPr>
        <p:txBody>
          <a:bodyPr spcFirstLastPara="1" wrap="square" lIns="91425" tIns="45700" rIns="91425" bIns="45700" anchor="t" anchorCtr="0">
            <a:normAutofit fontScale="92500"/>
          </a:bodyPr>
          <a:lstStyle/>
          <a:p>
            <a:pPr marL="457200" lvl="0" indent="-342900" algn="l" rtl="0">
              <a:lnSpc>
                <a:spcPct val="90000"/>
              </a:lnSpc>
              <a:spcBef>
                <a:spcPts val="1000"/>
              </a:spcBef>
              <a:spcAft>
                <a:spcPts val="0"/>
              </a:spcAft>
              <a:buClr>
                <a:schemeClr val="dk1"/>
              </a:buClr>
              <a:buSzPct val="69498"/>
              <a:buChar char="•"/>
            </a:pPr>
            <a:r>
              <a:rPr lang="en-MY" b="1">
                <a:solidFill>
                  <a:srgbClr val="C00000"/>
                </a:solidFill>
              </a:rPr>
              <a:t>Velocity is the amount of work completed each sprint.</a:t>
            </a:r>
            <a:endParaRPr/>
          </a:p>
          <a:p>
            <a:pPr marL="457200" lvl="0" indent="-342900" algn="l" rtl="0">
              <a:lnSpc>
                <a:spcPct val="90000"/>
              </a:lnSpc>
              <a:spcBef>
                <a:spcPts val="1000"/>
              </a:spcBef>
              <a:spcAft>
                <a:spcPts val="0"/>
              </a:spcAft>
              <a:buClr>
                <a:schemeClr val="dk1"/>
              </a:buClr>
              <a:buSzPct val="69498"/>
              <a:buChar char="•"/>
            </a:pPr>
            <a:r>
              <a:rPr lang="en-MY"/>
              <a:t>Here is an example of how velocity can be used to develop an estimate for completing future work:</a:t>
            </a:r>
            <a:endParaRPr/>
          </a:p>
          <a:p>
            <a:pPr marL="457200" lvl="0" indent="-342900" algn="l" rtl="0">
              <a:lnSpc>
                <a:spcPct val="90000"/>
              </a:lnSpc>
              <a:spcBef>
                <a:spcPts val="1000"/>
              </a:spcBef>
              <a:spcAft>
                <a:spcPts val="0"/>
              </a:spcAft>
              <a:buSzPct val="69498"/>
              <a:buFont typeface="Arial"/>
              <a:buChar char="•"/>
            </a:pPr>
            <a:r>
              <a:rPr lang="en-MY" b="1"/>
              <a:t>Assume</a:t>
            </a:r>
            <a:r>
              <a:rPr lang="en-MY"/>
              <a:t> that a team has completed an average of 60 story points of work per sprint over the past three sprints, and each sprint is two weeks long.</a:t>
            </a:r>
            <a:endParaRPr/>
          </a:p>
          <a:p>
            <a:pPr marL="457200" lvl="0" indent="-342900" algn="l" rtl="0">
              <a:lnSpc>
                <a:spcPct val="90000"/>
              </a:lnSpc>
              <a:spcBef>
                <a:spcPts val="1000"/>
              </a:spcBef>
              <a:spcAft>
                <a:spcPts val="0"/>
              </a:spcAft>
              <a:buSzPct val="69498"/>
              <a:buFont typeface="Arial"/>
              <a:buChar char="•"/>
            </a:pPr>
            <a:r>
              <a:rPr lang="en-MY" b="1"/>
              <a:t>Suppose</a:t>
            </a:r>
            <a:r>
              <a:rPr lang="en-MY"/>
              <a:t> there is a total of 300 story points’ worth of work to be completed in the current release, and the Product Owner wants to estimate when the remainder of the release will be completed.</a:t>
            </a:r>
            <a:endParaRPr/>
          </a:p>
          <a:p>
            <a:pPr marL="457200" lvl="0" indent="-342900" algn="l" rtl="0">
              <a:lnSpc>
                <a:spcPct val="90000"/>
              </a:lnSpc>
              <a:spcBef>
                <a:spcPts val="1000"/>
              </a:spcBef>
              <a:spcAft>
                <a:spcPts val="0"/>
              </a:spcAft>
              <a:buSzPct val="69498"/>
              <a:buFont typeface="Arial"/>
              <a:buChar char="•"/>
            </a:pPr>
            <a:r>
              <a:rPr lang="en-MY" b="1"/>
              <a:t>An estimate</a:t>
            </a:r>
            <a:r>
              <a:rPr lang="en-MY"/>
              <a:t> for completing the remaining in the release would be 300/60, or five sprints, and since each sprint is two weeks long, it will take approximately 10 weeks to complete the work.</a:t>
            </a:r>
            <a:endParaRPr/>
          </a:p>
          <a:p>
            <a:pPr marL="457200" lvl="0" indent="-228600" algn="l" rtl="0">
              <a:lnSpc>
                <a:spcPct val="90000"/>
              </a:lnSpc>
              <a:spcBef>
                <a:spcPts val="1000"/>
              </a:spcBef>
              <a:spcAft>
                <a:spcPts val="0"/>
              </a:spcAft>
              <a:buClr>
                <a:schemeClr val="dk1"/>
              </a:buClr>
              <a:buSzPct val="69498"/>
              <a:buNone/>
            </a:pPr>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72"/>
        <p:cNvGrpSpPr/>
        <p:nvPr/>
      </p:nvGrpSpPr>
      <p:grpSpPr>
        <a:xfrm>
          <a:off x="0" y="0"/>
          <a:ext cx="0" cy="0"/>
          <a:chOff x="0" y="0"/>
          <a:chExt cx="0" cy="0"/>
        </a:xfrm>
      </p:grpSpPr>
      <p:sp>
        <p:nvSpPr>
          <p:cNvPr id="373" name="Google Shape;373;p6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000"/>
              <a:buFont typeface="Calibri"/>
              <a:buNone/>
            </a:pPr>
            <a:r>
              <a:rPr lang="en-MY"/>
              <a:t>Velocity</a:t>
            </a:r>
            <a:endParaRPr/>
          </a:p>
        </p:txBody>
      </p:sp>
      <p:sp>
        <p:nvSpPr>
          <p:cNvPr id="374" name="Google Shape;374;p6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457200" lvl="0" indent="-228600" algn="l" rtl="0">
              <a:lnSpc>
                <a:spcPct val="90000"/>
              </a:lnSpc>
              <a:spcBef>
                <a:spcPts val="1000"/>
              </a:spcBef>
              <a:spcAft>
                <a:spcPts val="0"/>
              </a:spcAft>
              <a:buClr>
                <a:schemeClr val="dk1"/>
              </a:buClr>
              <a:buSzPts val="1800"/>
              <a:buNone/>
            </a:pPr>
            <a:endParaRPr/>
          </a:p>
        </p:txBody>
      </p:sp>
      <p:pic>
        <p:nvPicPr>
          <p:cNvPr id="375" name="Google Shape;375;p63"/>
          <p:cNvPicPr preferRelativeResize="0"/>
          <p:nvPr/>
        </p:nvPicPr>
        <p:blipFill rotWithShape="1">
          <a:blip r:embed="rId3">
            <a:alphaModFix/>
          </a:blip>
          <a:srcRect/>
          <a:stretch/>
        </p:blipFill>
        <p:spPr>
          <a:xfrm>
            <a:off x="2061556" y="1690688"/>
            <a:ext cx="7897091" cy="2643313"/>
          </a:xfrm>
          <a:prstGeom prst="rect">
            <a:avLst/>
          </a:prstGeom>
          <a:noFill/>
          <a:ln>
            <a:noFill/>
          </a:ln>
        </p:spPr>
      </p:pic>
      <p:pic>
        <p:nvPicPr>
          <p:cNvPr id="376" name="Google Shape;376;p63"/>
          <p:cNvPicPr preferRelativeResize="0"/>
          <p:nvPr/>
        </p:nvPicPr>
        <p:blipFill rotWithShape="1">
          <a:blip r:embed="rId4">
            <a:alphaModFix/>
          </a:blip>
          <a:srcRect/>
          <a:stretch/>
        </p:blipFill>
        <p:spPr>
          <a:xfrm>
            <a:off x="4139739" y="4413162"/>
            <a:ext cx="6450676" cy="1898738"/>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80"/>
        <p:cNvGrpSpPr/>
        <p:nvPr/>
      </p:nvGrpSpPr>
      <p:grpSpPr>
        <a:xfrm>
          <a:off x="0" y="0"/>
          <a:ext cx="0" cy="0"/>
          <a:chOff x="0" y="0"/>
          <a:chExt cx="0" cy="0"/>
        </a:xfrm>
      </p:grpSpPr>
      <p:sp>
        <p:nvSpPr>
          <p:cNvPr id="381" name="Google Shape;381;p6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000"/>
              <a:buFont typeface="Calibri"/>
              <a:buNone/>
            </a:pPr>
            <a:r>
              <a:rPr lang="en-MY"/>
              <a:t>Velocity</a:t>
            </a:r>
            <a:endParaRPr/>
          </a:p>
        </p:txBody>
      </p:sp>
      <p:sp>
        <p:nvSpPr>
          <p:cNvPr id="382" name="Google Shape;382;p6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457200" lvl="0" indent="-228600" algn="l" rtl="0">
              <a:lnSpc>
                <a:spcPct val="90000"/>
              </a:lnSpc>
              <a:spcBef>
                <a:spcPts val="1000"/>
              </a:spcBef>
              <a:spcAft>
                <a:spcPts val="0"/>
              </a:spcAft>
              <a:buClr>
                <a:schemeClr val="dk1"/>
              </a:buClr>
              <a:buSzPts val="1800"/>
              <a:buNone/>
            </a:pPr>
            <a:endParaRPr/>
          </a:p>
        </p:txBody>
      </p:sp>
      <p:pic>
        <p:nvPicPr>
          <p:cNvPr id="383" name="Google Shape;383;p64"/>
          <p:cNvPicPr preferRelativeResize="0"/>
          <p:nvPr/>
        </p:nvPicPr>
        <p:blipFill rotWithShape="1">
          <a:blip r:embed="rId3">
            <a:alphaModFix/>
          </a:blip>
          <a:srcRect/>
          <a:stretch/>
        </p:blipFill>
        <p:spPr>
          <a:xfrm>
            <a:off x="1014153" y="1690688"/>
            <a:ext cx="10756669" cy="4486275"/>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87"/>
        <p:cNvGrpSpPr/>
        <p:nvPr/>
      </p:nvGrpSpPr>
      <p:grpSpPr>
        <a:xfrm>
          <a:off x="0" y="0"/>
          <a:ext cx="0" cy="0"/>
          <a:chOff x="0" y="0"/>
          <a:chExt cx="0" cy="0"/>
        </a:xfrm>
      </p:grpSpPr>
      <p:sp>
        <p:nvSpPr>
          <p:cNvPr id="388" name="Google Shape;388;p3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000"/>
              <a:buFont typeface="Calibri"/>
              <a:buNone/>
            </a:pPr>
            <a:r>
              <a:rPr lang="en-MY"/>
              <a:t>SUMMARY</a:t>
            </a:r>
            <a:endParaRPr/>
          </a:p>
        </p:txBody>
      </p:sp>
      <p:sp>
        <p:nvSpPr>
          <p:cNvPr id="389" name="Google Shape;389;p39"/>
          <p:cNvSpPr txBox="1"/>
          <p:nvPr/>
        </p:nvSpPr>
        <p:spPr>
          <a:xfrm>
            <a:off x="979448" y="1549746"/>
            <a:ext cx="10233103" cy="3785611"/>
          </a:xfrm>
          <a:prstGeom prst="rect">
            <a:avLst/>
          </a:prstGeom>
          <a:noFill/>
          <a:ln>
            <a:noFill/>
          </a:ln>
        </p:spPr>
        <p:txBody>
          <a:bodyPr spcFirstLastPara="1" wrap="square" lIns="0" tIns="45700" rIns="0" bIns="45700" anchor="t" anchorCtr="0">
            <a:spAutoFit/>
          </a:bodyPr>
          <a:lstStyle/>
          <a:p>
            <a:pPr marL="342900" marR="0" lvl="0" indent="-342900" algn="just" rtl="0">
              <a:lnSpc>
                <a:spcPct val="100000"/>
              </a:lnSpc>
              <a:spcBef>
                <a:spcPts val="0"/>
              </a:spcBef>
              <a:spcAft>
                <a:spcPts val="0"/>
              </a:spcAft>
              <a:buClr>
                <a:schemeClr val="dk1"/>
              </a:buClr>
              <a:buSzPts val="2400"/>
              <a:buFont typeface="Arial"/>
              <a:buChar char="•"/>
            </a:pPr>
            <a:r>
              <a:rPr lang="en-MY" sz="2400" b="0" i="0" u="none" strike="noStrike" cap="none">
                <a:solidFill>
                  <a:schemeClr val="dk1"/>
                </a:solidFill>
                <a:latin typeface="Calibri"/>
                <a:ea typeface="Calibri"/>
                <a:cs typeface="Calibri"/>
                <a:sym typeface="Calibri"/>
              </a:rPr>
              <a:t>Accurate project size estimation is a critical aspect of software project management, as it directly impacts effort, cost, and scheduling.</a:t>
            </a:r>
            <a:endParaRPr sz="2400" b="0" i="0" u="none" strike="noStrike" cap="none">
              <a:solidFill>
                <a:schemeClr val="dk1"/>
              </a:solidFill>
              <a:latin typeface="Calibri"/>
              <a:ea typeface="Calibri"/>
              <a:cs typeface="Calibri"/>
              <a:sym typeface="Calibri"/>
            </a:endParaRPr>
          </a:p>
          <a:p>
            <a:pPr marL="342900" marR="0" lvl="0" indent="-342900" algn="just" rtl="0">
              <a:lnSpc>
                <a:spcPct val="100000"/>
              </a:lnSpc>
              <a:spcBef>
                <a:spcPts val="0"/>
              </a:spcBef>
              <a:spcAft>
                <a:spcPts val="0"/>
              </a:spcAft>
              <a:buClr>
                <a:schemeClr val="dk1"/>
              </a:buClr>
              <a:buSzPts val="2400"/>
              <a:buFont typeface="Arial"/>
              <a:buChar char="•"/>
            </a:pPr>
            <a:r>
              <a:rPr lang="en-MY" sz="2400" b="0" i="0" u="none" strike="noStrike" cap="none">
                <a:solidFill>
                  <a:schemeClr val="dk1"/>
                </a:solidFill>
                <a:latin typeface="Calibri"/>
                <a:ea typeface="Calibri"/>
                <a:cs typeface="Calibri"/>
                <a:sym typeface="Calibri"/>
              </a:rPr>
              <a:t>The Function Point Analysis (FPA) method plays a significant role in software estimation by evaluating the functionality delivered to users, regardless of the underlying technology.</a:t>
            </a:r>
            <a:endParaRPr/>
          </a:p>
          <a:p>
            <a:pPr marL="342900" marR="0" lvl="0" indent="-342900" algn="just" rtl="0">
              <a:lnSpc>
                <a:spcPct val="100000"/>
              </a:lnSpc>
              <a:spcBef>
                <a:spcPts val="0"/>
              </a:spcBef>
              <a:spcAft>
                <a:spcPts val="0"/>
              </a:spcAft>
              <a:buClr>
                <a:schemeClr val="dk1"/>
              </a:buClr>
              <a:buSzPts val="2400"/>
              <a:buFont typeface="Arial"/>
              <a:buChar char="•"/>
            </a:pPr>
            <a:r>
              <a:rPr lang="en-MY" sz="2400" b="0" i="0" u="none" strike="noStrike" cap="none">
                <a:solidFill>
                  <a:schemeClr val="dk1"/>
                </a:solidFill>
                <a:latin typeface="Calibri"/>
                <a:ea typeface="Calibri"/>
                <a:cs typeface="Calibri"/>
                <a:sym typeface="Calibri"/>
              </a:rPr>
              <a:t>Agile estimation </a:t>
            </a:r>
            <a:endParaRPr/>
          </a:p>
          <a:p>
            <a:pPr marL="342900" marR="0" lvl="0" indent="-342900" algn="just" rtl="0">
              <a:lnSpc>
                <a:spcPct val="100000"/>
              </a:lnSpc>
              <a:spcBef>
                <a:spcPts val="0"/>
              </a:spcBef>
              <a:spcAft>
                <a:spcPts val="0"/>
              </a:spcAft>
              <a:buClr>
                <a:schemeClr val="dk1"/>
              </a:buClr>
              <a:buSzPts val="2400"/>
              <a:buFont typeface="Arial"/>
              <a:buChar char="•"/>
            </a:pPr>
            <a:r>
              <a:rPr lang="en-MY" sz="2400" b="0" i="0" u="none" strike="noStrike" cap="none">
                <a:solidFill>
                  <a:schemeClr val="dk1"/>
                </a:solidFill>
                <a:latin typeface="Calibri"/>
                <a:ea typeface="Calibri"/>
                <a:cs typeface="Calibri"/>
                <a:sym typeface="Calibri"/>
              </a:rPr>
              <a:t>A story point is a metric commonly used for estimation in Agile projects. It is a way of sizing the relative level of effort associated with a particular user story.</a:t>
            </a:r>
            <a:endParaRPr/>
          </a:p>
          <a:p>
            <a:pPr marL="342900" marR="0" lvl="0" indent="-342900" algn="just" rtl="0">
              <a:lnSpc>
                <a:spcPct val="100000"/>
              </a:lnSpc>
              <a:spcBef>
                <a:spcPts val="0"/>
              </a:spcBef>
              <a:spcAft>
                <a:spcPts val="0"/>
              </a:spcAft>
              <a:buClr>
                <a:schemeClr val="dk1"/>
              </a:buClr>
              <a:buSzPts val="2400"/>
              <a:buFont typeface="Arial"/>
              <a:buChar char="•"/>
            </a:pPr>
            <a:r>
              <a:rPr lang="en-MY" sz="2400" b="0" i="0" u="none" strike="noStrike" cap="none">
                <a:solidFill>
                  <a:schemeClr val="dk1"/>
                </a:solidFill>
                <a:latin typeface="Calibri"/>
                <a:ea typeface="Calibri"/>
                <a:cs typeface="Calibri"/>
                <a:sym typeface="Calibri"/>
              </a:rPr>
              <a:t>T-shirt sizes is another relative sizing technique.3. </a:t>
            </a:r>
            <a:endParaRPr/>
          </a:p>
          <a:p>
            <a:pPr marL="342900" marR="0" lvl="0" indent="-342900" algn="just" rtl="0">
              <a:lnSpc>
                <a:spcPct val="100000"/>
              </a:lnSpc>
              <a:spcBef>
                <a:spcPts val="0"/>
              </a:spcBef>
              <a:spcAft>
                <a:spcPts val="0"/>
              </a:spcAft>
              <a:buClr>
                <a:schemeClr val="dk1"/>
              </a:buClr>
              <a:buSzPts val="2400"/>
              <a:buFont typeface="Arial"/>
              <a:buChar char="•"/>
            </a:pPr>
            <a:r>
              <a:rPr lang="en-MY" sz="2400" b="0" i="0" u="none" strike="noStrike" cap="none">
                <a:solidFill>
                  <a:schemeClr val="dk1"/>
                </a:solidFill>
                <a:latin typeface="Calibri"/>
                <a:ea typeface="Calibri"/>
                <a:cs typeface="Calibri"/>
                <a:sym typeface="Calibri"/>
              </a:rPr>
              <a:t>Velocity estimate is based primarily on the velocity of the team</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93"/>
        <p:cNvGrpSpPr/>
        <p:nvPr/>
      </p:nvGrpSpPr>
      <p:grpSpPr>
        <a:xfrm>
          <a:off x="0" y="0"/>
          <a:ext cx="0" cy="0"/>
          <a:chOff x="0" y="0"/>
          <a:chExt cx="0" cy="0"/>
        </a:xfrm>
      </p:grpSpPr>
      <p:sp>
        <p:nvSpPr>
          <p:cNvPr id="394" name="Google Shape;394;p4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000"/>
              <a:buFont typeface="Calibri"/>
              <a:buNone/>
            </a:pPr>
            <a:r>
              <a:rPr lang="en-MY"/>
              <a:t>SUMMARY</a:t>
            </a:r>
            <a:endParaRPr/>
          </a:p>
        </p:txBody>
      </p:sp>
      <p:sp>
        <p:nvSpPr>
          <p:cNvPr id="395" name="Google Shape;395;p40"/>
          <p:cNvSpPr txBox="1"/>
          <p:nvPr/>
        </p:nvSpPr>
        <p:spPr>
          <a:xfrm>
            <a:off x="979448" y="1549746"/>
            <a:ext cx="10233103" cy="2308284"/>
          </a:xfrm>
          <a:prstGeom prst="rect">
            <a:avLst/>
          </a:prstGeom>
          <a:noFill/>
          <a:ln>
            <a:noFill/>
          </a:ln>
        </p:spPr>
        <p:txBody>
          <a:bodyPr spcFirstLastPara="1" wrap="square" lIns="0" tIns="45700" rIns="0" bIns="45700" anchor="t" anchorCtr="0">
            <a:spAutoFit/>
          </a:bodyPr>
          <a:lstStyle/>
          <a:p>
            <a:pPr marL="342900" marR="0" lvl="0" indent="-342900" algn="just" rtl="0">
              <a:lnSpc>
                <a:spcPct val="100000"/>
              </a:lnSpc>
              <a:spcBef>
                <a:spcPts val="0"/>
              </a:spcBef>
              <a:spcAft>
                <a:spcPts val="0"/>
              </a:spcAft>
              <a:buClr>
                <a:schemeClr val="dk1"/>
              </a:buClr>
              <a:buSzPts val="2400"/>
              <a:buFont typeface="Arial"/>
              <a:buChar char="•"/>
            </a:pPr>
            <a:r>
              <a:rPr lang="en-MY" sz="2400" b="0" i="0" u="none" strike="noStrike" cap="none">
                <a:solidFill>
                  <a:schemeClr val="dk1"/>
                </a:solidFill>
                <a:latin typeface="Calibri"/>
                <a:ea typeface="Calibri"/>
                <a:cs typeface="Calibri"/>
                <a:sym typeface="Calibri"/>
              </a:rPr>
              <a:t>While FPA enhances estimation accuracy and project planning, it requires expertise due to its reliance on subjective judgment and detailed analysis.</a:t>
            </a:r>
            <a:endParaRPr sz="2400" b="0" i="0" u="none" strike="noStrike" cap="none">
              <a:solidFill>
                <a:schemeClr val="dk1"/>
              </a:solidFill>
              <a:latin typeface="Calibri"/>
              <a:ea typeface="Calibri"/>
              <a:cs typeface="Calibri"/>
              <a:sym typeface="Calibri"/>
            </a:endParaRPr>
          </a:p>
          <a:p>
            <a:pPr marL="0" marR="0" lvl="0" indent="0" algn="just"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Calibri"/>
              <a:ea typeface="Calibri"/>
              <a:cs typeface="Calibri"/>
              <a:sym typeface="Calibri"/>
            </a:endParaRPr>
          </a:p>
          <a:p>
            <a:pPr marL="342900" marR="0" lvl="0" indent="-342900" algn="just" rtl="0">
              <a:lnSpc>
                <a:spcPct val="100000"/>
              </a:lnSpc>
              <a:spcBef>
                <a:spcPts val="0"/>
              </a:spcBef>
              <a:spcAft>
                <a:spcPts val="0"/>
              </a:spcAft>
              <a:buClr>
                <a:schemeClr val="dk1"/>
              </a:buClr>
              <a:buSzPts val="2400"/>
              <a:buFont typeface="Arial"/>
              <a:buChar char="•"/>
            </a:pPr>
            <a:r>
              <a:rPr lang="en-MY" sz="2400" b="0" i="0" u="none" strike="noStrike" cap="none">
                <a:solidFill>
                  <a:schemeClr val="dk1"/>
                </a:solidFill>
                <a:latin typeface="Calibri"/>
                <a:ea typeface="Calibri"/>
                <a:cs typeface="Calibri"/>
                <a:sym typeface="Calibri"/>
              </a:rPr>
              <a:t>Incorporating effective effort, cost, and time estimation metrics ensures that projects are delivered efficiently, within budget, and meet quality expectations.</a:t>
            </a:r>
            <a:endParaRPr sz="1400" b="0" i="0" u="none" strike="noStrike" cap="none">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99"/>
        <p:cNvGrpSpPr/>
        <p:nvPr/>
      </p:nvGrpSpPr>
      <p:grpSpPr>
        <a:xfrm>
          <a:off x="0" y="0"/>
          <a:ext cx="0" cy="0"/>
          <a:chOff x="0" y="0"/>
          <a:chExt cx="0" cy="0"/>
        </a:xfrm>
      </p:grpSpPr>
      <p:sp>
        <p:nvSpPr>
          <p:cNvPr id="400" name="Google Shape;400;p4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000"/>
              <a:buFont typeface="Calibri"/>
              <a:buNone/>
            </a:pPr>
            <a:r>
              <a:rPr lang="en-MY"/>
              <a:t>REFERENCES</a:t>
            </a:r>
            <a:endParaRPr/>
          </a:p>
        </p:txBody>
      </p:sp>
      <p:sp>
        <p:nvSpPr>
          <p:cNvPr id="401" name="Google Shape;401;p41"/>
          <p:cNvSpPr txBox="1"/>
          <p:nvPr/>
        </p:nvSpPr>
        <p:spPr>
          <a:xfrm>
            <a:off x="979448" y="1549746"/>
            <a:ext cx="10233103" cy="4154984"/>
          </a:xfrm>
          <a:prstGeom prst="rect">
            <a:avLst/>
          </a:prstGeom>
          <a:noFill/>
          <a:ln>
            <a:noFill/>
          </a:ln>
        </p:spPr>
        <p:txBody>
          <a:bodyPr spcFirstLastPara="1" wrap="square" lIns="0" tIns="45700" rIns="0" bIns="45700" anchor="t" anchorCtr="0">
            <a:spAutoFit/>
          </a:bodyPr>
          <a:lstStyle/>
          <a:p>
            <a:pPr marL="342900" marR="0" lvl="0" indent="-342900" algn="just" rtl="0">
              <a:lnSpc>
                <a:spcPct val="100000"/>
              </a:lnSpc>
              <a:spcBef>
                <a:spcPts val="0"/>
              </a:spcBef>
              <a:spcAft>
                <a:spcPts val="0"/>
              </a:spcAft>
              <a:buClr>
                <a:schemeClr val="dk1"/>
              </a:buClr>
              <a:buSzPts val="2400"/>
              <a:buFont typeface="Arial"/>
              <a:buChar char="•"/>
            </a:pPr>
            <a:r>
              <a:rPr lang="en-MY" sz="2400" b="0" i="0" u="none" strike="noStrike" cap="none">
                <a:solidFill>
                  <a:schemeClr val="dk1"/>
                </a:solidFill>
                <a:latin typeface="Calibri"/>
                <a:ea typeface="Calibri"/>
                <a:cs typeface="Calibri"/>
                <a:sym typeface="Calibri"/>
              </a:rPr>
              <a:t>Van Hai, V., Le Thi Kim Nhung, H., &amp; Hoc, H. T. (2019). A review of software effort estimation by using functional points analysis. Computational Statistics and Mathematical Modeling Methods in Intelligent Systems: Proceedings of 3rd Computational Methods in Systems and Software 2019, Vol. 2 3, 408-422.</a:t>
            </a:r>
            <a:endParaRPr sz="1400" b="0" i="0" u="none" strike="noStrike" cap="none">
              <a:solidFill>
                <a:srgbClr val="000000"/>
              </a:solidFill>
              <a:latin typeface="Arial"/>
              <a:ea typeface="Arial"/>
              <a:cs typeface="Arial"/>
              <a:sym typeface="Arial"/>
            </a:endParaRPr>
          </a:p>
          <a:p>
            <a:pPr marL="342900" marR="0" lvl="0" indent="-342900" algn="just" rtl="0">
              <a:lnSpc>
                <a:spcPct val="100000"/>
              </a:lnSpc>
              <a:spcBef>
                <a:spcPts val="0"/>
              </a:spcBef>
              <a:spcAft>
                <a:spcPts val="0"/>
              </a:spcAft>
              <a:buClr>
                <a:schemeClr val="dk1"/>
              </a:buClr>
              <a:buSzPts val="2400"/>
              <a:buFont typeface="Arial"/>
              <a:buChar char="•"/>
            </a:pPr>
            <a:r>
              <a:rPr lang="en-MY" sz="2400" b="0" i="0" u="none" strike="noStrike" cap="none">
                <a:solidFill>
                  <a:schemeClr val="dk1"/>
                </a:solidFill>
                <a:latin typeface="Calibri"/>
                <a:ea typeface="Calibri"/>
                <a:cs typeface="Calibri"/>
                <a:sym typeface="Calibri"/>
              </a:rPr>
              <a:t>Keshta, I. M. (2017). Software cost estimation approaches: A survey. Journal of Software Engineering and Applications, 10(10), 824.</a:t>
            </a:r>
            <a:endParaRPr sz="1400" b="0" i="0" u="none" strike="noStrike" cap="none">
              <a:solidFill>
                <a:srgbClr val="000000"/>
              </a:solidFill>
              <a:latin typeface="Arial"/>
              <a:ea typeface="Arial"/>
              <a:cs typeface="Arial"/>
              <a:sym typeface="Arial"/>
            </a:endParaRPr>
          </a:p>
          <a:p>
            <a:pPr marL="342900" marR="0" lvl="0" indent="-342900" algn="just" rtl="0">
              <a:lnSpc>
                <a:spcPct val="100000"/>
              </a:lnSpc>
              <a:spcBef>
                <a:spcPts val="0"/>
              </a:spcBef>
              <a:spcAft>
                <a:spcPts val="0"/>
              </a:spcAft>
              <a:buClr>
                <a:schemeClr val="dk1"/>
              </a:buClr>
              <a:buSzPts val="2400"/>
              <a:buFont typeface="Arial"/>
              <a:buChar char="•"/>
            </a:pPr>
            <a:r>
              <a:rPr lang="en-MY" sz="2400" b="0" i="0" u="none" strike="noStrike" cap="none">
                <a:solidFill>
                  <a:schemeClr val="dk1"/>
                </a:solidFill>
                <a:latin typeface="Calibri"/>
                <a:ea typeface="Calibri"/>
                <a:cs typeface="Calibri"/>
                <a:sym typeface="Calibri"/>
              </a:rPr>
              <a:t>Cohn, M. (2005). Agile estimating and planning. Pearson Education.</a:t>
            </a:r>
            <a:endParaRPr sz="1400" b="0" i="0" u="none" strike="noStrike" cap="none">
              <a:solidFill>
                <a:srgbClr val="000000"/>
              </a:solidFill>
              <a:latin typeface="Arial"/>
              <a:ea typeface="Arial"/>
              <a:cs typeface="Arial"/>
              <a:sym typeface="Arial"/>
            </a:endParaRPr>
          </a:p>
          <a:p>
            <a:pPr marL="342900" marR="0" lvl="0" indent="-342900" algn="just" rtl="0">
              <a:lnSpc>
                <a:spcPct val="100000"/>
              </a:lnSpc>
              <a:spcBef>
                <a:spcPts val="0"/>
              </a:spcBef>
              <a:spcAft>
                <a:spcPts val="0"/>
              </a:spcAft>
              <a:buClr>
                <a:schemeClr val="dk1"/>
              </a:buClr>
              <a:buSzPts val="2400"/>
              <a:buFont typeface="Arial"/>
              <a:buChar char="•"/>
            </a:pPr>
            <a:r>
              <a:rPr lang="en-MY" sz="2400" b="0" i="0" u="none" strike="noStrike" cap="none">
                <a:solidFill>
                  <a:schemeClr val="dk1"/>
                </a:solidFill>
                <a:latin typeface="Calibri"/>
                <a:ea typeface="Calibri"/>
                <a:cs typeface="Calibri"/>
                <a:sym typeface="Calibri"/>
              </a:rPr>
              <a:t>McConnell, S. (2006). Software estimation: demystifying the black art. Microsoft press.</a:t>
            </a:r>
            <a:endParaRPr sz="1400" b="0" i="0" u="none" strike="noStrike" cap="none">
              <a:solidFill>
                <a:srgbClr val="000000"/>
              </a:solidFill>
              <a:latin typeface="Arial"/>
              <a:ea typeface="Arial"/>
              <a:cs typeface="Arial"/>
              <a:sym typeface="Arial"/>
            </a:endParaRPr>
          </a:p>
          <a:p>
            <a:pPr marL="342900" marR="0" lvl="0" indent="-342900" algn="just" rtl="0">
              <a:lnSpc>
                <a:spcPct val="100000"/>
              </a:lnSpc>
              <a:spcBef>
                <a:spcPts val="0"/>
              </a:spcBef>
              <a:spcAft>
                <a:spcPts val="0"/>
              </a:spcAft>
              <a:buClr>
                <a:schemeClr val="dk1"/>
              </a:buClr>
              <a:buSzPts val="2400"/>
              <a:buFont typeface="Arial"/>
              <a:buChar char="•"/>
            </a:pPr>
            <a:r>
              <a:rPr lang="en-MY" sz="2400" b="0" i="0" u="none" strike="noStrike" cap="none">
                <a:solidFill>
                  <a:schemeClr val="dk1"/>
                </a:solidFill>
                <a:latin typeface="Calibri"/>
                <a:ea typeface="Calibri"/>
                <a:cs typeface="Calibri"/>
                <a:sym typeface="Calibri"/>
              </a:rPr>
              <a:t>Van Vliet, H., Van Vliet, H., &amp; Van Vliet, J. C. (2008). Software engineering: principles and practice (Vol. 13). Hoboken, NJ: John Wiley &amp; Sons.</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405"/>
        <p:cNvGrpSpPr/>
        <p:nvPr/>
      </p:nvGrpSpPr>
      <p:grpSpPr>
        <a:xfrm>
          <a:off x="0" y="0"/>
          <a:ext cx="0" cy="0"/>
          <a:chOff x="0" y="0"/>
          <a:chExt cx="0" cy="0"/>
        </a:xfrm>
      </p:grpSpPr>
      <p:sp>
        <p:nvSpPr>
          <p:cNvPr id="406" name="Google Shape;406;p42"/>
          <p:cNvSpPr txBox="1"/>
          <p:nvPr/>
        </p:nvSpPr>
        <p:spPr>
          <a:xfrm>
            <a:off x="3647115" y="2649752"/>
            <a:ext cx="4706938" cy="1015663"/>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6000"/>
              <a:buFont typeface="Arial"/>
              <a:buNone/>
            </a:pPr>
            <a:r>
              <a:rPr lang="en-MY" sz="6000" b="1" i="0" u="none" strike="noStrike" cap="none">
                <a:solidFill>
                  <a:schemeClr val="lt1"/>
                </a:solidFill>
                <a:latin typeface="Calibri"/>
                <a:ea typeface="Calibri"/>
                <a:cs typeface="Calibri"/>
                <a:sym typeface="Calibri"/>
              </a:rPr>
              <a:t>THANK YOU</a:t>
            </a:r>
            <a:endParaRPr sz="1400" b="0" i="0" u="none" strike="noStrike" cap="none">
              <a:solidFill>
                <a:srgbClr val="000000"/>
              </a:solidFill>
              <a:latin typeface="Arial"/>
              <a:ea typeface="Arial"/>
              <a:cs typeface="Arial"/>
              <a:sym typeface="Arial"/>
            </a:endParaRPr>
          </a:p>
        </p:txBody>
      </p:sp>
      <p:sp>
        <p:nvSpPr>
          <p:cNvPr id="407" name="Google Shape;407;p42"/>
          <p:cNvSpPr txBox="1"/>
          <p:nvPr/>
        </p:nvSpPr>
        <p:spPr>
          <a:xfrm>
            <a:off x="4434467" y="4076956"/>
            <a:ext cx="1661533" cy="27699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MY" sz="1200" b="0" i="0" u="none" strike="noStrike" cap="none">
                <a:solidFill>
                  <a:schemeClr val="lt1"/>
                </a:solidFill>
                <a:latin typeface="Calibri"/>
                <a:ea typeface="Calibri"/>
                <a:cs typeface="Calibri"/>
                <a:sym typeface="Calibri"/>
              </a:rPr>
              <a:t>univteknologimalaysia</a:t>
            </a:r>
            <a:endParaRPr sz="1400" b="0" i="0" u="none" strike="noStrike" cap="none">
              <a:solidFill>
                <a:srgbClr val="000000"/>
              </a:solidFill>
              <a:latin typeface="Arial"/>
              <a:ea typeface="Arial"/>
              <a:cs typeface="Arial"/>
              <a:sym typeface="Arial"/>
            </a:endParaRPr>
          </a:p>
        </p:txBody>
      </p:sp>
      <p:grpSp>
        <p:nvGrpSpPr>
          <p:cNvPr id="408" name="Google Shape;408;p42"/>
          <p:cNvGrpSpPr/>
          <p:nvPr/>
        </p:nvGrpSpPr>
        <p:grpSpPr>
          <a:xfrm>
            <a:off x="3366240" y="4067101"/>
            <a:ext cx="280228" cy="281958"/>
            <a:chOff x="2163763" y="-1266825"/>
            <a:chExt cx="1028700" cy="1035050"/>
          </a:xfrm>
        </p:grpSpPr>
        <p:sp>
          <p:nvSpPr>
            <p:cNvPr id="409" name="Google Shape;409;p42"/>
            <p:cNvSpPr/>
            <p:nvPr/>
          </p:nvSpPr>
          <p:spPr>
            <a:xfrm>
              <a:off x="2163763" y="-1266825"/>
              <a:ext cx="1028700" cy="1035050"/>
            </a:xfrm>
            <a:custGeom>
              <a:avLst/>
              <a:gdLst/>
              <a:ahLst/>
              <a:cxnLst/>
              <a:rect l="l" t="t" r="r" b="b"/>
              <a:pathLst>
                <a:path w="396" h="396" extrusionOk="0">
                  <a:moveTo>
                    <a:pt x="198" y="0"/>
                  </a:moveTo>
                  <a:cubicBezTo>
                    <a:pt x="252" y="0"/>
                    <a:pt x="302" y="22"/>
                    <a:pt x="338" y="58"/>
                  </a:cubicBezTo>
                  <a:cubicBezTo>
                    <a:pt x="374" y="93"/>
                    <a:pt x="396" y="143"/>
                    <a:pt x="396" y="198"/>
                  </a:cubicBezTo>
                  <a:cubicBezTo>
                    <a:pt x="396" y="252"/>
                    <a:pt x="374" y="302"/>
                    <a:pt x="338" y="338"/>
                  </a:cubicBezTo>
                  <a:cubicBezTo>
                    <a:pt x="302" y="374"/>
                    <a:pt x="252" y="396"/>
                    <a:pt x="198" y="396"/>
                  </a:cubicBezTo>
                  <a:cubicBezTo>
                    <a:pt x="143" y="396"/>
                    <a:pt x="93" y="374"/>
                    <a:pt x="58" y="338"/>
                  </a:cubicBezTo>
                  <a:cubicBezTo>
                    <a:pt x="22" y="302"/>
                    <a:pt x="0" y="252"/>
                    <a:pt x="0" y="198"/>
                  </a:cubicBezTo>
                  <a:cubicBezTo>
                    <a:pt x="0" y="143"/>
                    <a:pt x="22" y="93"/>
                    <a:pt x="58" y="58"/>
                  </a:cubicBezTo>
                  <a:cubicBezTo>
                    <a:pt x="93" y="22"/>
                    <a:pt x="143" y="0"/>
                    <a:pt x="198" y="0"/>
                  </a:cubicBezTo>
                  <a:close/>
                  <a:moveTo>
                    <a:pt x="327" y="69"/>
                  </a:moveTo>
                  <a:cubicBezTo>
                    <a:pt x="294" y="36"/>
                    <a:pt x="248" y="15"/>
                    <a:pt x="198" y="15"/>
                  </a:cubicBezTo>
                  <a:cubicBezTo>
                    <a:pt x="147" y="15"/>
                    <a:pt x="102" y="36"/>
                    <a:pt x="69" y="69"/>
                  </a:cubicBezTo>
                  <a:cubicBezTo>
                    <a:pt x="36" y="102"/>
                    <a:pt x="15" y="147"/>
                    <a:pt x="15" y="198"/>
                  </a:cubicBezTo>
                  <a:cubicBezTo>
                    <a:pt x="15" y="248"/>
                    <a:pt x="36" y="294"/>
                    <a:pt x="69" y="327"/>
                  </a:cubicBezTo>
                  <a:cubicBezTo>
                    <a:pt x="102" y="360"/>
                    <a:pt x="147" y="380"/>
                    <a:pt x="198" y="380"/>
                  </a:cubicBezTo>
                  <a:cubicBezTo>
                    <a:pt x="248" y="380"/>
                    <a:pt x="294" y="360"/>
                    <a:pt x="327" y="327"/>
                  </a:cubicBezTo>
                  <a:cubicBezTo>
                    <a:pt x="360" y="294"/>
                    <a:pt x="380" y="248"/>
                    <a:pt x="380" y="198"/>
                  </a:cubicBezTo>
                  <a:cubicBezTo>
                    <a:pt x="380" y="147"/>
                    <a:pt x="360" y="102"/>
                    <a:pt x="327" y="69"/>
                  </a:cubicBezTo>
                  <a:close/>
                </a:path>
              </a:pathLst>
            </a:custGeom>
            <a:solidFill>
              <a:srgbClr val="F2F2F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10" name="Google Shape;410;p42"/>
            <p:cNvSpPr/>
            <p:nvPr/>
          </p:nvSpPr>
          <p:spPr>
            <a:xfrm>
              <a:off x="2554288" y="-1014413"/>
              <a:ext cx="246063" cy="528638"/>
            </a:xfrm>
            <a:custGeom>
              <a:avLst/>
              <a:gdLst/>
              <a:ahLst/>
              <a:cxnLst/>
              <a:rect l="l" t="t" r="r" b="b"/>
              <a:pathLst>
                <a:path w="95" h="202" extrusionOk="0">
                  <a:moveTo>
                    <a:pt x="63" y="60"/>
                  </a:moveTo>
                  <a:cubicBezTo>
                    <a:pt x="63" y="44"/>
                    <a:pt x="63" y="44"/>
                    <a:pt x="63" y="44"/>
                  </a:cubicBezTo>
                  <a:cubicBezTo>
                    <a:pt x="63" y="36"/>
                    <a:pt x="68" y="34"/>
                    <a:pt x="72" y="34"/>
                  </a:cubicBezTo>
                  <a:cubicBezTo>
                    <a:pt x="75" y="34"/>
                    <a:pt x="94" y="34"/>
                    <a:pt x="94" y="34"/>
                  </a:cubicBezTo>
                  <a:cubicBezTo>
                    <a:pt x="94" y="0"/>
                    <a:pt x="94" y="0"/>
                    <a:pt x="94" y="0"/>
                  </a:cubicBezTo>
                  <a:cubicBezTo>
                    <a:pt x="63" y="0"/>
                    <a:pt x="63" y="0"/>
                    <a:pt x="63" y="0"/>
                  </a:cubicBezTo>
                  <a:cubicBezTo>
                    <a:pt x="28" y="0"/>
                    <a:pt x="21" y="25"/>
                    <a:pt x="21" y="42"/>
                  </a:cubicBezTo>
                  <a:cubicBezTo>
                    <a:pt x="21" y="60"/>
                    <a:pt x="21" y="60"/>
                    <a:pt x="21" y="60"/>
                  </a:cubicBezTo>
                  <a:cubicBezTo>
                    <a:pt x="0" y="60"/>
                    <a:pt x="0" y="60"/>
                    <a:pt x="0" y="60"/>
                  </a:cubicBezTo>
                  <a:cubicBezTo>
                    <a:pt x="0" y="85"/>
                    <a:pt x="0" y="85"/>
                    <a:pt x="0" y="85"/>
                  </a:cubicBezTo>
                  <a:cubicBezTo>
                    <a:pt x="0" y="101"/>
                    <a:pt x="0" y="101"/>
                    <a:pt x="0" y="101"/>
                  </a:cubicBezTo>
                  <a:cubicBezTo>
                    <a:pt x="21" y="101"/>
                    <a:pt x="21" y="101"/>
                    <a:pt x="21" y="101"/>
                  </a:cubicBezTo>
                  <a:cubicBezTo>
                    <a:pt x="21" y="147"/>
                    <a:pt x="21" y="202"/>
                    <a:pt x="21" y="202"/>
                  </a:cubicBezTo>
                  <a:cubicBezTo>
                    <a:pt x="61" y="202"/>
                    <a:pt x="61" y="202"/>
                    <a:pt x="61" y="202"/>
                  </a:cubicBezTo>
                  <a:cubicBezTo>
                    <a:pt x="61" y="202"/>
                    <a:pt x="61" y="146"/>
                    <a:pt x="61" y="101"/>
                  </a:cubicBezTo>
                  <a:cubicBezTo>
                    <a:pt x="91" y="101"/>
                    <a:pt x="91" y="101"/>
                    <a:pt x="91" y="101"/>
                  </a:cubicBezTo>
                  <a:cubicBezTo>
                    <a:pt x="92" y="85"/>
                    <a:pt x="92" y="85"/>
                    <a:pt x="92" y="85"/>
                  </a:cubicBezTo>
                  <a:cubicBezTo>
                    <a:pt x="95" y="60"/>
                    <a:pt x="95" y="60"/>
                    <a:pt x="95" y="60"/>
                  </a:cubicBezTo>
                  <a:lnTo>
                    <a:pt x="63" y="60"/>
                  </a:lnTo>
                  <a:close/>
                </a:path>
              </a:pathLst>
            </a:custGeom>
            <a:solidFill>
              <a:srgbClr val="F2F2F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grpSp>
        <p:nvGrpSpPr>
          <p:cNvPr id="411" name="Google Shape;411;p42"/>
          <p:cNvGrpSpPr/>
          <p:nvPr/>
        </p:nvGrpSpPr>
        <p:grpSpPr>
          <a:xfrm>
            <a:off x="7531144" y="4077067"/>
            <a:ext cx="279796" cy="281958"/>
            <a:chOff x="3470276" y="-1266825"/>
            <a:chExt cx="1027113" cy="1035050"/>
          </a:xfrm>
        </p:grpSpPr>
        <p:sp>
          <p:nvSpPr>
            <p:cNvPr id="412" name="Google Shape;412;p42"/>
            <p:cNvSpPr/>
            <p:nvPr/>
          </p:nvSpPr>
          <p:spPr>
            <a:xfrm>
              <a:off x="3470276" y="-1266825"/>
              <a:ext cx="1027113" cy="1035050"/>
            </a:xfrm>
            <a:custGeom>
              <a:avLst/>
              <a:gdLst/>
              <a:ahLst/>
              <a:cxnLst/>
              <a:rect l="l" t="t" r="r" b="b"/>
              <a:pathLst>
                <a:path w="396" h="396" extrusionOk="0">
                  <a:moveTo>
                    <a:pt x="198" y="0"/>
                  </a:moveTo>
                  <a:cubicBezTo>
                    <a:pt x="253" y="0"/>
                    <a:pt x="303" y="22"/>
                    <a:pt x="338" y="58"/>
                  </a:cubicBezTo>
                  <a:cubicBezTo>
                    <a:pt x="374" y="93"/>
                    <a:pt x="396" y="143"/>
                    <a:pt x="396" y="198"/>
                  </a:cubicBezTo>
                  <a:cubicBezTo>
                    <a:pt x="396" y="252"/>
                    <a:pt x="374" y="302"/>
                    <a:pt x="338" y="338"/>
                  </a:cubicBezTo>
                  <a:cubicBezTo>
                    <a:pt x="303" y="374"/>
                    <a:pt x="253" y="396"/>
                    <a:pt x="198" y="396"/>
                  </a:cubicBezTo>
                  <a:cubicBezTo>
                    <a:pt x="144" y="396"/>
                    <a:pt x="94" y="374"/>
                    <a:pt x="58" y="338"/>
                  </a:cubicBezTo>
                  <a:cubicBezTo>
                    <a:pt x="22" y="302"/>
                    <a:pt x="0" y="252"/>
                    <a:pt x="0" y="198"/>
                  </a:cubicBezTo>
                  <a:cubicBezTo>
                    <a:pt x="0" y="143"/>
                    <a:pt x="22" y="93"/>
                    <a:pt x="58" y="58"/>
                  </a:cubicBezTo>
                  <a:cubicBezTo>
                    <a:pt x="94" y="22"/>
                    <a:pt x="144" y="0"/>
                    <a:pt x="198" y="0"/>
                  </a:cubicBezTo>
                  <a:close/>
                  <a:moveTo>
                    <a:pt x="328" y="69"/>
                  </a:moveTo>
                  <a:cubicBezTo>
                    <a:pt x="294" y="36"/>
                    <a:pt x="249" y="15"/>
                    <a:pt x="198" y="15"/>
                  </a:cubicBezTo>
                  <a:cubicBezTo>
                    <a:pt x="148" y="15"/>
                    <a:pt x="102" y="36"/>
                    <a:pt x="69" y="69"/>
                  </a:cubicBezTo>
                  <a:cubicBezTo>
                    <a:pt x="36" y="102"/>
                    <a:pt x="16" y="147"/>
                    <a:pt x="16" y="198"/>
                  </a:cubicBezTo>
                  <a:cubicBezTo>
                    <a:pt x="16" y="248"/>
                    <a:pt x="36" y="294"/>
                    <a:pt x="69" y="327"/>
                  </a:cubicBezTo>
                  <a:cubicBezTo>
                    <a:pt x="102" y="360"/>
                    <a:pt x="148" y="380"/>
                    <a:pt x="198" y="380"/>
                  </a:cubicBezTo>
                  <a:cubicBezTo>
                    <a:pt x="249" y="380"/>
                    <a:pt x="294" y="360"/>
                    <a:pt x="328" y="327"/>
                  </a:cubicBezTo>
                  <a:cubicBezTo>
                    <a:pt x="361" y="294"/>
                    <a:pt x="381" y="248"/>
                    <a:pt x="381" y="198"/>
                  </a:cubicBezTo>
                  <a:cubicBezTo>
                    <a:pt x="381" y="147"/>
                    <a:pt x="361" y="102"/>
                    <a:pt x="328" y="69"/>
                  </a:cubicBezTo>
                  <a:close/>
                </a:path>
              </a:pathLst>
            </a:custGeom>
            <a:solidFill>
              <a:srgbClr val="F2F2F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13" name="Google Shape;413;p42"/>
            <p:cNvSpPr/>
            <p:nvPr/>
          </p:nvSpPr>
          <p:spPr>
            <a:xfrm>
              <a:off x="3727451" y="-1011238"/>
              <a:ext cx="515938" cy="520700"/>
            </a:xfrm>
            <a:custGeom>
              <a:avLst/>
              <a:gdLst/>
              <a:ahLst/>
              <a:cxnLst/>
              <a:rect l="l" t="t" r="r" b="b"/>
              <a:pathLst>
                <a:path w="199" h="199" extrusionOk="0">
                  <a:moveTo>
                    <a:pt x="49" y="100"/>
                  </a:moveTo>
                  <a:cubicBezTo>
                    <a:pt x="49" y="72"/>
                    <a:pt x="71" y="49"/>
                    <a:pt x="99" y="49"/>
                  </a:cubicBezTo>
                  <a:cubicBezTo>
                    <a:pt x="127" y="49"/>
                    <a:pt x="150" y="72"/>
                    <a:pt x="150" y="100"/>
                  </a:cubicBezTo>
                  <a:cubicBezTo>
                    <a:pt x="150" y="128"/>
                    <a:pt x="127" y="150"/>
                    <a:pt x="99" y="150"/>
                  </a:cubicBezTo>
                  <a:cubicBezTo>
                    <a:pt x="71" y="150"/>
                    <a:pt x="49" y="128"/>
                    <a:pt x="49" y="100"/>
                  </a:cubicBezTo>
                  <a:close/>
                  <a:moveTo>
                    <a:pt x="152" y="0"/>
                  </a:moveTo>
                  <a:cubicBezTo>
                    <a:pt x="47" y="0"/>
                    <a:pt x="47" y="0"/>
                    <a:pt x="47" y="0"/>
                  </a:cubicBezTo>
                  <a:cubicBezTo>
                    <a:pt x="21" y="0"/>
                    <a:pt x="0" y="21"/>
                    <a:pt x="0" y="47"/>
                  </a:cubicBezTo>
                  <a:cubicBezTo>
                    <a:pt x="0" y="152"/>
                    <a:pt x="0" y="152"/>
                    <a:pt x="0" y="152"/>
                  </a:cubicBezTo>
                  <a:cubicBezTo>
                    <a:pt x="0" y="178"/>
                    <a:pt x="21" y="199"/>
                    <a:pt x="47" y="199"/>
                  </a:cubicBezTo>
                  <a:cubicBezTo>
                    <a:pt x="152" y="199"/>
                    <a:pt x="152" y="199"/>
                    <a:pt x="152" y="199"/>
                  </a:cubicBezTo>
                  <a:cubicBezTo>
                    <a:pt x="178" y="199"/>
                    <a:pt x="199" y="178"/>
                    <a:pt x="199" y="152"/>
                  </a:cubicBezTo>
                  <a:cubicBezTo>
                    <a:pt x="199" y="47"/>
                    <a:pt x="199" y="47"/>
                    <a:pt x="199" y="47"/>
                  </a:cubicBezTo>
                  <a:cubicBezTo>
                    <a:pt x="199" y="21"/>
                    <a:pt x="178" y="0"/>
                    <a:pt x="152" y="0"/>
                  </a:cubicBezTo>
                  <a:close/>
                  <a:moveTo>
                    <a:pt x="47" y="12"/>
                  </a:moveTo>
                  <a:cubicBezTo>
                    <a:pt x="152" y="12"/>
                    <a:pt x="152" y="12"/>
                    <a:pt x="152" y="12"/>
                  </a:cubicBezTo>
                  <a:cubicBezTo>
                    <a:pt x="171" y="12"/>
                    <a:pt x="187" y="28"/>
                    <a:pt x="187" y="47"/>
                  </a:cubicBezTo>
                  <a:cubicBezTo>
                    <a:pt x="187" y="152"/>
                    <a:pt x="187" y="152"/>
                    <a:pt x="187" y="152"/>
                  </a:cubicBezTo>
                  <a:cubicBezTo>
                    <a:pt x="187" y="171"/>
                    <a:pt x="171" y="187"/>
                    <a:pt x="152" y="187"/>
                  </a:cubicBezTo>
                  <a:cubicBezTo>
                    <a:pt x="47" y="187"/>
                    <a:pt x="47" y="187"/>
                    <a:pt x="47" y="187"/>
                  </a:cubicBezTo>
                  <a:cubicBezTo>
                    <a:pt x="28" y="187"/>
                    <a:pt x="12" y="171"/>
                    <a:pt x="12" y="152"/>
                  </a:cubicBezTo>
                  <a:cubicBezTo>
                    <a:pt x="12" y="47"/>
                    <a:pt x="12" y="47"/>
                    <a:pt x="12" y="47"/>
                  </a:cubicBezTo>
                  <a:cubicBezTo>
                    <a:pt x="12" y="28"/>
                    <a:pt x="28" y="12"/>
                    <a:pt x="47" y="12"/>
                  </a:cubicBezTo>
                  <a:close/>
                  <a:moveTo>
                    <a:pt x="162" y="27"/>
                  </a:moveTo>
                  <a:cubicBezTo>
                    <a:pt x="156" y="27"/>
                    <a:pt x="152" y="32"/>
                    <a:pt x="152" y="37"/>
                  </a:cubicBezTo>
                  <a:cubicBezTo>
                    <a:pt x="152" y="43"/>
                    <a:pt x="156" y="48"/>
                    <a:pt x="162" y="48"/>
                  </a:cubicBezTo>
                  <a:cubicBezTo>
                    <a:pt x="168" y="48"/>
                    <a:pt x="173" y="43"/>
                    <a:pt x="173" y="37"/>
                  </a:cubicBezTo>
                  <a:cubicBezTo>
                    <a:pt x="173" y="32"/>
                    <a:pt x="168" y="27"/>
                    <a:pt x="162" y="27"/>
                  </a:cubicBezTo>
                  <a:close/>
                  <a:moveTo>
                    <a:pt x="163" y="100"/>
                  </a:moveTo>
                  <a:cubicBezTo>
                    <a:pt x="163" y="64"/>
                    <a:pt x="135" y="36"/>
                    <a:pt x="99" y="36"/>
                  </a:cubicBezTo>
                  <a:cubicBezTo>
                    <a:pt x="64" y="36"/>
                    <a:pt x="35" y="64"/>
                    <a:pt x="35" y="100"/>
                  </a:cubicBezTo>
                  <a:cubicBezTo>
                    <a:pt x="35" y="135"/>
                    <a:pt x="64" y="164"/>
                    <a:pt x="99" y="164"/>
                  </a:cubicBezTo>
                  <a:cubicBezTo>
                    <a:pt x="135" y="164"/>
                    <a:pt x="163" y="135"/>
                    <a:pt x="163" y="100"/>
                  </a:cubicBezTo>
                  <a:close/>
                </a:path>
              </a:pathLst>
            </a:custGeom>
            <a:solidFill>
              <a:srgbClr val="F2F2F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414" name="Google Shape;414;p42"/>
          <p:cNvSpPr txBox="1"/>
          <p:nvPr/>
        </p:nvSpPr>
        <p:spPr>
          <a:xfrm>
            <a:off x="6711844" y="4072060"/>
            <a:ext cx="3029941" cy="27699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MY" sz="1200" b="0" i="0" u="none" strike="noStrike" cap="none">
                <a:solidFill>
                  <a:schemeClr val="lt1"/>
                </a:solidFill>
                <a:latin typeface="Calibri"/>
                <a:ea typeface="Calibri"/>
                <a:cs typeface="Calibri"/>
                <a:sym typeface="Calibri"/>
              </a:rPr>
              <a:t>utm.my</a:t>
            </a:r>
            <a:endParaRPr sz="1400" b="0" i="0" u="none" strike="noStrike" cap="none">
              <a:solidFill>
                <a:srgbClr val="000000"/>
              </a:solidFill>
              <a:latin typeface="Arial"/>
              <a:ea typeface="Arial"/>
              <a:cs typeface="Arial"/>
              <a:sym typeface="Arial"/>
            </a:endParaRPr>
          </a:p>
        </p:txBody>
      </p:sp>
      <p:sp>
        <p:nvSpPr>
          <p:cNvPr id="415" name="Google Shape;415;p42"/>
          <p:cNvSpPr/>
          <p:nvPr/>
        </p:nvSpPr>
        <p:spPr>
          <a:xfrm>
            <a:off x="3720466" y="4076956"/>
            <a:ext cx="279328" cy="279328"/>
          </a:xfrm>
          <a:custGeom>
            <a:avLst/>
            <a:gdLst/>
            <a:ahLst/>
            <a:cxnLst/>
            <a:rect l="l" t="t" r="r" b="b"/>
            <a:pathLst>
              <a:path w="21600" h="21600" extrusionOk="0">
                <a:moveTo>
                  <a:pt x="10800" y="20618"/>
                </a:moveTo>
                <a:cubicBezTo>
                  <a:pt x="5377" y="20618"/>
                  <a:pt x="982" y="16223"/>
                  <a:pt x="982" y="10800"/>
                </a:cubicBezTo>
                <a:cubicBezTo>
                  <a:pt x="982" y="5378"/>
                  <a:pt x="5377" y="982"/>
                  <a:pt x="10800" y="982"/>
                </a:cubicBezTo>
                <a:cubicBezTo>
                  <a:pt x="16223" y="982"/>
                  <a:pt x="20618" y="5378"/>
                  <a:pt x="20618" y="10800"/>
                </a:cubicBezTo>
                <a:cubicBezTo>
                  <a:pt x="20618" y="16223"/>
                  <a:pt x="16223" y="20618"/>
                  <a:pt x="10800" y="20618"/>
                </a:cubicBezTo>
                <a:moveTo>
                  <a:pt x="10800" y="0"/>
                </a:moveTo>
                <a:cubicBezTo>
                  <a:pt x="4836" y="0"/>
                  <a:pt x="0" y="4835"/>
                  <a:pt x="0" y="10800"/>
                </a:cubicBezTo>
                <a:cubicBezTo>
                  <a:pt x="0" y="16765"/>
                  <a:pt x="4836" y="21600"/>
                  <a:pt x="10800" y="21600"/>
                </a:cubicBezTo>
                <a:cubicBezTo>
                  <a:pt x="16764" y="21600"/>
                  <a:pt x="21600" y="16765"/>
                  <a:pt x="21600" y="10800"/>
                </a:cubicBezTo>
                <a:cubicBezTo>
                  <a:pt x="21600" y="4835"/>
                  <a:pt x="16764" y="0"/>
                  <a:pt x="10800" y="0"/>
                </a:cubicBezTo>
                <a:moveTo>
                  <a:pt x="13430" y="9320"/>
                </a:moveTo>
                <a:cubicBezTo>
                  <a:pt x="11975" y="9320"/>
                  <a:pt x="11780" y="10196"/>
                  <a:pt x="11780" y="10196"/>
                </a:cubicBezTo>
                <a:lnTo>
                  <a:pt x="11782" y="9327"/>
                </a:lnTo>
                <a:lnTo>
                  <a:pt x="9818" y="9327"/>
                </a:lnTo>
                <a:lnTo>
                  <a:pt x="9818" y="14727"/>
                </a:lnTo>
                <a:lnTo>
                  <a:pt x="11782" y="14727"/>
                </a:lnTo>
                <a:lnTo>
                  <a:pt x="11782" y="11782"/>
                </a:lnTo>
                <a:cubicBezTo>
                  <a:pt x="11782" y="11782"/>
                  <a:pt x="11782" y="10793"/>
                  <a:pt x="12616" y="10793"/>
                </a:cubicBezTo>
                <a:cubicBezTo>
                  <a:pt x="13086" y="10793"/>
                  <a:pt x="13255" y="11232"/>
                  <a:pt x="13255" y="11782"/>
                </a:cubicBezTo>
                <a:lnTo>
                  <a:pt x="13255" y="14727"/>
                </a:lnTo>
                <a:lnTo>
                  <a:pt x="15218" y="14727"/>
                </a:lnTo>
                <a:lnTo>
                  <a:pt x="15218" y="11782"/>
                </a:lnTo>
                <a:cubicBezTo>
                  <a:pt x="15218" y="10245"/>
                  <a:pt x="14550" y="9320"/>
                  <a:pt x="13430" y="9320"/>
                </a:cubicBezTo>
                <a:moveTo>
                  <a:pt x="6873" y="14727"/>
                </a:moveTo>
                <a:lnTo>
                  <a:pt x="8829" y="14727"/>
                </a:lnTo>
                <a:lnTo>
                  <a:pt x="8829" y="9320"/>
                </a:lnTo>
                <a:lnTo>
                  <a:pt x="6873" y="9320"/>
                </a:lnTo>
                <a:cubicBezTo>
                  <a:pt x="6873" y="9320"/>
                  <a:pt x="6873" y="14727"/>
                  <a:pt x="6873" y="14727"/>
                </a:cubicBezTo>
                <a:close/>
                <a:moveTo>
                  <a:pt x="7851" y="6873"/>
                </a:moveTo>
                <a:cubicBezTo>
                  <a:pt x="7311" y="6873"/>
                  <a:pt x="6873" y="7313"/>
                  <a:pt x="6873" y="7856"/>
                </a:cubicBezTo>
                <a:cubicBezTo>
                  <a:pt x="6873" y="8399"/>
                  <a:pt x="7311" y="8839"/>
                  <a:pt x="7851" y="8839"/>
                </a:cubicBezTo>
                <a:cubicBezTo>
                  <a:pt x="8391" y="8839"/>
                  <a:pt x="8829" y="8399"/>
                  <a:pt x="8829" y="7856"/>
                </a:cubicBezTo>
                <a:cubicBezTo>
                  <a:pt x="8829" y="7313"/>
                  <a:pt x="8391" y="6873"/>
                  <a:pt x="7851" y="6873"/>
                </a:cubicBezTo>
              </a:path>
            </a:pathLst>
          </a:custGeom>
          <a:solidFill>
            <a:schemeClr val="lt1"/>
          </a:solidFill>
          <a:ln>
            <a:noFill/>
          </a:ln>
        </p:spPr>
        <p:txBody>
          <a:bodyPr spcFirstLastPara="1" wrap="square" lIns="19025" tIns="19025" rIns="19025" bIns="190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1"/>
              </a:solidFill>
              <a:latin typeface="Arial"/>
              <a:ea typeface="Arial"/>
              <a:cs typeface="Arial"/>
              <a:sym typeface="Arial"/>
            </a:endParaRPr>
          </a:p>
        </p:txBody>
      </p:sp>
      <p:sp>
        <p:nvSpPr>
          <p:cNvPr id="416" name="Google Shape;416;p42"/>
          <p:cNvSpPr/>
          <p:nvPr/>
        </p:nvSpPr>
        <p:spPr>
          <a:xfrm>
            <a:off x="4072196" y="4076956"/>
            <a:ext cx="279328" cy="279328"/>
          </a:xfrm>
          <a:custGeom>
            <a:avLst/>
            <a:gdLst/>
            <a:ahLst/>
            <a:cxnLst/>
            <a:rect l="l" t="t" r="r" b="b"/>
            <a:pathLst>
              <a:path w="21600" h="21600" extrusionOk="0">
                <a:moveTo>
                  <a:pt x="14324" y="12090"/>
                </a:moveTo>
                <a:cubicBezTo>
                  <a:pt x="14019" y="12090"/>
                  <a:pt x="14019" y="12428"/>
                  <a:pt x="14019" y="12428"/>
                </a:cubicBezTo>
                <a:lnTo>
                  <a:pt x="14019" y="12863"/>
                </a:lnTo>
                <a:lnTo>
                  <a:pt x="14628" y="12863"/>
                </a:lnTo>
                <a:lnTo>
                  <a:pt x="14628" y="12428"/>
                </a:lnTo>
                <a:cubicBezTo>
                  <a:pt x="14628" y="12428"/>
                  <a:pt x="14628" y="12090"/>
                  <a:pt x="14324" y="12090"/>
                </a:cubicBezTo>
                <a:moveTo>
                  <a:pt x="15287" y="12380"/>
                </a:moveTo>
                <a:lnTo>
                  <a:pt x="15287" y="13348"/>
                </a:lnTo>
                <a:lnTo>
                  <a:pt x="14019" y="13348"/>
                </a:lnTo>
                <a:lnTo>
                  <a:pt x="14019" y="14072"/>
                </a:lnTo>
                <a:cubicBezTo>
                  <a:pt x="14019" y="14072"/>
                  <a:pt x="14019" y="14411"/>
                  <a:pt x="14324" y="14411"/>
                </a:cubicBezTo>
                <a:cubicBezTo>
                  <a:pt x="14628" y="14411"/>
                  <a:pt x="14628" y="14072"/>
                  <a:pt x="14628" y="14072"/>
                </a:cubicBezTo>
                <a:lnTo>
                  <a:pt x="14628" y="13734"/>
                </a:lnTo>
                <a:lnTo>
                  <a:pt x="15287" y="13734"/>
                </a:lnTo>
                <a:lnTo>
                  <a:pt x="15287" y="14266"/>
                </a:lnTo>
                <a:cubicBezTo>
                  <a:pt x="15287" y="14266"/>
                  <a:pt x="15186" y="14943"/>
                  <a:pt x="14375" y="14943"/>
                </a:cubicBezTo>
                <a:cubicBezTo>
                  <a:pt x="13564" y="14943"/>
                  <a:pt x="13411" y="14266"/>
                  <a:pt x="13411" y="14266"/>
                </a:cubicBezTo>
                <a:lnTo>
                  <a:pt x="13411" y="12380"/>
                </a:lnTo>
                <a:cubicBezTo>
                  <a:pt x="13411" y="12380"/>
                  <a:pt x="13411" y="11558"/>
                  <a:pt x="14375" y="11558"/>
                </a:cubicBezTo>
                <a:cubicBezTo>
                  <a:pt x="15338" y="11558"/>
                  <a:pt x="15287" y="12380"/>
                  <a:pt x="15287" y="12380"/>
                </a:cubicBezTo>
                <a:moveTo>
                  <a:pt x="12904" y="14169"/>
                </a:moveTo>
                <a:cubicBezTo>
                  <a:pt x="12904" y="14169"/>
                  <a:pt x="12904" y="14943"/>
                  <a:pt x="12347" y="14943"/>
                </a:cubicBezTo>
                <a:cubicBezTo>
                  <a:pt x="12005" y="14943"/>
                  <a:pt x="11798" y="14762"/>
                  <a:pt x="11687" y="14621"/>
                </a:cubicBezTo>
                <a:lnTo>
                  <a:pt x="11687" y="14895"/>
                </a:lnTo>
                <a:lnTo>
                  <a:pt x="11028" y="14895"/>
                </a:lnTo>
                <a:lnTo>
                  <a:pt x="11028" y="10446"/>
                </a:lnTo>
                <a:lnTo>
                  <a:pt x="11687" y="10446"/>
                </a:lnTo>
                <a:lnTo>
                  <a:pt x="11687" y="11888"/>
                </a:lnTo>
                <a:cubicBezTo>
                  <a:pt x="11788" y="11782"/>
                  <a:pt x="12036" y="11558"/>
                  <a:pt x="12347" y="11558"/>
                </a:cubicBezTo>
                <a:cubicBezTo>
                  <a:pt x="12752" y="11558"/>
                  <a:pt x="12904" y="11896"/>
                  <a:pt x="12904" y="12332"/>
                </a:cubicBezTo>
                <a:cubicBezTo>
                  <a:pt x="12904" y="12332"/>
                  <a:pt x="12904" y="14169"/>
                  <a:pt x="12904" y="14169"/>
                </a:cubicBezTo>
                <a:close/>
                <a:moveTo>
                  <a:pt x="10521" y="14895"/>
                </a:moveTo>
                <a:lnTo>
                  <a:pt x="9913" y="14895"/>
                </a:lnTo>
                <a:lnTo>
                  <a:pt x="9913" y="14605"/>
                </a:lnTo>
                <a:cubicBezTo>
                  <a:pt x="9913" y="14605"/>
                  <a:pt x="9558" y="14943"/>
                  <a:pt x="9152" y="14943"/>
                </a:cubicBezTo>
                <a:cubicBezTo>
                  <a:pt x="8747" y="14943"/>
                  <a:pt x="8696" y="14556"/>
                  <a:pt x="8696" y="14556"/>
                </a:cubicBezTo>
                <a:lnTo>
                  <a:pt x="8696" y="11558"/>
                </a:lnTo>
                <a:lnTo>
                  <a:pt x="9304" y="11558"/>
                </a:lnTo>
                <a:lnTo>
                  <a:pt x="9304" y="14362"/>
                </a:lnTo>
                <a:cubicBezTo>
                  <a:pt x="9304" y="14362"/>
                  <a:pt x="9304" y="14508"/>
                  <a:pt x="9507" y="14508"/>
                </a:cubicBezTo>
                <a:cubicBezTo>
                  <a:pt x="9710" y="14508"/>
                  <a:pt x="9913" y="14266"/>
                  <a:pt x="9913" y="14266"/>
                </a:cubicBezTo>
                <a:lnTo>
                  <a:pt x="9913" y="11558"/>
                </a:lnTo>
                <a:lnTo>
                  <a:pt x="10521" y="11558"/>
                </a:lnTo>
                <a:cubicBezTo>
                  <a:pt x="10521" y="11558"/>
                  <a:pt x="10521" y="14895"/>
                  <a:pt x="10521" y="14895"/>
                </a:cubicBezTo>
                <a:close/>
                <a:moveTo>
                  <a:pt x="8595" y="11074"/>
                </a:moveTo>
                <a:lnTo>
                  <a:pt x="7834" y="11074"/>
                </a:lnTo>
                <a:lnTo>
                  <a:pt x="7834" y="14895"/>
                </a:lnTo>
                <a:lnTo>
                  <a:pt x="7124" y="14895"/>
                </a:lnTo>
                <a:lnTo>
                  <a:pt x="7124" y="11074"/>
                </a:lnTo>
                <a:lnTo>
                  <a:pt x="6363" y="11074"/>
                </a:lnTo>
                <a:lnTo>
                  <a:pt x="6363" y="10446"/>
                </a:lnTo>
                <a:lnTo>
                  <a:pt x="8595" y="10446"/>
                </a:lnTo>
                <a:cubicBezTo>
                  <a:pt x="8595" y="10446"/>
                  <a:pt x="8595" y="11074"/>
                  <a:pt x="8595" y="11074"/>
                </a:cubicBezTo>
                <a:close/>
                <a:moveTo>
                  <a:pt x="14527" y="9430"/>
                </a:moveTo>
                <a:cubicBezTo>
                  <a:pt x="14527" y="9430"/>
                  <a:pt x="12667" y="9334"/>
                  <a:pt x="10800" y="9334"/>
                </a:cubicBezTo>
                <a:cubicBezTo>
                  <a:pt x="8940" y="9334"/>
                  <a:pt x="7074" y="9430"/>
                  <a:pt x="7074" y="9430"/>
                </a:cubicBezTo>
                <a:cubicBezTo>
                  <a:pt x="6233" y="9430"/>
                  <a:pt x="5552" y="10080"/>
                  <a:pt x="5552" y="10881"/>
                </a:cubicBezTo>
                <a:cubicBezTo>
                  <a:pt x="5552" y="10881"/>
                  <a:pt x="5400" y="11822"/>
                  <a:pt x="5400" y="12767"/>
                </a:cubicBezTo>
                <a:cubicBezTo>
                  <a:pt x="5400" y="13708"/>
                  <a:pt x="5552" y="14652"/>
                  <a:pt x="5552" y="14652"/>
                </a:cubicBezTo>
                <a:cubicBezTo>
                  <a:pt x="5552" y="15454"/>
                  <a:pt x="6233" y="16103"/>
                  <a:pt x="7074" y="16103"/>
                </a:cubicBezTo>
                <a:cubicBezTo>
                  <a:pt x="7074" y="16103"/>
                  <a:pt x="8905" y="16200"/>
                  <a:pt x="10800" y="16200"/>
                </a:cubicBezTo>
                <a:cubicBezTo>
                  <a:pt x="12630" y="16200"/>
                  <a:pt x="14527" y="16103"/>
                  <a:pt x="14527" y="16103"/>
                </a:cubicBezTo>
                <a:cubicBezTo>
                  <a:pt x="15367" y="16103"/>
                  <a:pt x="16048" y="15454"/>
                  <a:pt x="16048" y="14652"/>
                </a:cubicBezTo>
                <a:cubicBezTo>
                  <a:pt x="16048" y="14652"/>
                  <a:pt x="16200" y="13700"/>
                  <a:pt x="16200" y="12767"/>
                </a:cubicBezTo>
                <a:cubicBezTo>
                  <a:pt x="16200" y="11814"/>
                  <a:pt x="16048" y="10881"/>
                  <a:pt x="16048" y="10881"/>
                </a:cubicBezTo>
                <a:cubicBezTo>
                  <a:pt x="16048" y="10080"/>
                  <a:pt x="15367" y="9430"/>
                  <a:pt x="14527" y="9430"/>
                </a:cubicBezTo>
                <a:moveTo>
                  <a:pt x="10800" y="20618"/>
                </a:moveTo>
                <a:cubicBezTo>
                  <a:pt x="5377" y="20618"/>
                  <a:pt x="982" y="16223"/>
                  <a:pt x="982" y="10800"/>
                </a:cubicBezTo>
                <a:cubicBezTo>
                  <a:pt x="982" y="5378"/>
                  <a:pt x="5377" y="982"/>
                  <a:pt x="10800" y="982"/>
                </a:cubicBezTo>
                <a:cubicBezTo>
                  <a:pt x="16223" y="982"/>
                  <a:pt x="20618" y="5378"/>
                  <a:pt x="20618" y="10800"/>
                </a:cubicBezTo>
                <a:cubicBezTo>
                  <a:pt x="20618" y="16223"/>
                  <a:pt x="16223" y="20618"/>
                  <a:pt x="10800" y="20618"/>
                </a:cubicBezTo>
                <a:moveTo>
                  <a:pt x="10800" y="0"/>
                </a:moveTo>
                <a:cubicBezTo>
                  <a:pt x="4835" y="0"/>
                  <a:pt x="0" y="4835"/>
                  <a:pt x="0" y="10800"/>
                </a:cubicBezTo>
                <a:cubicBezTo>
                  <a:pt x="0" y="16765"/>
                  <a:pt x="4835" y="21600"/>
                  <a:pt x="10800" y="21600"/>
                </a:cubicBezTo>
                <a:cubicBezTo>
                  <a:pt x="16765" y="21600"/>
                  <a:pt x="21600" y="16765"/>
                  <a:pt x="21600" y="10800"/>
                </a:cubicBezTo>
                <a:cubicBezTo>
                  <a:pt x="21600" y="4835"/>
                  <a:pt x="16765" y="0"/>
                  <a:pt x="10800" y="0"/>
                </a:cubicBezTo>
                <a:moveTo>
                  <a:pt x="11992" y="12090"/>
                </a:moveTo>
                <a:cubicBezTo>
                  <a:pt x="11860" y="12090"/>
                  <a:pt x="11757" y="12168"/>
                  <a:pt x="11687" y="12243"/>
                </a:cubicBezTo>
                <a:lnTo>
                  <a:pt x="11687" y="14276"/>
                </a:lnTo>
                <a:cubicBezTo>
                  <a:pt x="11751" y="14345"/>
                  <a:pt x="11847" y="14411"/>
                  <a:pt x="11992" y="14411"/>
                </a:cubicBezTo>
                <a:cubicBezTo>
                  <a:pt x="12296" y="14411"/>
                  <a:pt x="12296" y="14072"/>
                  <a:pt x="12296" y="14072"/>
                </a:cubicBezTo>
                <a:lnTo>
                  <a:pt x="12296" y="12428"/>
                </a:lnTo>
                <a:cubicBezTo>
                  <a:pt x="12296" y="12428"/>
                  <a:pt x="12245" y="12090"/>
                  <a:pt x="11992" y="12090"/>
                </a:cubicBezTo>
                <a:moveTo>
                  <a:pt x="7986" y="8751"/>
                </a:moveTo>
                <a:lnTo>
                  <a:pt x="8696" y="8751"/>
                </a:lnTo>
                <a:lnTo>
                  <a:pt x="8696" y="7188"/>
                </a:lnTo>
                <a:lnTo>
                  <a:pt x="9507" y="4970"/>
                </a:lnTo>
                <a:lnTo>
                  <a:pt x="8848" y="4970"/>
                </a:lnTo>
                <a:lnTo>
                  <a:pt x="8341" y="6433"/>
                </a:lnTo>
                <a:lnTo>
                  <a:pt x="7834" y="4970"/>
                </a:lnTo>
                <a:lnTo>
                  <a:pt x="7124" y="4970"/>
                </a:lnTo>
                <a:lnTo>
                  <a:pt x="7986" y="7188"/>
                </a:lnTo>
                <a:cubicBezTo>
                  <a:pt x="7986" y="7188"/>
                  <a:pt x="7986" y="8751"/>
                  <a:pt x="7986" y="8751"/>
                </a:cubicBezTo>
                <a:close/>
                <a:moveTo>
                  <a:pt x="12397" y="8801"/>
                </a:moveTo>
                <a:cubicBezTo>
                  <a:pt x="12802" y="8801"/>
                  <a:pt x="13158" y="8449"/>
                  <a:pt x="13158" y="8449"/>
                </a:cubicBezTo>
                <a:lnTo>
                  <a:pt x="13158" y="8751"/>
                </a:lnTo>
                <a:lnTo>
                  <a:pt x="13766" y="8751"/>
                </a:lnTo>
                <a:lnTo>
                  <a:pt x="13766" y="5878"/>
                </a:lnTo>
                <a:lnTo>
                  <a:pt x="13158" y="5878"/>
                </a:lnTo>
                <a:lnTo>
                  <a:pt x="13158" y="8096"/>
                </a:lnTo>
                <a:cubicBezTo>
                  <a:pt x="13158" y="8096"/>
                  <a:pt x="12955" y="8348"/>
                  <a:pt x="12752" y="8348"/>
                </a:cubicBezTo>
                <a:cubicBezTo>
                  <a:pt x="12549" y="8348"/>
                  <a:pt x="12549" y="8196"/>
                  <a:pt x="12549" y="8196"/>
                </a:cubicBezTo>
                <a:lnTo>
                  <a:pt x="12549" y="5878"/>
                </a:lnTo>
                <a:lnTo>
                  <a:pt x="11941" y="5878"/>
                </a:lnTo>
                <a:lnTo>
                  <a:pt x="11941" y="8398"/>
                </a:lnTo>
                <a:cubicBezTo>
                  <a:pt x="11941" y="8398"/>
                  <a:pt x="11992" y="8801"/>
                  <a:pt x="12397" y="8801"/>
                </a:cubicBezTo>
                <a:moveTo>
                  <a:pt x="10166" y="6634"/>
                </a:moveTo>
                <a:cubicBezTo>
                  <a:pt x="10166" y="6467"/>
                  <a:pt x="10302" y="6332"/>
                  <a:pt x="10470" y="6332"/>
                </a:cubicBezTo>
                <a:cubicBezTo>
                  <a:pt x="10639" y="6332"/>
                  <a:pt x="10775" y="6467"/>
                  <a:pt x="10775" y="6634"/>
                </a:cubicBezTo>
                <a:lnTo>
                  <a:pt x="10775" y="8045"/>
                </a:lnTo>
                <a:cubicBezTo>
                  <a:pt x="10775" y="8212"/>
                  <a:pt x="10639" y="8348"/>
                  <a:pt x="10470" y="8348"/>
                </a:cubicBezTo>
                <a:cubicBezTo>
                  <a:pt x="10302" y="8348"/>
                  <a:pt x="10166" y="8212"/>
                  <a:pt x="10166" y="8045"/>
                </a:cubicBezTo>
                <a:cubicBezTo>
                  <a:pt x="10166" y="8045"/>
                  <a:pt x="10166" y="6634"/>
                  <a:pt x="10166" y="6634"/>
                </a:cubicBezTo>
                <a:close/>
                <a:moveTo>
                  <a:pt x="10369" y="8801"/>
                </a:moveTo>
                <a:lnTo>
                  <a:pt x="10572" y="8801"/>
                </a:lnTo>
                <a:cubicBezTo>
                  <a:pt x="11020" y="8801"/>
                  <a:pt x="11383" y="8440"/>
                  <a:pt x="11383" y="7995"/>
                </a:cubicBezTo>
                <a:lnTo>
                  <a:pt x="11383" y="6684"/>
                </a:lnTo>
                <a:cubicBezTo>
                  <a:pt x="11383" y="6239"/>
                  <a:pt x="11020" y="5878"/>
                  <a:pt x="10572" y="5878"/>
                </a:cubicBezTo>
                <a:lnTo>
                  <a:pt x="10369" y="5878"/>
                </a:lnTo>
                <a:cubicBezTo>
                  <a:pt x="9921" y="5878"/>
                  <a:pt x="9558" y="6239"/>
                  <a:pt x="9558" y="6684"/>
                </a:cubicBezTo>
                <a:lnTo>
                  <a:pt x="9558" y="7995"/>
                </a:lnTo>
                <a:cubicBezTo>
                  <a:pt x="9558" y="8440"/>
                  <a:pt x="9921" y="8801"/>
                  <a:pt x="10369" y="8801"/>
                </a:cubicBezTo>
              </a:path>
            </a:pathLst>
          </a:custGeom>
          <a:solidFill>
            <a:schemeClr val="lt1"/>
          </a:solidFill>
          <a:ln>
            <a:noFill/>
          </a:ln>
        </p:spPr>
        <p:txBody>
          <a:bodyPr spcFirstLastPara="1" wrap="square" lIns="19025" tIns="19025" rIns="19025" bIns="190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1"/>
              </a:solidFill>
              <a:latin typeface="Arial"/>
              <a:ea typeface="Arial"/>
              <a:cs typeface="Arial"/>
              <a:sym typeface="Arial"/>
            </a:endParaRPr>
          </a:p>
        </p:txBody>
      </p:sp>
      <p:pic>
        <p:nvPicPr>
          <p:cNvPr id="417" name="Google Shape;417;p42"/>
          <p:cNvPicPr preferRelativeResize="0"/>
          <p:nvPr/>
        </p:nvPicPr>
        <p:blipFill rotWithShape="1">
          <a:blip r:embed="rId3">
            <a:alphaModFix/>
          </a:blip>
          <a:srcRect/>
          <a:stretch/>
        </p:blipFill>
        <p:spPr>
          <a:xfrm>
            <a:off x="6053684" y="4070864"/>
            <a:ext cx="289182" cy="289182"/>
          </a:xfrm>
          <a:prstGeom prst="rect">
            <a:avLst/>
          </a:prstGeom>
          <a:noFill/>
          <a:ln>
            <a:noFill/>
          </a:ln>
        </p:spPr>
      </p:pic>
      <p:sp>
        <p:nvSpPr>
          <p:cNvPr id="418" name="Google Shape;418;p42"/>
          <p:cNvSpPr txBox="1"/>
          <p:nvPr/>
        </p:nvSpPr>
        <p:spPr>
          <a:xfrm>
            <a:off x="7819166" y="4069364"/>
            <a:ext cx="1861503" cy="27699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MY" sz="1200" b="0" i="0" u="none" strike="noStrike" cap="none">
                <a:solidFill>
                  <a:schemeClr val="lt1"/>
                </a:solidFill>
                <a:latin typeface="Calibri"/>
                <a:ea typeface="Calibri"/>
                <a:cs typeface="Calibri"/>
                <a:sym typeface="Calibri"/>
              </a:rPr>
              <a:t>utmofficial</a:t>
            </a:r>
            <a:endParaRPr sz="1200" b="0" i="0" u="none" strike="noStrike" cap="none">
              <a:solidFill>
                <a:schemeClr val="lt1"/>
              </a:solidFill>
              <a:latin typeface="Calibri"/>
              <a:ea typeface="Calibri"/>
              <a:cs typeface="Calibri"/>
              <a:sym typeface="Calibri"/>
            </a:endParaRPr>
          </a:p>
        </p:txBody>
      </p:sp>
      <p:pic>
        <p:nvPicPr>
          <p:cNvPr id="419" name="Google Shape;419;p42"/>
          <p:cNvPicPr preferRelativeResize="0"/>
          <p:nvPr/>
        </p:nvPicPr>
        <p:blipFill rotWithShape="1">
          <a:blip r:embed="rId4">
            <a:alphaModFix/>
          </a:blip>
          <a:srcRect/>
          <a:stretch/>
        </p:blipFill>
        <p:spPr>
          <a:xfrm>
            <a:off x="6389397" y="4076956"/>
            <a:ext cx="289182" cy="289182"/>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Custom 2">
      <a:dk1>
        <a:srgbClr val="000000"/>
      </a:dk1>
      <a:lt1>
        <a:srgbClr val="FFFFFF"/>
      </a:lt1>
      <a:dk2>
        <a:srgbClr val="696464"/>
      </a:dk2>
      <a:lt2>
        <a:srgbClr val="E9E5DC"/>
      </a:lt2>
      <a:accent1>
        <a:srgbClr val="6C1D35"/>
      </a:accent1>
      <a:accent2>
        <a:srgbClr val="9B2D1F"/>
      </a:accent2>
      <a:accent3>
        <a:srgbClr val="A28E6A"/>
      </a:accent3>
      <a:accent4>
        <a:srgbClr val="956251"/>
      </a:accent4>
      <a:accent5>
        <a:srgbClr val="918485"/>
      </a:accent5>
      <a:accent6>
        <a:srgbClr val="6C3636"/>
      </a:accent6>
      <a:hlink>
        <a:srgbClr val="CC9900"/>
      </a:hlink>
      <a:folHlink>
        <a:srgbClr val="96A9A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2326</Words>
  <Application>Microsoft Office PowerPoint</Application>
  <PresentationFormat>Widescreen</PresentationFormat>
  <Paragraphs>242</Paragraphs>
  <Slides>37</Slides>
  <Notes>37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37</vt:i4>
      </vt:variant>
    </vt:vector>
  </HeadingPairs>
  <TitlesOfParts>
    <vt:vector size="41" baseType="lpstr">
      <vt:lpstr>Arial</vt:lpstr>
      <vt:lpstr>Calibri</vt:lpstr>
      <vt:lpstr>Noto Sans Symbols</vt:lpstr>
      <vt:lpstr>Office Theme</vt:lpstr>
      <vt:lpstr>PowerPoint Presentation</vt:lpstr>
      <vt:lpstr>LEARNING OUTCOME</vt:lpstr>
      <vt:lpstr>PowerPoint Presentation</vt:lpstr>
      <vt:lpstr>PROJECT SIZE ESTIMATION IN SOFTWARE MANAGAMENT</vt:lpstr>
      <vt:lpstr>INTRODUCTION</vt:lpstr>
      <vt:lpstr>INTRODUCTION</vt:lpstr>
      <vt:lpstr>ADVANTAGES</vt:lpstr>
      <vt:lpstr>DISADVANTAGES</vt:lpstr>
      <vt:lpstr> FUNCTION POINT ANALYSIS (FPA) (Plan-Driven Estimation)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Estimation</vt:lpstr>
      <vt:lpstr> STORY POINTS AND VELOCITY (Agile Estimation)</vt:lpstr>
      <vt:lpstr>PowerPoint Presentation</vt:lpstr>
      <vt:lpstr>STORY POINTS</vt:lpstr>
      <vt:lpstr>STORY POINTS</vt:lpstr>
      <vt:lpstr>VELOCITY</vt:lpstr>
      <vt:lpstr>Velocity</vt:lpstr>
      <vt:lpstr>Velocity</vt:lpstr>
      <vt:lpstr>SUMMARY</vt:lpstr>
      <vt:lpstr>SUMMARY</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NUR AMALINA BINTI HAMIDI</dc:creator>
  <cp:lastModifiedBy>Norsham Idris</cp:lastModifiedBy>
  <cp:revision>1</cp:revision>
  <dcterms:created xsi:type="dcterms:W3CDTF">2023-12-31T03:09:43Z</dcterms:created>
  <dcterms:modified xsi:type="dcterms:W3CDTF">2025-05-18T13:02:16Z</dcterms:modified>
</cp:coreProperties>
</file>