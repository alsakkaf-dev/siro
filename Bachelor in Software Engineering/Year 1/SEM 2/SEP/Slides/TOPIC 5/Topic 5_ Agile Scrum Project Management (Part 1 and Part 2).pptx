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Lst>
  <p:sldSz cy="6858000" cx="12192000"/>
  <p:notesSz cx="6858000" cy="9144000"/>
  <p:embeddedFontLst>
    <p:embeddedFont>
      <p:font typeface="Roboto"/>
      <p:regular r:id="rId43"/>
      <p:bold r:id="rId44"/>
      <p:italic r:id="rId45"/>
      <p:boldItalic r:id="rId46"/>
    </p:embeddedFont>
    <p:embeddedFont>
      <p:font typeface="Noto Sans Symbols"/>
      <p:regular r:id="rId47"/>
      <p:bold r:id="rId4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9" roundtripDataSignature="AMtx7mjPH2P0SYlcwtxsNCmqknBmyOquQ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56764A5-D5AB-4547-BF98-85EDDABA9C88}">
  <a:tblStyle styleId="{B56764A5-D5AB-4547-BF98-85EDDABA9C88}"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AE7E7"/>
          </a:solidFill>
        </a:fill>
      </a:tcStyle>
    </a:wholeTbl>
    <a:band1H>
      <a:tcTxStyle b="off" i="off"/>
      <a:tcStyle>
        <a:fill>
          <a:solidFill>
            <a:srgbClr val="D3CBCC"/>
          </a:solidFill>
        </a:fill>
      </a:tcStyle>
    </a:band1H>
    <a:band2H>
      <a:tcTxStyle b="off" i="off"/>
    </a:band2H>
    <a:band1V>
      <a:tcTxStyle b="off" i="off"/>
      <a:tcStyle>
        <a:fill>
          <a:solidFill>
            <a:srgbClr val="D3CBCC"/>
          </a:solidFill>
        </a:fill>
      </a:tcStyle>
    </a:band1V>
    <a:band2V>
      <a:tcTxStyle b="off" i="off"/>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b="off" i="off"/>
    </a:seCell>
    <a:swCell>
      <a:tcTxStyle b="off" i="off"/>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b="off" i="off"/>
    </a:neCell>
    <a:nwCell>
      <a:tcTxStyle b="off" i="off"/>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font" Target="fonts/Roboto-bold.fntdata"/><Relationship Id="rId43" Type="http://schemas.openxmlformats.org/officeDocument/2006/relationships/font" Target="fonts/Roboto-regular.fntdata"/><Relationship Id="rId46" Type="http://schemas.openxmlformats.org/officeDocument/2006/relationships/font" Target="fonts/Roboto-boldItalic.fntdata"/><Relationship Id="rId45" Type="http://schemas.openxmlformats.org/officeDocument/2006/relationships/font" Target="fonts/Roboto-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NotoSansSymbols-bold.fntdata"/><Relationship Id="rId47" Type="http://schemas.openxmlformats.org/officeDocument/2006/relationships/font" Target="fonts/NotoSansSymbols-regular.fntdata"/><Relationship Id="rId49" Type="http://customschemas.google.com/relationships/presentationmetadata" Target="meta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MY"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5afd35145d_3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7" name="Google Shape;197;g35afd35145d_3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5afd35145d_0_1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7" name="Google Shape;207;g35afd35145d_0_13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8" name="Google Shape;208;g35afd35145d_0_13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MY"/>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2" name="Google Shape;212;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213" name="Google Shape;213;p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400"/>
              <a:buFont typeface="Calibri"/>
              <a:buNone/>
            </a:pPr>
            <a:fld id="{00000000-1234-1234-1234-123412341234}" type="slidenum">
              <a:rPr lang="en-MY"/>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223" name="Google Shape;223;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35afd35145d_0_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2" name="Google Shape;232;g35afd35145d_0_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3" name="Google Shape;233;g35afd35145d_0_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MY"/>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35afd35145d_0_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0" name="Google Shape;240;g35afd35145d_0_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1" name="Google Shape;241;g35afd35145d_0_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MY"/>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248" name="Google Shape;248;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258" name="Google Shape;258;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35afd35145d_0_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8" name="Google Shape;268;g35afd35145d_0_4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9" name="Google Shape;269;g35afd35145d_0_4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MY"/>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35afd35145d_0_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6" name="Google Shape;276;g35afd35145d_0_3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7" name="Google Shape;277;g35afd35145d_0_3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MY"/>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35afd35145d_1_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4" name="Google Shape;284;g35afd35145d_1_2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5" name="Google Shape;285;g35afd35145d_1_2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MY"/>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2" name="Google Shape;292;p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293" name="Google Shape;293;p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chemeClr val="dk1"/>
              </a:buClr>
              <a:buSzPts val="1400"/>
              <a:buFont typeface="Calibri"/>
              <a:buNone/>
            </a:pPr>
            <a:fld id="{00000000-1234-1234-1234-123412341234}" type="slidenum">
              <a:rPr lang="en-MY"/>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304" name="Google Shape;304;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35ba604c68c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3" name="Google Shape;313;g35ba604c68c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4" name="Google Shape;314;g35ba604c68c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MY"/>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p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320" name="Google Shape;320;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g35ba604c68c_0_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9" name="Google Shape;329;g35ba604c68c_0_3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0" name="Google Shape;330;g35ba604c68c_0_3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MY"/>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35afd35145d_1_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6" name="Google Shape;336;g35afd35145d_1_1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7" name="Google Shape;337;g35afd35145d_1_1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MY"/>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7" name="Google Shape;347;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g35afd35145d_0_9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353" name="Google Shape;353;g35afd35145d_0_9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g35afd35145d_1_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3" name="Google Shape;363;g35afd35145d_1_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4" name="Google Shape;364;g35afd35145d_1_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MY"/>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1" name="Google Shape;371;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g35afd35145d_1_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8" name="Google Shape;378;g35afd35145d_1_4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9" name="Google Shape;379;g35afd35145d_1_4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MY"/>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g35d300c5de1_0_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7" name="Google Shape;427;g35d300c5de1_0_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8" name="Google Shape;428;g35d300c5de1_0_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MY"/>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5" name="Google Shape;435;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g35d300c5de1_0_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2" name="Google Shape;442;g35d300c5de1_0_1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3" name="Google Shape;443;g35d300c5de1_0_1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MY"/>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g35c9230e536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0" name="Google Shape;450;g35c9230e536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1" name="Google Shape;451;g35c9230e536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MY"/>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g35d300c5de1_0_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7" name="Google Shape;457;g35d300c5de1_0_2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8" name="Google Shape;458;g35d300c5de1_0_2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MY"/>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g35c0e3b69f0_0_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4" name="Google Shape;464;g35c0e3b69f0_0_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5" name="Google Shape;465;g35c0e3b69f0_0_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MY"/>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g35c0e3b69f0_0_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2" name="Google Shape;472;g35c0e3b69f0_0_2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3" name="Google Shape;473;g35c0e3b69f0_0_2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MY"/>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g35c0e3b69f0_0_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0" name="Google Shape;480;g35c0e3b69f0_0_3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1" name="Google Shape;481;g35c0e3b69f0_0_3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MY"/>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g35c0e3b69f0_0_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8" name="Google Shape;488;g35c0e3b69f0_0_3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9" name="Google Shape;489;g35c0e3b69f0_0_3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MY"/>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g35c0e3b69f0_0_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6" name="Google Shape;496;g35c0e3b69f0_0_4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7" name="Google Shape;497;g35c0e3b69f0_0_4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MY"/>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g35c0e3b69f0_0_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3" name="Google Shape;503;g35c0e3b69f0_0_5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4" name="Google Shape;504;g35c0e3b69f0_0_5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MY"/>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g35c0e3b69f0_0_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1" name="Google Shape;511;g35c0e3b69f0_0_6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2" name="Google Shape;512;g35c0e3b69f0_0_6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MY"/>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 name="Shape 516"/>
        <p:cNvGrpSpPr/>
        <p:nvPr/>
      </p:nvGrpSpPr>
      <p:grpSpPr>
        <a:xfrm>
          <a:off x="0" y="0"/>
          <a:ext cx="0" cy="0"/>
          <a:chOff x="0" y="0"/>
          <a:chExt cx="0" cy="0"/>
        </a:xfrm>
      </p:grpSpPr>
      <p:sp>
        <p:nvSpPr>
          <p:cNvPr id="517" name="Google Shape;517;g35afd35145d_0_8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8" name="Google Shape;518;g35afd35145d_0_8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9" name="Google Shape;519;g35afd35145d_0_8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MY"/>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3" name="Shape 523"/>
        <p:cNvGrpSpPr/>
        <p:nvPr/>
      </p:nvGrpSpPr>
      <p:grpSpPr>
        <a:xfrm>
          <a:off x="0" y="0"/>
          <a:ext cx="0" cy="0"/>
          <a:chOff x="0" y="0"/>
          <a:chExt cx="0" cy="0"/>
        </a:xfrm>
      </p:grpSpPr>
      <p:sp>
        <p:nvSpPr>
          <p:cNvPr id="524" name="Google Shape;524;g35afd35145d_0_9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5" name="Google Shape;525;g35afd35145d_0_9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6" name="Google Shape;526;g35afd35145d_0_9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MY"/>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0" name="Shape 530"/>
        <p:cNvGrpSpPr/>
        <p:nvPr/>
      </p:nvGrpSpPr>
      <p:grpSpPr>
        <a:xfrm>
          <a:off x="0" y="0"/>
          <a:ext cx="0" cy="0"/>
          <a:chOff x="0" y="0"/>
          <a:chExt cx="0" cy="0"/>
        </a:xfrm>
      </p:grpSpPr>
      <p:sp>
        <p:nvSpPr>
          <p:cNvPr id="531" name="Google Shape;531;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2" name="Google Shape;532;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jpg"/><Relationship Id="rId3" Type="http://schemas.openxmlformats.org/officeDocument/2006/relationships/image" Target="../media/image8.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5.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5.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2.png"/><Relationship Id="rId4" Type="http://schemas.openxmlformats.org/officeDocument/2006/relationships/image" Target="../media/image2.png"/><Relationship Id="rId5" Type="http://schemas.openxmlformats.org/officeDocument/2006/relationships/image" Target="../media/image11.png"/><Relationship Id="rId6"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5.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5.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5.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5.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5.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5.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page">
  <p:cSld name="cover page">
    <p:spTree>
      <p:nvGrpSpPr>
        <p:cNvPr id="15" name="Shape 15"/>
        <p:cNvGrpSpPr/>
        <p:nvPr/>
      </p:nvGrpSpPr>
      <p:grpSpPr>
        <a:xfrm>
          <a:off x="0" y="0"/>
          <a:ext cx="0" cy="0"/>
          <a:chOff x="0" y="0"/>
          <a:chExt cx="0" cy="0"/>
        </a:xfrm>
      </p:grpSpPr>
      <p:pic>
        <p:nvPicPr>
          <p:cNvPr id="16" name="Google Shape;16;p24"/>
          <p:cNvPicPr preferRelativeResize="0"/>
          <p:nvPr/>
        </p:nvPicPr>
        <p:blipFill rotWithShape="1">
          <a:blip r:embed="rId2">
            <a:alphaModFix amt="34000"/>
          </a:blip>
          <a:srcRect b="0" l="0" r="0" t="0"/>
          <a:stretch/>
        </p:blipFill>
        <p:spPr>
          <a:xfrm rot="-5400000">
            <a:off x="1428041" y="-1428041"/>
            <a:ext cx="6880030" cy="9736110"/>
          </a:xfrm>
          <a:prstGeom prst="rect">
            <a:avLst/>
          </a:prstGeom>
          <a:noFill/>
          <a:ln>
            <a:noFill/>
          </a:ln>
        </p:spPr>
      </p:pic>
      <p:pic>
        <p:nvPicPr>
          <p:cNvPr id="17" name="Google Shape;17;p24"/>
          <p:cNvPicPr preferRelativeResize="0"/>
          <p:nvPr/>
        </p:nvPicPr>
        <p:blipFill rotWithShape="1">
          <a:blip r:embed="rId3">
            <a:alphaModFix amt="99000"/>
          </a:blip>
          <a:srcRect b="0" l="0" r="0" t="0"/>
          <a:stretch/>
        </p:blipFill>
        <p:spPr>
          <a:xfrm flipH="1">
            <a:off x="59093" y="0"/>
            <a:ext cx="12073813" cy="3109189"/>
          </a:xfrm>
          <a:prstGeom prst="rect">
            <a:avLst/>
          </a:prstGeom>
          <a:noFill/>
          <a:ln>
            <a:noFill/>
          </a:ln>
        </p:spPr>
      </p:pic>
      <p:sp>
        <p:nvSpPr>
          <p:cNvPr id="18" name="Google Shape;18;p24"/>
          <p:cNvSpPr/>
          <p:nvPr/>
        </p:nvSpPr>
        <p:spPr>
          <a:xfrm rot="5400000">
            <a:off x="5953544" y="641578"/>
            <a:ext cx="284909" cy="12192000"/>
          </a:xfrm>
          <a:prstGeom prst="rect">
            <a:avLst/>
          </a:prstGeom>
          <a:solidFill>
            <a:srgbClr val="6C1D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9" name="Google Shape;19;p24"/>
          <p:cNvSpPr txBox="1"/>
          <p:nvPr/>
        </p:nvSpPr>
        <p:spPr>
          <a:xfrm>
            <a:off x="5479363" y="6595121"/>
            <a:ext cx="1377301" cy="2616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1" i="0" lang="en-MY" sz="1100" u="none" cap="none" strike="noStrike">
                <a:solidFill>
                  <a:srgbClr val="F2F2F2"/>
                </a:solidFill>
                <a:latin typeface="Calibri"/>
                <a:ea typeface="Calibri"/>
                <a:cs typeface="Calibri"/>
                <a:sym typeface="Calibri"/>
              </a:rPr>
              <a:t>www.utm.my</a:t>
            </a:r>
            <a:endParaRPr b="1" i="0" sz="1100" u="none" cap="none" strike="noStrike">
              <a:solidFill>
                <a:schemeClr val="accent4"/>
              </a:solidFill>
              <a:latin typeface="Calibri"/>
              <a:ea typeface="Calibri"/>
              <a:cs typeface="Calibri"/>
              <a:sym typeface="Calibri"/>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0" name="Shape 20"/>
        <p:cNvGrpSpPr/>
        <p:nvPr/>
      </p:nvGrpSpPr>
      <p:grpSpPr>
        <a:xfrm>
          <a:off x="0" y="0"/>
          <a:ext cx="0" cy="0"/>
          <a:chOff x="0" y="0"/>
          <a:chExt cx="0" cy="0"/>
        </a:xfrm>
      </p:grpSpPr>
      <p:pic>
        <p:nvPicPr>
          <p:cNvPr id="21" name="Google Shape;21;p20"/>
          <p:cNvPicPr preferRelativeResize="0"/>
          <p:nvPr/>
        </p:nvPicPr>
        <p:blipFill rotWithShape="1">
          <a:blip r:embed="rId2">
            <a:alphaModFix/>
          </a:blip>
          <a:srcRect b="0" l="0" r="0" t="0"/>
          <a:stretch/>
        </p:blipFill>
        <p:spPr>
          <a:xfrm flipH="1">
            <a:off x="6765" y="1270"/>
            <a:ext cx="7112053" cy="1831461"/>
          </a:xfrm>
          <a:prstGeom prst="rect">
            <a:avLst/>
          </a:prstGeom>
          <a:noFill/>
          <a:ln>
            <a:noFill/>
          </a:ln>
        </p:spPr>
      </p:pic>
      <p:sp>
        <p:nvSpPr>
          <p:cNvPr id="22" name="Google Shape;22;p2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ctr">
              <a:lnSpc>
                <a:spcPct val="90000"/>
              </a:lnSpc>
              <a:spcBef>
                <a:spcPts val="0"/>
              </a:spcBef>
              <a:spcAft>
                <a:spcPts val="0"/>
              </a:spcAft>
              <a:buClr>
                <a:schemeClr val="dk1"/>
              </a:buClr>
              <a:buSzPts val="4000"/>
              <a:buFont typeface="Calibri"/>
              <a:buNone/>
              <a:defRPr sz="4000">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MY"/>
              <a:t>‹#›</a:t>
            </a:fld>
            <a:endParaRPr/>
          </a:p>
        </p:txBody>
      </p:sp>
      <p:sp>
        <p:nvSpPr>
          <p:cNvPr id="27" name="Google Shape;27;p20"/>
          <p:cNvSpPr/>
          <p:nvPr/>
        </p:nvSpPr>
        <p:spPr>
          <a:xfrm>
            <a:off x="3894421" y="21431"/>
            <a:ext cx="4460168" cy="256507"/>
          </a:xfrm>
          <a:prstGeom prst="rect">
            <a:avLst/>
          </a:prstGeom>
          <a:solidFill>
            <a:srgbClr val="6C1D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28" name="Google Shape;28;p20"/>
          <p:cNvPicPr preferRelativeResize="0"/>
          <p:nvPr/>
        </p:nvPicPr>
        <p:blipFill rotWithShape="1">
          <a:blip r:embed="rId3">
            <a:alphaModFix/>
          </a:blip>
          <a:srcRect b="0" l="0" r="0" t="0"/>
          <a:stretch/>
        </p:blipFill>
        <p:spPr>
          <a:xfrm>
            <a:off x="10478878" y="283590"/>
            <a:ext cx="1468167" cy="497461"/>
          </a:xfrm>
          <a:prstGeom prst="rect">
            <a:avLst/>
          </a:prstGeom>
          <a:noFill/>
          <a:ln>
            <a:noFill/>
          </a:ln>
        </p:spPr>
      </p:pic>
      <p:sp>
        <p:nvSpPr>
          <p:cNvPr id="29" name="Google Shape;29;p20"/>
          <p:cNvSpPr/>
          <p:nvPr/>
        </p:nvSpPr>
        <p:spPr>
          <a:xfrm>
            <a:off x="-1" y="6808662"/>
            <a:ext cx="12249013" cy="108973"/>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nvGrpSpPr>
          <p:cNvPr id="30" name="Google Shape;30;p20"/>
          <p:cNvGrpSpPr/>
          <p:nvPr/>
        </p:nvGrpSpPr>
        <p:grpSpPr>
          <a:xfrm>
            <a:off x="11930388" y="4900065"/>
            <a:ext cx="261612" cy="1456285"/>
            <a:chOff x="-7479" y="4982614"/>
            <a:chExt cx="261612" cy="1456285"/>
          </a:xfrm>
        </p:grpSpPr>
        <p:sp>
          <p:nvSpPr>
            <p:cNvPr id="31" name="Google Shape;31;p20"/>
            <p:cNvSpPr/>
            <p:nvPr/>
          </p:nvSpPr>
          <p:spPr>
            <a:xfrm>
              <a:off x="-7479" y="4982614"/>
              <a:ext cx="261612" cy="1456285"/>
            </a:xfrm>
            <a:prstGeom prst="rect">
              <a:avLst/>
            </a:prstGeom>
            <a:solidFill>
              <a:srgbClr val="26262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2" name="Google Shape;32;p20"/>
            <p:cNvSpPr txBox="1"/>
            <p:nvPr/>
          </p:nvSpPr>
          <p:spPr>
            <a:xfrm rot="-5400000">
              <a:off x="-565323" y="5578170"/>
              <a:ext cx="1377301" cy="2616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1" i="0" lang="en-MY" sz="1100" u="none" cap="none" strike="noStrike">
                  <a:solidFill>
                    <a:srgbClr val="F2F2F2"/>
                  </a:solidFill>
                  <a:latin typeface="Calibri"/>
                  <a:ea typeface="Calibri"/>
                  <a:cs typeface="Calibri"/>
                  <a:sym typeface="Calibri"/>
                </a:rPr>
                <a:t>www.utm.my</a:t>
              </a:r>
              <a:endParaRPr b="1" i="0" sz="1100" u="none" cap="none" strike="noStrike">
                <a:solidFill>
                  <a:schemeClr val="accent4"/>
                </a:solidFill>
                <a:latin typeface="Calibri"/>
                <a:ea typeface="Calibri"/>
                <a:cs typeface="Calibri"/>
                <a:sym typeface="Calibri"/>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3" name="Shape 33"/>
        <p:cNvGrpSpPr/>
        <p:nvPr/>
      </p:nvGrpSpPr>
      <p:grpSpPr>
        <a:xfrm>
          <a:off x="0" y="0"/>
          <a:ext cx="0" cy="0"/>
          <a:chOff x="0" y="0"/>
          <a:chExt cx="0" cy="0"/>
        </a:xfrm>
      </p:grpSpPr>
      <p:pic>
        <p:nvPicPr>
          <p:cNvPr id="34" name="Google Shape;34;p21"/>
          <p:cNvPicPr preferRelativeResize="0"/>
          <p:nvPr/>
        </p:nvPicPr>
        <p:blipFill rotWithShape="1">
          <a:blip r:embed="rId2">
            <a:alphaModFix amt="99000"/>
          </a:blip>
          <a:srcRect b="0" l="0" r="0" t="0"/>
          <a:stretch/>
        </p:blipFill>
        <p:spPr>
          <a:xfrm flipH="1">
            <a:off x="6764" y="1270"/>
            <a:ext cx="12073813" cy="3109189"/>
          </a:xfrm>
          <a:prstGeom prst="rect">
            <a:avLst/>
          </a:prstGeom>
          <a:noFill/>
          <a:ln>
            <a:noFill/>
          </a:ln>
        </p:spPr>
      </p:pic>
      <p:grpSp>
        <p:nvGrpSpPr>
          <p:cNvPr id="35" name="Google Shape;35;p21"/>
          <p:cNvGrpSpPr/>
          <p:nvPr/>
        </p:nvGrpSpPr>
        <p:grpSpPr>
          <a:xfrm>
            <a:off x="0" y="6438899"/>
            <a:ext cx="4425450" cy="419100"/>
            <a:chOff x="0" y="6438899"/>
            <a:chExt cx="4425450" cy="419100"/>
          </a:xfrm>
        </p:grpSpPr>
        <p:sp>
          <p:nvSpPr>
            <p:cNvPr id="36" name="Google Shape;36;p21"/>
            <p:cNvSpPr/>
            <p:nvPr/>
          </p:nvSpPr>
          <p:spPr>
            <a:xfrm>
              <a:off x="0" y="6438900"/>
              <a:ext cx="4115884" cy="419099"/>
            </a:xfrm>
            <a:prstGeom prst="rect">
              <a:avLst/>
            </a:prstGeom>
            <a:solidFill>
              <a:srgbClr val="6C1D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7" name="Google Shape;37;p21"/>
            <p:cNvSpPr/>
            <p:nvPr/>
          </p:nvSpPr>
          <p:spPr>
            <a:xfrm>
              <a:off x="4115884" y="6438899"/>
              <a:ext cx="309566" cy="419100"/>
            </a:xfrm>
            <a:prstGeom prst="rtTriangle">
              <a:avLst/>
            </a:prstGeom>
            <a:solidFill>
              <a:srgbClr val="6C1D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
        <p:nvSpPr>
          <p:cNvPr id="38" name="Google Shape;38;p21"/>
          <p:cNvSpPr txBox="1"/>
          <p:nvPr>
            <p:ph type="title"/>
          </p:nvPr>
        </p:nvSpPr>
        <p:spPr>
          <a:xfrm>
            <a:off x="831850" y="1047751"/>
            <a:ext cx="10515600" cy="1500187"/>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dk1"/>
              </a:buClr>
              <a:buSzPts val="4000"/>
              <a:buFont typeface="Calibri"/>
              <a:buNone/>
              <a:defRPr sz="4000">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1"/>
          <p:cNvSpPr txBox="1"/>
          <p:nvPr>
            <p:ph idx="1" type="body"/>
          </p:nvPr>
        </p:nvSpPr>
        <p:spPr>
          <a:xfrm>
            <a:off x="831850" y="2814638"/>
            <a:ext cx="10515600" cy="3357562"/>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40" name="Google Shape;40;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MY"/>
              <a:t>‹#›</a:t>
            </a:fld>
            <a:endParaRPr/>
          </a:p>
        </p:txBody>
      </p:sp>
      <p:pic>
        <p:nvPicPr>
          <p:cNvPr id="43" name="Google Shape;43;p21"/>
          <p:cNvPicPr preferRelativeResize="0"/>
          <p:nvPr/>
        </p:nvPicPr>
        <p:blipFill rotWithShape="1">
          <a:blip r:embed="rId3">
            <a:alphaModFix/>
          </a:blip>
          <a:srcRect b="0" l="0" r="0" t="0"/>
          <a:stretch/>
        </p:blipFill>
        <p:spPr>
          <a:xfrm>
            <a:off x="10478878" y="283590"/>
            <a:ext cx="1468167" cy="497461"/>
          </a:xfrm>
          <a:prstGeom prst="rect">
            <a:avLst/>
          </a:prstGeom>
          <a:noFill/>
          <a:ln>
            <a:noFill/>
          </a:ln>
        </p:spPr>
      </p:pic>
      <p:grpSp>
        <p:nvGrpSpPr>
          <p:cNvPr id="44" name="Google Shape;44;p21"/>
          <p:cNvGrpSpPr/>
          <p:nvPr/>
        </p:nvGrpSpPr>
        <p:grpSpPr>
          <a:xfrm>
            <a:off x="0" y="0"/>
            <a:ext cx="2135014" cy="390908"/>
            <a:chOff x="0" y="0"/>
            <a:chExt cx="2135014" cy="390908"/>
          </a:xfrm>
        </p:grpSpPr>
        <p:sp>
          <p:nvSpPr>
            <p:cNvPr id="45" name="Google Shape;45;p21"/>
            <p:cNvSpPr/>
            <p:nvPr/>
          </p:nvSpPr>
          <p:spPr>
            <a:xfrm>
              <a:off x="0" y="1"/>
              <a:ext cx="1921715" cy="390907"/>
            </a:xfrm>
            <a:prstGeom prst="rect">
              <a:avLst/>
            </a:prstGeom>
            <a:solidFill>
              <a:srgbClr val="6C1D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6" name="Google Shape;46;p21"/>
            <p:cNvSpPr/>
            <p:nvPr/>
          </p:nvSpPr>
          <p:spPr>
            <a:xfrm flipH="1" rot="10800000">
              <a:off x="1921715" y="0"/>
              <a:ext cx="213299" cy="390907"/>
            </a:xfrm>
            <a:prstGeom prst="rtTriangle">
              <a:avLst/>
            </a:prstGeom>
            <a:solidFill>
              <a:srgbClr val="6C1D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grpSp>
        <p:nvGrpSpPr>
          <p:cNvPr id="47" name="Google Shape;47;p21"/>
          <p:cNvGrpSpPr/>
          <p:nvPr/>
        </p:nvGrpSpPr>
        <p:grpSpPr>
          <a:xfrm>
            <a:off x="11930388" y="4900065"/>
            <a:ext cx="261612" cy="1456285"/>
            <a:chOff x="-7479" y="4982614"/>
            <a:chExt cx="261612" cy="1456285"/>
          </a:xfrm>
        </p:grpSpPr>
        <p:sp>
          <p:nvSpPr>
            <p:cNvPr id="48" name="Google Shape;48;p21"/>
            <p:cNvSpPr/>
            <p:nvPr/>
          </p:nvSpPr>
          <p:spPr>
            <a:xfrm>
              <a:off x="-7479" y="4982614"/>
              <a:ext cx="261612" cy="1456285"/>
            </a:xfrm>
            <a:prstGeom prst="rect">
              <a:avLst/>
            </a:prstGeom>
            <a:solidFill>
              <a:srgbClr val="26262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9" name="Google Shape;49;p21"/>
            <p:cNvSpPr txBox="1"/>
            <p:nvPr/>
          </p:nvSpPr>
          <p:spPr>
            <a:xfrm rot="-5400000">
              <a:off x="-565323" y="5578170"/>
              <a:ext cx="1377301" cy="2616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1" i="0" lang="en-MY" sz="1100" u="none" cap="none" strike="noStrike">
                  <a:solidFill>
                    <a:srgbClr val="F2F2F2"/>
                  </a:solidFill>
                  <a:latin typeface="Calibri"/>
                  <a:ea typeface="Calibri"/>
                  <a:cs typeface="Calibri"/>
                  <a:sym typeface="Calibri"/>
                </a:rPr>
                <a:t>www.utm.my</a:t>
              </a:r>
              <a:endParaRPr b="1" i="0" sz="1100" u="none" cap="none" strike="noStrike">
                <a:solidFill>
                  <a:schemeClr val="accent4"/>
                </a:solidFill>
                <a:latin typeface="Calibri"/>
                <a:ea typeface="Calibri"/>
                <a:cs typeface="Calibri"/>
                <a:sym typeface="Calibri"/>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yout20">
  <p:cSld name="Layout20">
    <p:bg>
      <p:bgPr>
        <a:solidFill>
          <a:srgbClr val="4B473E"/>
        </a:solidFill>
      </p:bgPr>
    </p:bg>
    <p:spTree>
      <p:nvGrpSpPr>
        <p:cNvPr id="50" name="Shape 50"/>
        <p:cNvGrpSpPr/>
        <p:nvPr/>
      </p:nvGrpSpPr>
      <p:grpSpPr>
        <a:xfrm>
          <a:off x="0" y="0"/>
          <a:ext cx="0" cy="0"/>
          <a:chOff x="0" y="0"/>
          <a:chExt cx="0" cy="0"/>
        </a:xfrm>
      </p:grpSpPr>
      <p:sp>
        <p:nvSpPr>
          <p:cNvPr id="51" name="Google Shape;51;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lt1"/>
              </a:buClr>
              <a:buSzPts val="4000"/>
              <a:buFont typeface="Calibri"/>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MY"/>
              <a:t>‹#›</a:t>
            </a:fld>
            <a:endParaRPr/>
          </a:p>
        </p:txBody>
      </p:sp>
      <p:cxnSp>
        <p:nvCxnSpPr>
          <p:cNvPr id="53" name="Google Shape;53;p23"/>
          <p:cNvCxnSpPr/>
          <p:nvPr/>
        </p:nvCxnSpPr>
        <p:spPr>
          <a:xfrm>
            <a:off x="-12700" y="101600"/>
            <a:ext cx="12192000" cy="0"/>
          </a:xfrm>
          <a:prstGeom prst="straightConnector1">
            <a:avLst/>
          </a:prstGeom>
          <a:noFill/>
          <a:ln cap="flat" cmpd="sng" w="9525">
            <a:solidFill>
              <a:schemeClr val="lt1"/>
            </a:solidFill>
            <a:prstDash val="solid"/>
            <a:miter lim="800000"/>
            <a:headEnd len="sm" w="sm" type="none"/>
            <a:tailEnd len="sm" w="sm" type="none"/>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Custom Layout">
  <p:cSld name="2_Custom Layout">
    <p:spTree>
      <p:nvGrpSpPr>
        <p:cNvPr id="54" name="Shape 54"/>
        <p:cNvGrpSpPr/>
        <p:nvPr/>
      </p:nvGrpSpPr>
      <p:grpSpPr>
        <a:xfrm>
          <a:off x="0" y="0"/>
          <a:ext cx="0" cy="0"/>
          <a:chOff x="0" y="0"/>
          <a:chExt cx="0" cy="0"/>
        </a:xfrm>
      </p:grpSpPr>
      <p:pic>
        <p:nvPicPr>
          <p:cNvPr id="55" name="Google Shape;55;p18"/>
          <p:cNvPicPr preferRelativeResize="0"/>
          <p:nvPr/>
        </p:nvPicPr>
        <p:blipFill rotWithShape="1">
          <a:blip r:embed="rId2">
            <a:alphaModFix/>
          </a:blip>
          <a:srcRect b="7973" l="0" r="0" t="26333"/>
          <a:stretch/>
        </p:blipFill>
        <p:spPr>
          <a:xfrm>
            <a:off x="0" y="0"/>
            <a:ext cx="12192000" cy="6858000"/>
          </a:xfrm>
          <a:prstGeom prst="rect">
            <a:avLst/>
          </a:prstGeom>
          <a:noFill/>
          <a:ln>
            <a:noFill/>
          </a:ln>
        </p:spPr>
      </p:pic>
      <p:sp>
        <p:nvSpPr>
          <p:cNvPr id="56" name="Google Shape;56;p18"/>
          <p:cNvSpPr/>
          <p:nvPr/>
        </p:nvSpPr>
        <p:spPr>
          <a:xfrm>
            <a:off x="0" y="1"/>
            <a:ext cx="12192000" cy="6858000"/>
          </a:xfrm>
          <a:prstGeom prst="rect">
            <a:avLst/>
          </a:prstGeom>
          <a:gradFill>
            <a:gsLst>
              <a:gs pos="0">
                <a:srgbClr val="6C1D35">
                  <a:alpha val="67450"/>
                </a:srgbClr>
              </a:gs>
              <a:gs pos="12000">
                <a:srgbClr val="6C1D35">
                  <a:alpha val="67450"/>
                </a:srgbClr>
              </a:gs>
              <a:gs pos="77000">
                <a:srgbClr val="511527"/>
              </a:gs>
              <a:gs pos="100000">
                <a:srgbClr val="511527"/>
              </a:gs>
            </a:gsLst>
            <a:lin ang="13500000" scaled="0"/>
          </a:gradFill>
          <a:ln cap="flat" cmpd="sng" w="12700">
            <a:solidFill>
              <a:srgbClr val="2D0C1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7" name="Google Shape;57;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MY"/>
              <a:t>‹#›</a:t>
            </a:fld>
            <a:endParaRPr/>
          </a:p>
        </p:txBody>
      </p:sp>
      <p:pic>
        <p:nvPicPr>
          <p:cNvPr id="60" name="Google Shape;60;p18"/>
          <p:cNvPicPr preferRelativeResize="0"/>
          <p:nvPr/>
        </p:nvPicPr>
        <p:blipFill rotWithShape="1">
          <a:blip r:embed="rId3">
            <a:alphaModFix/>
          </a:blip>
          <a:srcRect b="0" l="0" r="0" t="0"/>
          <a:stretch/>
        </p:blipFill>
        <p:spPr>
          <a:xfrm flipH="1" rot="10800000">
            <a:off x="7112000" y="-35081"/>
            <a:ext cx="4917440" cy="6921189"/>
          </a:xfrm>
          <a:prstGeom prst="rect">
            <a:avLst/>
          </a:prstGeom>
          <a:noFill/>
          <a:ln>
            <a:noFill/>
          </a:ln>
        </p:spPr>
      </p:pic>
      <p:pic>
        <p:nvPicPr>
          <p:cNvPr id="61" name="Google Shape;61;p18"/>
          <p:cNvPicPr preferRelativeResize="0"/>
          <p:nvPr/>
        </p:nvPicPr>
        <p:blipFill rotWithShape="1">
          <a:blip r:embed="rId3">
            <a:alphaModFix/>
          </a:blip>
          <a:srcRect b="0" l="0" r="0" t="0"/>
          <a:stretch/>
        </p:blipFill>
        <p:spPr>
          <a:xfrm flipH="1" rot="10800000">
            <a:off x="11268262" y="349094"/>
            <a:ext cx="2010036" cy="2829081"/>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2" name="Shape 62"/>
        <p:cNvGrpSpPr/>
        <p:nvPr/>
      </p:nvGrpSpPr>
      <p:grpSpPr>
        <a:xfrm>
          <a:off x="0" y="0"/>
          <a:ext cx="0" cy="0"/>
          <a:chOff x="0" y="0"/>
          <a:chExt cx="0" cy="0"/>
        </a:xfrm>
      </p:grpSpPr>
      <p:pic>
        <p:nvPicPr>
          <p:cNvPr id="63" name="Google Shape;63;p19"/>
          <p:cNvPicPr preferRelativeResize="0"/>
          <p:nvPr/>
        </p:nvPicPr>
        <p:blipFill rotWithShape="1">
          <a:blip r:embed="rId2">
            <a:alphaModFix amt="99000"/>
          </a:blip>
          <a:srcRect b="0" l="0" r="0" t="0"/>
          <a:stretch/>
        </p:blipFill>
        <p:spPr>
          <a:xfrm flipH="1">
            <a:off x="6764" y="1270"/>
            <a:ext cx="12073813" cy="3109189"/>
          </a:xfrm>
          <a:prstGeom prst="rect">
            <a:avLst/>
          </a:prstGeom>
          <a:noFill/>
          <a:ln>
            <a:noFill/>
          </a:ln>
        </p:spPr>
      </p:pic>
      <p:sp>
        <p:nvSpPr>
          <p:cNvPr id="64" name="Google Shape;64;p19"/>
          <p:cNvSpPr txBox="1"/>
          <p:nvPr>
            <p:ph type="ctrTitle"/>
          </p:nvPr>
        </p:nvSpPr>
        <p:spPr>
          <a:xfrm>
            <a:off x="1524000" y="1122363"/>
            <a:ext cx="9144000" cy="1381125"/>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dk1"/>
              </a:buClr>
              <a:buSzPts val="4000"/>
              <a:buFont typeface="Calibri"/>
              <a:buNone/>
              <a:defRPr sz="4000">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19"/>
          <p:cNvSpPr txBox="1"/>
          <p:nvPr>
            <p:ph idx="1" type="subTitle"/>
          </p:nvPr>
        </p:nvSpPr>
        <p:spPr>
          <a:xfrm>
            <a:off x="1524000" y="2601118"/>
            <a:ext cx="9144000" cy="3461751"/>
          </a:xfrm>
          <a:prstGeom prst="rect">
            <a:avLst/>
          </a:prstGeom>
          <a:noFill/>
          <a:ln>
            <a:noFill/>
          </a:ln>
        </p:spPr>
        <p:txBody>
          <a:bodyPr anchorCtr="0" anchor="t" bIns="45700" lIns="91425" spcFirstLastPara="1" rIns="91425" wrap="square" tIns="45700">
            <a:normAutofit/>
          </a:bodyPr>
          <a:lstStyle>
            <a:lvl1pPr lvl="0" algn="l">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66" name="Google Shape;66;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6C1D35"/>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6C1D35"/>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6C1D35"/>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6C1D35"/>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6C1D35"/>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6C1D35"/>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6C1D35"/>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6C1D35"/>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6C1D35"/>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MY"/>
              <a:t>‹#›</a:t>
            </a:fld>
            <a:endParaRPr/>
          </a:p>
        </p:txBody>
      </p:sp>
      <p:pic>
        <p:nvPicPr>
          <p:cNvPr id="69" name="Google Shape;69;p19"/>
          <p:cNvPicPr preferRelativeResize="0"/>
          <p:nvPr/>
        </p:nvPicPr>
        <p:blipFill rotWithShape="1">
          <a:blip r:embed="rId3">
            <a:alphaModFix/>
          </a:blip>
          <a:srcRect b="0" l="0" r="0" t="0"/>
          <a:stretch/>
        </p:blipFill>
        <p:spPr>
          <a:xfrm>
            <a:off x="10478878" y="283590"/>
            <a:ext cx="1468167" cy="497461"/>
          </a:xfrm>
          <a:prstGeom prst="rect">
            <a:avLst/>
          </a:prstGeom>
          <a:noFill/>
          <a:ln>
            <a:noFill/>
          </a:ln>
        </p:spPr>
      </p:pic>
      <p:grpSp>
        <p:nvGrpSpPr>
          <p:cNvPr id="70" name="Google Shape;70;p19"/>
          <p:cNvGrpSpPr/>
          <p:nvPr/>
        </p:nvGrpSpPr>
        <p:grpSpPr>
          <a:xfrm>
            <a:off x="0" y="336866"/>
            <a:ext cx="838200" cy="390908"/>
            <a:chOff x="0" y="585597"/>
            <a:chExt cx="838200" cy="390908"/>
          </a:xfrm>
        </p:grpSpPr>
        <p:sp>
          <p:nvSpPr>
            <p:cNvPr id="71" name="Google Shape;71;p19"/>
            <p:cNvSpPr/>
            <p:nvPr/>
          </p:nvSpPr>
          <p:spPr>
            <a:xfrm>
              <a:off x="0" y="585598"/>
              <a:ext cx="624901" cy="390907"/>
            </a:xfrm>
            <a:prstGeom prst="rect">
              <a:avLst/>
            </a:prstGeom>
            <a:solidFill>
              <a:srgbClr val="6C1D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2" name="Google Shape;72;p19"/>
            <p:cNvSpPr/>
            <p:nvPr/>
          </p:nvSpPr>
          <p:spPr>
            <a:xfrm flipH="1" rot="10800000">
              <a:off x="624901" y="585597"/>
              <a:ext cx="213299" cy="390907"/>
            </a:xfrm>
            <a:prstGeom prst="rtTriangle">
              <a:avLst/>
            </a:prstGeom>
            <a:solidFill>
              <a:srgbClr val="6C1D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grpSp>
        <p:nvGrpSpPr>
          <p:cNvPr id="73" name="Google Shape;73;p19"/>
          <p:cNvGrpSpPr/>
          <p:nvPr/>
        </p:nvGrpSpPr>
        <p:grpSpPr>
          <a:xfrm>
            <a:off x="11930388" y="4900065"/>
            <a:ext cx="261612" cy="1456285"/>
            <a:chOff x="-7479" y="4982614"/>
            <a:chExt cx="261612" cy="1456285"/>
          </a:xfrm>
        </p:grpSpPr>
        <p:sp>
          <p:nvSpPr>
            <p:cNvPr id="74" name="Google Shape;74;p19"/>
            <p:cNvSpPr/>
            <p:nvPr/>
          </p:nvSpPr>
          <p:spPr>
            <a:xfrm>
              <a:off x="-7479" y="4982614"/>
              <a:ext cx="261612" cy="1456285"/>
            </a:xfrm>
            <a:prstGeom prst="rect">
              <a:avLst/>
            </a:prstGeom>
            <a:solidFill>
              <a:srgbClr val="26262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5" name="Google Shape;75;p19"/>
            <p:cNvSpPr txBox="1"/>
            <p:nvPr/>
          </p:nvSpPr>
          <p:spPr>
            <a:xfrm rot="-5400000">
              <a:off x="-565323" y="5578170"/>
              <a:ext cx="1377301" cy="2616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1" i="0" lang="en-MY" sz="1100" u="none" cap="none" strike="noStrike">
                  <a:solidFill>
                    <a:srgbClr val="F2F2F2"/>
                  </a:solidFill>
                  <a:latin typeface="Calibri"/>
                  <a:ea typeface="Calibri"/>
                  <a:cs typeface="Calibri"/>
                  <a:sym typeface="Calibri"/>
                </a:rPr>
                <a:t>www.utm.my</a:t>
              </a:r>
              <a:endParaRPr b="1" i="0" sz="1100" u="none" cap="none" strike="noStrike">
                <a:solidFill>
                  <a:schemeClr val="accent4"/>
                </a:solidFill>
                <a:latin typeface="Calibri"/>
                <a:ea typeface="Calibri"/>
                <a:cs typeface="Calibri"/>
                <a:sym typeface="Calibri"/>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6" name="Shape 76"/>
        <p:cNvGrpSpPr/>
        <p:nvPr/>
      </p:nvGrpSpPr>
      <p:grpSpPr>
        <a:xfrm>
          <a:off x="0" y="0"/>
          <a:ext cx="0" cy="0"/>
          <a:chOff x="0" y="0"/>
          <a:chExt cx="0" cy="0"/>
        </a:xfrm>
      </p:grpSpPr>
      <p:pic>
        <p:nvPicPr>
          <p:cNvPr id="77" name="Google Shape;77;p22"/>
          <p:cNvPicPr preferRelativeResize="0"/>
          <p:nvPr/>
        </p:nvPicPr>
        <p:blipFill rotWithShape="1">
          <a:blip r:embed="rId2">
            <a:alphaModFix/>
          </a:blip>
          <a:srcRect b="0" l="0" r="0" t="0"/>
          <a:stretch/>
        </p:blipFill>
        <p:spPr>
          <a:xfrm flipH="1">
            <a:off x="6765" y="1270"/>
            <a:ext cx="7112053" cy="1831461"/>
          </a:xfrm>
          <a:prstGeom prst="rect">
            <a:avLst/>
          </a:prstGeom>
          <a:noFill/>
          <a:ln>
            <a:noFill/>
          </a:ln>
        </p:spPr>
      </p:pic>
      <p:sp>
        <p:nvSpPr>
          <p:cNvPr id="78" name="Google Shape;78;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MY"/>
              <a:t>‹#›</a:t>
            </a:fld>
            <a:endParaRPr/>
          </a:p>
        </p:txBody>
      </p:sp>
      <p:pic>
        <p:nvPicPr>
          <p:cNvPr id="81" name="Google Shape;81;p22"/>
          <p:cNvPicPr preferRelativeResize="0"/>
          <p:nvPr/>
        </p:nvPicPr>
        <p:blipFill rotWithShape="1">
          <a:blip r:embed="rId3">
            <a:alphaModFix/>
          </a:blip>
          <a:srcRect b="0" l="0" r="0" t="0"/>
          <a:stretch/>
        </p:blipFill>
        <p:spPr>
          <a:xfrm>
            <a:off x="10478878" y="283590"/>
            <a:ext cx="1468167" cy="497461"/>
          </a:xfrm>
          <a:prstGeom prst="rect">
            <a:avLst/>
          </a:prstGeom>
          <a:noFill/>
          <a:ln>
            <a:noFill/>
          </a:ln>
        </p:spPr>
      </p:pic>
      <p:grpSp>
        <p:nvGrpSpPr>
          <p:cNvPr id="82" name="Google Shape;82;p22"/>
          <p:cNvGrpSpPr/>
          <p:nvPr/>
        </p:nvGrpSpPr>
        <p:grpSpPr>
          <a:xfrm>
            <a:off x="11930388" y="4900065"/>
            <a:ext cx="261612" cy="1456285"/>
            <a:chOff x="-7479" y="4982614"/>
            <a:chExt cx="261612" cy="1456285"/>
          </a:xfrm>
        </p:grpSpPr>
        <p:sp>
          <p:nvSpPr>
            <p:cNvPr id="83" name="Google Shape;83;p22"/>
            <p:cNvSpPr/>
            <p:nvPr/>
          </p:nvSpPr>
          <p:spPr>
            <a:xfrm>
              <a:off x="-7479" y="4982614"/>
              <a:ext cx="261612" cy="1456285"/>
            </a:xfrm>
            <a:prstGeom prst="rect">
              <a:avLst/>
            </a:prstGeom>
            <a:solidFill>
              <a:srgbClr val="26262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4" name="Google Shape;84;p22"/>
            <p:cNvSpPr txBox="1"/>
            <p:nvPr/>
          </p:nvSpPr>
          <p:spPr>
            <a:xfrm rot="-5400000">
              <a:off x="-565323" y="5578170"/>
              <a:ext cx="1377301" cy="2616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1" i="0" lang="en-MY" sz="1100" u="none" cap="none" strike="noStrike">
                  <a:solidFill>
                    <a:srgbClr val="F2F2F2"/>
                  </a:solidFill>
                  <a:latin typeface="Calibri"/>
                  <a:ea typeface="Calibri"/>
                  <a:cs typeface="Calibri"/>
                  <a:sym typeface="Calibri"/>
                </a:rPr>
                <a:t>www.utm.my</a:t>
              </a:r>
              <a:endParaRPr b="1" i="0" sz="1100" u="none" cap="none" strike="noStrike">
                <a:solidFill>
                  <a:schemeClr val="accent4"/>
                </a:solidFill>
                <a:latin typeface="Calibri"/>
                <a:ea typeface="Calibri"/>
                <a:cs typeface="Calibri"/>
                <a:sym typeface="Calibri"/>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85" name="Shape 85"/>
        <p:cNvGrpSpPr/>
        <p:nvPr/>
      </p:nvGrpSpPr>
      <p:grpSpPr>
        <a:xfrm>
          <a:off x="0" y="0"/>
          <a:ext cx="0" cy="0"/>
          <a:chOff x="0" y="0"/>
          <a:chExt cx="0" cy="0"/>
        </a:xfrm>
      </p:grpSpPr>
      <p:sp>
        <p:nvSpPr>
          <p:cNvPr id="86" name="Google Shape;86;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7" name="Google Shape;87;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 name="Google Shape;88;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MY"/>
              <a:t>‹#›</a:t>
            </a:fld>
            <a:endParaRPr/>
          </a:p>
        </p:txBody>
      </p:sp>
      <p:grpSp>
        <p:nvGrpSpPr>
          <p:cNvPr id="89" name="Google Shape;89;p25"/>
          <p:cNvGrpSpPr/>
          <p:nvPr/>
        </p:nvGrpSpPr>
        <p:grpSpPr>
          <a:xfrm>
            <a:off x="0" y="0"/>
            <a:ext cx="4736144" cy="7783867"/>
            <a:chOff x="0" y="0"/>
            <a:chExt cx="4736144" cy="7783867"/>
          </a:xfrm>
        </p:grpSpPr>
        <p:pic>
          <p:nvPicPr>
            <p:cNvPr id="90" name="Google Shape;90;p25"/>
            <p:cNvPicPr preferRelativeResize="0"/>
            <p:nvPr/>
          </p:nvPicPr>
          <p:blipFill rotWithShape="1">
            <a:blip r:embed="rId2">
              <a:alphaModFix/>
            </a:blip>
            <a:srcRect b="0" l="0" r="0" t="0"/>
            <a:stretch/>
          </p:blipFill>
          <p:spPr>
            <a:xfrm>
              <a:off x="0" y="0"/>
              <a:ext cx="3118649" cy="4463581"/>
            </a:xfrm>
            <a:prstGeom prst="rect">
              <a:avLst/>
            </a:prstGeom>
            <a:noFill/>
            <a:ln>
              <a:noFill/>
            </a:ln>
          </p:spPr>
        </p:pic>
        <p:sp>
          <p:nvSpPr>
            <p:cNvPr id="91" name="Google Shape;91;p25"/>
            <p:cNvSpPr/>
            <p:nvPr/>
          </p:nvSpPr>
          <p:spPr>
            <a:xfrm rot="8446488">
              <a:off x="1155879" y="3069975"/>
              <a:ext cx="2214654" cy="3120244"/>
            </a:xfrm>
            <a:prstGeom prst="parallelogram">
              <a:avLst>
                <a:gd fmla="val 25000" name="adj"/>
              </a:avLst>
            </a:prstGeom>
            <a:solidFill>
              <a:srgbClr val="F2F2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2" name="Google Shape;92;p25"/>
            <p:cNvSpPr/>
            <p:nvPr/>
          </p:nvSpPr>
          <p:spPr>
            <a:xfrm rot="8446488">
              <a:off x="2539020" y="5497285"/>
              <a:ext cx="1784436" cy="1941063"/>
            </a:xfrm>
            <a:custGeom>
              <a:rect b="b" l="l" r="r" t="t"/>
              <a:pathLst>
                <a:path extrusionOk="0" h="1941063" w="1784436">
                  <a:moveTo>
                    <a:pt x="0" y="1941063"/>
                  </a:moveTo>
                  <a:lnTo>
                    <a:pt x="341522" y="0"/>
                  </a:lnTo>
                  <a:lnTo>
                    <a:pt x="1784436" y="1205605"/>
                  </a:lnTo>
                  <a:lnTo>
                    <a:pt x="1660991" y="1941063"/>
                  </a:lnTo>
                  <a:lnTo>
                    <a:pt x="0" y="1941063"/>
                  </a:lnTo>
                  <a:close/>
                </a:path>
              </a:pathLst>
            </a:custGeom>
            <a:solidFill>
              <a:srgbClr val="F2F2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pic>
        <p:nvPicPr>
          <p:cNvPr id="93" name="Google Shape;93;p25"/>
          <p:cNvPicPr preferRelativeResize="0"/>
          <p:nvPr/>
        </p:nvPicPr>
        <p:blipFill rotWithShape="1">
          <a:blip r:embed="rId3">
            <a:alphaModFix/>
          </a:blip>
          <a:srcRect b="0" l="0" r="0" t="0"/>
          <a:stretch/>
        </p:blipFill>
        <p:spPr>
          <a:xfrm flipH="1">
            <a:off x="2126331" y="-1062392"/>
            <a:ext cx="2405080" cy="3385097"/>
          </a:xfrm>
          <a:prstGeom prst="rect">
            <a:avLst/>
          </a:prstGeom>
          <a:noFill/>
          <a:ln>
            <a:noFill/>
          </a:ln>
        </p:spPr>
      </p:pic>
      <p:pic>
        <p:nvPicPr>
          <p:cNvPr id="94" name="Google Shape;94;p25"/>
          <p:cNvPicPr preferRelativeResize="0"/>
          <p:nvPr/>
        </p:nvPicPr>
        <p:blipFill rotWithShape="1">
          <a:blip r:embed="rId4">
            <a:alphaModFix amt="99000"/>
          </a:blip>
          <a:srcRect b="0" l="0" r="0" t="0"/>
          <a:stretch/>
        </p:blipFill>
        <p:spPr>
          <a:xfrm flipH="1" rot="-5400000">
            <a:off x="-2602281" y="2616106"/>
            <a:ext cx="7046892" cy="1814681"/>
          </a:xfrm>
          <a:prstGeom prst="rect">
            <a:avLst/>
          </a:prstGeom>
          <a:noFill/>
          <a:ln>
            <a:noFill/>
          </a:ln>
        </p:spPr>
      </p:pic>
      <p:pic>
        <p:nvPicPr>
          <p:cNvPr id="95" name="Google Shape;95;p25"/>
          <p:cNvPicPr preferRelativeResize="0"/>
          <p:nvPr/>
        </p:nvPicPr>
        <p:blipFill rotWithShape="1">
          <a:blip r:embed="rId5">
            <a:alphaModFix/>
          </a:blip>
          <a:srcRect b="0" l="0" r="0" t="0"/>
          <a:stretch/>
        </p:blipFill>
        <p:spPr>
          <a:xfrm rot="10800000">
            <a:off x="283211" y="3743462"/>
            <a:ext cx="2080701" cy="2978013"/>
          </a:xfrm>
          <a:prstGeom prst="rect">
            <a:avLst/>
          </a:prstGeom>
          <a:noFill/>
          <a:ln>
            <a:noFill/>
          </a:ln>
        </p:spPr>
      </p:pic>
      <p:pic>
        <p:nvPicPr>
          <p:cNvPr id="96" name="Google Shape;96;p25"/>
          <p:cNvPicPr preferRelativeResize="0"/>
          <p:nvPr/>
        </p:nvPicPr>
        <p:blipFill rotWithShape="1">
          <a:blip r:embed="rId6">
            <a:alphaModFix/>
          </a:blip>
          <a:srcRect b="0" l="0" r="0" t="0"/>
          <a:stretch/>
        </p:blipFill>
        <p:spPr>
          <a:xfrm rot="5400000">
            <a:off x="1830037" y="6046777"/>
            <a:ext cx="419100" cy="790575"/>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 page">
  <p:cSld name="end page">
    <p:spTree>
      <p:nvGrpSpPr>
        <p:cNvPr id="97" name="Shape 97"/>
        <p:cNvGrpSpPr/>
        <p:nvPr/>
      </p:nvGrpSpPr>
      <p:grpSpPr>
        <a:xfrm>
          <a:off x="0" y="0"/>
          <a:ext cx="0" cy="0"/>
          <a:chOff x="0" y="0"/>
          <a:chExt cx="0" cy="0"/>
        </a:xfrm>
      </p:grpSpPr>
      <p:sp>
        <p:nvSpPr>
          <p:cNvPr id="98" name="Google Shape;98;p26"/>
          <p:cNvSpPr/>
          <p:nvPr/>
        </p:nvSpPr>
        <p:spPr>
          <a:xfrm>
            <a:off x="0" y="-2"/>
            <a:ext cx="12230100" cy="6858001"/>
          </a:xfrm>
          <a:prstGeom prst="rect">
            <a:avLst/>
          </a:prstGeom>
          <a:solidFill>
            <a:srgbClr val="6C1D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pic>
        <p:nvPicPr>
          <p:cNvPr id="99" name="Google Shape;99;p26"/>
          <p:cNvPicPr preferRelativeResize="0"/>
          <p:nvPr/>
        </p:nvPicPr>
        <p:blipFill rotWithShape="1">
          <a:blip r:embed="rId2">
            <a:alphaModFix amt="32000"/>
          </a:blip>
          <a:srcRect b="0" l="20647" r="0" t="0"/>
          <a:stretch/>
        </p:blipFill>
        <p:spPr>
          <a:xfrm rot="-5400000">
            <a:off x="2686050" y="-2686050"/>
            <a:ext cx="6858000" cy="12230100"/>
          </a:xfrm>
          <a:prstGeom prst="rect">
            <a:avLst/>
          </a:prstGeom>
          <a:noFill/>
          <a:ln>
            <a:noFill/>
          </a:ln>
        </p:spPr>
      </p:pic>
      <p:sp>
        <p:nvSpPr>
          <p:cNvPr id="100" name="Google Shape;100;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1" name="Google Shape;101;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2" name="Google Shape;102;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MY"/>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03" name="Shape 103"/>
        <p:cNvGrpSpPr/>
        <p:nvPr/>
      </p:nvGrpSpPr>
      <p:grpSpPr>
        <a:xfrm>
          <a:off x="0" y="0"/>
          <a:ext cx="0" cy="0"/>
          <a:chOff x="0" y="0"/>
          <a:chExt cx="0" cy="0"/>
        </a:xfrm>
      </p:grpSpPr>
      <p:pic>
        <p:nvPicPr>
          <p:cNvPr id="104" name="Google Shape;104;p27"/>
          <p:cNvPicPr preferRelativeResize="0"/>
          <p:nvPr/>
        </p:nvPicPr>
        <p:blipFill rotWithShape="1">
          <a:blip r:embed="rId2">
            <a:alphaModFix/>
          </a:blip>
          <a:srcRect b="0" l="0" r="0" t="0"/>
          <a:stretch/>
        </p:blipFill>
        <p:spPr>
          <a:xfrm flipH="1">
            <a:off x="6765" y="1270"/>
            <a:ext cx="7112053" cy="1831461"/>
          </a:xfrm>
          <a:prstGeom prst="rect">
            <a:avLst/>
          </a:prstGeom>
          <a:noFill/>
          <a:ln>
            <a:noFill/>
          </a:ln>
        </p:spPr>
      </p:pic>
      <p:sp>
        <p:nvSpPr>
          <p:cNvPr id="105" name="Google Shape;105;p27"/>
          <p:cNvSpPr/>
          <p:nvPr/>
        </p:nvSpPr>
        <p:spPr>
          <a:xfrm>
            <a:off x="-38100" y="1690688"/>
            <a:ext cx="12230100" cy="5167312"/>
          </a:xfrm>
          <a:prstGeom prst="rect">
            <a:avLst/>
          </a:prstGeom>
          <a:solidFill>
            <a:srgbClr val="6C1D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06" name="Google Shape;106;p2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4000"/>
              <a:buFont typeface="Calibri"/>
              <a:buNone/>
              <a:defRPr sz="4000">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7" name="Google Shape;107;p27"/>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8" name="Google Shape;108;p27"/>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9" name="Google Shape;109;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0" name="Google Shape;110;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1" name="Google Shape;111;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MY"/>
              <a:t>‹#›</a:t>
            </a:fld>
            <a:endParaRPr/>
          </a:p>
        </p:txBody>
      </p:sp>
      <p:pic>
        <p:nvPicPr>
          <p:cNvPr id="112" name="Google Shape;112;p27"/>
          <p:cNvPicPr preferRelativeResize="0"/>
          <p:nvPr/>
        </p:nvPicPr>
        <p:blipFill rotWithShape="1">
          <a:blip r:embed="rId3">
            <a:alphaModFix/>
          </a:blip>
          <a:srcRect b="0" l="0" r="0" t="0"/>
          <a:stretch/>
        </p:blipFill>
        <p:spPr>
          <a:xfrm>
            <a:off x="10478878" y="283590"/>
            <a:ext cx="1468167" cy="497461"/>
          </a:xfrm>
          <a:prstGeom prst="rect">
            <a:avLst/>
          </a:prstGeom>
          <a:noFill/>
          <a:ln>
            <a:noFill/>
          </a:ln>
        </p:spPr>
      </p:pic>
      <p:grpSp>
        <p:nvGrpSpPr>
          <p:cNvPr id="113" name="Google Shape;113;p27"/>
          <p:cNvGrpSpPr/>
          <p:nvPr/>
        </p:nvGrpSpPr>
        <p:grpSpPr>
          <a:xfrm>
            <a:off x="11930388" y="4900065"/>
            <a:ext cx="261612" cy="1456285"/>
            <a:chOff x="-7479" y="4982614"/>
            <a:chExt cx="261612" cy="1456285"/>
          </a:xfrm>
        </p:grpSpPr>
        <p:sp>
          <p:nvSpPr>
            <p:cNvPr id="114" name="Google Shape;114;p27"/>
            <p:cNvSpPr/>
            <p:nvPr/>
          </p:nvSpPr>
          <p:spPr>
            <a:xfrm>
              <a:off x="-7479" y="4982614"/>
              <a:ext cx="261612" cy="1456285"/>
            </a:xfrm>
            <a:prstGeom prst="rect">
              <a:avLst/>
            </a:prstGeom>
            <a:solidFill>
              <a:srgbClr val="26262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5" name="Google Shape;115;p27"/>
            <p:cNvSpPr txBox="1"/>
            <p:nvPr/>
          </p:nvSpPr>
          <p:spPr>
            <a:xfrm rot="-5400000">
              <a:off x="-565323" y="5578170"/>
              <a:ext cx="1377301" cy="2616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1" i="0" lang="en-MY" sz="1100" u="none" cap="none" strike="noStrike">
                  <a:solidFill>
                    <a:srgbClr val="F2F2F2"/>
                  </a:solidFill>
                  <a:latin typeface="Calibri"/>
                  <a:ea typeface="Calibri"/>
                  <a:cs typeface="Calibri"/>
                  <a:sym typeface="Calibri"/>
                </a:rPr>
                <a:t>www.utm.my</a:t>
              </a:r>
              <a:endParaRPr b="1" i="0" sz="1100" u="none" cap="none" strike="noStrike">
                <a:solidFill>
                  <a:schemeClr val="accent4"/>
                </a:solidFill>
                <a:latin typeface="Calibri"/>
                <a:ea typeface="Calibri"/>
                <a:cs typeface="Calibri"/>
                <a:sym typeface="Calibri"/>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16" name="Shape 116"/>
        <p:cNvGrpSpPr/>
        <p:nvPr/>
      </p:nvGrpSpPr>
      <p:grpSpPr>
        <a:xfrm>
          <a:off x="0" y="0"/>
          <a:ext cx="0" cy="0"/>
          <a:chOff x="0" y="0"/>
          <a:chExt cx="0" cy="0"/>
        </a:xfrm>
      </p:grpSpPr>
      <p:pic>
        <p:nvPicPr>
          <p:cNvPr id="117" name="Google Shape;117;p28"/>
          <p:cNvPicPr preferRelativeResize="0"/>
          <p:nvPr/>
        </p:nvPicPr>
        <p:blipFill rotWithShape="1">
          <a:blip r:embed="rId2">
            <a:alphaModFix amt="99000"/>
          </a:blip>
          <a:srcRect b="0" l="0" r="0" t="0"/>
          <a:stretch/>
        </p:blipFill>
        <p:spPr>
          <a:xfrm flipH="1">
            <a:off x="6764" y="1270"/>
            <a:ext cx="12073813" cy="3109189"/>
          </a:xfrm>
          <a:prstGeom prst="rect">
            <a:avLst/>
          </a:prstGeom>
          <a:noFill/>
          <a:ln>
            <a:noFill/>
          </a:ln>
        </p:spPr>
      </p:pic>
      <p:sp>
        <p:nvSpPr>
          <p:cNvPr id="118" name="Google Shape;118;p28"/>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9" name="Google Shape;119;p28"/>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20" name="Google Shape;120;p28"/>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1" name="Google Shape;121;p28"/>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22" name="Google Shape;122;p28"/>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3" name="Google Shape;123;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4" name="Google Shape;124;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5" name="Google Shape;125;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MY"/>
              <a:t>‹#›</a:t>
            </a:fld>
            <a:endParaRPr/>
          </a:p>
        </p:txBody>
      </p:sp>
      <p:pic>
        <p:nvPicPr>
          <p:cNvPr id="126" name="Google Shape;126;p28"/>
          <p:cNvPicPr preferRelativeResize="0"/>
          <p:nvPr/>
        </p:nvPicPr>
        <p:blipFill rotWithShape="1">
          <a:blip r:embed="rId3">
            <a:alphaModFix/>
          </a:blip>
          <a:srcRect b="0" l="0" r="0" t="0"/>
          <a:stretch/>
        </p:blipFill>
        <p:spPr>
          <a:xfrm>
            <a:off x="10478878" y="283590"/>
            <a:ext cx="1468167" cy="497461"/>
          </a:xfrm>
          <a:prstGeom prst="rect">
            <a:avLst/>
          </a:prstGeom>
          <a:noFill/>
          <a:ln>
            <a:noFill/>
          </a:ln>
        </p:spPr>
      </p:pic>
      <p:sp>
        <p:nvSpPr>
          <p:cNvPr id="127" name="Google Shape;127;p28"/>
          <p:cNvSpPr/>
          <p:nvPr/>
        </p:nvSpPr>
        <p:spPr>
          <a:xfrm>
            <a:off x="6764" y="342265"/>
            <a:ext cx="10269639" cy="45719"/>
          </a:xfrm>
          <a:prstGeom prst="rect">
            <a:avLst/>
          </a:prstGeom>
          <a:solidFill>
            <a:srgbClr val="6C1D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nvGrpSpPr>
          <p:cNvPr id="128" name="Google Shape;128;p28"/>
          <p:cNvGrpSpPr/>
          <p:nvPr/>
        </p:nvGrpSpPr>
        <p:grpSpPr>
          <a:xfrm>
            <a:off x="11930388" y="4900065"/>
            <a:ext cx="261612" cy="1456285"/>
            <a:chOff x="-7479" y="4982614"/>
            <a:chExt cx="261612" cy="1456285"/>
          </a:xfrm>
        </p:grpSpPr>
        <p:sp>
          <p:nvSpPr>
            <p:cNvPr id="129" name="Google Shape;129;p28"/>
            <p:cNvSpPr/>
            <p:nvPr/>
          </p:nvSpPr>
          <p:spPr>
            <a:xfrm>
              <a:off x="-7479" y="4982614"/>
              <a:ext cx="261612" cy="1456285"/>
            </a:xfrm>
            <a:prstGeom prst="rect">
              <a:avLst/>
            </a:prstGeom>
            <a:solidFill>
              <a:srgbClr val="26262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30" name="Google Shape;130;p28"/>
            <p:cNvSpPr txBox="1"/>
            <p:nvPr/>
          </p:nvSpPr>
          <p:spPr>
            <a:xfrm rot="-5400000">
              <a:off x="-565323" y="5578170"/>
              <a:ext cx="1377301" cy="2616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1" i="0" lang="en-MY" sz="1100" u="none" cap="none" strike="noStrike">
                  <a:solidFill>
                    <a:srgbClr val="F2F2F2"/>
                  </a:solidFill>
                  <a:latin typeface="Calibri"/>
                  <a:ea typeface="Calibri"/>
                  <a:cs typeface="Calibri"/>
                  <a:sym typeface="Calibri"/>
                </a:rPr>
                <a:t>www.utm.my</a:t>
              </a:r>
              <a:endParaRPr b="1" i="0" sz="1100" u="none" cap="none" strike="noStrike">
                <a:solidFill>
                  <a:schemeClr val="accent4"/>
                </a:solidFill>
                <a:latin typeface="Calibri"/>
                <a:ea typeface="Calibri"/>
                <a:cs typeface="Calibri"/>
                <a:sym typeface="Calibri"/>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31" name="Shape 131"/>
        <p:cNvGrpSpPr/>
        <p:nvPr/>
      </p:nvGrpSpPr>
      <p:grpSpPr>
        <a:xfrm>
          <a:off x="0" y="0"/>
          <a:ext cx="0" cy="0"/>
          <a:chOff x="0" y="0"/>
          <a:chExt cx="0" cy="0"/>
        </a:xfrm>
      </p:grpSpPr>
      <p:pic>
        <p:nvPicPr>
          <p:cNvPr id="132" name="Google Shape;132;p29"/>
          <p:cNvPicPr preferRelativeResize="0"/>
          <p:nvPr/>
        </p:nvPicPr>
        <p:blipFill rotWithShape="1">
          <a:blip r:embed="rId2">
            <a:alphaModFix amt="99000"/>
          </a:blip>
          <a:srcRect b="0" l="0" r="0" t="0"/>
          <a:stretch/>
        </p:blipFill>
        <p:spPr>
          <a:xfrm flipH="1">
            <a:off x="6764" y="1270"/>
            <a:ext cx="12073813" cy="3109189"/>
          </a:xfrm>
          <a:prstGeom prst="rect">
            <a:avLst/>
          </a:prstGeom>
          <a:noFill/>
          <a:ln>
            <a:noFill/>
          </a:ln>
        </p:spPr>
      </p:pic>
      <p:grpSp>
        <p:nvGrpSpPr>
          <p:cNvPr id="133" name="Google Shape;133;p29"/>
          <p:cNvGrpSpPr/>
          <p:nvPr/>
        </p:nvGrpSpPr>
        <p:grpSpPr>
          <a:xfrm flipH="1">
            <a:off x="8896479" y="6438899"/>
            <a:ext cx="3295521" cy="419101"/>
            <a:chOff x="0" y="6438899"/>
            <a:chExt cx="4425450" cy="419100"/>
          </a:xfrm>
        </p:grpSpPr>
        <p:sp>
          <p:nvSpPr>
            <p:cNvPr id="134" name="Google Shape;134;p29"/>
            <p:cNvSpPr/>
            <p:nvPr/>
          </p:nvSpPr>
          <p:spPr>
            <a:xfrm>
              <a:off x="0" y="6438900"/>
              <a:ext cx="4115884" cy="419099"/>
            </a:xfrm>
            <a:prstGeom prst="rect">
              <a:avLst/>
            </a:prstGeom>
            <a:solidFill>
              <a:srgbClr val="6C1D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35" name="Google Shape;135;p29"/>
            <p:cNvSpPr/>
            <p:nvPr/>
          </p:nvSpPr>
          <p:spPr>
            <a:xfrm>
              <a:off x="4115884" y="6438899"/>
              <a:ext cx="309566" cy="419100"/>
            </a:xfrm>
            <a:prstGeom prst="rtTriangle">
              <a:avLst/>
            </a:prstGeom>
            <a:solidFill>
              <a:srgbClr val="6C1D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
        <p:nvSpPr>
          <p:cNvPr id="136" name="Google Shape;136;p29"/>
          <p:cNvSpPr txBox="1"/>
          <p:nvPr>
            <p:ph type="title"/>
          </p:nvPr>
        </p:nvSpPr>
        <p:spPr>
          <a:xfrm>
            <a:off x="1364974" y="2766218"/>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4000"/>
              <a:buFont typeface="Calibri"/>
              <a:buNone/>
              <a:defRPr>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7" name="Google Shape;137;p2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8" name="Google Shape;138;p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9" name="Google Shape;139;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MY"/>
              <a:t>‹#›</a:t>
            </a:fld>
            <a:endParaRPr/>
          </a:p>
        </p:txBody>
      </p:sp>
      <p:pic>
        <p:nvPicPr>
          <p:cNvPr id="140" name="Google Shape;140;p29"/>
          <p:cNvPicPr preferRelativeResize="0"/>
          <p:nvPr/>
        </p:nvPicPr>
        <p:blipFill rotWithShape="1">
          <a:blip r:embed="rId3">
            <a:alphaModFix/>
          </a:blip>
          <a:srcRect b="0" l="0" r="0" t="0"/>
          <a:stretch/>
        </p:blipFill>
        <p:spPr>
          <a:xfrm>
            <a:off x="10478878" y="283590"/>
            <a:ext cx="1468167" cy="497461"/>
          </a:xfrm>
          <a:prstGeom prst="rect">
            <a:avLst/>
          </a:prstGeom>
          <a:noFill/>
          <a:ln>
            <a:noFill/>
          </a:ln>
        </p:spPr>
      </p:pic>
      <p:grpSp>
        <p:nvGrpSpPr>
          <p:cNvPr id="141" name="Google Shape;141;p29"/>
          <p:cNvGrpSpPr/>
          <p:nvPr/>
        </p:nvGrpSpPr>
        <p:grpSpPr>
          <a:xfrm>
            <a:off x="11930388" y="4900065"/>
            <a:ext cx="261612" cy="1456285"/>
            <a:chOff x="-7479" y="4982614"/>
            <a:chExt cx="261612" cy="1456285"/>
          </a:xfrm>
        </p:grpSpPr>
        <p:sp>
          <p:nvSpPr>
            <p:cNvPr id="142" name="Google Shape;142;p29"/>
            <p:cNvSpPr/>
            <p:nvPr/>
          </p:nvSpPr>
          <p:spPr>
            <a:xfrm>
              <a:off x="-7479" y="4982614"/>
              <a:ext cx="261612" cy="1456285"/>
            </a:xfrm>
            <a:prstGeom prst="rect">
              <a:avLst/>
            </a:prstGeom>
            <a:solidFill>
              <a:srgbClr val="26262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43" name="Google Shape;143;p29"/>
            <p:cNvSpPr txBox="1"/>
            <p:nvPr/>
          </p:nvSpPr>
          <p:spPr>
            <a:xfrm rot="-5400000">
              <a:off x="-565323" y="5578170"/>
              <a:ext cx="1377301" cy="2616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1" i="0" lang="en-MY" sz="1100" u="none" cap="none" strike="noStrike">
                  <a:solidFill>
                    <a:srgbClr val="F2F2F2"/>
                  </a:solidFill>
                  <a:latin typeface="Calibri"/>
                  <a:ea typeface="Calibri"/>
                  <a:cs typeface="Calibri"/>
                  <a:sym typeface="Calibri"/>
                </a:rPr>
                <a:t>www.utm.my</a:t>
              </a:r>
              <a:endParaRPr b="1" i="0" sz="1100" u="none" cap="none" strike="noStrike">
                <a:solidFill>
                  <a:schemeClr val="accent4"/>
                </a:solidFill>
                <a:latin typeface="Calibri"/>
                <a:ea typeface="Calibri"/>
                <a:cs typeface="Calibri"/>
                <a:sym typeface="Calibri"/>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44" name="Shape 144"/>
        <p:cNvGrpSpPr/>
        <p:nvPr/>
      </p:nvGrpSpPr>
      <p:grpSpPr>
        <a:xfrm>
          <a:off x="0" y="0"/>
          <a:ext cx="0" cy="0"/>
          <a:chOff x="0" y="0"/>
          <a:chExt cx="0" cy="0"/>
        </a:xfrm>
      </p:grpSpPr>
      <p:pic>
        <p:nvPicPr>
          <p:cNvPr id="145" name="Google Shape;145;p30"/>
          <p:cNvPicPr preferRelativeResize="0"/>
          <p:nvPr/>
        </p:nvPicPr>
        <p:blipFill rotWithShape="1">
          <a:blip r:embed="rId2">
            <a:alphaModFix/>
          </a:blip>
          <a:srcRect b="0" l="0" r="0" t="0"/>
          <a:stretch/>
        </p:blipFill>
        <p:spPr>
          <a:xfrm flipH="1">
            <a:off x="4713261" y="1270"/>
            <a:ext cx="7112053" cy="1831461"/>
          </a:xfrm>
          <a:prstGeom prst="rect">
            <a:avLst/>
          </a:prstGeom>
          <a:noFill/>
          <a:ln>
            <a:noFill/>
          </a:ln>
        </p:spPr>
      </p:pic>
      <p:sp>
        <p:nvSpPr>
          <p:cNvPr id="146" name="Google Shape;146;p30"/>
          <p:cNvSpPr/>
          <p:nvPr/>
        </p:nvSpPr>
        <p:spPr>
          <a:xfrm>
            <a:off x="-38099" y="0"/>
            <a:ext cx="4764088" cy="6858000"/>
          </a:xfrm>
          <a:prstGeom prst="rect">
            <a:avLst/>
          </a:prstGeom>
          <a:solidFill>
            <a:srgbClr val="6C1D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47" name="Google Shape;147;p30"/>
          <p:cNvSpPr txBox="1"/>
          <p:nvPr>
            <p:ph type="title"/>
          </p:nvPr>
        </p:nvSpPr>
        <p:spPr>
          <a:xfrm>
            <a:off x="839788" y="457200"/>
            <a:ext cx="3771969"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800"/>
              <a:buFont typeface="Calibri"/>
              <a:buNone/>
              <a:defRPr sz="2800">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8" name="Google Shape;148;p30"/>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149" name="Google Shape;149;p30"/>
          <p:cNvSpPr txBox="1"/>
          <p:nvPr>
            <p:ph idx="2" type="body"/>
          </p:nvPr>
        </p:nvSpPr>
        <p:spPr>
          <a:xfrm>
            <a:off x="839788" y="2057400"/>
            <a:ext cx="3771969"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50" name="Google Shape;150;p3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1" name="Google Shape;151;p3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2" name="Google Shape;152;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MY"/>
              <a:t>‹#›</a:t>
            </a:fld>
            <a:endParaRPr/>
          </a:p>
        </p:txBody>
      </p:sp>
      <p:pic>
        <p:nvPicPr>
          <p:cNvPr id="153" name="Google Shape;153;p30"/>
          <p:cNvPicPr preferRelativeResize="0"/>
          <p:nvPr/>
        </p:nvPicPr>
        <p:blipFill rotWithShape="1">
          <a:blip r:embed="rId3">
            <a:alphaModFix/>
          </a:blip>
          <a:srcRect b="0" l="0" r="0" t="0"/>
          <a:stretch/>
        </p:blipFill>
        <p:spPr>
          <a:xfrm>
            <a:off x="10478878" y="283590"/>
            <a:ext cx="1468167" cy="497461"/>
          </a:xfrm>
          <a:prstGeom prst="rect">
            <a:avLst/>
          </a:prstGeom>
          <a:noFill/>
          <a:ln>
            <a:noFill/>
          </a:ln>
        </p:spPr>
      </p:pic>
      <p:sp>
        <p:nvSpPr>
          <p:cNvPr id="154" name="Google Shape;154;p30"/>
          <p:cNvSpPr/>
          <p:nvPr/>
        </p:nvSpPr>
        <p:spPr>
          <a:xfrm rot="5400000">
            <a:off x="1324286" y="3399184"/>
            <a:ext cx="6858000" cy="59635"/>
          </a:xfrm>
          <a:prstGeom prst="rect">
            <a:avLst/>
          </a:prstGeom>
          <a:solidFill>
            <a:srgbClr val="D8D8D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nvGrpSpPr>
          <p:cNvPr id="155" name="Google Shape;155;p30"/>
          <p:cNvGrpSpPr/>
          <p:nvPr/>
        </p:nvGrpSpPr>
        <p:grpSpPr>
          <a:xfrm>
            <a:off x="11930388" y="4900065"/>
            <a:ext cx="261612" cy="1456285"/>
            <a:chOff x="-7479" y="4982614"/>
            <a:chExt cx="261612" cy="1456285"/>
          </a:xfrm>
        </p:grpSpPr>
        <p:sp>
          <p:nvSpPr>
            <p:cNvPr id="156" name="Google Shape;156;p30"/>
            <p:cNvSpPr/>
            <p:nvPr/>
          </p:nvSpPr>
          <p:spPr>
            <a:xfrm>
              <a:off x="-7479" y="4982614"/>
              <a:ext cx="261612" cy="1456285"/>
            </a:xfrm>
            <a:prstGeom prst="rect">
              <a:avLst/>
            </a:prstGeom>
            <a:solidFill>
              <a:srgbClr val="26262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57" name="Google Shape;157;p30"/>
            <p:cNvSpPr txBox="1"/>
            <p:nvPr/>
          </p:nvSpPr>
          <p:spPr>
            <a:xfrm rot="-5400000">
              <a:off x="-565323" y="5578170"/>
              <a:ext cx="1377301" cy="2616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1" i="0" lang="en-MY" sz="1100" u="none" cap="none" strike="noStrike">
                  <a:solidFill>
                    <a:srgbClr val="F2F2F2"/>
                  </a:solidFill>
                  <a:latin typeface="Calibri"/>
                  <a:ea typeface="Calibri"/>
                  <a:cs typeface="Calibri"/>
                  <a:sym typeface="Calibri"/>
                </a:rPr>
                <a:t>www.utm.my</a:t>
              </a:r>
              <a:endParaRPr b="1" i="0" sz="1100" u="none" cap="none" strike="noStrike">
                <a:solidFill>
                  <a:schemeClr val="accent4"/>
                </a:solidFill>
                <a:latin typeface="Calibri"/>
                <a:ea typeface="Calibri"/>
                <a:cs typeface="Calibri"/>
                <a:sym typeface="Calibri"/>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color">
  <p:cSld name="Blank-color">
    <p:spTree>
      <p:nvGrpSpPr>
        <p:cNvPr id="158" name="Shape 158"/>
        <p:cNvGrpSpPr/>
        <p:nvPr/>
      </p:nvGrpSpPr>
      <p:grpSpPr>
        <a:xfrm>
          <a:off x="0" y="0"/>
          <a:ext cx="0" cy="0"/>
          <a:chOff x="0" y="0"/>
          <a:chExt cx="0" cy="0"/>
        </a:xfrm>
      </p:grpSpPr>
      <p:sp>
        <p:nvSpPr>
          <p:cNvPr id="159" name="Google Shape;159;p31"/>
          <p:cNvSpPr/>
          <p:nvPr/>
        </p:nvSpPr>
        <p:spPr>
          <a:xfrm>
            <a:off x="-38100" y="0"/>
            <a:ext cx="12230100" cy="6858000"/>
          </a:xfrm>
          <a:prstGeom prst="rect">
            <a:avLst/>
          </a:prstGeom>
          <a:solidFill>
            <a:srgbClr val="6C1D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nvGrpSpPr>
          <p:cNvPr id="160" name="Google Shape;160;p31"/>
          <p:cNvGrpSpPr/>
          <p:nvPr/>
        </p:nvGrpSpPr>
        <p:grpSpPr>
          <a:xfrm>
            <a:off x="7180119" y="6473574"/>
            <a:ext cx="5011881" cy="390911"/>
            <a:chOff x="7180118" y="6489891"/>
            <a:chExt cx="5011881" cy="390911"/>
          </a:xfrm>
        </p:grpSpPr>
        <p:sp>
          <p:nvSpPr>
            <p:cNvPr id="161" name="Google Shape;161;p31"/>
            <p:cNvSpPr/>
            <p:nvPr/>
          </p:nvSpPr>
          <p:spPr>
            <a:xfrm rot="10800000">
              <a:off x="7393415" y="6489891"/>
              <a:ext cx="4798584" cy="390907"/>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62" name="Google Shape;162;p31"/>
            <p:cNvSpPr/>
            <p:nvPr/>
          </p:nvSpPr>
          <p:spPr>
            <a:xfrm flipH="1">
              <a:off x="7180118" y="6489895"/>
              <a:ext cx="213299" cy="390907"/>
            </a:xfrm>
            <a:prstGeom prst="rtTriangl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pic>
        <p:nvPicPr>
          <p:cNvPr id="163" name="Google Shape;163;p31"/>
          <p:cNvPicPr preferRelativeResize="0"/>
          <p:nvPr/>
        </p:nvPicPr>
        <p:blipFill rotWithShape="1">
          <a:blip r:embed="rId2">
            <a:alphaModFix/>
          </a:blip>
          <a:srcRect b="0" l="0" r="0" t="0"/>
          <a:stretch/>
        </p:blipFill>
        <p:spPr>
          <a:xfrm>
            <a:off x="10476220" y="283589"/>
            <a:ext cx="1470825" cy="497461"/>
          </a:xfrm>
          <a:prstGeom prst="rect">
            <a:avLst/>
          </a:prstGeom>
          <a:noFill/>
          <a:ln>
            <a:noFill/>
          </a:ln>
        </p:spPr>
      </p:pic>
      <p:sp>
        <p:nvSpPr>
          <p:cNvPr id="164" name="Google Shape;164;p3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5" name="Google Shape;165;p3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6" name="Google Shape;166;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MY"/>
              <a:t>‹#›</a:t>
            </a:fld>
            <a:endParaRPr/>
          </a:p>
        </p:txBody>
      </p:sp>
      <p:grpSp>
        <p:nvGrpSpPr>
          <p:cNvPr id="167" name="Google Shape;167;p31"/>
          <p:cNvGrpSpPr/>
          <p:nvPr/>
        </p:nvGrpSpPr>
        <p:grpSpPr>
          <a:xfrm>
            <a:off x="-58882" y="0"/>
            <a:ext cx="2130820" cy="390908"/>
            <a:chOff x="-58882" y="0"/>
            <a:chExt cx="2130820" cy="390908"/>
          </a:xfrm>
        </p:grpSpPr>
        <p:sp>
          <p:nvSpPr>
            <p:cNvPr id="168" name="Google Shape;168;p31"/>
            <p:cNvSpPr/>
            <p:nvPr/>
          </p:nvSpPr>
          <p:spPr>
            <a:xfrm>
              <a:off x="-58882" y="1"/>
              <a:ext cx="1921715" cy="390907"/>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69" name="Google Shape;169;p31"/>
            <p:cNvSpPr/>
            <p:nvPr/>
          </p:nvSpPr>
          <p:spPr>
            <a:xfrm flipH="1" rot="10800000">
              <a:off x="1858639" y="0"/>
              <a:ext cx="213299" cy="390907"/>
            </a:xfrm>
            <a:prstGeom prst="rtTriangl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grpSp>
        <p:nvGrpSpPr>
          <p:cNvPr id="170" name="Google Shape;170;p31"/>
          <p:cNvGrpSpPr/>
          <p:nvPr/>
        </p:nvGrpSpPr>
        <p:grpSpPr>
          <a:xfrm>
            <a:off x="11930388" y="4900065"/>
            <a:ext cx="261612" cy="1456285"/>
            <a:chOff x="-7479" y="4982614"/>
            <a:chExt cx="261612" cy="1456285"/>
          </a:xfrm>
        </p:grpSpPr>
        <p:sp>
          <p:nvSpPr>
            <p:cNvPr id="171" name="Google Shape;171;p31"/>
            <p:cNvSpPr/>
            <p:nvPr/>
          </p:nvSpPr>
          <p:spPr>
            <a:xfrm>
              <a:off x="-7479" y="4982614"/>
              <a:ext cx="261612" cy="1456285"/>
            </a:xfrm>
            <a:prstGeom prst="rect">
              <a:avLst/>
            </a:prstGeom>
            <a:solidFill>
              <a:srgbClr val="26262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72" name="Google Shape;172;p31"/>
            <p:cNvSpPr txBox="1"/>
            <p:nvPr/>
          </p:nvSpPr>
          <p:spPr>
            <a:xfrm rot="-5400000">
              <a:off x="-565323" y="5578170"/>
              <a:ext cx="1377301" cy="2616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1" i="0" lang="en-MY" sz="1100" u="none" cap="none" strike="noStrike">
                  <a:solidFill>
                    <a:srgbClr val="F2F2F2"/>
                  </a:solidFill>
                  <a:latin typeface="Calibri"/>
                  <a:ea typeface="Calibri"/>
                  <a:cs typeface="Calibri"/>
                  <a:sym typeface="Calibri"/>
                </a:rPr>
                <a:t>www.utm.my</a:t>
              </a:r>
              <a:endParaRPr b="1" i="0" sz="1100" u="none" cap="none" strike="noStrike">
                <a:solidFill>
                  <a:schemeClr val="accent4"/>
                </a:solidFill>
                <a:latin typeface="Calibri"/>
                <a:ea typeface="Calibri"/>
                <a:cs typeface="Calibri"/>
                <a:sym typeface="Calibri"/>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p:cSld name="Picture with Caption">
    <p:spTree>
      <p:nvGrpSpPr>
        <p:cNvPr id="173" name="Shape 173"/>
        <p:cNvGrpSpPr/>
        <p:nvPr/>
      </p:nvGrpSpPr>
      <p:grpSpPr>
        <a:xfrm>
          <a:off x="0" y="0"/>
          <a:ext cx="0" cy="0"/>
          <a:chOff x="0" y="0"/>
          <a:chExt cx="0" cy="0"/>
        </a:xfrm>
      </p:grpSpPr>
      <p:pic>
        <p:nvPicPr>
          <p:cNvPr id="174" name="Google Shape;174;p32"/>
          <p:cNvPicPr preferRelativeResize="0"/>
          <p:nvPr/>
        </p:nvPicPr>
        <p:blipFill rotWithShape="1">
          <a:blip r:embed="rId2">
            <a:alphaModFix/>
          </a:blip>
          <a:srcRect b="0" l="0" r="0" t="0"/>
          <a:stretch/>
        </p:blipFill>
        <p:spPr>
          <a:xfrm flipH="1">
            <a:off x="6765" y="1270"/>
            <a:ext cx="7112053" cy="1831461"/>
          </a:xfrm>
          <a:prstGeom prst="rect">
            <a:avLst/>
          </a:prstGeom>
          <a:noFill/>
          <a:ln>
            <a:noFill/>
          </a:ln>
        </p:spPr>
      </p:pic>
      <p:sp>
        <p:nvSpPr>
          <p:cNvPr id="175" name="Google Shape;175;p3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6" name="Google Shape;176;p3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7" name="Google Shape;177;p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MY"/>
              <a:t>‹#›</a:t>
            </a:fld>
            <a:endParaRPr/>
          </a:p>
        </p:txBody>
      </p:sp>
      <p:pic>
        <p:nvPicPr>
          <p:cNvPr id="178" name="Google Shape;178;p32"/>
          <p:cNvPicPr preferRelativeResize="0"/>
          <p:nvPr/>
        </p:nvPicPr>
        <p:blipFill rotWithShape="1">
          <a:blip r:embed="rId3">
            <a:alphaModFix/>
          </a:blip>
          <a:srcRect b="0" l="0" r="0" t="0"/>
          <a:stretch/>
        </p:blipFill>
        <p:spPr>
          <a:xfrm>
            <a:off x="10478878" y="283590"/>
            <a:ext cx="1468167" cy="497461"/>
          </a:xfrm>
          <a:prstGeom prst="rect">
            <a:avLst/>
          </a:prstGeom>
          <a:noFill/>
          <a:ln>
            <a:noFill/>
          </a:ln>
        </p:spPr>
      </p:pic>
      <p:grpSp>
        <p:nvGrpSpPr>
          <p:cNvPr id="179" name="Google Shape;179;p32"/>
          <p:cNvGrpSpPr/>
          <p:nvPr/>
        </p:nvGrpSpPr>
        <p:grpSpPr>
          <a:xfrm>
            <a:off x="11930388" y="4900065"/>
            <a:ext cx="261612" cy="1456285"/>
            <a:chOff x="-7479" y="4982614"/>
            <a:chExt cx="261612" cy="1456285"/>
          </a:xfrm>
        </p:grpSpPr>
        <p:sp>
          <p:nvSpPr>
            <p:cNvPr id="180" name="Google Shape;180;p32"/>
            <p:cNvSpPr/>
            <p:nvPr/>
          </p:nvSpPr>
          <p:spPr>
            <a:xfrm>
              <a:off x="-7479" y="4982614"/>
              <a:ext cx="261612" cy="1456285"/>
            </a:xfrm>
            <a:prstGeom prst="rect">
              <a:avLst/>
            </a:prstGeom>
            <a:solidFill>
              <a:srgbClr val="26262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81" name="Google Shape;181;p32"/>
            <p:cNvSpPr txBox="1"/>
            <p:nvPr/>
          </p:nvSpPr>
          <p:spPr>
            <a:xfrm rot="-5400000">
              <a:off x="-565323" y="5578170"/>
              <a:ext cx="1377301" cy="2616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1" i="0" lang="en-MY" sz="1100" u="none" cap="none" strike="noStrike">
                  <a:solidFill>
                    <a:srgbClr val="F2F2F2"/>
                  </a:solidFill>
                  <a:latin typeface="Calibri"/>
                  <a:ea typeface="Calibri"/>
                  <a:cs typeface="Calibri"/>
                  <a:sym typeface="Calibri"/>
                </a:rPr>
                <a:t>www.utm.my</a:t>
              </a:r>
              <a:endParaRPr b="1" i="0" sz="1100" u="none" cap="none" strike="noStrike">
                <a:solidFill>
                  <a:schemeClr val="accent4"/>
                </a:solidFill>
                <a:latin typeface="Calibri"/>
                <a:ea typeface="Calibri"/>
                <a:cs typeface="Calibri"/>
                <a:sym typeface="Calibri"/>
              </a:endParaRPr>
            </a:p>
          </p:txBody>
        </p:sp>
      </p:grpSp>
      <p:sp>
        <p:nvSpPr>
          <p:cNvPr id="182" name="Google Shape;182;p32"/>
          <p:cNvSpPr/>
          <p:nvPr/>
        </p:nvSpPr>
        <p:spPr>
          <a:xfrm rot="5400000">
            <a:off x="6073139" y="761174"/>
            <a:ext cx="45719" cy="12192000"/>
          </a:xfrm>
          <a:prstGeom prst="rect">
            <a:avLst/>
          </a:prstGeom>
          <a:solidFill>
            <a:srgbClr val="6C1D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83" name="Google Shape;183;p32"/>
          <p:cNvSpPr txBox="1"/>
          <p:nvPr>
            <p:ph type="title"/>
          </p:nvPr>
        </p:nvSpPr>
        <p:spPr>
          <a:xfrm>
            <a:off x="838198" y="781051"/>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4000"/>
              <a:buFont typeface="Calibri"/>
              <a:buNone/>
              <a:defRPr>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Picture with Caption">
  <p:cSld name="1_Picture with Caption">
    <p:spTree>
      <p:nvGrpSpPr>
        <p:cNvPr id="184" name="Shape 184"/>
        <p:cNvGrpSpPr/>
        <p:nvPr/>
      </p:nvGrpSpPr>
      <p:grpSpPr>
        <a:xfrm>
          <a:off x="0" y="0"/>
          <a:ext cx="0" cy="0"/>
          <a:chOff x="0" y="0"/>
          <a:chExt cx="0" cy="0"/>
        </a:xfrm>
      </p:grpSpPr>
      <p:pic>
        <p:nvPicPr>
          <p:cNvPr id="185" name="Google Shape;185;p33"/>
          <p:cNvPicPr preferRelativeResize="0"/>
          <p:nvPr/>
        </p:nvPicPr>
        <p:blipFill rotWithShape="1">
          <a:blip r:embed="rId2">
            <a:alphaModFix/>
          </a:blip>
          <a:srcRect b="0" l="0" r="0" t="0"/>
          <a:stretch/>
        </p:blipFill>
        <p:spPr>
          <a:xfrm flipH="1">
            <a:off x="6765" y="1270"/>
            <a:ext cx="7112053" cy="1831461"/>
          </a:xfrm>
          <a:prstGeom prst="rect">
            <a:avLst/>
          </a:prstGeom>
          <a:noFill/>
          <a:ln>
            <a:noFill/>
          </a:ln>
        </p:spPr>
      </p:pic>
      <p:sp>
        <p:nvSpPr>
          <p:cNvPr id="186" name="Google Shape;186;p3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7" name="Google Shape;187;p3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8" name="Google Shape;188;p3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MY"/>
              <a:t>‹#›</a:t>
            </a:fld>
            <a:endParaRPr/>
          </a:p>
        </p:txBody>
      </p:sp>
      <p:pic>
        <p:nvPicPr>
          <p:cNvPr id="189" name="Google Shape;189;p33"/>
          <p:cNvPicPr preferRelativeResize="0"/>
          <p:nvPr/>
        </p:nvPicPr>
        <p:blipFill rotWithShape="1">
          <a:blip r:embed="rId3">
            <a:alphaModFix/>
          </a:blip>
          <a:srcRect b="0" l="0" r="0" t="0"/>
          <a:stretch/>
        </p:blipFill>
        <p:spPr>
          <a:xfrm>
            <a:off x="10478878" y="283590"/>
            <a:ext cx="1468167" cy="497461"/>
          </a:xfrm>
          <a:prstGeom prst="rect">
            <a:avLst/>
          </a:prstGeom>
          <a:noFill/>
          <a:ln>
            <a:noFill/>
          </a:ln>
        </p:spPr>
      </p:pic>
      <p:grpSp>
        <p:nvGrpSpPr>
          <p:cNvPr id="190" name="Google Shape;190;p33"/>
          <p:cNvGrpSpPr/>
          <p:nvPr/>
        </p:nvGrpSpPr>
        <p:grpSpPr>
          <a:xfrm>
            <a:off x="11930388" y="4900065"/>
            <a:ext cx="261612" cy="1456285"/>
            <a:chOff x="-7479" y="4982614"/>
            <a:chExt cx="261612" cy="1456285"/>
          </a:xfrm>
        </p:grpSpPr>
        <p:sp>
          <p:nvSpPr>
            <p:cNvPr id="191" name="Google Shape;191;p33"/>
            <p:cNvSpPr/>
            <p:nvPr/>
          </p:nvSpPr>
          <p:spPr>
            <a:xfrm>
              <a:off x="-7479" y="4982614"/>
              <a:ext cx="261612" cy="1456285"/>
            </a:xfrm>
            <a:prstGeom prst="rect">
              <a:avLst/>
            </a:prstGeom>
            <a:solidFill>
              <a:srgbClr val="26262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92" name="Google Shape;192;p33"/>
            <p:cNvSpPr txBox="1"/>
            <p:nvPr/>
          </p:nvSpPr>
          <p:spPr>
            <a:xfrm rot="-5400000">
              <a:off x="-565323" y="5578170"/>
              <a:ext cx="1377301" cy="2616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100"/>
                <a:buFont typeface="Arial"/>
                <a:buNone/>
              </a:pPr>
              <a:r>
                <a:rPr b="1" i="0" lang="en-MY" sz="1100" u="none" cap="none" strike="noStrike">
                  <a:solidFill>
                    <a:srgbClr val="F2F2F2"/>
                  </a:solidFill>
                  <a:latin typeface="Calibri"/>
                  <a:ea typeface="Calibri"/>
                  <a:cs typeface="Calibri"/>
                  <a:sym typeface="Calibri"/>
                </a:rPr>
                <a:t>www.utm.my</a:t>
              </a:r>
              <a:endParaRPr b="1" i="0" sz="1100" u="none" cap="none" strike="noStrike">
                <a:solidFill>
                  <a:schemeClr val="accent4"/>
                </a:solidFill>
                <a:latin typeface="Calibri"/>
                <a:ea typeface="Calibri"/>
                <a:cs typeface="Calibri"/>
                <a:sym typeface="Calibri"/>
              </a:endParaRPr>
            </a:p>
          </p:txBody>
        </p:sp>
      </p:grpSp>
      <p:sp>
        <p:nvSpPr>
          <p:cNvPr id="193" name="Google Shape;193;p33"/>
          <p:cNvSpPr/>
          <p:nvPr/>
        </p:nvSpPr>
        <p:spPr>
          <a:xfrm rot="5400000">
            <a:off x="6079906" y="-6086095"/>
            <a:ext cx="45719" cy="12192000"/>
          </a:xfrm>
          <a:prstGeom prst="rect">
            <a:avLst/>
          </a:prstGeom>
          <a:solidFill>
            <a:srgbClr val="6C1D3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94" name="Google Shape;194;p33"/>
          <p:cNvSpPr txBox="1"/>
          <p:nvPr>
            <p:ph type="title"/>
          </p:nvPr>
        </p:nvSpPr>
        <p:spPr>
          <a:xfrm>
            <a:off x="838198" y="781051"/>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4000"/>
              <a:buFont typeface="Calibri"/>
              <a:buNone/>
              <a:defRPr>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theme" Target="../theme/theme1.xml"/><Relationship Id="rId16" Type="http://schemas.openxmlformats.org/officeDocument/2006/relationships/slideLayout" Target="../slideLayouts/slideLayout16.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000"/>
              <a:buFont typeface="Calibri"/>
              <a:buNone/>
              <a:defRPr b="0" i="0" sz="40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MY"/>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2.png"/><Relationship Id="rId4" Type="http://schemas.openxmlformats.org/officeDocument/2006/relationships/image" Target="../media/image1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3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2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3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3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2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1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3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2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1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3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1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2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 Id="rId3" Type="http://schemas.openxmlformats.org/officeDocument/2006/relationships/image" Target="../media/image23.png"/><Relationship Id="rId4" Type="http://schemas.openxmlformats.org/officeDocument/2006/relationships/image" Target="../media/image22.png"/><Relationship Id="rId5"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g35afd35145d_3_0"/>
          <p:cNvSpPr txBox="1"/>
          <p:nvPr/>
        </p:nvSpPr>
        <p:spPr>
          <a:xfrm>
            <a:off x="2653990" y="4657148"/>
            <a:ext cx="8800800" cy="461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t/>
            </a:r>
            <a:endParaRPr b="1" i="0" sz="2400" u="none" cap="none" strike="noStrike">
              <a:solidFill>
                <a:srgbClr val="002060"/>
              </a:solidFill>
              <a:latin typeface="Arial"/>
              <a:ea typeface="Arial"/>
              <a:cs typeface="Arial"/>
              <a:sym typeface="Arial"/>
            </a:endParaRPr>
          </a:p>
        </p:txBody>
      </p:sp>
      <p:sp>
        <p:nvSpPr>
          <p:cNvPr id="200" name="Google Shape;200;g35afd35145d_3_0"/>
          <p:cNvSpPr txBox="1"/>
          <p:nvPr/>
        </p:nvSpPr>
        <p:spPr>
          <a:xfrm>
            <a:off x="1934575" y="2991900"/>
            <a:ext cx="9553800" cy="1446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4400"/>
              <a:buFont typeface="Arial"/>
              <a:buNone/>
            </a:pPr>
            <a:r>
              <a:rPr b="0" i="0" lang="en-MY" sz="4400" u="none" cap="none" strike="noStrike">
                <a:solidFill>
                  <a:srgbClr val="3F3F3F"/>
                </a:solidFill>
                <a:latin typeface="Calibri"/>
                <a:ea typeface="Calibri"/>
                <a:cs typeface="Calibri"/>
                <a:sym typeface="Calibri"/>
              </a:rPr>
              <a:t>AGILE SCRUM PROJECT MANAGEMENT (Part 1)</a:t>
            </a:r>
            <a:endParaRPr b="0" i="0" sz="2000" u="none" cap="none" strike="noStrike">
              <a:solidFill>
                <a:srgbClr val="000000"/>
              </a:solidFill>
              <a:latin typeface="Arial"/>
              <a:ea typeface="Arial"/>
              <a:cs typeface="Arial"/>
              <a:sym typeface="Arial"/>
            </a:endParaRPr>
          </a:p>
        </p:txBody>
      </p:sp>
      <p:sp>
        <p:nvSpPr>
          <p:cNvPr id="201" name="Google Shape;201;g35afd35145d_3_0"/>
          <p:cNvSpPr txBox="1"/>
          <p:nvPr/>
        </p:nvSpPr>
        <p:spPr>
          <a:xfrm>
            <a:off x="2653990" y="2113085"/>
            <a:ext cx="5977200" cy="769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400"/>
              <a:buFont typeface="Arial"/>
              <a:buNone/>
            </a:pPr>
            <a:r>
              <a:rPr b="1" i="0" lang="en-MY" sz="4400" u="none" cap="none" strike="noStrike">
                <a:solidFill>
                  <a:srgbClr val="6C1D35"/>
                </a:solidFill>
                <a:latin typeface="Calibri"/>
                <a:ea typeface="Calibri"/>
                <a:cs typeface="Calibri"/>
                <a:sym typeface="Calibri"/>
              </a:rPr>
              <a:t>TOPIC 5:</a:t>
            </a:r>
            <a:endParaRPr b="0" i="0" sz="1400" u="none" cap="none" strike="noStrike">
              <a:solidFill>
                <a:srgbClr val="000000"/>
              </a:solidFill>
              <a:latin typeface="Arial"/>
              <a:ea typeface="Arial"/>
              <a:cs typeface="Arial"/>
              <a:sym typeface="Arial"/>
            </a:endParaRPr>
          </a:p>
        </p:txBody>
      </p:sp>
      <p:pic>
        <p:nvPicPr>
          <p:cNvPr id="202" name="Google Shape;202;g35afd35145d_3_0"/>
          <p:cNvPicPr preferRelativeResize="0"/>
          <p:nvPr/>
        </p:nvPicPr>
        <p:blipFill rotWithShape="1">
          <a:blip r:embed="rId3">
            <a:alphaModFix/>
          </a:blip>
          <a:srcRect b="0" l="0" r="0" t="0"/>
          <a:stretch/>
        </p:blipFill>
        <p:spPr>
          <a:xfrm>
            <a:off x="4727149" y="599516"/>
            <a:ext cx="2249406" cy="751894"/>
          </a:xfrm>
          <a:prstGeom prst="rect">
            <a:avLst/>
          </a:prstGeom>
          <a:noFill/>
          <a:ln>
            <a:noFill/>
          </a:ln>
        </p:spPr>
      </p:pic>
      <p:pic>
        <p:nvPicPr>
          <p:cNvPr id="203" name="Google Shape;203;g35afd35145d_3_0"/>
          <p:cNvPicPr preferRelativeResize="0"/>
          <p:nvPr/>
        </p:nvPicPr>
        <p:blipFill rotWithShape="1">
          <a:blip r:embed="rId4">
            <a:alphaModFix/>
          </a:blip>
          <a:srcRect b="0" l="0" r="0" t="0"/>
          <a:stretch/>
        </p:blipFill>
        <p:spPr>
          <a:xfrm>
            <a:off x="5178429" y="6352942"/>
            <a:ext cx="2136769" cy="160806"/>
          </a:xfrm>
          <a:prstGeom prst="rect">
            <a:avLst/>
          </a:prstGeom>
          <a:noFill/>
          <a:ln>
            <a:noFill/>
          </a:ln>
        </p:spPr>
      </p:pic>
      <p:sp>
        <p:nvSpPr>
          <p:cNvPr id="204" name="Google Shape;204;g35afd35145d_3_0"/>
          <p:cNvSpPr txBox="1"/>
          <p:nvPr/>
        </p:nvSpPr>
        <p:spPr>
          <a:xfrm>
            <a:off x="8201225" y="6294900"/>
            <a:ext cx="3954600" cy="246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000"/>
              <a:buFont typeface="Arial"/>
              <a:buNone/>
            </a:pPr>
            <a:r>
              <a:rPr b="1" i="0" lang="en-MY" sz="1000" u="none" cap="none" strike="noStrike">
                <a:solidFill>
                  <a:srgbClr val="0070C0"/>
                </a:solidFill>
                <a:latin typeface="Arial"/>
                <a:ea typeface="Arial"/>
                <a:cs typeface="Arial"/>
                <a:sym typeface="Arial"/>
              </a:rPr>
              <a:t>Prepared by Dr Jamilah Mahmood dan Dr Shahliza Abd Halim</a:t>
            </a:r>
            <a:endParaRPr b="0" i="0" sz="10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3"/>
          <p:cNvSpPr txBox="1"/>
          <p:nvPr>
            <p:ph type="title"/>
          </p:nvPr>
        </p:nvSpPr>
        <p:spPr>
          <a:xfrm>
            <a:off x="1981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MY"/>
              <a:t>Outline</a:t>
            </a:r>
            <a:endParaRPr/>
          </a:p>
        </p:txBody>
      </p:sp>
      <p:sp>
        <p:nvSpPr>
          <p:cNvPr id="216" name="Google Shape;216;p3"/>
          <p:cNvSpPr txBox="1"/>
          <p:nvPr>
            <p:ph idx="1" type="body"/>
          </p:nvPr>
        </p:nvSpPr>
        <p:spPr>
          <a:xfrm>
            <a:off x="2514600" y="1752600"/>
            <a:ext cx="6477000" cy="3048000"/>
          </a:xfrm>
          <a:prstGeom prst="rect">
            <a:avLst/>
          </a:prstGeom>
          <a:noFill/>
          <a:ln>
            <a:noFill/>
          </a:ln>
        </p:spPr>
        <p:txBody>
          <a:bodyPr anchorCtr="0" anchor="t" bIns="45700" lIns="91425" spcFirstLastPara="1" rIns="91425" wrap="square" tIns="45700">
            <a:normAutofit fontScale="85000" lnSpcReduction="20000"/>
          </a:bodyPr>
          <a:lstStyle/>
          <a:p>
            <a:pPr indent="0" lvl="0" marL="0" rtl="0" algn="l">
              <a:lnSpc>
                <a:spcPct val="100000"/>
              </a:lnSpc>
              <a:spcBef>
                <a:spcPts val="0"/>
              </a:spcBef>
              <a:spcAft>
                <a:spcPts val="0"/>
              </a:spcAft>
              <a:buSzPct val="75630"/>
              <a:buNone/>
            </a:pPr>
            <a:r>
              <a:rPr b="1" lang="en-MY"/>
              <a:t>Part 1:</a:t>
            </a:r>
            <a:endParaRPr b="1"/>
          </a:p>
          <a:p>
            <a:pPr indent="0" lvl="0" marL="0" rtl="0" algn="l">
              <a:lnSpc>
                <a:spcPct val="100000"/>
              </a:lnSpc>
              <a:spcBef>
                <a:spcPts val="0"/>
              </a:spcBef>
              <a:spcAft>
                <a:spcPts val="0"/>
              </a:spcAft>
              <a:buSzPct val="75630"/>
              <a:buNone/>
            </a:pPr>
            <a:r>
              <a:t/>
            </a:r>
            <a:endParaRPr/>
          </a:p>
          <a:p>
            <a:pPr indent="-312420" lvl="0" marL="342900" rtl="0" algn="l">
              <a:lnSpc>
                <a:spcPct val="100000"/>
              </a:lnSpc>
              <a:spcBef>
                <a:spcPts val="0"/>
              </a:spcBef>
              <a:spcAft>
                <a:spcPts val="0"/>
              </a:spcAft>
              <a:buClr>
                <a:schemeClr val="dk1"/>
              </a:buClr>
              <a:buSzPct val="114285"/>
              <a:buChar char="•"/>
            </a:pPr>
            <a:r>
              <a:rPr lang="en-MY"/>
              <a:t>Product Backlog </a:t>
            </a:r>
            <a:endParaRPr/>
          </a:p>
          <a:p>
            <a:pPr indent="-312420" lvl="0" marL="342900" rtl="0" algn="l">
              <a:lnSpc>
                <a:spcPct val="100000"/>
              </a:lnSpc>
              <a:spcBef>
                <a:spcPts val="640"/>
              </a:spcBef>
              <a:spcAft>
                <a:spcPts val="0"/>
              </a:spcAft>
              <a:buClr>
                <a:schemeClr val="dk1"/>
              </a:buClr>
              <a:buSzPct val="114285"/>
              <a:buChar char="•"/>
            </a:pPr>
            <a:r>
              <a:rPr lang="en-MY"/>
              <a:t>Spring Planning</a:t>
            </a:r>
            <a:endParaRPr/>
          </a:p>
          <a:p>
            <a:pPr indent="-312420" lvl="0" marL="342900" rtl="0" algn="l">
              <a:lnSpc>
                <a:spcPct val="100000"/>
              </a:lnSpc>
              <a:spcBef>
                <a:spcPts val="640"/>
              </a:spcBef>
              <a:spcAft>
                <a:spcPts val="0"/>
              </a:spcAft>
              <a:buClr>
                <a:schemeClr val="dk1"/>
              </a:buClr>
              <a:buSzPct val="114285"/>
              <a:buChar char="•"/>
            </a:pPr>
            <a:r>
              <a:rPr lang="en-MY"/>
              <a:t>Sprint Backlog </a:t>
            </a:r>
            <a:endParaRPr/>
          </a:p>
          <a:p>
            <a:pPr indent="-312420" lvl="0" marL="342900" rtl="0" algn="l">
              <a:lnSpc>
                <a:spcPct val="100000"/>
              </a:lnSpc>
              <a:spcBef>
                <a:spcPts val="640"/>
              </a:spcBef>
              <a:spcAft>
                <a:spcPts val="0"/>
              </a:spcAft>
              <a:buClr>
                <a:schemeClr val="dk1"/>
              </a:buClr>
              <a:buSzPct val="114285"/>
              <a:buChar char="•"/>
            </a:pPr>
            <a:r>
              <a:rPr lang="en-MY"/>
              <a:t>Sprint Increments</a:t>
            </a:r>
            <a:endParaRPr/>
          </a:p>
          <a:p>
            <a:pPr indent="0" lvl="0" marL="0" rtl="0" algn="l">
              <a:lnSpc>
                <a:spcPct val="100000"/>
              </a:lnSpc>
              <a:spcBef>
                <a:spcPts val="640"/>
              </a:spcBef>
              <a:spcAft>
                <a:spcPts val="0"/>
              </a:spcAft>
              <a:buClr>
                <a:schemeClr val="dk1"/>
              </a:buClr>
              <a:buSzPct val="114285"/>
              <a:buNone/>
            </a:pPr>
            <a:r>
              <a:rPr lang="en-MY"/>
              <a:t>	</a:t>
            </a:r>
            <a:endParaRPr/>
          </a:p>
          <a:p>
            <a:pPr indent="-139700" lvl="0" marL="342900" rtl="0" algn="l">
              <a:lnSpc>
                <a:spcPct val="100000"/>
              </a:lnSpc>
              <a:spcBef>
                <a:spcPts val="640"/>
              </a:spcBef>
              <a:spcAft>
                <a:spcPts val="0"/>
              </a:spcAft>
              <a:buClr>
                <a:schemeClr val="dk1"/>
              </a:buClr>
              <a:buSzPct val="114285"/>
              <a:buNone/>
            </a:pPr>
            <a:r>
              <a:t/>
            </a:r>
            <a:endParaRPr/>
          </a:p>
        </p:txBody>
      </p:sp>
      <p:sp>
        <p:nvSpPr>
          <p:cNvPr id="217" name="Google Shape;217;p3"/>
          <p:cNvSpPr txBox="1"/>
          <p:nvPr/>
        </p:nvSpPr>
        <p:spPr>
          <a:xfrm>
            <a:off x="1970315" y="5764088"/>
            <a:ext cx="8392886"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MY" sz="1800" u="none" cap="none" strike="noStrike">
                <a:solidFill>
                  <a:srgbClr val="C00000"/>
                </a:solidFill>
                <a:latin typeface="Calibri"/>
                <a:ea typeface="Calibri"/>
                <a:cs typeface="Calibri"/>
                <a:sym typeface="Calibri"/>
              </a:rPr>
              <a:t>Note: The overall contents of the slide are based on the main reference that is Sommerville (2016) with other references specified directly in respective slides</a:t>
            </a:r>
            <a:endParaRPr b="0" i="0" sz="1400" u="none" cap="none" strike="noStrike">
              <a:solidFill>
                <a:srgbClr val="000000"/>
              </a:solidFill>
              <a:latin typeface="Arial"/>
              <a:ea typeface="Arial"/>
              <a:cs typeface="Arial"/>
              <a:sym typeface="Arial"/>
            </a:endParaRPr>
          </a:p>
        </p:txBody>
      </p:sp>
      <p:sp>
        <p:nvSpPr>
          <p:cNvPr id="218" name="Google Shape;218;p3"/>
          <p:cNvSpPr txBox="1"/>
          <p:nvPr>
            <p:ph idx="11" type="ftr"/>
          </p:nvPr>
        </p:nvSpPr>
        <p:spPr>
          <a:xfrm>
            <a:off x="3993777" y="6620436"/>
            <a:ext cx="4191000" cy="304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MY"/>
              <a:t>Software Engineering</a:t>
            </a:r>
            <a:endParaRPr/>
          </a:p>
        </p:txBody>
      </p:sp>
      <p:sp>
        <p:nvSpPr>
          <p:cNvPr id="219" name="Google Shape;219;p3"/>
          <p:cNvSpPr txBox="1"/>
          <p:nvPr>
            <p:ph idx="12" type="sldNum"/>
          </p:nvPr>
        </p:nvSpPr>
        <p:spPr>
          <a:xfrm>
            <a:off x="8077200" y="6598397"/>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MY"/>
              <a:t>‹#›</a:t>
            </a:fld>
            <a:endParaRPr/>
          </a:p>
        </p:txBody>
      </p:sp>
      <p:sp>
        <p:nvSpPr>
          <p:cNvPr id="220" name="Google Shape;220;p3"/>
          <p:cNvSpPr txBox="1"/>
          <p:nvPr>
            <p:ph idx="10" type="dt"/>
          </p:nvPr>
        </p:nvSpPr>
        <p:spPr>
          <a:xfrm>
            <a:off x="1981200" y="6598397"/>
            <a:ext cx="2133600" cy="365125"/>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MY"/>
              <a:t>2021</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4"/>
          <p:cNvSpPr txBox="1"/>
          <p:nvPr>
            <p:ph type="title"/>
          </p:nvPr>
        </p:nvSpPr>
        <p:spPr>
          <a:xfrm>
            <a:off x="1981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MY"/>
              <a:t>Objectives</a:t>
            </a:r>
            <a:endParaRPr/>
          </a:p>
        </p:txBody>
      </p:sp>
      <p:sp>
        <p:nvSpPr>
          <p:cNvPr id="226" name="Google Shape;226;p4"/>
          <p:cNvSpPr txBox="1"/>
          <p:nvPr>
            <p:ph idx="1" type="body"/>
          </p:nvPr>
        </p:nvSpPr>
        <p:spPr>
          <a:xfrm>
            <a:off x="609750" y="1417650"/>
            <a:ext cx="10420500" cy="4953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2800"/>
              <a:buNone/>
            </a:pPr>
            <a:r>
              <a:rPr lang="en-MY"/>
              <a:t>The objectives of this module are:</a:t>
            </a:r>
            <a:endParaRPr/>
          </a:p>
          <a:p>
            <a:pPr indent="0" lvl="0" marL="0" rtl="0" algn="l">
              <a:lnSpc>
                <a:spcPct val="100000"/>
              </a:lnSpc>
              <a:spcBef>
                <a:spcPts val="0"/>
              </a:spcBef>
              <a:spcAft>
                <a:spcPts val="0"/>
              </a:spcAft>
              <a:buClr>
                <a:schemeClr val="dk1"/>
              </a:buClr>
              <a:buSzPts val="2800"/>
              <a:buNone/>
            </a:pPr>
            <a:r>
              <a:t/>
            </a:r>
            <a:endParaRPr/>
          </a:p>
          <a:p>
            <a:pPr indent="-342900" lvl="0" marL="457200" rtl="0" algn="l">
              <a:lnSpc>
                <a:spcPct val="100000"/>
              </a:lnSpc>
              <a:spcBef>
                <a:spcPts val="560"/>
              </a:spcBef>
              <a:spcAft>
                <a:spcPts val="0"/>
              </a:spcAft>
              <a:buSzPts val="1800"/>
              <a:buFont typeface="Arial"/>
              <a:buChar char="•"/>
            </a:pPr>
            <a:r>
              <a:rPr lang="en-MY" sz="1800">
                <a:latin typeface="Arial"/>
                <a:ea typeface="Arial"/>
                <a:cs typeface="Arial"/>
                <a:sym typeface="Arial"/>
              </a:rPr>
              <a:t>Explain the key concepts and principles of Agile Scrum Project Management.</a:t>
            </a:r>
            <a:br>
              <a:rPr lang="en-MY" sz="1800">
                <a:latin typeface="Arial"/>
                <a:ea typeface="Arial"/>
                <a:cs typeface="Arial"/>
                <a:sym typeface="Arial"/>
              </a:rPr>
            </a:br>
            <a:endParaRPr sz="1800">
              <a:latin typeface="Arial"/>
              <a:ea typeface="Arial"/>
              <a:cs typeface="Arial"/>
              <a:sym typeface="Arial"/>
            </a:endParaRPr>
          </a:p>
          <a:p>
            <a:pPr indent="-342900" lvl="0" marL="457200" rtl="0" algn="l">
              <a:lnSpc>
                <a:spcPct val="100000"/>
              </a:lnSpc>
              <a:spcBef>
                <a:spcPts val="0"/>
              </a:spcBef>
              <a:spcAft>
                <a:spcPts val="0"/>
              </a:spcAft>
              <a:buSzPts val="1800"/>
              <a:buFont typeface="Arial"/>
              <a:buChar char="•"/>
            </a:pPr>
            <a:r>
              <a:rPr lang="en-MY" sz="1800">
                <a:latin typeface="Arial"/>
                <a:ea typeface="Arial"/>
                <a:cs typeface="Arial"/>
                <a:sym typeface="Arial"/>
              </a:rPr>
              <a:t>Describe the purpose and structure of the Product Backlog, including how it is created, prioritized, and maintained.</a:t>
            </a:r>
            <a:br>
              <a:rPr lang="en-MY" sz="1800">
                <a:latin typeface="Arial"/>
                <a:ea typeface="Arial"/>
                <a:cs typeface="Arial"/>
                <a:sym typeface="Arial"/>
              </a:rPr>
            </a:br>
            <a:endParaRPr sz="1800">
              <a:latin typeface="Arial"/>
              <a:ea typeface="Arial"/>
              <a:cs typeface="Arial"/>
              <a:sym typeface="Arial"/>
            </a:endParaRPr>
          </a:p>
          <a:p>
            <a:pPr indent="-342900" lvl="0" marL="457200" rtl="0" algn="l">
              <a:lnSpc>
                <a:spcPct val="100000"/>
              </a:lnSpc>
              <a:spcBef>
                <a:spcPts val="0"/>
              </a:spcBef>
              <a:spcAft>
                <a:spcPts val="0"/>
              </a:spcAft>
              <a:buSzPts val="1800"/>
              <a:buFont typeface="Arial"/>
              <a:buChar char="•"/>
            </a:pPr>
            <a:r>
              <a:rPr lang="en-MY" sz="1800">
                <a:latin typeface="Arial"/>
                <a:ea typeface="Arial"/>
                <a:cs typeface="Arial"/>
                <a:sym typeface="Arial"/>
              </a:rPr>
              <a:t>Outline the process of Sprint Planning, including how the Sprint Goal is defined and PBIs are selected for the Sprint.</a:t>
            </a:r>
            <a:br>
              <a:rPr lang="en-MY" sz="1800">
                <a:latin typeface="Arial"/>
                <a:ea typeface="Arial"/>
                <a:cs typeface="Arial"/>
                <a:sym typeface="Arial"/>
              </a:rPr>
            </a:br>
            <a:endParaRPr sz="1800">
              <a:latin typeface="Arial"/>
              <a:ea typeface="Arial"/>
              <a:cs typeface="Arial"/>
              <a:sym typeface="Arial"/>
            </a:endParaRPr>
          </a:p>
          <a:p>
            <a:pPr indent="-342900" lvl="0" marL="457200" rtl="0" algn="l">
              <a:lnSpc>
                <a:spcPct val="100000"/>
              </a:lnSpc>
              <a:spcBef>
                <a:spcPts val="0"/>
              </a:spcBef>
              <a:spcAft>
                <a:spcPts val="0"/>
              </a:spcAft>
              <a:buSzPts val="1800"/>
              <a:buFont typeface="Arial"/>
              <a:buChar char="•"/>
            </a:pPr>
            <a:r>
              <a:rPr lang="en-MY" sz="1800">
                <a:latin typeface="Arial"/>
                <a:ea typeface="Arial"/>
                <a:cs typeface="Arial"/>
                <a:sym typeface="Arial"/>
              </a:rPr>
              <a:t>Differentiate between the Product Backlog and Sprint Backlog in terms of ownership, scope, and level of detail.</a:t>
            </a:r>
            <a:br>
              <a:rPr lang="en-MY" sz="1800">
                <a:latin typeface="Arial"/>
                <a:ea typeface="Arial"/>
                <a:cs typeface="Arial"/>
                <a:sym typeface="Arial"/>
              </a:rPr>
            </a:br>
            <a:endParaRPr sz="1800">
              <a:latin typeface="Arial"/>
              <a:ea typeface="Arial"/>
              <a:cs typeface="Arial"/>
              <a:sym typeface="Arial"/>
            </a:endParaRPr>
          </a:p>
          <a:p>
            <a:pPr indent="-342900" lvl="0" marL="457200" rtl="0" algn="l">
              <a:lnSpc>
                <a:spcPct val="100000"/>
              </a:lnSpc>
              <a:spcBef>
                <a:spcPts val="0"/>
              </a:spcBef>
              <a:spcAft>
                <a:spcPts val="0"/>
              </a:spcAft>
              <a:buSzPts val="1800"/>
              <a:buFont typeface="Arial"/>
              <a:buChar char="•"/>
            </a:pPr>
            <a:r>
              <a:rPr lang="en-MY" sz="1800">
                <a:latin typeface="Arial"/>
                <a:ea typeface="Arial"/>
                <a:cs typeface="Arial"/>
                <a:sym typeface="Arial"/>
              </a:rPr>
              <a:t>Construct and analyze a Sprint Backlog by breaking down selected user stories into detailed tasks.</a:t>
            </a:r>
            <a:endParaRPr sz="1800">
              <a:latin typeface="Arial"/>
              <a:ea typeface="Arial"/>
              <a:cs typeface="Arial"/>
              <a:sym typeface="Arial"/>
            </a:endParaRPr>
          </a:p>
          <a:p>
            <a:pPr indent="0" lvl="0" marL="0" rtl="0" algn="l">
              <a:lnSpc>
                <a:spcPct val="100000"/>
              </a:lnSpc>
              <a:spcBef>
                <a:spcPts val="560"/>
              </a:spcBef>
              <a:spcAft>
                <a:spcPts val="0"/>
              </a:spcAft>
              <a:buClr>
                <a:schemeClr val="dk1"/>
              </a:buClr>
              <a:buSzPts val="2800"/>
              <a:buNone/>
            </a:pPr>
            <a:r>
              <a:t/>
            </a:r>
            <a:endParaRPr/>
          </a:p>
        </p:txBody>
      </p:sp>
      <p:sp>
        <p:nvSpPr>
          <p:cNvPr id="227" name="Google Shape;227;p4"/>
          <p:cNvSpPr txBox="1"/>
          <p:nvPr>
            <p:ph idx="11" type="ftr"/>
          </p:nvPr>
        </p:nvSpPr>
        <p:spPr>
          <a:xfrm>
            <a:off x="3993777" y="6620436"/>
            <a:ext cx="4191000" cy="304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MY"/>
              <a:t>Software Engineering</a:t>
            </a:r>
            <a:endParaRPr/>
          </a:p>
        </p:txBody>
      </p:sp>
      <p:sp>
        <p:nvSpPr>
          <p:cNvPr id="228" name="Google Shape;228;p4"/>
          <p:cNvSpPr txBox="1"/>
          <p:nvPr>
            <p:ph idx="12" type="sldNum"/>
          </p:nvPr>
        </p:nvSpPr>
        <p:spPr>
          <a:xfrm>
            <a:off x="8077200" y="6598397"/>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MY"/>
              <a:t>‹#›</a:t>
            </a:fld>
            <a:endParaRPr/>
          </a:p>
        </p:txBody>
      </p:sp>
      <p:sp>
        <p:nvSpPr>
          <p:cNvPr id="229" name="Google Shape;229;p4"/>
          <p:cNvSpPr txBox="1"/>
          <p:nvPr>
            <p:ph idx="10" type="dt"/>
          </p:nvPr>
        </p:nvSpPr>
        <p:spPr>
          <a:xfrm>
            <a:off x="1981200" y="6598397"/>
            <a:ext cx="2133600" cy="365125"/>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MY"/>
              <a:t>2021</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g35afd35145d_0_8"/>
          <p:cNvSpPr txBox="1"/>
          <p:nvPr>
            <p:ph type="title"/>
          </p:nvPr>
        </p:nvSpPr>
        <p:spPr>
          <a:xfrm>
            <a:off x="914975" y="160375"/>
            <a:ext cx="105156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4000"/>
              <a:buNone/>
            </a:pPr>
            <a:r>
              <a:rPr lang="en-MY"/>
              <a:t>SCRUM Practices</a:t>
            </a:r>
            <a:endParaRPr/>
          </a:p>
        </p:txBody>
      </p:sp>
      <p:pic>
        <p:nvPicPr>
          <p:cNvPr id="236" name="Google Shape;236;g35afd35145d_0_8"/>
          <p:cNvPicPr preferRelativeResize="0"/>
          <p:nvPr/>
        </p:nvPicPr>
        <p:blipFill rotWithShape="1">
          <a:blip r:embed="rId3">
            <a:alphaModFix/>
          </a:blip>
          <a:srcRect b="0" l="0" r="0" t="0"/>
          <a:stretch/>
        </p:blipFill>
        <p:spPr>
          <a:xfrm>
            <a:off x="3243475" y="1099325"/>
            <a:ext cx="6450475" cy="5031549"/>
          </a:xfrm>
          <a:prstGeom prst="rect">
            <a:avLst/>
          </a:prstGeom>
          <a:noFill/>
          <a:ln>
            <a:noFill/>
          </a:ln>
        </p:spPr>
      </p:pic>
      <p:sp>
        <p:nvSpPr>
          <p:cNvPr id="237" name="Google Shape;237;g35afd35145d_0_8"/>
          <p:cNvSpPr txBox="1"/>
          <p:nvPr/>
        </p:nvSpPr>
        <p:spPr>
          <a:xfrm>
            <a:off x="335225" y="6401200"/>
            <a:ext cx="11157000" cy="354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0" i="0" lang="en-MY" sz="1100" u="none" cap="none" strike="noStrike">
                <a:solidFill>
                  <a:srgbClr val="0000FF"/>
                </a:solidFill>
                <a:latin typeface="Arial"/>
                <a:ea typeface="Arial"/>
                <a:cs typeface="Arial"/>
                <a:sym typeface="Arial"/>
              </a:rPr>
              <a:t>Cohn, M. (2012). </a:t>
            </a:r>
            <a:r>
              <a:rPr b="0" i="1" lang="en-MY" sz="1100" u="none" cap="none" strike="noStrike">
                <a:solidFill>
                  <a:srgbClr val="0000FF"/>
                </a:solidFill>
                <a:latin typeface="Arial"/>
                <a:ea typeface="Arial"/>
                <a:cs typeface="Arial"/>
                <a:sym typeface="Arial"/>
              </a:rPr>
              <a:t>Essential Scrum: A practical guide to the most popular Agile process</a:t>
            </a:r>
            <a:r>
              <a:rPr b="0" i="0" lang="en-MY" sz="1100" u="none" cap="none" strike="noStrike">
                <a:solidFill>
                  <a:srgbClr val="0000FF"/>
                </a:solidFill>
                <a:latin typeface="Arial"/>
                <a:ea typeface="Arial"/>
                <a:cs typeface="Arial"/>
                <a:sym typeface="Arial"/>
              </a:rPr>
              <a:t> (Addison-Wesley Signature Series). Addison-Wesley.</a:t>
            </a:r>
            <a:endParaRPr b="0" i="0" sz="2800" u="none" cap="none" strike="noStrike">
              <a:solidFill>
                <a:srgbClr val="0000FF"/>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g35afd35145d_0_1"/>
          <p:cNvSpPr txBox="1"/>
          <p:nvPr>
            <p:ph type="title"/>
          </p:nvPr>
        </p:nvSpPr>
        <p:spPr>
          <a:xfrm>
            <a:off x="838200" y="365125"/>
            <a:ext cx="10515600" cy="9969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4000"/>
              <a:buNone/>
            </a:pPr>
            <a:r>
              <a:rPr lang="en-MY"/>
              <a:t>SCRUM Model Revisited</a:t>
            </a:r>
            <a:endParaRPr/>
          </a:p>
        </p:txBody>
      </p:sp>
      <p:pic>
        <p:nvPicPr>
          <p:cNvPr id="244" name="Google Shape;244;g35afd35145d_0_1" title="scrum model.png"/>
          <p:cNvPicPr preferRelativeResize="0"/>
          <p:nvPr/>
        </p:nvPicPr>
        <p:blipFill rotWithShape="1">
          <a:blip r:embed="rId3">
            <a:alphaModFix/>
          </a:blip>
          <a:srcRect b="0" l="0" r="0" t="0"/>
          <a:stretch/>
        </p:blipFill>
        <p:spPr>
          <a:xfrm>
            <a:off x="945250" y="2164450"/>
            <a:ext cx="9473276" cy="4351199"/>
          </a:xfrm>
          <a:prstGeom prst="rect">
            <a:avLst/>
          </a:prstGeom>
          <a:noFill/>
          <a:ln>
            <a:noFill/>
          </a:ln>
        </p:spPr>
      </p:pic>
      <p:sp>
        <p:nvSpPr>
          <p:cNvPr id="245" name="Google Shape;245;g35afd35145d_0_1"/>
          <p:cNvSpPr txBox="1"/>
          <p:nvPr/>
        </p:nvSpPr>
        <p:spPr>
          <a:xfrm>
            <a:off x="294275" y="1202700"/>
            <a:ext cx="9982500" cy="846600"/>
          </a:xfrm>
          <a:prstGeom prst="rect">
            <a:avLst/>
          </a:prstGeom>
          <a:noFill/>
          <a:ln>
            <a:noFill/>
          </a:ln>
        </p:spPr>
        <p:txBody>
          <a:bodyPr anchorCtr="0" anchor="t" bIns="91425" lIns="91425" spcFirstLastPara="1" rIns="91425" wrap="square" tIns="91425">
            <a:spAutoFit/>
          </a:bodyPr>
          <a:lstStyle/>
          <a:p>
            <a:pPr indent="-355600" lvl="0" marL="457200" marR="0" rtl="0" algn="l">
              <a:lnSpc>
                <a:spcPct val="115000"/>
              </a:lnSpc>
              <a:spcBef>
                <a:spcPts val="1200"/>
              </a:spcBef>
              <a:spcAft>
                <a:spcPts val="0"/>
              </a:spcAft>
              <a:buClr>
                <a:schemeClr val="dk1"/>
              </a:buClr>
              <a:buSzPts val="2000"/>
              <a:buFont typeface="Calibri"/>
              <a:buChar char="●"/>
            </a:pPr>
            <a:r>
              <a:rPr b="0" i="0" lang="en-MY" sz="2000" u="none" cap="none" strike="noStrike">
                <a:solidFill>
                  <a:schemeClr val="dk1"/>
                </a:solidFill>
                <a:latin typeface="Calibri"/>
                <a:ea typeface="Calibri"/>
                <a:cs typeface="Calibri"/>
                <a:sym typeface="Calibri"/>
              </a:rPr>
              <a:t>Scrum defines five key events</a:t>
            </a:r>
            <a:endParaRPr b="0" i="0" sz="2000" u="none" cap="none" strike="noStrike">
              <a:solidFill>
                <a:schemeClr val="dk1"/>
              </a:solidFill>
              <a:latin typeface="Calibri"/>
              <a:ea typeface="Calibri"/>
              <a:cs typeface="Calibri"/>
              <a:sym typeface="Calibri"/>
            </a:endParaRPr>
          </a:p>
          <a:p>
            <a:pPr indent="-355600" lvl="1" marL="914400" marR="0" rtl="0" algn="l">
              <a:lnSpc>
                <a:spcPct val="115000"/>
              </a:lnSpc>
              <a:spcBef>
                <a:spcPts val="0"/>
              </a:spcBef>
              <a:spcAft>
                <a:spcPts val="0"/>
              </a:spcAft>
              <a:buClr>
                <a:schemeClr val="dk1"/>
              </a:buClr>
              <a:buSzPts val="2000"/>
              <a:buFont typeface="Calibri"/>
              <a:buChar char="○"/>
            </a:pPr>
            <a:r>
              <a:rPr b="0" i="0" lang="en-MY" sz="2000" u="none" cap="none" strike="noStrike">
                <a:solidFill>
                  <a:schemeClr val="dk1"/>
                </a:solidFill>
                <a:latin typeface="Calibri"/>
                <a:ea typeface="Calibri"/>
                <a:cs typeface="Calibri"/>
                <a:sym typeface="Calibri"/>
              </a:rPr>
              <a:t>Heart of the scrum is the </a:t>
            </a:r>
            <a:r>
              <a:rPr b="0" i="0" lang="en-MY" sz="2000" u="none" cap="none" strike="noStrike">
                <a:solidFill>
                  <a:schemeClr val="dk1"/>
                </a:solidFill>
                <a:highlight>
                  <a:srgbClr val="FFFF00"/>
                </a:highlight>
                <a:latin typeface="Calibri"/>
                <a:ea typeface="Calibri"/>
                <a:cs typeface="Calibri"/>
                <a:sym typeface="Calibri"/>
              </a:rPr>
              <a:t>Sprint</a:t>
            </a:r>
            <a:r>
              <a:rPr b="0" i="0" lang="en-MY" sz="2000" u="none" cap="none" strike="noStrike">
                <a:solidFill>
                  <a:schemeClr val="dk1"/>
                </a:solidFill>
                <a:latin typeface="Calibri"/>
                <a:ea typeface="Calibri"/>
                <a:cs typeface="Calibri"/>
                <a:sym typeface="Calibri"/>
              </a:rPr>
              <a:t>, </a:t>
            </a:r>
            <a:r>
              <a:rPr b="0" i="0" lang="en-MY" sz="2000" u="none" cap="none" strike="noStrike">
                <a:solidFill>
                  <a:schemeClr val="dk1"/>
                </a:solidFill>
                <a:highlight>
                  <a:srgbClr val="FFFF00"/>
                </a:highlight>
                <a:latin typeface="Calibri"/>
                <a:ea typeface="Calibri"/>
                <a:cs typeface="Calibri"/>
                <a:sym typeface="Calibri"/>
              </a:rPr>
              <a:t>Daily Scrum</a:t>
            </a:r>
            <a:r>
              <a:rPr b="0" i="0" lang="en-MY" sz="2000" u="none" cap="none" strike="noStrike">
                <a:solidFill>
                  <a:schemeClr val="dk1"/>
                </a:solidFill>
                <a:latin typeface="Calibri"/>
                <a:ea typeface="Calibri"/>
                <a:cs typeface="Calibri"/>
                <a:sym typeface="Calibri"/>
              </a:rPr>
              <a:t>, </a:t>
            </a:r>
            <a:r>
              <a:rPr b="0" i="0" lang="en-MY" sz="2000" u="none" cap="none" strike="noStrike">
                <a:solidFill>
                  <a:schemeClr val="dk1"/>
                </a:solidFill>
                <a:highlight>
                  <a:srgbClr val="FFFF00"/>
                </a:highlight>
                <a:latin typeface="Calibri"/>
                <a:ea typeface="Calibri"/>
                <a:cs typeface="Calibri"/>
                <a:sym typeface="Calibri"/>
              </a:rPr>
              <a:t>S</a:t>
            </a:r>
            <a:r>
              <a:rPr b="0" i="0" lang="en-MY" sz="2000" u="none" cap="none" strike="noStrike">
                <a:solidFill>
                  <a:schemeClr val="dk1"/>
                </a:solidFill>
                <a:highlight>
                  <a:srgbClr val="FFFF00"/>
                </a:highlight>
                <a:latin typeface="Calibri"/>
                <a:ea typeface="Calibri"/>
                <a:cs typeface="Calibri"/>
                <a:sym typeface="Calibri"/>
              </a:rPr>
              <a:t>print Review</a:t>
            </a:r>
            <a:r>
              <a:rPr b="0" i="0" lang="en-MY" sz="2000" u="none" cap="none" strike="noStrike">
                <a:solidFill>
                  <a:schemeClr val="dk1"/>
                </a:solidFill>
                <a:latin typeface="Calibri"/>
                <a:ea typeface="Calibri"/>
                <a:cs typeface="Calibri"/>
                <a:sym typeface="Calibri"/>
              </a:rPr>
              <a:t>, and </a:t>
            </a:r>
            <a:r>
              <a:rPr b="0" i="0" lang="en-MY" sz="2000" u="none" cap="none" strike="noStrike">
                <a:solidFill>
                  <a:schemeClr val="dk1"/>
                </a:solidFill>
                <a:highlight>
                  <a:srgbClr val="FFFF00"/>
                </a:highlight>
                <a:latin typeface="Calibri"/>
                <a:ea typeface="Calibri"/>
                <a:cs typeface="Calibri"/>
                <a:sym typeface="Calibri"/>
              </a:rPr>
              <a:t>Sprint Retrospective</a:t>
            </a:r>
            <a:r>
              <a:rPr b="0" i="0" lang="en-MY" sz="2000" u="none" cap="none" strike="noStrike">
                <a:solidFill>
                  <a:schemeClr val="dk1"/>
                </a:solidFill>
                <a:latin typeface="Calibri"/>
                <a:ea typeface="Calibri"/>
                <a:cs typeface="Calibri"/>
                <a:sym typeface="Calibri"/>
              </a:rPr>
              <a:t>.</a:t>
            </a:r>
            <a:endParaRPr b="0" i="0" sz="20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5"/>
          <p:cNvSpPr txBox="1"/>
          <p:nvPr>
            <p:ph type="title"/>
          </p:nvPr>
        </p:nvSpPr>
        <p:spPr>
          <a:xfrm>
            <a:off x="2246313" y="4406901"/>
            <a:ext cx="7772400" cy="1362075"/>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3200"/>
              <a:buFont typeface="Calibri"/>
              <a:buNone/>
            </a:pPr>
            <a:r>
              <a:rPr lang="en-MY"/>
              <a:t>Product Backlog </a:t>
            </a:r>
            <a:endParaRPr/>
          </a:p>
        </p:txBody>
      </p:sp>
      <p:sp>
        <p:nvSpPr>
          <p:cNvPr id="251" name="Google Shape;251;p5"/>
          <p:cNvSpPr txBox="1"/>
          <p:nvPr>
            <p:ph idx="1" type="body"/>
          </p:nvPr>
        </p:nvSpPr>
        <p:spPr>
          <a:xfrm>
            <a:off x="2246313" y="2906714"/>
            <a:ext cx="7772400" cy="1500187"/>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rgbClr val="888888"/>
              </a:buClr>
              <a:buSzPts val="2000"/>
              <a:buNone/>
            </a:pPr>
            <a:r>
              <a:t/>
            </a:r>
            <a:endParaRPr/>
          </a:p>
        </p:txBody>
      </p:sp>
      <p:sp>
        <p:nvSpPr>
          <p:cNvPr id="252" name="Google Shape;252;p5"/>
          <p:cNvSpPr txBox="1"/>
          <p:nvPr>
            <p:ph idx="10" type="dt"/>
          </p:nvPr>
        </p:nvSpPr>
        <p:spPr>
          <a:xfrm>
            <a:off x="1981200" y="6598397"/>
            <a:ext cx="2133600" cy="365125"/>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MY"/>
              <a:t>2021</a:t>
            </a:r>
            <a:endParaRPr/>
          </a:p>
        </p:txBody>
      </p:sp>
      <p:sp>
        <p:nvSpPr>
          <p:cNvPr id="253" name="Google Shape;253;p5"/>
          <p:cNvSpPr txBox="1"/>
          <p:nvPr>
            <p:ph idx="11" type="ftr"/>
          </p:nvPr>
        </p:nvSpPr>
        <p:spPr>
          <a:xfrm>
            <a:off x="3993777" y="6620436"/>
            <a:ext cx="4191000" cy="304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MY"/>
              <a:t>Software Engineering</a:t>
            </a:r>
            <a:endParaRPr/>
          </a:p>
        </p:txBody>
      </p:sp>
      <p:sp>
        <p:nvSpPr>
          <p:cNvPr id="254" name="Google Shape;254;p5"/>
          <p:cNvSpPr txBox="1"/>
          <p:nvPr>
            <p:ph idx="12" type="sldNum"/>
          </p:nvPr>
        </p:nvSpPr>
        <p:spPr>
          <a:xfrm>
            <a:off x="8077200" y="6598397"/>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MY"/>
              <a:t>‹#›</a:t>
            </a:fld>
            <a:endParaRPr/>
          </a:p>
        </p:txBody>
      </p:sp>
      <p:pic>
        <p:nvPicPr>
          <p:cNvPr id="255" name="Google Shape;255;p5" title="Image May 22, 2025, 10_49_55 AM.png"/>
          <p:cNvPicPr preferRelativeResize="0"/>
          <p:nvPr/>
        </p:nvPicPr>
        <p:blipFill rotWithShape="1">
          <a:blip r:embed="rId3">
            <a:alphaModFix/>
          </a:blip>
          <a:srcRect b="0" l="0" r="0" t="0"/>
          <a:stretch/>
        </p:blipFill>
        <p:spPr>
          <a:xfrm>
            <a:off x="9100800" y="2344400"/>
            <a:ext cx="2707425" cy="4061100"/>
          </a:xfrm>
          <a:prstGeom prst="rect">
            <a:avLst/>
          </a:prstGeom>
          <a:noFill/>
          <a:ln>
            <a:noFill/>
          </a:ln>
          <a:effectLst>
            <a:outerShdw blurRad="57150" rotWithShape="0" algn="bl" dir="5400000" dist="19050">
              <a:srgbClr val="000000">
                <a:alpha val="49803"/>
              </a:srgbClr>
            </a:outerShdw>
          </a:effectLst>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6"/>
          <p:cNvSpPr txBox="1"/>
          <p:nvPr>
            <p:ph type="title"/>
          </p:nvPr>
        </p:nvSpPr>
        <p:spPr>
          <a:xfrm>
            <a:off x="1981200" y="274638"/>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400"/>
              <a:buFont typeface="Calibri"/>
              <a:buNone/>
            </a:pPr>
            <a:r>
              <a:rPr lang="en-MY"/>
              <a:t>Introduction to Product Backlog </a:t>
            </a:r>
            <a:endParaRPr/>
          </a:p>
        </p:txBody>
      </p:sp>
      <p:sp>
        <p:nvSpPr>
          <p:cNvPr id="261" name="Google Shape;261;p6"/>
          <p:cNvSpPr txBox="1"/>
          <p:nvPr>
            <p:ph idx="1" type="body"/>
          </p:nvPr>
        </p:nvSpPr>
        <p:spPr>
          <a:xfrm>
            <a:off x="482950" y="1821250"/>
            <a:ext cx="7115400" cy="4373700"/>
          </a:xfrm>
          <a:prstGeom prst="rect">
            <a:avLst/>
          </a:prstGeom>
          <a:noFill/>
          <a:ln>
            <a:noFill/>
          </a:ln>
        </p:spPr>
        <p:txBody>
          <a:bodyPr anchorCtr="0" anchor="t" bIns="45700" lIns="91425" spcFirstLastPara="1" rIns="91425" wrap="square" tIns="45700">
            <a:normAutofit fontScale="85000"/>
          </a:bodyPr>
          <a:lstStyle/>
          <a:p>
            <a:pPr indent="-205740" lvl="0" marL="228600" rtl="0" algn="l">
              <a:lnSpc>
                <a:spcPct val="150000"/>
              </a:lnSpc>
              <a:spcBef>
                <a:spcPts val="160"/>
              </a:spcBef>
              <a:spcAft>
                <a:spcPts val="0"/>
              </a:spcAft>
              <a:buClr>
                <a:schemeClr val="dk1"/>
              </a:buClr>
              <a:buSzPct val="100000"/>
              <a:buChar char="•"/>
            </a:pPr>
            <a:r>
              <a:rPr lang="en-MY" sz="2400"/>
              <a:t>It is a repository of Product Backlog Items (PBIs) which consists of Epics, User Stories and other work to be done. </a:t>
            </a:r>
            <a:endParaRPr sz="2400"/>
          </a:p>
          <a:p>
            <a:pPr indent="-228600" lvl="0" marL="228600" rtl="0" algn="l">
              <a:lnSpc>
                <a:spcPct val="150000"/>
              </a:lnSpc>
              <a:spcBef>
                <a:spcPts val="160"/>
              </a:spcBef>
              <a:spcAft>
                <a:spcPts val="0"/>
              </a:spcAft>
              <a:buSzPct val="100000"/>
              <a:buChar char="•"/>
            </a:pPr>
            <a:r>
              <a:rPr lang="en-MY" sz="2400"/>
              <a:t>It is a queue of the work to be done in the organized form of small increments of work, typically in the form of user stories. </a:t>
            </a:r>
            <a:endParaRPr sz="2400"/>
          </a:p>
          <a:p>
            <a:pPr indent="-228600" lvl="0" marL="228600" rtl="0" algn="l">
              <a:lnSpc>
                <a:spcPct val="150000"/>
              </a:lnSpc>
              <a:spcBef>
                <a:spcPts val="160"/>
              </a:spcBef>
              <a:spcAft>
                <a:spcPts val="0"/>
              </a:spcAft>
              <a:buSzPct val="100000"/>
              <a:buChar char="•"/>
            </a:pPr>
            <a:r>
              <a:rPr lang="en-MY" sz="2400"/>
              <a:t>It is the </a:t>
            </a:r>
            <a:r>
              <a:rPr b="1" lang="en-MY" sz="2400"/>
              <a:t>single source of requirements</a:t>
            </a:r>
            <a:r>
              <a:rPr lang="en-MY" sz="2400"/>
              <a:t> for any changes to be made to the product.</a:t>
            </a:r>
            <a:endParaRPr/>
          </a:p>
          <a:p>
            <a:pPr indent="-228600" lvl="0" marL="228600" rtl="0" algn="l">
              <a:lnSpc>
                <a:spcPct val="150000"/>
              </a:lnSpc>
              <a:spcBef>
                <a:spcPts val="160"/>
              </a:spcBef>
              <a:spcAft>
                <a:spcPts val="0"/>
              </a:spcAft>
              <a:buSzPct val="100000"/>
              <a:buChar char="•"/>
            </a:pPr>
            <a:r>
              <a:rPr lang="en-MY" sz="2400"/>
              <a:t>Maintained and </a:t>
            </a:r>
            <a:r>
              <a:rPr b="1" lang="en-MY" sz="2400"/>
              <a:t>owned by the Product Owner</a:t>
            </a:r>
            <a:r>
              <a:rPr lang="en-MY" sz="2400"/>
              <a:t>.</a:t>
            </a:r>
            <a:endParaRPr/>
          </a:p>
          <a:p>
            <a:pPr indent="0" lvl="0" marL="0" rtl="0" algn="l">
              <a:lnSpc>
                <a:spcPct val="100000"/>
              </a:lnSpc>
              <a:spcBef>
                <a:spcPts val="160"/>
              </a:spcBef>
              <a:spcAft>
                <a:spcPts val="0"/>
              </a:spcAft>
              <a:buClr>
                <a:schemeClr val="dk1"/>
              </a:buClr>
              <a:buSzPct val="100000"/>
              <a:buNone/>
            </a:pPr>
            <a:r>
              <a:rPr lang="en-MY" sz="2400"/>
              <a:t>	</a:t>
            </a:r>
            <a:endParaRPr sz="2400"/>
          </a:p>
          <a:p>
            <a:pPr indent="0" lvl="0" marL="0" rtl="0" algn="l">
              <a:lnSpc>
                <a:spcPct val="100000"/>
              </a:lnSpc>
              <a:spcBef>
                <a:spcPts val="160"/>
              </a:spcBef>
              <a:spcAft>
                <a:spcPts val="0"/>
              </a:spcAft>
              <a:buClr>
                <a:schemeClr val="dk1"/>
              </a:buClr>
              <a:buSzPct val="100000"/>
              <a:buNone/>
            </a:pPr>
            <a:r>
              <a:t/>
            </a:r>
            <a:endParaRPr sz="2400"/>
          </a:p>
          <a:p>
            <a:pPr indent="0" lvl="1" marL="400050" rtl="0" algn="l">
              <a:lnSpc>
                <a:spcPct val="100000"/>
              </a:lnSpc>
              <a:spcBef>
                <a:spcPts val="140"/>
              </a:spcBef>
              <a:spcAft>
                <a:spcPts val="0"/>
              </a:spcAft>
              <a:buClr>
                <a:schemeClr val="dk1"/>
              </a:buClr>
              <a:buSzPct val="100000"/>
              <a:buNone/>
            </a:pPr>
            <a:r>
              <a:rPr lang="en-MY" sz="2000">
                <a:latin typeface="Noto Sans Symbols"/>
                <a:ea typeface="Noto Sans Symbols"/>
                <a:cs typeface="Noto Sans Symbols"/>
                <a:sym typeface="Noto Sans Symbols"/>
              </a:rPr>
              <a:t>	</a:t>
            </a:r>
            <a:endParaRPr sz="2000"/>
          </a:p>
        </p:txBody>
      </p:sp>
      <p:sp>
        <p:nvSpPr>
          <p:cNvPr id="262" name="Google Shape;262;p6"/>
          <p:cNvSpPr txBox="1"/>
          <p:nvPr>
            <p:ph idx="11" type="ftr"/>
          </p:nvPr>
        </p:nvSpPr>
        <p:spPr>
          <a:xfrm>
            <a:off x="3993777" y="6620436"/>
            <a:ext cx="4191000" cy="304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MY"/>
              <a:t>Software Engineering</a:t>
            </a:r>
            <a:endParaRPr/>
          </a:p>
        </p:txBody>
      </p:sp>
      <p:sp>
        <p:nvSpPr>
          <p:cNvPr id="263" name="Google Shape;263;p6"/>
          <p:cNvSpPr txBox="1"/>
          <p:nvPr>
            <p:ph idx="12" type="sldNum"/>
          </p:nvPr>
        </p:nvSpPr>
        <p:spPr>
          <a:xfrm>
            <a:off x="8077200" y="6598397"/>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MY"/>
              <a:t>‹#›</a:t>
            </a:fld>
            <a:endParaRPr/>
          </a:p>
        </p:txBody>
      </p:sp>
      <p:sp>
        <p:nvSpPr>
          <p:cNvPr id="264" name="Google Shape;264;p6"/>
          <p:cNvSpPr txBox="1"/>
          <p:nvPr>
            <p:ph idx="10" type="dt"/>
          </p:nvPr>
        </p:nvSpPr>
        <p:spPr>
          <a:xfrm>
            <a:off x="1981200" y="6598397"/>
            <a:ext cx="2133600" cy="365125"/>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MY"/>
              <a:t>2021</a:t>
            </a:r>
            <a:endParaRPr/>
          </a:p>
        </p:txBody>
      </p:sp>
      <p:pic>
        <p:nvPicPr>
          <p:cNvPr id="265" name="Google Shape;265;p6" title="Image May 22, 2025, 10_49_55 AM.png"/>
          <p:cNvPicPr preferRelativeResize="0"/>
          <p:nvPr/>
        </p:nvPicPr>
        <p:blipFill rotWithShape="1">
          <a:blip r:embed="rId3">
            <a:alphaModFix/>
          </a:blip>
          <a:srcRect b="0" l="0" r="0" t="0"/>
          <a:stretch/>
        </p:blipFill>
        <p:spPr>
          <a:xfrm>
            <a:off x="8077200" y="1730250"/>
            <a:ext cx="2707425" cy="4061100"/>
          </a:xfrm>
          <a:prstGeom prst="rect">
            <a:avLst/>
          </a:prstGeom>
          <a:noFill/>
          <a:ln>
            <a:noFill/>
          </a:ln>
          <a:effectLst>
            <a:outerShdw blurRad="57150" rotWithShape="0" algn="bl" dir="5400000" dist="19050">
              <a:srgbClr val="000000">
                <a:alpha val="49803"/>
              </a:srgbClr>
            </a:outerShdw>
          </a:effectLst>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g35afd35145d_0_42"/>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4000"/>
              <a:buNone/>
            </a:pPr>
            <a:r>
              <a:rPr lang="en-MY"/>
              <a:t>Epic and User Story </a:t>
            </a:r>
            <a:endParaRPr/>
          </a:p>
        </p:txBody>
      </p:sp>
      <p:sp>
        <p:nvSpPr>
          <p:cNvPr id="272" name="Google Shape;272;g35afd35145d_0_42"/>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SzPts val="1800"/>
              <a:buNone/>
            </a:pPr>
            <a:r>
              <a:t/>
            </a:r>
            <a:endParaRPr/>
          </a:p>
        </p:txBody>
      </p:sp>
      <p:pic>
        <p:nvPicPr>
          <p:cNvPr id="273" name="Google Shape;273;g35afd35145d_0_42" title="epic vs user story.png"/>
          <p:cNvPicPr preferRelativeResize="0"/>
          <p:nvPr/>
        </p:nvPicPr>
        <p:blipFill rotWithShape="1">
          <a:blip r:embed="rId3">
            <a:alphaModFix/>
          </a:blip>
          <a:srcRect b="0" l="0" r="0" t="0"/>
          <a:stretch/>
        </p:blipFill>
        <p:spPr>
          <a:xfrm>
            <a:off x="1382878" y="1949925"/>
            <a:ext cx="9866296" cy="42269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g35afd35145d_0_31"/>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4000"/>
              <a:buNone/>
            </a:pPr>
            <a:r>
              <a:rPr lang="en-MY"/>
              <a:t>Product Backlog Grooming</a:t>
            </a:r>
            <a:endParaRPr/>
          </a:p>
        </p:txBody>
      </p:sp>
      <p:pic>
        <p:nvPicPr>
          <p:cNvPr id="280" name="Google Shape;280;g35afd35145d_0_31"/>
          <p:cNvPicPr preferRelativeResize="0"/>
          <p:nvPr/>
        </p:nvPicPr>
        <p:blipFill rotWithShape="1">
          <a:blip r:embed="rId3">
            <a:alphaModFix/>
          </a:blip>
          <a:srcRect b="0" l="0" r="0" t="0"/>
          <a:stretch/>
        </p:blipFill>
        <p:spPr>
          <a:xfrm>
            <a:off x="365850" y="1996975"/>
            <a:ext cx="4295250" cy="3223500"/>
          </a:xfrm>
          <a:prstGeom prst="rect">
            <a:avLst/>
          </a:prstGeom>
          <a:noFill/>
          <a:ln>
            <a:noFill/>
          </a:ln>
          <a:effectLst>
            <a:outerShdw blurRad="57150" rotWithShape="0" algn="bl" dir="5400000" dist="19050">
              <a:srgbClr val="000000">
                <a:alpha val="49803"/>
              </a:srgbClr>
            </a:outerShdw>
          </a:effectLst>
        </p:spPr>
      </p:pic>
      <p:sp>
        <p:nvSpPr>
          <p:cNvPr id="281" name="Google Shape;281;g35afd35145d_0_31"/>
          <p:cNvSpPr txBox="1"/>
          <p:nvPr/>
        </p:nvSpPr>
        <p:spPr>
          <a:xfrm>
            <a:off x="4931300" y="1855400"/>
            <a:ext cx="6745500" cy="39621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200"/>
              </a:spcBef>
              <a:spcAft>
                <a:spcPts val="0"/>
              </a:spcAft>
              <a:buClr>
                <a:schemeClr val="dk1"/>
              </a:buClr>
              <a:buSzPts val="1100"/>
              <a:buFont typeface="Arial"/>
              <a:buNone/>
            </a:pPr>
            <a:r>
              <a:rPr b="0" i="0" lang="en-MY" sz="1400" u="none" cap="none" strike="noStrike">
                <a:solidFill>
                  <a:schemeClr val="dk1"/>
                </a:solidFill>
                <a:latin typeface="Calibri"/>
                <a:ea typeface="Calibri"/>
                <a:cs typeface="Calibri"/>
                <a:sym typeface="Calibri"/>
              </a:rPr>
              <a:t>A very important step in the Scrum process  is Product Backlog Grooming which is also called “Product Backlog Refinement.” In Product Backlog Grooming (refinement), the team (or part of the team including the Product Owner) meets regularly to “groom the Product Backlog,” in a formal or informal meeting which can lead to any of the following:⁴</a:t>
            </a:r>
            <a:endParaRPr b="0" i="0" sz="1400" u="none" cap="none" strike="noStrike">
              <a:solidFill>
                <a:schemeClr val="dk1"/>
              </a:solidFill>
              <a:latin typeface="Calibri"/>
              <a:ea typeface="Calibri"/>
              <a:cs typeface="Calibri"/>
              <a:sym typeface="Calibri"/>
            </a:endParaRPr>
          </a:p>
          <a:p>
            <a:pPr indent="-260350" lvl="0" marL="457200" marR="0" rtl="0" algn="l">
              <a:lnSpc>
                <a:spcPct val="150000"/>
              </a:lnSpc>
              <a:spcBef>
                <a:spcPts val="1200"/>
              </a:spcBef>
              <a:spcAft>
                <a:spcPts val="0"/>
              </a:spcAft>
              <a:buClr>
                <a:schemeClr val="dk1"/>
              </a:buClr>
              <a:buSzPts val="500"/>
              <a:buFont typeface="Arial"/>
              <a:buChar char="●"/>
            </a:pPr>
            <a:r>
              <a:rPr b="0" i="0" lang="en-MY" sz="1400" u="none" cap="none" strike="noStrike">
                <a:solidFill>
                  <a:schemeClr val="dk1"/>
                </a:solidFill>
                <a:latin typeface="Calibri"/>
                <a:ea typeface="Calibri"/>
                <a:cs typeface="Calibri"/>
                <a:sym typeface="Calibri"/>
              </a:rPr>
              <a:t>removing user stories that no longer appear relevant</a:t>
            </a:r>
            <a:br>
              <a:rPr b="0" i="0" lang="en-MY" sz="1400" u="none" cap="none" strike="noStrike">
                <a:solidFill>
                  <a:schemeClr val="dk1"/>
                </a:solidFill>
                <a:latin typeface="Calibri"/>
                <a:ea typeface="Calibri"/>
                <a:cs typeface="Calibri"/>
                <a:sym typeface="Calibri"/>
              </a:rPr>
            </a:br>
            <a:r>
              <a:rPr b="0" i="0" lang="en-MY" sz="1400" u="none" cap="none" strike="noStrike">
                <a:solidFill>
                  <a:schemeClr val="dk1"/>
                </a:solidFill>
                <a:latin typeface="Calibri"/>
                <a:ea typeface="Calibri"/>
                <a:cs typeface="Calibri"/>
                <a:sym typeface="Calibri"/>
              </a:rPr>
              <a:t>creating new user stories in response to newly discovered needs</a:t>
            </a:r>
            <a:endParaRPr b="0" i="0" sz="1400" u="none" cap="none" strike="noStrike">
              <a:solidFill>
                <a:schemeClr val="dk1"/>
              </a:solidFill>
              <a:latin typeface="Calibri"/>
              <a:ea typeface="Calibri"/>
              <a:cs typeface="Calibri"/>
              <a:sym typeface="Calibri"/>
            </a:endParaRPr>
          </a:p>
          <a:p>
            <a:pPr indent="-260350" lvl="0" marL="457200" marR="0" rtl="0" algn="l">
              <a:lnSpc>
                <a:spcPct val="150000"/>
              </a:lnSpc>
              <a:spcBef>
                <a:spcPts val="0"/>
              </a:spcBef>
              <a:spcAft>
                <a:spcPts val="0"/>
              </a:spcAft>
              <a:buClr>
                <a:schemeClr val="dk1"/>
              </a:buClr>
              <a:buSzPts val="500"/>
              <a:buFont typeface="Arial"/>
              <a:buChar char="●"/>
            </a:pPr>
            <a:r>
              <a:rPr b="0" i="0" lang="en-MY" sz="1400" u="none" cap="none" strike="noStrike">
                <a:solidFill>
                  <a:schemeClr val="dk1"/>
                </a:solidFill>
                <a:latin typeface="Calibri"/>
                <a:ea typeface="Calibri"/>
                <a:cs typeface="Calibri"/>
                <a:sym typeface="Calibri"/>
              </a:rPr>
              <a:t>reassessing the relative priority of stories</a:t>
            </a:r>
            <a:endParaRPr b="0" i="0" sz="1400" u="none" cap="none" strike="noStrike">
              <a:solidFill>
                <a:schemeClr val="dk1"/>
              </a:solidFill>
              <a:latin typeface="Calibri"/>
              <a:ea typeface="Calibri"/>
              <a:cs typeface="Calibri"/>
              <a:sym typeface="Calibri"/>
            </a:endParaRPr>
          </a:p>
          <a:p>
            <a:pPr indent="-260350" lvl="0" marL="457200" marR="0" rtl="0" algn="l">
              <a:lnSpc>
                <a:spcPct val="150000"/>
              </a:lnSpc>
              <a:spcBef>
                <a:spcPts val="0"/>
              </a:spcBef>
              <a:spcAft>
                <a:spcPts val="0"/>
              </a:spcAft>
              <a:buClr>
                <a:schemeClr val="dk1"/>
              </a:buClr>
              <a:buSzPts val="500"/>
              <a:buFont typeface="Arial"/>
              <a:buChar char="●"/>
            </a:pPr>
            <a:r>
              <a:rPr b="0" i="0" lang="en-MY" sz="1400" u="none" cap="none" strike="noStrike">
                <a:solidFill>
                  <a:schemeClr val="dk1"/>
                </a:solidFill>
                <a:latin typeface="Calibri"/>
                <a:ea typeface="Calibri"/>
                <a:cs typeface="Calibri"/>
                <a:sym typeface="Calibri"/>
              </a:rPr>
              <a:t>assigning estimates to stories which have yet to receive one</a:t>
            </a:r>
            <a:endParaRPr b="0" i="0" sz="1400" u="none" cap="none" strike="noStrike">
              <a:solidFill>
                <a:schemeClr val="dk1"/>
              </a:solidFill>
              <a:latin typeface="Calibri"/>
              <a:ea typeface="Calibri"/>
              <a:cs typeface="Calibri"/>
              <a:sym typeface="Calibri"/>
            </a:endParaRPr>
          </a:p>
          <a:p>
            <a:pPr indent="-260350" lvl="0" marL="457200" marR="0" rtl="0" algn="l">
              <a:lnSpc>
                <a:spcPct val="150000"/>
              </a:lnSpc>
              <a:spcBef>
                <a:spcPts val="0"/>
              </a:spcBef>
              <a:spcAft>
                <a:spcPts val="0"/>
              </a:spcAft>
              <a:buClr>
                <a:schemeClr val="dk1"/>
              </a:buClr>
              <a:buSzPts val="500"/>
              <a:buFont typeface="Arial"/>
              <a:buChar char="●"/>
            </a:pPr>
            <a:r>
              <a:rPr b="0" i="0" lang="en-MY" sz="1400" u="none" cap="none" strike="noStrike">
                <a:solidFill>
                  <a:schemeClr val="dk1"/>
                </a:solidFill>
                <a:latin typeface="Calibri"/>
                <a:ea typeface="Calibri"/>
                <a:cs typeface="Calibri"/>
                <a:sym typeface="Calibri"/>
              </a:rPr>
              <a:t>correcting estimates in light of newly discovered information</a:t>
            </a:r>
            <a:endParaRPr b="0" i="0" sz="1400" u="none" cap="none" strike="noStrike">
              <a:solidFill>
                <a:schemeClr val="dk1"/>
              </a:solidFill>
              <a:latin typeface="Calibri"/>
              <a:ea typeface="Calibri"/>
              <a:cs typeface="Calibri"/>
              <a:sym typeface="Calibri"/>
            </a:endParaRPr>
          </a:p>
          <a:p>
            <a:pPr indent="-260350" lvl="0" marL="457200" marR="0" rtl="0" algn="l">
              <a:lnSpc>
                <a:spcPct val="150000"/>
              </a:lnSpc>
              <a:spcBef>
                <a:spcPts val="0"/>
              </a:spcBef>
              <a:spcAft>
                <a:spcPts val="0"/>
              </a:spcAft>
              <a:buClr>
                <a:schemeClr val="dk1"/>
              </a:buClr>
              <a:buSzPts val="500"/>
              <a:buFont typeface="Arial"/>
              <a:buChar char="●"/>
            </a:pPr>
            <a:r>
              <a:rPr b="0" i="0" lang="en-MY" sz="1400" u="none" cap="none" strike="noStrike">
                <a:solidFill>
                  <a:schemeClr val="dk1"/>
                </a:solidFill>
                <a:latin typeface="Calibri"/>
                <a:ea typeface="Calibri"/>
                <a:cs typeface="Calibri"/>
                <a:sym typeface="Calibri"/>
              </a:rPr>
              <a:t>splitting user stories that are high priority but too coarse-grained to fit in an upcoming iteration.</a:t>
            </a:r>
            <a:endParaRPr b="0" i="0" sz="1400" u="none" cap="none" strike="noStrike">
              <a:solidFill>
                <a:schemeClr val="dk1"/>
              </a:solidFill>
              <a:latin typeface="Calibri"/>
              <a:ea typeface="Calibri"/>
              <a:cs typeface="Calibri"/>
              <a:sym typeface="Calibri"/>
            </a:endParaRPr>
          </a:p>
          <a:p>
            <a:pPr indent="0" lvl="0" marL="0" marR="0" rtl="0" algn="l">
              <a:lnSpc>
                <a:spcPct val="100000"/>
              </a:lnSpc>
              <a:spcBef>
                <a:spcPts val="120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g35afd35145d_1_23"/>
          <p:cNvSpPr txBox="1"/>
          <p:nvPr>
            <p:ph type="title"/>
          </p:nvPr>
        </p:nvSpPr>
        <p:spPr>
          <a:xfrm>
            <a:off x="838200" y="365125"/>
            <a:ext cx="10515600" cy="7785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4000"/>
              <a:buNone/>
            </a:pPr>
            <a:r>
              <a:rPr lang="en-MY"/>
              <a:t>Example: Epic </a:t>
            </a:r>
            <a:endParaRPr/>
          </a:p>
        </p:txBody>
      </p:sp>
      <p:sp>
        <p:nvSpPr>
          <p:cNvPr id="288" name="Google Shape;288;g35afd35145d_1_23"/>
          <p:cNvSpPr txBox="1"/>
          <p:nvPr>
            <p:ph idx="1" type="body"/>
          </p:nvPr>
        </p:nvSpPr>
        <p:spPr>
          <a:xfrm>
            <a:off x="838200" y="1441775"/>
            <a:ext cx="10515600" cy="43512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400"/>
              </a:spcBef>
              <a:spcAft>
                <a:spcPts val="0"/>
              </a:spcAft>
              <a:buClr>
                <a:schemeClr val="dk1"/>
              </a:buClr>
              <a:buSzPts val="1100"/>
              <a:buFont typeface="Arial"/>
              <a:buNone/>
            </a:pPr>
            <a:r>
              <a:rPr b="1" i="1" lang="en-MY" sz="2000">
                <a:solidFill>
                  <a:schemeClr val="accent1"/>
                </a:solidFill>
                <a:latin typeface="Arial"/>
                <a:ea typeface="Arial"/>
                <a:cs typeface="Arial"/>
                <a:sym typeface="Arial"/>
              </a:rPr>
              <a:t>Epic 1</a:t>
            </a:r>
            <a:r>
              <a:rPr b="1" lang="en-MY" sz="2000">
                <a:solidFill>
                  <a:schemeClr val="accent1"/>
                </a:solidFill>
                <a:latin typeface="Arial"/>
                <a:ea typeface="Arial"/>
                <a:cs typeface="Arial"/>
                <a:sym typeface="Arial"/>
              </a:rPr>
              <a:t>: Build Basic Website Interface</a:t>
            </a:r>
            <a:endParaRPr b="1" sz="2000">
              <a:solidFill>
                <a:schemeClr val="accent1"/>
              </a:solidFill>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i="1" lang="en-MY" sz="1800">
                <a:latin typeface="Arial"/>
                <a:ea typeface="Arial"/>
                <a:cs typeface="Arial"/>
                <a:sym typeface="Arial"/>
              </a:rPr>
              <a:t>As a customer, I want to browse the pizza menu online so that I can easily view available options before placing an order.</a:t>
            </a:r>
            <a:endParaRPr i="1" sz="1800">
              <a:latin typeface="Arial"/>
              <a:ea typeface="Arial"/>
              <a:cs typeface="Arial"/>
              <a:sym typeface="Arial"/>
            </a:endParaRPr>
          </a:p>
          <a:p>
            <a:pPr indent="0" lvl="0" marL="0" rtl="0" algn="l">
              <a:lnSpc>
                <a:spcPct val="115000"/>
              </a:lnSpc>
              <a:spcBef>
                <a:spcPts val="1400"/>
              </a:spcBef>
              <a:spcAft>
                <a:spcPts val="0"/>
              </a:spcAft>
              <a:buClr>
                <a:schemeClr val="dk1"/>
              </a:buClr>
              <a:buSzPts val="1100"/>
              <a:buFont typeface="Arial"/>
              <a:buNone/>
            </a:pPr>
            <a:r>
              <a:rPr b="1" i="1" lang="en-MY" sz="2000">
                <a:solidFill>
                  <a:schemeClr val="accent1"/>
                </a:solidFill>
                <a:latin typeface="Arial"/>
                <a:ea typeface="Arial"/>
                <a:cs typeface="Arial"/>
                <a:sym typeface="Arial"/>
              </a:rPr>
              <a:t>Epic 2</a:t>
            </a:r>
            <a:r>
              <a:rPr b="1" lang="en-MY" sz="2000">
                <a:solidFill>
                  <a:schemeClr val="accent1"/>
                </a:solidFill>
                <a:latin typeface="Arial"/>
                <a:ea typeface="Arial"/>
                <a:cs typeface="Arial"/>
                <a:sym typeface="Arial"/>
              </a:rPr>
              <a:t>: Implement Online Payment System</a:t>
            </a:r>
            <a:endParaRPr b="1" sz="2000">
              <a:solidFill>
                <a:schemeClr val="accent1"/>
              </a:solidFill>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i="1" lang="en-MY" sz="1800">
                <a:latin typeface="Arial"/>
                <a:ea typeface="Arial"/>
                <a:cs typeface="Arial"/>
                <a:sym typeface="Arial"/>
              </a:rPr>
              <a:t>As a customer, I want to pay for my order online so that I don’t have to use cash or handle money during delivery.</a:t>
            </a:r>
            <a:endParaRPr i="1" sz="1800">
              <a:latin typeface="Arial"/>
              <a:ea typeface="Arial"/>
              <a:cs typeface="Arial"/>
              <a:sym typeface="Arial"/>
            </a:endParaRPr>
          </a:p>
          <a:p>
            <a:pPr indent="0" lvl="0" marL="0" rtl="0" algn="l">
              <a:lnSpc>
                <a:spcPct val="115000"/>
              </a:lnSpc>
              <a:spcBef>
                <a:spcPts val="1400"/>
              </a:spcBef>
              <a:spcAft>
                <a:spcPts val="0"/>
              </a:spcAft>
              <a:buClr>
                <a:schemeClr val="dk1"/>
              </a:buClr>
              <a:buSzPts val="1100"/>
              <a:buFont typeface="Arial"/>
              <a:buNone/>
            </a:pPr>
            <a:r>
              <a:rPr b="1" i="1" lang="en-MY" sz="2000">
                <a:solidFill>
                  <a:schemeClr val="accent1"/>
                </a:solidFill>
                <a:latin typeface="Arial"/>
                <a:ea typeface="Arial"/>
                <a:cs typeface="Arial"/>
                <a:sym typeface="Arial"/>
              </a:rPr>
              <a:t>Epic 3</a:t>
            </a:r>
            <a:r>
              <a:rPr b="1" lang="en-MY" sz="2000">
                <a:solidFill>
                  <a:schemeClr val="accent1"/>
                </a:solidFill>
                <a:latin typeface="Arial"/>
                <a:ea typeface="Arial"/>
                <a:cs typeface="Arial"/>
                <a:sym typeface="Arial"/>
              </a:rPr>
              <a:t>: Enable Custom Pizza Creation</a:t>
            </a:r>
            <a:endParaRPr b="1" sz="2000">
              <a:solidFill>
                <a:schemeClr val="accent1"/>
              </a:solidFill>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i="1" lang="en-MY" sz="1800">
                <a:latin typeface="Arial"/>
                <a:ea typeface="Arial"/>
                <a:cs typeface="Arial"/>
                <a:sym typeface="Arial"/>
              </a:rPr>
              <a:t>As a customer, I want to create my own pizza by selecting ingredients, so that I can personalize my order to my preference.</a:t>
            </a:r>
            <a:endParaRPr i="1" sz="1800">
              <a:latin typeface="Arial"/>
              <a:ea typeface="Arial"/>
              <a:cs typeface="Arial"/>
              <a:sym typeface="Arial"/>
            </a:endParaRPr>
          </a:p>
          <a:p>
            <a:pPr indent="0" lvl="0" marL="0" rtl="0" algn="l">
              <a:lnSpc>
                <a:spcPct val="90000"/>
              </a:lnSpc>
              <a:spcBef>
                <a:spcPts val="1200"/>
              </a:spcBef>
              <a:spcAft>
                <a:spcPts val="0"/>
              </a:spcAft>
              <a:buSzPts val="1800"/>
              <a:buNone/>
            </a:pPr>
            <a:r>
              <a:t/>
            </a:r>
            <a:endParaRPr b="1" sz="3700"/>
          </a:p>
        </p:txBody>
      </p:sp>
      <p:sp>
        <p:nvSpPr>
          <p:cNvPr id="289" name="Google Shape;289;g35afd35145d_1_23"/>
          <p:cNvSpPr/>
          <p:nvPr/>
        </p:nvSpPr>
        <p:spPr>
          <a:xfrm>
            <a:off x="92100" y="1441775"/>
            <a:ext cx="746100" cy="537600"/>
          </a:xfrm>
          <a:prstGeom prst="rightArrow">
            <a:avLst>
              <a:gd fmla="val 50000" name="adj1"/>
              <a:gd fmla="val 50000" name="adj2"/>
            </a:avLst>
          </a:prstGeom>
          <a:solidFill>
            <a:schemeClr val="accent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8"/>
          <p:cNvSpPr txBox="1"/>
          <p:nvPr>
            <p:ph type="title"/>
          </p:nvPr>
        </p:nvSpPr>
        <p:spPr>
          <a:xfrm>
            <a:off x="858982" y="274638"/>
            <a:ext cx="9351818" cy="11430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Clr>
                <a:schemeClr val="dk1"/>
              </a:buClr>
              <a:buSzPct val="100000"/>
              <a:buFont typeface="Calibri"/>
              <a:buNone/>
            </a:pPr>
            <a:r>
              <a:rPr b="1" lang="en-MY"/>
              <a:t>Components of Product Backlog Items (PBIs)</a:t>
            </a:r>
            <a:endParaRPr/>
          </a:p>
        </p:txBody>
      </p:sp>
      <p:sp>
        <p:nvSpPr>
          <p:cNvPr id="296" name="Google Shape;296;p8"/>
          <p:cNvSpPr txBox="1"/>
          <p:nvPr>
            <p:ph idx="11" type="ftr"/>
          </p:nvPr>
        </p:nvSpPr>
        <p:spPr>
          <a:xfrm>
            <a:off x="3993777" y="6620436"/>
            <a:ext cx="4191000" cy="304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MY"/>
              <a:t>Software Engineering</a:t>
            </a:r>
            <a:endParaRPr/>
          </a:p>
        </p:txBody>
      </p:sp>
      <p:sp>
        <p:nvSpPr>
          <p:cNvPr id="297" name="Google Shape;297;p8"/>
          <p:cNvSpPr txBox="1"/>
          <p:nvPr>
            <p:ph idx="12" type="sldNum"/>
          </p:nvPr>
        </p:nvSpPr>
        <p:spPr>
          <a:xfrm>
            <a:off x="8077200" y="6598397"/>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MY"/>
              <a:t>‹#›</a:t>
            </a:fld>
            <a:endParaRPr/>
          </a:p>
        </p:txBody>
      </p:sp>
      <p:sp>
        <p:nvSpPr>
          <p:cNvPr id="298" name="Google Shape;298;p8"/>
          <p:cNvSpPr txBox="1"/>
          <p:nvPr>
            <p:ph idx="10" type="dt"/>
          </p:nvPr>
        </p:nvSpPr>
        <p:spPr>
          <a:xfrm>
            <a:off x="1981200" y="6598397"/>
            <a:ext cx="2133600" cy="365125"/>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MY"/>
              <a:t>2021</a:t>
            </a:r>
            <a:endParaRPr/>
          </a:p>
        </p:txBody>
      </p:sp>
      <p:sp>
        <p:nvSpPr>
          <p:cNvPr id="299" name="Google Shape;299;p8"/>
          <p:cNvSpPr txBox="1"/>
          <p:nvPr/>
        </p:nvSpPr>
        <p:spPr>
          <a:xfrm>
            <a:off x="1170710" y="1275873"/>
            <a:ext cx="8728500" cy="18933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chemeClr val="dk1"/>
              </a:buClr>
              <a:buSzPts val="1800"/>
              <a:buFont typeface="Calibri"/>
              <a:buNone/>
            </a:pPr>
            <a:r>
              <a:rPr b="0" i="0" lang="en-MY" sz="1800" u="none" cap="none" strike="noStrike">
                <a:solidFill>
                  <a:schemeClr val="dk1"/>
                </a:solidFill>
                <a:latin typeface="Calibri"/>
                <a:ea typeface="Calibri"/>
                <a:cs typeface="Calibri"/>
                <a:sym typeface="Calibri"/>
              </a:rPr>
              <a:t>Each item in the backlog typically includes:</a:t>
            </a:r>
            <a:endParaRPr b="0" i="0" sz="1400" u="none" cap="none" strike="noStrike">
              <a:solidFill>
                <a:srgbClr val="000000"/>
              </a:solidFill>
              <a:latin typeface="Arial"/>
              <a:ea typeface="Arial"/>
              <a:cs typeface="Arial"/>
              <a:sym typeface="Arial"/>
            </a:endParaRPr>
          </a:p>
          <a:p>
            <a:pPr indent="-342900" lvl="0" marL="457200" marR="0" rtl="0" algn="l">
              <a:lnSpc>
                <a:spcPct val="100000"/>
              </a:lnSpc>
              <a:spcBef>
                <a:spcPts val="0"/>
              </a:spcBef>
              <a:spcAft>
                <a:spcPts val="0"/>
              </a:spcAft>
              <a:buClr>
                <a:schemeClr val="dk1"/>
              </a:buClr>
              <a:buSzPts val="1800"/>
              <a:buFont typeface="Calibri"/>
              <a:buChar char="•"/>
            </a:pPr>
            <a:r>
              <a:rPr b="1" i="0" lang="en-MY" sz="1800" u="none" cap="none" strike="noStrike">
                <a:solidFill>
                  <a:schemeClr val="dk1"/>
                </a:solidFill>
                <a:latin typeface="Calibri"/>
                <a:ea typeface="Calibri"/>
                <a:cs typeface="Calibri"/>
                <a:sym typeface="Calibri"/>
              </a:rPr>
              <a:t>Title</a:t>
            </a:r>
            <a:r>
              <a:rPr b="0" i="0" lang="en-MY" sz="1800" u="none" cap="none" strike="noStrike">
                <a:solidFill>
                  <a:schemeClr val="dk1"/>
                </a:solidFill>
                <a:latin typeface="Calibri"/>
                <a:ea typeface="Calibri"/>
                <a:cs typeface="Calibri"/>
                <a:sym typeface="Calibri"/>
              </a:rPr>
              <a:t> or </a:t>
            </a:r>
            <a:r>
              <a:rPr b="1" i="0" lang="en-MY" sz="1800" u="none" cap="none" strike="noStrike">
                <a:solidFill>
                  <a:schemeClr val="dk1"/>
                </a:solidFill>
                <a:latin typeface="Calibri"/>
                <a:ea typeface="Calibri"/>
                <a:cs typeface="Calibri"/>
                <a:sym typeface="Calibri"/>
              </a:rPr>
              <a:t>ID</a:t>
            </a:r>
            <a:endParaRPr b="0" i="0" sz="1400" u="none" cap="none" strike="noStrike">
              <a:solidFill>
                <a:srgbClr val="000000"/>
              </a:solidFill>
              <a:latin typeface="Arial"/>
              <a:ea typeface="Arial"/>
              <a:cs typeface="Arial"/>
              <a:sym typeface="Arial"/>
            </a:endParaRPr>
          </a:p>
          <a:p>
            <a:pPr indent="-342900" lvl="0" marL="457200" marR="0" rtl="0" algn="l">
              <a:lnSpc>
                <a:spcPct val="100000"/>
              </a:lnSpc>
              <a:spcBef>
                <a:spcPts val="0"/>
              </a:spcBef>
              <a:spcAft>
                <a:spcPts val="0"/>
              </a:spcAft>
              <a:buClr>
                <a:schemeClr val="dk1"/>
              </a:buClr>
              <a:buSzPts val="1800"/>
              <a:buFont typeface="Calibri"/>
              <a:buChar char="•"/>
            </a:pPr>
            <a:r>
              <a:rPr b="1" i="0" lang="en-MY" sz="1800" u="none" cap="none" strike="noStrike">
                <a:solidFill>
                  <a:schemeClr val="dk1"/>
                </a:solidFill>
                <a:latin typeface="Calibri"/>
                <a:ea typeface="Calibri"/>
                <a:cs typeface="Calibri"/>
                <a:sym typeface="Calibri"/>
              </a:rPr>
              <a:t>User Story / Description</a:t>
            </a:r>
            <a:r>
              <a:rPr b="0" i="0" lang="en-MY" sz="1800" u="none" cap="none" strike="noStrike">
                <a:solidFill>
                  <a:schemeClr val="dk1"/>
                </a:solidFill>
                <a:latin typeface="Calibri"/>
                <a:ea typeface="Calibri"/>
                <a:cs typeface="Calibri"/>
                <a:sym typeface="Calibri"/>
              </a:rPr>
              <a:t> (e.g., "As a user, I want...")</a:t>
            </a:r>
            <a:endParaRPr b="0" i="0" sz="1400" u="none" cap="none" strike="noStrike">
              <a:solidFill>
                <a:srgbClr val="000000"/>
              </a:solidFill>
              <a:latin typeface="Arial"/>
              <a:ea typeface="Arial"/>
              <a:cs typeface="Arial"/>
              <a:sym typeface="Arial"/>
            </a:endParaRPr>
          </a:p>
          <a:p>
            <a:pPr indent="-342900" lvl="0" marL="457200" marR="0" rtl="0" algn="l">
              <a:lnSpc>
                <a:spcPct val="100000"/>
              </a:lnSpc>
              <a:spcBef>
                <a:spcPts val="0"/>
              </a:spcBef>
              <a:spcAft>
                <a:spcPts val="0"/>
              </a:spcAft>
              <a:buClr>
                <a:schemeClr val="dk1"/>
              </a:buClr>
              <a:buSzPts val="1800"/>
              <a:buFont typeface="Calibri"/>
              <a:buChar char="•"/>
            </a:pPr>
            <a:r>
              <a:rPr b="1" i="0" lang="en-MY" sz="1800" u="none" cap="none" strike="noStrike">
                <a:solidFill>
                  <a:schemeClr val="dk1"/>
                </a:solidFill>
                <a:latin typeface="Calibri"/>
                <a:ea typeface="Calibri"/>
                <a:cs typeface="Calibri"/>
                <a:sym typeface="Calibri"/>
              </a:rPr>
              <a:t>Priority / Ranking</a:t>
            </a:r>
            <a:endParaRPr b="0" i="0" sz="1800" u="none" cap="none" strike="noStrike">
              <a:solidFill>
                <a:schemeClr val="dk1"/>
              </a:solidFill>
              <a:latin typeface="Calibri"/>
              <a:ea typeface="Calibri"/>
              <a:cs typeface="Calibri"/>
              <a:sym typeface="Calibri"/>
            </a:endParaRPr>
          </a:p>
          <a:p>
            <a:pPr indent="-342900" lvl="0" marL="457200" marR="0" rtl="0" algn="l">
              <a:lnSpc>
                <a:spcPct val="100000"/>
              </a:lnSpc>
              <a:spcBef>
                <a:spcPts val="0"/>
              </a:spcBef>
              <a:spcAft>
                <a:spcPts val="0"/>
              </a:spcAft>
              <a:buClr>
                <a:schemeClr val="dk1"/>
              </a:buClr>
              <a:buSzPts val="1800"/>
              <a:buFont typeface="Calibri"/>
              <a:buChar char="•"/>
            </a:pPr>
            <a:r>
              <a:rPr b="1" i="0" lang="en-MY" sz="1800" u="none" cap="none" strike="noStrike">
                <a:solidFill>
                  <a:schemeClr val="dk1"/>
                </a:solidFill>
                <a:latin typeface="Calibri"/>
                <a:ea typeface="Calibri"/>
                <a:cs typeface="Calibri"/>
                <a:sym typeface="Calibri"/>
              </a:rPr>
              <a:t>Estimation</a:t>
            </a:r>
            <a:r>
              <a:rPr b="0" i="0" lang="en-MY" sz="1800" u="none" cap="none" strike="noStrike">
                <a:solidFill>
                  <a:schemeClr val="dk1"/>
                </a:solidFill>
                <a:latin typeface="Calibri"/>
                <a:ea typeface="Calibri"/>
                <a:cs typeface="Calibri"/>
                <a:sym typeface="Calibri"/>
              </a:rPr>
              <a:t> (e.g., story points)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aphicFrame>
        <p:nvGraphicFramePr>
          <p:cNvPr id="300" name="Google Shape;300;p8"/>
          <p:cNvGraphicFramePr/>
          <p:nvPr/>
        </p:nvGraphicFramePr>
        <p:xfrm>
          <a:off x="576284" y="3681162"/>
          <a:ext cx="3000000" cy="3000000"/>
        </p:xfrm>
        <a:graphic>
          <a:graphicData uri="http://schemas.openxmlformats.org/drawingml/2006/table">
            <a:tbl>
              <a:tblPr bandRow="1" firstRow="1">
                <a:noFill/>
                <a:tableStyleId>{B56764A5-D5AB-4547-BF98-85EDDABA9C88}</a:tableStyleId>
              </a:tblPr>
              <a:tblGrid>
                <a:gridCol w="2091175"/>
                <a:gridCol w="870775"/>
                <a:gridCol w="3904750"/>
                <a:gridCol w="2814500"/>
                <a:gridCol w="1444000"/>
              </a:tblGrid>
              <a:tr h="291250">
                <a:tc>
                  <a:txBody>
                    <a:bodyPr/>
                    <a:lstStyle/>
                    <a:p>
                      <a:pPr indent="0" lvl="0" marL="0" marR="0" rtl="0" algn="l">
                        <a:lnSpc>
                          <a:spcPct val="100000"/>
                        </a:lnSpc>
                        <a:spcBef>
                          <a:spcPts val="0"/>
                        </a:spcBef>
                        <a:spcAft>
                          <a:spcPts val="0"/>
                        </a:spcAft>
                        <a:buClr>
                          <a:srgbClr val="000000"/>
                        </a:buClr>
                        <a:buSzPts val="1700"/>
                        <a:buFont typeface="Arial"/>
                        <a:buNone/>
                      </a:pPr>
                      <a:r>
                        <a:rPr lang="en-MY" sz="1700" u="none" cap="none" strike="noStrike"/>
                        <a:t>Epic</a:t>
                      </a:r>
                      <a:endParaRPr sz="17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1700"/>
                        <a:buFont typeface="Arial"/>
                        <a:buNone/>
                      </a:pPr>
                      <a:r>
                        <a:rPr lang="en-MY" sz="1700" u="none" cap="none" strike="noStrike"/>
                        <a:t>ID</a:t>
                      </a:r>
                      <a:endParaRPr sz="17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1700"/>
                        <a:buFont typeface="Arial"/>
                        <a:buNone/>
                      </a:pPr>
                      <a:r>
                        <a:rPr lang="en-MY" sz="1700" u="none" cap="none" strike="noStrike"/>
                        <a:t>User Story</a:t>
                      </a:r>
                      <a:endParaRPr sz="17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1700"/>
                        <a:buFont typeface="Arial"/>
                        <a:buNone/>
                      </a:pPr>
                      <a:r>
                        <a:rPr lang="en-MY" sz="1700" u="none" cap="none" strike="noStrike"/>
                        <a:t>Priority</a:t>
                      </a:r>
                      <a:endParaRPr sz="17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1700"/>
                        <a:buFont typeface="Arial"/>
                        <a:buNone/>
                      </a:pPr>
                      <a:r>
                        <a:rPr lang="en-MY" sz="1700" u="none" cap="none" strike="noStrike"/>
                        <a:t>Estimation</a:t>
                      </a:r>
                      <a:endParaRPr sz="1700" u="none" cap="none" strike="noStrike"/>
                    </a:p>
                  </a:txBody>
                  <a:tcPr marT="45725" marB="45725" marR="91450" marL="91450" anchor="ctr"/>
                </a:tc>
              </a:tr>
              <a:tr h="582475">
                <a:tc rowSpan="2">
                  <a:txBody>
                    <a:bodyPr/>
                    <a:lstStyle/>
                    <a:p>
                      <a:pPr indent="0" lvl="0" marL="0" marR="0" rtl="0" algn="l">
                        <a:lnSpc>
                          <a:spcPct val="115000"/>
                        </a:lnSpc>
                        <a:spcBef>
                          <a:spcPts val="0"/>
                        </a:spcBef>
                        <a:spcAft>
                          <a:spcPts val="0"/>
                        </a:spcAft>
                        <a:buClr>
                          <a:srgbClr val="000000"/>
                        </a:buClr>
                        <a:buSzPts val="1300"/>
                        <a:buFont typeface="Arial"/>
                        <a:buNone/>
                      </a:pPr>
                      <a:r>
                        <a:rPr i="1" lang="en-MY" sz="1300" u="none" cap="none" strike="noStrike">
                          <a:solidFill>
                            <a:schemeClr val="dk1"/>
                          </a:solidFill>
                        </a:rPr>
                        <a:t>As a customer, I want to browse the pizza menu online so that I can easily view available options before placing an order.</a:t>
                      </a:r>
                      <a:endParaRPr sz="1200" u="none" cap="none" strike="noStrike">
                        <a:solidFill>
                          <a:schemeClr val="dk1"/>
                        </a:solidFill>
                        <a:latin typeface="Calibri"/>
                        <a:ea typeface="Calibri"/>
                        <a:cs typeface="Calibri"/>
                        <a:sym typeface="Calibri"/>
                      </a:endParaRPr>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1700"/>
                        <a:buFont typeface="Arial"/>
                        <a:buNone/>
                      </a:pPr>
                      <a:r>
                        <a:rPr lang="en-MY" sz="1700" u="none" cap="none" strike="noStrike"/>
                        <a:t>USI01</a:t>
                      </a:r>
                      <a:endParaRPr sz="1700" u="none" cap="none" strike="noStrike"/>
                    </a:p>
                  </a:txBody>
                  <a:tcPr marT="45725" marB="45725" marR="91450" marL="91450" anchor="ctr"/>
                </a:tc>
                <a:tc>
                  <a:txBody>
                    <a:bodyPr/>
                    <a:lstStyle/>
                    <a:p>
                      <a:pPr indent="0" lvl="0" marL="0" marR="0" rtl="0" algn="l">
                        <a:lnSpc>
                          <a:spcPct val="100000"/>
                        </a:lnSpc>
                        <a:spcBef>
                          <a:spcPts val="0"/>
                        </a:spcBef>
                        <a:spcAft>
                          <a:spcPts val="0"/>
                        </a:spcAft>
                        <a:buClr>
                          <a:schemeClr val="dk1"/>
                        </a:buClr>
                        <a:buSzPts val="1100"/>
                        <a:buFont typeface="Arial"/>
                        <a:buNone/>
                      </a:pPr>
                      <a:r>
                        <a:rPr lang="en-MY" sz="1700" u="none" cap="none" strike="noStrike"/>
                        <a:t>As a customer, I want to view a pizza menu with images and prices.</a:t>
                      </a:r>
                      <a:endParaRPr sz="17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700"/>
                        <a:buFont typeface="Arial"/>
                        <a:buNone/>
                      </a:pPr>
                      <a:r>
                        <a:rPr lang="en-MY" sz="1700" u="none" cap="none" strike="noStrike"/>
                        <a:t>High</a:t>
                      </a:r>
                      <a:endParaRPr sz="17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1700"/>
                        <a:buFont typeface="Arial"/>
                        <a:buNone/>
                      </a:pPr>
                      <a:r>
                        <a:rPr lang="en-MY" sz="1700" u="none" cap="none" strike="noStrike"/>
                        <a:t>5 SP</a:t>
                      </a:r>
                      <a:endParaRPr sz="1700" u="none" cap="none" strike="noStrike"/>
                    </a:p>
                  </a:txBody>
                  <a:tcPr marT="45725" marB="45725" marR="91450" marL="91450" anchor="ctr"/>
                </a:tc>
              </a:tr>
              <a:tr h="582475">
                <a:tc vMerge="1"/>
                <a:tc>
                  <a:txBody>
                    <a:bodyPr/>
                    <a:lstStyle/>
                    <a:p>
                      <a:pPr indent="0" lvl="0" marL="0" marR="0" rtl="0" algn="l">
                        <a:lnSpc>
                          <a:spcPct val="100000"/>
                        </a:lnSpc>
                        <a:spcBef>
                          <a:spcPts val="0"/>
                        </a:spcBef>
                        <a:spcAft>
                          <a:spcPts val="0"/>
                        </a:spcAft>
                        <a:buClr>
                          <a:srgbClr val="000000"/>
                        </a:buClr>
                        <a:buSzPts val="1700"/>
                        <a:buFont typeface="Arial"/>
                        <a:buNone/>
                      </a:pPr>
                      <a:r>
                        <a:rPr lang="en-MY" sz="1700" u="none" cap="none" strike="noStrike"/>
                        <a:t>USI02</a:t>
                      </a:r>
                      <a:endParaRPr sz="1700" u="none" cap="none" strike="noStrike"/>
                    </a:p>
                  </a:txBody>
                  <a:tcPr marT="45725" marB="45725" marR="91450" marL="91450" anchor="ctr"/>
                </a:tc>
                <a:tc>
                  <a:txBody>
                    <a:bodyPr/>
                    <a:lstStyle/>
                    <a:p>
                      <a:pPr indent="0" lvl="0" marL="0" marR="0" rtl="0" algn="l">
                        <a:lnSpc>
                          <a:spcPct val="100000"/>
                        </a:lnSpc>
                        <a:spcBef>
                          <a:spcPts val="0"/>
                        </a:spcBef>
                        <a:spcAft>
                          <a:spcPts val="0"/>
                        </a:spcAft>
                        <a:buClr>
                          <a:schemeClr val="dk1"/>
                        </a:buClr>
                        <a:buSzPts val="1100"/>
                        <a:buFont typeface="Arial"/>
                        <a:buNone/>
                      </a:pPr>
                      <a:r>
                        <a:rPr lang="en-MY" sz="1700" u="none" cap="none" strike="noStrike"/>
                        <a:t>As a customer, I want to add pizzas to a cart and review my order.</a:t>
                      </a:r>
                      <a:endParaRPr sz="17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700"/>
                        <a:buFont typeface="Arial"/>
                        <a:buNone/>
                      </a:pPr>
                      <a:r>
                        <a:rPr lang="en-MY" sz="1700" u="none" cap="none" strike="noStrike"/>
                        <a:t>High</a:t>
                      </a:r>
                      <a:endParaRPr sz="17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1700"/>
                        <a:buFont typeface="Arial"/>
                        <a:buNone/>
                      </a:pPr>
                      <a:r>
                        <a:rPr lang="en-MY" sz="1700" u="none" cap="none" strike="noStrike"/>
                        <a:t>8 SP</a:t>
                      </a:r>
                      <a:endParaRPr sz="1700" u="none" cap="none" strike="noStrike"/>
                    </a:p>
                    <a:p>
                      <a:pPr indent="0" lvl="0" marL="0" marR="0" rtl="0" algn="l">
                        <a:lnSpc>
                          <a:spcPct val="100000"/>
                        </a:lnSpc>
                        <a:spcBef>
                          <a:spcPts val="0"/>
                        </a:spcBef>
                        <a:spcAft>
                          <a:spcPts val="0"/>
                        </a:spcAft>
                        <a:buClr>
                          <a:srgbClr val="000000"/>
                        </a:buClr>
                        <a:buSzPts val="1700"/>
                        <a:buFont typeface="Arial"/>
                        <a:buNone/>
                      </a:pPr>
                      <a:r>
                        <a:t/>
                      </a:r>
                      <a:endParaRPr sz="1700" u="none" cap="none" strike="noStrike"/>
                    </a:p>
                  </a:txBody>
                  <a:tcPr marT="45725" marB="45725" marR="91450" marL="91450" anchor="ctr"/>
                </a:tc>
              </a:tr>
            </a:tbl>
          </a:graphicData>
        </a:graphic>
      </p:graphicFrame>
      <p:sp>
        <p:nvSpPr>
          <p:cNvPr id="301" name="Google Shape;301;p8"/>
          <p:cNvSpPr txBox="1"/>
          <p:nvPr/>
        </p:nvSpPr>
        <p:spPr>
          <a:xfrm>
            <a:off x="576271" y="3244350"/>
            <a:ext cx="68097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MY" sz="1800" u="none" cap="none" strike="noStrike">
                <a:solidFill>
                  <a:schemeClr val="dk1"/>
                </a:solidFill>
                <a:latin typeface="Calibri"/>
                <a:ea typeface="Calibri"/>
                <a:cs typeface="Calibri"/>
                <a:sym typeface="Calibri"/>
              </a:rPr>
              <a:t>Example Product Backlog Items for Pizza Online Order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9"/>
          <p:cNvSpPr txBox="1"/>
          <p:nvPr>
            <p:ph type="title"/>
          </p:nvPr>
        </p:nvSpPr>
        <p:spPr>
          <a:xfrm>
            <a:off x="2246313" y="4406901"/>
            <a:ext cx="7772400" cy="1362075"/>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3200"/>
              <a:buFont typeface="Calibri"/>
              <a:buNone/>
            </a:pPr>
            <a:r>
              <a:rPr lang="en-MY"/>
              <a:t>Sprint Planning </a:t>
            </a:r>
            <a:endParaRPr/>
          </a:p>
        </p:txBody>
      </p:sp>
      <p:sp>
        <p:nvSpPr>
          <p:cNvPr id="307" name="Google Shape;307;p9"/>
          <p:cNvSpPr txBox="1"/>
          <p:nvPr>
            <p:ph idx="1" type="body"/>
          </p:nvPr>
        </p:nvSpPr>
        <p:spPr>
          <a:xfrm>
            <a:off x="2246313" y="2906714"/>
            <a:ext cx="7772400" cy="1500187"/>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rgbClr val="888888"/>
              </a:buClr>
              <a:buSzPts val="2000"/>
              <a:buNone/>
            </a:pPr>
            <a:r>
              <a:t/>
            </a:r>
            <a:endParaRPr/>
          </a:p>
        </p:txBody>
      </p:sp>
      <p:sp>
        <p:nvSpPr>
          <p:cNvPr id="308" name="Google Shape;308;p9"/>
          <p:cNvSpPr txBox="1"/>
          <p:nvPr>
            <p:ph idx="10" type="dt"/>
          </p:nvPr>
        </p:nvSpPr>
        <p:spPr>
          <a:xfrm>
            <a:off x="1981200" y="6598397"/>
            <a:ext cx="2133600" cy="365125"/>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MY"/>
              <a:t>2021</a:t>
            </a:r>
            <a:endParaRPr/>
          </a:p>
        </p:txBody>
      </p:sp>
      <p:sp>
        <p:nvSpPr>
          <p:cNvPr id="309" name="Google Shape;309;p9"/>
          <p:cNvSpPr txBox="1"/>
          <p:nvPr>
            <p:ph idx="11" type="ftr"/>
          </p:nvPr>
        </p:nvSpPr>
        <p:spPr>
          <a:xfrm>
            <a:off x="3993777" y="6620436"/>
            <a:ext cx="4191000" cy="304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MY"/>
              <a:t>Software Engineering</a:t>
            </a:r>
            <a:endParaRPr/>
          </a:p>
        </p:txBody>
      </p:sp>
      <p:sp>
        <p:nvSpPr>
          <p:cNvPr id="310" name="Google Shape;310;p9"/>
          <p:cNvSpPr txBox="1"/>
          <p:nvPr>
            <p:ph idx="12" type="sldNum"/>
          </p:nvPr>
        </p:nvSpPr>
        <p:spPr>
          <a:xfrm>
            <a:off x="8077200" y="6598397"/>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MY"/>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g35ba604c68c_0_0"/>
          <p:cNvSpPr txBox="1"/>
          <p:nvPr>
            <p:ph type="title"/>
          </p:nvPr>
        </p:nvSpPr>
        <p:spPr>
          <a:xfrm>
            <a:off x="831850" y="1047751"/>
            <a:ext cx="10515600" cy="15003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4000"/>
              <a:buNone/>
            </a:pPr>
            <a:r>
              <a:rPr lang="en-MY"/>
              <a:t>Sprint Planning </a:t>
            </a:r>
            <a:endParaRPr/>
          </a:p>
        </p:txBody>
      </p:sp>
      <p:sp>
        <p:nvSpPr>
          <p:cNvPr id="317" name="Google Shape;317;g35ba604c68c_0_0"/>
          <p:cNvSpPr txBox="1"/>
          <p:nvPr>
            <p:ph idx="1" type="body"/>
          </p:nvPr>
        </p:nvSpPr>
        <p:spPr>
          <a:xfrm>
            <a:off x="743375" y="2159913"/>
            <a:ext cx="10515600" cy="3357600"/>
          </a:xfrm>
          <a:prstGeom prst="rect">
            <a:avLst/>
          </a:prstGeom>
          <a:noFill/>
          <a:ln>
            <a:noFill/>
          </a:ln>
        </p:spPr>
        <p:txBody>
          <a:bodyPr anchorCtr="0" anchor="t" bIns="45700" lIns="91425" spcFirstLastPara="1" rIns="91425" wrap="square" tIns="45700">
            <a:noAutofit/>
          </a:bodyPr>
          <a:lstStyle/>
          <a:p>
            <a:pPr indent="-355600" lvl="0" marL="457200" rtl="0" algn="l">
              <a:lnSpc>
                <a:spcPct val="150000"/>
              </a:lnSpc>
              <a:spcBef>
                <a:spcPts val="1000"/>
              </a:spcBef>
              <a:spcAft>
                <a:spcPts val="0"/>
              </a:spcAft>
              <a:buClr>
                <a:schemeClr val="dk1"/>
              </a:buClr>
              <a:buSzPts val="2000"/>
              <a:buFont typeface="Calibri"/>
              <a:buChar char="●"/>
            </a:pPr>
            <a:r>
              <a:rPr lang="en-MY" sz="2000">
                <a:solidFill>
                  <a:schemeClr val="dk1"/>
                </a:solidFill>
              </a:rPr>
              <a:t>Sprint planning meeting takes prior to the beginning of every sprint</a:t>
            </a:r>
            <a:endParaRPr sz="2000">
              <a:solidFill>
                <a:schemeClr val="dk1"/>
              </a:solidFill>
            </a:endParaRPr>
          </a:p>
          <a:p>
            <a:pPr indent="-355600" lvl="0" marL="457200" rtl="0" algn="l">
              <a:lnSpc>
                <a:spcPct val="150000"/>
              </a:lnSpc>
              <a:spcBef>
                <a:spcPts val="0"/>
              </a:spcBef>
              <a:spcAft>
                <a:spcPts val="0"/>
              </a:spcAft>
              <a:buClr>
                <a:schemeClr val="dk1"/>
              </a:buClr>
              <a:buSzPts val="2000"/>
              <a:buFont typeface="Calibri"/>
              <a:buChar char="●"/>
            </a:pPr>
            <a:r>
              <a:rPr lang="en-MY" sz="2000">
                <a:solidFill>
                  <a:schemeClr val="dk1"/>
                </a:solidFill>
              </a:rPr>
              <a:t>Two major goals: </a:t>
            </a:r>
            <a:endParaRPr sz="2000">
              <a:solidFill>
                <a:schemeClr val="dk1"/>
              </a:solidFill>
            </a:endParaRPr>
          </a:p>
          <a:p>
            <a:pPr indent="-355600" lvl="1" marL="914400" rtl="0" algn="l">
              <a:lnSpc>
                <a:spcPct val="150000"/>
              </a:lnSpc>
              <a:spcBef>
                <a:spcPts val="0"/>
              </a:spcBef>
              <a:spcAft>
                <a:spcPts val="0"/>
              </a:spcAft>
              <a:buClr>
                <a:schemeClr val="dk1"/>
              </a:buClr>
              <a:buSzPts val="2000"/>
              <a:buFont typeface="Calibri"/>
              <a:buChar char="○"/>
            </a:pPr>
            <a:r>
              <a:rPr lang="en-MY">
                <a:solidFill>
                  <a:schemeClr val="dk1"/>
                </a:solidFill>
              </a:rPr>
              <a:t>Product owner and the team negotiate what stories will be taken into sprint (based on priority ranking, level of effort for each story and estimated team capacity or velocity) </a:t>
            </a:r>
            <a:endParaRPr>
              <a:solidFill>
                <a:schemeClr val="dk1"/>
              </a:solidFill>
            </a:endParaRPr>
          </a:p>
          <a:p>
            <a:pPr indent="-355600" lvl="2" marL="1371600" rtl="0" algn="l">
              <a:lnSpc>
                <a:spcPct val="150000"/>
              </a:lnSpc>
              <a:spcBef>
                <a:spcPts val="0"/>
              </a:spcBef>
              <a:spcAft>
                <a:spcPts val="0"/>
              </a:spcAft>
              <a:buClr>
                <a:schemeClr val="dk1"/>
              </a:buClr>
              <a:buSzPts val="2000"/>
              <a:buChar char="■"/>
            </a:pPr>
            <a:r>
              <a:rPr lang="en-MY" sz="2000">
                <a:solidFill>
                  <a:schemeClr val="dk1"/>
                </a:solidFill>
              </a:rPr>
              <a:t>Select high-priority </a:t>
            </a:r>
            <a:r>
              <a:rPr b="1" lang="en-MY" sz="2000">
                <a:solidFill>
                  <a:schemeClr val="dk1"/>
                </a:solidFill>
              </a:rPr>
              <a:t>Product Backlog Items (PBIs)</a:t>
            </a:r>
            <a:r>
              <a:rPr lang="en-MY" sz="2000">
                <a:solidFill>
                  <a:schemeClr val="dk1"/>
                </a:solidFill>
              </a:rPr>
              <a:t> for the sprint.</a:t>
            </a:r>
            <a:endParaRPr sz="2000">
              <a:solidFill>
                <a:schemeClr val="dk1"/>
              </a:solidFill>
            </a:endParaRPr>
          </a:p>
          <a:p>
            <a:pPr indent="-355600" lvl="2" marL="1371600" rtl="0" algn="l">
              <a:lnSpc>
                <a:spcPct val="150000"/>
              </a:lnSpc>
              <a:spcBef>
                <a:spcPts val="0"/>
              </a:spcBef>
              <a:spcAft>
                <a:spcPts val="0"/>
              </a:spcAft>
              <a:buClr>
                <a:schemeClr val="dk1"/>
              </a:buClr>
              <a:buSzPts val="2000"/>
              <a:buChar char="■"/>
            </a:pPr>
            <a:r>
              <a:rPr lang="en-MY" sz="2000">
                <a:solidFill>
                  <a:schemeClr val="dk1"/>
                </a:solidFill>
              </a:rPr>
              <a:t>Break down PBIs into </a:t>
            </a:r>
            <a:r>
              <a:rPr b="1" lang="en-MY" sz="2000">
                <a:solidFill>
                  <a:schemeClr val="dk1"/>
                </a:solidFill>
              </a:rPr>
              <a:t>technical tasks</a:t>
            </a:r>
            <a:r>
              <a:rPr lang="en-MY" sz="2000">
                <a:solidFill>
                  <a:schemeClr val="dk1"/>
                </a:solidFill>
              </a:rPr>
              <a:t>.</a:t>
            </a:r>
            <a:endParaRPr sz="2000">
              <a:solidFill>
                <a:schemeClr val="dk1"/>
              </a:solidFill>
            </a:endParaRPr>
          </a:p>
          <a:p>
            <a:pPr indent="-355600" lvl="1" marL="914400" rtl="0" algn="l">
              <a:lnSpc>
                <a:spcPct val="150000"/>
              </a:lnSpc>
              <a:spcBef>
                <a:spcPts val="0"/>
              </a:spcBef>
              <a:spcAft>
                <a:spcPts val="0"/>
              </a:spcAft>
              <a:buClr>
                <a:schemeClr val="dk1"/>
              </a:buClr>
              <a:buSzPts val="2000"/>
              <a:buFont typeface="Calibri"/>
              <a:buChar char="○"/>
            </a:pPr>
            <a:r>
              <a:rPr lang="en-MY">
                <a:solidFill>
                  <a:schemeClr val="dk1"/>
                </a:solidFill>
              </a:rPr>
              <a:t>Team to define the tasks that will be needed to implement those stories and also to plan the the tasks allocation. </a:t>
            </a:r>
            <a:endParaRPr>
              <a:solidFill>
                <a:schemeClr val="dk1"/>
              </a:solidFill>
            </a:endParaRPr>
          </a:p>
          <a:p>
            <a:pPr indent="0" lvl="0" marL="0" rtl="0" algn="l">
              <a:lnSpc>
                <a:spcPct val="90000"/>
              </a:lnSpc>
              <a:spcBef>
                <a:spcPts val="1000"/>
              </a:spcBef>
              <a:spcAft>
                <a:spcPts val="0"/>
              </a:spcAft>
              <a:buSzPts val="2400"/>
              <a:buNone/>
            </a:pPr>
            <a:r>
              <a:t/>
            </a:r>
            <a:endParaRPr sz="2000">
              <a:solidFill>
                <a:schemeClr val="dk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11"/>
          <p:cNvSpPr txBox="1"/>
          <p:nvPr>
            <p:ph type="title"/>
          </p:nvPr>
        </p:nvSpPr>
        <p:spPr>
          <a:xfrm>
            <a:off x="2246313" y="4406901"/>
            <a:ext cx="7772400" cy="1362075"/>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3200"/>
              <a:buFont typeface="Calibri"/>
              <a:buNone/>
            </a:pPr>
            <a:r>
              <a:rPr lang="en-MY"/>
              <a:t>Sprint Backlog </a:t>
            </a:r>
            <a:endParaRPr/>
          </a:p>
        </p:txBody>
      </p:sp>
      <p:sp>
        <p:nvSpPr>
          <p:cNvPr id="323" name="Google Shape;323;p11"/>
          <p:cNvSpPr txBox="1"/>
          <p:nvPr>
            <p:ph idx="1" type="body"/>
          </p:nvPr>
        </p:nvSpPr>
        <p:spPr>
          <a:xfrm>
            <a:off x="2246313" y="2906714"/>
            <a:ext cx="7772400" cy="1500187"/>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rgbClr val="888888"/>
              </a:buClr>
              <a:buSzPts val="2000"/>
              <a:buNone/>
            </a:pPr>
            <a:r>
              <a:t/>
            </a:r>
            <a:endParaRPr/>
          </a:p>
        </p:txBody>
      </p:sp>
      <p:sp>
        <p:nvSpPr>
          <p:cNvPr id="324" name="Google Shape;324;p11"/>
          <p:cNvSpPr txBox="1"/>
          <p:nvPr>
            <p:ph idx="10" type="dt"/>
          </p:nvPr>
        </p:nvSpPr>
        <p:spPr>
          <a:xfrm>
            <a:off x="1981200" y="6598397"/>
            <a:ext cx="2133600" cy="365125"/>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MY"/>
              <a:t>2021</a:t>
            </a:r>
            <a:endParaRPr/>
          </a:p>
        </p:txBody>
      </p:sp>
      <p:sp>
        <p:nvSpPr>
          <p:cNvPr id="325" name="Google Shape;325;p11"/>
          <p:cNvSpPr txBox="1"/>
          <p:nvPr>
            <p:ph idx="11" type="ftr"/>
          </p:nvPr>
        </p:nvSpPr>
        <p:spPr>
          <a:xfrm>
            <a:off x="3993777" y="6620436"/>
            <a:ext cx="4191000" cy="304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MY"/>
              <a:t>Software Engineering</a:t>
            </a:r>
            <a:endParaRPr/>
          </a:p>
        </p:txBody>
      </p:sp>
      <p:sp>
        <p:nvSpPr>
          <p:cNvPr id="326" name="Google Shape;326;p11"/>
          <p:cNvSpPr txBox="1"/>
          <p:nvPr>
            <p:ph idx="12" type="sldNum"/>
          </p:nvPr>
        </p:nvSpPr>
        <p:spPr>
          <a:xfrm>
            <a:off x="8077200" y="6598397"/>
            <a:ext cx="21336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MY"/>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g35ba604c68c_0_34"/>
          <p:cNvSpPr txBox="1"/>
          <p:nvPr>
            <p:ph type="title"/>
          </p:nvPr>
        </p:nvSpPr>
        <p:spPr>
          <a:xfrm>
            <a:off x="831850" y="1047751"/>
            <a:ext cx="10515600" cy="1500300"/>
          </a:xfrm>
          <a:prstGeom prst="rect">
            <a:avLst/>
          </a:prstGeom>
          <a:noFill/>
          <a:ln>
            <a:noFill/>
          </a:ln>
        </p:spPr>
        <p:txBody>
          <a:bodyPr anchorCtr="0" anchor="t" bIns="45700" lIns="91425" spcFirstLastPara="1" rIns="91425" wrap="square" tIns="45700">
            <a:normAutofit/>
          </a:bodyPr>
          <a:lstStyle/>
          <a:p>
            <a:pPr indent="0" lvl="0" marL="0" rtl="0" algn="l">
              <a:lnSpc>
                <a:spcPct val="115000"/>
              </a:lnSpc>
              <a:spcBef>
                <a:spcPts val="1200"/>
              </a:spcBef>
              <a:spcAft>
                <a:spcPts val="1200"/>
              </a:spcAft>
              <a:buSzPts val="4000"/>
              <a:buNone/>
            </a:pPr>
            <a:r>
              <a:rPr b="1" lang="en-MY" sz="2000">
                <a:latin typeface="Arial"/>
                <a:ea typeface="Arial"/>
                <a:cs typeface="Arial"/>
                <a:sym typeface="Arial"/>
              </a:rPr>
              <a:t>Sprint Backlog</a:t>
            </a:r>
            <a:endParaRPr sz="2000"/>
          </a:p>
        </p:txBody>
      </p:sp>
      <p:sp>
        <p:nvSpPr>
          <p:cNvPr id="333" name="Google Shape;333;g35ba604c68c_0_34"/>
          <p:cNvSpPr txBox="1"/>
          <p:nvPr>
            <p:ph idx="1" type="body"/>
          </p:nvPr>
        </p:nvSpPr>
        <p:spPr>
          <a:xfrm>
            <a:off x="838200" y="2116838"/>
            <a:ext cx="10515600" cy="3357600"/>
          </a:xfrm>
          <a:prstGeom prst="rect">
            <a:avLst/>
          </a:prstGeom>
          <a:noFill/>
          <a:ln>
            <a:noFill/>
          </a:ln>
        </p:spPr>
        <p:txBody>
          <a:bodyPr anchorCtr="0" anchor="t" bIns="45700" lIns="91425" spcFirstLastPara="1" rIns="91425" wrap="square" tIns="45700">
            <a:normAutofit/>
          </a:bodyPr>
          <a:lstStyle/>
          <a:p>
            <a:pPr indent="-355600" lvl="0" marL="457200" rtl="0" algn="l">
              <a:lnSpc>
                <a:spcPct val="150000"/>
              </a:lnSpc>
              <a:spcBef>
                <a:spcPts val="1200"/>
              </a:spcBef>
              <a:spcAft>
                <a:spcPts val="0"/>
              </a:spcAft>
              <a:buClr>
                <a:schemeClr val="dk1"/>
              </a:buClr>
              <a:buSzPts val="2000"/>
              <a:buChar char="●"/>
            </a:pPr>
            <a:r>
              <a:rPr lang="en-MY" sz="2000">
                <a:solidFill>
                  <a:schemeClr val="dk1"/>
                </a:solidFill>
                <a:latin typeface="Arial"/>
                <a:ea typeface="Arial"/>
                <a:cs typeface="Arial"/>
                <a:sym typeface="Arial"/>
              </a:rPr>
              <a:t>A </a:t>
            </a:r>
            <a:r>
              <a:rPr b="1" lang="en-MY" sz="2000">
                <a:solidFill>
                  <a:schemeClr val="dk1"/>
                </a:solidFill>
                <a:latin typeface="Arial"/>
                <a:ea typeface="Arial"/>
                <a:cs typeface="Arial"/>
                <a:sym typeface="Arial"/>
              </a:rPr>
              <a:t>Sprint Backlog</a:t>
            </a:r>
            <a:r>
              <a:rPr lang="en-MY" sz="2000">
                <a:solidFill>
                  <a:schemeClr val="dk1"/>
                </a:solidFill>
                <a:latin typeface="Arial"/>
                <a:ea typeface="Arial"/>
                <a:cs typeface="Arial"/>
                <a:sym typeface="Arial"/>
              </a:rPr>
              <a:t> is a</a:t>
            </a:r>
            <a:r>
              <a:rPr lang="en-MY" sz="2000">
                <a:solidFill>
                  <a:srgbClr val="C00000"/>
                </a:solidFill>
                <a:latin typeface="Arial"/>
                <a:ea typeface="Arial"/>
                <a:cs typeface="Arial"/>
                <a:sym typeface="Arial"/>
              </a:rPr>
              <a:t> </a:t>
            </a:r>
            <a:r>
              <a:rPr b="1" lang="en-MY" sz="2000">
                <a:solidFill>
                  <a:srgbClr val="C00000"/>
                </a:solidFill>
                <a:latin typeface="Arial"/>
                <a:ea typeface="Arial"/>
                <a:cs typeface="Arial"/>
                <a:sym typeface="Arial"/>
              </a:rPr>
              <a:t>subset </a:t>
            </a:r>
            <a:r>
              <a:rPr lang="en-MY" sz="2000">
                <a:solidFill>
                  <a:schemeClr val="dk1"/>
                </a:solidFill>
                <a:latin typeface="Arial"/>
                <a:ea typeface="Arial"/>
                <a:cs typeface="Arial"/>
                <a:sym typeface="Arial"/>
              </a:rPr>
              <a:t>of the Product Backlog selected for a specific Sprint.</a:t>
            </a:r>
            <a:endParaRPr sz="2000">
              <a:solidFill>
                <a:schemeClr val="dk1"/>
              </a:solidFill>
              <a:latin typeface="Arial"/>
              <a:ea typeface="Arial"/>
              <a:cs typeface="Arial"/>
              <a:sym typeface="Arial"/>
            </a:endParaRPr>
          </a:p>
          <a:p>
            <a:pPr indent="-355600" lvl="0" marL="457200" rtl="0" algn="l">
              <a:lnSpc>
                <a:spcPct val="150000"/>
              </a:lnSpc>
              <a:spcBef>
                <a:spcPts val="0"/>
              </a:spcBef>
              <a:spcAft>
                <a:spcPts val="0"/>
              </a:spcAft>
              <a:buClr>
                <a:schemeClr val="dk1"/>
              </a:buClr>
              <a:buSzPts val="2000"/>
              <a:buChar char="●"/>
            </a:pPr>
            <a:r>
              <a:rPr lang="en-MY" sz="2000">
                <a:solidFill>
                  <a:schemeClr val="dk1"/>
                </a:solidFill>
                <a:latin typeface="Arial"/>
                <a:ea typeface="Arial"/>
                <a:cs typeface="Arial"/>
                <a:sym typeface="Arial"/>
              </a:rPr>
              <a:t>It includes all </a:t>
            </a:r>
            <a:r>
              <a:rPr b="1" lang="en-MY" sz="2000">
                <a:solidFill>
                  <a:schemeClr val="dk1"/>
                </a:solidFill>
                <a:latin typeface="Arial"/>
                <a:ea typeface="Arial"/>
                <a:cs typeface="Arial"/>
                <a:sym typeface="Arial"/>
              </a:rPr>
              <a:t>Product Backlog Items (PBIs)</a:t>
            </a:r>
            <a:r>
              <a:rPr lang="en-MY" sz="2000">
                <a:solidFill>
                  <a:schemeClr val="dk1"/>
                </a:solidFill>
                <a:latin typeface="Arial"/>
                <a:ea typeface="Arial"/>
                <a:cs typeface="Arial"/>
                <a:sym typeface="Arial"/>
              </a:rPr>
              <a:t> committed to during Sprint Planning.</a:t>
            </a:r>
            <a:endParaRPr sz="2000">
              <a:solidFill>
                <a:schemeClr val="dk1"/>
              </a:solidFill>
              <a:latin typeface="Arial"/>
              <a:ea typeface="Arial"/>
              <a:cs typeface="Arial"/>
              <a:sym typeface="Arial"/>
            </a:endParaRPr>
          </a:p>
          <a:p>
            <a:pPr indent="-355600" lvl="0" marL="457200" rtl="0" algn="l">
              <a:lnSpc>
                <a:spcPct val="150000"/>
              </a:lnSpc>
              <a:spcBef>
                <a:spcPts val="0"/>
              </a:spcBef>
              <a:spcAft>
                <a:spcPts val="0"/>
              </a:spcAft>
              <a:buClr>
                <a:schemeClr val="dk1"/>
              </a:buClr>
              <a:buSzPts val="2000"/>
              <a:buChar char="●"/>
            </a:pPr>
            <a:r>
              <a:rPr lang="en-MY" sz="2000">
                <a:solidFill>
                  <a:schemeClr val="dk1"/>
                </a:solidFill>
                <a:latin typeface="Arial"/>
                <a:ea typeface="Arial"/>
                <a:cs typeface="Arial"/>
                <a:sym typeface="Arial"/>
              </a:rPr>
              <a:t>Contains </a:t>
            </a:r>
            <a:r>
              <a:rPr b="1" lang="en-MY" sz="2000">
                <a:solidFill>
                  <a:schemeClr val="dk1"/>
                </a:solidFill>
                <a:latin typeface="Arial"/>
                <a:ea typeface="Arial"/>
                <a:cs typeface="Arial"/>
                <a:sym typeface="Arial"/>
              </a:rPr>
              <a:t>detailed tasks</a:t>
            </a:r>
            <a:r>
              <a:rPr lang="en-MY" sz="2000">
                <a:solidFill>
                  <a:schemeClr val="dk1"/>
                </a:solidFill>
                <a:latin typeface="Arial"/>
                <a:ea typeface="Arial"/>
                <a:cs typeface="Arial"/>
                <a:sym typeface="Arial"/>
              </a:rPr>
              <a:t> the team will carry out to deliver the selected increment.</a:t>
            </a:r>
            <a:endParaRPr sz="2000">
              <a:solidFill>
                <a:schemeClr val="dk1"/>
              </a:solidFill>
              <a:latin typeface="Arial"/>
              <a:ea typeface="Arial"/>
              <a:cs typeface="Arial"/>
              <a:sym typeface="Arial"/>
            </a:endParaRPr>
          </a:p>
          <a:p>
            <a:pPr indent="-355600" lvl="0" marL="457200" rtl="0" algn="l">
              <a:lnSpc>
                <a:spcPct val="150000"/>
              </a:lnSpc>
              <a:spcBef>
                <a:spcPts val="0"/>
              </a:spcBef>
              <a:spcAft>
                <a:spcPts val="0"/>
              </a:spcAft>
              <a:buClr>
                <a:schemeClr val="dk1"/>
              </a:buClr>
              <a:buSzPts val="2000"/>
              <a:buChar char="●"/>
            </a:pPr>
            <a:r>
              <a:rPr lang="en-MY" sz="2000">
                <a:solidFill>
                  <a:schemeClr val="dk1"/>
                </a:solidFill>
                <a:latin typeface="Arial"/>
                <a:ea typeface="Arial"/>
                <a:cs typeface="Arial"/>
                <a:sym typeface="Arial"/>
              </a:rPr>
              <a:t>Owned and managed by the </a:t>
            </a:r>
            <a:r>
              <a:rPr b="1" lang="en-MY" sz="2000">
                <a:solidFill>
                  <a:schemeClr val="dk1"/>
                </a:solidFill>
                <a:latin typeface="Arial"/>
                <a:ea typeface="Arial"/>
                <a:cs typeface="Arial"/>
                <a:sym typeface="Arial"/>
              </a:rPr>
              <a:t>Development Team</a:t>
            </a:r>
            <a:r>
              <a:rPr lang="en-MY" sz="2000">
                <a:solidFill>
                  <a:schemeClr val="dk1"/>
                </a:solidFill>
                <a:latin typeface="Arial"/>
                <a:ea typeface="Arial"/>
                <a:cs typeface="Arial"/>
                <a:sym typeface="Arial"/>
              </a:rPr>
              <a:t>.</a:t>
            </a:r>
            <a:endParaRPr sz="2000">
              <a:solidFill>
                <a:schemeClr val="dk1"/>
              </a:solidFill>
              <a:latin typeface="Arial"/>
              <a:ea typeface="Arial"/>
              <a:cs typeface="Arial"/>
              <a:sym typeface="Arial"/>
            </a:endParaRPr>
          </a:p>
          <a:p>
            <a:pPr indent="0" lvl="0" marL="0" rtl="0" algn="l">
              <a:lnSpc>
                <a:spcPct val="90000"/>
              </a:lnSpc>
              <a:spcBef>
                <a:spcPts val="1200"/>
              </a:spcBef>
              <a:spcAft>
                <a:spcPts val="0"/>
              </a:spcAft>
              <a:buSzPts val="2400"/>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g35afd35145d_1_13"/>
          <p:cNvSpPr txBox="1"/>
          <p:nvPr>
            <p:ph type="title"/>
          </p:nvPr>
        </p:nvSpPr>
        <p:spPr>
          <a:xfrm>
            <a:off x="838200" y="565376"/>
            <a:ext cx="10515600" cy="1500300"/>
          </a:xfrm>
          <a:prstGeom prst="rect">
            <a:avLst/>
          </a:prstGeom>
          <a:noFill/>
          <a:ln>
            <a:noFill/>
          </a:ln>
        </p:spPr>
        <p:txBody>
          <a:bodyPr anchorCtr="0" anchor="t" bIns="45700" lIns="91425" spcFirstLastPara="1" rIns="91425" wrap="square" tIns="45700">
            <a:normAutofit/>
          </a:bodyPr>
          <a:lstStyle/>
          <a:p>
            <a:pPr indent="0" lvl="0" marL="0" rtl="0" algn="l">
              <a:lnSpc>
                <a:spcPct val="115000"/>
              </a:lnSpc>
              <a:spcBef>
                <a:spcPts val="1200"/>
              </a:spcBef>
              <a:spcAft>
                <a:spcPts val="0"/>
              </a:spcAft>
              <a:buClr>
                <a:schemeClr val="dk1"/>
              </a:buClr>
              <a:buSzPts val="1100"/>
              <a:buFont typeface="Arial"/>
              <a:buNone/>
            </a:pPr>
            <a:r>
              <a:rPr b="1" lang="en-MY" sz="2000">
                <a:latin typeface="Arial"/>
                <a:ea typeface="Arial"/>
                <a:cs typeface="Arial"/>
                <a:sym typeface="Arial"/>
              </a:rPr>
              <a:t> Example – Sprint Backlog for Pizza Online Order System</a:t>
            </a:r>
            <a:endParaRPr b="1" sz="2000">
              <a:latin typeface="Arial"/>
              <a:ea typeface="Arial"/>
              <a:cs typeface="Arial"/>
              <a:sym typeface="Arial"/>
            </a:endParaRPr>
          </a:p>
          <a:p>
            <a:pPr indent="0" lvl="0" marL="0" rtl="0" algn="l">
              <a:lnSpc>
                <a:spcPct val="90000"/>
              </a:lnSpc>
              <a:spcBef>
                <a:spcPts val="1200"/>
              </a:spcBef>
              <a:spcAft>
                <a:spcPts val="0"/>
              </a:spcAft>
              <a:buSzPts val="4000"/>
              <a:buNone/>
            </a:pPr>
            <a:r>
              <a:t/>
            </a:r>
            <a:endParaRPr/>
          </a:p>
        </p:txBody>
      </p:sp>
      <p:sp>
        <p:nvSpPr>
          <p:cNvPr id="340" name="Google Shape;340;g35afd35145d_1_13"/>
          <p:cNvSpPr txBox="1"/>
          <p:nvPr>
            <p:ph idx="1" type="body"/>
          </p:nvPr>
        </p:nvSpPr>
        <p:spPr>
          <a:xfrm>
            <a:off x="203975" y="1356875"/>
            <a:ext cx="7608600" cy="579900"/>
          </a:xfrm>
          <a:prstGeom prst="rect">
            <a:avLst/>
          </a:prstGeom>
          <a:noFill/>
          <a:ln>
            <a:noFill/>
          </a:ln>
        </p:spPr>
        <p:txBody>
          <a:bodyPr anchorCtr="0" anchor="t" bIns="45700" lIns="91425" spcFirstLastPara="1" rIns="91425" wrap="square" tIns="45700">
            <a:noAutofit/>
          </a:bodyPr>
          <a:lstStyle/>
          <a:p>
            <a:pPr indent="-342900" lvl="0" marL="457200" rtl="0" algn="l">
              <a:lnSpc>
                <a:spcPct val="115000"/>
              </a:lnSpc>
              <a:spcBef>
                <a:spcPts val="1200"/>
              </a:spcBef>
              <a:spcAft>
                <a:spcPts val="0"/>
              </a:spcAft>
              <a:buClr>
                <a:schemeClr val="dk1"/>
              </a:buClr>
              <a:buSzPts val="1800"/>
              <a:buChar char="●"/>
            </a:pPr>
            <a:r>
              <a:rPr b="1" lang="en-MY" sz="1800">
                <a:solidFill>
                  <a:schemeClr val="dk1"/>
                </a:solidFill>
                <a:latin typeface="Arial"/>
                <a:ea typeface="Arial"/>
                <a:cs typeface="Arial"/>
                <a:sym typeface="Arial"/>
              </a:rPr>
              <a:t>Sprint Goal</a:t>
            </a:r>
            <a:r>
              <a:rPr lang="en-MY" sz="1800">
                <a:solidFill>
                  <a:schemeClr val="dk1"/>
                </a:solidFill>
                <a:latin typeface="Arial"/>
                <a:ea typeface="Arial"/>
                <a:cs typeface="Arial"/>
                <a:sym typeface="Arial"/>
              </a:rPr>
              <a:t>: Enable basic pizza ordering functionality</a:t>
            </a:r>
            <a:endParaRPr sz="1800">
              <a:solidFill>
                <a:schemeClr val="dk1"/>
              </a:solidFill>
              <a:latin typeface="Arial"/>
              <a:ea typeface="Arial"/>
              <a:cs typeface="Arial"/>
              <a:sym typeface="Arial"/>
            </a:endParaRPr>
          </a:p>
          <a:p>
            <a:pPr indent="0" lvl="0" marL="0" rtl="0" algn="l">
              <a:lnSpc>
                <a:spcPct val="115000"/>
              </a:lnSpc>
              <a:spcBef>
                <a:spcPts val="1200"/>
              </a:spcBef>
              <a:spcAft>
                <a:spcPts val="0"/>
              </a:spcAft>
              <a:buSzPts val="2400"/>
              <a:buNone/>
            </a:pPr>
            <a:r>
              <a:t/>
            </a:r>
            <a:endParaRPr sz="2200">
              <a:solidFill>
                <a:schemeClr val="dk1"/>
              </a:solidFill>
              <a:latin typeface="Arial"/>
              <a:ea typeface="Arial"/>
              <a:cs typeface="Arial"/>
              <a:sym typeface="Arial"/>
            </a:endParaRPr>
          </a:p>
          <a:p>
            <a:pPr indent="0" lvl="0" marL="0" rtl="0" algn="l">
              <a:lnSpc>
                <a:spcPct val="90000"/>
              </a:lnSpc>
              <a:spcBef>
                <a:spcPts val="1200"/>
              </a:spcBef>
              <a:spcAft>
                <a:spcPts val="0"/>
              </a:spcAft>
              <a:buSzPts val="2400"/>
              <a:buNone/>
            </a:pPr>
            <a:r>
              <a:t/>
            </a:r>
            <a:endParaRPr sz="1800"/>
          </a:p>
        </p:txBody>
      </p:sp>
      <p:sp>
        <p:nvSpPr>
          <p:cNvPr id="341" name="Google Shape;341;g35afd35145d_1_13"/>
          <p:cNvSpPr/>
          <p:nvPr/>
        </p:nvSpPr>
        <p:spPr>
          <a:xfrm>
            <a:off x="4355750" y="2448575"/>
            <a:ext cx="2267400" cy="2848500"/>
          </a:xfrm>
          <a:prstGeom prst="rect">
            <a:avLst/>
          </a:prstGeom>
          <a:solidFill>
            <a:srgbClr val="EAD1DC"/>
          </a:solidFill>
          <a:ln cap="flat" cmpd="sng" w="9525">
            <a:solidFill>
              <a:schemeClr val="dk2"/>
            </a:solidFill>
            <a:prstDash val="solid"/>
            <a:round/>
            <a:headEnd len="sm" w="sm" type="none"/>
            <a:tailEnd len="sm" w="sm" type="none"/>
          </a:ln>
          <a:effectLst>
            <a:outerShdw blurRad="57150" rotWithShape="0" algn="bl" dir="5400000" dist="19050">
              <a:srgbClr val="000000">
                <a:alpha val="49803"/>
              </a:srgbClr>
            </a:outerShdw>
          </a:effectLst>
        </p:spPr>
        <p:txBody>
          <a:bodyPr anchorCtr="0" anchor="ctr" bIns="91425" lIns="91425" spcFirstLastPara="1" rIns="91425" wrap="square" tIns="91425">
            <a:noAutofit/>
          </a:bodyPr>
          <a:lstStyle/>
          <a:p>
            <a:pPr indent="0" lvl="0" marL="0" marR="0" rtl="0" algn="l">
              <a:lnSpc>
                <a:spcPct val="115000"/>
              </a:lnSpc>
              <a:spcBef>
                <a:spcPts val="1200"/>
              </a:spcBef>
              <a:spcAft>
                <a:spcPts val="0"/>
              </a:spcAft>
              <a:buClr>
                <a:srgbClr val="000000"/>
              </a:buClr>
              <a:buSzPts val="1700"/>
              <a:buFont typeface="Arial"/>
              <a:buNone/>
            </a:pPr>
            <a:r>
              <a:rPr b="1" i="0" lang="en-MY" sz="1700" u="none" cap="none" strike="noStrike">
                <a:solidFill>
                  <a:schemeClr val="dk1"/>
                </a:solidFill>
                <a:latin typeface="Arial"/>
                <a:ea typeface="Arial"/>
                <a:cs typeface="Arial"/>
                <a:sym typeface="Arial"/>
              </a:rPr>
              <a:t>PBIs</a:t>
            </a:r>
            <a:r>
              <a:rPr b="0" i="0" lang="en-MY" sz="1700" u="none" cap="none" strike="noStrike">
                <a:solidFill>
                  <a:schemeClr val="dk1"/>
                </a:solidFill>
                <a:latin typeface="Arial"/>
                <a:ea typeface="Arial"/>
                <a:cs typeface="Arial"/>
                <a:sym typeface="Arial"/>
              </a:rPr>
              <a:t>:</a:t>
            </a:r>
            <a:endParaRPr b="0" i="0" sz="1700" u="none" cap="none" strike="noStrike">
              <a:solidFill>
                <a:schemeClr val="dk1"/>
              </a:solidFill>
              <a:latin typeface="Arial"/>
              <a:ea typeface="Arial"/>
              <a:cs typeface="Arial"/>
              <a:sym typeface="Arial"/>
            </a:endParaRPr>
          </a:p>
          <a:p>
            <a:pPr indent="-336550" lvl="0" marL="457200" marR="0" rtl="0" algn="l">
              <a:lnSpc>
                <a:spcPct val="115000"/>
              </a:lnSpc>
              <a:spcBef>
                <a:spcPts val="1200"/>
              </a:spcBef>
              <a:spcAft>
                <a:spcPts val="0"/>
              </a:spcAft>
              <a:buClr>
                <a:schemeClr val="dk1"/>
              </a:buClr>
              <a:buSzPts val="1700"/>
              <a:buFont typeface="Arial"/>
              <a:buChar char="●"/>
            </a:pPr>
            <a:r>
              <a:rPr b="1" i="0" lang="en-MY" sz="1700" u="none" cap="none" strike="noStrike">
                <a:solidFill>
                  <a:schemeClr val="dk1"/>
                </a:solidFill>
                <a:latin typeface="Arial"/>
                <a:ea typeface="Arial"/>
                <a:cs typeface="Arial"/>
                <a:sym typeface="Arial"/>
              </a:rPr>
              <a:t>USI01:</a:t>
            </a:r>
            <a:r>
              <a:rPr b="0" i="0" lang="en-MY" sz="1700" u="none" cap="none" strike="noStrike">
                <a:solidFill>
                  <a:schemeClr val="dk1"/>
                </a:solidFill>
                <a:latin typeface="Arial"/>
                <a:ea typeface="Arial"/>
                <a:cs typeface="Arial"/>
                <a:sym typeface="Arial"/>
              </a:rPr>
              <a:t> Browse pizza menu</a:t>
            </a:r>
            <a:endParaRPr b="0" i="0" sz="1700" u="none" cap="none" strike="noStrike">
              <a:solidFill>
                <a:schemeClr val="dk1"/>
              </a:solidFill>
              <a:latin typeface="Arial"/>
              <a:ea typeface="Arial"/>
              <a:cs typeface="Arial"/>
              <a:sym typeface="Arial"/>
            </a:endParaRPr>
          </a:p>
          <a:p>
            <a:pPr indent="-336550" lvl="0" marL="457200" marR="0" rtl="0" algn="l">
              <a:lnSpc>
                <a:spcPct val="115000"/>
              </a:lnSpc>
              <a:spcBef>
                <a:spcPts val="0"/>
              </a:spcBef>
              <a:spcAft>
                <a:spcPts val="0"/>
              </a:spcAft>
              <a:buClr>
                <a:schemeClr val="dk1"/>
              </a:buClr>
              <a:buSzPts val="1700"/>
              <a:buFont typeface="Arial"/>
              <a:buChar char="●"/>
            </a:pPr>
            <a:r>
              <a:rPr b="1" i="0" lang="en-MY" sz="1700" u="none" cap="none" strike="noStrike">
                <a:solidFill>
                  <a:schemeClr val="dk1"/>
                </a:solidFill>
                <a:latin typeface="Arial"/>
                <a:ea typeface="Arial"/>
                <a:cs typeface="Arial"/>
                <a:sym typeface="Arial"/>
              </a:rPr>
              <a:t>USI02:</a:t>
            </a:r>
            <a:r>
              <a:rPr b="0" i="0" lang="en-MY" sz="1700" u="none" cap="none" strike="noStrike">
                <a:solidFill>
                  <a:schemeClr val="dk1"/>
                </a:solidFill>
                <a:latin typeface="Arial"/>
                <a:ea typeface="Arial"/>
                <a:cs typeface="Arial"/>
                <a:sym typeface="Arial"/>
              </a:rPr>
              <a:t> Order cart functionality</a:t>
            </a:r>
            <a:endParaRPr b="0" i="0" sz="1100" u="none" cap="none" strike="noStrike">
              <a:solidFill>
                <a:srgbClr val="000000"/>
              </a:solidFill>
              <a:latin typeface="Calibri"/>
              <a:ea typeface="Calibri"/>
              <a:cs typeface="Calibri"/>
              <a:sym typeface="Calibri"/>
            </a:endParaRPr>
          </a:p>
        </p:txBody>
      </p:sp>
      <p:sp>
        <p:nvSpPr>
          <p:cNvPr id="342" name="Google Shape;342;g35afd35145d_1_13"/>
          <p:cNvSpPr/>
          <p:nvPr/>
        </p:nvSpPr>
        <p:spPr>
          <a:xfrm>
            <a:off x="7297550" y="1605475"/>
            <a:ext cx="4553100" cy="4315500"/>
          </a:xfrm>
          <a:prstGeom prst="rect">
            <a:avLst/>
          </a:prstGeom>
          <a:solidFill>
            <a:srgbClr val="EAD1DC"/>
          </a:solidFill>
          <a:ln cap="flat" cmpd="sng" w="9525">
            <a:solidFill>
              <a:schemeClr val="dk2"/>
            </a:solidFill>
            <a:prstDash val="solid"/>
            <a:round/>
            <a:headEnd len="sm" w="sm" type="none"/>
            <a:tailEnd len="sm" w="sm" type="none"/>
          </a:ln>
          <a:effectLst>
            <a:outerShdw blurRad="57150" rotWithShape="0" algn="bl" dir="5400000" dist="19050">
              <a:srgbClr val="000000">
                <a:alpha val="49803"/>
              </a:srgbClr>
            </a:outerShdw>
          </a:effectLst>
        </p:spPr>
        <p:txBody>
          <a:bodyPr anchorCtr="0" anchor="ctr" bIns="91425" lIns="91425" spcFirstLastPara="1" rIns="91425" wrap="square" tIns="91425">
            <a:noAutofit/>
          </a:bodyPr>
          <a:lstStyle/>
          <a:p>
            <a:pPr indent="0" lvl="0" marL="0" marR="0" rtl="0" algn="l">
              <a:lnSpc>
                <a:spcPct val="115000"/>
              </a:lnSpc>
              <a:spcBef>
                <a:spcPts val="1200"/>
              </a:spcBef>
              <a:spcAft>
                <a:spcPts val="0"/>
              </a:spcAft>
              <a:buClr>
                <a:srgbClr val="000000"/>
              </a:buClr>
              <a:buSzPts val="1600"/>
              <a:buFont typeface="Arial"/>
              <a:buNone/>
            </a:pPr>
            <a:r>
              <a:rPr b="1" i="0" lang="en-MY" sz="1600" u="none" cap="none" strike="noStrike">
                <a:solidFill>
                  <a:schemeClr val="dk1"/>
                </a:solidFill>
                <a:latin typeface="Arial"/>
                <a:ea typeface="Arial"/>
                <a:cs typeface="Arial"/>
                <a:sym typeface="Arial"/>
              </a:rPr>
              <a:t>Sprint Backlog (task breakout)</a:t>
            </a:r>
            <a:endParaRPr b="1" i="0" sz="1600" u="none" cap="none" strike="noStrike">
              <a:solidFill>
                <a:schemeClr val="dk1"/>
              </a:solidFill>
              <a:latin typeface="Arial"/>
              <a:ea typeface="Arial"/>
              <a:cs typeface="Arial"/>
              <a:sym typeface="Arial"/>
            </a:endParaRPr>
          </a:p>
          <a:p>
            <a:pPr indent="-330200" lvl="0" marL="457200" marR="0" rtl="0" algn="l">
              <a:lnSpc>
                <a:spcPct val="115000"/>
              </a:lnSpc>
              <a:spcBef>
                <a:spcPts val="1200"/>
              </a:spcBef>
              <a:spcAft>
                <a:spcPts val="0"/>
              </a:spcAft>
              <a:buClr>
                <a:schemeClr val="dk1"/>
              </a:buClr>
              <a:buSzPts val="1600"/>
              <a:buFont typeface="Arial"/>
              <a:buChar char="●"/>
            </a:pPr>
            <a:r>
              <a:rPr b="1" i="0" lang="en-MY" sz="1600" u="none" cap="none" strike="noStrike">
                <a:solidFill>
                  <a:schemeClr val="dk1"/>
                </a:solidFill>
                <a:latin typeface="Arial"/>
                <a:ea typeface="Arial"/>
                <a:cs typeface="Arial"/>
                <a:sym typeface="Arial"/>
              </a:rPr>
              <a:t>US101:</a:t>
            </a:r>
            <a:endParaRPr b="1" i="0" sz="1600" u="none" cap="none" strike="noStrike">
              <a:solidFill>
                <a:schemeClr val="dk1"/>
              </a:solidFill>
              <a:latin typeface="Arial"/>
              <a:ea typeface="Arial"/>
              <a:cs typeface="Arial"/>
              <a:sym typeface="Arial"/>
            </a:endParaRPr>
          </a:p>
          <a:p>
            <a:pPr indent="-330200" lvl="1" marL="914400" marR="0" rtl="0" algn="l">
              <a:lnSpc>
                <a:spcPct val="115000"/>
              </a:lnSpc>
              <a:spcBef>
                <a:spcPts val="0"/>
              </a:spcBef>
              <a:spcAft>
                <a:spcPts val="0"/>
              </a:spcAft>
              <a:buClr>
                <a:schemeClr val="dk1"/>
              </a:buClr>
              <a:buSzPts val="1600"/>
              <a:buFont typeface="Arial"/>
              <a:buChar char="○"/>
            </a:pPr>
            <a:r>
              <a:rPr b="0" i="0" lang="en-MY" sz="1600" u="none" cap="none" strike="noStrike">
                <a:solidFill>
                  <a:schemeClr val="dk1"/>
                </a:solidFill>
                <a:latin typeface="Arial"/>
                <a:ea typeface="Arial"/>
                <a:cs typeface="Arial"/>
                <a:sym typeface="Arial"/>
              </a:rPr>
              <a:t>Design menu UI </a:t>
            </a:r>
            <a:endParaRPr b="0" i="0" sz="1600" u="none" cap="none" strike="noStrike">
              <a:solidFill>
                <a:schemeClr val="dk1"/>
              </a:solidFill>
              <a:latin typeface="Arial"/>
              <a:ea typeface="Arial"/>
              <a:cs typeface="Arial"/>
              <a:sym typeface="Arial"/>
            </a:endParaRPr>
          </a:p>
          <a:p>
            <a:pPr indent="-330200" lvl="1" marL="914400" marR="0" rtl="0" algn="l">
              <a:lnSpc>
                <a:spcPct val="115000"/>
              </a:lnSpc>
              <a:spcBef>
                <a:spcPts val="0"/>
              </a:spcBef>
              <a:spcAft>
                <a:spcPts val="0"/>
              </a:spcAft>
              <a:buClr>
                <a:schemeClr val="dk1"/>
              </a:buClr>
              <a:buSzPts val="1600"/>
              <a:buFont typeface="Arial"/>
              <a:buChar char="○"/>
            </a:pPr>
            <a:r>
              <a:rPr b="0" i="0" lang="en-MY" sz="1600" u="none" cap="none" strike="noStrike">
                <a:solidFill>
                  <a:schemeClr val="dk1"/>
                </a:solidFill>
                <a:latin typeface="Arial"/>
                <a:ea typeface="Arial"/>
                <a:cs typeface="Arial"/>
                <a:sym typeface="Arial"/>
              </a:rPr>
              <a:t>Develop pizza menu item selection logic </a:t>
            </a:r>
            <a:endParaRPr b="0" i="0" sz="1600" u="none" cap="none" strike="noStrike">
              <a:solidFill>
                <a:schemeClr val="dk1"/>
              </a:solidFill>
              <a:latin typeface="Arial"/>
              <a:ea typeface="Arial"/>
              <a:cs typeface="Arial"/>
              <a:sym typeface="Arial"/>
            </a:endParaRPr>
          </a:p>
          <a:p>
            <a:pPr indent="-330200" lvl="1" marL="914400" marR="0" rtl="0" algn="l">
              <a:lnSpc>
                <a:spcPct val="115000"/>
              </a:lnSpc>
              <a:spcBef>
                <a:spcPts val="0"/>
              </a:spcBef>
              <a:spcAft>
                <a:spcPts val="0"/>
              </a:spcAft>
              <a:buClr>
                <a:schemeClr val="dk1"/>
              </a:buClr>
              <a:buSzPts val="1600"/>
              <a:buFont typeface="Arial"/>
              <a:buChar char="○"/>
            </a:pPr>
            <a:r>
              <a:rPr b="0" i="0" lang="en-MY" sz="1600" u="none" cap="none" strike="noStrike">
                <a:solidFill>
                  <a:schemeClr val="dk1"/>
                </a:solidFill>
                <a:latin typeface="Arial"/>
                <a:ea typeface="Arial"/>
                <a:cs typeface="Arial"/>
                <a:sym typeface="Arial"/>
              </a:rPr>
              <a:t>Unit testing and validation </a:t>
            </a:r>
            <a:endParaRPr b="0" i="0" sz="1600" u="none" cap="none" strike="noStrike">
              <a:solidFill>
                <a:schemeClr val="dk1"/>
              </a:solidFill>
              <a:latin typeface="Arial"/>
              <a:ea typeface="Arial"/>
              <a:cs typeface="Arial"/>
              <a:sym typeface="Arial"/>
            </a:endParaRPr>
          </a:p>
          <a:p>
            <a:pPr indent="-330200" lvl="0" marL="457200" marR="0" rtl="0" algn="l">
              <a:lnSpc>
                <a:spcPct val="115000"/>
              </a:lnSpc>
              <a:spcBef>
                <a:spcPts val="0"/>
              </a:spcBef>
              <a:spcAft>
                <a:spcPts val="0"/>
              </a:spcAft>
              <a:buClr>
                <a:schemeClr val="dk1"/>
              </a:buClr>
              <a:buSzPts val="1600"/>
              <a:buFont typeface="Arial"/>
              <a:buChar char="●"/>
            </a:pPr>
            <a:r>
              <a:rPr b="1" i="0" lang="en-MY" sz="1600" u="none" cap="none" strike="noStrike">
                <a:solidFill>
                  <a:schemeClr val="dk1"/>
                </a:solidFill>
                <a:latin typeface="Arial"/>
                <a:ea typeface="Arial"/>
                <a:cs typeface="Arial"/>
                <a:sym typeface="Arial"/>
              </a:rPr>
              <a:t>US102:</a:t>
            </a:r>
            <a:endParaRPr b="1" i="0" sz="1600" u="none" cap="none" strike="noStrike">
              <a:solidFill>
                <a:schemeClr val="dk1"/>
              </a:solidFill>
              <a:latin typeface="Arial"/>
              <a:ea typeface="Arial"/>
              <a:cs typeface="Arial"/>
              <a:sym typeface="Arial"/>
            </a:endParaRPr>
          </a:p>
          <a:p>
            <a:pPr indent="-330200" lvl="1" marL="914400" marR="0" rtl="0" algn="l">
              <a:lnSpc>
                <a:spcPct val="115000"/>
              </a:lnSpc>
              <a:spcBef>
                <a:spcPts val="0"/>
              </a:spcBef>
              <a:spcAft>
                <a:spcPts val="0"/>
              </a:spcAft>
              <a:buClr>
                <a:schemeClr val="dk1"/>
              </a:buClr>
              <a:buSzPts val="1600"/>
              <a:buFont typeface="Arial"/>
              <a:buChar char="○"/>
            </a:pPr>
            <a:r>
              <a:rPr b="0" i="0" lang="en-MY" sz="1600" u="none" cap="none" strike="noStrike">
                <a:solidFill>
                  <a:schemeClr val="dk1"/>
                </a:solidFill>
                <a:latin typeface="Arial"/>
                <a:ea typeface="Arial"/>
                <a:cs typeface="Arial"/>
                <a:sym typeface="Arial"/>
              </a:rPr>
              <a:t>Build shopping cart </a:t>
            </a:r>
            <a:endParaRPr b="0" i="0" sz="1600" u="none" cap="none" strike="noStrike">
              <a:solidFill>
                <a:schemeClr val="dk1"/>
              </a:solidFill>
              <a:latin typeface="Arial"/>
              <a:ea typeface="Arial"/>
              <a:cs typeface="Arial"/>
              <a:sym typeface="Arial"/>
            </a:endParaRPr>
          </a:p>
          <a:p>
            <a:pPr indent="-330200" lvl="1" marL="914400" marR="0" rtl="0" algn="l">
              <a:lnSpc>
                <a:spcPct val="115000"/>
              </a:lnSpc>
              <a:spcBef>
                <a:spcPts val="0"/>
              </a:spcBef>
              <a:spcAft>
                <a:spcPts val="0"/>
              </a:spcAft>
              <a:buClr>
                <a:schemeClr val="dk1"/>
              </a:buClr>
              <a:buSzPts val="1600"/>
              <a:buFont typeface="Arial"/>
              <a:buChar char="○"/>
            </a:pPr>
            <a:r>
              <a:rPr b="0" i="0" lang="en-MY" sz="1600" u="none" cap="none" strike="noStrike">
                <a:solidFill>
                  <a:schemeClr val="dk1"/>
                </a:solidFill>
                <a:latin typeface="Arial"/>
                <a:ea typeface="Arial"/>
                <a:cs typeface="Arial"/>
                <a:sym typeface="Arial"/>
              </a:rPr>
              <a:t>Order summary module </a:t>
            </a:r>
            <a:endParaRPr b="0" i="0" sz="1600" u="none" cap="none" strike="noStrike">
              <a:solidFill>
                <a:schemeClr val="dk1"/>
              </a:solidFill>
              <a:latin typeface="Arial"/>
              <a:ea typeface="Arial"/>
              <a:cs typeface="Arial"/>
              <a:sym typeface="Arial"/>
            </a:endParaRPr>
          </a:p>
          <a:p>
            <a:pPr indent="-330200" lvl="1" marL="914400" marR="0" rtl="0" algn="l">
              <a:lnSpc>
                <a:spcPct val="115000"/>
              </a:lnSpc>
              <a:spcBef>
                <a:spcPts val="0"/>
              </a:spcBef>
              <a:spcAft>
                <a:spcPts val="0"/>
              </a:spcAft>
              <a:buClr>
                <a:schemeClr val="dk1"/>
              </a:buClr>
              <a:buSzPts val="1600"/>
              <a:buFont typeface="Arial"/>
              <a:buChar char="○"/>
            </a:pPr>
            <a:r>
              <a:rPr b="0" i="0" lang="en-MY" sz="1600" u="none" cap="none" strike="noStrike">
                <a:solidFill>
                  <a:schemeClr val="dk1"/>
                </a:solidFill>
                <a:latin typeface="Arial"/>
                <a:ea typeface="Arial"/>
                <a:cs typeface="Arial"/>
                <a:sym typeface="Arial"/>
              </a:rPr>
              <a:t>Unit testing and validation </a:t>
            </a:r>
            <a:endParaRPr b="0" i="0" sz="1000" u="none" cap="none" strike="noStrike">
              <a:solidFill>
                <a:srgbClr val="000000"/>
              </a:solidFill>
              <a:latin typeface="Calibri"/>
              <a:ea typeface="Calibri"/>
              <a:cs typeface="Calibri"/>
              <a:sym typeface="Calibri"/>
            </a:endParaRPr>
          </a:p>
        </p:txBody>
      </p:sp>
      <p:sp>
        <p:nvSpPr>
          <p:cNvPr id="343" name="Google Shape;343;g35afd35145d_1_13"/>
          <p:cNvSpPr/>
          <p:nvPr/>
        </p:nvSpPr>
        <p:spPr>
          <a:xfrm>
            <a:off x="6623150" y="3600925"/>
            <a:ext cx="674400" cy="413400"/>
          </a:xfrm>
          <a:prstGeom prst="rightArrow">
            <a:avLst>
              <a:gd fmla="val 50000" name="adj1"/>
              <a:gd fmla="val 50000" name="adj2"/>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aphicFrame>
        <p:nvGraphicFramePr>
          <p:cNvPr id="344" name="Google Shape;344;g35afd35145d_1_13"/>
          <p:cNvGraphicFramePr/>
          <p:nvPr/>
        </p:nvGraphicFramePr>
        <p:xfrm>
          <a:off x="203984" y="2448574"/>
          <a:ext cx="3000000" cy="3000000"/>
        </p:xfrm>
        <a:graphic>
          <a:graphicData uri="http://schemas.openxmlformats.org/drawingml/2006/table">
            <a:tbl>
              <a:tblPr bandRow="1" firstRow="1">
                <a:noFill/>
                <a:tableStyleId>{B56764A5-D5AB-4547-BF98-85EDDABA9C88}</a:tableStyleId>
              </a:tblPr>
              <a:tblGrid>
                <a:gridCol w="753250"/>
                <a:gridCol w="2243100"/>
                <a:gridCol w="753250"/>
              </a:tblGrid>
              <a:tr h="239875">
                <a:tc>
                  <a:txBody>
                    <a:bodyPr/>
                    <a:lstStyle/>
                    <a:p>
                      <a:pPr indent="0" lvl="0" marL="0" marR="0" rtl="0" algn="l">
                        <a:lnSpc>
                          <a:spcPct val="100000"/>
                        </a:lnSpc>
                        <a:spcBef>
                          <a:spcPts val="0"/>
                        </a:spcBef>
                        <a:spcAft>
                          <a:spcPts val="0"/>
                        </a:spcAft>
                        <a:buClr>
                          <a:srgbClr val="000000"/>
                        </a:buClr>
                        <a:buSzPts val="1200"/>
                        <a:buFont typeface="Arial"/>
                        <a:buNone/>
                      </a:pPr>
                      <a:r>
                        <a:rPr lang="en-MY" sz="1200" u="none" cap="none" strike="noStrike"/>
                        <a:t>ID</a:t>
                      </a:r>
                      <a:endParaRPr sz="12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1200"/>
                        <a:buFont typeface="Arial"/>
                        <a:buNone/>
                      </a:pPr>
                      <a:r>
                        <a:rPr lang="en-MY" sz="1200" u="none" cap="none" strike="noStrike"/>
                        <a:t>User Story</a:t>
                      </a:r>
                      <a:endParaRPr sz="12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1200"/>
                        <a:buFont typeface="Arial"/>
                        <a:buNone/>
                      </a:pPr>
                      <a:r>
                        <a:rPr lang="en-MY" sz="1200" u="none" cap="none" strike="noStrike"/>
                        <a:t>Priority</a:t>
                      </a:r>
                      <a:endParaRPr sz="1200" u="none" cap="none" strike="noStrike"/>
                    </a:p>
                  </a:txBody>
                  <a:tcPr marT="45725" marB="45725" marR="91450" marL="91450" anchor="ctr"/>
                </a:tc>
              </a:tr>
              <a:tr h="383775">
                <a:tc>
                  <a:txBody>
                    <a:bodyPr/>
                    <a:lstStyle/>
                    <a:p>
                      <a:pPr indent="0" lvl="0" marL="0" marR="0" rtl="0" algn="l">
                        <a:lnSpc>
                          <a:spcPct val="100000"/>
                        </a:lnSpc>
                        <a:spcBef>
                          <a:spcPts val="0"/>
                        </a:spcBef>
                        <a:spcAft>
                          <a:spcPts val="0"/>
                        </a:spcAft>
                        <a:buClr>
                          <a:srgbClr val="000000"/>
                        </a:buClr>
                        <a:buSzPts val="1200"/>
                        <a:buFont typeface="Arial"/>
                        <a:buNone/>
                      </a:pPr>
                      <a:r>
                        <a:rPr lang="en-MY" sz="1200" u="none" cap="none" strike="noStrike"/>
                        <a:t>USI01</a:t>
                      </a:r>
                      <a:endParaRPr sz="12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1200"/>
                        <a:buFont typeface="Arial"/>
                        <a:buNone/>
                      </a:pPr>
                      <a:r>
                        <a:rPr lang="en-MY" sz="1200" u="none" cap="none" strike="noStrike"/>
                        <a:t>As a customer, I want to view a pizza menu with images and prices.</a:t>
                      </a:r>
                      <a:endParaRPr sz="12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MY" sz="1200" u="none" cap="none" strike="noStrike"/>
                        <a:t>High</a:t>
                      </a:r>
                      <a:endParaRPr sz="1200" u="none" cap="none" strike="noStrike"/>
                    </a:p>
                  </a:txBody>
                  <a:tcPr marT="45725" marB="45725" marR="91450" marL="91450" anchor="ctr"/>
                </a:tc>
              </a:tr>
              <a:tr h="383775">
                <a:tc>
                  <a:txBody>
                    <a:bodyPr/>
                    <a:lstStyle/>
                    <a:p>
                      <a:pPr indent="0" lvl="0" marL="0" marR="0" rtl="0" algn="l">
                        <a:lnSpc>
                          <a:spcPct val="100000"/>
                        </a:lnSpc>
                        <a:spcBef>
                          <a:spcPts val="0"/>
                        </a:spcBef>
                        <a:spcAft>
                          <a:spcPts val="0"/>
                        </a:spcAft>
                        <a:buClr>
                          <a:srgbClr val="000000"/>
                        </a:buClr>
                        <a:buSzPts val="1200"/>
                        <a:buFont typeface="Arial"/>
                        <a:buNone/>
                      </a:pPr>
                      <a:r>
                        <a:rPr lang="en-MY" sz="1200" u="none" cap="none" strike="noStrike"/>
                        <a:t>US102</a:t>
                      </a:r>
                      <a:endParaRPr sz="12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1200"/>
                        <a:buFont typeface="Arial"/>
                        <a:buNone/>
                      </a:pPr>
                      <a:r>
                        <a:rPr lang="en-MY" sz="1200" u="none" cap="none" strike="noStrike"/>
                        <a:t>As a customer, I want to add pizzas to a cart and review my order.</a:t>
                      </a:r>
                      <a:endParaRPr sz="12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MY" sz="1200" u="none" cap="none" strike="noStrike"/>
                        <a:t>High</a:t>
                      </a:r>
                      <a:endParaRPr sz="1200" u="none" cap="none" strike="noStrike"/>
                    </a:p>
                  </a:txBody>
                  <a:tcPr marT="45725" marB="45725" marR="91450" marL="91450" anchor="ct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13"/>
          <p:cNvSpPr txBox="1"/>
          <p:nvPr>
            <p:ph type="title"/>
          </p:nvPr>
        </p:nvSpPr>
        <p:spPr>
          <a:xfrm>
            <a:off x="831850" y="1047751"/>
            <a:ext cx="10515600" cy="1500187"/>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rPr b="1" lang="en-MY"/>
              <a:t>Product Backlog vs Sprint Backlog</a:t>
            </a:r>
            <a:endParaRPr/>
          </a:p>
        </p:txBody>
      </p:sp>
      <p:graphicFrame>
        <p:nvGraphicFramePr>
          <p:cNvPr id="350" name="Google Shape;350;p13"/>
          <p:cNvGraphicFramePr/>
          <p:nvPr/>
        </p:nvGraphicFramePr>
        <p:xfrm>
          <a:off x="844550" y="2316480"/>
          <a:ext cx="3000000" cy="3000000"/>
        </p:xfrm>
        <a:graphic>
          <a:graphicData uri="http://schemas.openxmlformats.org/drawingml/2006/table">
            <a:tbl>
              <a:tblPr bandRow="1" firstRow="1">
                <a:noFill/>
                <a:tableStyleId>{B56764A5-D5AB-4547-BF98-85EDDABA9C88}</a:tableStyleId>
              </a:tblPr>
              <a:tblGrid>
                <a:gridCol w="2348750"/>
                <a:gridCol w="3743025"/>
                <a:gridCol w="4060525"/>
              </a:tblGrid>
              <a:tr h="370850">
                <a:tc>
                  <a:txBody>
                    <a:bodyPr/>
                    <a:lstStyle/>
                    <a:p>
                      <a:pPr indent="0" lvl="0" marL="0" marR="0" rtl="0" algn="l">
                        <a:lnSpc>
                          <a:spcPct val="100000"/>
                        </a:lnSpc>
                        <a:spcBef>
                          <a:spcPts val="0"/>
                        </a:spcBef>
                        <a:spcAft>
                          <a:spcPts val="0"/>
                        </a:spcAft>
                        <a:buClr>
                          <a:srgbClr val="000000"/>
                        </a:buClr>
                        <a:buSzPts val="1800"/>
                        <a:buFont typeface="Arial"/>
                        <a:buNone/>
                      </a:pPr>
                      <a:r>
                        <a:rPr lang="en-MY" sz="1800" u="none" cap="none" strike="noStrike"/>
                        <a:t>Aspect</a:t>
                      </a:r>
                      <a:endParaRPr sz="14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1800"/>
                        <a:buFont typeface="Arial"/>
                        <a:buNone/>
                      </a:pPr>
                      <a:r>
                        <a:rPr lang="en-MY" sz="1800" u="none" cap="none" strike="noStrike"/>
                        <a:t>Product Backlog</a:t>
                      </a:r>
                      <a:endParaRPr sz="14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1800"/>
                        <a:buFont typeface="Arial"/>
                        <a:buNone/>
                      </a:pPr>
                      <a:r>
                        <a:rPr lang="en-MY" sz="1800" u="none" cap="none" strike="noStrike"/>
                        <a:t>Sprint Backlog</a:t>
                      </a:r>
                      <a:endParaRPr sz="1400" u="none" cap="none" strike="noStrike"/>
                    </a:p>
                  </a:txBody>
                  <a:tcPr marT="45725" marB="45725" marR="91450" marL="91450" anchor="ctr"/>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MY" sz="1800" u="none" cap="none" strike="noStrike"/>
                        <a:t>Ownership</a:t>
                      </a:r>
                      <a:endParaRPr sz="14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1800"/>
                        <a:buFont typeface="Arial"/>
                        <a:buNone/>
                      </a:pPr>
                      <a:r>
                        <a:rPr lang="en-MY" sz="1800" u="none" cap="none" strike="noStrike"/>
                        <a:t>Product Owner</a:t>
                      </a:r>
                      <a:endParaRPr sz="14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1800"/>
                        <a:buFont typeface="Arial"/>
                        <a:buNone/>
                      </a:pPr>
                      <a:r>
                        <a:rPr lang="en-MY" sz="1800" u="none" cap="none" strike="noStrike"/>
                        <a:t>Development Team</a:t>
                      </a:r>
                      <a:endParaRPr sz="1400" u="none" cap="none" strike="noStrike"/>
                    </a:p>
                  </a:txBody>
                  <a:tcPr marT="45725" marB="45725" marR="91450" marL="91450" anchor="ctr"/>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MY" sz="1800" u="none" cap="none" strike="noStrike"/>
                        <a:t>Scope</a:t>
                      </a:r>
                      <a:endParaRPr sz="14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1800"/>
                        <a:buFont typeface="Arial"/>
                        <a:buNone/>
                      </a:pPr>
                      <a:r>
                        <a:rPr lang="en-MY" sz="1800" u="none" cap="none" strike="noStrike"/>
                        <a:t>Entire product</a:t>
                      </a:r>
                      <a:endParaRPr sz="14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1800"/>
                        <a:buFont typeface="Arial"/>
                        <a:buNone/>
                      </a:pPr>
                      <a:r>
                        <a:rPr lang="en-MY" sz="1800" u="none" cap="none" strike="noStrike"/>
                        <a:t>Items for one sprint</a:t>
                      </a:r>
                      <a:endParaRPr sz="1400" u="none" cap="none" strike="noStrike"/>
                    </a:p>
                  </a:txBody>
                  <a:tcPr marT="45725" marB="45725" marR="91450" marL="91450" anchor="ctr"/>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MY" sz="1800" u="none" cap="none" strike="noStrike"/>
                        <a:t>Detail</a:t>
                      </a:r>
                      <a:endParaRPr sz="14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1800"/>
                        <a:buFont typeface="Arial"/>
                        <a:buNone/>
                      </a:pPr>
                      <a:r>
                        <a:rPr lang="en-MY" sz="1800" u="none" cap="none" strike="noStrike"/>
                        <a:t>Varies (depends on priority)</a:t>
                      </a:r>
                      <a:endParaRPr sz="14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1800"/>
                        <a:buFont typeface="Arial"/>
                        <a:buNone/>
                      </a:pPr>
                      <a:r>
                        <a:rPr lang="en-MY" sz="1800" u="none" cap="none" strike="noStrike"/>
                        <a:t>Highly detailed</a:t>
                      </a:r>
                      <a:endParaRPr sz="1400" u="none" cap="none" strike="noStrike"/>
                    </a:p>
                  </a:txBody>
                  <a:tcPr marT="45725" marB="45725" marR="91450" marL="91450" anchor="ctr"/>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MY" sz="1800" u="none" cap="none" strike="noStrike"/>
                        <a:t>Flexibility</a:t>
                      </a:r>
                      <a:endParaRPr sz="14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1800"/>
                        <a:buFont typeface="Arial"/>
                        <a:buNone/>
                      </a:pPr>
                      <a:r>
                        <a:rPr lang="en-MY" sz="1800" u="none" cap="none" strike="noStrike"/>
                        <a:t>Continuously evolving</a:t>
                      </a:r>
                      <a:endParaRPr sz="1400" u="none" cap="none" strike="noStrike"/>
                    </a:p>
                  </a:txBody>
                  <a:tcPr marT="45725" marB="45725" marR="91450" marL="91450" anchor="ctr"/>
                </a:tc>
                <a:tc>
                  <a:txBody>
                    <a:bodyPr/>
                    <a:lstStyle/>
                    <a:p>
                      <a:pPr indent="0" lvl="0" marL="0" marR="0" rtl="0" algn="l">
                        <a:lnSpc>
                          <a:spcPct val="100000"/>
                        </a:lnSpc>
                        <a:spcBef>
                          <a:spcPts val="0"/>
                        </a:spcBef>
                        <a:spcAft>
                          <a:spcPts val="0"/>
                        </a:spcAft>
                        <a:buClr>
                          <a:srgbClr val="000000"/>
                        </a:buClr>
                        <a:buSzPts val="1800"/>
                        <a:buFont typeface="Arial"/>
                        <a:buNone/>
                      </a:pPr>
                      <a:r>
                        <a:rPr lang="en-MY" sz="1800" u="none" cap="none" strike="noStrike"/>
                        <a:t>Fixed during sprint</a:t>
                      </a:r>
                      <a:endParaRPr sz="1400" u="none" cap="none" strike="noStrike"/>
                    </a:p>
                  </a:txBody>
                  <a:tcPr marT="45725" marB="45725" marR="91450" marL="91450" anchor="ct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g35afd35145d_0_99"/>
          <p:cNvSpPr txBox="1"/>
          <p:nvPr>
            <p:ph type="title"/>
          </p:nvPr>
        </p:nvSpPr>
        <p:spPr>
          <a:xfrm>
            <a:off x="2246313" y="4406901"/>
            <a:ext cx="7772400" cy="1362000"/>
          </a:xfrm>
          <a:prstGeom prst="rect">
            <a:avLst/>
          </a:prstGeom>
          <a:noFill/>
          <a:ln>
            <a:noFill/>
          </a:ln>
        </p:spPr>
        <p:txBody>
          <a:bodyPr anchorCtr="0" anchor="t" bIns="45700" lIns="91425" spcFirstLastPara="1" rIns="91425" wrap="square" tIns="45700">
            <a:normAutofit/>
          </a:bodyPr>
          <a:lstStyle/>
          <a:p>
            <a:pPr indent="0" lvl="0" marL="0" rtl="0" algn="l">
              <a:lnSpc>
                <a:spcPct val="115000"/>
              </a:lnSpc>
              <a:spcBef>
                <a:spcPts val="1200"/>
              </a:spcBef>
              <a:spcAft>
                <a:spcPts val="1200"/>
              </a:spcAft>
              <a:buClr>
                <a:schemeClr val="dk1"/>
              </a:buClr>
              <a:buSzPts val="1100"/>
              <a:buFont typeface="Arial"/>
              <a:buNone/>
            </a:pPr>
            <a:r>
              <a:rPr b="1" lang="en-MY" sz="3100">
                <a:latin typeface="Arial"/>
                <a:ea typeface="Arial"/>
                <a:cs typeface="Arial"/>
                <a:sym typeface="Arial"/>
              </a:rPr>
              <a:t>Sprint Increments</a:t>
            </a:r>
            <a:endParaRPr/>
          </a:p>
        </p:txBody>
      </p:sp>
      <p:sp>
        <p:nvSpPr>
          <p:cNvPr id="356" name="Google Shape;356;g35afd35145d_0_99"/>
          <p:cNvSpPr txBox="1"/>
          <p:nvPr>
            <p:ph idx="1" type="body"/>
          </p:nvPr>
        </p:nvSpPr>
        <p:spPr>
          <a:xfrm>
            <a:off x="2246313" y="2906714"/>
            <a:ext cx="7772400" cy="15003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Clr>
                <a:srgbClr val="888888"/>
              </a:buClr>
              <a:buSzPts val="2000"/>
              <a:buNone/>
            </a:pPr>
            <a:r>
              <a:t/>
            </a:r>
            <a:endParaRPr/>
          </a:p>
        </p:txBody>
      </p:sp>
      <p:sp>
        <p:nvSpPr>
          <p:cNvPr id="357" name="Google Shape;357;g35afd35145d_0_99"/>
          <p:cNvSpPr txBox="1"/>
          <p:nvPr>
            <p:ph idx="10" type="dt"/>
          </p:nvPr>
        </p:nvSpPr>
        <p:spPr>
          <a:xfrm>
            <a:off x="1981200" y="6598397"/>
            <a:ext cx="2133600" cy="3651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rPr lang="en-MY"/>
              <a:t>2021</a:t>
            </a:r>
            <a:endParaRPr/>
          </a:p>
        </p:txBody>
      </p:sp>
      <p:sp>
        <p:nvSpPr>
          <p:cNvPr id="358" name="Google Shape;358;g35afd35145d_0_99"/>
          <p:cNvSpPr txBox="1"/>
          <p:nvPr>
            <p:ph idx="11" type="ftr"/>
          </p:nvPr>
        </p:nvSpPr>
        <p:spPr>
          <a:xfrm>
            <a:off x="3993777" y="6620436"/>
            <a:ext cx="4191000" cy="304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n-MY"/>
              <a:t>Software Engineering</a:t>
            </a:r>
            <a:endParaRPr/>
          </a:p>
        </p:txBody>
      </p:sp>
      <p:sp>
        <p:nvSpPr>
          <p:cNvPr id="359" name="Google Shape;359;g35afd35145d_0_99"/>
          <p:cNvSpPr txBox="1"/>
          <p:nvPr>
            <p:ph idx="12" type="sldNum"/>
          </p:nvPr>
        </p:nvSpPr>
        <p:spPr>
          <a:xfrm>
            <a:off x="8077200" y="6598397"/>
            <a:ext cx="21336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MY"/>
              <a:t>‹#›</a:t>
            </a:fld>
            <a:endParaRPr/>
          </a:p>
        </p:txBody>
      </p:sp>
      <p:pic>
        <p:nvPicPr>
          <p:cNvPr id="360" name="Google Shape;360;g35afd35145d_0_99"/>
          <p:cNvPicPr preferRelativeResize="0"/>
          <p:nvPr/>
        </p:nvPicPr>
        <p:blipFill rotWithShape="1">
          <a:blip r:embed="rId3">
            <a:alphaModFix/>
          </a:blip>
          <a:srcRect b="0" l="0" r="0" t="0"/>
          <a:stretch/>
        </p:blipFill>
        <p:spPr>
          <a:xfrm>
            <a:off x="7151125" y="2830725"/>
            <a:ext cx="3522276" cy="260192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g35afd35145d_1_2"/>
          <p:cNvSpPr txBox="1"/>
          <p:nvPr>
            <p:ph type="title"/>
          </p:nvPr>
        </p:nvSpPr>
        <p:spPr>
          <a:xfrm>
            <a:off x="831850" y="1303626"/>
            <a:ext cx="10515600" cy="1500300"/>
          </a:xfrm>
          <a:prstGeom prst="rect">
            <a:avLst/>
          </a:prstGeom>
          <a:noFill/>
          <a:ln>
            <a:noFill/>
          </a:ln>
        </p:spPr>
        <p:txBody>
          <a:bodyPr anchorCtr="0" anchor="t" bIns="45700" lIns="91425" spcFirstLastPara="1" rIns="91425" wrap="square" tIns="45700">
            <a:normAutofit/>
          </a:bodyPr>
          <a:lstStyle/>
          <a:p>
            <a:pPr indent="0" lvl="0" marL="0" rtl="0" algn="l">
              <a:lnSpc>
                <a:spcPct val="115000"/>
              </a:lnSpc>
              <a:spcBef>
                <a:spcPts val="1200"/>
              </a:spcBef>
              <a:spcAft>
                <a:spcPts val="0"/>
              </a:spcAft>
              <a:buClr>
                <a:schemeClr val="dk1"/>
              </a:buClr>
              <a:buSzPts val="1100"/>
              <a:buFont typeface="Arial"/>
              <a:buNone/>
            </a:pPr>
            <a:r>
              <a:rPr b="1" lang="en-MY" sz="2000">
                <a:latin typeface="Arial"/>
                <a:ea typeface="Arial"/>
                <a:cs typeface="Arial"/>
                <a:sym typeface="Arial"/>
              </a:rPr>
              <a:t>Minimum Viable Product  (MVP)</a:t>
            </a:r>
            <a:endParaRPr b="1" sz="2000">
              <a:latin typeface="Arial"/>
              <a:ea typeface="Arial"/>
              <a:cs typeface="Arial"/>
              <a:sym typeface="Arial"/>
            </a:endParaRPr>
          </a:p>
          <a:p>
            <a:pPr indent="0" lvl="0" marL="0" rtl="0" algn="l">
              <a:lnSpc>
                <a:spcPct val="90000"/>
              </a:lnSpc>
              <a:spcBef>
                <a:spcPts val="1200"/>
              </a:spcBef>
              <a:spcAft>
                <a:spcPts val="0"/>
              </a:spcAft>
              <a:buSzPts val="4000"/>
              <a:buNone/>
            </a:pPr>
            <a:r>
              <a:t/>
            </a:r>
            <a:endParaRPr/>
          </a:p>
        </p:txBody>
      </p:sp>
      <p:sp>
        <p:nvSpPr>
          <p:cNvPr id="367" name="Google Shape;367;g35afd35145d_1_2"/>
          <p:cNvSpPr txBox="1"/>
          <p:nvPr>
            <p:ph idx="1" type="body"/>
          </p:nvPr>
        </p:nvSpPr>
        <p:spPr>
          <a:xfrm>
            <a:off x="831850" y="2258213"/>
            <a:ext cx="10515600" cy="3357600"/>
          </a:xfrm>
          <a:prstGeom prst="rect">
            <a:avLst/>
          </a:prstGeom>
          <a:noFill/>
          <a:ln>
            <a:noFill/>
          </a:ln>
        </p:spPr>
        <p:txBody>
          <a:bodyPr anchorCtr="0" anchor="t" bIns="45700" lIns="91425" spcFirstLastPara="1" rIns="91425" wrap="square" tIns="45700">
            <a:normAutofit/>
          </a:bodyPr>
          <a:lstStyle/>
          <a:p>
            <a:pPr indent="-355600" lvl="0" marL="457200" rtl="0" algn="l">
              <a:lnSpc>
                <a:spcPct val="115000"/>
              </a:lnSpc>
              <a:spcBef>
                <a:spcPts val="1200"/>
              </a:spcBef>
              <a:spcAft>
                <a:spcPts val="0"/>
              </a:spcAft>
              <a:buClr>
                <a:schemeClr val="dk1"/>
              </a:buClr>
              <a:buSzPts val="2000"/>
              <a:buChar char="●"/>
            </a:pPr>
            <a:r>
              <a:rPr lang="en-MY" sz="2000">
                <a:solidFill>
                  <a:schemeClr val="dk1"/>
                </a:solidFill>
                <a:latin typeface="Arial"/>
                <a:ea typeface="Arial"/>
                <a:cs typeface="Arial"/>
                <a:sym typeface="Arial"/>
              </a:rPr>
              <a:t>A version of a product with the minimum features needed to deliver value to users and gather feedback.</a:t>
            </a:r>
            <a:endParaRPr sz="2000">
              <a:solidFill>
                <a:schemeClr val="dk1"/>
              </a:solidFill>
              <a:latin typeface="Arial"/>
              <a:ea typeface="Arial"/>
              <a:cs typeface="Arial"/>
              <a:sym typeface="Arial"/>
            </a:endParaRPr>
          </a:p>
          <a:p>
            <a:pPr indent="-355600" lvl="0" marL="457200" rtl="0" algn="l">
              <a:lnSpc>
                <a:spcPct val="115000"/>
              </a:lnSpc>
              <a:spcBef>
                <a:spcPts val="0"/>
              </a:spcBef>
              <a:spcAft>
                <a:spcPts val="0"/>
              </a:spcAft>
              <a:buClr>
                <a:schemeClr val="dk1"/>
              </a:buClr>
              <a:buSzPts val="2000"/>
              <a:buChar char="●"/>
            </a:pPr>
            <a:r>
              <a:rPr lang="en-MY" sz="2000">
                <a:solidFill>
                  <a:schemeClr val="dk1"/>
                </a:solidFill>
                <a:latin typeface="Arial"/>
                <a:ea typeface="Arial"/>
                <a:cs typeface="Arial"/>
                <a:sym typeface="Arial"/>
              </a:rPr>
              <a:t>Used to validate product assumptions early and minimize unnecessary development.</a:t>
            </a:r>
            <a:endParaRPr sz="2000">
              <a:solidFill>
                <a:schemeClr val="dk1"/>
              </a:solidFill>
              <a:latin typeface="Arial"/>
              <a:ea typeface="Arial"/>
              <a:cs typeface="Arial"/>
              <a:sym typeface="Arial"/>
            </a:endParaRPr>
          </a:p>
          <a:p>
            <a:pPr indent="-355600" lvl="0" marL="457200" rtl="0" algn="l">
              <a:lnSpc>
                <a:spcPct val="115000"/>
              </a:lnSpc>
              <a:spcBef>
                <a:spcPts val="0"/>
              </a:spcBef>
              <a:spcAft>
                <a:spcPts val="0"/>
              </a:spcAft>
              <a:buClr>
                <a:schemeClr val="dk1"/>
              </a:buClr>
              <a:buSzPts val="2000"/>
              <a:buChar char="●"/>
            </a:pPr>
            <a:r>
              <a:rPr lang="en-MY" sz="2000">
                <a:solidFill>
                  <a:schemeClr val="dk1"/>
                </a:solidFill>
                <a:latin typeface="Arial"/>
                <a:ea typeface="Arial"/>
                <a:cs typeface="Arial"/>
                <a:sym typeface="Arial"/>
              </a:rPr>
              <a:t>Identified from the Product Backlog based on business value and user needs.</a:t>
            </a:r>
            <a:endParaRPr sz="2000">
              <a:solidFill>
                <a:schemeClr val="dk1"/>
              </a:solidFill>
              <a:latin typeface="Arial"/>
              <a:ea typeface="Arial"/>
              <a:cs typeface="Arial"/>
              <a:sym typeface="Arial"/>
            </a:endParaRPr>
          </a:p>
          <a:p>
            <a:pPr indent="-355600" lvl="0" marL="457200" rtl="0" algn="l">
              <a:lnSpc>
                <a:spcPct val="115000"/>
              </a:lnSpc>
              <a:spcBef>
                <a:spcPts val="0"/>
              </a:spcBef>
              <a:spcAft>
                <a:spcPts val="0"/>
              </a:spcAft>
              <a:buClr>
                <a:schemeClr val="dk1"/>
              </a:buClr>
              <a:buSzPts val="2000"/>
              <a:buChar char="●"/>
            </a:pPr>
            <a:r>
              <a:rPr lang="en-MY" sz="2000">
                <a:solidFill>
                  <a:schemeClr val="dk1"/>
                </a:solidFill>
                <a:latin typeface="Arial"/>
                <a:ea typeface="Arial"/>
                <a:cs typeface="Arial"/>
                <a:sym typeface="Arial"/>
              </a:rPr>
              <a:t>Planned during Sprint Planning and delivered in early sprints.</a:t>
            </a:r>
            <a:endParaRPr sz="2000">
              <a:solidFill>
                <a:schemeClr val="dk1"/>
              </a:solidFill>
              <a:latin typeface="Arial"/>
              <a:ea typeface="Arial"/>
              <a:cs typeface="Arial"/>
              <a:sym typeface="Arial"/>
            </a:endParaRPr>
          </a:p>
          <a:p>
            <a:pPr indent="-355600" lvl="0" marL="457200" rtl="0" algn="l">
              <a:lnSpc>
                <a:spcPct val="115000"/>
              </a:lnSpc>
              <a:spcBef>
                <a:spcPts val="0"/>
              </a:spcBef>
              <a:spcAft>
                <a:spcPts val="0"/>
              </a:spcAft>
              <a:buClr>
                <a:schemeClr val="dk1"/>
              </a:buClr>
              <a:buSzPts val="2000"/>
              <a:buChar char="●"/>
            </a:pPr>
            <a:r>
              <a:rPr lang="en-MY" sz="2000">
                <a:solidFill>
                  <a:schemeClr val="dk1"/>
                </a:solidFill>
                <a:latin typeface="Arial"/>
                <a:ea typeface="Arial"/>
                <a:cs typeface="Arial"/>
                <a:sym typeface="Arial"/>
              </a:rPr>
              <a:t>Reviewed and improved based on Sprint Reviews and Retrospectives.</a:t>
            </a:r>
            <a:endParaRPr sz="2000">
              <a:solidFill>
                <a:schemeClr val="dk1"/>
              </a:solidFill>
              <a:latin typeface="Arial"/>
              <a:ea typeface="Arial"/>
              <a:cs typeface="Arial"/>
              <a:sym typeface="Arial"/>
            </a:endParaRPr>
          </a:p>
          <a:p>
            <a:pPr indent="0" lvl="0" marL="457200" rtl="0" algn="l">
              <a:lnSpc>
                <a:spcPct val="115000"/>
              </a:lnSpc>
              <a:spcBef>
                <a:spcPts val="1200"/>
              </a:spcBef>
              <a:spcAft>
                <a:spcPts val="0"/>
              </a:spcAft>
              <a:buSzPts val="2400"/>
              <a:buNone/>
            </a:pPr>
            <a:r>
              <a:t/>
            </a:r>
            <a:endParaRPr sz="2000">
              <a:solidFill>
                <a:schemeClr val="dk1"/>
              </a:solidFill>
              <a:latin typeface="Arial"/>
              <a:ea typeface="Arial"/>
              <a:cs typeface="Arial"/>
              <a:sym typeface="Arial"/>
            </a:endParaRPr>
          </a:p>
          <a:p>
            <a:pPr indent="0" lvl="0" marL="0" rtl="0" algn="l">
              <a:lnSpc>
                <a:spcPct val="90000"/>
              </a:lnSpc>
              <a:spcBef>
                <a:spcPts val="1200"/>
              </a:spcBef>
              <a:spcAft>
                <a:spcPts val="0"/>
              </a:spcAft>
              <a:buSzPts val="2400"/>
              <a:buNone/>
            </a:pPr>
            <a:r>
              <a:t/>
            </a:r>
            <a:endParaRPr/>
          </a:p>
        </p:txBody>
      </p:sp>
      <p:sp>
        <p:nvSpPr>
          <p:cNvPr id="368" name="Google Shape;368;g35afd35145d_1_2"/>
          <p:cNvSpPr txBox="1"/>
          <p:nvPr>
            <p:ph type="title"/>
          </p:nvPr>
        </p:nvSpPr>
        <p:spPr>
          <a:xfrm>
            <a:off x="3544175" y="1233601"/>
            <a:ext cx="10515600" cy="1500300"/>
          </a:xfrm>
          <a:prstGeom prst="rect">
            <a:avLst/>
          </a:prstGeom>
          <a:noFill/>
          <a:ln>
            <a:noFill/>
          </a:ln>
        </p:spPr>
        <p:txBody>
          <a:bodyPr anchorCtr="0" anchor="t" bIns="45700" lIns="91425" spcFirstLastPara="1" rIns="91425" wrap="square" tIns="45700">
            <a:normAutofit/>
          </a:bodyPr>
          <a:lstStyle/>
          <a:p>
            <a:pPr indent="0" lvl="0" marL="0" rtl="0" algn="l">
              <a:lnSpc>
                <a:spcPct val="115000"/>
              </a:lnSpc>
              <a:spcBef>
                <a:spcPts val="1200"/>
              </a:spcBef>
              <a:spcAft>
                <a:spcPts val="0"/>
              </a:spcAft>
              <a:buClr>
                <a:schemeClr val="dk1"/>
              </a:buClr>
              <a:buSzPts val="1100"/>
              <a:buFont typeface="Arial"/>
              <a:buNone/>
            </a:pPr>
            <a:r>
              <a:rPr b="1" lang="en-MY" sz="3100">
                <a:latin typeface="Arial"/>
                <a:ea typeface="Arial"/>
                <a:cs typeface="Arial"/>
                <a:sym typeface="Arial"/>
              </a:rPr>
              <a:t>Sprint Increments</a:t>
            </a:r>
            <a:endParaRPr b="1" sz="3100">
              <a:latin typeface="Arial"/>
              <a:ea typeface="Arial"/>
              <a:cs typeface="Arial"/>
              <a:sym typeface="Arial"/>
            </a:endParaRPr>
          </a:p>
          <a:p>
            <a:pPr indent="0" lvl="0" marL="0" rtl="0" algn="l">
              <a:lnSpc>
                <a:spcPct val="90000"/>
              </a:lnSpc>
              <a:spcBef>
                <a:spcPts val="1200"/>
              </a:spcBef>
              <a:spcAft>
                <a:spcPts val="0"/>
              </a:spcAft>
              <a:buSzPts val="4000"/>
              <a:buNone/>
            </a:pPr>
            <a:r>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12"/>
          <p:cNvSpPr txBox="1"/>
          <p:nvPr>
            <p:ph type="title"/>
          </p:nvPr>
        </p:nvSpPr>
        <p:spPr>
          <a:xfrm>
            <a:off x="831850" y="582075"/>
            <a:ext cx="10515600" cy="769200"/>
          </a:xfrm>
          <a:prstGeom prst="rect">
            <a:avLst/>
          </a:prstGeom>
          <a:noFill/>
          <a:ln>
            <a:noFill/>
          </a:ln>
        </p:spPr>
        <p:txBody>
          <a:bodyPr anchorCtr="0" anchor="t" bIns="45700" lIns="91425" spcFirstLastPara="1" rIns="91425" wrap="square" tIns="45700">
            <a:normAutofit fontScale="90000"/>
          </a:bodyPr>
          <a:lstStyle/>
          <a:p>
            <a:pPr indent="0" lvl="0" marL="0" rtl="0" algn="l">
              <a:lnSpc>
                <a:spcPct val="115000"/>
              </a:lnSpc>
              <a:spcBef>
                <a:spcPts val="1200"/>
              </a:spcBef>
              <a:spcAft>
                <a:spcPts val="0"/>
              </a:spcAft>
              <a:buClr>
                <a:schemeClr val="dk1"/>
              </a:buClr>
              <a:buSzPct val="43043"/>
              <a:buFont typeface="Arial"/>
              <a:buNone/>
            </a:pPr>
            <a:r>
              <a:rPr b="1" lang="en-MY" sz="2555">
                <a:latin typeface="Arial"/>
                <a:ea typeface="Arial"/>
                <a:cs typeface="Arial"/>
                <a:sym typeface="Arial"/>
              </a:rPr>
              <a:t>Sprint, Release, and MVP</a:t>
            </a:r>
            <a:endParaRPr b="1" sz="2555">
              <a:latin typeface="Arial"/>
              <a:ea typeface="Arial"/>
              <a:cs typeface="Arial"/>
              <a:sym typeface="Arial"/>
            </a:endParaRPr>
          </a:p>
          <a:p>
            <a:pPr indent="0" lvl="0" marL="0" rtl="0" algn="l">
              <a:lnSpc>
                <a:spcPct val="90000"/>
              </a:lnSpc>
              <a:spcBef>
                <a:spcPts val="1200"/>
              </a:spcBef>
              <a:spcAft>
                <a:spcPts val="0"/>
              </a:spcAft>
              <a:buClr>
                <a:schemeClr val="dk1"/>
              </a:buClr>
              <a:buSzPct val="117647"/>
              <a:buFont typeface="Calibri"/>
              <a:buNone/>
            </a:pPr>
            <a:r>
              <a:t/>
            </a:r>
            <a:endParaRPr sz="3400"/>
          </a:p>
        </p:txBody>
      </p:sp>
      <p:sp>
        <p:nvSpPr>
          <p:cNvPr id="374" name="Google Shape;374;p12"/>
          <p:cNvSpPr txBox="1"/>
          <p:nvPr>
            <p:ph idx="1" type="body"/>
          </p:nvPr>
        </p:nvSpPr>
        <p:spPr>
          <a:xfrm>
            <a:off x="444575" y="1351275"/>
            <a:ext cx="10902900" cy="3357600"/>
          </a:xfrm>
          <a:prstGeom prst="rect">
            <a:avLst/>
          </a:prstGeom>
          <a:noFill/>
          <a:ln>
            <a:noFill/>
          </a:ln>
        </p:spPr>
        <p:txBody>
          <a:bodyPr anchorCtr="0" anchor="t" bIns="45700" lIns="91425" spcFirstLastPara="1" rIns="91425" wrap="square" tIns="45700">
            <a:normAutofit/>
          </a:bodyPr>
          <a:lstStyle/>
          <a:p>
            <a:pPr indent="-381000" lvl="0" marL="457200" rtl="0" algn="l">
              <a:lnSpc>
                <a:spcPct val="90000"/>
              </a:lnSpc>
              <a:spcBef>
                <a:spcPts val="0"/>
              </a:spcBef>
              <a:spcAft>
                <a:spcPts val="0"/>
              </a:spcAft>
              <a:buClr>
                <a:schemeClr val="dk1"/>
              </a:buClr>
              <a:buSzPts val="2400"/>
              <a:buChar char="●"/>
            </a:pPr>
            <a:r>
              <a:rPr lang="en-MY">
                <a:solidFill>
                  <a:schemeClr val="dk1"/>
                </a:solidFill>
              </a:rPr>
              <a:t>The core functionalities are developed first, allowing users to begin using and testing the product in real-world conditions.</a:t>
            </a:r>
            <a:endParaRPr>
              <a:solidFill>
                <a:schemeClr val="dk1"/>
              </a:solidFill>
            </a:endParaRPr>
          </a:p>
        </p:txBody>
      </p:sp>
      <p:pic>
        <p:nvPicPr>
          <p:cNvPr id="375" name="Google Shape;375;p12" title="epic and MWP.png"/>
          <p:cNvPicPr preferRelativeResize="0"/>
          <p:nvPr/>
        </p:nvPicPr>
        <p:blipFill rotWithShape="1">
          <a:blip r:embed="rId3">
            <a:alphaModFix/>
          </a:blip>
          <a:srcRect b="0" l="0" r="0" t="0"/>
          <a:stretch/>
        </p:blipFill>
        <p:spPr>
          <a:xfrm>
            <a:off x="1059150" y="2303775"/>
            <a:ext cx="9618099" cy="3556951"/>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grpSp>
        <p:nvGrpSpPr>
          <p:cNvPr id="381" name="Google Shape;381;g35afd35145d_1_47"/>
          <p:cNvGrpSpPr/>
          <p:nvPr/>
        </p:nvGrpSpPr>
        <p:grpSpPr>
          <a:xfrm>
            <a:off x="5926476" y="3416590"/>
            <a:ext cx="2014170" cy="2110081"/>
            <a:chOff x="1083025" y="2306625"/>
            <a:chExt cx="1834900" cy="1582600"/>
          </a:xfrm>
        </p:grpSpPr>
        <p:sp>
          <p:nvSpPr>
            <p:cNvPr id="382" name="Google Shape;382;g35afd35145d_1_47"/>
            <p:cNvSpPr txBox="1"/>
            <p:nvPr/>
          </p:nvSpPr>
          <p:spPr>
            <a:xfrm>
              <a:off x="1235825" y="2695025"/>
              <a:ext cx="1505100" cy="446400"/>
            </a:xfrm>
            <a:prstGeom prst="rect">
              <a:avLst/>
            </a:prstGeom>
            <a:noFill/>
            <a:ln>
              <a:noFill/>
            </a:ln>
          </p:spPr>
          <p:txBody>
            <a:bodyPr anchorCtr="0" anchor="b" bIns="121900" lIns="121900" spcFirstLastPara="1" rIns="121900" wrap="square" tIns="121900">
              <a:noAutofit/>
            </a:bodyPr>
            <a:lstStyle/>
            <a:p>
              <a:pPr indent="0" lvl="0" marL="0" marR="0" rtl="0" algn="l">
                <a:lnSpc>
                  <a:spcPct val="115000"/>
                </a:lnSpc>
                <a:spcBef>
                  <a:spcPts val="0"/>
                </a:spcBef>
                <a:spcAft>
                  <a:spcPts val="0"/>
                </a:spcAft>
                <a:buClr>
                  <a:srgbClr val="000000"/>
                </a:buClr>
                <a:buSzPts val="1300"/>
                <a:buFont typeface="Arial"/>
                <a:buNone/>
              </a:pPr>
              <a:r>
                <a:rPr b="1" i="1" lang="en-MY" sz="1300" u="none" cap="none" strike="noStrike">
                  <a:solidFill>
                    <a:srgbClr val="FF0000"/>
                  </a:solidFill>
                  <a:latin typeface="Roboto"/>
                  <a:ea typeface="Roboto"/>
                  <a:cs typeface="Roboto"/>
                  <a:sym typeface="Roboto"/>
                </a:rPr>
                <a:t>Release 2</a:t>
              </a:r>
              <a:endParaRPr b="1" i="1" sz="1300" u="none" cap="none" strike="noStrike">
                <a:solidFill>
                  <a:srgbClr val="FF0000"/>
                </a:solidFill>
                <a:latin typeface="Roboto"/>
                <a:ea typeface="Roboto"/>
                <a:cs typeface="Roboto"/>
                <a:sym typeface="Roboto"/>
              </a:endParaRPr>
            </a:p>
          </p:txBody>
        </p:sp>
        <p:sp>
          <p:nvSpPr>
            <p:cNvPr id="383" name="Google Shape;383;g35afd35145d_1_47"/>
            <p:cNvSpPr txBox="1"/>
            <p:nvPr/>
          </p:nvSpPr>
          <p:spPr>
            <a:xfrm>
              <a:off x="1215700" y="3151825"/>
              <a:ext cx="1545600" cy="737400"/>
            </a:xfrm>
            <a:prstGeom prst="rect">
              <a:avLst/>
            </a:prstGeom>
            <a:noFill/>
            <a:ln>
              <a:noFill/>
            </a:ln>
          </p:spPr>
          <p:txBody>
            <a:bodyPr anchorCtr="0" anchor="t" bIns="121900" lIns="121900" spcFirstLastPara="1" rIns="121900" wrap="square" tIns="121900">
              <a:noAutofit/>
            </a:bodyPr>
            <a:lstStyle/>
            <a:p>
              <a:pPr indent="0" lvl="0" marL="0" marR="0" rtl="0" algn="l">
                <a:lnSpc>
                  <a:spcPct val="115000"/>
                </a:lnSpc>
                <a:spcBef>
                  <a:spcPts val="0"/>
                </a:spcBef>
                <a:spcAft>
                  <a:spcPts val="0"/>
                </a:spcAft>
                <a:buClr>
                  <a:srgbClr val="000000"/>
                </a:buClr>
                <a:buSzPts val="1100"/>
                <a:buFont typeface="Arial"/>
                <a:buNone/>
              </a:pPr>
              <a:r>
                <a:rPr b="1" i="0" lang="en-MY" sz="1100" u="none" cap="none" strike="noStrike">
                  <a:solidFill>
                    <a:schemeClr val="accent1"/>
                  </a:solidFill>
                  <a:latin typeface="Roboto"/>
                  <a:ea typeface="Roboto"/>
                  <a:cs typeface="Roboto"/>
                  <a:sym typeface="Roboto"/>
                </a:rPr>
                <a:t>EPIC 2</a:t>
              </a:r>
              <a:endParaRPr b="1" i="0" sz="1100" u="none" cap="none" strike="noStrike">
                <a:solidFill>
                  <a:schemeClr val="accent1"/>
                </a:solidFill>
                <a:latin typeface="Roboto"/>
                <a:ea typeface="Roboto"/>
                <a:cs typeface="Roboto"/>
                <a:sym typeface="Roboto"/>
              </a:endParaRPr>
            </a:p>
            <a:p>
              <a:pPr indent="0" lvl="0" marL="0" marR="0" rtl="0" algn="l">
                <a:lnSpc>
                  <a:spcPct val="115000"/>
                </a:lnSpc>
                <a:spcBef>
                  <a:spcPts val="2100"/>
                </a:spcBef>
                <a:spcAft>
                  <a:spcPts val="2100"/>
                </a:spcAft>
                <a:buClr>
                  <a:srgbClr val="000000"/>
                </a:buClr>
                <a:buSzPts val="1100"/>
                <a:buFont typeface="Arial"/>
                <a:buNone/>
              </a:pPr>
              <a:r>
                <a:rPr b="1" i="0" lang="en-MY" sz="1100" u="none" cap="none" strike="noStrike">
                  <a:solidFill>
                    <a:schemeClr val="accent1"/>
                  </a:solidFill>
                  <a:latin typeface="Roboto"/>
                  <a:ea typeface="Roboto"/>
                  <a:cs typeface="Roboto"/>
                  <a:sym typeface="Roboto"/>
                </a:rPr>
                <a:t>EPIC 1</a:t>
              </a:r>
              <a:endParaRPr b="1" i="0" sz="1100" u="none" cap="none" strike="noStrike">
                <a:solidFill>
                  <a:schemeClr val="accent1"/>
                </a:solidFill>
                <a:latin typeface="Roboto"/>
                <a:ea typeface="Roboto"/>
                <a:cs typeface="Roboto"/>
                <a:sym typeface="Roboto"/>
              </a:endParaRPr>
            </a:p>
          </p:txBody>
        </p:sp>
        <p:sp>
          <p:nvSpPr>
            <p:cNvPr id="384" name="Google Shape;384;g35afd35145d_1_47"/>
            <p:cNvSpPr/>
            <p:nvPr/>
          </p:nvSpPr>
          <p:spPr>
            <a:xfrm flipH="1">
              <a:off x="1083025" y="2306625"/>
              <a:ext cx="1834800" cy="143400"/>
            </a:xfrm>
            <a:prstGeom prst="parallelogram">
              <a:avLst>
                <a:gd fmla="val 96952" name="adj"/>
              </a:avLst>
            </a:prstGeom>
            <a:solidFill>
              <a:srgbClr val="A0C5E8"/>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rPr b="0" i="0" lang="en-MY" sz="1900" u="none" cap="none" strike="noStrike">
                  <a:solidFill>
                    <a:srgbClr val="000000"/>
                  </a:solidFill>
                  <a:latin typeface="Arial"/>
                  <a:ea typeface="Arial"/>
                  <a:cs typeface="Arial"/>
                  <a:sym typeface="Arial"/>
                </a:rPr>
                <a:t>  </a:t>
              </a:r>
              <a:endParaRPr b="0" i="0" sz="1900" u="none" cap="none" strike="noStrike">
                <a:solidFill>
                  <a:srgbClr val="000000"/>
                </a:solidFill>
                <a:latin typeface="Arial"/>
                <a:ea typeface="Arial"/>
                <a:cs typeface="Arial"/>
                <a:sym typeface="Arial"/>
              </a:endParaRPr>
            </a:p>
          </p:txBody>
        </p:sp>
        <p:sp>
          <p:nvSpPr>
            <p:cNvPr id="385" name="Google Shape;385;g35afd35145d_1_47"/>
            <p:cNvSpPr/>
            <p:nvPr/>
          </p:nvSpPr>
          <p:spPr>
            <a:xfrm>
              <a:off x="1083125" y="2460449"/>
              <a:ext cx="1834800" cy="143400"/>
            </a:xfrm>
            <a:prstGeom prst="parallelogram">
              <a:avLst>
                <a:gd fmla="val 96952" name="adj"/>
              </a:avLst>
            </a:prstGeom>
            <a:solidFill>
              <a:srgbClr val="4986E8"/>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86" name="Google Shape;386;g35afd35145d_1_47"/>
          <p:cNvSpPr txBox="1"/>
          <p:nvPr/>
        </p:nvSpPr>
        <p:spPr>
          <a:xfrm>
            <a:off x="2616674" y="2993012"/>
            <a:ext cx="1081500" cy="321600"/>
          </a:xfrm>
          <a:prstGeom prst="rect">
            <a:avLst/>
          </a:prstGeom>
          <a:noFill/>
          <a:ln>
            <a:noFill/>
          </a:ln>
        </p:spPr>
        <p:txBody>
          <a:bodyPr anchorCtr="0" anchor="t" bIns="121900" lIns="121900" spcFirstLastPara="1" rIns="121900" wrap="square" tIns="121900">
            <a:noAutofit/>
          </a:bodyPr>
          <a:lstStyle/>
          <a:p>
            <a:pPr indent="0" lvl="0" marL="0" marR="0" rtl="0" algn="r">
              <a:lnSpc>
                <a:spcPct val="115000"/>
              </a:lnSpc>
              <a:spcBef>
                <a:spcPts val="0"/>
              </a:spcBef>
              <a:spcAft>
                <a:spcPts val="2100"/>
              </a:spcAft>
              <a:buClr>
                <a:srgbClr val="000000"/>
              </a:buClr>
              <a:buSzPts val="1300"/>
              <a:buFont typeface="Arial"/>
              <a:buNone/>
            </a:pPr>
            <a:r>
              <a:rPr b="1" i="0" lang="en-MY" sz="1300" u="none" cap="none" strike="noStrike">
                <a:solidFill>
                  <a:srgbClr val="0C57D3"/>
                </a:solidFill>
                <a:latin typeface="Roboto"/>
                <a:ea typeface="Roboto"/>
                <a:cs typeface="Roboto"/>
                <a:sym typeface="Roboto"/>
              </a:rPr>
              <a:t>SPRINT 2</a:t>
            </a:r>
            <a:endParaRPr b="1" i="0" sz="1300" u="none" cap="none" strike="noStrike">
              <a:solidFill>
                <a:srgbClr val="0C57D3"/>
              </a:solidFill>
              <a:latin typeface="Roboto"/>
              <a:ea typeface="Roboto"/>
              <a:cs typeface="Roboto"/>
              <a:sym typeface="Roboto"/>
            </a:endParaRPr>
          </a:p>
        </p:txBody>
      </p:sp>
      <p:sp>
        <p:nvSpPr>
          <p:cNvPr id="387" name="Google Shape;387;g35afd35145d_1_47"/>
          <p:cNvSpPr txBox="1"/>
          <p:nvPr/>
        </p:nvSpPr>
        <p:spPr>
          <a:xfrm>
            <a:off x="4474899" y="2993012"/>
            <a:ext cx="1081500" cy="321600"/>
          </a:xfrm>
          <a:prstGeom prst="rect">
            <a:avLst/>
          </a:prstGeom>
          <a:noFill/>
          <a:ln>
            <a:noFill/>
          </a:ln>
        </p:spPr>
        <p:txBody>
          <a:bodyPr anchorCtr="0" anchor="t" bIns="121900" lIns="121900" spcFirstLastPara="1" rIns="121900" wrap="square" tIns="121900">
            <a:noAutofit/>
          </a:bodyPr>
          <a:lstStyle/>
          <a:p>
            <a:pPr indent="0" lvl="0" marL="0" marR="0" rtl="0" algn="r">
              <a:lnSpc>
                <a:spcPct val="115000"/>
              </a:lnSpc>
              <a:spcBef>
                <a:spcPts val="0"/>
              </a:spcBef>
              <a:spcAft>
                <a:spcPts val="2100"/>
              </a:spcAft>
              <a:buClr>
                <a:srgbClr val="000000"/>
              </a:buClr>
              <a:buSzPts val="1300"/>
              <a:buFont typeface="Arial"/>
              <a:buNone/>
            </a:pPr>
            <a:r>
              <a:rPr b="1" i="0" lang="en-MY" sz="1300" u="none" cap="none" strike="noStrike">
                <a:solidFill>
                  <a:srgbClr val="0C57D3"/>
                </a:solidFill>
                <a:latin typeface="Roboto"/>
                <a:ea typeface="Roboto"/>
                <a:cs typeface="Roboto"/>
                <a:sym typeface="Roboto"/>
              </a:rPr>
              <a:t>SPRINT 3</a:t>
            </a:r>
            <a:endParaRPr b="1" i="0" sz="1300" u="none" cap="none" strike="noStrike">
              <a:solidFill>
                <a:srgbClr val="0C57D3"/>
              </a:solidFill>
              <a:latin typeface="Roboto"/>
              <a:ea typeface="Roboto"/>
              <a:cs typeface="Roboto"/>
              <a:sym typeface="Roboto"/>
            </a:endParaRPr>
          </a:p>
        </p:txBody>
      </p:sp>
      <p:sp>
        <p:nvSpPr>
          <p:cNvPr id="388" name="Google Shape;388;g35afd35145d_1_47"/>
          <p:cNvSpPr txBox="1"/>
          <p:nvPr/>
        </p:nvSpPr>
        <p:spPr>
          <a:xfrm>
            <a:off x="6294662" y="2993012"/>
            <a:ext cx="1081500" cy="321600"/>
          </a:xfrm>
          <a:prstGeom prst="rect">
            <a:avLst/>
          </a:prstGeom>
          <a:noFill/>
          <a:ln>
            <a:noFill/>
          </a:ln>
        </p:spPr>
        <p:txBody>
          <a:bodyPr anchorCtr="0" anchor="t" bIns="121900" lIns="121900" spcFirstLastPara="1" rIns="121900" wrap="square" tIns="121900">
            <a:noAutofit/>
          </a:bodyPr>
          <a:lstStyle/>
          <a:p>
            <a:pPr indent="0" lvl="0" marL="0" marR="0" rtl="0" algn="r">
              <a:lnSpc>
                <a:spcPct val="115000"/>
              </a:lnSpc>
              <a:spcBef>
                <a:spcPts val="0"/>
              </a:spcBef>
              <a:spcAft>
                <a:spcPts val="2100"/>
              </a:spcAft>
              <a:buClr>
                <a:srgbClr val="000000"/>
              </a:buClr>
              <a:buSzPts val="1300"/>
              <a:buFont typeface="Arial"/>
              <a:buNone/>
            </a:pPr>
            <a:r>
              <a:rPr b="1" i="0" lang="en-MY" sz="1300" u="none" cap="none" strike="noStrike">
                <a:solidFill>
                  <a:srgbClr val="0C57D3"/>
                </a:solidFill>
                <a:latin typeface="Roboto"/>
                <a:ea typeface="Roboto"/>
                <a:cs typeface="Roboto"/>
                <a:sym typeface="Roboto"/>
              </a:rPr>
              <a:t>SPRINT 4</a:t>
            </a:r>
            <a:endParaRPr b="1" i="0" sz="1300" u="none" cap="none" strike="noStrike">
              <a:solidFill>
                <a:srgbClr val="0C57D3"/>
              </a:solidFill>
              <a:latin typeface="Roboto"/>
              <a:ea typeface="Roboto"/>
              <a:cs typeface="Roboto"/>
              <a:sym typeface="Roboto"/>
            </a:endParaRPr>
          </a:p>
        </p:txBody>
      </p:sp>
      <p:grpSp>
        <p:nvGrpSpPr>
          <p:cNvPr id="389" name="Google Shape;389;g35afd35145d_1_47"/>
          <p:cNvGrpSpPr/>
          <p:nvPr/>
        </p:nvGrpSpPr>
        <p:grpSpPr>
          <a:xfrm>
            <a:off x="4045825" y="3416604"/>
            <a:ext cx="3894852" cy="1217575"/>
            <a:chOff x="1083025" y="2306625"/>
            <a:chExt cx="3548194" cy="913204"/>
          </a:xfrm>
        </p:grpSpPr>
        <p:cxnSp>
          <p:nvCxnSpPr>
            <p:cNvPr id="390" name="Google Shape;390;g35afd35145d_1_47"/>
            <p:cNvCxnSpPr/>
            <p:nvPr/>
          </p:nvCxnSpPr>
          <p:spPr>
            <a:xfrm flipH="1" rot="10800000">
              <a:off x="4276019" y="2450029"/>
              <a:ext cx="355200" cy="769800"/>
            </a:xfrm>
            <a:prstGeom prst="straightConnector1">
              <a:avLst/>
            </a:prstGeom>
            <a:noFill/>
            <a:ln cap="flat" cmpd="sng" w="19050">
              <a:solidFill>
                <a:schemeClr val="accent1"/>
              </a:solidFill>
              <a:prstDash val="solid"/>
              <a:round/>
              <a:headEnd len="sm" w="sm" type="none"/>
              <a:tailEnd len="sm" w="sm" type="none"/>
            </a:ln>
          </p:spPr>
        </p:cxnSp>
        <p:sp>
          <p:nvSpPr>
            <p:cNvPr id="391" name="Google Shape;391;g35afd35145d_1_47"/>
            <p:cNvSpPr/>
            <p:nvPr/>
          </p:nvSpPr>
          <p:spPr>
            <a:xfrm flipH="1">
              <a:off x="1083025" y="2306625"/>
              <a:ext cx="1834800" cy="143400"/>
            </a:xfrm>
            <a:prstGeom prst="parallelogram">
              <a:avLst>
                <a:gd fmla="val 96952" name="adj"/>
              </a:avLst>
            </a:prstGeom>
            <a:solidFill>
              <a:srgbClr val="9FC5E8"/>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rPr b="0" i="0" lang="en-MY" sz="1900" u="none" cap="none" strike="noStrike">
                  <a:solidFill>
                    <a:srgbClr val="000000"/>
                  </a:solidFill>
                  <a:latin typeface="Arial"/>
                  <a:ea typeface="Arial"/>
                  <a:cs typeface="Arial"/>
                  <a:sym typeface="Arial"/>
                </a:rPr>
                <a:t>  </a:t>
              </a:r>
              <a:endParaRPr b="0" i="0" sz="1900" u="none" cap="none" strike="noStrike">
                <a:solidFill>
                  <a:srgbClr val="000000"/>
                </a:solidFill>
                <a:latin typeface="Arial"/>
                <a:ea typeface="Arial"/>
                <a:cs typeface="Arial"/>
                <a:sym typeface="Arial"/>
              </a:endParaRPr>
            </a:p>
          </p:txBody>
        </p:sp>
        <p:sp>
          <p:nvSpPr>
            <p:cNvPr id="392" name="Google Shape;392;g35afd35145d_1_47"/>
            <p:cNvSpPr/>
            <p:nvPr/>
          </p:nvSpPr>
          <p:spPr>
            <a:xfrm>
              <a:off x="1083125" y="2460449"/>
              <a:ext cx="1834800" cy="143400"/>
            </a:xfrm>
            <a:prstGeom prst="parallelogram">
              <a:avLst>
                <a:gd fmla="val 96952" name="adj"/>
              </a:avLst>
            </a:prstGeom>
            <a:solidFill>
              <a:srgbClr val="4A86E8"/>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93" name="Google Shape;393;g35afd35145d_1_47"/>
          <p:cNvGrpSpPr/>
          <p:nvPr/>
        </p:nvGrpSpPr>
        <p:grpSpPr>
          <a:xfrm>
            <a:off x="2156836" y="3417503"/>
            <a:ext cx="2440242" cy="2111981"/>
            <a:chOff x="1083025" y="2306625"/>
            <a:chExt cx="2223050" cy="1584025"/>
          </a:xfrm>
        </p:grpSpPr>
        <p:sp>
          <p:nvSpPr>
            <p:cNvPr id="394" name="Google Shape;394;g35afd35145d_1_47"/>
            <p:cNvSpPr txBox="1"/>
            <p:nvPr/>
          </p:nvSpPr>
          <p:spPr>
            <a:xfrm>
              <a:off x="1514511" y="2680076"/>
              <a:ext cx="1707900" cy="446400"/>
            </a:xfrm>
            <a:prstGeom prst="rect">
              <a:avLst/>
            </a:prstGeom>
            <a:noFill/>
            <a:ln>
              <a:noFill/>
            </a:ln>
          </p:spPr>
          <p:txBody>
            <a:bodyPr anchorCtr="0" anchor="b" bIns="121900" lIns="121900" spcFirstLastPara="1" rIns="121900" wrap="square" tIns="121900">
              <a:noAutofit/>
            </a:bodyPr>
            <a:lstStyle/>
            <a:p>
              <a:pPr indent="0" lvl="0" marL="0" marR="0" rtl="0" algn="l">
                <a:lnSpc>
                  <a:spcPct val="115000"/>
                </a:lnSpc>
                <a:spcBef>
                  <a:spcPts val="0"/>
                </a:spcBef>
                <a:spcAft>
                  <a:spcPts val="0"/>
                </a:spcAft>
                <a:buClr>
                  <a:srgbClr val="000000"/>
                </a:buClr>
                <a:buSzPts val="1300"/>
                <a:buFont typeface="Arial"/>
                <a:buNone/>
              </a:pPr>
              <a:r>
                <a:rPr b="1" i="1" lang="en-MY" sz="1300" u="none" cap="none" strike="noStrike">
                  <a:solidFill>
                    <a:srgbClr val="FF0000"/>
                  </a:solidFill>
                  <a:latin typeface="Roboto"/>
                  <a:ea typeface="Roboto"/>
                  <a:cs typeface="Roboto"/>
                  <a:sym typeface="Roboto"/>
                </a:rPr>
                <a:t>Release 1 </a:t>
              </a:r>
              <a:endParaRPr b="1" i="1" sz="1300" u="none" cap="none" strike="noStrike">
                <a:solidFill>
                  <a:srgbClr val="FF0000"/>
                </a:solidFill>
                <a:latin typeface="Roboto"/>
                <a:ea typeface="Roboto"/>
                <a:cs typeface="Roboto"/>
                <a:sym typeface="Roboto"/>
              </a:endParaRPr>
            </a:p>
          </p:txBody>
        </p:sp>
        <p:sp>
          <p:nvSpPr>
            <p:cNvPr id="395" name="Google Shape;395;g35afd35145d_1_47"/>
            <p:cNvSpPr txBox="1"/>
            <p:nvPr/>
          </p:nvSpPr>
          <p:spPr>
            <a:xfrm>
              <a:off x="1760475" y="3153250"/>
              <a:ext cx="1545600" cy="737400"/>
            </a:xfrm>
            <a:prstGeom prst="rect">
              <a:avLst/>
            </a:prstGeom>
            <a:noFill/>
            <a:ln>
              <a:noFill/>
            </a:ln>
          </p:spPr>
          <p:txBody>
            <a:bodyPr anchorCtr="0" anchor="t" bIns="121900" lIns="121900" spcFirstLastPara="1" rIns="121900" wrap="square" tIns="121900">
              <a:noAutofit/>
            </a:bodyPr>
            <a:lstStyle/>
            <a:p>
              <a:pPr indent="0" lvl="0" marL="0" marR="0" rtl="0" algn="l">
                <a:lnSpc>
                  <a:spcPct val="115000"/>
                </a:lnSpc>
                <a:spcBef>
                  <a:spcPts val="0"/>
                </a:spcBef>
                <a:spcAft>
                  <a:spcPts val="2100"/>
                </a:spcAft>
                <a:buClr>
                  <a:srgbClr val="000000"/>
                </a:buClr>
                <a:buSzPts val="1100"/>
                <a:buFont typeface="Arial"/>
                <a:buNone/>
              </a:pPr>
              <a:r>
                <a:rPr b="1" i="0" lang="en-MY" sz="1100" u="none" cap="none" strike="noStrike">
                  <a:solidFill>
                    <a:schemeClr val="accent1"/>
                  </a:solidFill>
                  <a:latin typeface="Roboto"/>
                  <a:ea typeface="Roboto"/>
                  <a:cs typeface="Roboto"/>
                  <a:sym typeface="Roboto"/>
                </a:rPr>
                <a:t>EPIC 1</a:t>
              </a:r>
              <a:endParaRPr b="1" i="0" sz="1100" u="none" cap="none" strike="noStrike">
                <a:solidFill>
                  <a:schemeClr val="accent1"/>
                </a:solidFill>
                <a:latin typeface="Roboto"/>
                <a:ea typeface="Roboto"/>
                <a:cs typeface="Roboto"/>
                <a:sym typeface="Roboto"/>
              </a:endParaRPr>
            </a:p>
          </p:txBody>
        </p:sp>
        <p:sp>
          <p:nvSpPr>
            <p:cNvPr id="396" name="Google Shape;396;g35afd35145d_1_47"/>
            <p:cNvSpPr/>
            <p:nvPr/>
          </p:nvSpPr>
          <p:spPr>
            <a:xfrm flipH="1">
              <a:off x="1083025" y="2306625"/>
              <a:ext cx="1834800" cy="143400"/>
            </a:xfrm>
            <a:prstGeom prst="parallelogram">
              <a:avLst>
                <a:gd fmla="val 96952" name="adj"/>
              </a:avLst>
            </a:prstGeom>
            <a:solidFill>
              <a:srgbClr val="0D5CD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rPr b="0" i="0" lang="en-MY" sz="1900" u="none" cap="none" strike="noStrike">
                  <a:solidFill>
                    <a:srgbClr val="000000"/>
                  </a:solidFill>
                  <a:latin typeface="Arial"/>
                  <a:ea typeface="Arial"/>
                  <a:cs typeface="Arial"/>
                  <a:sym typeface="Arial"/>
                </a:rPr>
                <a:t>  </a:t>
              </a:r>
              <a:endParaRPr b="0" i="0" sz="1900" u="none" cap="none" strike="noStrike">
                <a:solidFill>
                  <a:srgbClr val="000000"/>
                </a:solidFill>
                <a:latin typeface="Arial"/>
                <a:ea typeface="Arial"/>
                <a:cs typeface="Arial"/>
                <a:sym typeface="Arial"/>
              </a:endParaRPr>
            </a:p>
          </p:txBody>
        </p:sp>
        <p:sp>
          <p:nvSpPr>
            <p:cNvPr id="397" name="Google Shape;397;g35afd35145d_1_47"/>
            <p:cNvSpPr/>
            <p:nvPr/>
          </p:nvSpPr>
          <p:spPr>
            <a:xfrm>
              <a:off x="1083125" y="2460449"/>
              <a:ext cx="1834800" cy="143400"/>
            </a:xfrm>
            <a:prstGeom prst="parallelogram">
              <a:avLst>
                <a:gd fmla="val 96952" name="adj"/>
              </a:avLst>
            </a:prstGeom>
            <a:solidFill>
              <a:srgbClr val="0942A1"/>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398" name="Google Shape;398;g35afd35145d_1_47"/>
          <p:cNvGrpSpPr/>
          <p:nvPr/>
        </p:nvGrpSpPr>
        <p:grpSpPr>
          <a:xfrm>
            <a:off x="290817" y="2993075"/>
            <a:ext cx="2014170" cy="820766"/>
            <a:chOff x="1083025" y="1988259"/>
            <a:chExt cx="1834900" cy="615590"/>
          </a:xfrm>
        </p:grpSpPr>
        <p:sp>
          <p:nvSpPr>
            <p:cNvPr id="399" name="Google Shape;399;g35afd35145d_1_47"/>
            <p:cNvSpPr txBox="1"/>
            <p:nvPr/>
          </p:nvSpPr>
          <p:spPr>
            <a:xfrm>
              <a:off x="1477540" y="1988259"/>
              <a:ext cx="1103700" cy="241200"/>
            </a:xfrm>
            <a:prstGeom prst="rect">
              <a:avLst/>
            </a:prstGeom>
            <a:noFill/>
            <a:ln>
              <a:noFill/>
            </a:ln>
          </p:spPr>
          <p:txBody>
            <a:bodyPr anchorCtr="0" anchor="t" bIns="121900" lIns="121900" spcFirstLastPara="1" rIns="121900" wrap="square" tIns="121900">
              <a:noAutofit/>
            </a:bodyPr>
            <a:lstStyle/>
            <a:p>
              <a:pPr indent="0" lvl="0" marL="0" marR="0" rtl="0" algn="r">
                <a:lnSpc>
                  <a:spcPct val="115000"/>
                </a:lnSpc>
                <a:spcBef>
                  <a:spcPts val="0"/>
                </a:spcBef>
                <a:spcAft>
                  <a:spcPts val="2100"/>
                </a:spcAft>
                <a:buClr>
                  <a:srgbClr val="000000"/>
                </a:buClr>
                <a:buSzPts val="1300"/>
                <a:buFont typeface="Arial"/>
                <a:buNone/>
              </a:pPr>
              <a:r>
                <a:rPr b="1" i="0" lang="en-MY" sz="1300" u="none" cap="none" strike="noStrike">
                  <a:solidFill>
                    <a:srgbClr val="0C57D3"/>
                  </a:solidFill>
                  <a:latin typeface="Roboto"/>
                  <a:ea typeface="Roboto"/>
                  <a:cs typeface="Roboto"/>
                  <a:sym typeface="Roboto"/>
                </a:rPr>
                <a:t>SPRINT 1</a:t>
              </a:r>
              <a:endParaRPr b="1" i="0" sz="1300" u="none" cap="none" strike="noStrike">
                <a:solidFill>
                  <a:srgbClr val="0C57D3"/>
                </a:solidFill>
                <a:latin typeface="Roboto"/>
                <a:ea typeface="Roboto"/>
                <a:cs typeface="Roboto"/>
                <a:sym typeface="Roboto"/>
              </a:endParaRPr>
            </a:p>
          </p:txBody>
        </p:sp>
        <p:sp>
          <p:nvSpPr>
            <p:cNvPr id="400" name="Google Shape;400;g35afd35145d_1_47"/>
            <p:cNvSpPr/>
            <p:nvPr/>
          </p:nvSpPr>
          <p:spPr>
            <a:xfrm flipH="1">
              <a:off x="1083025" y="2306625"/>
              <a:ext cx="1834800" cy="143400"/>
            </a:xfrm>
            <a:prstGeom prst="parallelogram">
              <a:avLst>
                <a:gd fmla="val 96952" name="adj"/>
              </a:avLst>
            </a:prstGeom>
            <a:solidFill>
              <a:srgbClr val="0D5CDF"/>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rPr b="0" i="0" lang="en-MY" sz="1900" u="none" cap="none" strike="noStrike">
                  <a:solidFill>
                    <a:srgbClr val="000000"/>
                  </a:solidFill>
                  <a:latin typeface="Arial"/>
                  <a:ea typeface="Arial"/>
                  <a:cs typeface="Arial"/>
                  <a:sym typeface="Arial"/>
                </a:rPr>
                <a:t>  </a:t>
              </a:r>
              <a:endParaRPr b="0" i="0" sz="1900" u="none" cap="none" strike="noStrike">
                <a:solidFill>
                  <a:srgbClr val="000000"/>
                </a:solidFill>
                <a:latin typeface="Arial"/>
                <a:ea typeface="Arial"/>
                <a:cs typeface="Arial"/>
                <a:sym typeface="Arial"/>
              </a:endParaRPr>
            </a:p>
          </p:txBody>
        </p:sp>
        <p:sp>
          <p:nvSpPr>
            <p:cNvPr id="401" name="Google Shape;401;g35afd35145d_1_47"/>
            <p:cNvSpPr/>
            <p:nvPr/>
          </p:nvSpPr>
          <p:spPr>
            <a:xfrm>
              <a:off x="1083125" y="2460449"/>
              <a:ext cx="1834800" cy="143400"/>
            </a:xfrm>
            <a:prstGeom prst="parallelogram">
              <a:avLst>
                <a:gd fmla="val 96952" name="adj"/>
              </a:avLst>
            </a:prstGeom>
            <a:solidFill>
              <a:srgbClr val="0942A1"/>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02" name="Google Shape;402;g35afd35145d_1_47"/>
          <p:cNvSpPr txBox="1"/>
          <p:nvPr/>
        </p:nvSpPr>
        <p:spPr>
          <a:xfrm>
            <a:off x="290775" y="1330400"/>
            <a:ext cx="8711100" cy="15597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1400"/>
              </a:spcBef>
              <a:spcAft>
                <a:spcPts val="0"/>
              </a:spcAft>
              <a:buClr>
                <a:srgbClr val="000000"/>
              </a:buClr>
              <a:buSzPts val="2000"/>
              <a:buFont typeface="Arial"/>
              <a:buNone/>
            </a:pPr>
            <a:r>
              <a:rPr b="1" i="0" lang="en-MY" sz="2000" u="none" cap="none" strike="noStrike">
                <a:solidFill>
                  <a:schemeClr val="dk1"/>
                </a:solidFill>
                <a:latin typeface="Arial"/>
                <a:ea typeface="Arial"/>
                <a:cs typeface="Arial"/>
                <a:sym typeface="Arial"/>
              </a:rPr>
              <a:t>Epic 1: Build Basic Website Interface</a:t>
            </a:r>
            <a:endParaRPr b="0" i="1" sz="1800" u="none" cap="none" strike="noStrike">
              <a:solidFill>
                <a:schemeClr val="dk1"/>
              </a:solidFill>
              <a:latin typeface="Arial"/>
              <a:ea typeface="Arial"/>
              <a:cs typeface="Arial"/>
              <a:sym typeface="Arial"/>
            </a:endParaRPr>
          </a:p>
          <a:p>
            <a:pPr indent="0" lvl="0" marL="0" marR="0" rtl="0" algn="l">
              <a:lnSpc>
                <a:spcPct val="115000"/>
              </a:lnSpc>
              <a:spcBef>
                <a:spcPts val="1400"/>
              </a:spcBef>
              <a:spcAft>
                <a:spcPts val="0"/>
              </a:spcAft>
              <a:buClr>
                <a:srgbClr val="000000"/>
              </a:buClr>
              <a:buSzPts val="2000"/>
              <a:buFont typeface="Arial"/>
              <a:buNone/>
            </a:pPr>
            <a:r>
              <a:rPr b="1" i="0" lang="en-MY" sz="2000" u="none" cap="none" strike="noStrike">
                <a:solidFill>
                  <a:schemeClr val="dk1"/>
                </a:solidFill>
                <a:latin typeface="Arial"/>
                <a:ea typeface="Arial"/>
                <a:cs typeface="Arial"/>
                <a:sym typeface="Arial"/>
              </a:rPr>
              <a:t>Epic 2: Implement Online Payment functionality</a:t>
            </a:r>
            <a:endParaRPr b="0" i="1" sz="1800" u="none" cap="none" strike="noStrike">
              <a:solidFill>
                <a:schemeClr val="dk1"/>
              </a:solidFill>
              <a:latin typeface="Arial"/>
              <a:ea typeface="Arial"/>
              <a:cs typeface="Arial"/>
              <a:sym typeface="Arial"/>
            </a:endParaRPr>
          </a:p>
          <a:p>
            <a:pPr indent="0" lvl="0" marL="0" marR="0" rtl="0" algn="l">
              <a:lnSpc>
                <a:spcPct val="115000"/>
              </a:lnSpc>
              <a:spcBef>
                <a:spcPts val="1400"/>
              </a:spcBef>
              <a:spcAft>
                <a:spcPts val="400"/>
              </a:spcAft>
              <a:buClr>
                <a:srgbClr val="000000"/>
              </a:buClr>
              <a:buSzPts val="2000"/>
              <a:buFont typeface="Arial"/>
              <a:buNone/>
            </a:pPr>
            <a:r>
              <a:rPr b="1" i="0" lang="en-MY" sz="2000" u="none" cap="none" strike="noStrike">
                <a:solidFill>
                  <a:schemeClr val="dk1"/>
                </a:solidFill>
                <a:latin typeface="Arial"/>
                <a:ea typeface="Arial"/>
                <a:cs typeface="Arial"/>
                <a:sym typeface="Arial"/>
              </a:rPr>
              <a:t>Epic 3: Enable Custom Pizza Creation</a:t>
            </a:r>
            <a:endParaRPr b="0" i="0" sz="1400" u="none" cap="none" strike="noStrike">
              <a:solidFill>
                <a:srgbClr val="000000"/>
              </a:solidFill>
              <a:latin typeface="Arial"/>
              <a:ea typeface="Arial"/>
              <a:cs typeface="Arial"/>
              <a:sym typeface="Arial"/>
            </a:endParaRPr>
          </a:p>
        </p:txBody>
      </p:sp>
      <p:sp>
        <p:nvSpPr>
          <p:cNvPr id="403" name="Google Shape;403;g35afd35145d_1_47"/>
          <p:cNvSpPr/>
          <p:nvPr/>
        </p:nvSpPr>
        <p:spPr>
          <a:xfrm>
            <a:off x="6430263" y="1330350"/>
            <a:ext cx="549658" cy="549658"/>
          </a:xfrm>
          <a:custGeom>
            <a:rect b="b" l="l" r="r" t="t"/>
            <a:pathLst>
              <a:path extrusionOk="0" h="602" w="602">
                <a:moveTo>
                  <a:pt x="297" y="601"/>
                </a:moveTo>
                <a:lnTo>
                  <a:pt x="297" y="601"/>
                </a:lnTo>
                <a:cubicBezTo>
                  <a:pt x="135" y="601"/>
                  <a:pt x="0" y="467"/>
                  <a:pt x="0" y="297"/>
                </a:cubicBezTo>
                <a:cubicBezTo>
                  <a:pt x="0" y="135"/>
                  <a:pt x="135" y="0"/>
                  <a:pt x="297" y="0"/>
                </a:cubicBezTo>
                <a:cubicBezTo>
                  <a:pt x="467" y="0"/>
                  <a:pt x="601" y="135"/>
                  <a:pt x="601" y="297"/>
                </a:cubicBezTo>
                <a:cubicBezTo>
                  <a:pt x="601" y="467"/>
                  <a:pt x="467" y="601"/>
                  <a:pt x="297" y="601"/>
                </a:cubicBezTo>
                <a:close/>
                <a:moveTo>
                  <a:pt x="297" y="57"/>
                </a:moveTo>
                <a:lnTo>
                  <a:pt x="297" y="57"/>
                </a:lnTo>
                <a:cubicBezTo>
                  <a:pt x="163" y="57"/>
                  <a:pt x="57" y="163"/>
                  <a:pt x="57" y="297"/>
                </a:cubicBezTo>
                <a:cubicBezTo>
                  <a:pt x="57" y="431"/>
                  <a:pt x="163" y="544"/>
                  <a:pt x="297" y="544"/>
                </a:cubicBezTo>
                <a:cubicBezTo>
                  <a:pt x="431" y="544"/>
                  <a:pt x="544" y="431"/>
                  <a:pt x="544" y="297"/>
                </a:cubicBezTo>
                <a:cubicBezTo>
                  <a:pt x="544" y="163"/>
                  <a:pt x="431" y="57"/>
                  <a:pt x="297" y="57"/>
                </a:cubicBezTo>
                <a:close/>
                <a:moveTo>
                  <a:pt x="431" y="241"/>
                </a:moveTo>
                <a:lnTo>
                  <a:pt x="431" y="241"/>
                </a:lnTo>
                <a:cubicBezTo>
                  <a:pt x="283" y="396"/>
                  <a:pt x="283" y="396"/>
                  <a:pt x="283" y="396"/>
                </a:cubicBezTo>
                <a:cubicBezTo>
                  <a:pt x="276" y="403"/>
                  <a:pt x="269" y="403"/>
                  <a:pt x="262" y="403"/>
                </a:cubicBezTo>
                <a:cubicBezTo>
                  <a:pt x="255" y="403"/>
                  <a:pt x="248" y="403"/>
                  <a:pt x="240" y="396"/>
                </a:cubicBezTo>
                <a:cubicBezTo>
                  <a:pt x="156" y="311"/>
                  <a:pt x="156" y="311"/>
                  <a:pt x="156" y="311"/>
                </a:cubicBezTo>
                <a:cubicBezTo>
                  <a:pt x="149" y="304"/>
                  <a:pt x="149" y="297"/>
                  <a:pt x="149" y="290"/>
                </a:cubicBezTo>
                <a:cubicBezTo>
                  <a:pt x="149" y="276"/>
                  <a:pt x="163" y="262"/>
                  <a:pt x="177" y="262"/>
                </a:cubicBezTo>
                <a:cubicBezTo>
                  <a:pt x="184" y="262"/>
                  <a:pt x="191" y="262"/>
                  <a:pt x="198" y="269"/>
                </a:cubicBezTo>
                <a:cubicBezTo>
                  <a:pt x="262" y="333"/>
                  <a:pt x="262" y="333"/>
                  <a:pt x="262" y="333"/>
                </a:cubicBezTo>
                <a:cubicBezTo>
                  <a:pt x="396" y="205"/>
                  <a:pt x="396" y="205"/>
                  <a:pt x="396" y="205"/>
                </a:cubicBezTo>
                <a:cubicBezTo>
                  <a:pt x="396" y="198"/>
                  <a:pt x="403" y="198"/>
                  <a:pt x="410" y="198"/>
                </a:cubicBezTo>
                <a:cubicBezTo>
                  <a:pt x="431" y="198"/>
                  <a:pt x="438" y="205"/>
                  <a:pt x="438" y="226"/>
                </a:cubicBezTo>
                <a:cubicBezTo>
                  <a:pt x="438" y="234"/>
                  <a:pt x="438" y="241"/>
                  <a:pt x="431" y="241"/>
                </a:cubicBezTo>
                <a:close/>
                <a:moveTo>
                  <a:pt x="431" y="198"/>
                </a:moveTo>
                <a:lnTo>
                  <a:pt x="431" y="198"/>
                </a:lnTo>
                <a:close/>
                <a:moveTo>
                  <a:pt x="198" y="431"/>
                </a:moveTo>
                <a:lnTo>
                  <a:pt x="198" y="431"/>
                </a:lnTo>
                <a:close/>
                <a:moveTo>
                  <a:pt x="403" y="431"/>
                </a:moveTo>
                <a:lnTo>
                  <a:pt x="403" y="431"/>
                </a:lnTo>
                <a:close/>
                <a:moveTo>
                  <a:pt x="431" y="403"/>
                </a:moveTo>
                <a:lnTo>
                  <a:pt x="431" y="403"/>
                </a:lnTo>
                <a:close/>
              </a:path>
            </a:pathLst>
          </a:custGeom>
          <a:solidFill>
            <a:srgbClr val="6AA84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04" name="Google Shape;404;g35afd35145d_1_47"/>
          <p:cNvSpPr/>
          <p:nvPr/>
        </p:nvSpPr>
        <p:spPr>
          <a:xfrm>
            <a:off x="6430263" y="1932000"/>
            <a:ext cx="549658" cy="549658"/>
          </a:xfrm>
          <a:custGeom>
            <a:rect b="b" l="l" r="r" t="t"/>
            <a:pathLst>
              <a:path extrusionOk="0" h="602" w="602">
                <a:moveTo>
                  <a:pt x="297" y="601"/>
                </a:moveTo>
                <a:lnTo>
                  <a:pt x="297" y="601"/>
                </a:lnTo>
                <a:cubicBezTo>
                  <a:pt x="135" y="601"/>
                  <a:pt x="0" y="467"/>
                  <a:pt x="0" y="297"/>
                </a:cubicBezTo>
                <a:cubicBezTo>
                  <a:pt x="0" y="135"/>
                  <a:pt x="135" y="0"/>
                  <a:pt x="297" y="0"/>
                </a:cubicBezTo>
                <a:cubicBezTo>
                  <a:pt x="467" y="0"/>
                  <a:pt x="601" y="135"/>
                  <a:pt x="601" y="297"/>
                </a:cubicBezTo>
                <a:cubicBezTo>
                  <a:pt x="601" y="467"/>
                  <a:pt x="467" y="601"/>
                  <a:pt x="297" y="601"/>
                </a:cubicBezTo>
                <a:close/>
                <a:moveTo>
                  <a:pt x="297" y="57"/>
                </a:moveTo>
                <a:lnTo>
                  <a:pt x="297" y="57"/>
                </a:lnTo>
                <a:cubicBezTo>
                  <a:pt x="163" y="57"/>
                  <a:pt x="57" y="163"/>
                  <a:pt x="57" y="297"/>
                </a:cubicBezTo>
                <a:cubicBezTo>
                  <a:pt x="57" y="431"/>
                  <a:pt x="163" y="544"/>
                  <a:pt x="297" y="544"/>
                </a:cubicBezTo>
                <a:cubicBezTo>
                  <a:pt x="431" y="544"/>
                  <a:pt x="544" y="431"/>
                  <a:pt x="544" y="297"/>
                </a:cubicBezTo>
                <a:cubicBezTo>
                  <a:pt x="544" y="163"/>
                  <a:pt x="431" y="57"/>
                  <a:pt x="297" y="57"/>
                </a:cubicBezTo>
                <a:close/>
                <a:moveTo>
                  <a:pt x="431" y="241"/>
                </a:moveTo>
                <a:lnTo>
                  <a:pt x="431" y="241"/>
                </a:lnTo>
                <a:cubicBezTo>
                  <a:pt x="283" y="396"/>
                  <a:pt x="283" y="396"/>
                  <a:pt x="283" y="396"/>
                </a:cubicBezTo>
                <a:cubicBezTo>
                  <a:pt x="276" y="403"/>
                  <a:pt x="269" y="403"/>
                  <a:pt x="262" y="403"/>
                </a:cubicBezTo>
                <a:cubicBezTo>
                  <a:pt x="255" y="403"/>
                  <a:pt x="248" y="403"/>
                  <a:pt x="240" y="396"/>
                </a:cubicBezTo>
                <a:cubicBezTo>
                  <a:pt x="156" y="311"/>
                  <a:pt x="156" y="311"/>
                  <a:pt x="156" y="311"/>
                </a:cubicBezTo>
                <a:cubicBezTo>
                  <a:pt x="149" y="304"/>
                  <a:pt x="149" y="297"/>
                  <a:pt x="149" y="290"/>
                </a:cubicBezTo>
                <a:cubicBezTo>
                  <a:pt x="149" y="276"/>
                  <a:pt x="163" y="262"/>
                  <a:pt x="177" y="262"/>
                </a:cubicBezTo>
                <a:cubicBezTo>
                  <a:pt x="184" y="262"/>
                  <a:pt x="191" y="262"/>
                  <a:pt x="198" y="269"/>
                </a:cubicBezTo>
                <a:cubicBezTo>
                  <a:pt x="262" y="333"/>
                  <a:pt x="262" y="333"/>
                  <a:pt x="262" y="333"/>
                </a:cubicBezTo>
                <a:cubicBezTo>
                  <a:pt x="396" y="205"/>
                  <a:pt x="396" y="205"/>
                  <a:pt x="396" y="205"/>
                </a:cubicBezTo>
                <a:cubicBezTo>
                  <a:pt x="396" y="198"/>
                  <a:pt x="403" y="198"/>
                  <a:pt x="410" y="198"/>
                </a:cubicBezTo>
                <a:cubicBezTo>
                  <a:pt x="431" y="198"/>
                  <a:pt x="438" y="205"/>
                  <a:pt x="438" y="226"/>
                </a:cubicBezTo>
                <a:cubicBezTo>
                  <a:pt x="438" y="234"/>
                  <a:pt x="438" y="241"/>
                  <a:pt x="431" y="241"/>
                </a:cubicBezTo>
                <a:close/>
                <a:moveTo>
                  <a:pt x="431" y="198"/>
                </a:moveTo>
                <a:lnTo>
                  <a:pt x="431" y="198"/>
                </a:lnTo>
                <a:close/>
                <a:moveTo>
                  <a:pt x="198" y="431"/>
                </a:moveTo>
                <a:lnTo>
                  <a:pt x="198" y="431"/>
                </a:lnTo>
                <a:close/>
                <a:moveTo>
                  <a:pt x="403" y="431"/>
                </a:moveTo>
                <a:lnTo>
                  <a:pt x="403" y="431"/>
                </a:lnTo>
                <a:close/>
                <a:moveTo>
                  <a:pt x="431" y="403"/>
                </a:moveTo>
                <a:lnTo>
                  <a:pt x="431" y="403"/>
                </a:lnTo>
                <a:close/>
              </a:path>
            </a:pathLst>
          </a:custGeom>
          <a:solidFill>
            <a:srgbClr val="6AA84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grpSp>
        <p:nvGrpSpPr>
          <p:cNvPr id="405" name="Google Shape;405;g35afd35145d_1_47"/>
          <p:cNvGrpSpPr/>
          <p:nvPr/>
        </p:nvGrpSpPr>
        <p:grpSpPr>
          <a:xfrm>
            <a:off x="7822150" y="3417565"/>
            <a:ext cx="2014170" cy="396289"/>
            <a:chOff x="1083025" y="2306625"/>
            <a:chExt cx="1834900" cy="297224"/>
          </a:xfrm>
        </p:grpSpPr>
        <p:sp>
          <p:nvSpPr>
            <p:cNvPr id="406" name="Google Shape;406;g35afd35145d_1_47"/>
            <p:cNvSpPr/>
            <p:nvPr/>
          </p:nvSpPr>
          <p:spPr>
            <a:xfrm flipH="1">
              <a:off x="1083025" y="2306625"/>
              <a:ext cx="1834800" cy="143400"/>
            </a:xfrm>
            <a:prstGeom prst="parallelogram">
              <a:avLst>
                <a:gd fmla="val 96952" name="adj"/>
              </a:avLst>
            </a:prstGeom>
            <a:solidFill>
              <a:srgbClr val="C2C2C2"/>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rPr b="0" i="0" lang="en-MY" sz="1900" u="none" cap="none" strike="noStrike">
                  <a:solidFill>
                    <a:srgbClr val="000000"/>
                  </a:solidFill>
                  <a:latin typeface="Arial"/>
                  <a:ea typeface="Arial"/>
                  <a:cs typeface="Arial"/>
                  <a:sym typeface="Arial"/>
                </a:rPr>
                <a:t>  </a:t>
              </a:r>
              <a:endParaRPr b="0" i="0" sz="1900" u="none" cap="none" strike="noStrike">
                <a:solidFill>
                  <a:srgbClr val="000000"/>
                </a:solidFill>
                <a:latin typeface="Arial"/>
                <a:ea typeface="Arial"/>
                <a:cs typeface="Arial"/>
                <a:sym typeface="Arial"/>
              </a:endParaRPr>
            </a:p>
          </p:txBody>
        </p:sp>
        <p:sp>
          <p:nvSpPr>
            <p:cNvPr id="407" name="Google Shape;407;g35afd35145d_1_47"/>
            <p:cNvSpPr/>
            <p:nvPr/>
          </p:nvSpPr>
          <p:spPr>
            <a:xfrm>
              <a:off x="1083125" y="2460449"/>
              <a:ext cx="1834800" cy="143400"/>
            </a:xfrm>
            <a:prstGeom prst="parallelogram">
              <a:avLst>
                <a:gd fmla="val 96952" name="adj"/>
              </a:avLst>
            </a:prstGeom>
            <a:solidFill>
              <a:srgbClr val="858585"/>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08" name="Google Shape;408;g35afd35145d_1_47"/>
          <p:cNvSpPr txBox="1"/>
          <p:nvPr/>
        </p:nvSpPr>
        <p:spPr>
          <a:xfrm>
            <a:off x="8216862" y="2984925"/>
            <a:ext cx="1081500" cy="321600"/>
          </a:xfrm>
          <a:prstGeom prst="rect">
            <a:avLst/>
          </a:prstGeom>
          <a:noFill/>
          <a:ln>
            <a:noFill/>
          </a:ln>
        </p:spPr>
        <p:txBody>
          <a:bodyPr anchorCtr="0" anchor="t" bIns="121900" lIns="121900" spcFirstLastPara="1" rIns="121900" wrap="square" tIns="121900">
            <a:noAutofit/>
          </a:bodyPr>
          <a:lstStyle/>
          <a:p>
            <a:pPr indent="0" lvl="0" marL="0" marR="0" rtl="0" algn="r">
              <a:lnSpc>
                <a:spcPct val="115000"/>
              </a:lnSpc>
              <a:spcBef>
                <a:spcPts val="0"/>
              </a:spcBef>
              <a:spcAft>
                <a:spcPts val="2100"/>
              </a:spcAft>
              <a:buClr>
                <a:srgbClr val="000000"/>
              </a:buClr>
              <a:buSzPts val="1300"/>
              <a:buFont typeface="Arial"/>
              <a:buNone/>
            </a:pPr>
            <a:r>
              <a:rPr b="1" i="0" lang="en-MY" sz="1300" u="none" cap="none" strike="noStrike">
                <a:solidFill>
                  <a:srgbClr val="0C57D3"/>
                </a:solidFill>
                <a:latin typeface="Roboto"/>
                <a:ea typeface="Roboto"/>
                <a:cs typeface="Roboto"/>
                <a:sym typeface="Roboto"/>
              </a:rPr>
              <a:t>SPRINT 5</a:t>
            </a:r>
            <a:endParaRPr b="1" i="0" sz="1300" u="none" cap="none" strike="noStrike">
              <a:solidFill>
                <a:srgbClr val="0C57D3"/>
              </a:solidFill>
              <a:latin typeface="Roboto"/>
              <a:ea typeface="Roboto"/>
              <a:cs typeface="Roboto"/>
              <a:sym typeface="Roboto"/>
            </a:endParaRPr>
          </a:p>
        </p:txBody>
      </p:sp>
      <p:sp>
        <p:nvSpPr>
          <p:cNvPr id="409" name="Google Shape;409;g35afd35145d_1_47"/>
          <p:cNvSpPr txBox="1"/>
          <p:nvPr>
            <p:ph type="title"/>
          </p:nvPr>
        </p:nvSpPr>
        <p:spPr>
          <a:xfrm>
            <a:off x="1447300" y="461600"/>
            <a:ext cx="10515600" cy="868800"/>
          </a:xfrm>
          <a:prstGeom prst="rect">
            <a:avLst/>
          </a:prstGeom>
          <a:noFill/>
          <a:ln>
            <a:noFill/>
          </a:ln>
        </p:spPr>
        <p:txBody>
          <a:bodyPr anchorCtr="0" anchor="t" bIns="45700" lIns="91425" spcFirstLastPara="1" rIns="91425" wrap="square" tIns="45700">
            <a:normAutofit/>
          </a:bodyPr>
          <a:lstStyle/>
          <a:p>
            <a:pPr indent="0" lvl="0" marL="0" rtl="0" algn="l">
              <a:lnSpc>
                <a:spcPct val="115000"/>
              </a:lnSpc>
              <a:spcBef>
                <a:spcPts val="1200"/>
              </a:spcBef>
              <a:spcAft>
                <a:spcPts val="1200"/>
              </a:spcAft>
              <a:buSzPts val="4000"/>
              <a:buNone/>
            </a:pPr>
            <a:r>
              <a:rPr b="1" lang="en-MY" sz="2555">
                <a:latin typeface="Arial"/>
                <a:ea typeface="Arial"/>
                <a:cs typeface="Arial"/>
                <a:sym typeface="Arial"/>
              </a:rPr>
              <a:t>Example of Minimum Viable Product (MVP)</a:t>
            </a:r>
            <a:endParaRPr sz="3400"/>
          </a:p>
        </p:txBody>
      </p:sp>
      <p:sp>
        <p:nvSpPr>
          <p:cNvPr id="410" name="Google Shape;410;g35afd35145d_1_47"/>
          <p:cNvSpPr/>
          <p:nvPr/>
        </p:nvSpPr>
        <p:spPr>
          <a:xfrm>
            <a:off x="3148513" y="5438800"/>
            <a:ext cx="549658" cy="549658"/>
          </a:xfrm>
          <a:custGeom>
            <a:rect b="b" l="l" r="r" t="t"/>
            <a:pathLst>
              <a:path extrusionOk="0" h="602" w="602">
                <a:moveTo>
                  <a:pt x="297" y="601"/>
                </a:moveTo>
                <a:lnTo>
                  <a:pt x="297" y="601"/>
                </a:lnTo>
                <a:cubicBezTo>
                  <a:pt x="135" y="601"/>
                  <a:pt x="0" y="467"/>
                  <a:pt x="0" y="297"/>
                </a:cubicBezTo>
                <a:cubicBezTo>
                  <a:pt x="0" y="135"/>
                  <a:pt x="135" y="0"/>
                  <a:pt x="297" y="0"/>
                </a:cubicBezTo>
                <a:cubicBezTo>
                  <a:pt x="467" y="0"/>
                  <a:pt x="601" y="135"/>
                  <a:pt x="601" y="297"/>
                </a:cubicBezTo>
                <a:cubicBezTo>
                  <a:pt x="601" y="467"/>
                  <a:pt x="467" y="601"/>
                  <a:pt x="297" y="601"/>
                </a:cubicBezTo>
                <a:close/>
                <a:moveTo>
                  <a:pt x="297" y="57"/>
                </a:moveTo>
                <a:lnTo>
                  <a:pt x="297" y="57"/>
                </a:lnTo>
                <a:cubicBezTo>
                  <a:pt x="163" y="57"/>
                  <a:pt x="57" y="163"/>
                  <a:pt x="57" y="297"/>
                </a:cubicBezTo>
                <a:cubicBezTo>
                  <a:pt x="57" y="431"/>
                  <a:pt x="163" y="544"/>
                  <a:pt x="297" y="544"/>
                </a:cubicBezTo>
                <a:cubicBezTo>
                  <a:pt x="431" y="544"/>
                  <a:pt x="544" y="431"/>
                  <a:pt x="544" y="297"/>
                </a:cubicBezTo>
                <a:cubicBezTo>
                  <a:pt x="544" y="163"/>
                  <a:pt x="431" y="57"/>
                  <a:pt x="297" y="57"/>
                </a:cubicBezTo>
                <a:close/>
                <a:moveTo>
                  <a:pt x="431" y="241"/>
                </a:moveTo>
                <a:lnTo>
                  <a:pt x="431" y="241"/>
                </a:lnTo>
                <a:cubicBezTo>
                  <a:pt x="283" y="396"/>
                  <a:pt x="283" y="396"/>
                  <a:pt x="283" y="396"/>
                </a:cubicBezTo>
                <a:cubicBezTo>
                  <a:pt x="276" y="403"/>
                  <a:pt x="269" y="403"/>
                  <a:pt x="262" y="403"/>
                </a:cubicBezTo>
                <a:cubicBezTo>
                  <a:pt x="255" y="403"/>
                  <a:pt x="248" y="403"/>
                  <a:pt x="240" y="396"/>
                </a:cubicBezTo>
                <a:cubicBezTo>
                  <a:pt x="156" y="311"/>
                  <a:pt x="156" y="311"/>
                  <a:pt x="156" y="311"/>
                </a:cubicBezTo>
                <a:cubicBezTo>
                  <a:pt x="149" y="304"/>
                  <a:pt x="149" y="297"/>
                  <a:pt x="149" y="290"/>
                </a:cubicBezTo>
                <a:cubicBezTo>
                  <a:pt x="149" y="276"/>
                  <a:pt x="163" y="262"/>
                  <a:pt x="177" y="262"/>
                </a:cubicBezTo>
                <a:cubicBezTo>
                  <a:pt x="184" y="262"/>
                  <a:pt x="191" y="262"/>
                  <a:pt x="198" y="269"/>
                </a:cubicBezTo>
                <a:cubicBezTo>
                  <a:pt x="262" y="333"/>
                  <a:pt x="262" y="333"/>
                  <a:pt x="262" y="333"/>
                </a:cubicBezTo>
                <a:cubicBezTo>
                  <a:pt x="396" y="205"/>
                  <a:pt x="396" y="205"/>
                  <a:pt x="396" y="205"/>
                </a:cubicBezTo>
                <a:cubicBezTo>
                  <a:pt x="396" y="198"/>
                  <a:pt x="403" y="198"/>
                  <a:pt x="410" y="198"/>
                </a:cubicBezTo>
                <a:cubicBezTo>
                  <a:pt x="431" y="198"/>
                  <a:pt x="438" y="205"/>
                  <a:pt x="438" y="226"/>
                </a:cubicBezTo>
                <a:cubicBezTo>
                  <a:pt x="438" y="234"/>
                  <a:pt x="438" y="241"/>
                  <a:pt x="431" y="241"/>
                </a:cubicBezTo>
                <a:close/>
                <a:moveTo>
                  <a:pt x="431" y="198"/>
                </a:moveTo>
                <a:lnTo>
                  <a:pt x="431" y="198"/>
                </a:lnTo>
                <a:close/>
                <a:moveTo>
                  <a:pt x="198" y="431"/>
                </a:moveTo>
                <a:lnTo>
                  <a:pt x="198" y="431"/>
                </a:lnTo>
                <a:close/>
                <a:moveTo>
                  <a:pt x="403" y="431"/>
                </a:moveTo>
                <a:lnTo>
                  <a:pt x="403" y="431"/>
                </a:lnTo>
                <a:close/>
                <a:moveTo>
                  <a:pt x="431" y="403"/>
                </a:moveTo>
                <a:lnTo>
                  <a:pt x="431" y="403"/>
                </a:lnTo>
                <a:close/>
              </a:path>
            </a:pathLst>
          </a:custGeom>
          <a:solidFill>
            <a:srgbClr val="6AA84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11" name="Google Shape;411;g35afd35145d_1_47"/>
          <p:cNvSpPr/>
          <p:nvPr/>
        </p:nvSpPr>
        <p:spPr>
          <a:xfrm>
            <a:off x="6157338" y="5438800"/>
            <a:ext cx="549658" cy="549658"/>
          </a:xfrm>
          <a:custGeom>
            <a:rect b="b" l="l" r="r" t="t"/>
            <a:pathLst>
              <a:path extrusionOk="0" h="602" w="602">
                <a:moveTo>
                  <a:pt x="297" y="601"/>
                </a:moveTo>
                <a:lnTo>
                  <a:pt x="297" y="601"/>
                </a:lnTo>
                <a:cubicBezTo>
                  <a:pt x="135" y="601"/>
                  <a:pt x="0" y="467"/>
                  <a:pt x="0" y="297"/>
                </a:cubicBezTo>
                <a:cubicBezTo>
                  <a:pt x="0" y="135"/>
                  <a:pt x="135" y="0"/>
                  <a:pt x="297" y="0"/>
                </a:cubicBezTo>
                <a:cubicBezTo>
                  <a:pt x="467" y="0"/>
                  <a:pt x="601" y="135"/>
                  <a:pt x="601" y="297"/>
                </a:cubicBezTo>
                <a:cubicBezTo>
                  <a:pt x="601" y="467"/>
                  <a:pt x="467" y="601"/>
                  <a:pt x="297" y="601"/>
                </a:cubicBezTo>
                <a:close/>
                <a:moveTo>
                  <a:pt x="297" y="57"/>
                </a:moveTo>
                <a:lnTo>
                  <a:pt x="297" y="57"/>
                </a:lnTo>
                <a:cubicBezTo>
                  <a:pt x="163" y="57"/>
                  <a:pt x="57" y="163"/>
                  <a:pt x="57" y="297"/>
                </a:cubicBezTo>
                <a:cubicBezTo>
                  <a:pt x="57" y="431"/>
                  <a:pt x="163" y="544"/>
                  <a:pt x="297" y="544"/>
                </a:cubicBezTo>
                <a:cubicBezTo>
                  <a:pt x="431" y="544"/>
                  <a:pt x="544" y="431"/>
                  <a:pt x="544" y="297"/>
                </a:cubicBezTo>
                <a:cubicBezTo>
                  <a:pt x="544" y="163"/>
                  <a:pt x="431" y="57"/>
                  <a:pt x="297" y="57"/>
                </a:cubicBezTo>
                <a:close/>
                <a:moveTo>
                  <a:pt x="431" y="241"/>
                </a:moveTo>
                <a:lnTo>
                  <a:pt x="431" y="241"/>
                </a:lnTo>
                <a:cubicBezTo>
                  <a:pt x="283" y="396"/>
                  <a:pt x="283" y="396"/>
                  <a:pt x="283" y="396"/>
                </a:cubicBezTo>
                <a:cubicBezTo>
                  <a:pt x="276" y="403"/>
                  <a:pt x="269" y="403"/>
                  <a:pt x="262" y="403"/>
                </a:cubicBezTo>
                <a:cubicBezTo>
                  <a:pt x="255" y="403"/>
                  <a:pt x="248" y="403"/>
                  <a:pt x="240" y="396"/>
                </a:cubicBezTo>
                <a:cubicBezTo>
                  <a:pt x="156" y="311"/>
                  <a:pt x="156" y="311"/>
                  <a:pt x="156" y="311"/>
                </a:cubicBezTo>
                <a:cubicBezTo>
                  <a:pt x="149" y="304"/>
                  <a:pt x="149" y="297"/>
                  <a:pt x="149" y="290"/>
                </a:cubicBezTo>
                <a:cubicBezTo>
                  <a:pt x="149" y="276"/>
                  <a:pt x="163" y="262"/>
                  <a:pt x="177" y="262"/>
                </a:cubicBezTo>
                <a:cubicBezTo>
                  <a:pt x="184" y="262"/>
                  <a:pt x="191" y="262"/>
                  <a:pt x="198" y="269"/>
                </a:cubicBezTo>
                <a:cubicBezTo>
                  <a:pt x="262" y="333"/>
                  <a:pt x="262" y="333"/>
                  <a:pt x="262" y="333"/>
                </a:cubicBezTo>
                <a:cubicBezTo>
                  <a:pt x="396" y="205"/>
                  <a:pt x="396" y="205"/>
                  <a:pt x="396" y="205"/>
                </a:cubicBezTo>
                <a:cubicBezTo>
                  <a:pt x="396" y="198"/>
                  <a:pt x="403" y="198"/>
                  <a:pt x="410" y="198"/>
                </a:cubicBezTo>
                <a:cubicBezTo>
                  <a:pt x="431" y="198"/>
                  <a:pt x="438" y="205"/>
                  <a:pt x="438" y="226"/>
                </a:cubicBezTo>
                <a:cubicBezTo>
                  <a:pt x="438" y="234"/>
                  <a:pt x="438" y="241"/>
                  <a:pt x="431" y="241"/>
                </a:cubicBezTo>
                <a:close/>
                <a:moveTo>
                  <a:pt x="431" y="198"/>
                </a:moveTo>
                <a:lnTo>
                  <a:pt x="431" y="198"/>
                </a:lnTo>
                <a:close/>
                <a:moveTo>
                  <a:pt x="198" y="431"/>
                </a:moveTo>
                <a:lnTo>
                  <a:pt x="198" y="431"/>
                </a:lnTo>
                <a:close/>
                <a:moveTo>
                  <a:pt x="403" y="431"/>
                </a:moveTo>
                <a:lnTo>
                  <a:pt x="403" y="431"/>
                </a:lnTo>
                <a:close/>
                <a:moveTo>
                  <a:pt x="431" y="403"/>
                </a:moveTo>
                <a:lnTo>
                  <a:pt x="431" y="403"/>
                </a:lnTo>
                <a:close/>
              </a:path>
            </a:pathLst>
          </a:custGeom>
          <a:solidFill>
            <a:srgbClr val="6AA84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412" name="Google Shape;412;g35afd35145d_1_47"/>
          <p:cNvSpPr txBox="1"/>
          <p:nvPr/>
        </p:nvSpPr>
        <p:spPr>
          <a:xfrm>
            <a:off x="6707000" y="826100"/>
            <a:ext cx="73698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Calibri"/>
              <a:ea typeface="Calibri"/>
              <a:cs typeface="Calibri"/>
              <a:sym typeface="Calibri"/>
            </a:endParaRPr>
          </a:p>
        </p:txBody>
      </p:sp>
      <p:sp>
        <p:nvSpPr>
          <p:cNvPr id="413" name="Google Shape;413;g35afd35145d_1_47"/>
          <p:cNvSpPr/>
          <p:nvPr/>
        </p:nvSpPr>
        <p:spPr>
          <a:xfrm>
            <a:off x="142275" y="4538650"/>
            <a:ext cx="2744400" cy="1761300"/>
          </a:xfrm>
          <a:prstGeom prst="roundRect">
            <a:avLst>
              <a:gd fmla="val 16667" name="adj"/>
            </a:avLst>
          </a:prstGeom>
          <a:solidFill>
            <a:srgbClr val="FFE599"/>
          </a:solidFill>
          <a:ln cap="flat" cmpd="sng" w="9525">
            <a:solidFill>
              <a:schemeClr val="dk2"/>
            </a:solidFill>
            <a:prstDash val="solid"/>
            <a:round/>
            <a:headEnd len="sm" w="sm" type="none"/>
            <a:tailEnd len="sm" w="sm" type="none"/>
          </a:ln>
          <a:effectLst>
            <a:outerShdw blurRad="57150" rotWithShape="0" algn="bl" dir="5400000" dist="19050">
              <a:srgbClr val="000000">
                <a:alpha val="4980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1" i="0" lang="en-MY" sz="1500" u="none" cap="none" strike="noStrike">
                <a:solidFill>
                  <a:schemeClr val="dk1"/>
                </a:solidFill>
                <a:latin typeface="Calibri"/>
                <a:ea typeface="Calibri"/>
                <a:cs typeface="Calibri"/>
                <a:sym typeface="Calibri"/>
              </a:rPr>
              <a:t>MVP Consideration: </a:t>
            </a:r>
            <a:endParaRPr b="1" i="0" sz="15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rPr b="0" i="0" lang="en-MY" sz="1500" u="none" cap="none" strike="noStrike">
                <a:solidFill>
                  <a:schemeClr val="dk1"/>
                </a:solidFill>
                <a:latin typeface="Calibri"/>
                <a:ea typeface="Calibri"/>
                <a:cs typeface="Calibri"/>
                <a:sym typeface="Calibri"/>
              </a:rPr>
              <a:t>What are the functionalities, without which the </a:t>
            </a:r>
            <a:endParaRPr b="0" i="0" sz="15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1100"/>
              <a:buFont typeface="Arial"/>
              <a:buNone/>
            </a:pPr>
            <a:r>
              <a:rPr b="0" i="0" lang="en-MY" sz="1500" u="none" cap="none" strike="noStrike">
                <a:solidFill>
                  <a:schemeClr val="dk1"/>
                </a:solidFill>
                <a:latin typeface="Calibri"/>
                <a:ea typeface="Calibri"/>
                <a:cs typeface="Calibri"/>
                <a:sym typeface="Calibri"/>
              </a:rPr>
              <a:t>Pizza restaurant cannot start offering deliveries and introduce its new service to the market?</a:t>
            </a:r>
            <a:endParaRPr b="0" i="0" sz="900" u="none" cap="none" strike="noStrike">
              <a:solidFill>
                <a:srgbClr val="000000"/>
              </a:solidFill>
              <a:latin typeface="Calibri"/>
              <a:ea typeface="Calibri"/>
              <a:cs typeface="Calibri"/>
              <a:sym typeface="Calibri"/>
            </a:endParaRPr>
          </a:p>
        </p:txBody>
      </p:sp>
      <p:sp>
        <p:nvSpPr>
          <p:cNvPr id="414" name="Google Shape;414;g35afd35145d_1_47"/>
          <p:cNvSpPr/>
          <p:nvPr/>
        </p:nvSpPr>
        <p:spPr>
          <a:xfrm>
            <a:off x="5556400" y="2572488"/>
            <a:ext cx="4624200" cy="321600"/>
          </a:xfrm>
          <a:prstGeom prst="roundRect">
            <a:avLst>
              <a:gd fmla="val 16667" name="adj"/>
            </a:avLst>
          </a:prstGeom>
          <a:solidFill>
            <a:srgbClr val="FFE599"/>
          </a:solidFill>
          <a:ln cap="flat" cmpd="sng" w="9525">
            <a:solidFill>
              <a:schemeClr val="dk1"/>
            </a:solidFill>
            <a:prstDash val="solid"/>
            <a:round/>
            <a:headEnd len="sm" w="sm" type="none"/>
            <a:tailEnd len="sm" w="sm" type="none"/>
          </a:ln>
          <a:effectLst>
            <a:outerShdw blurRad="57150" rotWithShape="0" algn="bl" dir="5400000" dist="19050">
              <a:srgbClr val="000000">
                <a:alpha val="4980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0" i="0" lang="en-MY" sz="1900" u="none" cap="none" strike="noStrike">
                <a:solidFill>
                  <a:schemeClr val="dk1"/>
                </a:solidFill>
                <a:latin typeface="Calibri"/>
                <a:ea typeface="Calibri"/>
                <a:cs typeface="Calibri"/>
                <a:sym typeface="Calibri"/>
              </a:rPr>
              <a:t>Not Critical for the website to start working</a:t>
            </a:r>
            <a:endParaRPr b="0" i="0" sz="1200" u="none" cap="none" strike="noStrike">
              <a:solidFill>
                <a:srgbClr val="000000"/>
              </a:solidFill>
              <a:latin typeface="Calibri"/>
              <a:ea typeface="Calibri"/>
              <a:cs typeface="Calibri"/>
              <a:sym typeface="Calibri"/>
            </a:endParaRPr>
          </a:p>
        </p:txBody>
      </p:sp>
      <p:grpSp>
        <p:nvGrpSpPr>
          <p:cNvPr id="415" name="Google Shape;415;g35afd35145d_1_47"/>
          <p:cNvGrpSpPr/>
          <p:nvPr/>
        </p:nvGrpSpPr>
        <p:grpSpPr>
          <a:xfrm>
            <a:off x="9702495" y="3420703"/>
            <a:ext cx="2014170" cy="396289"/>
            <a:chOff x="1083025" y="2306625"/>
            <a:chExt cx="1834900" cy="297224"/>
          </a:xfrm>
        </p:grpSpPr>
        <p:sp>
          <p:nvSpPr>
            <p:cNvPr id="416" name="Google Shape;416;g35afd35145d_1_47"/>
            <p:cNvSpPr/>
            <p:nvPr/>
          </p:nvSpPr>
          <p:spPr>
            <a:xfrm flipH="1">
              <a:off x="1083025" y="2306625"/>
              <a:ext cx="1834800" cy="143400"/>
            </a:xfrm>
            <a:prstGeom prst="parallelogram">
              <a:avLst>
                <a:gd fmla="val 96952" name="adj"/>
              </a:avLst>
            </a:prstGeom>
            <a:solidFill>
              <a:srgbClr val="C2C2C2"/>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rPr b="0" i="0" lang="en-MY" sz="1900" u="none" cap="none" strike="noStrike">
                  <a:solidFill>
                    <a:srgbClr val="000000"/>
                  </a:solidFill>
                  <a:latin typeface="Arial"/>
                  <a:ea typeface="Arial"/>
                  <a:cs typeface="Arial"/>
                  <a:sym typeface="Arial"/>
                </a:rPr>
                <a:t>  </a:t>
              </a:r>
              <a:endParaRPr b="0" i="0" sz="1900" u="none" cap="none" strike="noStrike">
                <a:solidFill>
                  <a:srgbClr val="000000"/>
                </a:solidFill>
                <a:latin typeface="Arial"/>
                <a:ea typeface="Arial"/>
                <a:cs typeface="Arial"/>
                <a:sym typeface="Arial"/>
              </a:endParaRPr>
            </a:p>
          </p:txBody>
        </p:sp>
        <p:sp>
          <p:nvSpPr>
            <p:cNvPr id="417" name="Google Shape;417;g35afd35145d_1_47"/>
            <p:cNvSpPr/>
            <p:nvPr/>
          </p:nvSpPr>
          <p:spPr>
            <a:xfrm>
              <a:off x="1083125" y="2460449"/>
              <a:ext cx="1834800" cy="143400"/>
            </a:xfrm>
            <a:prstGeom prst="parallelogram">
              <a:avLst>
                <a:gd fmla="val 96952" name="adj"/>
              </a:avLst>
            </a:prstGeom>
            <a:solidFill>
              <a:srgbClr val="858585"/>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18" name="Google Shape;418;g35afd35145d_1_47"/>
          <p:cNvSpPr txBox="1"/>
          <p:nvPr/>
        </p:nvSpPr>
        <p:spPr>
          <a:xfrm>
            <a:off x="10139062" y="3000675"/>
            <a:ext cx="1081500" cy="321600"/>
          </a:xfrm>
          <a:prstGeom prst="rect">
            <a:avLst/>
          </a:prstGeom>
          <a:noFill/>
          <a:ln>
            <a:noFill/>
          </a:ln>
        </p:spPr>
        <p:txBody>
          <a:bodyPr anchorCtr="0" anchor="t" bIns="121900" lIns="121900" spcFirstLastPara="1" rIns="121900" wrap="square" tIns="121900">
            <a:noAutofit/>
          </a:bodyPr>
          <a:lstStyle/>
          <a:p>
            <a:pPr indent="0" lvl="0" marL="0" marR="0" rtl="0" algn="r">
              <a:lnSpc>
                <a:spcPct val="115000"/>
              </a:lnSpc>
              <a:spcBef>
                <a:spcPts val="0"/>
              </a:spcBef>
              <a:spcAft>
                <a:spcPts val="2100"/>
              </a:spcAft>
              <a:buClr>
                <a:srgbClr val="000000"/>
              </a:buClr>
              <a:buSzPts val="1300"/>
              <a:buFont typeface="Arial"/>
              <a:buNone/>
            </a:pPr>
            <a:r>
              <a:rPr b="1" i="0" lang="en-MY" sz="1300" u="none" cap="none" strike="noStrike">
                <a:solidFill>
                  <a:srgbClr val="0C57D3"/>
                </a:solidFill>
                <a:latin typeface="Roboto"/>
                <a:ea typeface="Roboto"/>
                <a:cs typeface="Roboto"/>
                <a:sym typeface="Roboto"/>
              </a:rPr>
              <a:t>SPRINT 6</a:t>
            </a:r>
            <a:endParaRPr b="1" i="0" sz="1300" u="none" cap="none" strike="noStrike">
              <a:solidFill>
                <a:srgbClr val="0C57D3"/>
              </a:solidFill>
              <a:latin typeface="Roboto"/>
              <a:ea typeface="Roboto"/>
              <a:cs typeface="Roboto"/>
              <a:sym typeface="Roboto"/>
            </a:endParaRPr>
          </a:p>
        </p:txBody>
      </p:sp>
      <p:cxnSp>
        <p:nvCxnSpPr>
          <p:cNvPr id="419" name="Google Shape;419;g35afd35145d_1_47"/>
          <p:cNvCxnSpPr/>
          <p:nvPr/>
        </p:nvCxnSpPr>
        <p:spPr>
          <a:xfrm flipH="1" rot="10800000">
            <a:off x="3795600" y="3651304"/>
            <a:ext cx="390000" cy="1026300"/>
          </a:xfrm>
          <a:prstGeom prst="straightConnector1">
            <a:avLst/>
          </a:prstGeom>
          <a:noFill/>
          <a:ln cap="flat" cmpd="sng" w="19050">
            <a:solidFill>
              <a:schemeClr val="accent1"/>
            </a:solidFill>
            <a:prstDash val="solid"/>
            <a:round/>
            <a:headEnd len="sm" w="sm" type="none"/>
            <a:tailEnd len="sm" w="sm" type="none"/>
          </a:ln>
        </p:spPr>
      </p:cxnSp>
      <p:cxnSp>
        <p:nvCxnSpPr>
          <p:cNvPr id="420" name="Google Shape;420;g35afd35145d_1_47"/>
          <p:cNvCxnSpPr/>
          <p:nvPr/>
        </p:nvCxnSpPr>
        <p:spPr>
          <a:xfrm flipH="1" rot="10800000">
            <a:off x="11305675" y="3651304"/>
            <a:ext cx="390000" cy="1026300"/>
          </a:xfrm>
          <a:prstGeom prst="straightConnector1">
            <a:avLst/>
          </a:prstGeom>
          <a:noFill/>
          <a:ln cap="flat" cmpd="sng" w="19050">
            <a:solidFill>
              <a:schemeClr val="accent1"/>
            </a:solidFill>
            <a:prstDash val="solid"/>
            <a:round/>
            <a:headEnd len="sm" w="sm" type="none"/>
            <a:tailEnd len="sm" w="sm" type="none"/>
          </a:ln>
        </p:spPr>
      </p:cxnSp>
      <p:grpSp>
        <p:nvGrpSpPr>
          <p:cNvPr id="421" name="Google Shape;421;g35afd35145d_1_47"/>
          <p:cNvGrpSpPr/>
          <p:nvPr/>
        </p:nvGrpSpPr>
        <p:grpSpPr>
          <a:xfrm>
            <a:off x="9977663" y="3915431"/>
            <a:ext cx="1696605" cy="1761364"/>
            <a:chOff x="1215700" y="2568169"/>
            <a:chExt cx="1545600" cy="1321056"/>
          </a:xfrm>
        </p:grpSpPr>
        <p:sp>
          <p:nvSpPr>
            <p:cNvPr id="422" name="Google Shape;422;g35afd35145d_1_47"/>
            <p:cNvSpPr txBox="1"/>
            <p:nvPr/>
          </p:nvSpPr>
          <p:spPr>
            <a:xfrm>
              <a:off x="1235962" y="2568169"/>
              <a:ext cx="1505100" cy="446400"/>
            </a:xfrm>
            <a:prstGeom prst="rect">
              <a:avLst/>
            </a:prstGeom>
            <a:noFill/>
            <a:ln>
              <a:noFill/>
            </a:ln>
          </p:spPr>
          <p:txBody>
            <a:bodyPr anchorCtr="0" anchor="b" bIns="121900" lIns="121900" spcFirstLastPara="1" rIns="121900" wrap="square" tIns="121900">
              <a:noAutofit/>
            </a:bodyPr>
            <a:lstStyle/>
            <a:p>
              <a:pPr indent="0" lvl="0" marL="0" marR="0" rtl="0" algn="l">
                <a:lnSpc>
                  <a:spcPct val="115000"/>
                </a:lnSpc>
                <a:spcBef>
                  <a:spcPts val="0"/>
                </a:spcBef>
                <a:spcAft>
                  <a:spcPts val="0"/>
                </a:spcAft>
                <a:buClr>
                  <a:srgbClr val="000000"/>
                </a:buClr>
                <a:buSzPts val="1300"/>
                <a:buFont typeface="Arial"/>
                <a:buNone/>
              </a:pPr>
              <a:r>
                <a:rPr b="1" i="1" lang="en-MY" sz="1300" u="none" cap="none" strike="noStrike">
                  <a:solidFill>
                    <a:srgbClr val="FF0000"/>
                  </a:solidFill>
                  <a:latin typeface="Roboto"/>
                  <a:ea typeface="Roboto"/>
                  <a:cs typeface="Roboto"/>
                  <a:sym typeface="Roboto"/>
                </a:rPr>
                <a:t>Release 3</a:t>
              </a:r>
              <a:endParaRPr b="1" i="1" sz="1300" u="none" cap="none" strike="noStrike">
                <a:solidFill>
                  <a:srgbClr val="FF0000"/>
                </a:solidFill>
                <a:latin typeface="Roboto"/>
                <a:ea typeface="Roboto"/>
                <a:cs typeface="Roboto"/>
                <a:sym typeface="Roboto"/>
              </a:endParaRPr>
            </a:p>
          </p:txBody>
        </p:sp>
        <p:sp>
          <p:nvSpPr>
            <p:cNvPr id="423" name="Google Shape;423;g35afd35145d_1_47"/>
            <p:cNvSpPr txBox="1"/>
            <p:nvPr/>
          </p:nvSpPr>
          <p:spPr>
            <a:xfrm>
              <a:off x="1215700" y="3151825"/>
              <a:ext cx="1545600" cy="737400"/>
            </a:xfrm>
            <a:prstGeom prst="rect">
              <a:avLst/>
            </a:prstGeom>
            <a:noFill/>
            <a:ln>
              <a:noFill/>
            </a:ln>
          </p:spPr>
          <p:txBody>
            <a:bodyPr anchorCtr="0" anchor="t" bIns="121900" lIns="121900" spcFirstLastPara="1" rIns="121900" wrap="square" tIns="121900">
              <a:noAutofit/>
            </a:bodyPr>
            <a:lstStyle/>
            <a:p>
              <a:pPr indent="0" lvl="0" marL="0" marR="0" rtl="0" algn="l">
                <a:lnSpc>
                  <a:spcPct val="115000"/>
                </a:lnSpc>
                <a:spcBef>
                  <a:spcPts val="0"/>
                </a:spcBef>
                <a:spcAft>
                  <a:spcPts val="0"/>
                </a:spcAft>
                <a:buClr>
                  <a:srgbClr val="000000"/>
                </a:buClr>
                <a:buSzPts val="1100"/>
                <a:buFont typeface="Arial"/>
                <a:buNone/>
              </a:pPr>
              <a:r>
                <a:rPr b="1" i="0" lang="en-MY" sz="1100" u="none" cap="none" strike="noStrike">
                  <a:solidFill>
                    <a:schemeClr val="accent1"/>
                  </a:solidFill>
                  <a:latin typeface="Roboto"/>
                  <a:ea typeface="Roboto"/>
                  <a:cs typeface="Roboto"/>
                  <a:sym typeface="Roboto"/>
                </a:rPr>
                <a:t>EPIC 3</a:t>
              </a:r>
              <a:endParaRPr b="1" i="0" sz="1100" u="none" cap="none" strike="noStrike">
                <a:solidFill>
                  <a:schemeClr val="accent1"/>
                </a:solidFill>
                <a:latin typeface="Roboto"/>
                <a:ea typeface="Roboto"/>
                <a:cs typeface="Roboto"/>
                <a:sym typeface="Roboto"/>
              </a:endParaRPr>
            </a:p>
            <a:p>
              <a:pPr indent="0" lvl="0" marL="0" marR="0" rtl="0" algn="l">
                <a:lnSpc>
                  <a:spcPct val="115000"/>
                </a:lnSpc>
                <a:spcBef>
                  <a:spcPts val="2100"/>
                </a:spcBef>
                <a:spcAft>
                  <a:spcPts val="0"/>
                </a:spcAft>
                <a:buClr>
                  <a:srgbClr val="000000"/>
                </a:buClr>
                <a:buSzPts val="1100"/>
                <a:buFont typeface="Arial"/>
                <a:buNone/>
              </a:pPr>
              <a:r>
                <a:rPr b="1" i="0" lang="en-MY" sz="1100" u="none" cap="none" strike="noStrike">
                  <a:solidFill>
                    <a:schemeClr val="accent1"/>
                  </a:solidFill>
                  <a:latin typeface="Roboto"/>
                  <a:ea typeface="Roboto"/>
                  <a:cs typeface="Roboto"/>
                  <a:sym typeface="Roboto"/>
                </a:rPr>
                <a:t>EPIC 2</a:t>
              </a:r>
              <a:endParaRPr b="1" i="0" sz="1100" u="none" cap="none" strike="noStrike">
                <a:solidFill>
                  <a:schemeClr val="accent1"/>
                </a:solidFill>
                <a:latin typeface="Roboto"/>
                <a:ea typeface="Roboto"/>
                <a:cs typeface="Roboto"/>
                <a:sym typeface="Roboto"/>
              </a:endParaRPr>
            </a:p>
            <a:p>
              <a:pPr indent="0" lvl="0" marL="0" marR="0" rtl="0" algn="l">
                <a:lnSpc>
                  <a:spcPct val="115000"/>
                </a:lnSpc>
                <a:spcBef>
                  <a:spcPts val="2100"/>
                </a:spcBef>
                <a:spcAft>
                  <a:spcPts val="2100"/>
                </a:spcAft>
                <a:buClr>
                  <a:srgbClr val="000000"/>
                </a:buClr>
                <a:buSzPts val="1100"/>
                <a:buFont typeface="Arial"/>
                <a:buNone/>
              </a:pPr>
              <a:r>
                <a:rPr b="1" i="0" lang="en-MY" sz="1100" u="none" cap="none" strike="noStrike">
                  <a:solidFill>
                    <a:schemeClr val="accent1"/>
                  </a:solidFill>
                  <a:latin typeface="Roboto"/>
                  <a:ea typeface="Roboto"/>
                  <a:cs typeface="Roboto"/>
                  <a:sym typeface="Roboto"/>
                </a:rPr>
                <a:t>EPIC 1</a:t>
              </a:r>
              <a:endParaRPr b="1" i="0" sz="1100" u="none" cap="none" strike="noStrike">
                <a:solidFill>
                  <a:schemeClr val="accent1"/>
                </a:solidFill>
                <a:latin typeface="Roboto"/>
                <a:ea typeface="Roboto"/>
                <a:cs typeface="Roboto"/>
                <a:sym typeface="Roboto"/>
              </a:endParaRPr>
            </a:p>
          </p:txBody>
        </p:sp>
      </p:grpSp>
      <p:cxnSp>
        <p:nvCxnSpPr>
          <p:cNvPr id="424" name="Google Shape;424;g35afd35145d_1_47"/>
          <p:cNvCxnSpPr>
            <a:stCxn id="414" idx="1"/>
          </p:cNvCxnSpPr>
          <p:nvPr/>
        </p:nvCxnSpPr>
        <p:spPr>
          <a:xfrm rot="10800000">
            <a:off x="4983400" y="2640288"/>
            <a:ext cx="573000" cy="93000"/>
          </a:xfrm>
          <a:prstGeom prst="straightConnector1">
            <a:avLst/>
          </a:prstGeom>
          <a:noFill/>
          <a:ln cap="flat" cmpd="sng" w="9525">
            <a:solidFill>
              <a:schemeClr val="accent1"/>
            </a:solidFill>
            <a:prstDash val="solid"/>
            <a:round/>
            <a:headEnd len="sm" w="sm" type="none"/>
            <a:tailEnd len="sm" w="sm" type="none"/>
          </a:ln>
        </p:spPr>
      </p:cxn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 name="Shape 429"/>
        <p:cNvGrpSpPr/>
        <p:nvPr/>
      </p:nvGrpSpPr>
      <p:grpSpPr>
        <a:xfrm>
          <a:off x="0" y="0"/>
          <a:ext cx="0" cy="0"/>
          <a:chOff x="0" y="0"/>
          <a:chExt cx="0" cy="0"/>
        </a:xfrm>
      </p:grpSpPr>
      <p:sp>
        <p:nvSpPr>
          <p:cNvPr id="430" name="Google Shape;430;g35d300c5de1_0_2"/>
          <p:cNvSpPr txBox="1"/>
          <p:nvPr>
            <p:ph type="title"/>
          </p:nvPr>
        </p:nvSpPr>
        <p:spPr>
          <a:xfrm>
            <a:off x="831850" y="1047751"/>
            <a:ext cx="10515600" cy="15003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4000"/>
              <a:buNone/>
            </a:pPr>
            <a:r>
              <a:t/>
            </a:r>
            <a:endParaRPr/>
          </a:p>
        </p:txBody>
      </p:sp>
      <p:sp>
        <p:nvSpPr>
          <p:cNvPr id="431" name="Google Shape;431;g35d300c5de1_0_2"/>
          <p:cNvSpPr txBox="1"/>
          <p:nvPr>
            <p:ph idx="1" type="body"/>
          </p:nvPr>
        </p:nvSpPr>
        <p:spPr>
          <a:xfrm>
            <a:off x="831850" y="2814638"/>
            <a:ext cx="10515600" cy="33576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SzPts val="2400"/>
              <a:buNone/>
            </a:pPr>
            <a:r>
              <a:t/>
            </a:r>
            <a:endParaRPr/>
          </a:p>
        </p:txBody>
      </p:sp>
      <p:pic>
        <p:nvPicPr>
          <p:cNvPr id="432" name="Google Shape;432;g35d300c5de1_0_2"/>
          <p:cNvPicPr preferRelativeResize="0"/>
          <p:nvPr/>
        </p:nvPicPr>
        <p:blipFill rotWithShape="1">
          <a:blip r:embed="rId3">
            <a:alphaModFix/>
          </a:blip>
          <a:srcRect b="0" l="0" r="0" t="0"/>
          <a:stretch/>
        </p:blipFill>
        <p:spPr>
          <a:xfrm>
            <a:off x="0" y="0"/>
            <a:ext cx="12192000" cy="68580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sp>
        <p:nvSpPr>
          <p:cNvPr id="437" name="Google Shape;437;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000"/>
              <a:buFont typeface="Calibri"/>
              <a:buNone/>
            </a:pPr>
            <a:r>
              <a:rPr b="1" lang="en-MY"/>
              <a:t>Summary</a:t>
            </a:r>
            <a:endParaRPr/>
          </a:p>
        </p:txBody>
      </p:sp>
      <p:sp>
        <p:nvSpPr>
          <p:cNvPr id="438" name="Google Shape;438;p1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177800" lvl="0" marL="228600" rtl="0" algn="l">
              <a:lnSpc>
                <a:spcPct val="90000"/>
              </a:lnSpc>
              <a:spcBef>
                <a:spcPts val="0"/>
              </a:spcBef>
              <a:spcAft>
                <a:spcPts val="0"/>
              </a:spcAft>
              <a:buClr>
                <a:schemeClr val="dk1"/>
              </a:buClr>
              <a:buSzPts val="2000"/>
              <a:buFont typeface="Arial"/>
              <a:buChar char="•"/>
            </a:pPr>
            <a:r>
              <a:rPr lang="en-MY" sz="2000"/>
              <a:t>Product Backlog is a </a:t>
            </a:r>
            <a:r>
              <a:rPr b="1" lang="en-MY" sz="2000"/>
              <a:t>dynamic tool</a:t>
            </a:r>
            <a:r>
              <a:rPr lang="en-MY" sz="2000"/>
              <a:t> used throughout the Scrum project. It helps the team stay focused on </a:t>
            </a:r>
            <a:r>
              <a:rPr b="1" lang="en-MY" sz="2000"/>
              <a:t>delivering value</a:t>
            </a:r>
            <a:r>
              <a:rPr lang="en-MY" sz="2000"/>
              <a:t> to the customer. It prioritized list of all desired product features, managed by the Product Owner.</a:t>
            </a:r>
            <a:endParaRPr sz="2000"/>
          </a:p>
          <a:p>
            <a:pPr indent="-228600" lvl="0" marL="228600" rtl="0" algn="l">
              <a:lnSpc>
                <a:spcPct val="115000"/>
              </a:lnSpc>
              <a:spcBef>
                <a:spcPts val="0"/>
              </a:spcBef>
              <a:spcAft>
                <a:spcPts val="0"/>
              </a:spcAft>
              <a:buSzPts val="2000"/>
              <a:buChar char="•"/>
            </a:pPr>
            <a:r>
              <a:rPr b="1" lang="en-MY" sz="2000"/>
              <a:t>Epic</a:t>
            </a:r>
            <a:r>
              <a:rPr lang="en-MY" sz="2000"/>
              <a:t> – Large feature or goal broken into related User Stories.</a:t>
            </a:r>
            <a:endParaRPr sz="2000"/>
          </a:p>
          <a:p>
            <a:pPr indent="-228600" lvl="0" marL="228600" rtl="0" algn="l">
              <a:lnSpc>
                <a:spcPct val="115000"/>
              </a:lnSpc>
              <a:spcBef>
                <a:spcPts val="0"/>
              </a:spcBef>
              <a:spcAft>
                <a:spcPts val="0"/>
              </a:spcAft>
              <a:buSzPts val="2000"/>
              <a:buChar char="•"/>
            </a:pPr>
            <a:r>
              <a:rPr b="1" lang="en-MY" sz="2000"/>
              <a:t>User Story</a:t>
            </a:r>
            <a:r>
              <a:rPr lang="en-MY" sz="2000"/>
              <a:t> – Describes user needs in simple terms ("As a user, I want...").</a:t>
            </a:r>
            <a:endParaRPr sz="2000"/>
          </a:p>
          <a:p>
            <a:pPr indent="-228600" lvl="0" marL="228600" rtl="0" algn="l">
              <a:lnSpc>
                <a:spcPct val="115000"/>
              </a:lnSpc>
              <a:spcBef>
                <a:spcPts val="0"/>
              </a:spcBef>
              <a:spcAft>
                <a:spcPts val="0"/>
              </a:spcAft>
              <a:buSzPts val="2000"/>
              <a:buChar char="•"/>
            </a:pPr>
            <a:r>
              <a:rPr b="1" lang="en-MY" sz="2000"/>
              <a:t>Sprint Backlog</a:t>
            </a:r>
            <a:r>
              <a:rPr lang="en-MY" sz="2000"/>
              <a:t> – Selected backlog items and tasks for one Sprint, owned by the team.</a:t>
            </a:r>
            <a:endParaRPr sz="2000"/>
          </a:p>
          <a:p>
            <a:pPr indent="-228600" lvl="0" marL="228600" rtl="0" algn="l">
              <a:lnSpc>
                <a:spcPct val="115000"/>
              </a:lnSpc>
              <a:spcBef>
                <a:spcPts val="0"/>
              </a:spcBef>
              <a:spcAft>
                <a:spcPts val="0"/>
              </a:spcAft>
              <a:buSzPts val="2000"/>
              <a:buChar char="•"/>
            </a:pPr>
            <a:r>
              <a:rPr b="1" lang="en-MY" sz="2000"/>
              <a:t>MVP (Minimum Viable Product)</a:t>
            </a:r>
            <a:r>
              <a:rPr lang="en-MY" sz="2000"/>
              <a:t> – Basic version with core features to deliver value and get feedback early.</a:t>
            </a:r>
            <a:endParaRPr/>
          </a:p>
        </p:txBody>
      </p:sp>
      <p:pic>
        <p:nvPicPr>
          <p:cNvPr id="439" name="Google Shape;439;p14"/>
          <p:cNvPicPr preferRelativeResize="0"/>
          <p:nvPr/>
        </p:nvPicPr>
        <p:blipFill rotWithShape="1">
          <a:blip r:embed="rId3">
            <a:alphaModFix/>
          </a:blip>
          <a:srcRect b="0" l="0" r="0" t="0"/>
          <a:stretch/>
        </p:blipFill>
        <p:spPr>
          <a:xfrm>
            <a:off x="0" y="0"/>
            <a:ext cx="12192000" cy="68580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4" name="Shape 444"/>
        <p:cNvGrpSpPr/>
        <p:nvPr/>
      </p:nvGrpSpPr>
      <p:grpSpPr>
        <a:xfrm>
          <a:off x="0" y="0"/>
          <a:ext cx="0" cy="0"/>
          <a:chOff x="0" y="0"/>
          <a:chExt cx="0" cy="0"/>
        </a:xfrm>
      </p:grpSpPr>
      <p:sp>
        <p:nvSpPr>
          <p:cNvPr id="445" name="Google Shape;445;g35d300c5de1_0_15"/>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4000"/>
              <a:buNone/>
            </a:pPr>
            <a:r>
              <a:t/>
            </a:r>
            <a:endParaRPr/>
          </a:p>
        </p:txBody>
      </p:sp>
      <p:sp>
        <p:nvSpPr>
          <p:cNvPr id="446" name="Google Shape;446;g35d300c5de1_0_15"/>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SzPts val="1800"/>
              <a:buNone/>
            </a:pPr>
            <a:r>
              <a:t/>
            </a:r>
            <a:endParaRPr/>
          </a:p>
        </p:txBody>
      </p:sp>
      <p:pic>
        <p:nvPicPr>
          <p:cNvPr id="447" name="Google Shape;447;g35d300c5de1_0_15"/>
          <p:cNvPicPr preferRelativeResize="0"/>
          <p:nvPr/>
        </p:nvPicPr>
        <p:blipFill rotWithShape="1">
          <a:blip r:embed="rId3">
            <a:alphaModFix/>
          </a:blip>
          <a:srcRect b="0" l="0" r="0" t="0"/>
          <a:stretch/>
        </p:blipFill>
        <p:spPr>
          <a:xfrm>
            <a:off x="0" y="0"/>
            <a:ext cx="12192000" cy="68580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g35c9230e536_0_0"/>
          <p:cNvSpPr txBox="1"/>
          <p:nvPr>
            <p:ph type="title"/>
          </p:nvPr>
        </p:nvSpPr>
        <p:spPr>
          <a:xfrm>
            <a:off x="831850" y="668251"/>
            <a:ext cx="10515600" cy="1500300"/>
          </a:xfrm>
          <a:prstGeom prst="rect">
            <a:avLst/>
          </a:prstGeom>
          <a:noFill/>
          <a:ln>
            <a:noFill/>
          </a:ln>
        </p:spPr>
        <p:txBody>
          <a:bodyPr anchorCtr="0" anchor="t" bIns="45700" lIns="91425" spcFirstLastPara="1" rIns="91425" wrap="square" tIns="45700">
            <a:normAutofit/>
          </a:bodyPr>
          <a:lstStyle/>
          <a:p>
            <a:pPr indent="0" lvl="0" marL="0" rtl="0" algn="ctr">
              <a:lnSpc>
                <a:spcPct val="115000"/>
              </a:lnSpc>
              <a:spcBef>
                <a:spcPts val="1200"/>
              </a:spcBef>
              <a:spcAft>
                <a:spcPts val="1200"/>
              </a:spcAft>
              <a:buSzPts val="4000"/>
              <a:buNone/>
            </a:pPr>
            <a:r>
              <a:rPr b="1" lang="en-MY" sz="2900">
                <a:latin typeface="Arial"/>
                <a:ea typeface="Arial"/>
                <a:cs typeface="Arial"/>
                <a:sym typeface="Arial"/>
              </a:rPr>
              <a:t>DAILY SCRUM / STAND-UP MEETING</a:t>
            </a:r>
            <a:endParaRPr sz="2900">
              <a:latin typeface="Arial"/>
              <a:ea typeface="Arial"/>
              <a:cs typeface="Arial"/>
              <a:sym typeface="Arial"/>
            </a:endParaRPr>
          </a:p>
        </p:txBody>
      </p:sp>
      <p:sp>
        <p:nvSpPr>
          <p:cNvPr id="454" name="Google Shape;454;g35c9230e536_0_0"/>
          <p:cNvSpPr txBox="1"/>
          <p:nvPr>
            <p:ph idx="1" type="body"/>
          </p:nvPr>
        </p:nvSpPr>
        <p:spPr>
          <a:xfrm>
            <a:off x="831850" y="1577800"/>
            <a:ext cx="10515600" cy="4554000"/>
          </a:xfrm>
          <a:prstGeom prst="rect">
            <a:avLst/>
          </a:prstGeom>
          <a:noFill/>
          <a:ln>
            <a:noFill/>
          </a:ln>
        </p:spPr>
        <p:txBody>
          <a:bodyPr anchorCtr="0" anchor="t" bIns="45700" lIns="91425" spcFirstLastPara="1" rIns="91425" wrap="square" tIns="45700">
            <a:normAutofit/>
          </a:bodyPr>
          <a:lstStyle/>
          <a:p>
            <a:pPr indent="-355600" lvl="0" marL="457200" rtl="0" algn="l">
              <a:lnSpc>
                <a:spcPct val="115000"/>
              </a:lnSpc>
              <a:spcBef>
                <a:spcPts val="1200"/>
              </a:spcBef>
              <a:spcAft>
                <a:spcPts val="0"/>
              </a:spcAft>
              <a:buClr>
                <a:schemeClr val="dk1"/>
              </a:buClr>
              <a:buSzPts val="2000"/>
              <a:buChar char="●"/>
            </a:pPr>
            <a:r>
              <a:rPr b="1" lang="en-MY" sz="2000">
                <a:solidFill>
                  <a:schemeClr val="dk1"/>
                </a:solidFill>
                <a:latin typeface="Arial"/>
                <a:ea typeface="Arial"/>
                <a:cs typeface="Arial"/>
                <a:sym typeface="Arial"/>
              </a:rPr>
              <a:t>What it is:</a:t>
            </a:r>
            <a:r>
              <a:rPr lang="en-MY" sz="2000">
                <a:solidFill>
                  <a:schemeClr val="dk1"/>
                </a:solidFill>
                <a:latin typeface="Arial"/>
                <a:ea typeface="Arial"/>
                <a:cs typeface="Arial"/>
                <a:sym typeface="Arial"/>
              </a:rPr>
              <a:t> A </a:t>
            </a:r>
            <a:r>
              <a:rPr b="1" lang="en-MY" sz="2000">
                <a:solidFill>
                  <a:schemeClr val="dk1"/>
                </a:solidFill>
                <a:latin typeface="Arial"/>
                <a:ea typeface="Arial"/>
                <a:cs typeface="Arial"/>
                <a:sym typeface="Arial"/>
              </a:rPr>
              <a:t>15-minute time-boxed meeting</a:t>
            </a:r>
            <a:r>
              <a:rPr lang="en-MY" sz="2000">
                <a:solidFill>
                  <a:schemeClr val="dk1"/>
                </a:solidFill>
                <a:latin typeface="Arial"/>
                <a:ea typeface="Arial"/>
                <a:cs typeface="Arial"/>
                <a:sym typeface="Arial"/>
              </a:rPr>
              <a:t> held every day of the sprint.</a:t>
            </a:r>
            <a:endParaRPr sz="2000">
              <a:solidFill>
                <a:schemeClr val="dk1"/>
              </a:solidFill>
              <a:latin typeface="Arial"/>
              <a:ea typeface="Arial"/>
              <a:cs typeface="Arial"/>
              <a:sym typeface="Arial"/>
            </a:endParaRPr>
          </a:p>
          <a:p>
            <a:pPr indent="-355600" lvl="0" marL="457200" rtl="0" algn="l">
              <a:lnSpc>
                <a:spcPct val="115000"/>
              </a:lnSpc>
              <a:spcBef>
                <a:spcPts val="0"/>
              </a:spcBef>
              <a:spcAft>
                <a:spcPts val="0"/>
              </a:spcAft>
              <a:buClr>
                <a:schemeClr val="dk1"/>
              </a:buClr>
              <a:buSzPts val="2000"/>
              <a:buChar char="●"/>
            </a:pPr>
            <a:r>
              <a:rPr b="1" lang="en-MY" sz="2000">
                <a:solidFill>
                  <a:schemeClr val="dk1"/>
                </a:solidFill>
                <a:latin typeface="Arial"/>
                <a:ea typeface="Arial"/>
                <a:cs typeface="Arial"/>
                <a:sym typeface="Arial"/>
              </a:rPr>
              <a:t>Participants:</a:t>
            </a:r>
            <a:r>
              <a:rPr lang="en-MY" sz="2000">
                <a:solidFill>
                  <a:schemeClr val="dk1"/>
                </a:solidFill>
                <a:latin typeface="Arial"/>
                <a:ea typeface="Arial"/>
                <a:cs typeface="Arial"/>
                <a:sym typeface="Arial"/>
              </a:rPr>
              <a:t> The </a:t>
            </a:r>
            <a:r>
              <a:rPr b="1" lang="en-MY" sz="2000">
                <a:solidFill>
                  <a:schemeClr val="dk1"/>
                </a:solidFill>
                <a:latin typeface="Arial"/>
                <a:ea typeface="Arial"/>
                <a:cs typeface="Arial"/>
                <a:sym typeface="Arial"/>
              </a:rPr>
              <a:t>Development Team</a:t>
            </a:r>
            <a:r>
              <a:rPr lang="en-MY" sz="2000">
                <a:solidFill>
                  <a:schemeClr val="dk1"/>
                </a:solidFill>
                <a:latin typeface="Arial"/>
                <a:ea typeface="Arial"/>
                <a:cs typeface="Arial"/>
                <a:sym typeface="Arial"/>
              </a:rPr>
              <a:t> (Scrum Master facilitates but does not lead).</a:t>
            </a:r>
            <a:endParaRPr sz="2000">
              <a:solidFill>
                <a:schemeClr val="dk1"/>
              </a:solidFill>
              <a:latin typeface="Arial"/>
              <a:ea typeface="Arial"/>
              <a:cs typeface="Arial"/>
              <a:sym typeface="Arial"/>
            </a:endParaRPr>
          </a:p>
          <a:p>
            <a:pPr indent="-355600" lvl="0" marL="457200" rtl="0" algn="l">
              <a:lnSpc>
                <a:spcPct val="115000"/>
              </a:lnSpc>
              <a:spcBef>
                <a:spcPts val="0"/>
              </a:spcBef>
              <a:spcAft>
                <a:spcPts val="0"/>
              </a:spcAft>
              <a:buClr>
                <a:schemeClr val="dk1"/>
              </a:buClr>
              <a:buSzPts val="2000"/>
              <a:buChar char="●"/>
            </a:pPr>
            <a:r>
              <a:rPr b="1" lang="en-MY" sz="2000">
                <a:solidFill>
                  <a:schemeClr val="dk1"/>
                </a:solidFill>
                <a:latin typeface="Arial"/>
                <a:ea typeface="Arial"/>
                <a:cs typeface="Arial"/>
                <a:sym typeface="Arial"/>
              </a:rPr>
              <a:t>Purpose:</a:t>
            </a:r>
            <a:r>
              <a:rPr lang="en-MY" sz="2000">
                <a:solidFill>
                  <a:schemeClr val="dk1"/>
                </a:solidFill>
                <a:latin typeface="Arial"/>
                <a:ea typeface="Arial"/>
                <a:cs typeface="Arial"/>
                <a:sym typeface="Arial"/>
              </a:rPr>
              <a:t> To </a:t>
            </a:r>
            <a:r>
              <a:rPr b="1" lang="en-MY" sz="2000">
                <a:solidFill>
                  <a:schemeClr val="dk1"/>
                </a:solidFill>
                <a:latin typeface="Arial"/>
                <a:ea typeface="Arial"/>
                <a:cs typeface="Arial"/>
                <a:sym typeface="Arial"/>
              </a:rPr>
              <a:t>synchronize activities</a:t>
            </a:r>
            <a:r>
              <a:rPr lang="en-MY" sz="2000">
                <a:solidFill>
                  <a:schemeClr val="dk1"/>
                </a:solidFill>
                <a:latin typeface="Arial"/>
                <a:ea typeface="Arial"/>
                <a:cs typeface="Arial"/>
                <a:sym typeface="Arial"/>
              </a:rPr>
              <a:t> and create a plan for the next 24 hours.</a:t>
            </a:r>
            <a:endParaRPr sz="2000">
              <a:solidFill>
                <a:schemeClr val="dk1"/>
              </a:solidFill>
              <a:latin typeface="Arial"/>
              <a:ea typeface="Arial"/>
              <a:cs typeface="Arial"/>
              <a:sym typeface="Arial"/>
            </a:endParaRPr>
          </a:p>
          <a:p>
            <a:pPr indent="-355600" lvl="0" marL="457200" rtl="0" algn="l">
              <a:lnSpc>
                <a:spcPct val="115000"/>
              </a:lnSpc>
              <a:spcBef>
                <a:spcPts val="0"/>
              </a:spcBef>
              <a:spcAft>
                <a:spcPts val="0"/>
              </a:spcAft>
              <a:buClr>
                <a:schemeClr val="dk1"/>
              </a:buClr>
              <a:buSzPts val="2000"/>
              <a:buChar char="●"/>
            </a:pPr>
            <a:r>
              <a:rPr b="1" lang="en-MY" sz="2000">
                <a:solidFill>
                  <a:schemeClr val="dk1"/>
                </a:solidFill>
                <a:latin typeface="Arial"/>
                <a:ea typeface="Arial"/>
                <a:cs typeface="Arial"/>
                <a:sym typeface="Arial"/>
              </a:rPr>
              <a:t>Each team member answers:</a:t>
            </a:r>
            <a:endParaRPr b="1" sz="2000">
              <a:solidFill>
                <a:schemeClr val="dk1"/>
              </a:solidFill>
              <a:latin typeface="Arial"/>
              <a:ea typeface="Arial"/>
              <a:cs typeface="Arial"/>
              <a:sym typeface="Arial"/>
            </a:endParaRPr>
          </a:p>
          <a:p>
            <a:pPr indent="-355600" lvl="1" marL="914400" rtl="0" algn="l">
              <a:lnSpc>
                <a:spcPct val="115000"/>
              </a:lnSpc>
              <a:spcBef>
                <a:spcPts val="0"/>
              </a:spcBef>
              <a:spcAft>
                <a:spcPts val="0"/>
              </a:spcAft>
              <a:buClr>
                <a:schemeClr val="dk1"/>
              </a:buClr>
              <a:buSzPts val="2000"/>
              <a:buAutoNum type="arabicPeriod"/>
            </a:pPr>
            <a:r>
              <a:rPr lang="en-MY">
                <a:solidFill>
                  <a:schemeClr val="dk1"/>
                </a:solidFill>
                <a:latin typeface="Arial"/>
                <a:ea typeface="Arial"/>
                <a:cs typeface="Arial"/>
                <a:sym typeface="Arial"/>
              </a:rPr>
              <a:t>What did I do yesterday?</a:t>
            </a:r>
            <a:endParaRPr>
              <a:solidFill>
                <a:schemeClr val="dk1"/>
              </a:solidFill>
              <a:latin typeface="Arial"/>
              <a:ea typeface="Arial"/>
              <a:cs typeface="Arial"/>
              <a:sym typeface="Arial"/>
            </a:endParaRPr>
          </a:p>
          <a:p>
            <a:pPr indent="-355600" lvl="1" marL="914400" rtl="0" algn="l">
              <a:lnSpc>
                <a:spcPct val="115000"/>
              </a:lnSpc>
              <a:spcBef>
                <a:spcPts val="0"/>
              </a:spcBef>
              <a:spcAft>
                <a:spcPts val="0"/>
              </a:spcAft>
              <a:buClr>
                <a:schemeClr val="dk1"/>
              </a:buClr>
              <a:buSzPts val="2000"/>
              <a:buAutoNum type="arabicPeriod"/>
            </a:pPr>
            <a:r>
              <a:rPr lang="en-MY">
                <a:solidFill>
                  <a:schemeClr val="dk1"/>
                </a:solidFill>
                <a:latin typeface="Arial"/>
                <a:ea typeface="Arial"/>
                <a:cs typeface="Arial"/>
                <a:sym typeface="Arial"/>
              </a:rPr>
              <a:t>What will I do today?</a:t>
            </a:r>
            <a:endParaRPr>
              <a:solidFill>
                <a:schemeClr val="dk1"/>
              </a:solidFill>
              <a:latin typeface="Arial"/>
              <a:ea typeface="Arial"/>
              <a:cs typeface="Arial"/>
              <a:sym typeface="Arial"/>
            </a:endParaRPr>
          </a:p>
          <a:p>
            <a:pPr indent="-355600" lvl="1" marL="914400" rtl="0" algn="l">
              <a:lnSpc>
                <a:spcPct val="115000"/>
              </a:lnSpc>
              <a:spcBef>
                <a:spcPts val="0"/>
              </a:spcBef>
              <a:spcAft>
                <a:spcPts val="0"/>
              </a:spcAft>
              <a:buClr>
                <a:schemeClr val="dk1"/>
              </a:buClr>
              <a:buSzPts val="2000"/>
              <a:buAutoNum type="arabicPeriod"/>
            </a:pPr>
            <a:r>
              <a:rPr lang="en-MY">
                <a:solidFill>
                  <a:schemeClr val="dk1"/>
                </a:solidFill>
                <a:latin typeface="Arial"/>
                <a:ea typeface="Arial"/>
                <a:cs typeface="Arial"/>
                <a:sym typeface="Arial"/>
              </a:rPr>
              <a:t>Are there any problem in my way?</a:t>
            </a:r>
            <a:endParaRPr>
              <a:solidFill>
                <a:schemeClr val="dk1"/>
              </a:solidFill>
              <a:latin typeface="Arial"/>
              <a:ea typeface="Arial"/>
              <a:cs typeface="Arial"/>
              <a:sym typeface="Arial"/>
            </a:endParaRPr>
          </a:p>
          <a:p>
            <a:pPr indent="0" lvl="0" marL="914400" rtl="0" algn="l">
              <a:lnSpc>
                <a:spcPct val="115000"/>
              </a:lnSpc>
              <a:spcBef>
                <a:spcPts val="1200"/>
              </a:spcBef>
              <a:spcAft>
                <a:spcPts val="0"/>
              </a:spcAft>
              <a:buSzPts val="2400"/>
              <a:buNone/>
            </a:pPr>
            <a:r>
              <a:t/>
            </a:r>
            <a:endParaRPr>
              <a:solidFill>
                <a:schemeClr val="dk1"/>
              </a:solidFill>
              <a:latin typeface="Arial"/>
              <a:ea typeface="Arial"/>
              <a:cs typeface="Arial"/>
              <a:sym typeface="Arial"/>
            </a:endParaRPr>
          </a:p>
          <a:p>
            <a:pPr indent="-355600" lvl="0" marL="457200" rtl="0" algn="l">
              <a:lnSpc>
                <a:spcPct val="115000"/>
              </a:lnSpc>
              <a:spcBef>
                <a:spcPts val="1200"/>
              </a:spcBef>
              <a:spcAft>
                <a:spcPts val="0"/>
              </a:spcAft>
              <a:buClr>
                <a:schemeClr val="dk1"/>
              </a:buClr>
              <a:buSzPts val="2000"/>
              <a:buChar char="●"/>
            </a:pPr>
            <a:r>
              <a:rPr lang="en-MY" sz="2000">
                <a:solidFill>
                  <a:schemeClr val="dk1"/>
                </a:solidFill>
                <a:latin typeface="Arial"/>
                <a:ea typeface="Arial"/>
                <a:cs typeface="Arial"/>
                <a:sym typeface="Arial"/>
              </a:rPr>
              <a:t>Key Benefit:Promotes </a:t>
            </a:r>
            <a:r>
              <a:rPr b="1" lang="en-MY" sz="2000">
                <a:solidFill>
                  <a:schemeClr val="dk1"/>
                </a:solidFill>
                <a:latin typeface="Arial"/>
                <a:ea typeface="Arial"/>
                <a:cs typeface="Arial"/>
                <a:sym typeface="Arial"/>
              </a:rPr>
              <a:t>team transparency</a:t>
            </a:r>
            <a:r>
              <a:rPr lang="en-MY" sz="2000">
                <a:solidFill>
                  <a:schemeClr val="dk1"/>
                </a:solidFill>
                <a:latin typeface="Arial"/>
                <a:ea typeface="Arial"/>
                <a:cs typeface="Arial"/>
                <a:sym typeface="Arial"/>
              </a:rPr>
              <a:t>, accountability, and early problem detection</a:t>
            </a:r>
            <a:endParaRPr sz="2000">
              <a:solidFill>
                <a:schemeClr val="dk1"/>
              </a:solidFill>
              <a:latin typeface="Arial"/>
              <a:ea typeface="Arial"/>
              <a:cs typeface="Arial"/>
              <a:sym typeface="Arial"/>
            </a:endParaRPr>
          </a:p>
          <a:p>
            <a:pPr indent="0" lvl="0" marL="457200" rtl="0" algn="l">
              <a:lnSpc>
                <a:spcPct val="115000"/>
              </a:lnSpc>
              <a:spcBef>
                <a:spcPts val="1200"/>
              </a:spcBef>
              <a:spcAft>
                <a:spcPts val="0"/>
              </a:spcAft>
              <a:buSzPts val="2400"/>
              <a:buNone/>
            </a:pPr>
            <a:r>
              <a:t/>
            </a:r>
            <a:endParaRPr sz="2000">
              <a:solidFill>
                <a:schemeClr val="dk1"/>
              </a:solidFill>
              <a:latin typeface="Arial"/>
              <a:ea typeface="Arial"/>
              <a:cs typeface="Arial"/>
              <a:sym typeface="Arial"/>
            </a:endParaRPr>
          </a:p>
          <a:p>
            <a:pPr indent="0" lvl="0" marL="0" rtl="0" algn="l">
              <a:lnSpc>
                <a:spcPct val="90000"/>
              </a:lnSpc>
              <a:spcBef>
                <a:spcPts val="1200"/>
              </a:spcBef>
              <a:spcAft>
                <a:spcPts val="0"/>
              </a:spcAft>
              <a:buSzPts val="2400"/>
              <a:buNone/>
            </a:pPr>
            <a:r>
              <a:t/>
            </a:r>
            <a:endParaRPr sz="2000"/>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9" name="Shape 459"/>
        <p:cNvGrpSpPr/>
        <p:nvPr/>
      </p:nvGrpSpPr>
      <p:grpSpPr>
        <a:xfrm>
          <a:off x="0" y="0"/>
          <a:ext cx="0" cy="0"/>
          <a:chOff x="0" y="0"/>
          <a:chExt cx="0" cy="0"/>
        </a:xfrm>
      </p:grpSpPr>
      <p:pic>
        <p:nvPicPr>
          <p:cNvPr id="460" name="Google Shape;460;g35d300c5de1_0_23"/>
          <p:cNvPicPr preferRelativeResize="0"/>
          <p:nvPr/>
        </p:nvPicPr>
        <p:blipFill rotWithShape="1">
          <a:blip r:embed="rId3">
            <a:alphaModFix/>
          </a:blip>
          <a:srcRect b="0" l="0" r="0" t="0"/>
          <a:stretch/>
        </p:blipFill>
        <p:spPr>
          <a:xfrm>
            <a:off x="760125" y="1539350"/>
            <a:ext cx="8606200" cy="3806125"/>
          </a:xfrm>
          <a:prstGeom prst="rect">
            <a:avLst/>
          </a:prstGeom>
          <a:noFill/>
          <a:ln>
            <a:noFill/>
          </a:ln>
        </p:spPr>
      </p:pic>
      <p:sp>
        <p:nvSpPr>
          <p:cNvPr id="461" name="Google Shape;461;g35d300c5de1_0_23"/>
          <p:cNvSpPr txBox="1"/>
          <p:nvPr/>
        </p:nvSpPr>
        <p:spPr>
          <a:xfrm>
            <a:off x="3306875" y="726500"/>
            <a:ext cx="4493700" cy="548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0" i="0" lang="en-MY" sz="2800" u="none" cap="none" strike="noStrike">
                <a:solidFill>
                  <a:schemeClr val="dk1"/>
                </a:solidFill>
                <a:latin typeface="Calibri"/>
                <a:ea typeface="Calibri"/>
                <a:cs typeface="Calibri"/>
                <a:sym typeface="Calibri"/>
              </a:rPr>
              <a:t>UTMSMART Project</a:t>
            </a:r>
            <a:endParaRPr b="0" i="0" sz="2800" u="none" cap="none" strike="noStrike">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6" name="Shape 466"/>
        <p:cNvGrpSpPr/>
        <p:nvPr/>
      </p:nvGrpSpPr>
      <p:grpSpPr>
        <a:xfrm>
          <a:off x="0" y="0"/>
          <a:ext cx="0" cy="0"/>
          <a:chOff x="0" y="0"/>
          <a:chExt cx="0" cy="0"/>
        </a:xfrm>
      </p:grpSpPr>
      <p:sp>
        <p:nvSpPr>
          <p:cNvPr id="467" name="Google Shape;467;g35c0e3b69f0_0_9"/>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4000"/>
              <a:buNone/>
            </a:pPr>
            <a:r>
              <a:t/>
            </a:r>
            <a:endParaRPr/>
          </a:p>
        </p:txBody>
      </p:sp>
      <p:sp>
        <p:nvSpPr>
          <p:cNvPr id="468" name="Google Shape;468;g35c0e3b69f0_0_9"/>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SzPts val="1800"/>
              <a:buNone/>
            </a:pPr>
            <a:r>
              <a:t/>
            </a:r>
            <a:endParaRPr/>
          </a:p>
        </p:txBody>
      </p:sp>
      <p:pic>
        <p:nvPicPr>
          <p:cNvPr id="469" name="Google Shape;469;g35c0e3b69f0_0_9"/>
          <p:cNvPicPr preferRelativeResize="0"/>
          <p:nvPr/>
        </p:nvPicPr>
        <p:blipFill rotWithShape="1">
          <a:blip r:embed="rId3">
            <a:alphaModFix/>
          </a:blip>
          <a:srcRect b="0" l="0" r="0" t="0"/>
          <a:stretch/>
        </p:blipFill>
        <p:spPr>
          <a:xfrm>
            <a:off x="0" y="0"/>
            <a:ext cx="12192000" cy="68580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4" name="Shape 474"/>
        <p:cNvGrpSpPr/>
        <p:nvPr/>
      </p:nvGrpSpPr>
      <p:grpSpPr>
        <a:xfrm>
          <a:off x="0" y="0"/>
          <a:ext cx="0" cy="0"/>
          <a:chOff x="0" y="0"/>
          <a:chExt cx="0" cy="0"/>
        </a:xfrm>
      </p:grpSpPr>
      <p:sp>
        <p:nvSpPr>
          <p:cNvPr id="475" name="Google Shape;475;g35c0e3b69f0_0_23"/>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4000"/>
              <a:buNone/>
            </a:pPr>
            <a:r>
              <a:t/>
            </a:r>
            <a:endParaRPr/>
          </a:p>
        </p:txBody>
      </p:sp>
      <p:sp>
        <p:nvSpPr>
          <p:cNvPr id="476" name="Google Shape;476;g35c0e3b69f0_0_23"/>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SzPts val="1800"/>
              <a:buNone/>
            </a:pPr>
            <a:r>
              <a:t/>
            </a:r>
            <a:endParaRPr/>
          </a:p>
        </p:txBody>
      </p:sp>
      <p:pic>
        <p:nvPicPr>
          <p:cNvPr id="477" name="Google Shape;477;g35c0e3b69f0_0_23"/>
          <p:cNvPicPr preferRelativeResize="0"/>
          <p:nvPr/>
        </p:nvPicPr>
        <p:blipFill rotWithShape="1">
          <a:blip r:embed="rId3">
            <a:alphaModFix/>
          </a:blip>
          <a:srcRect b="0" l="0" r="0" t="0"/>
          <a:stretch/>
        </p:blipFill>
        <p:spPr>
          <a:xfrm>
            <a:off x="0" y="0"/>
            <a:ext cx="12192000" cy="685800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g35c0e3b69f0_0_30"/>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4000"/>
              <a:buNone/>
            </a:pPr>
            <a:r>
              <a:t/>
            </a:r>
            <a:endParaRPr/>
          </a:p>
        </p:txBody>
      </p:sp>
      <p:sp>
        <p:nvSpPr>
          <p:cNvPr id="484" name="Google Shape;484;g35c0e3b69f0_0_30"/>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SzPts val="1800"/>
              <a:buNone/>
            </a:pPr>
            <a:r>
              <a:t/>
            </a:r>
            <a:endParaRPr/>
          </a:p>
        </p:txBody>
      </p:sp>
      <p:pic>
        <p:nvPicPr>
          <p:cNvPr id="485" name="Google Shape;485;g35c0e3b69f0_0_30"/>
          <p:cNvPicPr preferRelativeResize="0"/>
          <p:nvPr/>
        </p:nvPicPr>
        <p:blipFill rotWithShape="1">
          <a:blip r:embed="rId3">
            <a:alphaModFix/>
          </a:blip>
          <a:srcRect b="0" l="0" r="0" t="0"/>
          <a:stretch/>
        </p:blipFill>
        <p:spPr>
          <a:xfrm>
            <a:off x="0" y="0"/>
            <a:ext cx="12192000" cy="685800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0" name="Shape 490"/>
        <p:cNvGrpSpPr/>
        <p:nvPr/>
      </p:nvGrpSpPr>
      <p:grpSpPr>
        <a:xfrm>
          <a:off x="0" y="0"/>
          <a:ext cx="0" cy="0"/>
          <a:chOff x="0" y="0"/>
          <a:chExt cx="0" cy="0"/>
        </a:xfrm>
      </p:grpSpPr>
      <p:sp>
        <p:nvSpPr>
          <p:cNvPr id="491" name="Google Shape;491;g35c0e3b69f0_0_37"/>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4000"/>
              <a:buNone/>
            </a:pPr>
            <a:r>
              <a:t/>
            </a:r>
            <a:endParaRPr/>
          </a:p>
        </p:txBody>
      </p:sp>
      <p:sp>
        <p:nvSpPr>
          <p:cNvPr id="492" name="Google Shape;492;g35c0e3b69f0_0_37"/>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SzPts val="1800"/>
              <a:buNone/>
            </a:pPr>
            <a:r>
              <a:t/>
            </a:r>
            <a:endParaRPr/>
          </a:p>
        </p:txBody>
      </p:sp>
      <p:pic>
        <p:nvPicPr>
          <p:cNvPr id="493" name="Google Shape;493;g35c0e3b69f0_0_37"/>
          <p:cNvPicPr preferRelativeResize="0"/>
          <p:nvPr/>
        </p:nvPicPr>
        <p:blipFill rotWithShape="1">
          <a:blip r:embed="rId3">
            <a:alphaModFix/>
          </a:blip>
          <a:srcRect b="0" l="0" r="0" t="0"/>
          <a:stretch/>
        </p:blipFill>
        <p:spPr>
          <a:xfrm>
            <a:off x="0" y="0"/>
            <a:ext cx="12192000" cy="685800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8" name="Shape 498"/>
        <p:cNvGrpSpPr/>
        <p:nvPr/>
      </p:nvGrpSpPr>
      <p:grpSpPr>
        <a:xfrm>
          <a:off x="0" y="0"/>
          <a:ext cx="0" cy="0"/>
          <a:chOff x="0" y="0"/>
          <a:chExt cx="0" cy="0"/>
        </a:xfrm>
      </p:grpSpPr>
      <p:sp>
        <p:nvSpPr>
          <p:cNvPr id="499" name="Google Shape;499;g35c0e3b69f0_0_47"/>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4000"/>
              <a:buNone/>
            </a:pPr>
            <a:r>
              <a:rPr b="1" lang="en-MY" sz="2900">
                <a:latin typeface="Arial"/>
                <a:ea typeface="Arial"/>
                <a:cs typeface="Arial"/>
                <a:sym typeface="Arial"/>
              </a:rPr>
              <a:t>BURNUP CHART</a:t>
            </a:r>
            <a:endParaRPr b="1" sz="2900">
              <a:latin typeface="Arial"/>
              <a:ea typeface="Arial"/>
              <a:cs typeface="Arial"/>
              <a:sym typeface="Arial"/>
            </a:endParaRPr>
          </a:p>
        </p:txBody>
      </p:sp>
      <p:sp>
        <p:nvSpPr>
          <p:cNvPr id="500" name="Google Shape;500;g35c0e3b69f0_0_47"/>
          <p:cNvSpPr txBox="1"/>
          <p:nvPr>
            <p:ph idx="1" type="body"/>
          </p:nvPr>
        </p:nvSpPr>
        <p:spPr>
          <a:xfrm>
            <a:off x="838200" y="1550700"/>
            <a:ext cx="10515600" cy="4138200"/>
          </a:xfrm>
          <a:prstGeom prst="rect">
            <a:avLst/>
          </a:prstGeom>
          <a:noFill/>
          <a:ln>
            <a:noFill/>
          </a:ln>
        </p:spPr>
        <p:txBody>
          <a:bodyPr anchorCtr="0" anchor="t" bIns="45700" lIns="91425" spcFirstLastPara="1" rIns="91425" wrap="square" tIns="45700">
            <a:normAutofit/>
          </a:bodyPr>
          <a:lstStyle/>
          <a:p>
            <a:pPr indent="0" lvl="0" marL="457200" rtl="0" algn="l">
              <a:lnSpc>
                <a:spcPct val="90000"/>
              </a:lnSpc>
              <a:spcBef>
                <a:spcPts val="1000"/>
              </a:spcBef>
              <a:spcAft>
                <a:spcPts val="0"/>
              </a:spcAft>
              <a:buSzPts val="1800"/>
              <a:buNone/>
            </a:pPr>
            <a:r>
              <a:t/>
            </a:r>
            <a:endParaRPr>
              <a:solidFill>
                <a:srgbClr val="101423"/>
              </a:solidFill>
              <a:highlight>
                <a:srgbClr val="ECF1F7"/>
              </a:highlight>
              <a:latin typeface="Arial"/>
              <a:ea typeface="Arial"/>
              <a:cs typeface="Arial"/>
              <a:sym typeface="Arial"/>
            </a:endParaRPr>
          </a:p>
          <a:p>
            <a:pPr indent="-342900" lvl="0" marL="457200" rtl="0" algn="l">
              <a:lnSpc>
                <a:spcPct val="90000"/>
              </a:lnSpc>
              <a:spcBef>
                <a:spcPts val="1000"/>
              </a:spcBef>
              <a:spcAft>
                <a:spcPts val="0"/>
              </a:spcAft>
              <a:buClr>
                <a:srgbClr val="101423"/>
              </a:buClr>
              <a:buSzPts val="1800"/>
              <a:buFont typeface="Arial"/>
              <a:buChar char="●"/>
            </a:pPr>
            <a:r>
              <a:rPr lang="en-MY">
                <a:solidFill>
                  <a:srgbClr val="101423"/>
                </a:solidFill>
                <a:latin typeface="Arial"/>
                <a:ea typeface="Arial"/>
                <a:cs typeface="Arial"/>
                <a:sym typeface="Arial"/>
              </a:rPr>
              <a:t>A visual tool for project managers and their teams to see how much work has been done and how much work is left.</a:t>
            </a:r>
            <a:endParaRPr>
              <a:solidFill>
                <a:srgbClr val="101423"/>
              </a:solidFill>
              <a:latin typeface="Arial"/>
              <a:ea typeface="Arial"/>
              <a:cs typeface="Arial"/>
              <a:sym typeface="Arial"/>
            </a:endParaRPr>
          </a:p>
          <a:p>
            <a:pPr indent="-355600" lvl="0" marL="457200" rtl="0" algn="l">
              <a:lnSpc>
                <a:spcPct val="90000"/>
              </a:lnSpc>
              <a:spcBef>
                <a:spcPts val="0"/>
              </a:spcBef>
              <a:spcAft>
                <a:spcPts val="0"/>
              </a:spcAft>
              <a:buClr>
                <a:srgbClr val="101423"/>
              </a:buClr>
              <a:buSzPts val="2000"/>
              <a:buFont typeface="Arial"/>
              <a:buChar char="●"/>
            </a:pPr>
            <a:r>
              <a:rPr lang="en-MY">
                <a:solidFill>
                  <a:srgbClr val="101423"/>
                </a:solidFill>
                <a:latin typeface="Arial"/>
                <a:ea typeface="Arial"/>
                <a:cs typeface="Arial"/>
                <a:sym typeface="Arial"/>
              </a:rPr>
              <a:t>Used for tracking work in a project schedule or during a sprint in a scrum.</a:t>
            </a:r>
            <a:endParaRPr sz="2000">
              <a:solidFill>
                <a:srgbClr val="101423"/>
              </a:solidFill>
              <a:highlight>
                <a:srgbClr val="ECF1F7"/>
              </a:highlight>
              <a:latin typeface="Arial"/>
              <a:ea typeface="Arial"/>
              <a:cs typeface="Arial"/>
              <a:sym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5" name="Shape 505"/>
        <p:cNvGrpSpPr/>
        <p:nvPr/>
      </p:nvGrpSpPr>
      <p:grpSpPr>
        <a:xfrm>
          <a:off x="0" y="0"/>
          <a:ext cx="0" cy="0"/>
          <a:chOff x="0" y="0"/>
          <a:chExt cx="0" cy="0"/>
        </a:xfrm>
      </p:grpSpPr>
      <p:sp>
        <p:nvSpPr>
          <p:cNvPr id="506" name="Google Shape;506;g35c0e3b69f0_0_56"/>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4000"/>
              <a:buNone/>
            </a:pPr>
            <a:r>
              <a:rPr lang="en-MY"/>
              <a:t>Example of Burnup Chart</a:t>
            </a:r>
            <a:endParaRPr/>
          </a:p>
        </p:txBody>
      </p:sp>
      <p:sp>
        <p:nvSpPr>
          <p:cNvPr id="507" name="Google Shape;507;g35c0e3b69f0_0_56"/>
          <p:cNvSpPr txBox="1"/>
          <p:nvPr>
            <p:ph idx="1" type="body"/>
          </p:nvPr>
        </p:nvSpPr>
        <p:spPr>
          <a:xfrm>
            <a:off x="446775" y="1765400"/>
            <a:ext cx="6555300" cy="2296200"/>
          </a:xfrm>
          <a:prstGeom prst="rect">
            <a:avLst/>
          </a:prstGeom>
          <a:noFill/>
          <a:ln>
            <a:noFill/>
          </a:ln>
        </p:spPr>
        <p:txBody>
          <a:bodyPr anchorCtr="0" anchor="t" bIns="45700" lIns="91425" spcFirstLastPara="1" rIns="91425" wrap="square" tIns="45700">
            <a:normAutofit/>
          </a:bodyPr>
          <a:lstStyle/>
          <a:p>
            <a:pPr indent="-346075" lvl="0" marL="457200" rtl="0" algn="just">
              <a:lnSpc>
                <a:spcPct val="90000"/>
              </a:lnSpc>
              <a:spcBef>
                <a:spcPts val="1000"/>
              </a:spcBef>
              <a:spcAft>
                <a:spcPts val="0"/>
              </a:spcAft>
              <a:buClr>
                <a:srgbClr val="333333"/>
              </a:buClr>
              <a:buSzPts val="1850"/>
              <a:buFont typeface="Arial"/>
              <a:buChar char="•"/>
            </a:pPr>
            <a:r>
              <a:rPr lang="en-MY" sz="1850">
                <a:solidFill>
                  <a:srgbClr val="333333"/>
                </a:solidFill>
                <a:highlight>
                  <a:srgbClr val="FFFFFF"/>
                </a:highlight>
                <a:latin typeface="Arial"/>
                <a:ea typeface="Arial"/>
                <a:cs typeface="Arial"/>
                <a:sym typeface="Arial"/>
              </a:rPr>
              <a:t>The vertical axis is amount of work, and is measured in units customized to your own project. Some common units are number of tasks, estimated hours or story points (in agile project management methodologies). </a:t>
            </a:r>
            <a:endParaRPr sz="1850">
              <a:solidFill>
                <a:srgbClr val="333333"/>
              </a:solidFill>
              <a:highlight>
                <a:srgbClr val="FFFFFF"/>
              </a:highlight>
              <a:latin typeface="Arial"/>
              <a:ea typeface="Arial"/>
              <a:cs typeface="Arial"/>
              <a:sym typeface="Arial"/>
            </a:endParaRPr>
          </a:p>
          <a:p>
            <a:pPr indent="0" lvl="0" marL="0" rtl="0" algn="just">
              <a:lnSpc>
                <a:spcPct val="90000"/>
              </a:lnSpc>
              <a:spcBef>
                <a:spcPts val="1000"/>
              </a:spcBef>
              <a:spcAft>
                <a:spcPts val="0"/>
              </a:spcAft>
              <a:buSzPts val="1800"/>
              <a:buNone/>
            </a:pPr>
            <a:r>
              <a:t/>
            </a:r>
            <a:endParaRPr sz="1850">
              <a:solidFill>
                <a:srgbClr val="333333"/>
              </a:solidFill>
              <a:highlight>
                <a:srgbClr val="FFFFFF"/>
              </a:highlight>
              <a:latin typeface="Arial"/>
              <a:ea typeface="Arial"/>
              <a:cs typeface="Arial"/>
              <a:sym typeface="Arial"/>
            </a:endParaRPr>
          </a:p>
          <a:p>
            <a:pPr indent="-346075" lvl="0" marL="457200" rtl="0" algn="just">
              <a:lnSpc>
                <a:spcPct val="90000"/>
              </a:lnSpc>
              <a:spcBef>
                <a:spcPts val="1000"/>
              </a:spcBef>
              <a:spcAft>
                <a:spcPts val="0"/>
              </a:spcAft>
              <a:buClr>
                <a:srgbClr val="333333"/>
              </a:buClr>
              <a:buSzPts val="1850"/>
              <a:buFont typeface="Arial"/>
              <a:buChar char="•"/>
            </a:pPr>
            <a:r>
              <a:rPr lang="en-MY" sz="1850">
                <a:solidFill>
                  <a:srgbClr val="333333"/>
                </a:solidFill>
                <a:highlight>
                  <a:srgbClr val="FFFFFF"/>
                </a:highlight>
                <a:latin typeface="Arial"/>
                <a:ea typeface="Arial"/>
                <a:cs typeface="Arial"/>
                <a:sym typeface="Arial"/>
              </a:rPr>
              <a:t>The horizontal axis is time, usually measured in days.</a:t>
            </a:r>
            <a:endParaRPr sz="3600"/>
          </a:p>
        </p:txBody>
      </p:sp>
      <p:pic>
        <p:nvPicPr>
          <p:cNvPr id="508" name="Google Shape;508;g35c0e3b69f0_0_56"/>
          <p:cNvPicPr preferRelativeResize="0"/>
          <p:nvPr/>
        </p:nvPicPr>
        <p:blipFill rotWithShape="1">
          <a:blip r:embed="rId3">
            <a:alphaModFix/>
          </a:blip>
          <a:srcRect b="0" l="0" r="0" t="0"/>
          <a:stretch/>
        </p:blipFill>
        <p:spPr>
          <a:xfrm>
            <a:off x="7096025" y="1572000"/>
            <a:ext cx="4720876" cy="355425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3" name="Shape 513"/>
        <p:cNvGrpSpPr/>
        <p:nvPr/>
      </p:nvGrpSpPr>
      <p:grpSpPr>
        <a:xfrm>
          <a:off x="0" y="0"/>
          <a:ext cx="0" cy="0"/>
          <a:chOff x="0" y="0"/>
          <a:chExt cx="0" cy="0"/>
        </a:xfrm>
      </p:grpSpPr>
      <p:sp>
        <p:nvSpPr>
          <p:cNvPr id="514" name="Google Shape;514;g35c0e3b69f0_0_62"/>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SzPts val="4000"/>
              <a:buNone/>
            </a:pPr>
            <a:r>
              <a:rPr lang="en-MY"/>
              <a:t>Burndown vs Burnup Charts</a:t>
            </a:r>
            <a:endParaRPr/>
          </a:p>
        </p:txBody>
      </p:sp>
      <p:sp>
        <p:nvSpPr>
          <p:cNvPr id="515" name="Google Shape;515;g35c0e3b69f0_0_62"/>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p>
            <a:pPr indent="-384175" lvl="0" marL="457200" rtl="0" algn="l">
              <a:lnSpc>
                <a:spcPct val="90000"/>
              </a:lnSpc>
              <a:spcBef>
                <a:spcPts val="1000"/>
              </a:spcBef>
              <a:spcAft>
                <a:spcPts val="0"/>
              </a:spcAft>
              <a:buClr>
                <a:srgbClr val="1C1C1E"/>
              </a:buClr>
              <a:buSzPts val="2450"/>
              <a:buFont typeface="Arial"/>
              <a:buChar char="•"/>
            </a:pPr>
            <a:r>
              <a:rPr lang="en-MY" sz="2450">
                <a:solidFill>
                  <a:srgbClr val="1C1C1E"/>
                </a:solidFill>
                <a:highlight>
                  <a:srgbClr val="FAFAFC"/>
                </a:highlight>
                <a:latin typeface="Arial"/>
                <a:ea typeface="Arial"/>
                <a:cs typeface="Arial"/>
                <a:sym typeface="Arial"/>
              </a:rPr>
              <a:t>A burnup chart shows both completed work and total project scope, making it easier to track scope changes</a:t>
            </a:r>
            <a:endParaRPr sz="2450">
              <a:solidFill>
                <a:srgbClr val="1C1C1E"/>
              </a:solidFill>
              <a:highlight>
                <a:srgbClr val="FAFAFC"/>
              </a:highlight>
              <a:latin typeface="Arial"/>
              <a:ea typeface="Arial"/>
              <a:cs typeface="Arial"/>
              <a:sym typeface="Arial"/>
            </a:endParaRPr>
          </a:p>
          <a:p>
            <a:pPr indent="-228600" lvl="0" marL="457200" rtl="0" algn="l">
              <a:lnSpc>
                <a:spcPct val="90000"/>
              </a:lnSpc>
              <a:spcBef>
                <a:spcPts val="0"/>
              </a:spcBef>
              <a:spcAft>
                <a:spcPts val="0"/>
              </a:spcAft>
              <a:buClr>
                <a:srgbClr val="1C1C1E"/>
              </a:buClr>
              <a:buSzPts val="1800"/>
              <a:buFont typeface="Arial"/>
              <a:buNone/>
            </a:pPr>
            <a:r>
              <a:t/>
            </a:r>
            <a:endParaRPr sz="2450">
              <a:solidFill>
                <a:srgbClr val="1C1C1E"/>
              </a:solidFill>
              <a:highlight>
                <a:srgbClr val="FAFAFC"/>
              </a:highlight>
              <a:latin typeface="Arial"/>
              <a:ea typeface="Arial"/>
              <a:cs typeface="Arial"/>
              <a:sym typeface="Arial"/>
            </a:endParaRPr>
          </a:p>
          <a:p>
            <a:pPr indent="-342900" lvl="0" marL="457200" rtl="0" algn="l">
              <a:lnSpc>
                <a:spcPct val="90000"/>
              </a:lnSpc>
              <a:spcBef>
                <a:spcPts val="0"/>
              </a:spcBef>
              <a:spcAft>
                <a:spcPts val="0"/>
              </a:spcAft>
              <a:buClr>
                <a:srgbClr val="1C1C1E"/>
              </a:buClr>
              <a:buSzPts val="1800"/>
              <a:buFont typeface="Arial"/>
              <a:buChar char="•"/>
            </a:pPr>
            <a:r>
              <a:rPr lang="en-MY" sz="2450">
                <a:solidFill>
                  <a:srgbClr val="1C1C1E"/>
                </a:solidFill>
                <a:highlight>
                  <a:srgbClr val="FAFAFC"/>
                </a:highlight>
                <a:latin typeface="Arial"/>
                <a:ea typeface="Arial"/>
                <a:cs typeface="Arial"/>
                <a:sym typeface="Arial"/>
              </a:rPr>
              <a:t>A burndown chart, however, focuses solely on the remaining work, providing a clear view of what’s left to do.</a:t>
            </a:r>
            <a:r>
              <a:rPr lang="en-MY" sz="1350">
                <a:solidFill>
                  <a:srgbClr val="1C1C1E"/>
                </a:solidFill>
                <a:highlight>
                  <a:srgbClr val="FAFAFC"/>
                </a:highlight>
                <a:latin typeface="Arial"/>
                <a:ea typeface="Arial"/>
                <a:cs typeface="Arial"/>
                <a:sym typeface="Arial"/>
              </a:rPr>
              <a:t> </a:t>
            </a:r>
            <a:endParaRPr sz="1350">
              <a:solidFill>
                <a:srgbClr val="1C1C1E"/>
              </a:solidFill>
              <a:highlight>
                <a:srgbClr val="FAFAFC"/>
              </a:highlight>
              <a:latin typeface="Arial"/>
              <a:ea typeface="Arial"/>
              <a:cs typeface="Arial"/>
              <a:sym typeface="Arial"/>
            </a:endParaRPr>
          </a:p>
          <a:p>
            <a:pPr indent="0" lvl="0" marL="457200" rtl="0" algn="l">
              <a:lnSpc>
                <a:spcPct val="90000"/>
              </a:lnSpc>
              <a:spcBef>
                <a:spcPts val="1000"/>
              </a:spcBef>
              <a:spcAft>
                <a:spcPts val="0"/>
              </a:spcAft>
              <a:buSzPts val="1800"/>
              <a:buNone/>
            </a:pPr>
            <a:r>
              <a:t/>
            </a:r>
            <a:endParaRPr sz="1350">
              <a:solidFill>
                <a:srgbClr val="1C1C1E"/>
              </a:solidFill>
              <a:highlight>
                <a:srgbClr val="FAFAFC"/>
              </a:highlight>
              <a:latin typeface="Arial"/>
              <a:ea typeface="Arial"/>
              <a:cs typeface="Arial"/>
              <a:sym typeface="Arial"/>
            </a:endParaRPr>
          </a:p>
          <a:p>
            <a:pPr indent="-384175" lvl="0" marL="457200" rtl="0" algn="l">
              <a:lnSpc>
                <a:spcPct val="90000"/>
              </a:lnSpc>
              <a:spcBef>
                <a:spcPts val="1000"/>
              </a:spcBef>
              <a:spcAft>
                <a:spcPts val="0"/>
              </a:spcAft>
              <a:buClr>
                <a:srgbClr val="1C1C1E"/>
              </a:buClr>
              <a:buSzPts val="2450"/>
              <a:buFont typeface="Arial"/>
              <a:buChar char="•"/>
            </a:pPr>
            <a:r>
              <a:rPr lang="en-MY" sz="2450">
                <a:solidFill>
                  <a:srgbClr val="1C1C1E"/>
                </a:solidFill>
                <a:highlight>
                  <a:srgbClr val="FAFAFC"/>
                </a:highlight>
                <a:latin typeface="Arial"/>
                <a:ea typeface="Arial"/>
                <a:cs typeface="Arial"/>
                <a:sym typeface="Arial"/>
              </a:rPr>
              <a:t>Burnup charts offer a more comprehensive view, while burndown charts are simpler and more focused.</a:t>
            </a:r>
            <a:endParaRPr sz="2450">
              <a:solidFill>
                <a:srgbClr val="1C1C1E"/>
              </a:solidFill>
              <a:highlight>
                <a:srgbClr val="FAFAFC"/>
              </a:highlight>
              <a:latin typeface="Arial"/>
              <a:ea typeface="Arial"/>
              <a:cs typeface="Arial"/>
              <a:sym typeface="Arial"/>
            </a:endParaRPr>
          </a:p>
          <a:p>
            <a:pPr indent="0" lvl="0" marL="457200" rtl="0" algn="l">
              <a:lnSpc>
                <a:spcPct val="90000"/>
              </a:lnSpc>
              <a:spcBef>
                <a:spcPts val="1000"/>
              </a:spcBef>
              <a:spcAft>
                <a:spcPts val="0"/>
              </a:spcAft>
              <a:buSzPts val="1800"/>
              <a:buNone/>
            </a:pPr>
            <a:r>
              <a:t/>
            </a:r>
            <a:endParaRPr sz="2450">
              <a:solidFill>
                <a:srgbClr val="1C1C1E"/>
              </a:solidFill>
              <a:highlight>
                <a:srgbClr val="FAFAFC"/>
              </a:highlight>
              <a:latin typeface="Arial"/>
              <a:ea typeface="Arial"/>
              <a:cs typeface="Arial"/>
              <a:sym typeface="Arial"/>
            </a:endParaRPr>
          </a:p>
          <a:p>
            <a:pPr indent="-374650" lvl="0" marL="457200" rtl="0" algn="l">
              <a:lnSpc>
                <a:spcPct val="90000"/>
              </a:lnSpc>
              <a:spcBef>
                <a:spcPts val="1000"/>
              </a:spcBef>
              <a:spcAft>
                <a:spcPts val="0"/>
              </a:spcAft>
              <a:buClr>
                <a:srgbClr val="1C1C1E"/>
              </a:buClr>
              <a:buSzPts val="2300"/>
              <a:buFont typeface="Arial"/>
              <a:buChar char="•"/>
            </a:pPr>
            <a:r>
              <a:rPr lang="en-MY" sz="2300">
                <a:solidFill>
                  <a:srgbClr val="1C1C1E"/>
                </a:solidFill>
                <a:highlight>
                  <a:srgbClr val="FAFAFC"/>
                </a:highlight>
                <a:latin typeface="Arial"/>
                <a:ea typeface="Arial"/>
                <a:cs typeface="Arial"/>
                <a:sym typeface="Arial"/>
              </a:rPr>
              <a:t>Burnup charts are ideal for projects where scope changes frequently. </a:t>
            </a:r>
            <a:r>
              <a:rPr lang="en-MY" sz="2350">
                <a:solidFill>
                  <a:srgbClr val="1C1C1E"/>
                </a:solidFill>
                <a:highlight>
                  <a:srgbClr val="FAFAFC"/>
                </a:highlight>
                <a:latin typeface="Arial"/>
                <a:ea typeface="Arial"/>
                <a:cs typeface="Arial"/>
                <a:sym typeface="Arial"/>
              </a:rPr>
              <a:t>Burndown charts shine in projects with a fixed scope.</a:t>
            </a:r>
            <a:endParaRPr sz="3300">
              <a:solidFill>
                <a:srgbClr val="1C1C1E"/>
              </a:solidFill>
              <a:highlight>
                <a:srgbClr val="FAFAFC"/>
              </a:highlight>
              <a:latin typeface="Arial"/>
              <a:ea typeface="Arial"/>
              <a:cs typeface="Arial"/>
              <a:sym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0" name="Shape 520"/>
        <p:cNvGrpSpPr/>
        <p:nvPr/>
      </p:nvGrpSpPr>
      <p:grpSpPr>
        <a:xfrm>
          <a:off x="0" y="0"/>
          <a:ext cx="0" cy="0"/>
          <a:chOff x="0" y="0"/>
          <a:chExt cx="0" cy="0"/>
        </a:xfrm>
      </p:grpSpPr>
      <p:sp>
        <p:nvSpPr>
          <p:cNvPr id="521" name="Google Shape;521;g35afd35145d_0_84"/>
          <p:cNvSpPr txBox="1"/>
          <p:nvPr>
            <p:ph type="title"/>
          </p:nvPr>
        </p:nvSpPr>
        <p:spPr>
          <a:xfrm>
            <a:off x="831850" y="1047751"/>
            <a:ext cx="10515600" cy="1500300"/>
          </a:xfrm>
          <a:prstGeom prst="rect">
            <a:avLst/>
          </a:prstGeom>
          <a:noFill/>
          <a:ln>
            <a:noFill/>
          </a:ln>
        </p:spPr>
        <p:txBody>
          <a:bodyPr anchorCtr="0" anchor="t" bIns="45700" lIns="91425" spcFirstLastPara="1" rIns="91425" wrap="square" tIns="45700">
            <a:normAutofit/>
          </a:bodyPr>
          <a:lstStyle/>
          <a:p>
            <a:pPr indent="0" lvl="0" marL="0" rtl="0" algn="ctr">
              <a:lnSpc>
                <a:spcPct val="115000"/>
              </a:lnSpc>
              <a:spcBef>
                <a:spcPts val="1200"/>
              </a:spcBef>
              <a:spcAft>
                <a:spcPts val="0"/>
              </a:spcAft>
              <a:buClr>
                <a:schemeClr val="dk1"/>
              </a:buClr>
              <a:buSzPts val="1100"/>
              <a:buFont typeface="Arial"/>
              <a:buNone/>
            </a:pPr>
            <a:r>
              <a:rPr b="1" lang="en-MY" sz="2900">
                <a:latin typeface="Arial"/>
                <a:ea typeface="Arial"/>
                <a:cs typeface="Arial"/>
                <a:sym typeface="Arial"/>
              </a:rPr>
              <a:t>SPRINT REVIEW</a:t>
            </a:r>
            <a:endParaRPr b="1" sz="2900">
              <a:latin typeface="Arial"/>
              <a:ea typeface="Arial"/>
              <a:cs typeface="Arial"/>
              <a:sym typeface="Arial"/>
            </a:endParaRPr>
          </a:p>
          <a:p>
            <a:pPr indent="0" lvl="0" marL="0" rtl="0" algn="l">
              <a:lnSpc>
                <a:spcPct val="90000"/>
              </a:lnSpc>
              <a:spcBef>
                <a:spcPts val="1200"/>
              </a:spcBef>
              <a:spcAft>
                <a:spcPts val="0"/>
              </a:spcAft>
              <a:buSzPts val="4000"/>
              <a:buNone/>
            </a:pPr>
            <a:r>
              <a:t/>
            </a:r>
            <a:endParaRPr/>
          </a:p>
        </p:txBody>
      </p:sp>
      <p:sp>
        <p:nvSpPr>
          <p:cNvPr id="522" name="Google Shape;522;g35afd35145d_0_84"/>
          <p:cNvSpPr txBox="1"/>
          <p:nvPr>
            <p:ph idx="1" type="body"/>
          </p:nvPr>
        </p:nvSpPr>
        <p:spPr>
          <a:xfrm>
            <a:off x="831850" y="2000577"/>
            <a:ext cx="10515600" cy="3860100"/>
          </a:xfrm>
          <a:prstGeom prst="rect">
            <a:avLst/>
          </a:prstGeom>
          <a:noFill/>
          <a:ln>
            <a:noFill/>
          </a:ln>
        </p:spPr>
        <p:txBody>
          <a:bodyPr anchorCtr="0" anchor="t" bIns="45700" lIns="91425" spcFirstLastPara="1" rIns="91425" wrap="square" tIns="45700">
            <a:noAutofit/>
          </a:bodyPr>
          <a:lstStyle/>
          <a:p>
            <a:pPr indent="-355600" lvl="0" marL="457200" rtl="0" algn="l">
              <a:lnSpc>
                <a:spcPct val="115000"/>
              </a:lnSpc>
              <a:spcBef>
                <a:spcPts val="1200"/>
              </a:spcBef>
              <a:spcAft>
                <a:spcPts val="0"/>
              </a:spcAft>
              <a:buClr>
                <a:schemeClr val="dk1"/>
              </a:buClr>
              <a:buSzPts val="2000"/>
              <a:buChar char="●"/>
            </a:pPr>
            <a:r>
              <a:rPr b="1" lang="en-MY" sz="2000">
                <a:solidFill>
                  <a:schemeClr val="dk1"/>
                </a:solidFill>
                <a:latin typeface="Arial"/>
                <a:ea typeface="Arial"/>
                <a:cs typeface="Arial"/>
                <a:sym typeface="Arial"/>
              </a:rPr>
              <a:t>When:</a:t>
            </a:r>
            <a:r>
              <a:rPr lang="en-MY" sz="2000">
                <a:solidFill>
                  <a:schemeClr val="dk1"/>
                </a:solidFill>
                <a:latin typeface="Arial"/>
                <a:ea typeface="Arial"/>
                <a:cs typeface="Arial"/>
                <a:sym typeface="Arial"/>
              </a:rPr>
              <a:t> Held at the </a:t>
            </a:r>
            <a:r>
              <a:rPr b="1" lang="en-MY" sz="2000">
                <a:solidFill>
                  <a:schemeClr val="dk1"/>
                </a:solidFill>
                <a:latin typeface="Arial"/>
                <a:ea typeface="Arial"/>
                <a:cs typeface="Arial"/>
                <a:sym typeface="Arial"/>
              </a:rPr>
              <a:t>end of the Sprint</a:t>
            </a:r>
            <a:r>
              <a:rPr lang="en-MY" sz="2000">
                <a:solidFill>
                  <a:schemeClr val="dk1"/>
                </a:solidFill>
                <a:latin typeface="Arial"/>
                <a:ea typeface="Arial"/>
                <a:cs typeface="Arial"/>
                <a:sym typeface="Arial"/>
              </a:rPr>
              <a:t>.</a:t>
            </a:r>
            <a:endParaRPr sz="2000">
              <a:solidFill>
                <a:schemeClr val="dk1"/>
              </a:solidFill>
              <a:latin typeface="Arial"/>
              <a:ea typeface="Arial"/>
              <a:cs typeface="Arial"/>
              <a:sym typeface="Arial"/>
            </a:endParaRPr>
          </a:p>
          <a:p>
            <a:pPr indent="-355600" lvl="0" marL="457200" rtl="0" algn="l">
              <a:lnSpc>
                <a:spcPct val="115000"/>
              </a:lnSpc>
              <a:spcBef>
                <a:spcPts val="0"/>
              </a:spcBef>
              <a:spcAft>
                <a:spcPts val="0"/>
              </a:spcAft>
              <a:buClr>
                <a:schemeClr val="dk1"/>
              </a:buClr>
              <a:buSzPts val="2000"/>
              <a:buChar char="●"/>
            </a:pPr>
            <a:r>
              <a:rPr b="1" lang="en-MY" sz="2000">
                <a:solidFill>
                  <a:schemeClr val="dk1"/>
                </a:solidFill>
                <a:latin typeface="Arial"/>
                <a:ea typeface="Arial"/>
                <a:cs typeface="Arial"/>
                <a:sym typeface="Arial"/>
              </a:rPr>
              <a:t>Who:</a:t>
            </a:r>
            <a:r>
              <a:rPr lang="en-MY" sz="2000">
                <a:solidFill>
                  <a:schemeClr val="dk1"/>
                </a:solidFill>
                <a:latin typeface="Arial"/>
                <a:ea typeface="Arial"/>
                <a:cs typeface="Arial"/>
                <a:sym typeface="Arial"/>
              </a:rPr>
              <a:t> Scrum Team + Stakeholders.</a:t>
            </a:r>
            <a:endParaRPr sz="2000">
              <a:solidFill>
                <a:schemeClr val="dk1"/>
              </a:solidFill>
              <a:latin typeface="Arial"/>
              <a:ea typeface="Arial"/>
              <a:cs typeface="Arial"/>
              <a:sym typeface="Arial"/>
            </a:endParaRPr>
          </a:p>
          <a:p>
            <a:pPr indent="-355600" lvl="0" marL="457200" rtl="0" algn="l">
              <a:lnSpc>
                <a:spcPct val="115000"/>
              </a:lnSpc>
              <a:spcBef>
                <a:spcPts val="0"/>
              </a:spcBef>
              <a:spcAft>
                <a:spcPts val="0"/>
              </a:spcAft>
              <a:buClr>
                <a:schemeClr val="dk1"/>
              </a:buClr>
              <a:buSzPts val="2000"/>
              <a:buChar char="●"/>
            </a:pPr>
            <a:r>
              <a:rPr b="1" lang="en-MY" sz="2000">
                <a:solidFill>
                  <a:schemeClr val="dk1"/>
                </a:solidFill>
                <a:latin typeface="Arial"/>
                <a:ea typeface="Arial"/>
                <a:cs typeface="Arial"/>
                <a:sym typeface="Arial"/>
              </a:rPr>
              <a:t>Purpose:</a:t>
            </a:r>
            <a:r>
              <a:rPr lang="en-MY" sz="2000">
                <a:solidFill>
                  <a:schemeClr val="dk1"/>
                </a:solidFill>
                <a:latin typeface="Arial"/>
                <a:ea typeface="Arial"/>
                <a:cs typeface="Arial"/>
                <a:sym typeface="Arial"/>
              </a:rPr>
              <a:t> To </a:t>
            </a:r>
            <a:r>
              <a:rPr b="1" lang="en-MY" sz="2000">
                <a:solidFill>
                  <a:schemeClr val="dk1"/>
                </a:solidFill>
                <a:latin typeface="Arial"/>
                <a:ea typeface="Arial"/>
                <a:cs typeface="Arial"/>
                <a:sym typeface="Arial"/>
              </a:rPr>
              <a:t>inspect the increment</a:t>
            </a:r>
            <a:r>
              <a:rPr lang="en-MY" sz="2000">
                <a:solidFill>
                  <a:schemeClr val="dk1"/>
                </a:solidFill>
                <a:latin typeface="Arial"/>
                <a:ea typeface="Arial"/>
                <a:cs typeface="Arial"/>
                <a:sym typeface="Arial"/>
              </a:rPr>
              <a:t> and adapt the Product Backlog if needed.</a:t>
            </a:r>
            <a:endParaRPr sz="2000">
              <a:solidFill>
                <a:schemeClr val="dk1"/>
              </a:solidFill>
              <a:latin typeface="Arial"/>
              <a:ea typeface="Arial"/>
              <a:cs typeface="Arial"/>
              <a:sym typeface="Arial"/>
            </a:endParaRPr>
          </a:p>
          <a:p>
            <a:pPr indent="-355600" lvl="0" marL="457200" rtl="0" algn="l">
              <a:lnSpc>
                <a:spcPct val="115000"/>
              </a:lnSpc>
              <a:spcBef>
                <a:spcPts val="0"/>
              </a:spcBef>
              <a:spcAft>
                <a:spcPts val="0"/>
              </a:spcAft>
              <a:buClr>
                <a:schemeClr val="dk1"/>
              </a:buClr>
              <a:buSzPts val="2000"/>
              <a:buChar char="●"/>
            </a:pPr>
            <a:r>
              <a:rPr b="1" lang="en-MY" sz="2000">
                <a:solidFill>
                  <a:schemeClr val="dk1"/>
                </a:solidFill>
                <a:latin typeface="Arial"/>
                <a:ea typeface="Arial"/>
                <a:cs typeface="Arial"/>
                <a:sym typeface="Arial"/>
              </a:rPr>
              <a:t>Activities:</a:t>
            </a:r>
            <a:endParaRPr b="1" sz="2000">
              <a:solidFill>
                <a:schemeClr val="dk1"/>
              </a:solidFill>
              <a:latin typeface="Arial"/>
              <a:ea typeface="Arial"/>
              <a:cs typeface="Arial"/>
              <a:sym typeface="Arial"/>
            </a:endParaRPr>
          </a:p>
          <a:p>
            <a:pPr indent="-355600" lvl="1" marL="914400" rtl="0" algn="l">
              <a:lnSpc>
                <a:spcPct val="115000"/>
              </a:lnSpc>
              <a:spcBef>
                <a:spcPts val="0"/>
              </a:spcBef>
              <a:spcAft>
                <a:spcPts val="0"/>
              </a:spcAft>
              <a:buClr>
                <a:schemeClr val="dk1"/>
              </a:buClr>
              <a:buSzPts val="2000"/>
              <a:buChar char="○"/>
            </a:pPr>
            <a:r>
              <a:rPr lang="en-MY">
                <a:solidFill>
                  <a:schemeClr val="dk1"/>
                </a:solidFill>
                <a:latin typeface="Arial"/>
                <a:ea typeface="Arial"/>
                <a:cs typeface="Arial"/>
                <a:sym typeface="Arial"/>
              </a:rPr>
              <a:t>Present the </a:t>
            </a:r>
            <a:r>
              <a:rPr b="1" lang="en-MY">
                <a:solidFill>
                  <a:schemeClr val="dk1"/>
                </a:solidFill>
                <a:latin typeface="Arial"/>
                <a:ea typeface="Arial"/>
                <a:cs typeface="Arial"/>
                <a:sym typeface="Arial"/>
              </a:rPr>
              <a:t>completed work (increment)</a:t>
            </a:r>
            <a:r>
              <a:rPr lang="en-MY">
                <a:solidFill>
                  <a:schemeClr val="dk1"/>
                </a:solidFill>
                <a:latin typeface="Arial"/>
                <a:ea typeface="Arial"/>
                <a:cs typeface="Arial"/>
                <a:sym typeface="Arial"/>
              </a:rPr>
              <a:t>.</a:t>
            </a:r>
            <a:endParaRPr>
              <a:solidFill>
                <a:schemeClr val="dk1"/>
              </a:solidFill>
              <a:latin typeface="Arial"/>
              <a:ea typeface="Arial"/>
              <a:cs typeface="Arial"/>
              <a:sym typeface="Arial"/>
            </a:endParaRPr>
          </a:p>
          <a:p>
            <a:pPr indent="-355600" lvl="1" marL="914400" rtl="0" algn="l">
              <a:lnSpc>
                <a:spcPct val="115000"/>
              </a:lnSpc>
              <a:spcBef>
                <a:spcPts val="0"/>
              </a:spcBef>
              <a:spcAft>
                <a:spcPts val="0"/>
              </a:spcAft>
              <a:buClr>
                <a:schemeClr val="dk1"/>
              </a:buClr>
              <a:buSzPts val="2000"/>
              <a:buChar char="○"/>
            </a:pPr>
            <a:r>
              <a:rPr lang="en-MY">
                <a:solidFill>
                  <a:schemeClr val="dk1"/>
                </a:solidFill>
                <a:latin typeface="Arial"/>
                <a:ea typeface="Arial"/>
                <a:cs typeface="Arial"/>
                <a:sym typeface="Arial"/>
              </a:rPr>
              <a:t>Discuss </a:t>
            </a:r>
            <a:r>
              <a:rPr b="1" lang="en-MY">
                <a:solidFill>
                  <a:schemeClr val="dk1"/>
                </a:solidFill>
                <a:latin typeface="Arial"/>
                <a:ea typeface="Arial"/>
                <a:cs typeface="Arial"/>
                <a:sym typeface="Arial"/>
              </a:rPr>
              <a:t>what went well and what did not</a:t>
            </a:r>
            <a:r>
              <a:rPr lang="en-MY">
                <a:solidFill>
                  <a:schemeClr val="dk1"/>
                </a:solidFill>
                <a:latin typeface="Arial"/>
                <a:ea typeface="Arial"/>
                <a:cs typeface="Arial"/>
                <a:sym typeface="Arial"/>
              </a:rPr>
              <a:t>.</a:t>
            </a:r>
            <a:endParaRPr>
              <a:solidFill>
                <a:schemeClr val="dk1"/>
              </a:solidFill>
              <a:latin typeface="Arial"/>
              <a:ea typeface="Arial"/>
              <a:cs typeface="Arial"/>
              <a:sym typeface="Arial"/>
            </a:endParaRPr>
          </a:p>
          <a:p>
            <a:pPr indent="-355600" lvl="1" marL="914400" rtl="0" algn="l">
              <a:lnSpc>
                <a:spcPct val="115000"/>
              </a:lnSpc>
              <a:spcBef>
                <a:spcPts val="0"/>
              </a:spcBef>
              <a:spcAft>
                <a:spcPts val="0"/>
              </a:spcAft>
              <a:buClr>
                <a:schemeClr val="dk1"/>
              </a:buClr>
              <a:buSzPts val="2000"/>
              <a:buChar char="○"/>
            </a:pPr>
            <a:r>
              <a:rPr lang="en-MY">
                <a:solidFill>
                  <a:schemeClr val="dk1"/>
                </a:solidFill>
                <a:latin typeface="Arial"/>
                <a:ea typeface="Arial"/>
                <a:cs typeface="Arial"/>
                <a:sym typeface="Arial"/>
              </a:rPr>
              <a:t>Collect feedback from stakeholders.</a:t>
            </a:r>
            <a:endParaRPr>
              <a:solidFill>
                <a:schemeClr val="dk1"/>
              </a:solidFill>
              <a:latin typeface="Arial"/>
              <a:ea typeface="Arial"/>
              <a:cs typeface="Arial"/>
              <a:sym typeface="Arial"/>
            </a:endParaRPr>
          </a:p>
          <a:p>
            <a:pPr indent="-355600" lvl="1" marL="914400" rtl="0" algn="l">
              <a:lnSpc>
                <a:spcPct val="115000"/>
              </a:lnSpc>
              <a:spcBef>
                <a:spcPts val="0"/>
              </a:spcBef>
              <a:spcAft>
                <a:spcPts val="0"/>
              </a:spcAft>
              <a:buClr>
                <a:schemeClr val="dk1"/>
              </a:buClr>
              <a:buSzPts val="2000"/>
              <a:buChar char="○"/>
            </a:pPr>
            <a:r>
              <a:rPr lang="en-MY">
                <a:solidFill>
                  <a:schemeClr val="dk1"/>
                </a:solidFill>
                <a:latin typeface="Arial"/>
                <a:ea typeface="Arial"/>
                <a:cs typeface="Arial"/>
                <a:sym typeface="Arial"/>
              </a:rPr>
              <a:t>Update the Product Backlog collaboratively.</a:t>
            </a:r>
            <a:endParaRPr>
              <a:solidFill>
                <a:schemeClr val="dk1"/>
              </a:solidFill>
              <a:latin typeface="Arial"/>
              <a:ea typeface="Arial"/>
              <a:cs typeface="Arial"/>
              <a:sym typeface="Arial"/>
            </a:endParaRPr>
          </a:p>
          <a:p>
            <a:pPr indent="-355600" lvl="0" marL="457200" rtl="0" algn="l">
              <a:lnSpc>
                <a:spcPct val="115000"/>
              </a:lnSpc>
              <a:spcBef>
                <a:spcPts val="0"/>
              </a:spcBef>
              <a:spcAft>
                <a:spcPts val="0"/>
              </a:spcAft>
              <a:buClr>
                <a:schemeClr val="dk1"/>
              </a:buClr>
              <a:buSzPts val="2000"/>
              <a:buChar char="●"/>
            </a:pPr>
            <a:r>
              <a:rPr b="1" lang="en-MY" sz="2000">
                <a:solidFill>
                  <a:schemeClr val="dk1"/>
                </a:solidFill>
                <a:latin typeface="Arial"/>
                <a:ea typeface="Arial"/>
                <a:cs typeface="Arial"/>
                <a:sym typeface="Arial"/>
              </a:rPr>
              <a:t>Key Benefit:</a:t>
            </a:r>
            <a:r>
              <a:rPr lang="en-MY" sz="2000">
                <a:solidFill>
                  <a:schemeClr val="dk1"/>
                </a:solidFill>
                <a:latin typeface="Arial"/>
                <a:ea typeface="Arial"/>
                <a:cs typeface="Arial"/>
                <a:sym typeface="Arial"/>
              </a:rPr>
              <a:t> Align stakeholders and adapt the product to changing requirements.</a:t>
            </a:r>
            <a:endParaRPr sz="2000">
              <a:solidFill>
                <a:schemeClr val="dk1"/>
              </a:solidFill>
              <a:latin typeface="Arial"/>
              <a:ea typeface="Arial"/>
              <a:cs typeface="Arial"/>
              <a:sym typeface="Arial"/>
            </a:endParaRPr>
          </a:p>
          <a:p>
            <a:pPr indent="0" lvl="0" marL="457200" rtl="0" algn="l">
              <a:lnSpc>
                <a:spcPct val="115000"/>
              </a:lnSpc>
              <a:spcBef>
                <a:spcPts val="1200"/>
              </a:spcBef>
              <a:spcAft>
                <a:spcPts val="0"/>
              </a:spcAft>
              <a:buSzPts val="2400"/>
              <a:buNone/>
            </a:pPr>
            <a:r>
              <a:t/>
            </a:r>
            <a:endParaRPr sz="2000">
              <a:solidFill>
                <a:schemeClr val="dk1"/>
              </a:solidFill>
              <a:latin typeface="Arial"/>
              <a:ea typeface="Arial"/>
              <a:cs typeface="Arial"/>
              <a:sym typeface="Arial"/>
            </a:endParaRPr>
          </a:p>
          <a:p>
            <a:pPr indent="0" lvl="0" marL="0" rtl="0" algn="l">
              <a:lnSpc>
                <a:spcPct val="90000"/>
              </a:lnSpc>
              <a:spcBef>
                <a:spcPts val="1200"/>
              </a:spcBef>
              <a:spcAft>
                <a:spcPts val="0"/>
              </a:spcAft>
              <a:buSzPts val="2400"/>
              <a:buNone/>
            </a:pPr>
            <a:r>
              <a:t/>
            </a:r>
            <a:endParaRPr sz="2000"/>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g35afd35145d_0_90"/>
          <p:cNvSpPr txBox="1"/>
          <p:nvPr>
            <p:ph type="title"/>
          </p:nvPr>
        </p:nvSpPr>
        <p:spPr>
          <a:xfrm>
            <a:off x="831850" y="1047751"/>
            <a:ext cx="10515600" cy="1500300"/>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1200"/>
              </a:spcBef>
              <a:spcAft>
                <a:spcPts val="0"/>
              </a:spcAft>
              <a:buClr>
                <a:schemeClr val="dk1"/>
              </a:buClr>
              <a:buSzPts val="1100"/>
              <a:buFont typeface="Arial"/>
              <a:buNone/>
            </a:pPr>
            <a:r>
              <a:rPr b="1" lang="en-MY" sz="2900">
                <a:latin typeface="Arial"/>
                <a:ea typeface="Arial"/>
                <a:cs typeface="Arial"/>
                <a:sym typeface="Arial"/>
              </a:rPr>
              <a:t>SPRINT RETROSPECTIVE</a:t>
            </a:r>
            <a:endParaRPr b="1" sz="2900">
              <a:latin typeface="Arial"/>
              <a:ea typeface="Arial"/>
              <a:cs typeface="Arial"/>
              <a:sym typeface="Arial"/>
            </a:endParaRPr>
          </a:p>
          <a:p>
            <a:pPr indent="0" lvl="0" marL="0" rtl="0" algn="l">
              <a:lnSpc>
                <a:spcPct val="100000"/>
              </a:lnSpc>
              <a:spcBef>
                <a:spcPts val="1200"/>
              </a:spcBef>
              <a:spcAft>
                <a:spcPts val="0"/>
              </a:spcAft>
              <a:buSzPts val="4000"/>
              <a:buNone/>
            </a:pPr>
            <a:r>
              <a:t/>
            </a:r>
            <a:endParaRPr sz="2000"/>
          </a:p>
        </p:txBody>
      </p:sp>
      <p:sp>
        <p:nvSpPr>
          <p:cNvPr id="529" name="Google Shape;529;g35afd35145d_0_90"/>
          <p:cNvSpPr txBox="1"/>
          <p:nvPr>
            <p:ph idx="1" type="body"/>
          </p:nvPr>
        </p:nvSpPr>
        <p:spPr>
          <a:xfrm>
            <a:off x="838200" y="2373638"/>
            <a:ext cx="10515600" cy="3357600"/>
          </a:xfrm>
          <a:prstGeom prst="rect">
            <a:avLst/>
          </a:prstGeom>
          <a:noFill/>
          <a:ln>
            <a:noFill/>
          </a:ln>
        </p:spPr>
        <p:txBody>
          <a:bodyPr anchorCtr="0" anchor="t" bIns="45700" lIns="91425" spcFirstLastPara="1" rIns="91425" wrap="square" tIns="45700">
            <a:normAutofit lnSpcReduction="20000"/>
          </a:bodyPr>
          <a:lstStyle/>
          <a:p>
            <a:pPr indent="-355600" lvl="0" marL="457200" rtl="0" algn="l">
              <a:lnSpc>
                <a:spcPct val="115000"/>
              </a:lnSpc>
              <a:spcBef>
                <a:spcPts val="1200"/>
              </a:spcBef>
              <a:spcAft>
                <a:spcPts val="0"/>
              </a:spcAft>
              <a:buClr>
                <a:schemeClr val="dk1"/>
              </a:buClr>
              <a:buSzPts val="2000"/>
              <a:buChar char="●"/>
            </a:pPr>
            <a:r>
              <a:rPr b="1" lang="en-MY" sz="2000">
                <a:solidFill>
                  <a:schemeClr val="dk1"/>
                </a:solidFill>
                <a:latin typeface="Arial"/>
                <a:ea typeface="Arial"/>
                <a:cs typeface="Arial"/>
                <a:sym typeface="Arial"/>
              </a:rPr>
              <a:t>When:</a:t>
            </a:r>
            <a:r>
              <a:rPr lang="en-MY" sz="2000">
                <a:solidFill>
                  <a:schemeClr val="dk1"/>
                </a:solidFill>
                <a:latin typeface="Arial"/>
                <a:ea typeface="Arial"/>
                <a:cs typeface="Arial"/>
                <a:sym typeface="Arial"/>
              </a:rPr>
              <a:t> Conducted </a:t>
            </a:r>
            <a:r>
              <a:rPr b="1" lang="en-MY" sz="2000">
                <a:solidFill>
                  <a:schemeClr val="dk1"/>
                </a:solidFill>
                <a:latin typeface="Arial"/>
                <a:ea typeface="Arial"/>
                <a:cs typeface="Arial"/>
                <a:sym typeface="Arial"/>
              </a:rPr>
              <a:t>after the Sprint Review</a:t>
            </a:r>
            <a:r>
              <a:rPr lang="en-MY" sz="2000">
                <a:solidFill>
                  <a:schemeClr val="dk1"/>
                </a:solidFill>
                <a:latin typeface="Arial"/>
                <a:ea typeface="Arial"/>
                <a:cs typeface="Arial"/>
                <a:sym typeface="Arial"/>
              </a:rPr>
              <a:t> and </a:t>
            </a:r>
            <a:r>
              <a:rPr b="1" lang="en-MY" sz="2000">
                <a:solidFill>
                  <a:schemeClr val="dk1"/>
                </a:solidFill>
                <a:latin typeface="Arial"/>
                <a:ea typeface="Arial"/>
                <a:cs typeface="Arial"/>
                <a:sym typeface="Arial"/>
              </a:rPr>
              <a:t>before the next Sprint Planning</a:t>
            </a:r>
            <a:r>
              <a:rPr lang="en-MY" sz="2000">
                <a:solidFill>
                  <a:schemeClr val="dk1"/>
                </a:solidFill>
                <a:latin typeface="Arial"/>
                <a:ea typeface="Arial"/>
                <a:cs typeface="Arial"/>
                <a:sym typeface="Arial"/>
              </a:rPr>
              <a:t>.</a:t>
            </a:r>
            <a:endParaRPr sz="2000">
              <a:solidFill>
                <a:schemeClr val="dk1"/>
              </a:solidFill>
              <a:latin typeface="Arial"/>
              <a:ea typeface="Arial"/>
              <a:cs typeface="Arial"/>
              <a:sym typeface="Arial"/>
            </a:endParaRPr>
          </a:p>
          <a:p>
            <a:pPr indent="-355600" lvl="0" marL="457200" rtl="0" algn="l">
              <a:lnSpc>
                <a:spcPct val="115000"/>
              </a:lnSpc>
              <a:spcBef>
                <a:spcPts val="0"/>
              </a:spcBef>
              <a:spcAft>
                <a:spcPts val="0"/>
              </a:spcAft>
              <a:buClr>
                <a:schemeClr val="dk1"/>
              </a:buClr>
              <a:buSzPts val="2000"/>
              <a:buChar char="●"/>
            </a:pPr>
            <a:r>
              <a:rPr b="1" lang="en-MY" sz="2000">
                <a:solidFill>
                  <a:schemeClr val="dk1"/>
                </a:solidFill>
                <a:latin typeface="Arial"/>
                <a:ea typeface="Arial"/>
                <a:cs typeface="Arial"/>
                <a:sym typeface="Arial"/>
              </a:rPr>
              <a:t>Who:</a:t>
            </a:r>
            <a:r>
              <a:rPr lang="en-MY" sz="2000">
                <a:solidFill>
                  <a:schemeClr val="dk1"/>
                </a:solidFill>
                <a:latin typeface="Arial"/>
                <a:ea typeface="Arial"/>
                <a:cs typeface="Arial"/>
                <a:sym typeface="Arial"/>
              </a:rPr>
              <a:t> Scrum Team only.</a:t>
            </a:r>
            <a:endParaRPr sz="2000">
              <a:solidFill>
                <a:schemeClr val="dk1"/>
              </a:solidFill>
              <a:latin typeface="Arial"/>
              <a:ea typeface="Arial"/>
              <a:cs typeface="Arial"/>
              <a:sym typeface="Arial"/>
            </a:endParaRPr>
          </a:p>
          <a:p>
            <a:pPr indent="-355600" lvl="0" marL="457200" rtl="0" algn="l">
              <a:lnSpc>
                <a:spcPct val="115000"/>
              </a:lnSpc>
              <a:spcBef>
                <a:spcPts val="0"/>
              </a:spcBef>
              <a:spcAft>
                <a:spcPts val="0"/>
              </a:spcAft>
              <a:buClr>
                <a:schemeClr val="dk1"/>
              </a:buClr>
              <a:buSzPts val="2000"/>
              <a:buChar char="●"/>
            </a:pPr>
            <a:r>
              <a:rPr b="1" lang="en-MY" sz="2000">
                <a:solidFill>
                  <a:schemeClr val="dk1"/>
                </a:solidFill>
                <a:latin typeface="Arial"/>
                <a:ea typeface="Arial"/>
                <a:cs typeface="Arial"/>
                <a:sym typeface="Arial"/>
              </a:rPr>
              <a:t>Purpose:</a:t>
            </a:r>
            <a:r>
              <a:rPr lang="en-MY" sz="2000">
                <a:solidFill>
                  <a:schemeClr val="dk1"/>
                </a:solidFill>
                <a:latin typeface="Arial"/>
                <a:ea typeface="Arial"/>
                <a:cs typeface="Arial"/>
                <a:sym typeface="Arial"/>
              </a:rPr>
              <a:t> To reflect on the </a:t>
            </a:r>
            <a:r>
              <a:rPr b="1" lang="en-MY" sz="2000">
                <a:solidFill>
                  <a:schemeClr val="dk1"/>
                </a:solidFill>
                <a:latin typeface="Arial"/>
                <a:ea typeface="Arial"/>
                <a:cs typeface="Arial"/>
                <a:sym typeface="Arial"/>
              </a:rPr>
              <a:t>process</a:t>
            </a:r>
            <a:r>
              <a:rPr lang="en-MY" sz="2000">
                <a:solidFill>
                  <a:schemeClr val="dk1"/>
                </a:solidFill>
                <a:latin typeface="Arial"/>
                <a:ea typeface="Arial"/>
                <a:cs typeface="Arial"/>
                <a:sym typeface="Arial"/>
              </a:rPr>
              <a:t> and identify improvements.</a:t>
            </a:r>
            <a:endParaRPr sz="2000">
              <a:solidFill>
                <a:schemeClr val="dk1"/>
              </a:solidFill>
              <a:latin typeface="Arial"/>
              <a:ea typeface="Arial"/>
              <a:cs typeface="Arial"/>
              <a:sym typeface="Arial"/>
            </a:endParaRPr>
          </a:p>
          <a:p>
            <a:pPr indent="-355600" lvl="0" marL="457200" rtl="0" algn="l">
              <a:lnSpc>
                <a:spcPct val="115000"/>
              </a:lnSpc>
              <a:spcBef>
                <a:spcPts val="0"/>
              </a:spcBef>
              <a:spcAft>
                <a:spcPts val="0"/>
              </a:spcAft>
              <a:buClr>
                <a:schemeClr val="dk1"/>
              </a:buClr>
              <a:buSzPts val="2000"/>
              <a:buChar char="●"/>
            </a:pPr>
            <a:r>
              <a:rPr b="1" lang="en-MY" sz="2000">
                <a:solidFill>
                  <a:schemeClr val="dk1"/>
                </a:solidFill>
                <a:latin typeface="Arial"/>
                <a:ea typeface="Arial"/>
                <a:cs typeface="Arial"/>
                <a:sym typeface="Arial"/>
              </a:rPr>
              <a:t>Focus Areas:</a:t>
            </a:r>
            <a:endParaRPr b="1" sz="2000">
              <a:solidFill>
                <a:schemeClr val="dk1"/>
              </a:solidFill>
              <a:latin typeface="Arial"/>
              <a:ea typeface="Arial"/>
              <a:cs typeface="Arial"/>
              <a:sym typeface="Arial"/>
            </a:endParaRPr>
          </a:p>
          <a:p>
            <a:pPr indent="-355600" lvl="1" marL="914400" rtl="0" algn="l">
              <a:lnSpc>
                <a:spcPct val="115000"/>
              </a:lnSpc>
              <a:spcBef>
                <a:spcPts val="0"/>
              </a:spcBef>
              <a:spcAft>
                <a:spcPts val="0"/>
              </a:spcAft>
              <a:buClr>
                <a:schemeClr val="dk1"/>
              </a:buClr>
              <a:buSzPts val="2000"/>
              <a:buChar char="○"/>
            </a:pPr>
            <a:r>
              <a:rPr lang="en-MY">
                <a:solidFill>
                  <a:schemeClr val="dk1"/>
                </a:solidFill>
                <a:latin typeface="Arial"/>
                <a:ea typeface="Arial"/>
                <a:cs typeface="Arial"/>
                <a:sym typeface="Arial"/>
              </a:rPr>
              <a:t>What went well?</a:t>
            </a:r>
            <a:endParaRPr>
              <a:solidFill>
                <a:schemeClr val="dk1"/>
              </a:solidFill>
              <a:latin typeface="Arial"/>
              <a:ea typeface="Arial"/>
              <a:cs typeface="Arial"/>
              <a:sym typeface="Arial"/>
            </a:endParaRPr>
          </a:p>
          <a:p>
            <a:pPr indent="-355600" lvl="1" marL="914400" rtl="0" algn="l">
              <a:lnSpc>
                <a:spcPct val="115000"/>
              </a:lnSpc>
              <a:spcBef>
                <a:spcPts val="0"/>
              </a:spcBef>
              <a:spcAft>
                <a:spcPts val="0"/>
              </a:spcAft>
              <a:buClr>
                <a:schemeClr val="dk1"/>
              </a:buClr>
              <a:buSzPts val="2000"/>
              <a:buChar char="○"/>
            </a:pPr>
            <a:r>
              <a:rPr lang="en-MY">
                <a:solidFill>
                  <a:schemeClr val="dk1"/>
                </a:solidFill>
                <a:latin typeface="Arial"/>
                <a:ea typeface="Arial"/>
                <a:cs typeface="Arial"/>
                <a:sym typeface="Arial"/>
              </a:rPr>
              <a:t>What could be improved?</a:t>
            </a:r>
            <a:endParaRPr>
              <a:solidFill>
                <a:schemeClr val="dk1"/>
              </a:solidFill>
              <a:latin typeface="Arial"/>
              <a:ea typeface="Arial"/>
              <a:cs typeface="Arial"/>
              <a:sym typeface="Arial"/>
            </a:endParaRPr>
          </a:p>
          <a:p>
            <a:pPr indent="-355600" lvl="1" marL="914400" rtl="0" algn="l">
              <a:lnSpc>
                <a:spcPct val="115000"/>
              </a:lnSpc>
              <a:spcBef>
                <a:spcPts val="0"/>
              </a:spcBef>
              <a:spcAft>
                <a:spcPts val="0"/>
              </a:spcAft>
              <a:buClr>
                <a:schemeClr val="dk1"/>
              </a:buClr>
              <a:buSzPts val="2000"/>
              <a:buChar char="○"/>
            </a:pPr>
            <a:r>
              <a:rPr lang="en-MY">
                <a:solidFill>
                  <a:schemeClr val="dk1"/>
                </a:solidFill>
                <a:latin typeface="Arial"/>
                <a:ea typeface="Arial"/>
                <a:cs typeface="Arial"/>
                <a:sym typeface="Arial"/>
              </a:rPr>
              <a:t>What will we commit to change in the next sprint?</a:t>
            </a:r>
            <a:endParaRPr>
              <a:solidFill>
                <a:schemeClr val="dk1"/>
              </a:solidFill>
              <a:latin typeface="Arial"/>
              <a:ea typeface="Arial"/>
              <a:cs typeface="Arial"/>
              <a:sym typeface="Arial"/>
            </a:endParaRPr>
          </a:p>
          <a:p>
            <a:pPr indent="-355600" lvl="0" marL="457200" rtl="0" algn="l">
              <a:lnSpc>
                <a:spcPct val="115000"/>
              </a:lnSpc>
              <a:spcBef>
                <a:spcPts val="0"/>
              </a:spcBef>
              <a:spcAft>
                <a:spcPts val="0"/>
              </a:spcAft>
              <a:buClr>
                <a:schemeClr val="dk1"/>
              </a:buClr>
              <a:buSzPts val="2000"/>
              <a:buChar char="●"/>
            </a:pPr>
            <a:r>
              <a:rPr lang="en-MY" sz="2000">
                <a:solidFill>
                  <a:schemeClr val="dk1"/>
                </a:solidFill>
                <a:latin typeface="Arial"/>
                <a:ea typeface="Arial"/>
                <a:cs typeface="Arial"/>
                <a:sym typeface="Arial"/>
              </a:rPr>
              <a:t>Outcome: </a:t>
            </a:r>
            <a:r>
              <a:rPr b="1" lang="en-MY" sz="2000">
                <a:solidFill>
                  <a:schemeClr val="dk1"/>
                </a:solidFill>
                <a:latin typeface="Arial"/>
                <a:ea typeface="Arial"/>
                <a:cs typeface="Arial"/>
                <a:sym typeface="Arial"/>
              </a:rPr>
              <a:t>Actionable improvement items</a:t>
            </a:r>
            <a:r>
              <a:rPr lang="en-MY" sz="2000">
                <a:solidFill>
                  <a:schemeClr val="dk1"/>
                </a:solidFill>
                <a:latin typeface="Arial"/>
                <a:ea typeface="Arial"/>
                <a:cs typeface="Arial"/>
                <a:sym typeface="Arial"/>
              </a:rPr>
              <a:t> to enhance team performance.</a:t>
            </a:r>
            <a:endParaRPr sz="2000">
              <a:solidFill>
                <a:schemeClr val="dk1"/>
              </a:solidFill>
              <a:latin typeface="Arial"/>
              <a:ea typeface="Arial"/>
              <a:cs typeface="Arial"/>
              <a:sym typeface="Arial"/>
            </a:endParaRPr>
          </a:p>
          <a:p>
            <a:pPr indent="-365125" lvl="0" marL="457200" rtl="0" algn="l">
              <a:lnSpc>
                <a:spcPct val="115000"/>
              </a:lnSpc>
              <a:spcBef>
                <a:spcPts val="0"/>
              </a:spcBef>
              <a:spcAft>
                <a:spcPts val="0"/>
              </a:spcAft>
              <a:buClr>
                <a:schemeClr val="dk1"/>
              </a:buClr>
              <a:buSzPts val="2150"/>
              <a:buFont typeface="Arial"/>
              <a:buChar char="●"/>
            </a:pPr>
            <a:r>
              <a:rPr b="1" lang="en-MY" sz="2150">
                <a:solidFill>
                  <a:schemeClr val="dk1"/>
                </a:solidFill>
                <a:latin typeface="Arial"/>
                <a:ea typeface="Arial"/>
                <a:cs typeface="Arial"/>
                <a:sym typeface="Arial"/>
              </a:rPr>
              <a:t>Key Benefit:</a:t>
            </a:r>
            <a:r>
              <a:rPr lang="en-MY" sz="2150">
                <a:solidFill>
                  <a:schemeClr val="dk1"/>
                </a:solidFill>
                <a:latin typeface="Arial"/>
                <a:ea typeface="Arial"/>
                <a:cs typeface="Arial"/>
                <a:sym typeface="Arial"/>
              </a:rPr>
              <a:t> Continuous improvement and stronger team dynamics</a:t>
            </a:r>
            <a:endParaRPr sz="2150">
              <a:solidFill>
                <a:schemeClr val="dk1"/>
              </a:solidFill>
              <a:latin typeface="Arial"/>
              <a:ea typeface="Arial"/>
              <a:cs typeface="Arial"/>
              <a:sym typeface="Arial"/>
            </a:endParaRPr>
          </a:p>
          <a:p>
            <a:pPr indent="0" lvl="0" marL="0" rtl="0" algn="l">
              <a:lnSpc>
                <a:spcPct val="90000"/>
              </a:lnSpc>
              <a:spcBef>
                <a:spcPts val="1200"/>
              </a:spcBef>
              <a:spcAft>
                <a:spcPts val="0"/>
              </a:spcAft>
              <a:buSzPts val="2400"/>
              <a:buNone/>
            </a:pPr>
            <a:r>
              <a:t/>
            </a:r>
            <a:endParaRPr sz="2000"/>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3" name="Shape 533"/>
        <p:cNvGrpSpPr/>
        <p:nvPr/>
      </p:nvGrpSpPr>
      <p:grpSpPr>
        <a:xfrm>
          <a:off x="0" y="0"/>
          <a:ext cx="0" cy="0"/>
          <a:chOff x="0" y="0"/>
          <a:chExt cx="0" cy="0"/>
        </a:xfrm>
      </p:grpSpPr>
      <p:sp>
        <p:nvSpPr>
          <p:cNvPr id="534" name="Google Shape;534;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4000"/>
              <a:buFont typeface="Calibri"/>
              <a:buNone/>
            </a:pPr>
            <a:r>
              <a:t/>
            </a:r>
            <a:endParaRPr/>
          </a:p>
        </p:txBody>
      </p:sp>
      <p:sp>
        <p:nvSpPr>
          <p:cNvPr id="535" name="Google Shape;535;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200"/>
              <a:buNone/>
            </a:pPr>
            <a:fld id="{00000000-1234-1234-1234-123412341234}" type="slidenum">
              <a:rPr lang="en-MY"/>
              <a:t>‹#›</a:t>
            </a:fld>
            <a:endParaRPr/>
          </a:p>
        </p:txBody>
      </p:sp>
      <p:pic>
        <p:nvPicPr>
          <p:cNvPr id="536" name="Google Shape;536;p16"/>
          <p:cNvPicPr preferRelativeResize="0"/>
          <p:nvPr/>
        </p:nvPicPr>
        <p:blipFill rotWithShape="1">
          <a:blip r:embed="rId3">
            <a:alphaModFix/>
          </a:blip>
          <a:srcRect b="0" l="0" r="0" t="0"/>
          <a:stretch/>
        </p:blipFill>
        <p:spPr>
          <a:xfrm>
            <a:off x="5375188" y="3429000"/>
            <a:ext cx="5327003" cy="400892"/>
          </a:xfrm>
          <a:prstGeom prst="rect">
            <a:avLst/>
          </a:prstGeom>
          <a:noFill/>
          <a:ln>
            <a:noFill/>
          </a:ln>
        </p:spPr>
      </p:pic>
      <p:pic>
        <p:nvPicPr>
          <p:cNvPr id="537" name="Google Shape;537;p16"/>
          <p:cNvPicPr preferRelativeResize="0"/>
          <p:nvPr/>
        </p:nvPicPr>
        <p:blipFill rotWithShape="1">
          <a:blip r:embed="rId4">
            <a:alphaModFix/>
          </a:blip>
          <a:srcRect b="0" l="0" r="0" t="0"/>
          <a:stretch/>
        </p:blipFill>
        <p:spPr>
          <a:xfrm>
            <a:off x="4825089" y="2894401"/>
            <a:ext cx="5327003" cy="400892"/>
          </a:xfrm>
          <a:prstGeom prst="rect">
            <a:avLst/>
          </a:prstGeom>
          <a:noFill/>
          <a:ln>
            <a:noFill/>
          </a:ln>
        </p:spPr>
      </p:pic>
      <p:pic>
        <p:nvPicPr>
          <p:cNvPr id="538" name="Google Shape;538;p16"/>
          <p:cNvPicPr preferRelativeResize="0"/>
          <p:nvPr/>
        </p:nvPicPr>
        <p:blipFill rotWithShape="1">
          <a:blip r:embed="rId5">
            <a:alphaModFix/>
          </a:blip>
          <a:srcRect b="0" l="0" r="0" t="0"/>
          <a:stretch/>
        </p:blipFill>
        <p:spPr>
          <a:xfrm>
            <a:off x="1305563" y="2684422"/>
            <a:ext cx="3612283" cy="122174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Custom 2">
      <a:dk1>
        <a:srgbClr val="000000"/>
      </a:dk1>
      <a:lt1>
        <a:srgbClr val="FFFFFF"/>
      </a:lt1>
      <a:dk2>
        <a:srgbClr val="696464"/>
      </a:dk2>
      <a:lt2>
        <a:srgbClr val="E9E5DC"/>
      </a:lt2>
      <a:accent1>
        <a:srgbClr val="6C1D35"/>
      </a:accent1>
      <a:accent2>
        <a:srgbClr val="9B2D1F"/>
      </a:accent2>
      <a:accent3>
        <a:srgbClr val="A28E6A"/>
      </a:accent3>
      <a:accent4>
        <a:srgbClr val="956251"/>
      </a:accent4>
      <a:accent5>
        <a:srgbClr val="918485"/>
      </a:accent5>
      <a:accent6>
        <a:srgbClr val="6C3636"/>
      </a:accent6>
      <a:hlink>
        <a:srgbClr val="CC9900"/>
      </a:hlink>
      <a:folHlink>
        <a:srgbClr val="96A9A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2025-05-21T05:44:56Z</dcterms:created>
  <dc:creator>JAMILAH BINTI MAHMOOD</dc:creator>
</cp:coreProperties>
</file>