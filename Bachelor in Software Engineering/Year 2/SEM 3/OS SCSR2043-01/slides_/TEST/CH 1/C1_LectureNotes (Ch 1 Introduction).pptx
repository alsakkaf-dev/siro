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6858000" cx="9144000"/>
  <p:notesSz cx="7099300" cy="10234600"/>
  <p:embeddedFontLst>
    <p:embeddedFont>
      <p:font typeface="Helvetica Neue"/>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GoogleSlidesCustomDataVersion2">
      <go:slidesCustomData xmlns:go="http://customooxmlschemas.google.com/" r:id="rId63" roundtripDataSignature="AMtx7miSNpm/oXghPmQl4NcRgZNZye2L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HelveticaNeue-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HelveticaNeue-regular.fntdata"/><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 y="5"/>
            <a:ext cx="3074661" cy="509101"/>
          </a:xfrm>
          <a:prstGeom prst="rect">
            <a:avLst/>
          </a:prstGeom>
          <a:noFill/>
          <a:ln>
            <a:noFill/>
          </a:ln>
        </p:spPr>
        <p:txBody>
          <a:bodyPr anchorCtr="0" anchor="ctr" bIns="46950" lIns="93900" spcFirstLastPara="1" rIns="93900"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4024642" y="5"/>
            <a:ext cx="3074661" cy="509101"/>
          </a:xfrm>
          <a:prstGeom prst="rect">
            <a:avLst/>
          </a:prstGeom>
          <a:noFill/>
          <a:ln>
            <a:noFill/>
          </a:ln>
        </p:spPr>
        <p:txBody>
          <a:bodyPr anchorCtr="0" anchor="ctr" bIns="46950" lIns="93900" spcFirstLastPara="1" rIns="93900" wrap="square" tIns="469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 y="9725513"/>
            <a:ext cx="3074661" cy="509100"/>
          </a:xfrm>
          <a:prstGeom prst="rect">
            <a:avLst/>
          </a:prstGeom>
          <a:noFill/>
          <a:ln>
            <a:noFill/>
          </a:ln>
        </p:spPr>
        <p:txBody>
          <a:bodyPr anchorCtr="0" anchor="b" bIns="46950" lIns="93900" spcFirstLastPara="1" rIns="93900"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4024642" y="9725513"/>
            <a:ext cx="3074661" cy="509100"/>
          </a:xfrm>
          <a:prstGeom prst="rect">
            <a:avLst/>
          </a:prstGeom>
          <a:noFill/>
          <a:ln>
            <a:noFill/>
          </a:ln>
        </p:spPr>
        <p:txBody>
          <a:bodyPr anchorCtr="0" anchor="b" bIns="46950" lIns="93900" spcFirstLastPara="1" rIns="93900" wrap="square" tIns="469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2" type="sldNum"/>
          </p:nvPr>
        </p:nvSpPr>
        <p:spPr>
          <a:xfrm>
            <a:off x="4024642" y="9725513"/>
            <a:ext cx="3074661" cy="509100"/>
          </a:xfrm>
          <a:prstGeom prst="rect">
            <a:avLst/>
          </a:prstGeom>
          <a:noFill/>
          <a:ln>
            <a:noFill/>
          </a:ln>
        </p:spPr>
        <p:txBody>
          <a:bodyPr anchorCtr="0" anchor="b" bIns="46950" lIns="93900" spcFirstLastPara="1" rIns="93900" wrap="square" tIns="4695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0" name="Google Shape;80;p1: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1: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2: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92" name="Google Shape;92;p7: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98" name="Google Shape;98;p8: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105" name="Google Shape;105;p9: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0: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10: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5: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6: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10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5: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5: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6: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7: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7: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6:notes"/>
          <p:cNvSpPr txBox="1"/>
          <p:nvPr>
            <p:ph idx="1" type="body"/>
          </p:nvPr>
        </p:nvSpPr>
        <p:spPr>
          <a:xfrm>
            <a:off x="945440" y="4861565"/>
            <a:ext cx="5208422" cy="4603425"/>
          </a:xfrm>
          <a:prstGeom prst="rect">
            <a:avLst/>
          </a:prstGeom>
        </p:spPr>
        <p:txBody>
          <a:bodyPr anchorCtr="0" anchor="ctr" bIns="46950" lIns="93900" spcFirstLastPara="1" rIns="93900" wrap="square" tIns="46950">
            <a:noAutofit/>
          </a:bodyPr>
          <a:lstStyle/>
          <a:p>
            <a:pPr indent="0" lvl="0" marL="0" rtl="0" algn="l">
              <a:spcBef>
                <a:spcPts val="360"/>
              </a:spcBef>
              <a:spcAft>
                <a:spcPts val="0"/>
              </a:spcAft>
              <a:buNone/>
            </a:pPr>
            <a:r>
              <a:t/>
            </a:r>
            <a:endParaRPr/>
          </a:p>
        </p:txBody>
      </p:sp>
      <p:sp>
        <p:nvSpPr>
          <p:cNvPr id="159" name="Google Shape;159;p106: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8: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8: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9: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9: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184" name="Google Shape;184;p20: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7:notes"/>
          <p:cNvSpPr txBox="1"/>
          <p:nvPr>
            <p:ph idx="1" type="body"/>
          </p:nvPr>
        </p:nvSpPr>
        <p:spPr>
          <a:xfrm>
            <a:off x="945440" y="4861565"/>
            <a:ext cx="5208422" cy="4603425"/>
          </a:xfrm>
          <a:prstGeom prst="rect">
            <a:avLst/>
          </a:prstGeom>
        </p:spPr>
        <p:txBody>
          <a:bodyPr anchorCtr="0" anchor="ctr" bIns="46950" lIns="93900" spcFirstLastPara="1" rIns="93900" wrap="square" tIns="46950">
            <a:noAutofit/>
          </a:bodyPr>
          <a:lstStyle/>
          <a:p>
            <a:pPr indent="0" lvl="0" marL="0" rtl="0" algn="l">
              <a:spcBef>
                <a:spcPts val="360"/>
              </a:spcBef>
              <a:spcAft>
                <a:spcPts val="0"/>
              </a:spcAft>
              <a:buNone/>
            </a:pPr>
            <a:r>
              <a:t/>
            </a:r>
            <a:endParaRPr/>
          </a:p>
        </p:txBody>
      </p:sp>
      <p:sp>
        <p:nvSpPr>
          <p:cNvPr id="191" name="Google Shape;191;p107: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8:notes"/>
          <p:cNvSpPr txBox="1"/>
          <p:nvPr>
            <p:ph idx="1" type="body"/>
          </p:nvPr>
        </p:nvSpPr>
        <p:spPr>
          <a:xfrm>
            <a:off x="945440" y="4861565"/>
            <a:ext cx="5208422" cy="4603425"/>
          </a:xfrm>
          <a:prstGeom prst="rect">
            <a:avLst/>
          </a:prstGeom>
        </p:spPr>
        <p:txBody>
          <a:bodyPr anchorCtr="0" anchor="ctr" bIns="46950" lIns="93900" spcFirstLastPara="1" rIns="93900" wrap="square" tIns="46950">
            <a:noAutofit/>
          </a:bodyPr>
          <a:lstStyle/>
          <a:p>
            <a:pPr indent="0" lvl="0" marL="0" rtl="0" algn="l">
              <a:spcBef>
                <a:spcPts val="360"/>
              </a:spcBef>
              <a:spcAft>
                <a:spcPts val="0"/>
              </a:spcAft>
              <a:buNone/>
            </a:pPr>
            <a:r>
              <a:t/>
            </a:r>
            <a:endParaRPr/>
          </a:p>
        </p:txBody>
      </p:sp>
      <p:sp>
        <p:nvSpPr>
          <p:cNvPr id="196" name="Google Shape;196;p108: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22: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211" name="Google Shape;211;p23: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4: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24: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5: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5: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6: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26: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27: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8: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28: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247" name="Google Shape;247;p29: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5: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35: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36: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9: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09: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0: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10: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1: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11: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2: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12: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13: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13: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4: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14: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5:notes"/>
          <p:cNvSpPr/>
          <p:nvPr>
            <p:ph idx="2" type="sldImg"/>
          </p:nvPr>
        </p:nvSpPr>
        <p:spPr>
          <a:xfrm>
            <a:off x="11176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15:notes"/>
          <p:cNvSpPr txBox="1"/>
          <p:nvPr>
            <p:ph idx="1" type="body"/>
          </p:nvPr>
        </p:nvSpPr>
        <p:spPr>
          <a:xfrm>
            <a:off x="688975" y="4416425"/>
            <a:ext cx="5505450" cy="4183063"/>
          </a:xfrm>
          <a:prstGeom prst="rect">
            <a:avLst/>
          </a:prstGeom>
          <a:noFill/>
          <a:ln>
            <a:noFill/>
          </a:ln>
        </p:spPr>
        <p:txBody>
          <a:bodyPr anchorCtr="0" anchor="t" bIns="46200" lIns="92425" spcFirstLastPara="1" rIns="92425" wrap="square" tIns="46200">
            <a:noAutofit/>
          </a:bodyPr>
          <a:lstStyle/>
          <a:p>
            <a:pPr indent="-228600" lvl="0" marL="457200" marR="0" rtl="0" algn="l">
              <a:lnSpc>
                <a:spcPct val="100000"/>
              </a:lnSpc>
              <a:spcBef>
                <a:spcPts val="36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9: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10" name="Google Shape;310;p49: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51: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17" name="Google Shape;317;p51: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36" name="Google Shape;336;p52: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6: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46" name="Google Shape;346;p56: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57: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65" name="Google Shape;365;p57: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8: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77" name="Google Shape;377;p58: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0: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86" name="Google Shape;386;p60: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61: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393" name="Google Shape;393;p61: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64: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400" name="Google Shape;400;p64: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406" name="Google Shape;406;p65: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67: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412" name="Google Shape;412;p67: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66: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360"/>
              </a:spcBef>
              <a:spcAft>
                <a:spcPts val="0"/>
              </a:spcAft>
              <a:buSzPts val="1400"/>
              <a:buNone/>
            </a:pPr>
            <a:r>
              <a:t/>
            </a:r>
            <a:endParaRPr/>
          </a:p>
        </p:txBody>
      </p:sp>
      <p:sp>
        <p:nvSpPr>
          <p:cNvPr id="418" name="Google Shape;418;p66: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68: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68: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69: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69: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0:notes"/>
          <p:cNvSpPr/>
          <p:nvPr>
            <p:ph idx="2" type="sldImg"/>
          </p:nvPr>
        </p:nvSpPr>
        <p:spPr>
          <a:xfrm>
            <a:off x="992188" y="766763"/>
            <a:ext cx="5118100" cy="38401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70:notes"/>
          <p:cNvSpPr txBox="1"/>
          <p:nvPr>
            <p:ph idx="1" type="body"/>
          </p:nvPr>
        </p:nvSpPr>
        <p:spPr>
          <a:xfrm>
            <a:off x="710500" y="4861565"/>
            <a:ext cx="5680575" cy="4605815"/>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79:notes"/>
          <p:cNvSpPr txBox="1"/>
          <p:nvPr>
            <p:ph idx="12" type="sldNum"/>
          </p:nvPr>
        </p:nvSpPr>
        <p:spPr>
          <a:xfrm>
            <a:off x="4024642" y="9725513"/>
            <a:ext cx="3074661" cy="509100"/>
          </a:xfrm>
          <a:prstGeom prst="rect">
            <a:avLst/>
          </a:prstGeom>
          <a:noFill/>
          <a:ln>
            <a:noFill/>
          </a:ln>
        </p:spPr>
        <p:txBody>
          <a:bodyPr anchorCtr="0" anchor="b" bIns="46950" lIns="93900" spcFirstLastPara="1" rIns="93900" wrap="square" tIns="4695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43" name="Google Shape;443;p79:notes"/>
          <p:cNvSpPr/>
          <p:nvPr>
            <p:ph idx="2" type="sldImg"/>
          </p:nvPr>
        </p:nvSpPr>
        <p:spPr>
          <a:xfrm>
            <a:off x="993775" y="771525"/>
            <a:ext cx="5113338"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79:notes"/>
          <p:cNvSpPr txBox="1"/>
          <p:nvPr>
            <p:ph idx="1" type="body"/>
          </p:nvPr>
        </p:nvSpPr>
        <p:spPr>
          <a:xfrm>
            <a:off x="945440" y="4861565"/>
            <a:ext cx="5208422" cy="4603425"/>
          </a:xfrm>
          <a:prstGeom prst="rect">
            <a:avLst/>
          </a:prstGeom>
          <a:noFill/>
          <a:ln>
            <a:noFill/>
          </a:ln>
        </p:spPr>
        <p:txBody>
          <a:bodyPr anchorCtr="0" anchor="ctr" bIns="46950" lIns="93900" spcFirstLastPara="1" rIns="93900" wrap="square" tIns="4695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81"/>
          <p:cNvGrpSpPr/>
          <p:nvPr/>
        </p:nvGrpSpPr>
        <p:grpSpPr>
          <a:xfrm>
            <a:off x="198438" y="2960688"/>
            <a:ext cx="8610600" cy="201612"/>
            <a:chOff x="125" y="1865"/>
            <a:chExt cx="5424" cy="127"/>
          </a:xfrm>
        </p:grpSpPr>
        <p:sp>
          <p:nvSpPr>
            <p:cNvPr id="23" name="Google Shape;23;p81"/>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4" name="Google Shape;24;p81"/>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5" name="Google Shape;25;p81"/>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grpSp>
      <p:sp>
        <p:nvSpPr>
          <p:cNvPr id="26" name="Google Shape;26;p81"/>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27" name="Google Shape;27;p81"/>
          <p:cNvSpPr txBox="1"/>
          <p:nvPr/>
        </p:nvSpPr>
        <p:spPr>
          <a:xfrm>
            <a:off x="26988" y="6613525"/>
            <a:ext cx="2695575" cy="246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336699"/>
                </a:solidFill>
                <a:latin typeface="Helvetica Neue"/>
                <a:ea typeface="Helvetica Neue"/>
                <a:cs typeface="Helvetica Neue"/>
                <a:sym typeface="Helvetica Neue"/>
              </a:rPr>
              <a:t>Operating System Concepts – 9</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Edit9on</a:t>
            </a:r>
            <a:endParaRPr b="0" i="0" sz="1400" u="none" cap="none" strike="noStrike">
              <a:solidFill>
                <a:srgbClr val="000000"/>
              </a:solidFill>
              <a:latin typeface="Arial"/>
              <a:ea typeface="Arial"/>
              <a:cs typeface="Arial"/>
              <a:sym typeface="Arial"/>
            </a:endParaRPr>
          </a:p>
        </p:txBody>
      </p:sp>
      <p:pic>
        <p:nvPicPr>
          <p:cNvPr descr="dino_4" id="28" name="Google Shape;28;p81"/>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81"/>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0" name="Google Shape;30;p81"/>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43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8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88"/>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4" name="Google Shape;34;p88"/>
          <p:cNvSpPr/>
          <p:nvPr/>
        </p:nvSpPr>
        <p:spPr>
          <a:xfrm>
            <a:off x="339634" y="-26126"/>
            <a:ext cx="1110343" cy="87521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5" name="Shape 35"/>
        <p:cNvGrpSpPr/>
        <p:nvPr/>
      </p:nvGrpSpPr>
      <p:grpSpPr>
        <a:xfrm>
          <a:off x="0" y="0"/>
          <a:ext cx="0" cy="0"/>
          <a:chOff x="0" y="0"/>
          <a:chExt cx="0" cy="0"/>
        </a:xfrm>
      </p:grpSpPr>
      <p:sp>
        <p:nvSpPr>
          <p:cNvPr id="36" name="Google Shape;36;p82"/>
          <p:cNvSpPr/>
          <p:nvPr/>
        </p:nvSpPr>
        <p:spPr>
          <a:xfrm>
            <a:off x="339634" y="-26126"/>
            <a:ext cx="1110343" cy="87521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8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700"/>
              </a:spcBef>
              <a:spcAft>
                <a:spcPts val="0"/>
              </a:spcAft>
              <a:buSzPts val="1800"/>
              <a:buNone/>
              <a:defRPr sz="2000"/>
            </a:lvl1pPr>
            <a:lvl2pPr indent="-228600" lvl="1" marL="914400" algn="just">
              <a:lnSpc>
                <a:spcPct val="100000"/>
              </a:lnSpc>
              <a:spcBef>
                <a:spcPts val="630"/>
              </a:spcBef>
              <a:spcAft>
                <a:spcPts val="0"/>
              </a:spcAft>
              <a:buSzPts val="1440"/>
              <a:buNone/>
              <a:defRPr sz="1800"/>
            </a:lvl2pPr>
            <a:lvl3pPr indent="-228600" lvl="2" marL="1371600" algn="just">
              <a:lnSpc>
                <a:spcPct val="100000"/>
              </a:lnSpc>
              <a:spcBef>
                <a:spcPts val="560"/>
              </a:spcBef>
              <a:spcAft>
                <a:spcPts val="0"/>
              </a:spcAft>
              <a:buSzPts val="1200"/>
              <a:buNone/>
              <a:defRPr sz="1600"/>
            </a:lvl3pPr>
            <a:lvl4pPr indent="-228600" lvl="3" marL="1828800" algn="just">
              <a:lnSpc>
                <a:spcPct val="100000"/>
              </a:lnSpc>
              <a:spcBef>
                <a:spcPts val="490"/>
              </a:spcBef>
              <a:spcAft>
                <a:spcPts val="0"/>
              </a:spcAft>
              <a:buSzPts val="1050"/>
              <a:buFont typeface="Helvetica Neue"/>
              <a:buNone/>
              <a:defRPr sz="1400"/>
            </a:lvl4pPr>
            <a:lvl5pPr indent="-228600" lvl="4" marL="2286000" algn="just">
              <a:lnSpc>
                <a:spcPct val="100000"/>
              </a:lnSpc>
              <a:spcBef>
                <a:spcPts val="490"/>
              </a:spcBef>
              <a:spcAft>
                <a:spcPts val="0"/>
              </a:spcAft>
              <a:buSzPts val="1050"/>
              <a:buFont typeface="Helvetica Neue"/>
              <a:buNone/>
              <a:defRPr sz="1400"/>
            </a:lvl5pPr>
            <a:lvl6pPr indent="-228600" lvl="5" marL="2743200" algn="l">
              <a:lnSpc>
                <a:spcPct val="100000"/>
              </a:lnSpc>
              <a:spcBef>
                <a:spcPts val="490"/>
              </a:spcBef>
              <a:spcAft>
                <a:spcPts val="0"/>
              </a:spcAft>
              <a:buSzPts val="1050"/>
              <a:buFont typeface="Helvetica Neue"/>
              <a:buNone/>
              <a:defRPr sz="1400"/>
            </a:lvl6pPr>
            <a:lvl7pPr indent="-228600" lvl="6" marL="3200400" algn="l">
              <a:lnSpc>
                <a:spcPct val="100000"/>
              </a:lnSpc>
              <a:spcBef>
                <a:spcPts val="490"/>
              </a:spcBef>
              <a:spcAft>
                <a:spcPts val="0"/>
              </a:spcAft>
              <a:buSzPts val="1050"/>
              <a:buFont typeface="Helvetica Neue"/>
              <a:buNone/>
              <a:defRPr sz="1400"/>
            </a:lvl7pPr>
            <a:lvl8pPr indent="-228600" lvl="7" marL="3657600" algn="l">
              <a:lnSpc>
                <a:spcPct val="100000"/>
              </a:lnSpc>
              <a:spcBef>
                <a:spcPts val="490"/>
              </a:spcBef>
              <a:spcAft>
                <a:spcPts val="0"/>
              </a:spcAft>
              <a:buSzPts val="1050"/>
              <a:buFont typeface="Helvetica Neue"/>
              <a:buNone/>
              <a:defRPr sz="1400"/>
            </a:lvl8pPr>
            <a:lvl9pPr indent="-228600" lvl="8" marL="4114800" algn="l">
              <a:lnSpc>
                <a:spcPct val="100000"/>
              </a:lnSpc>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9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90"/>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00000"/>
              </a:lnSpc>
              <a:spcBef>
                <a:spcPts val="980"/>
              </a:spcBef>
              <a:spcAft>
                <a:spcPts val="0"/>
              </a:spcAft>
              <a:buSzPts val="2520"/>
              <a:buChar char="●"/>
              <a:defRPr sz="2800"/>
            </a:lvl1pPr>
            <a:lvl2pPr indent="-350519" lvl="1" marL="914400" algn="just">
              <a:lnSpc>
                <a:spcPct val="100000"/>
              </a:lnSpc>
              <a:spcBef>
                <a:spcPts val="840"/>
              </a:spcBef>
              <a:spcAft>
                <a:spcPts val="0"/>
              </a:spcAft>
              <a:buSzPts val="1920"/>
              <a:buChar char="●"/>
              <a:defRPr sz="2400"/>
            </a:lvl2pPr>
            <a:lvl3pPr indent="-323850" lvl="2" marL="1371600" algn="just">
              <a:lnSpc>
                <a:spcPct val="100000"/>
              </a:lnSpc>
              <a:spcBef>
                <a:spcPts val="700"/>
              </a:spcBef>
              <a:spcAft>
                <a:spcPts val="0"/>
              </a:spcAft>
              <a:buSzPts val="1500"/>
              <a:buChar char="4"/>
              <a:defRPr sz="2000"/>
            </a:lvl3pPr>
            <a:lvl4pPr indent="-314325" lvl="3" marL="1828800" algn="just">
              <a:lnSpc>
                <a:spcPct val="100000"/>
              </a:lnSpc>
              <a:spcBef>
                <a:spcPts val="630"/>
              </a:spcBef>
              <a:spcAft>
                <a:spcPts val="0"/>
              </a:spcAft>
              <a:buSzPts val="1350"/>
              <a:buFont typeface="Helvetica Neue"/>
              <a:buChar char="–"/>
              <a:defRPr sz="1800"/>
            </a:lvl4pPr>
            <a:lvl5pPr indent="-314325" lvl="4" marL="2286000" algn="just">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
        <p:nvSpPr>
          <p:cNvPr id="43" name="Google Shape;43;p90"/>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just">
              <a:lnSpc>
                <a:spcPct val="100000"/>
              </a:lnSpc>
              <a:spcBef>
                <a:spcPts val="980"/>
              </a:spcBef>
              <a:spcAft>
                <a:spcPts val="0"/>
              </a:spcAft>
              <a:buSzPts val="2520"/>
              <a:buChar char="●"/>
              <a:defRPr sz="2800"/>
            </a:lvl1pPr>
            <a:lvl2pPr indent="-350519" lvl="1" marL="914400" algn="just">
              <a:lnSpc>
                <a:spcPct val="100000"/>
              </a:lnSpc>
              <a:spcBef>
                <a:spcPts val="840"/>
              </a:spcBef>
              <a:spcAft>
                <a:spcPts val="0"/>
              </a:spcAft>
              <a:buSzPts val="1920"/>
              <a:buChar char="●"/>
              <a:defRPr sz="2400"/>
            </a:lvl2pPr>
            <a:lvl3pPr indent="-323850" lvl="2" marL="1371600" algn="just">
              <a:lnSpc>
                <a:spcPct val="100000"/>
              </a:lnSpc>
              <a:spcBef>
                <a:spcPts val="700"/>
              </a:spcBef>
              <a:spcAft>
                <a:spcPts val="0"/>
              </a:spcAft>
              <a:buSzPts val="1500"/>
              <a:buChar char="4"/>
              <a:defRPr sz="2000"/>
            </a:lvl3pPr>
            <a:lvl4pPr indent="-314325" lvl="3" marL="1828800" algn="just">
              <a:lnSpc>
                <a:spcPct val="100000"/>
              </a:lnSpc>
              <a:spcBef>
                <a:spcPts val="630"/>
              </a:spcBef>
              <a:spcAft>
                <a:spcPts val="0"/>
              </a:spcAft>
              <a:buSzPts val="1350"/>
              <a:buFont typeface="Helvetica Neue"/>
              <a:buChar char="–"/>
              <a:defRPr sz="1800"/>
            </a:lvl4pPr>
            <a:lvl5pPr indent="-314325" lvl="4" marL="2286000" algn="just">
              <a:lnSpc>
                <a:spcPct val="100000"/>
              </a:lnSpc>
              <a:spcBef>
                <a:spcPts val="630"/>
              </a:spcBef>
              <a:spcAft>
                <a:spcPts val="0"/>
              </a:spcAft>
              <a:buSzPts val="1350"/>
              <a:buFont typeface="Helvetica Neue"/>
              <a:buChar char="»"/>
              <a:defRPr sz="1800"/>
            </a:lvl5pPr>
            <a:lvl6pPr indent="-314325" lvl="5" marL="2743200" algn="l">
              <a:lnSpc>
                <a:spcPct val="100000"/>
              </a:lnSpc>
              <a:spcBef>
                <a:spcPts val="630"/>
              </a:spcBef>
              <a:spcAft>
                <a:spcPts val="0"/>
              </a:spcAft>
              <a:buSzPts val="1350"/>
              <a:buFont typeface="Helvetica Neue"/>
              <a:buChar char="»"/>
              <a:defRPr sz="1800"/>
            </a:lvl6pPr>
            <a:lvl7pPr indent="-314325" lvl="6" marL="3200400" algn="l">
              <a:lnSpc>
                <a:spcPct val="100000"/>
              </a:lnSpc>
              <a:spcBef>
                <a:spcPts val="630"/>
              </a:spcBef>
              <a:spcAft>
                <a:spcPts val="0"/>
              </a:spcAft>
              <a:buSzPts val="1350"/>
              <a:buFont typeface="Helvetica Neue"/>
              <a:buChar char="»"/>
              <a:defRPr sz="1800"/>
            </a:lvl7pPr>
            <a:lvl8pPr indent="-314325" lvl="7" marL="3657600" algn="l">
              <a:lnSpc>
                <a:spcPct val="100000"/>
              </a:lnSpc>
              <a:spcBef>
                <a:spcPts val="630"/>
              </a:spcBef>
              <a:spcAft>
                <a:spcPts val="0"/>
              </a:spcAft>
              <a:buSzPts val="1350"/>
              <a:buFont typeface="Helvetica Neue"/>
              <a:buChar char="»"/>
              <a:defRPr sz="1800"/>
            </a:lvl8pPr>
            <a:lvl9pPr indent="-314325" lvl="8" marL="4114800" algn="l">
              <a:lnSpc>
                <a:spcPct val="100000"/>
              </a:lnSpc>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91"/>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 name="Google Shape;46;p9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840"/>
              </a:spcBef>
              <a:spcAft>
                <a:spcPts val="0"/>
              </a:spcAft>
              <a:buSzPts val="2160"/>
              <a:buNone/>
              <a:defRPr b="1" sz="2400"/>
            </a:lvl1pPr>
            <a:lvl2pPr indent="-228600" lvl="1" marL="914400" algn="just">
              <a:lnSpc>
                <a:spcPct val="100000"/>
              </a:lnSpc>
              <a:spcBef>
                <a:spcPts val="700"/>
              </a:spcBef>
              <a:spcAft>
                <a:spcPts val="0"/>
              </a:spcAft>
              <a:buSzPts val="1600"/>
              <a:buNone/>
              <a:defRPr b="1" sz="2000"/>
            </a:lvl2pPr>
            <a:lvl3pPr indent="-228600" lvl="2" marL="1371600" algn="just">
              <a:lnSpc>
                <a:spcPct val="100000"/>
              </a:lnSpc>
              <a:spcBef>
                <a:spcPts val="630"/>
              </a:spcBef>
              <a:spcAft>
                <a:spcPts val="0"/>
              </a:spcAft>
              <a:buSzPts val="1350"/>
              <a:buNone/>
              <a:defRPr b="1" sz="1800"/>
            </a:lvl3pPr>
            <a:lvl4pPr indent="-228600" lvl="3" marL="1828800" algn="just">
              <a:lnSpc>
                <a:spcPct val="100000"/>
              </a:lnSpc>
              <a:spcBef>
                <a:spcPts val="560"/>
              </a:spcBef>
              <a:spcAft>
                <a:spcPts val="0"/>
              </a:spcAft>
              <a:buSzPts val="1200"/>
              <a:buFont typeface="Helvetica Neue"/>
              <a:buNone/>
              <a:defRPr b="1" sz="1600"/>
            </a:lvl4pPr>
            <a:lvl5pPr indent="-228600" lvl="4" marL="2286000" algn="just">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47" name="Google Shape;47;p9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00000"/>
              </a:lnSpc>
              <a:spcBef>
                <a:spcPts val="840"/>
              </a:spcBef>
              <a:spcAft>
                <a:spcPts val="0"/>
              </a:spcAft>
              <a:buSzPts val="2160"/>
              <a:buChar char="●"/>
              <a:defRPr sz="2400"/>
            </a:lvl1pPr>
            <a:lvl2pPr indent="-330200" lvl="1" marL="914400" algn="just">
              <a:lnSpc>
                <a:spcPct val="100000"/>
              </a:lnSpc>
              <a:spcBef>
                <a:spcPts val="700"/>
              </a:spcBef>
              <a:spcAft>
                <a:spcPts val="0"/>
              </a:spcAft>
              <a:buSzPts val="1600"/>
              <a:buChar char="●"/>
              <a:defRPr sz="2000"/>
            </a:lvl2pPr>
            <a:lvl3pPr indent="-314325" lvl="2" marL="1371600" algn="just">
              <a:lnSpc>
                <a:spcPct val="100000"/>
              </a:lnSpc>
              <a:spcBef>
                <a:spcPts val="630"/>
              </a:spcBef>
              <a:spcAft>
                <a:spcPts val="0"/>
              </a:spcAft>
              <a:buSzPts val="1350"/>
              <a:buChar char="4"/>
              <a:defRPr sz="1800"/>
            </a:lvl3pPr>
            <a:lvl4pPr indent="-304800" lvl="3" marL="1828800" algn="just">
              <a:lnSpc>
                <a:spcPct val="100000"/>
              </a:lnSpc>
              <a:spcBef>
                <a:spcPts val="560"/>
              </a:spcBef>
              <a:spcAft>
                <a:spcPts val="0"/>
              </a:spcAft>
              <a:buSzPts val="1200"/>
              <a:buFont typeface="Helvetica Neue"/>
              <a:buChar char="–"/>
              <a:defRPr sz="1600"/>
            </a:lvl4pPr>
            <a:lvl5pPr indent="-304800" lvl="4" marL="2286000" algn="just">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
        <p:nvSpPr>
          <p:cNvPr id="48" name="Google Shape;48;p9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just">
              <a:lnSpc>
                <a:spcPct val="100000"/>
              </a:lnSpc>
              <a:spcBef>
                <a:spcPts val="840"/>
              </a:spcBef>
              <a:spcAft>
                <a:spcPts val="0"/>
              </a:spcAft>
              <a:buSzPts val="2160"/>
              <a:buNone/>
              <a:defRPr b="1" sz="2400"/>
            </a:lvl1pPr>
            <a:lvl2pPr indent="-228600" lvl="1" marL="914400" algn="just">
              <a:lnSpc>
                <a:spcPct val="100000"/>
              </a:lnSpc>
              <a:spcBef>
                <a:spcPts val="700"/>
              </a:spcBef>
              <a:spcAft>
                <a:spcPts val="0"/>
              </a:spcAft>
              <a:buSzPts val="1600"/>
              <a:buNone/>
              <a:defRPr b="1" sz="2000"/>
            </a:lvl2pPr>
            <a:lvl3pPr indent="-228600" lvl="2" marL="1371600" algn="just">
              <a:lnSpc>
                <a:spcPct val="100000"/>
              </a:lnSpc>
              <a:spcBef>
                <a:spcPts val="630"/>
              </a:spcBef>
              <a:spcAft>
                <a:spcPts val="0"/>
              </a:spcAft>
              <a:buSzPts val="1350"/>
              <a:buNone/>
              <a:defRPr b="1" sz="1800"/>
            </a:lvl3pPr>
            <a:lvl4pPr indent="-228600" lvl="3" marL="1828800" algn="just">
              <a:lnSpc>
                <a:spcPct val="100000"/>
              </a:lnSpc>
              <a:spcBef>
                <a:spcPts val="560"/>
              </a:spcBef>
              <a:spcAft>
                <a:spcPts val="0"/>
              </a:spcAft>
              <a:buSzPts val="1200"/>
              <a:buFont typeface="Helvetica Neue"/>
              <a:buNone/>
              <a:defRPr b="1" sz="1600"/>
            </a:lvl4pPr>
            <a:lvl5pPr indent="-228600" lvl="4" marL="2286000" algn="just">
              <a:lnSpc>
                <a:spcPct val="100000"/>
              </a:lnSpc>
              <a:spcBef>
                <a:spcPts val="560"/>
              </a:spcBef>
              <a:spcAft>
                <a:spcPts val="0"/>
              </a:spcAft>
              <a:buSzPts val="1200"/>
              <a:buFont typeface="Helvetica Neue"/>
              <a:buNone/>
              <a:defRPr b="1" sz="1600"/>
            </a:lvl5pPr>
            <a:lvl6pPr indent="-228600" lvl="5" marL="2743200" algn="l">
              <a:lnSpc>
                <a:spcPct val="100000"/>
              </a:lnSpc>
              <a:spcBef>
                <a:spcPts val="560"/>
              </a:spcBef>
              <a:spcAft>
                <a:spcPts val="0"/>
              </a:spcAft>
              <a:buSzPts val="1200"/>
              <a:buFont typeface="Helvetica Neue"/>
              <a:buNone/>
              <a:defRPr b="1" sz="1600"/>
            </a:lvl6pPr>
            <a:lvl7pPr indent="-228600" lvl="6" marL="3200400" algn="l">
              <a:lnSpc>
                <a:spcPct val="100000"/>
              </a:lnSpc>
              <a:spcBef>
                <a:spcPts val="560"/>
              </a:spcBef>
              <a:spcAft>
                <a:spcPts val="0"/>
              </a:spcAft>
              <a:buSzPts val="1200"/>
              <a:buFont typeface="Helvetica Neue"/>
              <a:buNone/>
              <a:defRPr b="1" sz="1600"/>
            </a:lvl7pPr>
            <a:lvl8pPr indent="-228600" lvl="7" marL="3657600" algn="l">
              <a:lnSpc>
                <a:spcPct val="100000"/>
              </a:lnSpc>
              <a:spcBef>
                <a:spcPts val="560"/>
              </a:spcBef>
              <a:spcAft>
                <a:spcPts val="0"/>
              </a:spcAft>
              <a:buSzPts val="1200"/>
              <a:buFont typeface="Helvetica Neue"/>
              <a:buNone/>
              <a:defRPr b="1" sz="1600"/>
            </a:lvl8pPr>
            <a:lvl9pPr indent="-228600" lvl="8" marL="4114800" algn="l">
              <a:lnSpc>
                <a:spcPct val="100000"/>
              </a:lnSpc>
              <a:spcBef>
                <a:spcPts val="560"/>
              </a:spcBef>
              <a:spcAft>
                <a:spcPts val="0"/>
              </a:spcAft>
              <a:buSzPts val="1200"/>
              <a:buFont typeface="Helvetica Neue"/>
              <a:buNone/>
              <a:defRPr b="1" sz="1600"/>
            </a:lvl9pPr>
          </a:lstStyle>
          <a:p/>
        </p:txBody>
      </p:sp>
      <p:sp>
        <p:nvSpPr>
          <p:cNvPr id="49" name="Google Shape;49;p9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just">
              <a:lnSpc>
                <a:spcPct val="100000"/>
              </a:lnSpc>
              <a:spcBef>
                <a:spcPts val="840"/>
              </a:spcBef>
              <a:spcAft>
                <a:spcPts val="0"/>
              </a:spcAft>
              <a:buSzPts val="2160"/>
              <a:buChar char="●"/>
              <a:defRPr sz="2400"/>
            </a:lvl1pPr>
            <a:lvl2pPr indent="-330200" lvl="1" marL="914400" algn="just">
              <a:lnSpc>
                <a:spcPct val="100000"/>
              </a:lnSpc>
              <a:spcBef>
                <a:spcPts val="700"/>
              </a:spcBef>
              <a:spcAft>
                <a:spcPts val="0"/>
              </a:spcAft>
              <a:buSzPts val="1600"/>
              <a:buChar char="●"/>
              <a:defRPr sz="2000"/>
            </a:lvl2pPr>
            <a:lvl3pPr indent="-314325" lvl="2" marL="1371600" algn="just">
              <a:lnSpc>
                <a:spcPct val="100000"/>
              </a:lnSpc>
              <a:spcBef>
                <a:spcPts val="630"/>
              </a:spcBef>
              <a:spcAft>
                <a:spcPts val="0"/>
              </a:spcAft>
              <a:buSzPts val="1350"/>
              <a:buChar char="4"/>
              <a:defRPr sz="1800"/>
            </a:lvl3pPr>
            <a:lvl4pPr indent="-304800" lvl="3" marL="1828800" algn="just">
              <a:lnSpc>
                <a:spcPct val="100000"/>
              </a:lnSpc>
              <a:spcBef>
                <a:spcPts val="560"/>
              </a:spcBef>
              <a:spcAft>
                <a:spcPts val="0"/>
              </a:spcAft>
              <a:buSzPts val="1200"/>
              <a:buFont typeface="Helvetica Neue"/>
              <a:buChar char="–"/>
              <a:defRPr sz="1600"/>
            </a:lvl4pPr>
            <a:lvl5pPr indent="-304800" lvl="4" marL="2286000" algn="just">
              <a:lnSpc>
                <a:spcPct val="100000"/>
              </a:lnSpc>
              <a:spcBef>
                <a:spcPts val="560"/>
              </a:spcBef>
              <a:spcAft>
                <a:spcPts val="0"/>
              </a:spcAft>
              <a:buSzPts val="1200"/>
              <a:buFont typeface="Helvetica Neue"/>
              <a:buChar char="»"/>
              <a:defRPr sz="1600"/>
            </a:lvl5pPr>
            <a:lvl6pPr indent="-304800" lvl="5" marL="2743200" algn="l">
              <a:lnSpc>
                <a:spcPct val="100000"/>
              </a:lnSpc>
              <a:spcBef>
                <a:spcPts val="560"/>
              </a:spcBef>
              <a:spcAft>
                <a:spcPts val="0"/>
              </a:spcAft>
              <a:buSzPts val="1200"/>
              <a:buFont typeface="Helvetica Neue"/>
              <a:buChar char="»"/>
              <a:defRPr sz="1600"/>
            </a:lvl6pPr>
            <a:lvl7pPr indent="-304800" lvl="6" marL="3200400" algn="l">
              <a:lnSpc>
                <a:spcPct val="100000"/>
              </a:lnSpc>
              <a:spcBef>
                <a:spcPts val="560"/>
              </a:spcBef>
              <a:spcAft>
                <a:spcPts val="0"/>
              </a:spcAft>
              <a:buSzPts val="1200"/>
              <a:buFont typeface="Helvetica Neue"/>
              <a:buChar char="»"/>
              <a:defRPr sz="1600"/>
            </a:lvl7pPr>
            <a:lvl8pPr indent="-304800" lvl="7" marL="3657600" algn="l">
              <a:lnSpc>
                <a:spcPct val="100000"/>
              </a:lnSpc>
              <a:spcBef>
                <a:spcPts val="560"/>
              </a:spcBef>
              <a:spcAft>
                <a:spcPts val="0"/>
              </a:spcAft>
              <a:buSzPts val="1200"/>
              <a:buFont typeface="Helvetica Neue"/>
              <a:buChar char="»"/>
              <a:defRPr sz="1600"/>
            </a:lvl8pPr>
            <a:lvl9pPr indent="-304800" lvl="8" marL="4114800" algn="l">
              <a:lnSpc>
                <a:spcPct val="100000"/>
              </a:lnSpc>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9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just">
              <a:lnSpc>
                <a:spcPct val="100000"/>
              </a:lnSpc>
              <a:spcBef>
                <a:spcPts val="1120"/>
              </a:spcBef>
              <a:spcAft>
                <a:spcPts val="0"/>
              </a:spcAft>
              <a:buSzPts val="2880"/>
              <a:buChar char="●"/>
              <a:defRPr sz="3200"/>
            </a:lvl1pPr>
            <a:lvl2pPr indent="-370840" lvl="1" marL="914400" algn="just">
              <a:lnSpc>
                <a:spcPct val="100000"/>
              </a:lnSpc>
              <a:spcBef>
                <a:spcPts val="980"/>
              </a:spcBef>
              <a:spcAft>
                <a:spcPts val="0"/>
              </a:spcAft>
              <a:buSzPts val="2240"/>
              <a:buChar char="●"/>
              <a:defRPr sz="2800"/>
            </a:lvl2pPr>
            <a:lvl3pPr indent="-342900" lvl="2" marL="1371600" algn="just">
              <a:lnSpc>
                <a:spcPct val="100000"/>
              </a:lnSpc>
              <a:spcBef>
                <a:spcPts val="840"/>
              </a:spcBef>
              <a:spcAft>
                <a:spcPts val="0"/>
              </a:spcAft>
              <a:buSzPts val="1800"/>
              <a:buChar char="4"/>
              <a:defRPr sz="2400"/>
            </a:lvl3pPr>
            <a:lvl4pPr indent="-323850" lvl="3" marL="1828800" algn="just">
              <a:lnSpc>
                <a:spcPct val="100000"/>
              </a:lnSpc>
              <a:spcBef>
                <a:spcPts val="700"/>
              </a:spcBef>
              <a:spcAft>
                <a:spcPts val="0"/>
              </a:spcAft>
              <a:buSzPts val="1500"/>
              <a:buFont typeface="Helvetica Neue"/>
              <a:buChar char="–"/>
              <a:defRPr sz="2000"/>
            </a:lvl4pPr>
            <a:lvl5pPr indent="-323850" lvl="4" marL="2286000" algn="just">
              <a:lnSpc>
                <a:spcPct val="100000"/>
              </a:lnSpc>
              <a:spcBef>
                <a:spcPts val="700"/>
              </a:spcBef>
              <a:spcAft>
                <a:spcPts val="0"/>
              </a:spcAft>
              <a:buSzPts val="1500"/>
              <a:buFont typeface="Helvetica Neue"/>
              <a:buChar char="»"/>
              <a:defRPr sz="2000"/>
            </a:lvl5pPr>
            <a:lvl6pPr indent="-323850" lvl="5" marL="2743200" algn="l">
              <a:lnSpc>
                <a:spcPct val="100000"/>
              </a:lnSpc>
              <a:spcBef>
                <a:spcPts val="700"/>
              </a:spcBef>
              <a:spcAft>
                <a:spcPts val="0"/>
              </a:spcAft>
              <a:buSzPts val="1500"/>
              <a:buFont typeface="Helvetica Neue"/>
              <a:buChar char="»"/>
              <a:defRPr sz="2000"/>
            </a:lvl6pPr>
            <a:lvl7pPr indent="-323850" lvl="6" marL="3200400" algn="l">
              <a:lnSpc>
                <a:spcPct val="100000"/>
              </a:lnSpc>
              <a:spcBef>
                <a:spcPts val="700"/>
              </a:spcBef>
              <a:spcAft>
                <a:spcPts val="0"/>
              </a:spcAft>
              <a:buSzPts val="1500"/>
              <a:buFont typeface="Helvetica Neue"/>
              <a:buChar char="»"/>
              <a:defRPr sz="2000"/>
            </a:lvl7pPr>
            <a:lvl8pPr indent="-323850" lvl="7" marL="3657600" algn="l">
              <a:lnSpc>
                <a:spcPct val="100000"/>
              </a:lnSpc>
              <a:spcBef>
                <a:spcPts val="700"/>
              </a:spcBef>
              <a:spcAft>
                <a:spcPts val="0"/>
              </a:spcAft>
              <a:buSzPts val="1500"/>
              <a:buFont typeface="Helvetica Neue"/>
              <a:buChar char="»"/>
              <a:defRPr sz="2000"/>
            </a:lvl8pPr>
            <a:lvl9pPr indent="-323850" lvl="8" marL="4114800" algn="l">
              <a:lnSpc>
                <a:spcPct val="100000"/>
              </a:lnSpc>
              <a:spcBef>
                <a:spcPts val="700"/>
              </a:spcBef>
              <a:spcAft>
                <a:spcPts val="0"/>
              </a:spcAft>
              <a:buSzPts val="1500"/>
              <a:buFont typeface="Helvetica Neue"/>
              <a:buChar char="»"/>
              <a:defRPr sz="2000"/>
            </a:lvl9pPr>
          </a:lstStyle>
          <a:p/>
        </p:txBody>
      </p:sp>
      <p:sp>
        <p:nvSpPr>
          <p:cNvPr id="53" name="Google Shape;53;p9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just">
              <a:lnSpc>
                <a:spcPct val="100000"/>
              </a:lnSpc>
              <a:spcBef>
                <a:spcPts val="490"/>
              </a:spcBef>
              <a:spcAft>
                <a:spcPts val="0"/>
              </a:spcAft>
              <a:buSzPts val="1260"/>
              <a:buNone/>
              <a:defRPr sz="1400"/>
            </a:lvl1pPr>
            <a:lvl2pPr indent="-228600" lvl="1" marL="914400" algn="just">
              <a:lnSpc>
                <a:spcPct val="100000"/>
              </a:lnSpc>
              <a:spcBef>
                <a:spcPts val="420"/>
              </a:spcBef>
              <a:spcAft>
                <a:spcPts val="0"/>
              </a:spcAft>
              <a:buSzPts val="960"/>
              <a:buNone/>
              <a:defRPr sz="1200"/>
            </a:lvl2pPr>
            <a:lvl3pPr indent="-228600" lvl="2" marL="1371600" algn="just">
              <a:lnSpc>
                <a:spcPct val="100000"/>
              </a:lnSpc>
              <a:spcBef>
                <a:spcPts val="350"/>
              </a:spcBef>
              <a:spcAft>
                <a:spcPts val="0"/>
              </a:spcAft>
              <a:buSzPts val="750"/>
              <a:buNone/>
              <a:defRPr sz="1000"/>
            </a:lvl3pPr>
            <a:lvl4pPr indent="-228600" lvl="3" marL="1828800" algn="just">
              <a:lnSpc>
                <a:spcPct val="100000"/>
              </a:lnSpc>
              <a:spcBef>
                <a:spcPts val="315"/>
              </a:spcBef>
              <a:spcAft>
                <a:spcPts val="0"/>
              </a:spcAft>
              <a:buSzPts val="675"/>
              <a:buFont typeface="Helvetica Neue"/>
              <a:buNone/>
              <a:defRPr sz="900"/>
            </a:lvl4pPr>
            <a:lvl5pPr indent="-228600" lvl="4" marL="2286000" algn="just">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9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93"/>
          <p:cNvSpPr/>
          <p:nvPr>
            <p:ph idx="2" type="pic"/>
          </p:nvPr>
        </p:nvSpPr>
        <p:spPr>
          <a:xfrm>
            <a:off x="1792288" y="612775"/>
            <a:ext cx="5486400" cy="4114800"/>
          </a:xfrm>
          <a:prstGeom prst="rect">
            <a:avLst/>
          </a:prstGeom>
          <a:noFill/>
          <a:ln>
            <a:noFill/>
          </a:ln>
        </p:spPr>
      </p:sp>
      <p:sp>
        <p:nvSpPr>
          <p:cNvPr id="57" name="Google Shape;57;p9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just">
              <a:lnSpc>
                <a:spcPct val="100000"/>
              </a:lnSpc>
              <a:spcBef>
                <a:spcPts val="490"/>
              </a:spcBef>
              <a:spcAft>
                <a:spcPts val="0"/>
              </a:spcAft>
              <a:buSzPts val="1260"/>
              <a:buNone/>
              <a:defRPr sz="1400"/>
            </a:lvl1pPr>
            <a:lvl2pPr indent="-228600" lvl="1" marL="914400" algn="just">
              <a:lnSpc>
                <a:spcPct val="100000"/>
              </a:lnSpc>
              <a:spcBef>
                <a:spcPts val="420"/>
              </a:spcBef>
              <a:spcAft>
                <a:spcPts val="0"/>
              </a:spcAft>
              <a:buSzPts val="960"/>
              <a:buNone/>
              <a:defRPr sz="1200"/>
            </a:lvl2pPr>
            <a:lvl3pPr indent="-228600" lvl="2" marL="1371600" algn="just">
              <a:lnSpc>
                <a:spcPct val="100000"/>
              </a:lnSpc>
              <a:spcBef>
                <a:spcPts val="350"/>
              </a:spcBef>
              <a:spcAft>
                <a:spcPts val="0"/>
              </a:spcAft>
              <a:buSzPts val="750"/>
              <a:buNone/>
              <a:defRPr sz="1000"/>
            </a:lvl3pPr>
            <a:lvl4pPr indent="-228600" lvl="3" marL="1828800" algn="just">
              <a:lnSpc>
                <a:spcPct val="100000"/>
              </a:lnSpc>
              <a:spcBef>
                <a:spcPts val="315"/>
              </a:spcBef>
              <a:spcAft>
                <a:spcPts val="0"/>
              </a:spcAft>
              <a:buSzPts val="675"/>
              <a:buFont typeface="Helvetica Neue"/>
              <a:buNone/>
              <a:defRPr sz="900"/>
            </a:lvl4pPr>
            <a:lvl5pPr indent="-228600" lvl="4" marL="2286000" algn="just">
              <a:lnSpc>
                <a:spcPct val="100000"/>
              </a:lnSpc>
              <a:spcBef>
                <a:spcPts val="315"/>
              </a:spcBef>
              <a:spcAft>
                <a:spcPts val="0"/>
              </a:spcAft>
              <a:buSzPts val="675"/>
              <a:buFont typeface="Helvetica Neue"/>
              <a:buNone/>
              <a:defRPr sz="900"/>
            </a:lvl5pPr>
            <a:lvl6pPr indent="-228600" lvl="5" marL="2743200" algn="l">
              <a:lnSpc>
                <a:spcPct val="100000"/>
              </a:lnSpc>
              <a:spcBef>
                <a:spcPts val="315"/>
              </a:spcBef>
              <a:spcAft>
                <a:spcPts val="0"/>
              </a:spcAft>
              <a:buSzPts val="675"/>
              <a:buFont typeface="Helvetica Neue"/>
              <a:buNone/>
              <a:defRPr sz="900"/>
            </a:lvl6pPr>
            <a:lvl7pPr indent="-228600" lvl="6" marL="3200400" algn="l">
              <a:lnSpc>
                <a:spcPct val="100000"/>
              </a:lnSpc>
              <a:spcBef>
                <a:spcPts val="315"/>
              </a:spcBef>
              <a:spcAft>
                <a:spcPts val="0"/>
              </a:spcAft>
              <a:buSzPts val="675"/>
              <a:buFont typeface="Helvetica Neue"/>
              <a:buNone/>
              <a:defRPr sz="900"/>
            </a:lvl7pPr>
            <a:lvl8pPr indent="-228600" lvl="7" marL="3657600" algn="l">
              <a:lnSpc>
                <a:spcPct val="100000"/>
              </a:lnSpc>
              <a:spcBef>
                <a:spcPts val="315"/>
              </a:spcBef>
              <a:spcAft>
                <a:spcPts val="0"/>
              </a:spcAft>
              <a:buSzPts val="675"/>
              <a:buFont typeface="Helvetica Neue"/>
              <a:buNone/>
              <a:defRPr sz="900"/>
            </a:lvl8pPr>
            <a:lvl9pPr indent="-228600" lvl="8" marL="4114800" algn="l">
              <a:lnSpc>
                <a:spcPct val="100000"/>
              </a:lnSpc>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94"/>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94"/>
          <p:cNvSpPr txBox="1"/>
          <p:nvPr>
            <p:ph idx="1" type="body"/>
          </p:nvPr>
        </p:nvSpPr>
        <p:spPr>
          <a:xfrm rot="5400000">
            <a:off x="2481262" y="-790575"/>
            <a:ext cx="4530725" cy="8578850"/>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95"/>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95"/>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just">
              <a:lnSpc>
                <a:spcPct val="100000"/>
              </a:lnSpc>
              <a:spcBef>
                <a:spcPts val="630"/>
              </a:spcBef>
              <a:spcAft>
                <a:spcPts val="0"/>
              </a:spcAft>
              <a:buSzPts val="1620"/>
              <a:buChar char="●"/>
              <a:defRPr/>
            </a:lvl1pPr>
            <a:lvl2pPr indent="-320040" lvl="1" marL="914400" algn="just">
              <a:lnSpc>
                <a:spcPct val="100000"/>
              </a:lnSpc>
              <a:spcBef>
                <a:spcPts val="630"/>
              </a:spcBef>
              <a:spcAft>
                <a:spcPts val="0"/>
              </a:spcAft>
              <a:buSzPts val="1440"/>
              <a:buChar char="●"/>
              <a:defRPr/>
            </a:lvl2pPr>
            <a:lvl3pPr indent="-314325" lvl="2" marL="1371600" algn="just">
              <a:lnSpc>
                <a:spcPct val="100000"/>
              </a:lnSpc>
              <a:spcBef>
                <a:spcPts val="630"/>
              </a:spcBef>
              <a:spcAft>
                <a:spcPts val="0"/>
              </a:spcAft>
              <a:buSzPts val="1350"/>
              <a:buChar char="4"/>
              <a:defRPr/>
            </a:lvl3pPr>
            <a:lvl4pPr indent="-314325" lvl="3" marL="1828800" algn="just">
              <a:lnSpc>
                <a:spcPct val="100000"/>
              </a:lnSpc>
              <a:spcBef>
                <a:spcPts val="630"/>
              </a:spcBef>
              <a:spcAft>
                <a:spcPts val="0"/>
              </a:spcAft>
              <a:buSzPts val="1350"/>
              <a:buChar char="–"/>
              <a:defRPr/>
            </a:lvl4pPr>
            <a:lvl5pPr indent="-314325" lvl="4" marL="2286000" algn="just">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76" name="Shape 76"/>
        <p:cNvGrpSpPr/>
        <p:nvPr/>
      </p:nvGrpSpPr>
      <p:grpSpPr>
        <a:xfrm>
          <a:off x="0" y="0"/>
          <a:ext cx="0" cy="0"/>
          <a:chOff x="0" y="0"/>
          <a:chExt cx="0" cy="0"/>
        </a:xfrm>
      </p:grpSpPr>
      <p:sp>
        <p:nvSpPr>
          <p:cNvPr id="77" name="Google Shape;77;p117"/>
          <p:cNvSpPr/>
          <p:nvPr/>
        </p:nvSpPr>
        <p:spPr>
          <a:xfrm>
            <a:off x="339634" y="-26126"/>
            <a:ext cx="1110343" cy="87521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theme" Target="../theme/theme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7.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7.jpg"/><Relationship Id="rId3" Type="http://schemas.openxmlformats.org/officeDocument/2006/relationships/slideLayout" Target="../slideLayouts/slideLayout11.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80"/>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8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9pPr>
          </a:lstStyle>
          <a:p/>
        </p:txBody>
      </p:sp>
      <p:sp>
        <p:nvSpPr>
          <p:cNvPr id="12" name="Google Shape;12;p80"/>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lvl1pPr indent="-354330" lvl="0" marL="457200" marR="0" rtl="0" algn="just">
              <a:lnSpc>
                <a:spcPct val="100000"/>
              </a:lnSpc>
              <a:spcBef>
                <a:spcPts val="770"/>
              </a:spcBef>
              <a:spcAft>
                <a:spcPts val="0"/>
              </a:spcAft>
              <a:buClr>
                <a:srgbClr val="993300"/>
              </a:buClr>
              <a:buSzPts val="1980"/>
              <a:buFont typeface="Arial"/>
              <a:buChar char="●"/>
              <a:defRPr b="0" i="0" sz="2200" u="none" cap="none" strike="noStrike">
                <a:solidFill>
                  <a:schemeClr val="dk1"/>
                </a:solidFill>
                <a:latin typeface="Helvetica Neue"/>
                <a:ea typeface="Helvetica Neue"/>
                <a:cs typeface="Helvetica Neue"/>
                <a:sym typeface="Helvetica Neue"/>
              </a:defRPr>
            </a:lvl1pPr>
            <a:lvl2pPr indent="-340360" lvl="1" marL="914400" marR="0" rtl="0" algn="just">
              <a:lnSpc>
                <a:spcPct val="100000"/>
              </a:lnSpc>
              <a:spcBef>
                <a:spcPts val="770"/>
              </a:spcBef>
              <a:spcAft>
                <a:spcPts val="0"/>
              </a:spcAft>
              <a:buClr>
                <a:srgbClr val="CC6600"/>
              </a:buClr>
              <a:buSzPts val="1760"/>
              <a:buFont typeface="Arial"/>
              <a:buChar char="●"/>
              <a:defRPr b="0" i="0" sz="2200" u="none" cap="none" strike="noStrike">
                <a:solidFill>
                  <a:schemeClr val="dk1"/>
                </a:solidFill>
                <a:latin typeface="Helvetica Neue"/>
                <a:ea typeface="Helvetica Neue"/>
                <a:cs typeface="Helvetica Neue"/>
                <a:sym typeface="Helvetica Neue"/>
              </a:defRPr>
            </a:lvl2pPr>
            <a:lvl3pPr indent="-323850" lvl="2" marL="1371600" marR="0" rtl="0" algn="just">
              <a:lnSpc>
                <a:spcPct val="100000"/>
              </a:lnSpc>
              <a:spcBef>
                <a:spcPts val="700"/>
              </a:spcBef>
              <a:spcAft>
                <a:spcPts val="0"/>
              </a:spcAft>
              <a:buClr>
                <a:srgbClr val="009900"/>
              </a:buClr>
              <a:buSzPts val="1500"/>
              <a:buFont typeface="Arimo"/>
              <a:buChar char="4"/>
              <a:defRPr b="0" i="0" sz="2000" u="none" cap="none" strike="noStrike">
                <a:solidFill>
                  <a:schemeClr val="dk1"/>
                </a:solidFill>
                <a:latin typeface="Helvetica Neue"/>
                <a:ea typeface="Helvetica Neue"/>
                <a:cs typeface="Helvetica Neue"/>
                <a:sym typeface="Helvetica Neue"/>
              </a:defRPr>
            </a:lvl3pPr>
            <a:lvl4pPr indent="-323850" lvl="3" marL="1828800" marR="0" rtl="0" algn="just">
              <a:lnSpc>
                <a:spcPct val="100000"/>
              </a:lnSpc>
              <a:spcBef>
                <a:spcPts val="700"/>
              </a:spcBef>
              <a:spcAft>
                <a:spcPts val="0"/>
              </a:spcAft>
              <a:buClr>
                <a:schemeClr val="hlink"/>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14325" lvl="4" marL="2286000" marR="0" rtl="0" algn="just">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80"/>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80"/>
          <p:cNvCxnSpPr/>
          <p:nvPr/>
        </p:nvCxnSpPr>
        <p:spPr>
          <a:xfrm>
            <a:off x="457200" y="860425"/>
            <a:ext cx="8077200" cy="0"/>
          </a:xfrm>
          <a:prstGeom prst="straightConnector1">
            <a:avLst/>
          </a:prstGeom>
          <a:noFill/>
          <a:ln cap="flat" cmpd="sng" w="19050">
            <a:solidFill>
              <a:srgbClr val="336699"/>
            </a:solidFill>
            <a:prstDash val="solid"/>
            <a:round/>
            <a:headEnd len="sm" w="sm" type="none"/>
            <a:tailEnd len="sm" w="sm" type="none"/>
          </a:ln>
        </p:spPr>
      </p:cxnSp>
      <p:sp>
        <p:nvSpPr>
          <p:cNvPr id="15" name="Google Shape;15;p80"/>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80"/>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80"/>
          <p:cNvSpPr txBox="1"/>
          <p:nvPr/>
        </p:nvSpPr>
        <p:spPr>
          <a:xfrm>
            <a:off x="4257675"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1.</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80"/>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19" name="Google Shape;19;p80"/>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6" id="20" name="Google Shape;20;p80"/>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pic>
        <p:nvPicPr>
          <p:cNvPr descr="dino_3" id="65" name="Google Shape;65;p116"/>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66" name="Google Shape;66;p116"/>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1" i="0" sz="3200" u="none" cap="none" strike="noStrike">
                <a:solidFill>
                  <a:srgbClr val="006699"/>
                </a:solidFill>
                <a:latin typeface="Arial"/>
                <a:ea typeface="Arial"/>
                <a:cs typeface="Arial"/>
                <a:sym typeface="Arial"/>
              </a:defRPr>
            </a:lvl9pPr>
          </a:lstStyle>
          <a:p/>
        </p:txBody>
      </p:sp>
      <p:sp>
        <p:nvSpPr>
          <p:cNvPr id="67" name="Google Shape;67;p116"/>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lvl1pPr indent="-354330" lvl="0" marL="457200" marR="0" rtl="0" algn="just">
              <a:lnSpc>
                <a:spcPct val="100000"/>
              </a:lnSpc>
              <a:spcBef>
                <a:spcPts val="770"/>
              </a:spcBef>
              <a:spcAft>
                <a:spcPts val="0"/>
              </a:spcAft>
              <a:buClr>
                <a:srgbClr val="993300"/>
              </a:buClr>
              <a:buSzPts val="1980"/>
              <a:buFont typeface="Arial"/>
              <a:buChar char="●"/>
              <a:defRPr b="0" i="0" sz="2200" u="none" cap="none" strike="noStrike">
                <a:solidFill>
                  <a:schemeClr val="dk1"/>
                </a:solidFill>
                <a:latin typeface="Helvetica Neue"/>
                <a:ea typeface="Helvetica Neue"/>
                <a:cs typeface="Helvetica Neue"/>
                <a:sym typeface="Helvetica Neue"/>
              </a:defRPr>
            </a:lvl1pPr>
            <a:lvl2pPr indent="-340360" lvl="1" marL="914400" marR="0" rtl="0" algn="just">
              <a:lnSpc>
                <a:spcPct val="100000"/>
              </a:lnSpc>
              <a:spcBef>
                <a:spcPts val="770"/>
              </a:spcBef>
              <a:spcAft>
                <a:spcPts val="0"/>
              </a:spcAft>
              <a:buClr>
                <a:srgbClr val="CC6600"/>
              </a:buClr>
              <a:buSzPts val="1760"/>
              <a:buFont typeface="Arial"/>
              <a:buChar char="●"/>
              <a:defRPr b="0" i="0" sz="2200" u="none" cap="none" strike="noStrike">
                <a:solidFill>
                  <a:schemeClr val="dk1"/>
                </a:solidFill>
                <a:latin typeface="Helvetica Neue"/>
                <a:ea typeface="Helvetica Neue"/>
                <a:cs typeface="Helvetica Neue"/>
                <a:sym typeface="Helvetica Neue"/>
              </a:defRPr>
            </a:lvl2pPr>
            <a:lvl3pPr indent="-323850" lvl="2" marL="1371600" marR="0" rtl="0" algn="just">
              <a:lnSpc>
                <a:spcPct val="100000"/>
              </a:lnSpc>
              <a:spcBef>
                <a:spcPts val="700"/>
              </a:spcBef>
              <a:spcAft>
                <a:spcPts val="0"/>
              </a:spcAft>
              <a:buClr>
                <a:srgbClr val="009900"/>
              </a:buClr>
              <a:buSzPts val="1500"/>
              <a:buFont typeface="Arimo"/>
              <a:buChar char="4"/>
              <a:defRPr b="0" i="0" sz="2000" u="none" cap="none" strike="noStrike">
                <a:solidFill>
                  <a:schemeClr val="dk1"/>
                </a:solidFill>
                <a:latin typeface="Helvetica Neue"/>
                <a:ea typeface="Helvetica Neue"/>
                <a:cs typeface="Helvetica Neue"/>
                <a:sym typeface="Helvetica Neue"/>
              </a:defRPr>
            </a:lvl3pPr>
            <a:lvl4pPr indent="-323850" lvl="3" marL="1828800" marR="0" rtl="0" algn="just">
              <a:lnSpc>
                <a:spcPct val="100000"/>
              </a:lnSpc>
              <a:spcBef>
                <a:spcPts val="700"/>
              </a:spcBef>
              <a:spcAft>
                <a:spcPts val="0"/>
              </a:spcAft>
              <a:buClr>
                <a:schemeClr val="hlink"/>
              </a:buClr>
              <a:buSzPts val="15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14325" lvl="4" marL="2286000" marR="0" rtl="0" algn="just">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68" name="Google Shape;68;p116"/>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9" name="Google Shape;69;p116"/>
          <p:cNvCxnSpPr/>
          <p:nvPr/>
        </p:nvCxnSpPr>
        <p:spPr>
          <a:xfrm>
            <a:off x="457200" y="860425"/>
            <a:ext cx="8077200" cy="0"/>
          </a:xfrm>
          <a:prstGeom prst="straightConnector1">
            <a:avLst/>
          </a:prstGeom>
          <a:noFill/>
          <a:ln cap="flat" cmpd="sng" w="19050">
            <a:solidFill>
              <a:srgbClr val="336699"/>
            </a:solidFill>
            <a:prstDash val="solid"/>
            <a:round/>
            <a:headEnd len="sm" w="sm" type="none"/>
            <a:tailEnd len="sm" w="sm" type="none"/>
          </a:ln>
        </p:spPr>
      </p:cxnSp>
      <p:sp>
        <p:nvSpPr>
          <p:cNvPr id="70" name="Google Shape;70;p116"/>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 name="Google Shape;71;p116"/>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 name="Google Shape;72;p116"/>
          <p:cNvSpPr txBox="1"/>
          <p:nvPr/>
        </p:nvSpPr>
        <p:spPr>
          <a:xfrm>
            <a:off x="4257675"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1.</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73" name="Google Shape;73;p116"/>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b="0" i="0" sz="1400" u="none" cap="none" strike="noStrike">
              <a:solidFill>
                <a:srgbClr val="000000"/>
              </a:solidFill>
              <a:latin typeface="Arial"/>
              <a:ea typeface="Arial"/>
              <a:cs typeface="Arial"/>
              <a:sym typeface="Arial"/>
            </a:endParaRPr>
          </a:p>
        </p:txBody>
      </p:sp>
      <p:sp>
        <p:nvSpPr>
          <p:cNvPr id="74" name="Google Shape;74;p116"/>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b="0" i="0" sz="1400" u="none" cap="none" strike="noStrike">
              <a:solidFill>
                <a:srgbClr val="000000"/>
              </a:solidFill>
              <a:latin typeface="Arial"/>
              <a:ea typeface="Arial"/>
              <a:cs typeface="Arial"/>
              <a:sym typeface="Arial"/>
            </a:endParaRPr>
          </a:p>
        </p:txBody>
      </p:sp>
      <p:pic>
        <p:nvPicPr>
          <p:cNvPr descr="dino_6" id="75" name="Google Shape;75;p116"/>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jpg"/><Relationship Id="rId4" Type="http://schemas.openxmlformats.org/officeDocument/2006/relationships/image" Target="../media/image10.jpg"/><Relationship Id="rId5"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jpg"/><Relationship Id="rId4" Type="http://schemas.openxmlformats.org/officeDocument/2006/relationships/image" Target="../media/image2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png"/><Relationship Id="rId4" Type="http://schemas.openxmlformats.org/officeDocument/2006/relationships/image" Target="../media/image1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23.png"/><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ctrTitle"/>
          </p:nvPr>
        </p:nvSpPr>
        <p:spPr>
          <a:xfrm>
            <a:off x="371475" y="1900238"/>
            <a:ext cx="84582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1: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idx="4294967295" type="body"/>
          </p:nvPr>
        </p:nvSpPr>
        <p:spPr>
          <a:xfrm>
            <a:off x="263623" y="1422024"/>
            <a:ext cx="3516525" cy="4481512"/>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800"/>
              <a:buNone/>
            </a:pPr>
            <a:r>
              <a:rPr b="1" lang="en-US" sz="1600"/>
              <a:t>Content</a:t>
            </a:r>
            <a:endParaRPr/>
          </a:p>
          <a:p>
            <a:pPr indent="-342900" lvl="0" marL="342900" rtl="0" algn="just">
              <a:lnSpc>
                <a:spcPct val="100000"/>
              </a:lnSpc>
              <a:spcBef>
                <a:spcPts val="600"/>
              </a:spcBef>
              <a:spcAft>
                <a:spcPts val="0"/>
              </a:spcAft>
              <a:buClr>
                <a:schemeClr val="dk1"/>
              </a:buClr>
              <a:buSzPts val="1800"/>
              <a:buFont typeface="Arial"/>
              <a:buAutoNum type="arabicPeriod"/>
            </a:pPr>
            <a:r>
              <a:rPr lang="en-US" sz="1600">
                <a:highlight>
                  <a:schemeClr val="lt1"/>
                </a:highlight>
              </a:rPr>
              <a:t>What Operating Systems Do?</a:t>
            </a:r>
            <a:endParaRPr sz="1600">
              <a:highlight>
                <a:schemeClr val="lt1"/>
              </a:highlight>
            </a:endParaRPr>
          </a:p>
          <a:p>
            <a:pPr indent="-342900" lvl="0" marL="342900" rtl="0" algn="just">
              <a:lnSpc>
                <a:spcPct val="100000"/>
              </a:lnSpc>
              <a:spcBef>
                <a:spcPts val="600"/>
              </a:spcBef>
              <a:spcAft>
                <a:spcPts val="0"/>
              </a:spcAft>
              <a:buSzPts val="1800"/>
              <a:buFont typeface="Arial"/>
              <a:buAutoNum type="arabicPeriod"/>
            </a:pPr>
            <a:r>
              <a:rPr lang="en-US" sz="1600"/>
              <a:t>Computer-System Organization</a:t>
            </a:r>
            <a:endParaRPr sz="1600"/>
          </a:p>
          <a:p>
            <a:pPr indent="-342900" lvl="0" marL="342900" rtl="0" algn="just">
              <a:lnSpc>
                <a:spcPct val="100000"/>
              </a:lnSpc>
              <a:spcBef>
                <a:spcPts val="600"/>
              </a:spcBef>
              <a:spcAft>
                <a:spcPts val="0"/>
              </a:spcAft>
              <a:buSzPts val="1800"/>
              <a:buFont typeface="Arial"/>
              <a:buAutoNum type="arabicPeriod"/>
            </a:pPr>
            <a:r>
              <a:rPr lang="en-US" sz="1600"/>
              <a:t>Computer-System Architecture</a:t>
            </a:r>
            <a:endParaRPr sz="1600"/>
          </a:p>
          <a:p>
            <a:pPr indent="-342900" lvl="0" marL="342900" rtl="0" algn="just">
              <a:lnSpc>
                <a:spcPct val="100000"/>
              </a:lnSpc>
              <a:spcBef>
                <a:spcPts val="600"/>
              </a:spcBef>
              <a:spcAft>
                <a:spcPts val="0"/>
              </a:spcAft>
              <a:buSzPts val="1800"/>
              <a:buFont typeface="Arial"/>
              <a:buAutoNum type="arabicPeriod"/>
            </a:pPr>
            <a:r>
              <a:rPr lang="en-US" sz="1600"/>
              <a:t>Operating-System Structure</a:t>
            </a:r>
            <a:endParaRPr sz="1600"/>
          </a:p>
          <a:p>
            <a:pPr indent="-342900" lvl="0" marL="342900" rtl="0" algn="just">
              <a:lnSpc>
                <a:spcPct val="100000"/>
              </a:lnSpc>
              <a:spcBef>
                <a:spcPts val="600"/>
              </a:spcBef>
              <a:spcAft>
                <a:spcPts val="0"/>
              </a:spcAft>
              <a:buSzPts val="1800"/>
              <a:buFont typeface="Arial"/>
              <a:buAutoNum type="arabicPeriod"/>
            </a:pPr>
            <a:r>
              <a:rPr lang="en-US" sz="1600"/>
              <a:t>Operating-System Operations</a:t>
            </a:r>
            <a:endParaRPr sz="1600"/>
          </a:p>
          <a:p>
            <a:pPr indent="-342900" lvl="0" marL="342900" rtl="0" algn="just">
              <a:lnSpc>
                <a:spcPct val="100000"/>
              </a:lnSpc>
              <a:spcBef>
                <a:spcPts val="600"/>
              </a:spcBef>
              <a:spcAft>
                <a:spcPts val="0"/>
              </a:spcAft>
              <a:buSzPts val="1800"/>
              <a:buFont typeface="Arial"/>
              <a:buAutoNum type="arabicPeriod"/>
            </a:pPr>
            <a:r>
              <a:rPr lang="en-US" sz="1600"/>
              <a:t>Protection and Security</a:t>
            </a:r>
            <a:endParaRPr/>
          </a:p>
          <a:p>
            <a:pPr indent="-342900" lvl="0" marL="342900" rtl="0" algn="just">
              <a:lnSpc>
                <a:spcPct val="100000"/>
              </a:lnSpc>
              <a:spcBef>
                <a:spcPts val="600"/>
              </a:spcBef>
              <a:spcAft>
                <a:spcPts val="0"/>
              </a:spcAft>
              <a:buSzPts val="1800"/>
              <a:buFont typeface="Arial"/>
              <a:buAutoNum type="arabicPeriod"/>
            </a:pPr>
            <a:r>
              <a:rPr lang="en-US" sz="1600"/>
              <a:t>Process Management</a:t>
            </a:r>
            <a:endParaRPr sz="1600"/>
          </a:p>
          <a:p>
            <a:pPr indent="-342900" lvl="0" marL="342900" rtl="0" algn="just">
              <a:lnSpc>
                <a:spcPct val="100000"/>
              </a:lnSpc>
              <a:spcBef>
                <a:spcPts val="600"/>
              </a:spcBef>
              <a:spcAft>
                <a:spcPts val="0"/>
              </a:spcAft>
              <a:buSzPts val="1800"/>
              <a:buFont typeface="Arial"/>
              <a:buAutoNum type="arabicPeriod"/>
            </a:pPr>
            <a:r>
              <a:rPr lang="en-US" sz="1600"/>
              <a:t>Memory Management</a:t>
            </a:r>
            <a:endParaRPr sz="1600"/>
          </a:p>
          <a:p>
            <a:pPr indent="-342900" lvl="0" marL="342900" rtl="0" algn="just">
              <a:lnSpc>
                <a:spcPct val="100000"/>
              </a:lnSpc>
              <a:spcBef>
                <a:spcPts val="600"/>
              </a:spcBef>
              <a:spcAft>
                <a:spcPts val="0"/>
              </a:spcAft>
              <a:buSzPts val="1800"/>
              <a:buFont typeface="Arial"/>
              <a:buAutoNum type="arabicPeriod"/>
            </a:pPr>
            <a:r>
              <a:rPr lang="en-US" sz="1600"/>
              <a:t>Storage Management</a:t>
            </a:r>
            <a:endParaRPr sz="1600"/>
          </a:p>
          <a:p>
            <a:pPr indent="-342900" lvl="0" marL="342900" rtl="0" algn="just">
              <a:lnSpc>
                <a:spcPct val="100000"/>
              </a:lnSpc>
              <a:spcBef>
                <a:spcPts val="600"/>
              </a:spcBef>
              <a:spcAft>
                <a:spcPts val="0"/>
              </a:spcAft>
              <a:buSzPts val="1800"/>
              <a:buFont typeface="Arial"/>
              <a:buAutoNum type="arabicPeriod"/>
            </a:pPr>
            <a:r>
              <a:rPr lang="en-US" sz="1600"/>
              <a:t>Types of Operating Systems</a:t>
            </a:r>
            <a:endParaRPr sz="1600"/>
          </a:p>
          <a:p>
            <a:pPr indent="-342900" lvl="0" marL="342900" rtl="0" algn="just">
              <a:lnSpc>
                <a:spcPct val="100000"/>
              </a:lnSpc>
              <a:spcBef>
                <a:spcPts val="600"/>
              </a:spcBef>
              <a:spcAft>
                <a:spcPts val="600"/>
              </a:spcAft>
              <a:buSzPts val="1800"/>
              <a:buFont typeface="Arial"/>
              <a:buAutoNum type="arabicPeriod"/>
            </a:pPr>
            <a:r>
              <a:rPr lang="en-US" sz="1600"/>
              <a:t>Computing Environments</a:t>
            </a:r>
            <a:endParaRPr sz="1600"/>
          </a:p>
        </p:txBody>
      </p:sp>
      <p:sp>
        <p:nvSpPr>
          <p:cNvPr id="89" name="Google Shape;89;p2"/>
          <p:cNvSpPr txBox="1"/>
          <p:nvPr/>
        </p:nvSpPr>
        <p:spPr>
          <a:xfrm>
            <a:off x="4289196" y="1422024"/>
            <a:ext cx="4496585" cy="4342189"/>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993300"/>
              </a:buClr>
              <a:buSzPts val="1980"/>
              <a:buFont typeface="Arial"/>
              <a:buNone/>
            </a:pPr>
            <a:r>
              <a:rPr b="1" i="0" lang="en-US" sz="1800" u="none" cap="none" strike="noStrike">
                <a:solidFill>
                  <a:schemeClr val="dk1"/>
                </a:solidFill>
                <a:latin typeface="Helvetica Neue"/>
                <a:ea typeface="Helvetica Neue"/>
                <a:cs typeface="Helvetica Neue"/>
                <a:sym typeface="Helvetica Neue"/>
              </a:rPr>
              <a:t>Objectives</a:t>
            </a:r>
            <a:endParaRPr/>
          </a:p>
          <a:p>
            <a:pPr indent="0" lvl="0" marL="0" marR="0" rtl="0" algn="just">
              <a:lnSpc>
                <a:spcPct val="100000"/>
              </a:lnSpc>
              <a:spcBef>
                <a:spcPts val="0"/>
              </a:spcBef>
              <a:spcAft>
                <a:spcPts val="0"/>
              </a:spcAft>
              <a:buClr>
                <a:srgbClr val="993300"/>
              </a:buClr>
              <a:buSzPts val="1980"/>
              <a:buFont typeface="Arial"/>
              <a:buNone/>
            </a:pPr>
            <a:r>
              <a:t/>
            </a:r>
            <a:endParaRPr b="1" i="0" sz="1800" u="none" cap="none" strike="noStrike">
              <a:solidFill>
                <a:schemeClr val="dk1"/>
              </a:solidFill>
              <a:latin typeface="Helvetica Neue"/>
              <a:ea typeface="Helvetica Neue"/>
              <a:cs typeface="Helvetica Neue"/>
              <a:sym typeface="Helvetica Neue"/>
            </a:endParaRPr>
          </a:p>
          <a:p>
            <a:pPr indent="-342900" lvl="0" marL="342900" marR="0" rtl="0" algn="just">
              <a:lnSpc>
                <a:spcPct val="100000"/>
              </a:lnSpc>
              <a:spcBef>
                <a:spcPts val="0"/>
              </a:spcBef>
              <a:spcAft>
                <a:spcPts val="0"/>
              </a:spcAft>
              <a:buClr>
                <a:srgbClr val="9933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To describe the basic organization of computer systems</a:t>
            </a:r>
            <a:endParaRPr/>
          </a:p>
          <a:p>
            <a:pPr indent="-342900" lvl="0" marL="342900" marR="0" rtl="0" algn="just">
              <a:lnSpc>
                <a:spcPct val="100000"/>
              </a:lnSpc>
              <a:spcBef>
                <a:spcPts val="770"/>
              </a:spcBef>
              <a:spcAft>
                <a:spcPts val="0"/>
              </a:spcAft>
              <a:buClr>
                <a:srgbClr val="9933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To provide a grand tour of the major components of operating systems</a:t>
            </a:r>
            <a:endParaRPr/>
          </a:p>
          <a:p>
            <a:pPr indent="-342900" lvl="0" marL="342900" marR="0" rtl="0" algn="just">
              <a:lnSpc>
                <a:spcPct val="100000"/>
              </a:lnSpc>
              <a:spcBef>
                <a:spcPts val="770"/>
              </a:spcBef>
              <a:spcAft>
                <a:spcPts val="0"/>
              </a:spcAft>
              <a:buClr>
                <a:srgbClr val="9933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To give an overview of the many types of computing environments</a:t>
            </a:r>
            <a:endParaRPr/>
          </a:p>
          <a:p>
            <a:pPr indent="-342900" lvl="0" marL="342900" marR="0" rtl="0" algn="just">
              <a:lnSpc>
                <a:spcPct val="100000"/>
              </a:lnSpc>
              <a:spcBef>
                <a:spcPts val="770"/>
              </a:spcBef>
              <a:spcAft>
                <a:spcPts val="0"/>
              </a:spcAft>
              <a:buClr>
                <a:srgbClr val="9933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To explore several open-source operating systems</a:t>
            </a:r>
            <a:endParaRPr/>
          </a:p>
          <a:p>
            <a:pPr indent="-342900" lvl="0" marL="342900" marR="0" rtl="0" algn="just">
              <a:lnSpc>
                <a:spcPct val="100000"/>
              </a:lnSpc>
              <a:spcBef>
                <a:spcPts val="770"/>
              </a:spcBef>
              <a:spcAft>
                <a:spcPts val="0"/>
              </a:spcAft>
              <a:buClr>
                <a:srgbClr val="993300"/>
              </a:buClr>
              <a:buSzPts val="198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7"/>
          <p:cNvSpPr txBox="1"/>
          <p:nvPr>
            <p:ph idx="4294967295" type="body"/>
          </p:nvPr>
        </p:nvSpPr>
        <p:spPr>
          <a:xfrm>
            <a:off x="457200" y="999026"/>
            <a:ext cx="8124092"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sz="2000"/>
              <a:t>The operating system controls the hardware and coordinates its use among the various application programs for the various users.</a:t>
            </a:r>
            <a:endParaRPr sz="2000"/>
          </a:p>
          <a:p>
            <a:pPr indent="-342900" lvl="0" marL="342900" rtl="0" algn="just">
              <a:lnSpc>
                <a:spcPct val="100000"/>
              </a:lnSpc>
              <a:spcBef>
                <a:spcPts val="770"/>
              </a:spcBef>
              <a:spcAft>
                <a:spcPts val="0"/>
              </a:spcAft>
              <a:buSzPts val="1980"/>
              <a:buChar char="●"/>
            </a:pPr>
            <a:r>
              <a:rPr lang="en-US" sz="2000"/>
              <a:t>We can also view a computer system as consisting of hardware, software, and data. </a:t>
            </a:r>
            <a:endParaRPr sz="2000"/>
          </a:p>
          <a:p>
            <a:pPr indent="-342900" lvl="0" marL="342900" rtl="0" algn="just">
              <a:lnSpc>
                <a:spcPct val="100000"/>
              </a:lnSpc>
              <a:spcBef>
                <a:spcPts val="770"/>
              </a:spcBef>
              <a:spcAft>
                <a:spcPts val="0"/>
              </a:spcAft>
              <a:buSzPts val="1980"/>
              <a:buChar char="●"/>
            </a:pPr>
            <a:r>
              <a:rPr lang="en-US" sz="2000"/>
              <a:t>The operating system provides the means for proper use of these resources in the operation of the computer system. </a:t>
            </a:r>
            <a:endParaRPr sz="2000"/>
          </a:p>
          <a:p>
            <a:pPr indent="-342900" lvl="0" marL="342900" rtl="0" algn="just">
              <a:lnSpc>
                <a:spcPct val="100000"/>
              </a:lnSpc>
              <a:spcBef>
                <a:spcPts val="770"/>
              </a:spcBef>
              <a:spcAft>
                <a:spcPts val="0"/>
              </a:spcAft>
              <a:buSzPts val="1980"/>
              <a:buChar char="●"/>
            </a:pPr>
            <a:r>
              <a:rPr lang="en-US" sz="2000"/>
              <a:t>An operating system is similar to a government. Like a government, it performs no useful function by itself. It simply provides an </a:t>
            </a:r>
            <a:r>
              <a:rPr b="1" lang="en-US" sz="2000"/>
              <a:t>environment</a:t>
            </a:r>
            <a:r>
              <a:rPr lang="en-US" sz="2000"/>
              <a:t> within which other programs can do useful work.</a:t>
            </a:r>
            <a:endParaRPr sz="2000"/>
          </a:p>
          <a:p>
            <a:pPr indent="-342900" lvl="0" marL="342900" rtl="0" algn="just">
              <a:lnSpc>
                <a:spcPct val="100000"/>
              </a:lnSpc>
              <a:spcBef>
                <a:spcPts val="770"/>
              </a:spcBef>
              <a:spcAft>
                <a:spcPts val="0"/>
              </a:spcAft>
              <a:buSzPts val="1980"/>
              <a:buChar char="●"/>
            </a:pPr>
            <a:r>
              <a:rPr lang="en-US" sz="2000">
                <a:solidFill>
                  <a:srgbClr val="FF0000"/>
                </a:solidFill>
              </a:rPr>
              <a:t>To understand more fully the operating system's role, we explore operating systems from two viewpoints: </a:t>
            </a:r>
            <a:endParaRPr sz="2000"/>
          </a:p>
          <a:p>
            <a:pPr indent="-285750" lvl="1" marL="742950" rtl="0" algn="just">
              <a:lnSpc>
                <a:spcPct val="100000"/>
              </a:lnSpc>
              <a:spcBef>
                <a:spcPts val="770"/>
              </a:spcBef>
              <a:spcAft>
                <a:spcPts val="0"/>
              </a:spcAft>
              <a:buSzPts val="1760"/>
              <a:buChar char="●"/>
            </a:pPr>
            <a:r>
              <a:rPr lang="en-US" sz="2000">
                <a:solidFill>
                  <a:srgbClr val="FF0000"/>
                </a:solidFill>
              </a:rPr>
              <a:t>The user </a:t>
            </a:r>
            <a:endParaRPr sz="2000"/>
          </a:p>
          <a:p>
            <a:pPr indent="-285750" lvl="1" marL="742950" rtl="0" algn="just">
              <a:lnSpc>
                <a:spcPct val="100000"/>
              </a:lnSpc>
              <a:spcBef>
                <a:spcPts val="770"/>
              </a:spcBef>
              <a:spcAft>
                <a:spcPts val="0"/>
              </a:spcAft>
              <a:buSzPts val="1760"/>
              <a:buChar char="●"/>
            </a:pPr>
            <a:r>
              <a:rPr lang="en-US" sz="2000">
                <a:solidFill>
                  <a:srgbClr val="FF0000"/>
                </a:solidFill>
              </a:rPr>
              <a:t>The system.</a:t>
            </a:r>
            <a:endParaRPr sz="2000"/>
          </a:p>
          <a:p>
            <a:pPr indent="-342900" lvl="0" marL="342900" rtl="0" algn="just">
              <a:lnSpc>
                <a:spcPct val="100000"/>
              </a:lnSpc>
              <a:spcBef>
                <a:spcPts val="770"/>
              </a:spcBef>
              <a:spcAft>
                <a:spcPts val="0"/>
              </a:spcAft>
              <a:buSzPts val="1980"/>
              <a:buFont typeface="Arial"/>
              <a:buNone/>
            </a:pPr>
            <a:r>
              <a:t/>
            </a:r>
            <a:endParaRPr sz="2000"/>
          </a:p>
        </p:txBody>
      </p:sp>
      <p:sp>
        <p:nvSpPr>
          <p:cNvPr id="95" name="Google Shape;95;p7"/>
          <p:cNvSpPr txBox="1"/>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1. WHAT OPERATING SYSTEMS DO</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8"/>
          <p:cNvSpPr txBox="1"/>
          <p:nvPr>
            <p:ph idx="4294967295" type="body"/>
          </p:nvPr>
        </p:nvSpPr>
        <p:spPr>
          <a:xfrm>
            <a:off x="457200" y="1812925"/>
            <a:ext cx="8118231"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b="1" lang="en-US">
                <a:solidFill>
                  <a:srgbClr val="3366FF"/>
                </a:solidFill>
              </a:rPr>
              <a:t>Single user computers</a:t>
            </a:r>
            <a:r>
              <a:rPr lang="en-US"/>
              <a:t> (e.g., PC, workstations). Such systems are designed for one user to monopolize its resources. The goal is to maximize the work (or play) that the user is performing. the operating system is designed mostly for </a:t>
            </a:r>
            <a:r>
              <a:rPr b="1" lang="en-US">
                <a:solidFill>
                  <a:srgbClr val="3366FF"/>
                </a:solidFill>
              </a:rPr>
              <a:t>ease</a:t>
            </a:r>
            <a:r>
              <a:rPr lang="en-US">
                <a:solidFill>
                  <a:srgbClr val="3366FF"/>
                </a:solidFill>
              </a:rPr>
              <a:t> </a:t>
            </a:r>
            <a:r>
              <a:rPr b="1" lang="en-US">
                <a:solidFill>
                  <a:srgbClr val="3366FF"/>
                </a:solidFill>
              </a:rPr>
              <a:t>of</a:t>
            </a:r>
            <a:r>
              <a:rPr lang="en-US">
                <a:solidFill>
                  <a:srgbClr val="3366FF"/>
                </a:solidFill>
              </a:rPr>
              <a:t> </a:t>
            </a:r>
            <a:r>
              <a:rPr b="1" lang="en-US">
                <a:solidFill>
                  <a:srgbClr val="3366FF"/>
                </a:solidFill>
              </a:rPr>
              <a:t>use </a:t>
            </a:r>
            <a:r>
              <a:rPr lang="en-US"/>
              <a:t>and</a:t>
            </a:r>
            <a:r>
              <a:rPr b="1" lang="en-US">
                <a:solidFill>
                  <a:srgbClr val="3366FF"/>
                </a:solidFill>
              </a:rPr>
              <a:t> good performance.</a:t>
            </a:r>
            <a:r>
              <a:rPr lang="en-US"/>
              <a:t> </a:t>
            </a:r>
            <a:endParaRPr/>
          </a:p>
          <a:p>
            <a:pPr indent="-342900" lvl="0" marL="342900" rtl="0" algn="just">
              <a:lnSpc>
                <a:spcPct val="100000"/>
              </a:lnSpc>
              <a:spcBef>
                <a:spcPts val="770"/>
              </a:spcBef>
              <a:spcAft>
                <a:spcPts val="0"/>
              </a:spcAft>
              <a:buSzPts val="1980"/>
              <a:buChar char="●"/>
            </a:pPr>
            <a:r>
              <a:rPr b="1" lang="en-US">
                <a:solidFill>
                  <a:srgbClr val="3366FF"/>
                </a:solidFill>
              </a:rPr>
              <a:t>Multi user computers </a:t>
            </a:r>
            <a:r>
              <a:rPr lang="en-US"/>
              <a:t>(e.g.,  mainframes, computing servers). These users share resources and may exchange information. The operating system in such cases is designed to maximize resource utilization -- to assure that all available CPU time, memory, and I/O are used efficiently and that no individual users takes more than their air share.</a:t>
            </a:r>
            <a:endParaRPr/>
          </a:p>
        </p:txBody>
      </p:sp>
      <p:sp>
        <p:nvSpPr>
          <p:cNvPr id="101" name="Google Shape;101;p8"/>
          <p:cNvSpPr txBox="1"/>
          <p:nvPr/>
        </p:nvSpPr>
        <p:spPr>
          <a:xfrm>
            <a:off x="457200" y="1082675"/>
            <a:ext cx="8159262" cy="646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Verdana"/>
                <a:ea typeface="Verdana"/>
                <a:cs typeface="Verdana"/>
                <a:sym typeface="Verdana"/>
              </a:rPr>
              <a:t>The user's view of the computer varies according to the interface being used</a:t>
            </a:r>
            <a:endParaRPr b="0" i="0" sz="1400" u="none" cap="none" strike="noStrike">
              <a:solidFill>
                <a:srgbClr val="000000"/>
              </a:solidFill>
              <a:latin typeface="Arial"/>
              <a:ea typeface="Arial"/>
              <a:cs typeface="Arial"/>
              <a:sym typeface="Arial"/>
            </a:endParaRPr>
          </a:p>
        </p:txBody>
      </p:sp>
      <p:sp>
        <p:nvSpPr>
          <p:cNvPr id="102" name="Google Shape;102;p8"/>
          <p:cNvSpPr txBox="1"/>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User View</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idx="4294967295" type="body"/>
          </p:nvPr>
        </p:nvSpPr>
        <p:spPr>
          <a:xfrm>
            <a:off x="457201" y="1244600"/>
            <a:ext cx="8094784"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b="1" lang="en-US">
                <a:solidFill>
                  <a:srgbClr val="3366FF"/>
                </a:solidFill>
              </a:rPr>
              <a:t>Handheld computers </a:t>
            </a:r>
            <a:r>
              <a:rPr lang="en-US">
                <a:solidFill>
                  <a:srgbClr val="000000"/>
                </a:solidFill>
              </a:rPr>
              <a:t>(e.g., smartphones and tablets).  The user interface for mobile computers generally features a  </a:t>
            </a:r>
            <a:r>
              <a:rPr b="1" lang="en-US">
                <a:solidFill>
                  <a:srgbClr val="000000"/>
                </a:solidFill>
              </a:rPr>
              <a:t>touch screen. </a:t>
            </a:r>
            <a:r>
              <a:rPr lang="en-US">
                <a:solidFill>
                  <a:srgbClr val="000000"/>
                </a:solidFill>
              </a:rPr>
              <a:t>The systems  are resource poor,  optimized for usability and battery life.</a:t>
            </a:r>
            <a:endParaRPr/>
          </a:p>
          <a:p>
            <a:pPr indent="-342900" lvl="0" marL="342900" rtl="0" algn="just">
              <a:lnSpc>
                <a:spcPct val="100000"/>
              </a:lnSpc>
              <a:spcBef>
                <a:spcPts val="770"/>
              </a:spcBef>
              <a:spcAft>
                <a:spcPts val="0"/>
              </a:spcAft>
              <a:buSzPts val="1980"/>
              <a:buChar char="●"/>
            </a:pPr>
            <a:r>
              <a:rPr b="1" lang="en-US">
                <a:solidFill>
                  <a:srgbClr val="3366FF"/>
                </a:solidFill>
              </a:rPr>
              <a:t>Embedded computers </a:t>
            </a:r>
            <a:r>
              <a:rPr lang="en-US">
                <a:solidFill>
                  <a:srgbClr val="000000"/>
                </a:solidFill>
              </a:rPr>
              <a:t>(e.g., computers in home devices and automobiles) The user interface may have numeric keypads and may turn indicator lights on or off to show status. The operating systems are designed primarily to run without user intervention.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ph idx="4294967295" type="body"/>
          </p:nvPr>
        </p:nvSpPr>
        <p:spPr>
          <a:xfrm>
            <a:off x="545123" y="1806575"/>
            <a:ext cx="8042031" cy="426561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Font typeface="Arial"/>
              <a:buNone/>
            </a:pPr>
            <a:r>
              <a:t/>
            </a:r>
            <a:endParaRPr/>
          </a:p>
          <a:p>
            <a:pPr indent="-342900" lvl="0" marL="342900" rtl="0" algn="just">
              <a:lnSpc>
                <a:spcPct val="100000"/>
              </a:lnSpc>
              <a:spcBef>
                <a:spcPts val="770"/>
              </a:spcBef>
              <a:spcAft>
                <a:spcPts val="0"/>
              </a:spcAft>
              <a:buSzPts val="1980"/>
              <a:buChar char="●"/>
            </a:pPr>
            <a:r>
              <a:rPr lang="en-US"/>
              <a:t>The operating system is a </a:t>
            </a:r>
            <a:r>
              <a:rPr b="1" lang="en-US">
                <a:solidFill>
                  <a:srgbClr val="3366FF"/>
                </a:solidFill>
              </a:rPr>
              <a:t>resource allocator</a:t>
            </a:r>
            <a:endParaRPr/>
          </a:p>
          <a:p>
            <a:pPr indent="-285750" lvl="1" marL="742950" rtl="0" algn="just">
              <a:lnSpc>
                <a:spcPct val="100000"/>
              </a:lnSpc>
              <a:spcBef>
                <a:spcPts val="770"/>
              </a:spcBef>
              <a:spcAft>
                <a:spcPts val="0"/>
              </a:spcAft>
              <a:buSzPts val="1760"/>
              <a:buChar char="●"/>
            </a:pPr>
            <a:r>
              <a:rPr lang="en-US"/>
              <a:t>Manages all resources</a:t>
            </a:r>
            <a:endParaRPr/>
          </a:p>
          <a:p>
            <a:pPr indent="-285750" lvl="1" marL="742950" rtl="0" algn="just">
              <a:lnSpc>
                <a:spcPct val="100000"/>
              </a:lnSpc>
              <a:spcBef>
                <a:spcPts val="770"/>
              </a:spcBef>
              <a:spcAft>
                <a:spcPts val="0"/>
              </a:spcAft>
              <a:buSzPts val="1760"/>
              <a:buChar char="●"/>
            </a:pPr>
            <a:r>
              <a:rPr lang="en-US"/>
              <a:t>Decides between conflicting requests for efficient and fair resource use</a:t>
            </a:r>
            <a:endParaRPr/>
          </a:p>
          <a:p>
            <a:pPr indent="-342900" lvl="0" marL="342900" rtl="0" algn="just">
              <a:lnSpc>
                <a:spcPct val="100000"/>
              </a:lnSpc>
              <a:spcBef>
                <a:spcPts val="770"/>
              </a:spcBef>
              <a:spcAft>
                <a:spcPts val="0"/>
              </a:spcAft>
              <a:buSzPts val="1980"/>
              <a:buChar char="●"/>
            </a:pPr>
            <a:r>
              <a:rPr lang="en-US"/>
              <a:t>The operating systems  is a </a:t>
            </a:r>
            <a:r>
              <a:rPr b="1" lang="en-US">
                <a:solidFill>
                  <a:srgbClr val="3366FF"/>
                </a:solidFill>
              </a:rPr>
              <a:t>control program</a:t>
            </a:r>
            <a:endParaRPr/>
          </a:p>
          <a:p>
            <a:pPr indent="-285750" lvl="1" marL="742950" rtl="0" algn="just">
              <a:lnSpc>
                <a:spcPct val="100000"/>
              </a:lnSpc>
              <a:spcBef>
                <a:spcPts val="770"/>
              </a:spcBef>
              <a:spcAft>
                <a:spcPts val="0"/>
              </a:spcAft>
              <a:buSzPts val="1760"/>
              <a:buChar char="●"/>
            </a:pPr>
            <a:r>
              <a:rPr lang="en-US"/>
              <a:t>Controls execution of programs to prevent errors and improper use of the computer</a:t>
            </a:r>
            <a:endParaRPr/>
          </a:p>
        </p:txBody>
      </p:sp>
      <p:sp>
        <p:nvSpPr>
          <p:cNvPr id="113" name="Google Shape;113;p10"/>
          <p:cNvSpPr txBox="1"/>
          <p:nvPr/>
        </p:nvSpPr>
        <p:spPr>
          <a:xfrm>
            <a:off x="556847" y="1143000"/>
            <a:ext cx="8099792"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Verdana"/>
                <a:ea typeface="Verdana"/>
                <a:cs typeface="Verdana"/>
                <a:sym typeface="Verdana"/>
              </a:rPr>
              <a:t>From the computer's point of view, the operating system is the program most intimately involved with the hardware. There are two different views:</a:t>
            </a:r>
            <a:endParaRPr b="0" i="0" sz="1400" u="none" cap="none" strike="noStrike">
              <a:solidFill>
                <a:srgbClr val="000000"/>
              </a:solidFill>
              <a:latin typeface="Arial"/>
              <a:ea typeface="Arial"/>
              <a:cs typeface="Arial"/>
              <a:sym typeface="Arial"/>
            </a:endParaRPr>
          </a:p>
        </p:txBody>
      </p:sp>
      <p:sp>
        <p:nvSpPr>
          <p:cNvPr id="114" name="Google Shape;114;p10"/>
          <p:cNvSpPr txBox="1"/>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System View</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idx="4294967295" type="body"/>
          </p:nvPr>
        </p:nvSpPr>
        <p:spPr>
          <a:xfrm>
            <a:off x="603739" y="1268413"/>
            <a:ext cx="7977554" cy="352040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sz="2200"/>
              <a:t>A program that acts as an intermediary between a user of a computer and the computer hardware</a:t>
            </a:r>
            <a:endParaRPr/>
          </a:p>
          <a:p>
            <a:pPr indent="-342900" lvl="0" marL="342900" rtl="0" algn="just">
              <a:lnSpc>
                <a:spcPct val="100000"/>
              </a:lnSpc>
              <a:spcBef>
                <a:spcPts val="770"/>
              </a:spcBef>
              <a:spcAft>
                <a:spcPts val="0"/>
              </a:spcAft>
              <a:buSzPts val="1980"/>
              <a:buChar char="●"/>
            </a:pPr>
            <a:r>
              <a:rPr lang="en-US" sz="2200"/>
              <a:t>Operating system goals:</a:t>
            </a:r>
            <a:endParaRPr/>
          </a:p>
          <a:p>
            <a:pPr indent="-285750" lvl="1" marL="742950" rtl="0" algn="just">
              <a:lnSpc>
                <a:spcPct val="100000"/>
              </a:lnSpc>
              <a:spcBef>
                <a:spcPts val="770"/>
              </a:spcBef>
              <a:spcAft>
                <a:spcPts val="0"/>
              </a:spcAft>
              <a:buSzPts val="1760"/>
              <a:buChar char="●"/>
            </a:pPr>
            <a:r>
              <a:rPr lang="en-US"/>
              <a:t>Execute user programs and make solving user problems easier</a:t>
            </a:r>
            <a:endParaRPr/>
          </a:p>
          <a:p>
            <a:pPr indent="-285750" lvl="1" marL="742950" rtl="0" algn="just">
              <a:lnSpc>
                <a:spcPct val="100000"/>
              </a:lnSpc>
              <a:spcBef>
                <a:spcPts val="770"/>
              </a:spcBef>
              <a:spcAft>
                <a:spcPts val="0"/>
              </a:spcAft>
              <a:buSzPts val="1760"/>
              <a:buChar char="●"/>
            </a:pPr>
            <a:r>
              <a:rPr lang="en-US"/>
              <a:t>Make the computer system convenient to use</a:t>
            </a:r>
            <a:endParaRPr/>
          </a:p>
          <a:p>
            <a:pPr indent="-285750" lvl="1" marL="742950" rtl="0" algn="just">
              <a:lnSpc>
                <a:spcPct val="100000"/>
              </a:lnSpc>
              <a:spcBef>
                <a:spcPts val="770"/>
              </a:spcBef>
              <a:spcAft>
                <a:spcPts val="0"/>
              </a:spcAft>
              <a:buSzPts val="1760"/>
              <a:buChar char="●"/>
            </a:pPr>
            <a:r>
              <a:rPr lang="en-US"/>
              <a:t>Use the computer hardware in an efficient manner</a:t>
            </a:r>
            <a:endParaRPr/>
          </a:p>
        </p:txBody>
      </p:sp>
      <p:sp>
        <p:nvSpPr>
          <p:cNvPr id="120" name="Google Shape;120;p4"/>
          <p:cNvSpPr txBox="1"/>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What is an Operating System</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idx="4294967295" type="body"/>
          </p:nvPr>
        </p:nvSpPr>
        <p:spPr>
          <a:xfrm>
            <a:off x="468923" y="1035230"/>
            <a:ext cx="8217877" cy="5111046"/>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Computer system can be divided into four components:</a:t>
            </a:r>
            <a:endParaRPr/>
          </a:p>
          <a:p>
            <a:pPr indent="-285750" lvl="1" marL="742950" rtl="0" algn="just">
              <a:lnSpc>
                <a:spcPct val="100000"/>
              </a:lnSpc>
              <a:spcBef>
                <a:spcPts val="770"/>
              </a:spcBef>
              <a:spcAft>
                <a:spcPts val="0"/>
              </a:spcAft>
              <a:buSzPts val="1760"/>
              <a:buChar char="●"/>
            </a:pPr>
            <a:r>
              <a:rPr lang="en-US"/>
              <a:t>Hardware – provides basic computing resources</a:t>
            </a:r>
            <a:endParaRPr/>
          </a:p>
          <a:p>
            <a:pPr indent="-342900" lvl="2" marL="1200150" rtl="0" algn="just">
              <a:lnSpc>
                <a:spcPct val="100000"/>
              </a:lnSpc>
              <a:spcBef>
                <a:spcPts val="700"/>
              </a:spcBef>
              <a:spcAft>
                <a:spcPts val="0"/>
              </a:spcAft>
              <a:buSzPts val="1500"/>
              <a:buFont typeface="Noto Sans Symbols"/>
              <a:buChar char="▪"/>
            </a:pPr>
            <a:r>
              <a:rPr lang="en-US"/>
              <a:t>CPU, memory, I/O devices</a:t>
            </a:r>
            <a:endParaRPr/>
          </a:p>
          <a:p>
            <a:pPr indent="-285750" lvl="1" marL="742950" rtl="0" algn="just">
              <a:lnSpc>
                <a:spcPct val="100000"/>
              </a:lnSpc>
              <a:spcBef>
                <a:spcPts val="770"/>
              </a:spcBef>
              <a:spcAft>
                <a:spcPts val="0"/>
              </a:spcAft>
              <a:buSzPts val="1760"/>
              <a:buChar char="●"/>
            </a:pPr>
            <a:r>
              <a:rPr lang="en-US"/>
              <a:t>Operating system</a:t>
            </a:r>
            <a:endParaRPr/>
          </a:p>
          <a:p>
            <a:pPr indent="-342900" lvl="2" marL="1200150" rtl="0" algn="just">
              <a:lnSpc>
                <a:spcPct val="100000"/>
              </a:lnSpc>
              <a:spcBef>
                <a:spcPts val="700"/>
              </a:spcBef>
              <a:spcAft>
                <a:spcPts val="0"/>
              </a:spcAft>
              <a:buSzPts val="1500"/>
              <a:buFont typeface="Noto Sans Symbols"/>
              <a:buChar char="▪"/>
            </a:pPr>
            <a:r>
              <a:rPr lang="en-US"/>
              <a:t>Controls and coordinates use of hardware among various applications and users</a:t>
            </a:r>
            <a:endParaRPr/>
          </a:p>
          <a:p>
            <a:pPr indent="-285750" lvl="1" marL="742950" rtl="0" algn="just">
              <a:lnSpc>
                <a:spcPct val="100000"/>
              </a:lnSpc>
              <a:spcBef>
                <a:spcPts val="770"/>
              </a:spcBef>
              <a:spcAft>
                <a:spcPts val="0"/>
              </a:spcAft>
              <a:buSzPts val="1760"/>
              <a:buChar char="●"/>
            </a:pPr>
            <a:r>
              <a:rPr lang="en-US"/>
              <a:t>Application programs – define the ways in which the system resources are used to solve the computing problems of the users</a:t>
            </a:r>
            <a:endParaRPr/>
          </a:p>
          <a:p>
            <a:pPr indent="-342900" lvl="2" marL="1200150" rtl="0" algn="just">
              <a:lnSpc>
                <a:spcPct val="100000"/>
              </a:lnSpc>
              <a:spcBef>
                <a:spcPts val="700"/>
              </a:spcBef>
              <a:spcAft>
                <a:spcPts val="0"/>
              </a:spcAft>
              <a:buSzPts val="1500"/>
              <a:buFont typeface="Noto Sans Symbols"/>
              <a:buChar char="▪"/>
            </a:pPr>
            <a:r>
              <a:rPr lang="en-US"/>
              <a:t>Word processors, compilers, web browsers, database systems, video games</a:t>
            </a:r>
            <a:endParaRPr/>
          </a:p>
          <a:p>
            <a:pPr indent="-285750" lvl="1" marL="742950" rtl="0" algn="just">
              <a:lnSpc>
                <a:spcPct val="100000"/>
              </a:lnSpc>
              <a:spcBef>
                <a:spcPts val="770"/>
              </a:spcBef>
              <a:spcAft>
                <a:spcPts val="0"/>
              </a:spcAft>
              <a:buSzPts val="1760"/>
              <a:buChar char="●"/>
            </a:pPr>
            <a:r>
              <a:rPr lang="en-US"/>
              <a:t>Users</a:t>
            </a:r>
            <a:endParaRPr/>
          </a:p>
          <a:p>
            <a:pPr indent="-342900" lvl="2" marL="1200150" rtl="0" algn="just">
              <a:lnSpc>
                <a:spcPct val="100000"/>
              </a:lnSpc>
              <a:spcBef>
                <a:spcPts val="700"/>
              </a:spcBef>
              <a:spcAft>
                <a:spcPts val="0"/>
              </a:spcAft>
              <a:buSzPts val="1500"/>
              <a:buFont typeface="Noto Sans Symbols"/>
              <a:buChar char="▪"/>
            </a:pPr>
            <a:r>
              <a:rPr lang="en-US"/>
              <a:t>People, machines, other computers</a:t>
            </a:r>
            <a:endParaRPr/>
          </a:p>
        </p:txBody>
      </p:sp>
      <p:sp>
        <p:nvSpPr>
          <p:cNvPr id="126" name="Google Shape;126;p5"/>
          <p:cNvSpPr txBox="1"/>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Computer System Structure</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6"/>
          <p:cNvPicPr preferRelativeResize="0"/>
          <p:nvPr/>
        </p:nvPicPr>
        <p:blipFill rotWithShape="1">
          <a:blip r:embed="rId3">
            <a:alphaModFix/>
          </a:blip>
          <a:srcRect b="0" l="0" r="0" t="0"/>
          <a:stretch/>
        </p:blipFill>
        <p:spPr>
          <a:xfrm>
            <a:off x="1952625" y="1533525"/>
            <a:ext cx="5448300" cy="4340225"/>
          </a:xfrm>
          <a:prstGeom prst="rect">
            <a:avLst/>
          </a:prstGeom>
          <a:noFill/>
          <a:ln>
            <a:noFill/>
          </a:ln>
        </p:spPr>
      </p:pic>
      <p:sp>
        <p:nvSpPr>
          <p:cNvPr id="132" name="Google Shape;132;p6"/>
          <p:cNvSpPr txBox="1"/>
          <p:nvPr/>
        </p:nvSpPr>
        <p:spPr>
          <a:xfrm>
            <a:off x="320511" y="277813"/>
            <a:ext cx="836629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Four Components of a Computer System</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5"/>
          <p:cNvSpPr txBox="1"/>
          <p:nvPr>
            <p:ph idx="4294967295" type="title"/>
          </p:nvPr>
        </p:nvSpPr>
        <p:spPr>
          <a:xfrm>
            <a:off x="876300" y="277813"/>
            <a:ext cx="8024813"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Operating System Definition</a:t>
            </a:r>
            <a:endParaRPr/>
          </a:p>
        </p:txBody>
      </p:sp>
      <p:sp>
        <p:nvSpPr>
          <p:cNvPr id="138" name="Google Shape;138;p105"/>
          <p:cNvSpPr txBox="1"/>
          <p:nvPr>
            <p:ph idx="4294967295" type="body"/>
          </p:nvPr>
        </p:nvSpPr>
        <p:spPr>
          <a:xfrm>
            <a:off x="862013" y="1404938"/>
            <a:ext cx="7524750" cy="3167062"/>
          </a:xfrm>
          <a:prstGeom prst="rect">
            <a:avLst/>
          </a:prstGeom>
          <a:noFill/>
          <a:ln>
            <a:noFill/>
          </a:ln>
        </p:spPr>
        <p:txBody>
          <a:bodyPr anchorCtr="0" anchor="t" bIns="45700" lIns="91425" spcFirstLastPara="1" rIns="91425" wrap="square" tIns="45700">
            <a:noAutofit/>
          </a:bodyPr>
          <a:lstStyle/>
          <a:p>
            <a:pPr indent="-354330" lvl="0" marL="457200" marR="0" rtl="0" algn="just">
              <a:lnSpc>
                <a:spcPct val="100000"/>
              </a:lnSpc>
              <a:spcBef>
                <a:spcPts val="770"/>
              </a:spcBef>
              <a:spcAft>
                <a:spcPts val="0"/>
              </a:spcAft>
              <a:buClr>
                <a:srgbClr val="993300"/>
              </a:buClr>
              <a:buSzPts val="1980"/>
              <a:buFont typeface="Arial"/>
              <a:buChar char="●"/>
            </a:pPr>
            <a:r>
              <a:rPr lang="en-US"/>
              <a:t>No universally accepted definition</a:t>
            </a:r>
            <a:endParaRPr/>
          </a:p>
          <a:p>
            <a:pPr indent="-228600" lvl="0" marL="457200" marR="0" rtl="0" algn="just">
              <a:lnSpc>
                <a:spcPct val="100000"/>
              </a:lnSpc>
              <a:spcBef>
                <a:spcPts val="770"/>
              </a:spcBef>
              <a:spcAft>
                <a:spcPts val="0"/>
              </a:spcAft>
              <a:buClr>
                <a:srgbClr val="993300"/>
              </a:buClr>
              <a:buSzPts val="1980"/>
              <a:buFont typeface="Arial"/>
              <a:buNone/>
            </a:pPr>
            <a:r>
              <a:t/>
            </a:r>
            <a:endParaRPr/>
          </a:p>
          <a:p>
            <a:pPr indent="-354330" lvl="0" marL="457200" marR="0" rtl="0" algn="just">
              <a:lnSpc>
                <a:spcPct val="100000"/>
              </a:lnSpc>
              <a:spcBef>
                <a:spcPts val="770"/>
              </a:spcBef>
              <a:spcAft>
                <a:spcPts val="0"/>
              </a:spcAft>
              <a:buClr>
                <a:srgbClr val="993300"/>
              </a:buClr>
              <a:buSzPts val="1980"/>
              <a:buFont typeface="Arial"/>
              <a:buChar char="●"/>
            </a:pPr>
            <a:r>
              <a:rPr lang="en-US"/>
              <a:t>“</a:t>
            </a:r>
            <a:r>
              <a:rPr i="1" lang="en-US">
                <a:solidFill>
                  <a:srgbClr val="008000"/>
                </a:solidFill>
              </a:rPr>
              <a:t>Everything a vendor ships when you order an operating system </a:t>
            </a:r>
            <a:r>
              <a:rPr lang="en-US"/>
              <a:t>” is good approximation</a:t>
            </a:r>
            <a:endParaRPr/>
          </a:p>
          <a:p>
            <a:pPr indent="-340360" lvl="1" marL="914400" rtl="0" algn="just">
              <a:lnSpc>
                <a:spcPct val="100000"/>
              </a:lnSpc>
              <a:spcBef>
                <a:spcPts val="770"/>
              </a:spcBef>
              <a:spcAft>
                <a:spcPts val="0"/>
              </a:spcAft>
              <a:buSzPts val="1760"/>
              <a:buChar char="●"/>
            </a:pPr>
            <a:r>
              <a:rPr lang="en-US"/>
              <a:t>But varies wildly</a:t>
            </a:r>
            <a:endParaRPr/>
          </a:p>
          <a:p>
            <a:pPr indent="-228600" lvl="1" marL="914400" rtl="0" algn="just">
              <a:lnSpc>
                <a:spcPct val="100000"/>
              </a:lnSpc>
              <a:spcBef>
                <a:spcPts val="770"/>
              </a:spcBef>
              <a:spcAft>
                <a:spcPts val="0"/>
              </a:spcAft>
              <a:buSzPts val="1760"/>
              <a:buNone/>
            </a:pPr>
            <a:r>
              <a:t/>
            </a:r>
            <a:endParaRPr/>
          </a:p>
          <a:p>
            <a:pPr indent="-354330" lvl="0" marL="457200" marR="0" rtl="0" algn="just">
              <a:lnSpc>
                <a:spcPct val="100000"/>
              </a:lnSpc>
              <a:spcBef>
                <a:spcPts val="770"/>
              </a:spcBef>
              <a:spcAft>
                <a:spcPts val="0"/>
              </a:spcAft>
              <a:buClr>
                <a:srgbClr val="993300"/>
              </a:buClr>
              <a:buSzPts val="1980"/>
              <a:buFont typeface="Arial"/>
              <a:buChar char="●"/>
            </a:pPr>
            <a:r>
              <a:rPr lang="en-US"/>
              <a:t>“</a:t>
            </a:r>
            <a:r>
              <a:rPr i="1" lang="en-US">
                <a:solidFill>
                  <a:srgbClr val="008000"/>
                </a:solidFill>
              </a:rPr>
              <a:t>The one program running at all times on the compute</a:t>
            </a:r>
            <a:r>
              <a:rPr lang="en-US"/>
              <a:t>r ” is the </a:t>
            </a:r>
            <a:r>
              <a:rPr b="1" lang="en-US">
                <a:solidFill>
                  <a:srgbClr val="3366FF"/>
                </a:solidFill>
              </a:rPr>
              <a:t>kernel</a:t>
            </a:r>
            <a:r>
              <a:rPr lang="en-US"/>
              <a:t>.</a:t>
            </a:r>
            <a:r>
              <a:rPr b="1" lang="en-US"/>
              <a:t>  </a:t>
            </a:r>
            <a:r>
              <a:rPr lang="en-US"/>
              <a:t>Everything else is either a system program (ships with the operating system) or an application program.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idx="4294967295" type="body"/>
          </p:nvPr>
        </p:nvSpPr>
        <p:spPr>
          <a:xfrm>
            <a:off x="539261" y="1233488"/>
            <a:ext cx="7954107" cy="4530725"/>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980"/>
              <a:buNone/>
            </a:pPr>
            <a:r>
              <a:rPr b="1" lang="en-US"/>
              <a:t>Computer Startup</a:t>
            </a:r>
            <a:endParaRPr/>
          </a:p>
          <a:p>
            <a:pPr indent="-342900" lvl="0" marL="342900" rtl="0" algn="just">
              <a:lnSpc>
                <a:spcPct val="100000"/>
              </a:lnSpc>
              <a:spcBef>
                <a:spcPts val="770"/>
              </a:spcBef>
              <a:spcAft>
                <a:spcPts val="0"/>
              </a:spcAft>
              <a:buSzPts val="1980"/>
              <a:buChar char="●"/>
            </a:pPr>
            <a:r>
              <a:rPr b="1" lang="en-US">
                <a:solidFill>
                  <a:srgbClr val="3366FF"/>
                </a:solidFill>
              </a:rPr>
              <a:t>Bootstrap program</a:t>
            </a:r>
            <a:r>
              <a:rPr lang="en-US">
                <a:solidFill>
                  <a:srgbClr val="3366FF"/>
                </a:solidFill>
              </a:rPr>
              <a:t> </a:t>
            </a:r>
            <a:r>
              <a:rPr lang="en-US"/>
              <a:t>is loaded at power-up or reboot</a:t>
            </a:r>
            <a:endParaRPr/>
          </a:p>
          <a:p>
            <a:pPr indent="-285750" lvl="1" marL="742950" rtl="0" algn="just">
              <a:lnSpc>
                <a:spcPct val="100000"/>
              </a:lnSpc>
              <a:spcBef>
                <a:spcPts val="770"/>
              </a:spcBef>
              <a:spcAft>
                <a:spcPts val="0"/>
              </a:spcAft>
              <a:buSzPts val="1760"/>
              <a:buChar char="●"/>
            </a:pPr>
            <a:r>
              <a:rPr lang="en-US"/>
              <a:t>Typically stored in ROM or EPROM, generally known as </a:t>
            </a:r>
            <a:r>
              <a:rPr b="1" lang="en-US">
                <a:solidFill>
                  <a:srgbClr val="3366FF"/>
                </a:solidFill>
              </a:rPr>
              <a:t>firmware</a:t>
            </a:r>
            <a:endParaRPr/>
          </a:p>
          <a:p>
            <a:pPr indent="-285750" lvl="1" marL="742950" rtl="0" algn="just">
              <a:lnSpc>
                <a:spcPct val="100000"/>
              </a:lnSpc>
              <a:spcBef>
                <a:spcPts val="770"/>
              </a:spcBef>
              <a:spcAft>
                <a:spcPts val="0"/>
              </a:spcAft>
              <a:buSzPts val="1760"/>
              <a:buChar char="●"/>
            </a:pPr>
            <a:r>
              <a:rPr lang="en-US"/>
              <a:t>Initializes all aspects of system</a:t>
            </a:r>
            <a:endParaRPr/>
          </a:p>
          <a:p>
            <a:pPr indent="-285750" lvl="1" marL="742950" rtl="0" algn="just">
              <a:lnSpc>
                <a:spcPct val="100000"/>
              </a:lnSpc>
              <a:spcBef>
                <a:spcPts val="770"/>
              </a:spcBef>
              <a:spcAft>
                <a:spcPts val="0"/>
              </a:spcAft>
              <a:buSzPts val="1760"/>
              <a:buChar char="●"/>
            </a:pPr>
            <a:r>
              <a:rPr lang="en-US"/>
              <a:t>Loads operating system kernel and starts execution</a:t>
            </a:r>
            <a:endParaRPr/>
          </a:p>
        </p:txBody>
      </p:sp>
      <p:sp>
        <p:nvSpPr>
          <p:cNvPr id="144" name="Google Shape;144;p15"/>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2. COMPUTER-SYSTEM ORGANIZATION</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idx="4294967295" type="body"/>
          </p:nvPr>
        </p:nvSpPr>
        <p:spPr>
          <a:xfrm>
            <a:off x="550986" y="1244600"/>
            <a:ext cx="8012722" cy="4652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Once the kernel is loaded and executing, it can start providing services to the system and its users. </a:t>
            </a:r>
            <a:endParaRPr/>
          </a:p>
          <a:p>
            <a:pPr indent="-342900" lvl="0" marL="342900" rtl="0" algn="just">
              <a:lnSpc>
                <a:spcPct val="100000"/>
              </a:lnSpc>
              <a:spcBef>
                <a:spcPts val="770"/>
              </a:spcBef>
              <a:spcAft>
                <a:spcPts val="0"/>
              </a:spcAft>
              <a:buSzPts val="1980"/>
              <a:buChar char="●"/>
            </a:pPr>
            <a:r>
              <a:rPr lang="en-US"/>
              <a:t>Some services are provided outside of the kernel, by system programs that are loaded into memory at boot time to become  </a:t>
            </a:r>
            <a:r>
              <a:rPr b="1" lang="en-US">
                <a:solidFill>
                  <a:srgbClr val="0000FF"/>
                </a:solidFill>
              </a:rPr>
              <a:t>system processes</a:t>
            </a:r>
            <a:r>
              <a:rPr lang="en-US"/>
              <a:t>, or </a:t>
            </a:r>
            <a:r>
              <a:rPr b="1" lang="en-US">
                <a:solidFill>
                  <a:srgbClr val="0000FF"/>
                </a:solidFill>
              </a:rPr>
              <a:t>system daemons </a:t>
            </a:r>
            <a:r>
              <a:rPr lang="en-US"/>
              <a:t>that run the entire time the kernel is running.</a:t>
            </a:r>
            <a:endParaRPr/>
          </a:p>
          <a:p>
            <a:pPr indent="-342900" lvl="0" marL="342900" rtl="0" algn="just">
              <a:lnSpc>
                <a:spcPct val="100000"/>
              </a:lnSpc>
              <a:spcBef>
                <a:spcPts val="770"/>
              </a:spcBef>
              <a:spcAft>
                <a:spcPts val="0"/>
              </a:spcAft>
              <a:buSzPts val="1980"/>
              <a:buChar char="●"/>
            </a:pPr>
            <a:r>
              <a:rPr lang="en-US"/>
              <a:t>On UNIX, the first system process is </a:t>
            </a:r>
            <a:r>
              <a:rPr b="1" lang="en-US">
                <a:solidFill>
                  <a:srgbClr val="0000FF"/>
                </a:solidFill>
              </a:rPr>
              <a:t>init</a:t>
            </a:r>
            <a:r>
              <a:rPr b="1" lang="en-US"/>
              <a:t> </a:t>
            </a:r>
            <a:r>
              <a:rPr lang="en-US"/>
              <a:t>and it starts many other daemons. Once this phase is complete, the system is fully booted, and the system waits for some event to occur.</a:t>
            </a:r>
            <a:endParaRPr/>
          </a:p>
          <a:p>
            <a:pPr indent="-342900" lvl="0" marL="342900" rtl="0" algn="just">
              <a:lnSpc>
                <a:spcPct val="100000"/>
              </a:lnSpc>
              <a:spcBef>
                <a:spcPts val="770"/>
              </a:spcBef>
              <a:spcAft>
                <a:spcPts val="0"/>
              </a:spcAft>
              <a:buSzPts val="1980"/>
              <a:buChar char="●"/>
            </a:pPr>
            <a:r>
              <a:rPr lang="en-US"/>
              <a:t>The occurrence of an event is usually signaled by an </a:t>
            </a:r>
            <a:r>
              <a:rPr b="1" lang="en-US">
                <a:solidFill>
                  <a:srgbClr val="0000FF"/>
                </a:solidFill>
              </a:rPr>
              <a:t>interrupt.  </a:t>
            </a:r>
            <a:endParaRPr/>
          </a:p>
          <a:p>
            <a:pPr indent="-217170" lvl="0" marL="342900" rtl="0" algn="just">
              <a:lnSpc>
                <a:spcPct val="100000"/>
              </a:lnSpc>
              <a:spcBef>
                <a:spcPts val="770"/>
              </a:spcBef>
              <a:spcAft>
                <a:spcPts val="0"/>
              </a:spcAft>
              <a:buSzPts val="1980"/>
              <a:buNone/>
            </a:pPr>
            <a:r>
              <a:t/>
            </a:r>
            <a:endParaRPr b="1">
              <a:solidFill>
                <a:srgbClr val="0000FF"/>
              </a:solidFill>
            </a:endParaRPr>
          </a:p>
        </p:txBody>
      </p:sp>
      <p:sp>
        <p:nvSpPr>
          <p:cNvPr id="150" name="Google Shape;150;p16"/>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Computer System Operation</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idx="4294967295" type="body"/>
          </p:nvPr>
        </p:nvSpPr>
        <p:spPr>
          <a:xfrm>
            <a:off x="405353" y="986213"/>
            <a:ext cx="8281448" cy="560312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800"/>
              <a:buChar char="●"/>
            </a:pPr>
            <a:r>
              <a:rPr b="1" lang="en-US" sz="2000">
                <a:solidFill>
                  <a:srgbClr val="3366FF"/>
                </a:solidFill>
              </a:rPr>
              <a:t>Single general-purpose processor</a:t>
            </a:r>
            <a:endParaRPr sz="2000"/>
          </a:p>
          <a:p>
            <a:pPr indent="-285750" lvl="1" marL="742950" rtl="0" algn="just">
              <a:lnSpc>
                <a:spcPct val="100000"/>
              </a:lnSpc>
              <a:spcBef>
                <a:spcPts val="700"/>
              </a:spcBef>
              <a:spcAft>
                <a:spcPts val="0"/>
              </a:spcAft>
              <a:buSzPts val="1600"/>
              <a:buChar char="●"/>
            </a:pPr>
            <a:r>
              <a:rPr lang="en-US" sz="2000"/>
              <a:t>Most systems have special-purpose processors as well</a:t>
            </a:r>
            <a:endParaRPr sz="2000"/>
          </a:p>
          <a:p>
            <a:pPr indent="-342900" lvl="0" marL="342900" rtl="0" algn="just">
              <a:lnSpc>
                <a:spcPct val="100000"/>
              </a:lnSpc>
              <a:spcBef>
                <a:spcPts val="700"/>
              </a:spcBef>
              <a:spcAft>
                <a:spcPts val="0"/>
              </a:spcAft>
              <a:buSzPts val="1800"/>
              <a:buChar char="●"/>
            </a:pPr>
            <a:r>
              <a:rPr b="1" lang="en-US" sz="2000">
                <a:solidFill>
                  <a:srgbClr val="3366FF"/>
                </a:solidFill>
              </a:rPr>
              <a:t>Multiprocessors</a:t>
            </a:r>
            <a:r>
              <a:rPr lang="en-US" sz="2000">
                <a:solidFill>
                  <a:srgbClr val="3366FF"/>
                </a:solidFill>
              </a:rPr>
              <a:t> </a:t>
            </a:r>
            <a:r>
              <a:rPr lang="en-US" sz="2000"/>
              <a:t>systems growing in use and importance</a:t>
            </a:r>
            <a:endParaRPr sz="2000"/>
          </a:p>
          <a:p>
            <a:pPr indent="-285750" lvl="1" marL="742950" rtl="0" algn="just">
              <a:lnSpc>
                <a:spcPct val="100000"/>
              </a:lnSpc>
              <a:spcBef>
                <a:spcPts val="700"/>
              </a:spcBef>
              <a:spcAft>
                <a:spcPts val="0"/>
              </a:spcAft>
              <a:buSzPts val="1600"/>
              <a:buChar char="●"/>
            </a:pPr>
            <a:r>
              <a:rPr lang="en-US" sz="2000"/>
              <a:t>Also known as </a:t>
            </a:r>
            <a:r>
              <a:rPr b="1" lang="en-US" sz="2000">
                <a:solidFill>
                  <a:srgbClr val="3366FF"/>
                </a:solidFill>
              </a:rPr>
              <a:t>parallel systems</a:t>
            </a:r>
            <a:r>
              <a:rPr lang="en-US" sz="2000"/>
              <a:t>, </a:t>
            </a:r>
            <a:r>
              <a:rPr b="1" lang="en-US" sz="2000">
                <a:solidFill>
                  <a:srgbClr val="3366FF"/>
                </a:solidFill>
              </a:rPr>
              <a:t>tightly-coupled systems</a:t>
            </a:r>
            <a:endParaRPr sz="2000"/>
          </a:p>
          <a:p>
            <a:pPr indent="-285750" lvl="1" marL="742950" rtl="0" algn="just">
              <a:lnSpc>
                <a:spcPct val="100000"/>
              </a:lnSpc>
              <a:spcBef>
                <a:spcPts val="700"/>
              </a:spcBef>
              <a:spcAft>
                <a:spcPts val="0"/>
              </a:spcAft>
              <a:buSzPts val="1600"/>
              <a:buChar char="●"/>
            </a:pPr>
            <a:r>
              <a:rPr lang="en-US" sz="2000"/>
              <a:t>Advantages include:</a:t>
            </a:r>
            <a:endParaRPr sz="2000"/>
          </a:p>
          <a:p>
            <a:pPr indent="-342900" lvl="2" marL="1200150" rtl="0" algn="just">
              <a:lnSpc>
                <a:spcPct val="100000"/>
              </a:lnSpc>
              <a:spcBef>
                <a:spcPts val="700"/>
              </a:spcBef>
              <a:spcAft>
                <a:spcPts val="0"/>
              </a:spcAft>
              <a:buSzPts val="1500"/>
              <a:buFont typeface="Noto Sans Symbols"/>
              <a:buChar char="▪"/>
            </a:pPr>
            <a:r>
              <a:rPr b="1" lang="en-US">
                <a:solidFill>
                  <a:srgbClr val="3366FF"/>
                </a:solidFill>
              </a:rPr>
              <a:t>Increased throughput </a:t>
            </a:r>
            <a:r>
              <a:rPr b="1" lang="en-US">
                <a:solidFill>
                  <a:schemeClr val="dk1"/>
                </a:solidFill>
              </a:rPr>
              <a:t>–</a:t>
            </a:r>
            <a:r>
              <a:rPr b="1" lang="en-US">
                <a:solidFill>
                  <a:srgbClr val="3366FF"/>
                </a:solidFill>
              </a:rPr>
              <a:t> </a:t>
            </a:r>
            <a:r>
              <a:rPr b="1" lang="en-US">
                <a:solidFill>
                  <a:schemeClr val="dk1"/>
                </a:solidFill>
              </a:rPr>
              <a:t>more processors, less time needed to complete tasks</a:t>
            </a:r>
            <a:endParaRPr>
              <a:solidFill>
                <a:schemeClr val="dk1"/>
              </a:solidFill>
            </a:endParaRPr>
          </a:p>
          <a:p>
            <a:pPr indent="-342900" lvl="2" marL="1200150" rtl="0" algn="just">
              <a:lnSpc>
                <a:spcPct val="100000"/>
              </a:lnSpc>
              <a:spcBef>
                <a:spcPts val="700"/>
              </a:spcBef>
              <a:spcAft>
                <a:spcPts val="0"/>
              </a:spcAft>
              <a:buSzPts val="1500"/>
              <a:buFont typeface="Noto Sans Symbols"/>
              <a:buChar char="▪"/>
            </a:pPr>
            <a:r>
              <a:rPr b="1" lang="en-US">
                <a:solidFill>
                  <a:srgbClr val="3366FF"/>
                </a:solidFill>
              </a:rPr>
              <a:t>Economy of scale </a:t>
            </a:r>
            <a:r>
              <a:rPr b="1" lang="en-US">
                <a:solidFill>
                  <a:schemeClr val="dk1"/>
                </a:solidFill>
              </a:rPr>
              <a:t>– multiprocessor cost less than multiple single processor because they share peripherals, storage and power supplies</a:t>
            </a:r>
            <a:endParaRPr>
              <a:solidFill>
                <a:schemeClr val="dk1"/>
              </a:solidFill>
            </a:endParaRPr>
          </a:p>
          <a:p>
            <a:pPr indent="-342900" lvl="2" marL="1200150" rtl="0" algn="just">
              <a:lnSpc>
                <a:spcPct val="100000"/>
              </a:lnSpc>
              <a:spcBef>
                <a:spcPts val="700"/>
              </a:spcBef>
              <a:spcAft>
                <a:spcPts val="0"/>
              </a:spcAft>
              <a:buSzPts val="1500"/>
              <a:buFont typeface="Noto Sans Symbols"/>
              <a:buChar char="▪"/>
            </a:pPr>
            <a:r>
              <a:rPr b="1" lang="en-US">
                <a:solidFill>
                  <a:srgbClr val="3366FF"/>
                </a:solidFill>
              </a:rPr>
              <a:t>Increased reliability </a:t>
            </a:r>
            <a:r>
              <a:rPr lang="en-US"/>
              <a:t>– functions can be distributed properly among several processors, if one fails, the system will not halt (stop). </a:t>
            </a:r>
            <a:r>
              <a:rPr b="1" lang="en-US">
                <a:solidFill>
                  <a:schemeClr val="dk1"/>
                </a:solidFill>
              </a:rPr>
              <a:t>Graceful-degradation</a:t>
            </a:r>
            <a:r>
              <a:rPr lang="en-US"/>
              <a:t> (the ability to continue providing service proportional to the level of surviving hardware) / </a:t>
            </a:r>
            <a:r>
              <a:rPr b="1" lang="en-US">
                <a:solidFill>
                  <a:schemeClr val="dk1"/>
                </a:solidFill>
              </a:rPr>
              <a:t>fault-tolerance</a:t>
            </a:r>
            <a:r>
              <a:rPr lang="en-US"/>
              <a:t> (suffer a failure of one component but can still continue operation).</a:t>
            </a:r>
            <a:endParaRPr/>
          </a:p>
        </p:txBody>
      </p:sp>
      <p:sp>
        <p:nvSpPr>
          <p:cNvPr id="156" name="Google Shape;156;p17"/>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3. COMPUTER-SYSTEM ARCHITECTURE</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6"/>
          <p:cNvSpPr txBox="1"/>
          <p:nvPr/>
        </p:nvSpPr>
        <p:spPr>
          <a:xfrm>
            <a:off x="405353" y="986213"/>
            <a:ext cx="8281448" cy="5603123"/>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993300"/>
              </a:buClr>
              <a:buSzPts val="1800"/>
              <a:buFont typeface="Arial"/>
              <a:buChar char="●"/>
            </a:pPr>
            <a:r>
              <a:rPr b="1" i="0" lang="en-US" sz="2000" u="none" cap="none" strike="noStrike">
                <a:solidFill>
                  <a:srgbClr val="3366FF"/>
                </a:solidFill>
                <a:latin typeface="Helvetica Neue"/>
                <a:ea typeface="Helvetica Neue"/>
                <a:cs typeface="Helvetica Neue"/>
                <a:sym typeface="Helvetica Neue"/>
              </a:rPr>
              <a:t>Single general-purpose processor</a:t>
            </a:r>
            <a:endParaRPr b="0" i="0" sz="2000" u="none" cap="none" strike="noStrike">
              <a:solidFill>
                <a:schemeClr val="dk1"/>
              </a:solidFill>
              <a:latin typeface="Helvetica Neue"/>
              <a:ea typeface="Helvetica Neue"/>
              <a:cs typeface="Helvetica Neue"/>
              <a:sym typeface="Helvetica Neue"/>
            </a:endParaRPr>
          </a:p>
          <a:p>
            <a:pPr indent="-285750" lvl="1" marL="742950" marR="0" rtl="0" algn="just">
              <a:lnSpc>
                <a:spcPct val="100000"/>
              </a:lnSpc>
              <a:spcBef>
                <a:spcPts val="700"/>
              </a:spcBef>
              <a:spcAft>
                <a:spcPts val="0"/>
              </a:spcAft>
              <a:buClr>
                <a:srgbClr val="CC6600"/>
              </a:buClr>
              <a:buSzPts val="1600"/>
              <a:buFont typeface="Arial"/>
              <a:buChar char="●"/>
            </a:pPr>
            <a:r>
              <a:rPr b="0" i="0" lang="en-US" sz="2000" u="none" cap="none" strike="noStrike">
                <a:solidFill>
                  <a:schemeClr val="dk1"/>
                </a:solidFill>
                <a:latin typeface="Helvetica Neue"/>
                <a:ea typeface="Helvetica Neue"/>
                <a:cs typeface="Helvetica Neue"/>
                <a:sym typeface="Helvetica Neue"/>
              </a:rPr>
              <a:t>Most systems have special-purpose processors as well</a:t>
            </a:r>
            <a:endParaRPr/>
          </a:p>
          <a:p>
            <a:pPr indent="-342900" lvl="0" marL="342900" marR="0" rtl="0" algn="just">
              <a:lnSpc>
                <a:spcPct val="100000"/>
              </a:lnSpc>
              <a:spcBef>
                <a:spcPts val="700"/>
              </a:spcBef>
              <a:spcAft>
                <a:spcPts val="0"/>
              </a:spcAft>
              <a:buClr>
                <a:srgbClr val="993300"/>
              </a:buClr>
              <a:buSzPts val="1800"/>
              <a:buFont typeface="Arial"/>
              <a:buChar char="●"/>
            </a:pPr>
            <a:r>
              <a:rPr b="1" i="0" lang="en-US" sz="2000" u="none" cap="none" strike="noStrike">
                <a:solidFill>
                  <a:srgbClr val="3366FF"/>
                </a:solidFill>
                <a:latin typeface="Helvetica Neue"/>
                <a:ea typeface="Helvetica Neue"/>
                <a:cs typeface="Helvetica Neue"/>
                <a:sym typeface="Helvetica Neue"/>
              </a:rPr>
              <a:t>Multiprocessors</a:t>
            </a:r>
            <a:r>
              <a:rPr b="0" i="0" lang="en-US" sz="2000" u="none" cap="none" strike="noStrike">
                <a:solidFill>
                  <a:srgbClr val="3366FF"/>
                </a:solidFill>
                <a:latin typeface="Helvetica Neue"/>
                <a:ea typeface="Helvetica Neue"/>
                <a:cs typeface="Helvetica Neue"/>
                <a:sym typeface="Helvetica Neue"/>
              </a:rPr>
              <a:t> </a:t>
            </a:r>
            <a:r>
              <a:rPr b="0" i="0" lang="en-US" sz="2000" u="none" cap="none" strike="noStrike">
                <a:solidFill>
                  <a:schemeClr val="dk1"/>
                </a:solidFill>
                <a:latin typeface="Helvetica Neue"/>
                <a:ea typeface="Helvetica Neue"/>
                <a:cs typeface="Helvetica Neue"/>
                <a:sym typeface="Helvetica Neue"/>
              </a:rPr>
              <a:t>systems growing in use and importance</a:t>
            </a:r>
            <a:endParaRPr/>
          </a:p>
          <a:p>
            <a:pPr indent="-285750" lvl="1" marL="742950" marR="0" rtl="0" algn="just">
              <a:lnSpc>
                <a:spcPct val="100000"/>
              </a:lnSpc>
              <a:spcBef>
                <a:spcPts val="700"/>
              </a:spcBef>
              <a:spcAft>
                <a:spcPts val="0"/>
              </a:spcAft>
              <a:buClr>
                <a:srgbClr val="CC6600"/>
              </a:buClr>
              <a:buSzPts val="1600"/>
              <a:buFont typeface="Arial"/>
              <a:buChar char="●"/>
            </a:pPr>
            <a:r>
              <a:rPr b="0" i="0" lang="en-US" sz="2000" u="none" cap="none" strike="noStrike">
                <a:solidFill>
                  <a:schemeClr val="dk1"/>
                </a:solidFill>
                <a:latin typeface="Helvetica Neue"/>
                <a:ea typeface="Helvetica Neue"/>
                <a:cs typeface="Helvetica Neue"/>
                <a:sym typeface="Helvetica Neue"/>
              </a:rPr>
              <a:t>Also known as </a:t>
            </a:r>
            <a:r>
              <a:rPr b="1" i="0" lang="en-US" sz="2000" u="none" cap="none" strike="noStrike">
                <a:solidFill>
                  <a:srgbClr val="3366FF"/>
                </a:solidFill>
                <a:latin typeface="Helvetica Neue"/>
                <a:ea typeface="Helvetica Neue"/>
                <a:cs typeface="Helvetica Neue"/>
                <a:sym typeface="Helvetica Neue"/>
              </a:rPr>
              <a:t>parallel systems</a:t>
            </a:r>
            <a:r>
              <a:rPr b="0" i="0" lang="en-US" sz="2000" u="none" cap="none" strike="noStrike">
                <a:solidFill>
                  <a:schemeClr val="dk1"/>
                </a:solidFill>
                <a:latin typeface="Helvetica Neue"/>
                <a:ea typeface="Helvetica Neue"/>
                <a:cs typeface="Helvetica Neue"/>
                <a:sym typeface="Helvetica Neue"/>
              </a:rPr>
              <a:t>, </a:t>
            </a:r>
            <a:r>
              <a:rPr b="1" i="0" lang="en-US" sz="2000" u="none" cap="none" strike="noStrike">
                <a:solidFill>
                  <a:srgbClr val="3366FF"/>
                </a:solidFill>
                <a:latin typeface="Helvetica Neue"/>
                <a:ea typeface="Helvetica Neue"/>
                <a:cs typeface="Helvetica Neue"/>
                <a:sym typeface="Helvetica Neue"/>
              </a:rPr>
              <a:t>tightly-coupled systems</a:t>
            </a:r>
            <a:endParaRPr/>
          </a:p>
          <a:p>
            <a:pPr indent="-285750" lvl="1" marL="742950" marR="0" rtl="0" algn="just">
              <a:lnSpc>
                <a:spcPct val="100000"/>
              </a:lnSpc>
              <a:spcBef>
                <a:spcPts val="700"/>
              </a:spcBef>
              <a:spcAft>
                <a:spcPts val="0"/>
              </a:spcAft>
              <a:buClr>
                <a:srgbClr val="CC6600"/>
              </a:buClr>
              <a:buSzPts val="1600"/>
              <a:buFont typeface="Arial"/>
              <a:buChar char="●"/>
            </a:pPr>
            <a:r>
              <a:rPr b="0" i="0" lang="en-US" sz="1800" u="none" cap="none" strike="noStrike">
                <a:solidFill>
                  <a:schemeClr val="dk1"/>
                </a:solidFill>
                <a:latin typeface="Helvetica Neue"/>
                <a:ea typeface="Helvetica Neue"/>
                <a:cs typeface="Helvetica Neue"/>
                <a:sym typeface="Helvetica Neue"/>
              </a:rPr>
              <a:t>Two types:</a:t>
            </a:r>
            <a:endParaRPr/>
          </a:p>
          <a:p>
            <a:pPr indent="-342900" lvl="2" marL="1200150" marR="0" rtl="0" algn="just">
              <a:lnSpc>
                <a:spcPct val="100000"/>
              </a:lnSpc>
              <a:spcBef>
                <a:spcPts val="700"/>
              </a:spcBef>
              <a:spcAft>
                <a:spcPts val="0"/>
              </a:spcAft>
              <a:buClr>
                <a:srgbClr val="009900"/>
              </a:buClr>
              <a:buSzPts val="1500"/>
              <a:buFont typeface="Noto Sans Symbols"/>
              <a:buChar char="▪"/>
            </a:pPr>
            <a:r>
              <a:rPr b="1" i="0" lang="en-US" sz="1800" u="none" cap="none" strike="noStrike">
                <a:solidFill>
                  <a:srgbClr val="3366FF"/>
                </a:solidFill>
                <a:latin typeface="Helvetica Neue"/>
                <a:ea typeface="Helvetica Neue"/>
                <a:cs typeface="Helvetica Neue"/>
                <a:sym typeface="Helvetica Neue"/>
              </a:rPr>
              <a:t>Symmetric Multiprocessing </a:t>
            </a:r>
            <a:r>
              <a:rPr b="0" i="0" lang="en-US" sz="1800" u="none" cap="none" strike="noStrike">
                <a:solidFill>
                  <a:schemeClr val="dk1"/>
                </a:solidFill>
                <a:latin typeface="Helvetica Neue"/>
                <a:ea typeface="Helvetica Neue"/>
                <a:cs typeface="Helvetica Neue"/>
                <a:sym typeface="Helvetica Neue"/>
              </a:rPr>
              <a:t>– each processor performs all tasks</a:t>
            </a:r>
            <a:endParaRPr/>
          </a:p>
          <a:p>
            <a:pPr indent="-342900" lvl="2" marL="1200150" marR="0" rtl="0" algn="just">
              <a:lnSpc>
                <a:spcPct val="100000"/>
              </a:lnSpc>
              <a:spcBef>
                <a:spcPts val="700"/>
              </a:spcBef>
              <a:spcAft>
                <a:spcPts val="0"/>
              </a:spcAft>
              <a:buClr>
                <a:srgbClr val="009900"/>
              </a:buClr>
              <a:buSzPts val="1500"/>
              <a:buFont typeface="Noto Sans Symbols"/>
              <a:buChar char="▪"/>
            </a:pPr>
            <a:r>
              <a:rPr b="1" i="0" lang="en-US" sz="1800" u="none" cap="none" strike="noStrike">
                <a:solidFill>
                  <a:srgbClr val="3366FF"/>
                </a:solidFill>
                <a:latin typeface="Helvetica Neue"/>
                <a:ea typeface="Helvetica Neue"/>
                <a:cs typeface="Helvetica Neue"/>
                <a:sym typeface="Helvetica Neue"/>
              </a:rPr>
              <a:t>Asymmetric Multiprocessing </a:t>
            </a:r>
            <a:r>
              <a:rPr b="0" i="0" lang="en-US" sz="1800" u="none" cap="none" strike="noStrike">
                <a:solidFill>
                  <a:schemeClr val="dk1"/>
                </a:solidFill>
                <a:latin typeface="Helvetica Neue"/>
                <a:ea typeface="Helvetica Neue"/>
                <a:cs typeface="Helvetica Neue"/>
                <a:sym typeface="Helvetica Neue"/>
              </a:rPr>
              <a:t>– each processor is assigned a specific task.</a:t>
            </a:r>
            <a:endParaRPr/>
          </a:p>
          <a:p>
            <a:pPr indent="-184150" lvl="1" marL="742950" marR="0" rtl="0" algn="just">
              <a:lnSpc>
                <a:spcPct val="100000"/>
              </a:lnSpc>
              <a:spcBef>
                <a:spcPts val="700"/>
              </a:spcBef>
              <a:spcAft>
                <a:spcPts val="0"/>
              </a:spcAft>
              <a:buClr>
                <a:srgbClr val="CC6600"/>
              </a:buClr>
              <a:buSzPts val="1600"/>
              <a:buFont typeface="Arial"/>
              <a:buNone/>
            </a:pPr>
            <a:r>
              <a:t/>
            </a:r>
            <a:endParaRPr b="1" i="0" sz="2000" u="none" cap="none" strike="noStrike">
              <a:solidFill>
                <a:srgbClr val="3366FF"/>
              </a:solidFill>
              <a:latin typeface="Helvetica Neue"/>
              <a:ea typeface="Helvetica Neue"/>
              <a:cs typeface="Helvetica Neue"/>
              <a:sym typeface="Helvetica Neue"/>
            </a:endParaRPr>
          </a:p>
          <a:p>
            <a:pPr indent="-184150" lvl="1" marL="742950" marR="0" rtl="0" algn="just">
              <a:lnSpc>
                <a:spcPct val="100000"/>
              </a:lnSpc>
              <a:spcBef>
                <a:spcPts val="700"/>
              </a:spcBef>
              <a:spcAft>
                <a:spcPts val="0"/>
              </a:spcAft>
              <a:buClr>
                <a:srgbClr val="CC6600"/>
              </a:buClr>
              <a:buSzPts val="1600"/>
              <a:buFont typeface="Arial"/>
              <a:buNone/>
            </a:pPr>
            <a:r>
              <a:t/>
            </a:r>
            <a:endParaRPr b="0" i="0" sz="20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3">
            <a:alphaModFix/>
          </a:blip>
          <a:srcRect b="0" l="0" r="0" t="0"/>
          <a:stretch/>
        </p:blipFill>
        <p:spPr>
          <a:xfrm>
            <a:off x="810151" y="1120804"/>
            <a:ext cx="3203019" cy="2403410"/>
          </a:xfrm>
          <a:prstGeom prst="rect">
            <a:avLst/>
          </a:prstGeom>
          <a:noFill/>
          <a:ln>
            <a:noFill/>
          </a:ln>
        </p:spPr>
      </p:pic>
      <p:sp>
        <p:nvSpPr>
          <p:cNvPr id="167" name="Google Shape;167;p18"/>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Symmetric Multiprocessing Architecture </a:t>
            </a:r>
            <a:endParaRPr b="1" i="0" sz="3200" u="none" cap="none" strike="noStrike">
              <a:solidFill>
                <a:srgbClr val="006699"/>
              </a:solidFill>
              <a:latin typeface="Arial"/>
              <a:ea typeface="Arial"/>
              <a:cs typeface="Arial"/>
              <a:sym typeface="Arial"/>
            </a:endParaRPr>
          </a:p>
        </p:txBody>
      </p:sp>
      <p:pic>
        <p:nvPicPr>
          <p:cNvPr id="168" name="Google Shape;168;p18"/>
          <p:cNvPicPr preferRelativeResize="0"/>
          <p:nvPr/>
        </p:nvPicPr>
        <p:blipFill rotWithShape="1">
          <a:blip r:embed="rId4">
            <a:alphaModFix/>
          </a:blip>
          <a:srcRect b="0" l="0" r="0" t="0"/>
          <a:stretch/>
        </p:blipFill>
        <p:spPr>
          <a:xfrm>
            <a:off x="6725118" y="1982975"/>
            <a:ext cx="1720932" cy="2407609"/>
          </a:xfrm>
          <a:prstGeom prst="rect">
            <a:avLst/>
          </a:prstGeom>
          <a:noFill/>
          <a:ln>
            <a:noFill/>
          </a:ln>
        </p:spPr>
      </p:pic>
      <p:grpSp>
        <p:nvGrpSpPr>
          <p:cNvPr id="169" name="Google Shape;169;p18"/>
          <p:cNvGrpSpPr/>
          <p:nvPr/>
        </p:nvGrpSpPr>
        <p:grpSpPr>
          <a:xfrm>
            <a:off x="2411661" y="3959254"/>
            <a:ext cx="4214727" cy="1965490"/>
            <a:chOff x="1768556" y="3874414"/>
            <a:chExt cx="4214727" cy="1965490"/>
          </a:xfrm>
        </p:grpSpPr>
        <p:pic>
          <p:nvPicPr>
            <p:cNvPr id="170" name="Google Shape;170;p18"/>
            <p:cNvPicPr preferRelativeResize="0"/>
            <p:nvPr/>
          </p:nvPicPr>
          <p:blipFill rotWithShape="1">
            <a:blip r:embed="rId4">
              <a:alphaModFix/>
            </a:blip>
            <a:srcRect b="0" l="0" r="0" t="0"/>
            <a:stretch/>
          </p:blipFill>
          <p:spPr>
            <a:xfrm>
              <a:off x="1768556" y="3874415"/>
              <a:ext cx="1404909" cy="1965489"/>
            </a:xfrm>
            <a:prstGeom prst="rect">
              <a:avLst/>
            </a:prstGeom>
            <a:noFill/>
            <a:ln>
              <a:noFill/>
            </a:ln>
          </p:spPr>
        </p:pic>
        <p:pic>
          <p:nvPicPr>
            <p:cNvPr id="171" name="Google Shape;171;p18"/>
            <p:cNvPicPr preferRelativeResize="0"/>
            <p:nvPr/>
          </p:nvPicPr>
          <p:blipFill rotWithShape="1">
            <a:blip r:embed="rId4">
              <a:alphaModFix/>
            </a:blip>
            <a:srcRect b="0" l="0" r="0" t="0"/>
            <a:stretch/>
          </p:blipFill>
          <p:spPr>
            <a:xfrm>
              <a:off x="3173465" y="3874414"/>
              <a:ext cx="1404909" cy="1965489"/>
            </a:xfrm>
            <a:prstGeom prst="rect">
              <a:avLst/>
            </a:prstGeom>
            <a:noFill/>
            <a:ln>
              <a:noFill/>
            </a:ln>
          </p:spPr>
        </p:pic>
        <p:pic>
          <p:nvPicPr>
            <p:cNvPr id="172" name="Google Shape;172;p18"/>
            <p:cNvPicPr preferRelativeResize="0"/>
            <p:nvPr/>
          </p:nvPicPr>
          <p:blipFill rotWithShape="1">
            <a:blip r:embed="rId4">
              <a:alphaModFix/>
            </a:blip>
            <a:srcRect b="0" l="0" r="0" t="0"/>
            <a:stretch/>
          </p:blipFill>
          <p:spPr>
            <a:xfrm>
              <a:off x="4578374" y="3874414"/>
              <a:ext cx="1404909" cy="1965489"/>
            </a:xfrm>
            <a:prstGeom prst="rect">
              <a:avLst/>
            </a:prstGeom>
            <a:noFill/>
            <a:ln>
              <a:noFill/>
            </a:ln>
          </p:spPr>
        </p:pic>
      </p:grpSp>
      <p:sp>
        <p:nvSpPr>
          <p:cNvPr id="173" name="Google Shape;173;p18"/>
          <p:cNvSpPr/>
          <p:nvPr/>
        </p:nvSpPr>
        <p:spPr>
          <a:xfrm>
            <a:off x="1566989" y="3566634"/>
            <a:ext cx="143821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400" u="none" cap="none" strike="noStrike">
                <a:solidFill>
                  <a:srgbClr val="0033CC"/>
                </a:solidFill>
                <a:latin typeface="Arial"/>
                <a:ea typeface="Arial"/>
                <a:cs typeface="Arial"/>
                <a:sym typeface="Arial"/>
              </a:rPr>
              <a:t>Multiprocessors</a:t>
            </a:r>
            <a:endParaRPr b="0" i="1" sz="1400" u="none" cap="none" strike="noStrike">
              <a:solidFill>
                <a:srgbClr val="0033CC"/>
              </a:solidFill>
              <a:latin typeface="Arial"/>
              <a:ea typeface="Arial"/>
              <a:cs typeface="Arial"/>
              <a:sym typeface="Arial"/>
            </a:endParaRPr>
          </a:p>
        </p:txBody>
      </p:sp>
      <p:sp>
        <p:nvSpPr>
          <p:cNvPr id="174" name="Google Shape;174;p18"/>
          <p:cNvSpPr/>
          <p:nvPr/>
        </p:nvSpPr>
        <p:spPr>
          <a:xfrm>
            <a:off x="6206968" y="3566635"/>
            <a:ext cx="160813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400" u="none" cap="none" strike="noStrike">
                <a:solidFill>
                  <a:srgbClr val="0033CC"/>
                </a:solidFill>
                <a:latin typeface="Arial"/>
                <a:ea typeface="Arial"/>
                <a:cs typeface="Arial"/>
                <a:sym typeface="Arial"/>
              </a:rPr>
              <a:t>Single processors</a:t>
            </a:r>
            <a:endParaRPr b="0" i="1" sz="1400" u="none" cap="none" strike="noStrike">
              <a:solidFill>
                <a:srgbClr val="0033CC"/>
              </a:solidFill>
              <a:latin typeface="Arial"/>
              <a:ea typeface="Arial"/>
              <a:cs typeface="Arial"/>
              <a:sym typeface="Arial"/>
            </a:endParaRPr>
          </a:p>
        </p:txBody>
      </p:sp>
      <p:sp>
        <p:nvSpPr>
          <p:cNvPr id="175" name="Google Shape;175;p18"/>
          <p:cNvSpPr/>
          <p:nvPr/>
        </p:nvSpPr>
        <p:spPr>
          <a:xfrm>
            <a:off x="3714959" y="5924744"/>
            <a:ext cx="22445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400" u="none" cap="none" strike="noStrike">
                <a:solidFill>
                  <a:srgbClr val="0033CC"/>
                </a:solidFill>
                <a:latin typeface="Arial"/>
                <a:ea typeface="Arial"/>
                <a:cs typeface="Arial"/>
                <a:sym typeface="Arial"/>
              </a:rPr>
              <a:t>Multiple single processors</a:t>
            </a:r>
            <a:endParaRPr b="0" i="1" sz="1400" u="none" cap="none" strike="noStrike">
              <a:solidFill>
                <a:srgbClr val="0033CC"/>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txBox="1"/>
          <p:nvPr>
            <p:ph idx="4294967295" type="body"/>
          </p:nvPr>
        </p:nvSpPr>
        <p:spPr>
          <a:xfrm>
            <a:off x="569023" y="854075"/>
            <a:ext cx="7954108" cy="5287963"/>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440"/>
              <a:buFont typeface="Arial"/>
              <a:buNone/>
            </a:pPr>
            <a:r>
              <a:t/>
            </a:r>
            <a:endParaRPr sz="2000"/>
          </a:p>
          <a:p>
            <a:pPr indent="-342900" lvl="0" marL="342900" rtl="0" algn="just">
              <a:lnSpc>
                <a:spcPct val="90000"/>
              </a:lnSpc>
              <a:spcBef>
                <a:spcPts val="770"/>
              </a:spcBef>
              <a:spcAft>
                <a:spcPts val="0"/>
              </a:spcAft>
              <a:buSzPts val="1980"/>
              <a:buChar char="●"/>
            </a:pPr>
            <a:r>
              <a:rPr lang="en-US" sz="2000"/>
              <a:t>Most CPU design now includes multiple computing cores on a single chip. Such multiprocessor systems are termed </a:t>
            </a:r>
            <a:r>
              <a:rPr b="1" lang="en-US" sz="2000">
                <a:solidFill>
                  <a:srgbClr val="0070C0"/>
                </a:solidFill>
              </a:rPr>
              <a:t>multicore</a:t>
            </a:r>
            <a:r>
              <a:rPr lang="en-US" sz="2000"/>
              <a:t>. </a:t>
            </a:r>
            <a:endParaRPr sz="2000"/>
          </a:p>
          <a:p>
            <a:pPr indent="-342900" lvl="0" marL="342900" rtl="0" algn="just">
              <a:lnSpc>
                <a:spcPct val="90000"/>
              </a:lnSpc>
              <a:spcBef>
                <a:spcPts val="770"/>
              </a:spcBef>
              <a:spcAft>
                <a:spcPts val="0"/>
              </a:spcAft>
              <a:buSzPts val="1980"/>
              <a:buChar char="●"/>
            </a:pPr>
            <a:r>
              <a:rPr lang="en-US" sz="2000"/>
              <a:t>Multicore systems  can be more efficient than multiple chips with single cores because:</a:t>
            </a:r>
            <a:endParaRPr sz="2000"/>
          </a:p>
          <a:p>
            <a:pPr indent="-285750" lvl="1" marL="742950" rtl="0" algn="just">
              <a:lnSpc>
                <a:spcPct val="90000"/>
              </a:lnSpc>
              <a:spcBef>
                <a:spcPts val="770"/>
              </a:spcBef>
              <a:spcAft>
                <a:spcPts val="0"/>
              </a:spcAft>
              <a:buSzPts val="1760"/>
              <a:buChar char="●"/>
            </a:pPr>
            <a:r>
              <a:rPr lang="en-US" sz="2000"/>
              <a:t>On-chip communication is faster than between-chip communication.</a:t>
            </a:r>
            <a:endParaRPr sz="2000"/>
          </a:p>
          <a:p>
            <a:pPr indent="-285750" lvl="1" marL="742950" rtl="0" algn="just">
              <a:lnSpc>
                <a:spcPct val="90000"/>
              </a:lnSpc>
              <a:spcBef>
                <a:spcPts val="770"/>
              </a:spcBef>
              <a:spcAft>
                <a:spcPts val="0"/>
              </a:spcAft>
              <a:buSzPts val="1760"/>
              <a:buChar char="●"/>
            </a:pPr>
            <a:r>
              <a:rPr lang="en-US" sz="2000"/>
              <a:t>One chip with multiple cores uses significantly less power than multiple single-core chips, an important issue for laptops as well as mobile devices.</a:t>
            </a:r>
            <a:endParaRPr sz="2000"/>
          </a:p>
          <a:p>
            <a:pPr indent="-342900" lvl="0" marL="342900" rtl="0" algn="just">
              <a:lnSpc>
                <a:spcPct val="90000"/>
              </a:lnSpc>
              <a:spcBef>
                <a:spcPts val="770"/>
              </a:spcBef>
              <a:spcAft>
                <a:spcPts val="0"/>
              </a:spcAft>
              <a:buSzPts val="1980"/>
              <a:buChar char="●"/>
            </a:pPr>
            <a:r>
              <a:rPr lang="en-US" sz="2000"/>
              <a:t>Note -- while multicore systems are multiprocessor systems, not all multiprocessor systems are multicore.</a:t>
            </a:r>
            <a:endParaRPr sz="2000"/>
          </a:p>
        </p:txBody>
      </p:sp>
      <p:sp>
        <p:nvSpPr>
          <p:cNvPr id="181" name="Google Shape;181;p19"/>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Multicore Systems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0"/>
          <p:cNvPicPr preferRelativeResize="0"/>
          <p:nvPr/>
        </p:nvPicPr>
        <p:blipFill rotWithShape="1">
          <a:blip r:embed="rId3">
            <a:alphaModFix/>
          </a:blip>
          <a:srcRect b="0" l="0" r="0" t="0"/>
          <a:stretch/>
        </p:blipFill>
        <p:spPr>
          <a:xfrm>
            <a:off x="2854325" y="1393825"/>
            <a:ext cx="3435350" cy="3117850"/>
          </a:xfrm>
          <a:prstGeom prst="rect">
            <a:avLst/>
          </a:prstGeom>
          <a:noFill/>
          <a:ln>
            <a:noFill/>
          </a:ln>
        </p:spPr>
      </p:pic>
      <p:sp>
        <p:nvSpPr>
          <p:cNvPr id="187" name="Google Shape;187;p20"/>
          <p:cNvSpPr txBox="1"/>
          <p:nvPr/>
        </p:nvSpPr>
        <p:spPr>
          <a:xfrm>
            <a:off x="405353" y="277813"/>
            <a:ext cx="8512404"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2600" u="none" cap="none" strike="noStrike">
                <a:solidFill>
                  <a:srgbClr val="006699"/>
                </a:solidFill>
                <a:latin typeface="Arial"/>
                <a:ea typeface="Arial"/>
                <a:cs typeface="Arial"/>
                <a:sym typeface="Arial"/>
              </a:rPr>
              <a:t>A dual-core with two cores placed on the same chip </a:t>
            </a:r>
            <a:endParaRPr b="1" i="0" sz="2600" u="none" cap="none" strike="noStrike">
              <a:solidFill>
                <a:srgbClr val="006699"/>
              </a:solidFill>
              <a:latin typeface="Arial"/>
              <a:ea typeface="Arial"/>
              <a:cs typeface="Arial"/>
              <a:sym typeface="Arial"/>
            </a:endParaRPr>
          </a:p>
        </p:txBody>
      </p:sp>
      <p:sp>
        <p:nvSpPr>
          <p:cNvPr id="188" name="Google Shape;188;p20"/>
          <p:cNvSpPr/>
          <p:nvPr/>
        </p:nvSpPr>
        <p:spPr>
          <a:xfrm>
            <a:off x="3852893" y="4511675"/>
            <a:ext cx="143821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400" u="none" cap="none" strike="noStrike">
                <a:solidFill>
                  <a:srgbClr val="0033CC"/>
                </a:solidFill>
                <a:latin typeface="Arial"/>
                <a:ea typeface="Arial"/>
                <a:cs typeface="Arial"/>
                <a:sym typeface="Arial"/>
              </a:rPr>
              <a:t>Multiprocessors</a:t>
            </a:r>
            <a:endParaRPr b="0" i="1" sz="1400" u="none" cap="none" strike="noStrike">
              <a:solidFill>
                <a:srgbClr val="0033CC"/>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7"/>
          <p:cNvSpPr txBox="1"/>
          <p:nvPr/>
        </p:nvSpPr>
        <p:spPr>
          <a:xfrm>
            <a:off x="569023" y="976623"/>
            <a:ext cx="7954108" cy="5287963"/>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770"/>
              </a:spcBef>
              <a:spcAft>
                <a:spcPts val="0"/>
              </a:spcAft>
              <a:buClr>
                <a:srgbClr val="993300"/>
              </a:buClr>
              <a:buSzPts val="1980"/>
              <a:buFont typeface="Arial"/>
              <a:buChar char="●"/>
            </a:pPr>
            <a:r>
              <a:rPr b="0" i="0" lang="en-US" sz="2000" u="none" cap="none" strike="noStrike">
                <a:solidFill>
                  <a:schemeClr val="dk1"/>
                </a:solidFill>
                <a:latin typeface="Helvetica Neue"/>
                <a:ea typeface="Helvetica Neue"/>
                <a:cs typeface="Helvetica Neue"/>
                <a:sym typeface="Helvetica Neue"/>
              </a:rPr>
              <a:t>A </a:t>
            </a:r>
            <a:r>
              <a:rPr b="1" i="0" lang="en-US" sz="2000" u="none" cap="none" strike="noStrike">
                <a:solidFill>
                  <a:srgbClr val="0070C0"/>
                </a:solidFill>
                <a:latin typeface="Helvetica Neue"/>
                <a:ea typeface="Helvetica Neue"/>
                <a:cs typeface="Helvetica Neue"/>
                <a:sym typeface="Helvetica Neue"/>
              </a:rPr>
              <a:t>multiprocessors</a:t>
            </a:r>
            <a:r>
              <a:rPr b="0" i="0" lang="en-US" sz="2000" u="none" cap="none" strike="noStrike">
                <a:solidFill>
                  <a:schemeClr val="dk1"/>
                </a:solidFill>
                <a:latin typeface="Helvetica Neue"/>
                <a:ea typeface="Helvetica Neue"/>
                <a:cs typeface="Helvetica Neue"/>
                <a:sym typeface="Helvetica Neue"/>
              </a:rPr>
              <a:t> system contains more than one CPU, its allowing then to work in parallel. </a:t>
            </a:r>
            <a:endParaRPr/>
          </a:p>
          <a:p>
            <a:pPr indent="-342900" lvl="0" marL="342900" marR="0" rtl="0" algn="just">
              <a:lnSpc>
                <a:spcPct val="90000"/>
              </a:lnSpc>
              <a:spcBef>
                <a:spcPts val="770"/>
              </a:spcBef>
              <a:spcAft>
                <a:spcPts val="0"/>
              </a:spcAft>
              <a:buClr>
                <a:srgbClr val="993300"/>
              </a:buClr>
              <a:buSzPts val="1980"/>
              <a:buFont typeface="Arial"/>
              <a:buChar char="●"/>
            </a:pPr>
            <a:r>
              <a:rPr b="0" i="0" lang="en-US" sz="2000" u="none" cap="none" strike="noStrike">
                <a:solidFill>
                  <a:schemeClr val="dk1"/>
                </a:solidFill>
                <a:latin typeface="Helvetica Neue"/>
                <a:ea typeface="Helvetica Neue"/>
                <a:cs typeface="Helvetica Neue"/>
                <a:sym typeface="Helvetica Neue"/>
              </a:rPr>
              <a:t>A </a:t>
            </a:r>
            <a:r>
              <a:rPr b="1" i="0" lang="en-US" sz="2000" u="none" cap="none" strike="noStrike">
                <a:solidFill>
                  <a:srgbClr val="0070C0"/>
                </a:solidFill>
                <a:latin typeface="Helvetica Neue"/>
                <a:ea typeface="Helvetica Neue"/>
                <a:cs typeface="Helvetica Neue"/>
                <a:sym typeface="Helvetica Neue"/>
              </a:rPr>
              <a:t>multicore</a:t>
            </a:r>
            <a:r>
              <a:rPr b="0" i="0" lang="en-US" sz="2000" u="none" cap="none" strike="noStrike">
                <a:solidFill>
                  <a:schemeClr val="dk1"/>
                </a:solidFill>
                <a:latin typeface="Helvetica Neue"/>
                <a:ea typeface="Helvetica Neue"/>
                <a:cs typeface="Helvetica Neue"/>
                <a:sym typeface="Helvetica Neue"/>
              </a:rPr>
              <a:t> CPU has multiple execution cores on one CPU meaning that a certain subset of the CPU’s components is duplicated, so that multiple cores can work in parallel on separate operations.</a:t>
            </a:r>
            <a:endParaRPr/>
          </a:p>
          <a:p>
            <a:pPr indent="-285750" lvl="1" marL="742950" marR="0" rtl="0" algn="just">
              <a:lnSpc>
                <a:spcPct val="90000"/>
              </a:lnSpc>
              <a:spcBef>
                <a:spcPts val="770"/>
              </a:spcBef>
              <a:spcAft>
                <a:spcPts val="0"/>
              </a:spcAft>
              <a:buClr>
                <a:srgbClr val="CC6600"/>
              </a:buClr>
              <a:buSzPts val="1760"/>
              <a:buFont typeface="Arial"/>
              <a:buChar char="●"/>
            </a:pPr>
            <a:r>
              <a:rPr b="0" i="0" lang="en-US" sz="2000" u="none" cap="none" strike="noStrike">
                <a:solidFill>
                  <a:schemeClr val="dk1"/>
                </a:solidFill>
                <a:latin typeface="Helvetica Neue"/>
                <a:ea typeface="Helvetica Neue"/>
                <a:cs typeface="Helvetica Neue"/>
                <a:sym typeface="Helvetica Neue"/>
              </a:rPr>
              <a:t>E.g. a multicore processor has separate L1 cache and execution unit for each core while is shares L2 cache for the entire processor</a:t>
            </a:r>
            <a:endParaRPr/>
          </a:p>
          <a:p>
            <a:pPr indent="-342900" lvl="0" marL="342900" marR="0" rtl="0" algn="just">
              <a:lnSpc>
                <a:spcPct val="90000"/>
              </a:lnSpc>
              <a:spcBef>
                <a:spcPts val="770"/>
              </a:spcBef>
              <a:spcAft>
                <a:spcPts val="0"/>
              </a:spcAft>
              <a:buClr>
                <a:srgbClr val="993300"/>
              </a:buClr>
              <a:buSzPts val="1980"/>
              <a:buFont typeface="Arial"/>
              <a:buChar char="●"/>
            </a:pPr>
            <a:r>
              <a:rPr b="0" i="0" lang="en-US" sz="2000" u="none" cap="none" strike="noStrike">
                <a:solidFill>
                  <a:schemeClr val="dk1"/>
                </a:solidFill>
                <a:latin typeface="Helvetica Neue"/>
                <a:ea typeface="Helvetica Neue"/>
                <a:cs typeface="Helvetica Neue"/>
                <a:sym typeface="Helvetica Neue"/>
              </a:rPr>
              <a:t>A </a:t>
            </a:r>
            <a:r>
              <a:rPr b="1" i="0" lang="en-US" sz="2000" u="none" cap="none" strike="noStrike">
                <a:solidFill>
                  <a:srgbClr val="0070C0"/>
                </a:solidFill>
                <a:latin typeface="Helvetica Neue"/>
                <a:ea typeface="Helvetica Neue"/>
                <a:cs typeface="Helvetica Neue"/>
                <a:sym typeface="Helvetica Neue"/>
              </a:rPr>
              <a:t>simultaneous multithreading (hyper-threading)</a:t>
            </a:r>
            <a:r>
              <a:rPr b="0" i="0" lang="en-US" sz="2000" u="none" cap="none" strike="noStrike">
                <a:solidFill>
                  <a:schemeClr val="dk1"/>
                </a:solidFill>
                <a:latin typeface="Helvetica Neue"/>
                <a:ea typeface="Helvetica Neue"/>
                <a:cs typeface="Helvetica Neue"/>
                <a:sym typeface="Helvetica Neue"/>
              </a:rPr>
              <a:t> is where an even smaller subset of a processor’s or core’s components is duplicated:</a:t>
            </a:r>
            <a:endParaRPr b="0" i="0" sz="2000" u="none" cap="none" strike="noStrike">
              <a:solidFill>
                <a:schemeClr val="dk1"/>
              </a:solidFill>
              <a:latin typeface="Helvetica Neue"/>
              <a:ea typeface="Helvetica Neue"/>
              <a:cs typeface="Helvetica Neue"/>
              <a:sym typeface="Helvetica Neue"/>
            </a:endParaRPr>
          </a:p>
          <a:p>
            <a:pPr indent="-285750" lvl="1" marL="742950" marR="0" rtl="0" algn="just">
              <a:lnSpc>
                <a:spcPct val="90000"/>
              </a:lnSpc>
              <a:spcBef>
                <a:spcPts val="770"/>
              </a:spcBef>
              <a:spcAft>
                <a:spcPts val="0"/>
              </a:spcAft>
              <a:buClr>
                <a:srgbClr val="CC6600"/>
              </a:buClr>
              <a:buSzPts val="1760"/>
              <a:buFont typeface="Arial"/>
              <a:buChar char="●"/>
            </a:pPr>
            <a:r>
              <a:rPr b="0" i="0" lang="en-US" sz="2000" u="none" cap="none" strike="noStrike">
                <a:solidFill>
                  <a:schemeClr val="dk1"/>
                </a:solidFill>
                <a:latin typeface="Helvetica Neue"/>
                <a:ea typeface="Helvetica Neue"/>
                <a:cs typeface="Helvetica Neue"/>
                <a:sym typeface="Helvetica Neue"/>
              </a:rPr>
              <a:t>E.g. hyper-threading have duplicate thread scheduling resources, so that the core looks like two separate processors to the OS, even though it only has one set of execution units.</a:t>
            </a:r>
            <a:endParaRPr b="0" i="0" sz="20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08"/>
          <p:cNvPicPr preferRelativeResize="0"/>
          <p:nvPr/>
        </p:nvPicPr>
        <p:blipFill rotWithShape="1">
          <a:blip r:embed="rId3">
            <a:alphaModFix/>
          </a:blip>
          <a:srcRect b="0" l="0" r="0" t="0"/>
          <a:stretch/>
        </p:blipFill>
        <p:spPr>
          <a:xfrm>
            <a:off x="1414462" y="147637"/>
            <a:ext cx="6315075" cy="6562725"/>
          </a:xfrm>
          <a:prstGeom prst="rect">
            <a:avLst/>
          </a:prstGeom>
          <a:noFill/>
          <a:ln>
            <a:noFill/>
          </a:ln>
        </p:spPr>
      </p:pic>
      <p:pic>
        <p:nvPicPr>
          <p:cNvPr id="199" name="Google Shape;199;p108"/>
          <p:cNvPicPr preferRelativeResize="0"/>
          <p:nvPr/>
        </p:nvPicPr>
        <p:blipFill rotWithShape="1">
          <a:blip r:embed="rId4">
            <a:alphaModFix/>
          </a:blip>
          <a:srcRect b="0" l="0" r="0" t="0"/>
          <a:stretch/>
        </p:blipFill>
        <p:spPr>
          <a:xfrm>
            <a:off x="2000839" y="2790334"/>
            <a:ext cx="487836" cy="487836"/>
          </a:xfrm>
          <a:prstGeom prst="rect">
            <a:avLst/>
          </a:prstGeom>
          <a:solidFill>
            <a:srgbClr val="66FF33"/>
          </a:solidFill>
          <a:ln>
            <a:noFill/>
          </a:ln>
        </p:spPr>
      </p:pic>
      <p:pic>
        <p:nvPicPr>
          <p:cNvPr id="200" name="Google Shape;200;p108"/>
          <p:cNvPicPr preferRelativeResize="0"/>
          <p:nvPr/>
        </p:nvPicPr>
        <p:blipFill rotWithShape="1">
          <a:blip r:embed="rId4">
            <a:alphaModFix/>
          </a:blip>
          <a:srcRect b="0" l="0" r="0" t="0"/>
          <a:stretch/>
        </p:blipFill>
        <p:spPr>
          <a:xfrm>
            <a:off x="4328081" y="2790334"/>
            <a:ext cx="487836" cy="487836"/>
          </a:xfrm>
          <a:prstGeom prst="rect">
            <a:avLst/>
          </a:prstGeom>
          <a:solidFill>
            <a:srgbClr val="66FF33"/>
          </a:solidFill>
          <a:ln>
            <a:noFill/>
          </a:ln>
        </p:spPr>
      </p:pic>
      <p:pic>
        <p:nvPicPr>
          <p:cNvPr id="201" name="Google Shape;201;p108"/>
          <p:cNvPicPr preferRelativeResize="0"/>
          <p:nvPr/>
        </p:nvPicPr>
        <p:blipFill rotWithShape="1">
          <a:blip r:embed="rId4">
            <a:alphaModFix/>
          </a:blip>
          <a:srcRect b="0" l="0" r="0" t="0"/>
          <a:stretch/>
        </p:blipFill>
        <p:spPr>
          <a:xfrm>
            <a:off x="6271574" y="2790334"/>
            <a:ext cx="487836" cy="487836"/>
          </a:xfrm>
          <a:prstGeom prst="rect">
            <a:avLst/>
          </a:prstGeom>
          <a:solidFill>
            <a:srgbClr val="66FF33"/>
          </a:solid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idx="4294967295" type="body"/>
          </p:nvPr>
        </p:nvSpPr>
        <p:spPr>
          <a:xfrm>
            <a:off x="498476" y="1825036"/>
            <a:ext cx="81470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Font typeface="Noto Sans Symbols"/>
              <a:buChar char="▪"/>
            </a:pPr>
            <a:r>
              <a:rPr lang="en-US" sz="2000"/>
              <a:t>Usually sharing storage via a </a:t>
            </a:r>
            <a:r>
              <a:rPr b="1" lang="en-US" sz="2000">
                <a:solidFill>
                  <a:srgbClr val="3366FF"/>
                </a:solidFill>
              </a:rPr>
              <a:t>storage-area network (SAN)</a:t>
            </a:r>
            <a:endParaRPr sz="2000"/>
          </a:p>
          <a:p>
            <a:pPr indent="-342900" lvl="0" marL="342900" rtl="0" algn="just">
              <a:lnSpc>
                <a:spcPct val="100000"/>
              </a:lnSpc>
              <a:spcBef>
                <a:spcPts val="770"/>
              </a:spcBef>
              <a:spcAft>
                <a:spcPts val="0"/>
              </a:spcAft>
              <a:buSzPts val="1980"/>
              <a:buFont typeface="Noto Sans Symbols"/>
              <a:buChar char="▪"/>
            </a:pPr>
            <a:r>
              <a:rPr lang="en-US" sz="2000"/>
              <a:t>Provides a </a:t>
            </a:r>
            <a:r>
              <a:rPr b="1" lang="en-US" sz="2000">
                <a:solidFill>
                  <a:srgbClr val="3366FF"/>
                </a:solidFill>
              </a:rPr>
              <a:t>high-availability</a:t>
            </a:r>
            <a:r>
              <a:rPr b="1" lang="en-US" sz="2000"/>
              <a:t> </a:t>
            </a:r>
            <a:r>
              <a:rPr lang="en-US" sz="2000"/>
              <a:t>service which survives failures</a:t>
            </a:r>
            <a:endParaRPr sz="2000"/>
          </a:p>
          <a:p>
            <a:pPr indent="-285750" lvl="1" marL="742950" rtl="0" algn="just">
              <a:lnSpc>
                <a:spcPct val="100000"/>
              </a:lnSpc>
              <a:spcBef>
                <a:spcPts val="770"/>
              </a:spcBef>
              <a:spcAft>
                <a:spcPts val="0"/>
              </a:spcAft>
              <a:buSzPts val="1760"/>
              <a:buChar char="●"/>
            </a:pPr>
            <a:r>
              <a:rPr b="1" lang="en-US" sz="2000">
                <a:solidFill>
                  <a:srgbClr val="3366FF"/>
                </a:solidFill>
              </a:rPr>
              <a:t>Asymmetric clustering</a:t>
            </a:r>
            <a:r>
              <a:rPr lang="en-US" sz="2000">
                <a:solidFill>
                  <a:srgbClr val="3366FF"/>
                </a:solidFill>
              </a:rPr>
              <a:t> </a:t>
            </a:r>
            <a:r>
              <a:rPr lang="en-US" sz="2000"/>
              <a:t>has one machine in hot-standby (</a:t>
            </a:r>
            <a:r>
              <a:rPr lang="en-US" sz="2000">
                <a:solidFill>
                  <a:srgbClr val="FF0000"/>
                </a:solidFill>
              </a:rPr>
              <a:t>master</a:t>
            </a:r>
            <a:r>
              <a:rPr lang="en-US" sz="2000"/>
              <a:t>) mode while the others run applications (</a:t>
            </a:r>
            <a:r>
              <a:rPr lang="en-US" sz="2000">
                <a:solidFill>
                  <a:srgbClr val="FF0000"/>
                </a:solidFill>
              </a:rPr>
              <a:t>slaves</a:t>
            </a:r>
            <a:r>
              <a:rPr lang="en-US" sz="2000"/>
              <a:t>). The hot-standby machine only monitor the active server.</a:t>
            </a:r>
            <a:endParaRPr sz="2000"/>
          </a:p>
          <a:p>
            <a:pPr indent="-285750" lvl="1" marL="742950" rtl="0" algn="just">
              <a:lnSpc>
                <a:spcPct val="100000"/>
              </a:lnSpc>
              <a:spcBef>
                <a:spcPts val="770"/>
              </a:spcBef>
              <a:spcAft>
                <a:spcPts val="0"/>
              </a:spcAft>
              <a:buSzPts val="1760"/>
              <a:buChar char="●"/>
            </a:pPr>
            <a:r>
              <a:rPr b="1" lang="en-US" sz="2000">
                <a:solidFill>
                  <a:srgbClr val="3366FF"/>
                </a:solidFill>
              </a:rPr>
              <a:t>Symmetric clustering</a:t>
            </a:r>
            <a:r>
              <a:rPr lang="en-US" sz="2000">
                <a:solidFill>
                  <a:srgbClr val="3366FF"/>
                </a:solidFill>
              </a:rPr>
              <a:t> </a:t>
            </a:r>
            <a:r>
              <a:rPr lang="en-US" sz="2000"/>
              <a:t>has multiple nodes/machines running applications, monitoring each other</a:t>
            </a:r>
            <a:endParaRPr sz="2000"/>
          </a:p>
          <a:p>
            <a:pPr indent="-342900" lvl="0" marL="342900" rtl="0" algn="just">
              <a:lnSpc>
                <a:spcPct val="100000"/>
              </a:lnSpc>
              <a:spcBef>
                <a:spcPts val="770"/>
              </a:spcBef>
              <a:spcAft>
                <a:spcPts val="0"/>
              </a:spcAft>
              <a:buSzPts val="1980"/>
              <a:buFont typeface="Noto Sans Symbols"/>
              <a:buChar char="▪"/>
            </a:pPr>
            <a:r>
              <a:rPr lang="en-US" sz="2000"/>
              <a:t>Some clusters are for </a:t>
            </a:r>
            <a:r>
              <a:rPr b="1" lang="en-US" sz="2000">
                <a:solidFill>
                  <a:srgbClr val="3366FF"/>
                </a:solidFill>
              </a:rPr>
              <a:t>high-performance computing (HPC)</a:t>
            </a:r>
            <a:endParaRPr sz="2000"/>
          </a:p>
          <a:p>
            <a:pPr indent="-285750" lvl="1" marL="742950" rtl="0" algn="just">
              <a:lnSpc>
                <a:spcPct val="100000"/>
              </a:lnSpc>
              <a:spcBef>
                <a:spcPts val="770"/>
              </a:spcBef>
              <a:spcAft>
                <a:spcPts val="0"/>
              </a:spcAft>
              <a:buSzPts val="1760"/>
              <a:buChar char="●"/>
            </a:pPr>
            <a:r>
              <a:rPr lang="en-US" sz="2000"/>
              <a:t>Applications must be written to use </a:t>
            </a:r>
            <a:r>
              <a:rPr b="1" lang="en-US" sz="2000">
                <a:solidFill>
                  <a:srgbClr val="3366FF"/>
                </a:solidFill>
              </a:rPr>
              <a:t>parallelization</a:t>
            </a:r>
            <a:endParaRPr sz="2000"/>
          </a:p>
          <a:p>
            <a:pPr indent="-342900" lvl="0" marL="342900" rtl="0" algn="just">
              <a:lnSpc>
                <a:spcPct val="100000"/>
              </a:lnSpc>
              <a:spcBef>
                <a:spcPts val="770"/>
              </a:spcBef>
              <a:spcAft>
                <a:spcPts val="0"/>
              </a:spcAft>
              <a:buSzPts val="1980"/>
              <a:buFont typeface="Noto Sans Symbols"/>
              <a:buChar char="▪"/>
            </a:pPr>
            <a:r>
              <a:rPr lang="en-US" sz="2000"/>
              <a:t>Some have</a:t>
            </a:r>
            <a:r>
              <a:rPr b="1" lang="en-US" sz="2000">
                <a:solidFill>
                  <a:srgbClr val="3366FF"/>
                </a:solidFill>
              </a:rPr>
              <a:t> distributed lock manager </a:t>
            </a:r>
            <a:r>
              <a:rPr lang="en-US" sz="2000"/>
              <a:t>(</a:t>
            </a:r>
            <a:r>
              <a:rPr b="1" lang="en-US" sz="2000">
                <a:solidFill>
                  <a:srgbClr val="3366FF"/>
                </a:solidFill>
              </a:rPr>
              <a:t>DLM</a:t>
            </a:r>
            <a:r>
              <a:rPr lang="en-US" sz="2000"/>
              <a:t>) to avoid conflicting operations</a:t>
            </a:r>
            <a:endParaRPr sz="2000"/>
          </a:p>
        </p:txBody>
      </p:sp>
      <p:sp>
        <p:nvSpPr>
          <p:cNvPr id="207" name="Google Shape;207;p22"/>
          <p:cNvSpPr txBox="1"/>
          <p:nvPr/>
        </p:nvSpPr>
        <p:spPr>
          <a:xfrm>
            <a:off x="498476" y="1044575"/>
            <a:ext cx="8147050" cy="98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2000" u="none" cap="none" strike="noStrike">
                <a:solidFill>
                  <a:schemeClr val="dk1"/>
                </a:solidFill>
                <a:latin typeface="Helvetica Neue"/>
                <a:ea typeface="Helvetica Neue"/>
                <a:cs typeface="Helvetica Neue"/>
                <a:sym typeface="Helvetica Neue"/>
              </a:rPr>
              <a:t>Like multiprocessor systems, but multiple systems working together</a:t>
            </a:r>
            <a:endParaRPr b="1" i="0" sz="2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208" name="Google Shape;208;p22"/>
          <p:cNvSpPr txBox="1"/>
          <p:nvPr/>
        </p:nvSpPr>
        <p:spPr>
          <a:xfrm>
            <a:off x="605978" y="323413"/>
            <a:ext cx="8281500" cy="576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Clustered Systems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1.08.pdf" id="213" name="Google Shape;213;p23"/>
          <p:cNvPicPr preferRelativeResize="0"/>
          <p:nvPr>
            <p:ph idx="4294967295" type="body"/>
          </p:nvPr>
        </p:nvPicPr>
        <p:blipFill rotWithShape="1">
          <a:blip r:embed="rId3">
            <a:alphaModFix/>
          </a:blip>
          <a:srcRect b="-3476" l="0" r="0" t="-3476"/>
          <a:stretch/>
        </p:blipFill>
        <p:spPr>
          <a:xfrm>
            <a:off x="1404938" y="1557338"/>
            <a:ext cx="6402387" cy="3524250"/>
          </a:xfrm>
          <a:prstGeom prst="rect">
            <a:avLst/>
          </a:prstGeom>
          <a:noFill/>
          <a:ln>
            <a:noFill/>
          </a:ln>
        </p:spPr>
      </p:pic>
      <p:sp>
        <p:nvSpPr>
          <p:cNvPr id="214" name="Google Shape;214;p23"/>
          <p:cNvSpPr txBox="1"/>
          <p:nvPr/>
        </p:nvSpPr>
        <p:spPr>
          <a:xfrm>
            <a:off x="1404938" y="5217895"/>
            <a:ext cx="640238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Verdana"/>
                <a:ea typeface="Verdana"/>
                <a:cs typeface="Verdana"/>
                <a:sym typeface="Verdana"/>
              </a:rPr>
              <a:t>General structure of a clustered system</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idx="4294967295" type="body"/>
          </p:nvPr>
        </p:nvSpPr>
        <p:spPr>
          <a:xfrm>
            <a:off x="679939" y="1129793"/>
            <a:ext cx="8006862" cy="493871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lang="en-US"/>
              <a:t>Single user cannot keep CPU and I/O devices busy at all times</a:t>
            </a:r>
            <a:endParaRPr/>
          </a:p>
          <a:p>
            <a:pPr indent="-342900" lvl="0" marL="342900" rtl="0" algn="just">
              <a:lnSpc>
                <a:spcPct val="90000"/>
              </a:lnSpc>
              <a:spcBef>
                <a:spcPts val="770"/>
              </a:spcBef>
              <a:spcAft>
                <a:spcPts val="0"/>
              </a:spcAft>
              <a:buSzPts val="1980"/>
              <a:buChar char="●"/>
            </a:pPr>
            <a:r>
              <a:rPr b="1" lang="en-US"/>
              <a:t>Multiprogramming</a:t>
            </a:r>
            <a:r>
              <a:rPr lang="en-US"/>
              <a:t> organizes jobs (code and data) so CPU always has one to execute</a:t>
            </a:r>
            <a:endParaRPr/>
          </a:p>
          <a:p>
            <a:pPr indent="-342900" lvl="0" marL="342900" rtl="0" algn="just">
              <a:lnSpc>
                <a:spcPct val="90000"/>
              </a:lnSpc>
              <a:spcBef>
                <a:spcPts val="770"/>
              </a:spcBef>
              <a:spcAft>
                <a:spcPts val="0"/>
              </a:spcAft>
              <a:buSzPts val="1980"/>
              <a:buChar char="●"/>
            </a:pPr>
            <a:r>
              <a:rPr lang="en-US"/>
              <a:t>A subset of total jobs in system is kept in memory</a:t>
            </a:r>
            <a:endParaRPr/>
          </a:p>
          <a:p>
            <a:pPr indent="-342900" lvl="0" marL="342900" rtl="0" algn="just">
              <a:lnSpc>
                <a:spcPct val="90000"/>
              </a:lnSpc>
              <a:spcBef>
                <a:spcPts val="770"/>
              </a:spcBef>
              <a:spcAft>
                <a:spcPts val="0"/>
              </a:spcAft>
              <a:buSzPts val="1980"/>
              <a:buChar char="●"/>
            </a:pPr>
            <a:r>
              <a:rPr lang="en-US"/>
              <a:t>Batch systems:</a:t>
            </a:r>
            <a:endParaRPr/>
          </a:p>
          <a:p>
            <a:pPr indent="-285750" lvl="1" marL="742950" rtl="0" algn="just">
              <a:lnSpc>
                <a:spcPct val="90000"/>
              </a:lnSpc>
              <a:spcBef>
                <a:spcPts val="770"/>
              </a:spcBef>
              <a:spcAft>
                <a:spcPts val="0"/>
              </a:spcAft>
              <a:buSzPts val="1760"/>
              <a:buChar char="●"/>
            </a:pPr>
            <a:r>
              <a:rPr lang="en-US"/>
              <a:t>One job selected and run via </a:t>
            </a:r>
            <a:r>
              <a:rPr b="1" lang="en-US">
                <a:solidFill>
                  <a:srgbClr val="3366FF"/>
                </a:solidFill>
              </a:rPr>
              <a:t>job scheduling</a:t>
            </a:r>
            <a:endParaRPr/>
          </a:p>
          <a:p>
            <a:pPr indent="-285750" lvl="1" marL="742950" rtl="0" algn="just">
              <a:lnSpc>
                <a:spcPct val="90000"/>
              </a:lnSpc>
              <a:spcBef>
                <a:spcPts val="770"/>
              </a:spcBef>
              <a:spcAft>
                <a:spcPts val="0"/>
              </a:spcAft>
              <a:buSzPts val="1760"/>
              <a:buChar char="●"/>
            </a:pPr>
            <a:r>
              <a:rPr lang="en-US"/>
              <a:t>When it has to wait (for I/O for example), OS switches to another job</a:t>
            </a:r>
            <a:endParaRPr/>
          </a:p>
          <a:p>
            <a:pPr indent="-342900" lvl="0" marL="342900" rtl="0" algn="just">
              <a:lnSpc>
                <a:spcPct val="90000"/>
              </a:lnSpc>
              <a:spcBef>
                <a:spcPts val="770"/>
              </a:spcBef>
              <a:spcAft>
                <a:spcPts val="0"/>
              </a:spcAft>
              <a:buSzPts val="1980"/>
              <a:buChar char="●"/>
            </a:pPr>
            <a:r>
              <a:rPr lang="en-US"/>
              <a:t>Timesharing systems:</a:t>
            </a:r>
            <a:endParaRPr/>
          </a:p>
          <a:p>
            <a:pPr indent="-285750" lvl="1" marL="742950" rtl="0" algn="just">
              <a:lnSpc>
                <a:spcPct val="90000"/>
              </a:lnSpc>
              <a:spcBef>
                <a:spcPts val="770"/>
              </a:spcBef>
              <a:spcAft>
                <a:spcPts val="0"/>
              </a:spcAft>
              <a:buSzPts val="1760"/>
              <a:buChar char="●"/>
            </a:pPr>
            <a:r>
              <a:rPr lang="en-US"/>
              <a:t>Logical extension of batch systems --  CPU switches jobs so frequently that users can interact with each job while it is running, creating </a:t>
            </a:r>
            <a:r>
              <a:rPr b="1" lang="en-US">
                <a:solidFill>
                  <a:srgbClr val="3366FF"/>
                </a:solidFill>
              </a:rPr>
              <a:t>interactive</a:t>
            </a:r>
            <a:r>
              <a:rPr lang="en-US"/>
              <a:t> computing</a:t>
            </a:r>
            <a:endParaRPr/>
          </a:p>
          <a:p>
            <a:pPr indent="-217170" lvl="0" marL="342900" rtl="0" algn="just">
              <a:lnSpc>
                <a:spcPct val="90000"/>
              </a:lnSpc>
              <a:spcBef>
                <a:spcPts val="770"/>
              </a:spcBef>
              <a:spcAft>
                <a:spcPts val="0"/>
              </a:spcAft>
              <a:buSzPts val="1980"/>
              <a:buNone/>
            </a:pPr>
            <a:r>
              <a:t/>
            </a:r>
            <a:endParaRPr/>
          </a:p>
          <a:p>
            <a:pPr indent="-285750" lvl="1" marL="742950" rtl="0" algn="just">
              <a:lnSpc>
                <a:spcPct val="90000"/>
              </a:lnSpc>
              <a:spcBef>
                <a:spcPts val="770"/>
              </a:spcBef>
              <a:spcAft>
                <a:spcPts val="0"/>
              </a:spcAft>
              <a:buSzPts val="1760"/>
              <a:buFont typeface="Arial"/>
              <a:buNone/>
            </a:pPr>
            <a:r>
              <a:t/>
            </a:r>
            <a:endParaRPr/>
          </a:p>
          <a:p>
            <a:pPr indent="-217170" lvl="0" marL="342900" rtl="0" algn="just">
              <a:lnSpc>
                <a:spcPct val="90000"/>
              </a:lnSpc>
              <a:spcBef>
                <a:spcPts val="770"/>
              </a:spcBef>
              <a:spcAft>
                <a:spcPts val="0"/>
              </a:spcAft>
              <a:buSzPts val="1980"/>
              <a:buNone/>
            </a:pPr>
            <a:r>
              <a:t/>
            </a:r>
            <a:endParaRPr/>
          </a:p>
        </p:txBody>
      </p:sp>
      <p:sp>
        <p:nvSpPr>
          <p:cNvPr id="220" name="Google Shape;220;p24"/>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4. OPERATING-SYSTEM STRUCTURE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5"/>
          <p:cNvPicPr preferRelativeResize="0"/>
          <p:nvPr/>
        </p:nvPicPr>
        <p:blipFill rotWithShape="1">
          <a:blip r:embed="rId3">
            <a:alphaModFix/>
          </a:blip>
          <a:srcRect b="0" l="0" r="0" t="0"/>
          <a:stretch/>
        </p:blipFill>
        <p:spPr>
          <a:xfrm>
            <a:off x="2847975" y="1312863"/>
            <a:ext cx="2651125" cy="4360862"/>
          </a:xfrm>
          <a:prstGeom prst="rect">
            <a:avLst/>
          </a:prstGeom>
          <a:noFill/>
          <a:ln>
            <a:noFill/>
          </a:ln>
        </p:spPr>
      </p:pic>
      <p:sp>
        <p:nvSpPr>
          <p:cNvPr id="226" name="Google Shape;226;p25"/>
          <p:cNvSpPr txBox="1"/>
          <p:nvPr/>
        </p:nvSpPr>
        <p:spPr>
          <a:xfrm>
            <a:off x="377072" y="277813"/>
            <a:ext cx="8700939"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000" u="none" cap="none" strike="noStrike">
                <a:solidFill>
                  <a:srgbClr val="006699"/>
                </a:solidFill>
                <a:latin typeface="Arial"/>
                <a:ea typeface="Arial"/>
                <a:cs typeface="Arial"/>
                <a:sym typeface="Arial"/>
              </a:rPr>
              <a:t>Memory Layout for Multiprogrammed System</a:t>
            </a:r>
            <a:endParaRPr b="1" i="0" sz="3000" u="none" cap="none" strike="noStrike">
              <a:solidFill>
                <a:srgbClr val="006699"/>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6"/>
          <p:cNvSpPr txBox="1"/>
          <p:nvPr>
            <p:ph idx="4294967295" type="body"/>
          </p:nvPr>
        </p:nvSpPr>
        <p:spPr>
          <a:xfrm>
            <a:off x="599328" y="1152034"/>
            <a:ext cx="7935913" cy="5462588"/>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440"/>
              <a:buFont typeface="Arial"/>
              <a:buNone/>
            </a:pPr>
            <a:r>
              <a:t/>
            </a:r>
            <a:endParaRPr sz="1600"/>
          </a:p>
          <a:p>
            <a:pPr indent="-342900" lvl="0" marL="342900" rtl="0" algn="just">
              <a:lnSpc>
                <a:spcPct val="90000"/>
              </a:lnSpc>
              <a:spcBef>
                <a:spcPts val="770"/>
              </a:spcBef>
              <a:spcAft>
                <a:spcPts val="0"/>
              </a:spcAft>
              <a:buSzPts val="1980"/>
              <a:buChar char="●"/>
            </a:pPr>
            <a:r>
              <a:rPr lang="en-US"/>
              <a:t>Timesharing is  also referred to as </a:t>
            </a:r>
            <a:r>
              <a:rPr b="1" lang="en-US">
                <a:solidFill>
                  <a:srgbClr val="3366FF"/>
                </a:solidFill>
              </a:rPr>
              <a:t>multitasking.</a:t>
            </a:r>
            <a:endParaRPr/>
          </a:p>
          <a:p>
            <a:pPr indent="-342900" lvl="0" marL="342900" rtl="0" algn="just">
              <a:lnSpc>
                <a:spcPct val="90000"/>
              </a:lnSpc>
              <a:spcBef>
                <a:spcPts val="770"/>
              </a:spcBef>
              <a:spcAft>
                <a:spcPts val="0"/>
              </a:spcAft>
              <a:buSzPts val="1980"/>
              <a:buChar char="●"/>
            </a:pPr>
            <a:r>
              <a:rPr b="1" lang="en-US">
                <a:solidFill>
                  <a:srgbClr val="3366FF"/>
                </a:solidFill>
              </a:rPr>
              <a:t>Response time </a:t>
            </a:r>
            <a:r>
              <a:rPr lang="en-US"/>
              <a:t>should be &lt; 1 second</a:t>
            </a:r>
            <a:endParaRPr/>
          </a:p>
          <a:p>
            <a:pPr indent="-342900" lvl="0" marL="342900" rtl="0" algn="just">
              <a:lnSpc>
                <a:spcPct val="90000"/>
              </a:lnSpc>
              <a:spcBef>
                <a:spcPts val="770"/>
              </a:spcBef>
              <a:spcAft>
                <a:spcPts val="0"/>
              </a:spcAft>
              <a:buSzPts val="1980"/>
              <a:buChar char="●"/>
            </a:pPr>
            <a:r>
              <a:rPr lang="en-US"/>
              <a:t>Each user has at least one program executing in memory. Such a program is referred to as a </a:t>
            </a:r>
            <a:r>
              <a:rPr b="1" lang="en-US">
                <a:solidFill>
                  <a:srgbClr val="3366FF"/>
                </a:solidFill>
              </a:rPr>
              <a:t>process</a:t>
            </a:r>
            <a:endParaRPr/>
          </a:p>
          <a:p>
            <a:pPr indent="-342900" lvl="0" marL="342900" rtl="0" algn="just">
              <a:lnSpc>
                <a:spcPct val="90000"/>
              </a:lnSpc>
              <a:spcBef>
                <a:spcPts val="770"/>
              </a:spcBef>
              <a:spcAft>
                <a:spcPts val="0"/>
              </a:spcAft>
              <a:buSzPts val="1980"/>
              <a:buChar char="●"/>
            </a:pPr>
            <a:r>
              <a:rPr lang="en-US"/>
              <a:t>If several processes are ready to run at the same time, we need to have </a:t>
            </a:r>
            <a:r>
              <a:rPr b="1" lang="en-US">
                <a:solidFill>
                  <a:srgbClr val="3366FF"/>
                </a:solidFill>
              </a:rPr>
              <a:t>CPU scheduling.</a:t>
            </a:r>
            <a:endParaRPr/>
          </a:p>
          <a:p>
            <a:pPr indent="-342900" lvl="0" marL="342900" rtl="0" algn="just">
              <a:lnSpc>
                <a:spcPct val="90000"/>
              </a:lnSpc>
              <a:spcBef>
                <a:spcPts val="770"/>
              </a:spcBef>
              <a:spcAft>
                <a:spcPts val="0"/>
              </a:spcAft>
              <a:buSzPts val="1980"/>
              <a:buChar char="●"/>
            </a:pPr>
            <a:r>
              <a:rPr lang="en-US"/>
              <a:t>If processes do not fit in memory, </a:t>
            </a:r>
            <a:r>
              <a:rPr b="1" lang="en-US">
                <a:solidFill>
                  <a:srgbClr val="3366FF"/>
                </a:solidFill>
              </a:rPr>
              <a:t>swapping</a:t>
            </a:r>
            <a:r>
              <a:rPr lang="en-US"/>
              <a:t> moves them in and out to run</a:t>
            </a:r>
            <a:endParaRPr/>
          </a:p>
          <a:p>
            <a:pPr indent="-342900" lvl="0" marL="342900" rtl="0" algn="just">
              <a:lnSpc>
                <a:spcPct val="90000"/>
              </a:lnSpc>
              <a:spcBef>
                <a:spcPts val="770"/>
              </a:spcBef>
              <a:spcAft>
                <a:spcPts val="0"/>
              </a:spcAft>
              <a:buSzPts val="1980"/>
              <a:buChar char="●"/>
            </a:pPr>
            <a:r>
              <a:rPr b="1" lang="en-US">
                <a:solidFill>
                  <a:srgbClr val="3366FF"/>
                </a:solidFill>
              </a:rPr>
              <a:t>Virtual memory </a:t>
            </a:r>
            <a:r>
              <a:rPr lang="en-US"/>
              <a:t>allows execution of processes not completely in memory</a:t>
            </a:r>
            <a:endParaRPr/>
          </a:p>
        </p:txBody>
      </p:sp>
      <p:sp>
        <p:nvSpPr>
          <p:cNvPr id="232" name="Google Shape;232;p26"/>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Timesharing Systems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idx="4294967295" type="body"/>
          </p:nvPr>
        </p:nvSpPr>
        <p:spPr>
          <a:xfrm>
            <a:off x="603741" y="1007244"/>
            <a:ext cx="8083060" cy="493871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lang="en-US"/>
              <a:t>A mechanism that allows the OS to protect itself and other system components</a:t>
            </a:r>
            <a:endParaRPr/>
          </a:p>
          <a:p>
            <a:pPr indent="-342900" lvl="0" marL="342900" rtl="0" algn="just">
              <a:lnSpc>
                <a:spcPct val="90000"/>
              </a:lnSpc>
              <a:spcBef>
                <a:spcPts val="770"/>
              </a:spcBef>
              <a:spcAft>
                <a:spcPts val="0"/>
              </a:spcAft>
              <a:buSzPts val="1980"/>
              <a:buChar char="●"/>
            </a:pPr>
            <a:r>
              <a:rPr lang="en-US"/>
              <a:t>Two modes of operations:</a:t>
            </a:r>
            <a:endParaRPr/>
          </a:p>
          <a:p>
            <a:pPr indent="-285750" lvl="1" marL="742950" rtl="0" algn="just">
              <a:lnSpc>
                <a:spcPct val="90000"/>
              </a:lnSpc>
              <a:spcBef>
                <a:spcPts val="770"/>
              </a:spcBef>
              <a:spcAft>
                <a:spcPts val="0"/>
              </a:spcAft>
              <a:buSzPts val="1760"/>
              <a:buChar char="●"/>
            </a:pPr>
            <a:r>
              <a:rPr b="1" lang="en-US">
                <a:solidFill>
                  <a:srgbClr val="3366FF"/>
                </a:solidFill>
              </a:rPr>
              <a:t>User mode</a:t>
            </a:r>
            <a:endParaRPr/>
          </a:p>
          <a:p>
            <a:pPr indent="-285750" lvl="1" marL="742950" rtl="0" algn="just">
              <a:lnSpc>
                <a:spcPct val="90000"/>
              </a:lnSpc>
              <a:spcBef>
                <a:spcPts val="770"/>
              </a:spcBef>
              <a:spcAft>
                <a:spcPts val="0"/>
              </a:spcAft>
              <a:buSzPts val="1760"/>
              <a:buChar char="●"/>
            </a:pPr>
            <a:r>
              <a:rPr b="1" lang="en-US">
                <a:solidFill>
                  <a:srgbClr val="3366FF"/>
                </a:solidFill>
              </a:rPr>
              <a:t>Kernel mode</a:t>
            </a:r>
            <a:endParaRPr/>
          </a:p>
          <a:p>
            <a:pPr indent="-342900" lvl="0" marL="342900" rtl="0" algn="just">
              <a:lnSpc>
                <a:spcPct val="90000"/>
              </a:lnSpc>
              <a:spcBef>
                <a:spcPts val="770"/>
              </a:spcBef>
              <a:spcAft>
                <a:spcPts val="0"/>
              </a:spcAft>
              <a:buSzPts val="1980"/>
              <a:buChar char="●"/>
            </a:pPr>
            <a:r>
              <a:rPr b="1" lang="en-US">
                <a:solidFill>
                  <a:srgbClr val="3366FF"/>
                </a:solidFill>
              </a:rPr>
              <a:t>Mode bit (0 or 1) </a:t>
            </a:r>
            <a:r>
              <a:rPr lang="en-US"/>
              <a:t>provided by hardware</a:t>
            </a:r>
            <a:endParaRPr/>
          </a:p>
          <a:p>
            <a:pPr indent="-285750" lvl="1" marL="742950" rtl="0" algn="just">
              <a:lnSpc>
                <a:spcPct val="90000"/>
              </a:lnSpc>
              <a:spcBef>
                <a:spcPts val="770"/>
              </a:spcBef>
              <a:spcAft>
                <a:spcPts val="0"/>
              </a:spcAft>
              <a:buSzPts val="1760"/>
              <a:buChar char="●"/>
            </a:pPr>
            <a:r>
              <a:rPr lang="en-US"/>
              <a:t>Provides ability to distinguish when system is running user code or kernel code</a:t>
            </a:r>
            <a:endParaRPr/>
          </a:p>
          <a:p>
            <a:pPr indent="-285750" lvl="1" marL="742950" rtl="0" algn="just">
              <a:lnSpc>
                <a:spcPct val="90000"/>
              </a:lnSpc>
              <a:spcBef>
                <a:spcPts val="770"/>
              </a:spcBef>
              <a:spcAft>
                <a:spcPts val="0"/>
              </a:spcAft>
              <a:buSzPts val="1760"/>
              <a:buChar char="●"/>
            </a:pPr>
            <a:r>
              <a:rPr lang="en-US"/>
              <a:t>Some instructions designated as </a:t>
            </a:r>
            <a:r>
              <a:rPr b="1" lang="en-US">
                <a:solidFill>
                  <a:srgbClr val="3366FF"/>
                </a:solidFill>
              </a:rPr>
              <a:t>privileged</a:t>
            </a:r>
            <a:r>
              <a:rPr lang="en-US"/>
              <a:t>, only executable in kernel mode</a:t>
            </a:r>
            <a:endParaRPr/>
          </a:p>
          <a:p>
            <a:pPr indent="-285750" lvl="1" marL="742950" rtl="0" algn="just">
              <a:lnSpc>
                <a:spcPct val="90000"/>
              </a:lnSpc>
              <a:spcBef>
                <a:spcPts val="770"/>
              </a:spcBef>
              <a:spcAft>
                <a:spcPts val="0"/>
              </a:spcAft>
              <a:buSzPts val="1760"/>
              <a:buChar char="●"/>
            </a:pPr>
            <a:r>
              <a:rPr lang="en-US"/>
              <a:t>Systems call by a user asking the OS to perform some function changes from user mode to kernel mode.</a:t>
            </a:r>
            <a:endParaRPr/>
          </a:p>
          <a:p>
            <a:pPr indent="-285750" lvl="1" marL="742950" rtl="0" algn="just">
              <a:lnSpc>
                <a:spcPct val="90000"/>
              </a:lnSpc>
              <a:spcBef>
                <a:spcPts val="770"/>
              </a:spcBef>
              <a:spcAft>
                <a:spcPts val="0"/>
              </a:spcAft>
              <a:buSzPts val="1760"/>
              <a:buChar char="●"/>
            </a:pPr>
            <a:r>
              <a:rPr lang="en-US"/>
              <a:t>Return from a system call resets the mode to user mode.</a:t>
            </a:r>
            <a:endParaRPr/>
          </a:p>
        </p:txBody>
      </p:sp>
      <p:sp>
        <p:nvSpPr>
          <p:cNvPr id="238" name="Google Shape;238;p27"/>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5. OPERATING-SYSTEM OPERATIONS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8"/>
          <p:cNvPicPr preferRelativeResize="0"/>
          <p:nvPr/>
        </p:nvPicPr>
        <p:blipFill rotWithShape="1">
          <a:blip r:embed="rId3">
            <a:alphaModFix/>
          </a:blip>
          <a:srcRect b="0" l="0" r="0" t="0"/>
          <a:stretch/>
        </p:blipFill>
        <p:spPr>
          <a:xfrm>
            <a:off x="1103313" y="1609725"/>
            <a:ext cx="7602537" cy="2346325"/>
          </a:xfrm>
          <a:prstGeom prst="rect">
            <a:avLst/>
          </a:prstGeom>
          <a:noFill/>
          <a:ln>
            <a:noFill/>
          </a:ln>
        </p:spPr>
      </p:pic>
      <p:sp>
        <p:nvSpPr>
          <p:cNvPr id="244" name="Google Shape;244;p28"/>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Transition from User to Kernel Mode</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457200" y="277813"/>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Hardware Protection</a:t>
            </a:r>
            <a:endParaRPr/>
          </a:p>
        </p:txBody>
      </p:sp>
      <p:sp>
        <p:nvSpPr>
          <p:cNvPr id="250" name="Google Shape;250;p29"/>
          <p:cNvSpPr txBox="1"/>
          <p:nvPr>
            <p:ph idx="1" type="body"/>
          </p:nvPr>
        </p:nvSpPr>
        <p:spPr>
          <a:xfrm>
            <a:off x="457200" y="1139220"/>
            <a:ext cx="8578850" cy="533778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200"/>
              <a:buFont typeface="Arial"/>
              <a:buChar char="•"/>
            </a:pPr>
            <a:r>
              <a:rPr i="1" lang="en-US">
                <a:solidFill>
                  <a:schemeClr val="dk1"/>
                </a:solidFill>
              </a:rPr>
              <a:t>Privileged instructions </a:t>
            </a:r>
            <a:r>
              <a:rPr lang="en-US">
                <a:solidFill>
                  <a:schemeClr val="dk1"/>
                </a:solidFill>
              </a:rPr>
              <a:t>can be issued only in </a:t>
            </a:r>
            <a:r>
              <a:rPr b="1" lang="en-US">
                <a:solidFill>
                  <a:srgbClr val="0033CC"/>
                </a:solidFill>
              </a:rPr>
              <a:t>kernel mode</a:t>
            </a:r>
            <a:r>
              <a:rPr i="1" lang="en-US">
                <a:solidFill>
                  <a:schemeClr val="dk1"/>
                </a:solidFill>
              </a:rPr>
              <a:t>. </a:t>
            </a:r>
            <a:endParaRPr>
              <a:solidFill>
                <a:schemeClr val="dk1"/>
              </a:solidFill>
            </a:endParaRPr>
          </a:p>
          <a:p>
            <a:pPr indent="-203200" lvl="0" marL="482600" rtl="0" algn="just">
              <a:lnSpc>
                <a:spcPct val="100000"/>
              </a:lnSpc>
              <a:spcBef>
                <a:spcPts val="440"/>
              </a:spcBef>
              <a:spcAft>
                <a:spcPts val="0"/>
              </a:spcAft>
              <a:buClr>
                <a:srgbClr val="222222"/>
              </a:buClr>
              <a:buSzPts val="2200"/>
              <a:buFont typeface="Arial"/>
              <a:buNone/>
            </a:pPr>
            <a:r>
              <a:t/>
            </a:r>
            <a:endParaRPr>
              <a:solidFill>
                <a:schemeClr val="dk1"/>
              </a:solidFill>
            </a:endParaRPr>
          </a:p>
          <a:p>
            <a:pPr indent="-342900" lvl="0" marL="342900" rtl="0" algn="just">
              <a:lnSpc>
                <a:spcPct val="100000"/>
              </a:lnSpc>
              <a:spcBef>
                <a:spcPts val="440"/>
              </a:spcBef>
              <a:spcAft>
                <a:spcPts val="0"/>
              </a:spcAft>
              <a:buClr>
                <a:srgbClr val="222222"/>
              </a:buClr>
              <a:buSzPts val="2200"/>
              <a:buFont typeface="Arial"/>
              <a:buChar char="•"/>
            </a:pPr>
            <a:r>
              <a:rPr lang="en-US">
                <a:solidFill>
                  <a:schemeClr val="dk1"/>
                </a:solidFill>
              </a:rPr>
              <a:t>Examples of privileged instruction</a:t>
            </a:r>
            <a:endParaRPr>
              <a:solidFill>
                <a:schemeClr val="dk1"/>
              </a:solidFill>
            </a:endParaRPr>
          </a:p>
          <a:p>
            <a:pPr indent="-342900" lvl="1" marL="800100" rtl="0" algn="just">
              <a:lnSpc>
                <a:spcPct val="100000"/>
              </a:lnSpc>
              <a:spcBef>
                <a:spcPts val="440"/>
              </a:spcBef>
              <a:spcAft>
                <a:spcPts val="0"/>
              </a:spcAft>
              <a:buClr>
                <a:srgbClr val="222222"/>
              </a:buClr>
              <a:buSzPts val="2200"/>
              <a:buFont typeface="Arial"/>
              <a:buChar char="•"/>
            </a:pPr>
            <a:r>
              <a:rPr lang="en-US">
                <a:solidFill>
                  <a:schemeClr val="dk1"/>
                </a:solidFill>
              </a:rPr>
              <a:t>I/O instruction, Halt, changing execution mode</a:t>
            </a:r>
            <a:endParaRPr>
              <a:solidFill>
                <a:schemeClr val="dk1"/>
              </a:solidFill>
            </a:endParaRPr>
          </a:p>
          <a:p>
            <a:pPr indent="-342900" lvl="1" marL="800100" rtl="0" algn="just">
              <a:lnSpc>
                <a:spcPct val="100000"/>
              </a:lnSpc>
              <a:spcBef>
                <a:spcPts val="440"/>
              </a:spcBef>
              <a:spcAft>
                <a:spcPts val="0"/>
              </a:spcAft>
              <a:buClr>
                <a:srgbClr val="222222"/>
              </a:buClr>
              <a:buSzPts val="2200"/>
              <a:buFont typeface="Arial"/>
              <a:buChar char="•"/>
            </a:pPr>
            <a:r>
              <a:rPr lang="en-US">
                <a:solidFill>
                  <a:schemeClr val="dk1"/>
                </a:solidFill>
              </a:rPr>
              <a:t>Instruction to modify the content of memory management registers and timer</a:t>
            </a:r>
            <a:endParaRPr>
              <a:solidFill>
                <a:schemeClr val="dk1"/>
              </a:solidFill>
            </a:endParaRPr>
          </a:p>
          <a:p>
            <a:pPr indent="-342900" lvl="1" marL="800100" rtl="0" algn="just">
              <a:lnSpc>
                <a:spcPct val="100000"/>
              </a:lnSpc>
              <a:spcBef>
                <a:spcPts val="440"/>
              </a:spcBef>
              <a:spcAft>
                <a:spcPts val="0"/>
              </a:spcAft>
              <a:buClr>
                <a:srgbClr val="222222"/>
              </a:buClr>
              <a:buSzPts val="2200"/>
              <a:buFont typeface="Arial"/>
              <a:buChar char="•"/>
            </a:pPr>
            <a:r>
              <a:rPr lang="en-US">
                <a:solidFill>
                  <a:schemeClr val="dk1"/>
                </a:solidFill>
              </a:rPr>
              <a:t>Instruction to switch interrupt services to on/off</a:t>
            </a:r>
            <a:endParaRPr>
              <a:solidFill>
                <a:schemeClr val="dk1"/>
              </a:solidFill>
            </a:endParaRPr>
          </a:p>
          <a:p>
            <a:pPr indent="-203200" lvl="1" marL="939800" rtl="0" algn="just">
              <a:lnSpc>
                <a:spcPct val="100000"/>
              </a:lnSpc>
              <a:spcBef>
                <a:spcPts val="440"/>
              </a:spcBef>
              <a:spcAft>
                <a:spcPts val="0"/>
              </a:spcAft>
              <a:buClr>
                <a:srgbClr val="222222"/>
              </a:buClr>
              <a:buSzPts val="2200"/>
              <a:buFont typeface="Arial"/>
              <a:buNone/>
            </a:pPr>
            <a:r>
              <a:t/>
            </a:r>
            <a:endParaRPr>
              <a:solidFill>
                <a:schemeClr val="dk1"/>
              </a:solidFill>
            </a:endParaRPr>
          </a:p>
          <a:p>
            <a:pPr indent="-342900" lvl="0" marL="342900" rtl="0" algn="just">
              <a:lnSpc>
                <a:spcPct val="90000"/>
              </a:lnSpc>
              <a:spcBef>
                <a:spcPts val="440"/>
              </a:spcBef>
              <a:spcAft>
                <a:spcPts val="0"/>
              </a:spcAft>
              <a:buClr>
                <a:srgbClr val="222222"/>
              </a:buClr>
              <a:buSzPts val="2200"/>
              <a:buFont typeface="Arial"/>
              <a:buChar char="•"/>
            </a:pPr>
            <a:r>
              <a:rPr lang="en-US">
                <a:solidFill>
                  <a:schemeClr val="dk1"/>
                </a:solidFill>
              </a:rPr>
              <a:t>Besides using Dual Mode to protect the hardware by having privileged instruction, other types of hardware protections are:</a:t>
            </a:r>
            <a:endParaRPr>
              <a:solidFill>
                <a:schemeClr val="dk1"/>
              </a:solidFill>
            </a:endParaRPr>
          </a:p>
          <a:p>
            <a:pPr indent="-342900" lvl="1" marL="800100" rtl="0" algn="just">
              <a:lnSpc>
                <a:spcPct val="90000"/>
              </a:lnSpc>
              <a:spcBef>
                <a:spcPts val="440"/>
              </a:spcBef>
              <a:spcAft>
                <a:spcPts val="0"/>
              </a:spcAft>
              <a:buClr>
                <a:srgbClr val="3366FF"/>
              </a:buClr>
              <a:buSzPts val="2200"/>
              <a:buFont typeface="Arial"/>
              <a:buChar char="•"/>
            </a:pPr>
            <a:r>
              <a:rPr b="1" lang="en-US">
                <a:solidFill>
                  <a:srgbClr val="0033CC"/>
                </a:solidFill>
              </a:rPr>
              <a:t>I/O protection</a:t>
            </a:r>
            <a:endParaRPr>
              <a:solidFill>
                <a:srgbClr val="0033CC"/>
              </a:solidFill>
            </a:endParaRPr>
          </a:p>
          <a:p>
            <a:pPr indent="-342900" lvl="1" marL="800100" rtl="0" algn="just">
              <a:lnSpc>
                <a:spcPct val="90000"/>
              </a:lnSpc>
              <a:spcBef>
                <a:spcPts val="440"/>
              </a:spcBef>
              <a:spcAft>
                <a:spcPts val="0"/>
              </a:spcAft>
              <a:buClr>
                <a:srgbClr val="3366FF"/>
              </a:buClr>
              <a:buSzPts val="2200"/>
              <a:buFont typeface="Arial"/>
              <a:buChar char="•"/>
            </a:pPr>
            <a:r>
              <a:rPr b="1" lang="en-US">
                <a:solidFill>
                  <a:srgbClr val="0033CC"/>
                </a:solidFill>
              </a:rPr>
              <a:t>Memory protection</a:t>
            </a:r>
            <a:endParaRPr>
              <a:solidFill>
                <a:srgbClr val="0033CC"/>
              </a:solidFill>
            </a:endParaRPr>
          </a:p>
          <a:p>
            <a:pPr indent="-342900" lvl="1" marL="800100" rtl="0" algn="just">
              <a:lnSpc>
                <a:spcPct val="90000"/>
              </a:lnSpc>
              <a:spcBef>
                <a:spcPts val="440"/>
              </a:spcBef>
              <a:spcAft>
                <a:spcPts val="0"/>
              </a:spcAft>
              <a:buClr>
                <a:srgbClr val="3366FF"/>
              </a:buClr>
              <a:buSzPts val="2200"/>
              <a:buFont typeface="Arial"/>
              <a:buChar char="•"/>
            </a:pPr>
            <a:r>
              <a:rPr b="1" lang="en-US">
                <a:solidFill>
                  <a:srgbClr val="0033CC"/>
                </a:solidFill>
              </a:rPr>
              <a:t>CPU protection</a:t>
            </a:r>
            <a:endParaRPr>
              <a:solidFill>
                <a:srgbClr val="0033CC"/>
              </a:solidFill>
            </a:endParaRPr>
          </a:p>
          <a:p>
            <a:pPr indent="-342900" lvl="1" marL="800100" rtl="0" algn="just">
              <a:lnSpc>
                <a:spcPct val="90000"/>
              </a:lnSpc>
              <a:spcBef>
                <a:spcPts val="440"/>
              </a:spcBef>
              <a:spcAft>
                <a:spcPts val="0"/>
              </a:spcAft>
              <a:buClr>
                <a:srgbClr val="3366FF"/>
              </a:buClr>
              <a:buSzPts val="2200"/>
              <a:buFont typeface="Arial"/>
              <a:buChar char="•"/>
            </a:pPr>
            <a:r>
              <a:rPr b="1" lang="en-US">
                <a:solidFill>
                  <a:srgbClr val="0033CC"/>
                </a:solidFill>
              </a:rPr>
              <a:t>Kernel mode</a:t>
            </a:r>
            <a:endParaRPr>
              <a:solidFill>
                <a:srgbClr val="0033CC"/>
              </a:solidFill>
            </a:endParaRPr>
          </a:p>
        </p:txBody>
      </p:sp>
      <p:sp>
        <p:nvSpPr>
          <p:cNvPr id="251" name="Google Shape;251;p29"/>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idx="4294967295" type="body"/>
          </p:nvPr>
        </p:nvSpPr>
        <p:spPr>
          <a:xfrm>
            <a:off x="1008668" y="2184973"/>
            <a:ext cx="7580782" cy="3557587"/>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770"/>
              </a:spcBef>
              <a:spcAft>
                <a:spcPts val="0"/>
              </a:spcAft>
              <a:buSzPts val="1980"/>
              <a:buChar char="●"/>
            </a:pPr>
            <a:r>
              <a:rPr lang="en-US" sz="2000"/>
              <a:t>Timer is a counter that is decremented by the physical clock.</a:t>
            </a:r>
            <a:endParaRPr sz="2000"/>
          </a:p>
          <a:p>
            <a:pPr indent="-342900" lvl="0" marL="342900" rtl="0" algn="just">
              <a:lnSpc>
                <a:spcPct val="100000"/>
              </a:lnSpc>
              <a:spcBef>
                <a:spcPts val="770"/>
              </a:spcBef>
              <a:spcAft>
                <a:spcPts val="0"/>
              </a:spcAft>
              <a:buSzPts val="1980"/>
              <a:buChar char="●"/>
            </a:pPr>
            <a:r>
              <a:rPr lang="en-US" sz="2000"/>
              <a:t>Timer is set to interrupt the computer after some time period</a:t>
            </a:r>
            <a:endParaRPr sz="2000"/>
          </a:p>
          <a:p>
            <a:pPr indent="-342900" lvl="0" marL="342900" rtl="0" algn="just">
              <a:lnSpc>
                <a:spcPct val="100000"/>
              </a:lnSpc>
              <a:spcBef>
                <a:spcPts val="770"/>
              </a:spcBef>
              <a:spcAft>
                <a:spcPts val="0"/>
              </a:spcAft>
              <a:buSzPts val="1980"/>
              <a:buChar char="●"/>
            </a:pPr>
            <a:r>
              <a:rPr lang="en-US" sz="2000"/>
              <a:t>Operating system sets the counter (privileged instruction)</a:t>
            </a:r>
            <a:endParaRPr sz="2000"/>
          </a:p>
          <a:p>
            <a:pPr indent="-342900" lvl="0" marL="342900" rtl="0" algn="just">
              <a:lnSpc>
                <a:spcPct val="100000"/>
              </a:lnSpc>
              <a:spcBef>
                <a:spcPts val="770"/>
              </a:spcBef>
              <a:spcAft>
                <a:spcPts val="0"/>
              </a:spcAft>
              <a:buSzPts val="1980"/>
              <a:buChar char="●"/>
            </a:pPr>
            <a:r>
              <a:rPr lang="en-US" sz="2000"/>
              <a:t>When counter reaches the value zero, and interrupt is generated.</a:t>
            </a:r>
            <a:endParaRPr sz="2000"/>
          </a:p>
          <a:p>
            <a:pPr indent="-342900" lvl="0" marL="342900" rtl="0" algn="just">
              <a:lnSpc>
                <a:spcPct val="100000"/>
              </a:lnSpc>
              <a:spcBef>
                <a:spcPts val="770"/>
              </a:spcBef>
              <a:spcAft>
                <a:spcPts val="0"/>
              </a:spcAft>
              <a:buSzPts val="1980"/>
              <a:buChar char="●"/>
            </a:pPr>
            <a:r>
              <a:rPr lang="en-US" sz="2000"/>
              <a:t>The OS sets up the value of the counter before scheduling a process to regain control or terminate program that exceeds allotted time</a:t>
            </a:r>
            <a:endParaRPr sz="2000"/>
          </a:p>
        </p:txBody>
      </p:sp>
      <p:sp>
        <p:nvSpPr>
          <p:cNvPr id="257" name="Google Shape;257;p35"/>
          <p:cNvSpPr/>
          <p:nvPr/>
        </p:nvSpPr>
        <p:spPr>
          <a:xfrm>
            <a:off x="1008668" y="1281235"/>
            <a:ext cx="7744903"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2000" u="none" cap="none" strike="noStrike">
                <a:solidFill>
                  <a:schemeClr val="dk1"/>
                </a:solidFill>
                <a:latin typeface="Helvetica Neue"/>
                <a:ea typeface="Helvetica Neue"/>
                <a:cs typeface="Helvetica Neue"/>
                <a:sym typeface="Helvetica Neue"/>
              </a:rPr>
              <a:t>To prevent process to be in infinite loop (process hogging resources), a </a:t>
            </a:r>
            <a:r>
              <a:rPr b="1" i="0" lang="en-US" sz="2000" u="none" cap="none" strike="noStrike">
                <a:solidFill>
                  <a:srgbClr val="0070C0"/>
                </a:solidFill>
                <a:latin typeface="Helvetica Neue"/>
                <a:ea typeface="Helvetica Neue"/>
                <a:cs typeface="Helvetica Neue"/>
                <a:sym typeface="Helvetica Neue"/>
              </a:rPr>
              <a:t>timer</a:t>
            </a:r>
            <a:r>
              <a:rPr b="0" i="0" lang="en-US" sz="2000" u="none" cap="none" strike="noStrike">
                <a:solidFill>
                  <a:schemeClr val="dk1"/>
                </a:solidFill>
                <a:latin typeface="Helvetica Neue"/>
                <a:ea typeface="Helvetica Neue"/>
                <a:cs typeface="Helvetica Neue"/>
                <a:sym typeface="Helvetica Neue"/>
              </a:rPr>
              <a:t> is used, which is a hardware device.</a:t>
            </a:r>
            <a:endParaRPr b="0" i="0" sz="2000" u="none" cap="none" strike="noStrike">
              <a:solidFill>
                <a:srgbClr val="000000"/>
              </a:solidFill>
              <a:latin typeface="Helvetica Neue"/>
              <a:ea typeface="Helvetica Neue"/>
              <a:cs typeface="Helvetica Neue"/>
              <a:sym typeface="Helvetica Neue"/>
            </a:endParaRPr>
          </a:p>
        </p:txBody>
      </p:sp>
      <p:sp>
        <p:nvSpPr>
          <p:cNvPr id="258" name="Google Shape;258;p35"/>
          <p:cNvSpPr txBox="1"/>
          <p:nvPr/>
        </p:nvSpPr>
        <p:spPr>
          <a:xfrm>
            <a:off x="457200" y="277813"/>
            <a:ext cx="8229600" cy="5762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70C0"/>
                </a:solidFill>
                <a:latin typeface="Arial"/>
                <a:ea typeface="Arial"/>
                <a:cs typeface="Arial"/>
                <a:sym typeface="Arial"/>
              </a:rPr>
              <a:t>Timer</a:t>
            </a:r>
            <a:endParaRPr b="1" i="0" sz="3200" u="none" cap="none" strike="noStrike">
              <a:solidFill>
                <a:srgbClr val="0070C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4294967295" type="body"/>
          </p:nvPr>
        </p:nvSpPr>
        <p:spPr>
          <a:xfrm>
            <a:off x="463062" y="1174750"/>
            <a:ext cx="8223737" cy="5183188"/>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80"/>
              <a:buChar char="●"/>
            </a:pPr>
            <a:r>
              <a:rPr b="1" lang="en-US" sz="2000">
                <a:solidFill>
                  <a:srgbClr val="3366FF"/>
                </a:solidFill>
              </a:rPr>
              <a:t>Protection </a:t>
            </a:r>
            <a:r>
              <a:rPr lang="en-US" sz="2000"/>
              <a:t>– A mechanism for controlling access of processes (or users)  to resources defined by the OS</a:t>
            </a:r>
            <a:endParaRPr sz="2000"/>
          </a:p>
          <a:p>
            <a:pPr indent="-342900" lvl="0" marL="342900" rtl="0" algn="just">
              <a:lnSpc>
                <a:spcPct val="90000"/>
              </a:lnSpc>
              <a:spcBef>
                <a:spcPts val="770"/>
              </a:spcBef>
              <a:spcAft>
                <a:spcPts val="0"/>
              </a:spcAft>
              <a:buSzPts val="1980"/>
              <a:buChar char="●"/>
            </a:pPr>
            <a:r>
              <a:rPr b="1" lang="en-US" sz="2000">
                <a:solidFill>
                  <a:srgbClr val="3366FF"/>
                </a:solidFill>
              </a:rPr>
              <a:t>Security </a:t>
            </a:r>
            <a:r>
              <a:rPr lang="en-US" sz="2000"/>
              <a:t>–  A defense of the system against internal and external attacks</a:t>
            </a:r>
            <a:endParaRPr sz="2000"/>
          </a:p>
          <a:p>
            <a:pPr indent="-285750" lvl="1" marL="742950" rtl="0" algn="just">
              <a:lnSpc>
                <a:spcPct val="90000"/>
              </a:lnSpc>
              <a:spcBef>
                <a:spcPts val="700"/>
              </a:spcBef>
              <a:spcAft>
                <a:spcPts val="0"/>
              </a:spcAft>
              <a:buSzPts val="1600"/>
              <a:buChar char="●"/>
            </a:pPr>
            <a:r>
              <a:rPr lang="en-US" sz="2000"/>
              <a:t>Huge range, including denial-of-service, worms, viruses, identity theft, theft of service</a:t>
            </a:r>
            <a:endParaRPr sz="2000"/>
          </a:p>
          <a:p>
            <a:pPr indent="-342900" lvl="0" marL="342900" rtl="0" algn="just">
              <a:lnSpc>
                <a:spcPct val="90000"/>
              </a:lnSpc>
              <a:spcBef>
                <a:spcPts val="770"/>
              </a:spcBef>
              <a:spcAft>
                <a:spcPts val="0"/>
              </a:spcAft>
              <a:buSzPts val="1980"/>
              <a:buChar char="●"/>
            </a:pPr>
            <a:r>
              <a:rPr lang="en-US" sz="2000"/>
              <a:t>Systems generally first distinguish among users, to determine who can do what</a:t>
            </a:r>
            <a:endParaRPr sz="2000"/>
          </a:p>
          <a:p>
            <a:pPr indent="-285750" lvl="1" marL="742950" rtl="0" algn="just">
              <a:lnSpc>
                <a:spcPct val="90000"/>
              </a:lnSpc>
              <a:spcBef>
                <a:spcPts val="700"/>
              </a:spcBef>
              <a:spcAft>
                <a:spcPts val="0"/>
              </a:spcAft>
              <a:buSzPts val="1600"/>
              <a:buChar char="●"/>
            </a:pPr>
            <a:r>
              <a:rPr lang="en-US" sz="2000"/>
              <a:t>User identities (</a:t>
            </a:r>
            <a:r>
              <a:rPr b="1" lang="en-US" sz="2000">
                <a:solidFill>
                  <a:srgbClr val="3366FF"/>
                </a:solidFill>
              </a:rPr>
              <a:t>user IDs</a:t>
            </a:r>
            <a:r>
              <a:rPr lang="en-US" sz="2000"/>
              <a:t>, security IDs) include name and associated number, one per user</a:t>
            </a:r>
            <a:endParaRPr sz="2000"/>
          </a:p>
          <a:p>
            <a:pPr indent="-285750" lvl="1" marL="742950" rtl="0" algn="just">
              <a:lnSpc>
                <a:spcPct val="90000"/>
              </a:lnSpc>
              <a:spcBef>
                <a:spcPts val="700"/>
              </a:spcBef>
              <a:spcAft>
                <a:spcPts val="0"/>
              </a:spcAft>
              <a:buSzPts val="1600"/>
              <a:buChar char="●"/>
            </a:pPr>
            <a:r>
              <a:rPr lang="en-US" sz="2000"/>
              <a:t>User ID is associated with all files and processes of that user to determine access control</a:t>
            </a:r>
            <a:endParaRPr sz="2000"/>
          </a:p>
          <a:p>
            <a:pPr indent="-285750" lvl="1" marL="742950" rtl="0" algn="just">
              <a:lnSpc>
                <a:spcPct val="90000"/>
              </a:lnSpc>
              <a:spcBef>
                <a:spcPts val="700"/>
              </a:spcBef>
              <a:spcAft>
                <a:spcPts val="0"/>
              </a:spcAft>
              <a:buSzPts val="1600"/>
              <a:buChar char="●"/>
            </a:pPr>
            <a:r>
              <a:rPr lang="en-US" sz="2000"/>
              <a:t>Group identifier (</a:t>
            </a:r>
            <a:r>
              <a:rPr b="1" lang="en-US" sz="2000">
                <a:solidFill>
                  <a:srgbClr val="3366FF"/>
                </a:solidFill>
              </a:rPr>
              <a:t>group ID</a:t>
            </a:r>
            <a:r>
              <a:rPr lang="en-US" sz="2000"/>
              <a:t>) allows set of users to be defined and controls managed, then also associated with each process, file</a:t>
            </a:r>
            <a:endParaRPr sz="2000"/>
          </a:p>
          <a:p>
            <a:pPr indent="-285750" lvl="1" marL="742950" rtl="0" algn="just">
              <a:lnSpc>
                <a:spcPct val="90000"/>
              </a:lnSpc>
              <a:spcBef>
                <a:spcPts val="700"/>
              </a:spcBef>
              <a:spcAft>
                <a:spcPts val="0"/>
              </a:spcAft>
              <a:buSzPts val="1600"/>
              <a:buChar char="●"/>
            </a:pPr>
            <a:r>
              <a:rPr b="1" lang="en-US" sz="2000">
                <a:solidFill>
                  <a:srgbClr val="3366FF"/>
                </a:solidFill>
              </a:rPr>
              <a:t>Privilege escalation </a:t>
            </a:r>
            <a:r>
              <a:rPr lang="en-US" sz="2000"/>
              <a:t>allows user to change to </a:t>
            </a:r>
            <a:r>
              <a:rPr lang="en-US" sz="2000"/>
              <a:t>effective </a:t>
            </a:r>
            <a:r>
              <a:rPr lang="en-US" sz="2000"/>
              <a:t>ID with more rights</a:t>
            </a:r>
            <a:endParaRPr sz="2000"/>
          </a:p>
        </p:txBody>
      </p:sp>
      <p:sp>
        <p:nvSpPr>
          <p:cNvPr id="264" name="Google Shape;264;p36"/>
          <p:cNvSpPr txBox="1"/>
          <p:nvPr/>
        </p:nvSpPr>
        <p:spPr>
          <a:xfrm>
            <a:off x="405353" y="277813"/>
            <a:ext cx="8281448"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3200" u="none" cap="none" strike="noStrike">
                <a:solidFill>
                  <a:srgbClr val="006699"/>
                </a:solidFill>
                <a:latin typeface="Arial"/>
                <a:ea typeface="Arial"/>
                <a:cs typeface="Arial"/>
                <a:sym typeface="Arial"/>
              </a:rPr>
              <a:t>6. PROTECTION AND SECURITY </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09"/>
          <p:cNvSpPr txBox="1"/>
          <p:nvPr>
            <p:ph idx="4294967295" type="title"/>
          </p:nvPr>
        </p:nvSpPr>
        <p:spPr>
          <a:xfrm>
            <a:off x="1089025" y="277813"/>
            <a:ext cx="7597775"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7. PROCESS MANAGEMENT</a:t>
            </a:r>
            <a:endParaRPr/>
          </a:p>
        </p:txBody>
      </p:sp>
      <p:sp>
        <p:nvSpPr>
          <p:cNvPr id="270" name="Google Shape;270;p109"/>
          <p:cNvSpPr txBox="1"/>
          <p:nvPr>
            <p:ph idx="4294967295" type="body"/>
          </p:nvPr>
        </p:nvSpPr>
        <p:spPr>
          <a:xfrm>
            <a:off x="827088" y="935038"/>
            <a:ext cx="7361237" cy="5105400"/>
          </a:xfrm>
          <a:prstGeom prst="rect">
            <a:avLst/>
          </a:prstGeom>
          <a:noFill/>
          <a:ln>
            <a:noFill/>
          </a:ln>
        </p:spPr>
        <p:txBody>
          <a:bodyPr anchorCtr="0" anchor="t" bIns="45700" lIns="91425" spcFirstLastPara="1" rIns="91425" wrap="square" tIns="45700">
            <a:noAutofit/>
          </a:bodyPr>
          <a:lstStyle/>
          <a:p>
            <a:pPr indent="-354330" lvl="0" marL="457200" rtl="0" algn="just">
              <a:lnSpc>
                <a:spcPct val="90000"/>
              </a:lnSpc>
              <a:spcBef>
                <a:spcPts val="770"/>
              </a:spcBef>
              <a:spcAft>
                <a:spcPts val="0"/>
              </a:spcAft>
              <a:buSzPts val="1980"/>
              <a:buChar char="●"/>
            </a:pPr>
            <a:r>
              <a:rPr lang="en-US" sz="1800"/>
              <a:t>A process is a program in execution. It is a unit of work within the system. Program is a </a:t>
            </a:r>
            <a:r>
              <a:rPr b="1" i="1" lang="en-US" sz="1800"/>
              <a:t>passive entity</a:t>
            </a:r>
            <a:r>
              <a:rPr lang="en-US" sz="1800"/>
              <a:t>, process is </a:t>
            </a:r>
            <a:r>
              <a:rPr lang="en-US" sz="1800">
                <a:solidFill>
                  <a:srgbClr val="000000"/>
                </a:solidFill>
              </a:rPr>
              <a:t>an </a:t>
            </a:r>
            <a:r>
              <a:rPr b="1" i="1" lang="en-US" sz="1800">
                <a:solidFill>
                  <a:srgbClr val="000000"/>
                </a:solidFill>
              </a:rPr>
              <a:t>active entity</a:t>
            </a:r>
            <a:r>
              <a:rPr lang="en-US" sz="1800"/>
              <a:t>.</a:t>
            </a:r>
            <a:endParaRPr/>
          </a:p>
          <a:p>
            <a:pPr indent="-354330" lvl="0" marL="457200" rtl="0" algn="just">
              <a:lnSpc>
                <a:spcPct val="90000"/>
              </a:lnSpc>
              <a:spcBef>
                <a:spcPts val="770"/>
              </a:spcBef>
              <a:spcAft>
                <a:spcPts val="0"/>
              </a:spcAft>
              <a:buSzPts val="1980"/>
              <a:buChar char="●"/>
            </a:pPr>
            <a:r>
              <a:rPr lang="en-US" sz="1800"/>
              <a:t>Process needs resources to accomplish its task</a:t>
            </a:r>
            <a:endParaRPr/>
          </a:p>
          <a:p>
            <a:pPr indent="-340360" lvl="1" marL="914400" rtl="0" algn="just">
              <a:lnSpc>
                <a:spcPct val="90000"/>
              </a:lnSpc>
              <a:spcBef>
                <a:spcPts val="770"/>
              </a:spcBef>
              <a:spcAft>
                <a:spcPts val="0"/>
              </a:spcAft>
              <a:buSzPts val="1760"/>
              <a:buChar char="●"/>
            </a:pPr>
            <a:r>
              <a:rPr lang="en-US" sz="1800"/>
              <a:t>CPU, memory, I/O, files</a:t>
            </a:r>
            <a:endParaRPr/>
          </a:p>
          <a:p>
            <a:pPr indent="-340360" lvl="1" marL="914400" rtl="0" algn="just">
              <a:lnSpc>
                <a:spcPct val="90000"/>
              </a:lnSpc>
              <a:spcBef>
                <a:spcPts val="770"/>
              </a:spcBef>
              <a:spcAft>
                <a:spcPts val="0"/>
              </a:spcAft>
              <a:buSzPts val="1760"/>
              <a:buChar char="●"/>
            </a:pPr>
            <a:r>
              <a:rPr lang="en-US" sz="1800"/>
              <a:t>Initialization data</a:t>
            </a:r>
            <a:endParaRPr/>
          </a:p>
          <a:p>
            <a:pPr indent="-354330" lvl="0" marL="457200" rtl="0" algn="just">
              <a:lnSpc>
                <a:spcPct val="90000"/>
              </a:lnSpc>
              <a:spcBef>
                <a:spcPts val="770"/>
              </a:spcBef>
              <a:spcAft>
                <a:spcPts val="0"/>
              </a:spcAft>
              <a:buSzPts val="1980"/>
              <a:buChar char="●"/>
            </a:pPr>
            <a:r>
              <a:rPr lang="en-US" sz="1800"/>
              <a:t>Process termination requires reclaim of any reusable resources</a:t>
            </a:r>
            <a:endParaRPr/>
          </a:p>
          <a:p>
            <a:pPr indent="-354330" lvl="0" marL="457200" rtl="0" algn="just">
              <a:lnSpc>
                <a:spcPct val="90000"/>
              </a:lnSpc>
              <a:spcBef>
                <a:spcPts val="770"/>
              </a:spcBef>
              <a:spcAft>
                <a:spcPts val="0"/>
              </a:spcAft>
              <a:buSzPts val="1980"/>
              <a:buChar char="●"/>
            </a:pPr>
            <a:r>
              <a:rPr lang="en-US" sz="1800"/>
              <a:t>Single-threaded process has one </a:t>
            </a:r>
            <a:r>
              <a:rPr b="1" lang="en-US" sz="1800">
                <a:solidFill>
                  <a:srgbClr val="3366FF"/>
                </a:solidFill>
              </a:rPr>
              <a:t>program counter </a:t>
            </a:r>
            <a:r>
              <a:rPr lang="en-US" sz="1800"/>
              <a:t>specifying location of next instruction to execute</a:t>
            </a:r>
            <a:endParaRPr/>
          </a:p>
          <a:p>
            <a:pPr indent="-340360" lvl="1" marL="914400" rtl="0" algn="just">
              <a:lnSpc>
                <a:spcPct val="90000"/>
              </a:lnSpc>
              <a:spcBef>
                <a:spcPts val="770"/>
              </a:spcBef>
              <a:spcAft>
                <a:spcPts val="0"/>
              </a:spcAft>
              <a:buSzPts val="1760"/>
              <a:buChar char="●"/>
            </a:pPr>
            <a:r>
              <a:rPr lang="en-US" sz="1800"/>
              <a:t>Process executes instructions sequentially, one at a time, until completion</a:t>
            </a:r>
            <a:endParaRPr/>
          </a:p>
          <a:p>
            <a:pPr indent="-354330" lvl="0" marL="457200" rtl="0" algn="just">
              <a:lnSpc>
                <a:spcPct val="90000"/>
              </a:lnSpc>
              <a:spcBef>
                <a:spcPts val="770"/>
              </a:spcBef>
              <a:spcAft>
                <a:spcPts val="0"/>
              </a:spcAft>
              <a:buSzPts val="1980"/>
              <a:buChar char="●"/>
            </a:pPr>
            <a:r>
              <a:rPr lang="en-US" sz="1800"/>
              <a:t>Multi-threaded process has one program counter per thread</a:t>
            </a:r>
            <a:endParaRPr/>
          </a:p>
          <a:p>
            <a:pPr indent="-354330" lvl="0" marL="457200" rtl="0" algn="just">
              <a:lnSpc>
                <a:spcPct val="90000"/>
              </a:lnSpc>
              <a:spcBef>
                <a:spcPts val="770"/>
              </a:spcBef>
              <a:spcAft>
                <a:spcPts val="0"/>
              </a:spcAft>
              <a:buSzPts val="1980"/>
              <a:buChar char="●"/>
            </a:pPr>
            <a:r>
              <a:rPr lang="en-US" sz="1800"/>
              <a:t>Typically system has many processes, some user, some operating system running concurrently on one or more CPUs</a:t>
            </a:r>
            <a:endParaRPr/>
          </a:p>
          <a:p>
            <a:pPr indent="-340360" lvl="1" marL="914400" rtl="0" algn="just">
              <a:lnSpc>
                <a:spcPct val="90000"/>
              </a:lnSpc>
              <a:spcBef>
                <a:spcPts val="770"/>
              </a:spcBef>
              <a:spcAft>
                <a:spcPts val="0"/>
              </a:spcAft>
              <a:buSzPts val="1760"/>
              <a:buChar char="●"/>
            </a:pPr>
            <a:r>
              <a:rPr lang="en-US" sz="1800"/>
              <a:t>Concurrency by multiplexing the CPUs among the processes / threads</a:t>
            </a:r>
            <a:endParaRPr/>
          </a:p>
          <a:p>
            <a:pPr indent="-354330" lvl="0" marL="457200" rtl="0" algn="just">
              <a:lnSpc>
                <a:spcPct val="90000"/>
              </a:lnSpc>
              <a:spcBef>
                <a:spcPts val="770"/>
              </a:spcBef>
              <a:spcAft>
                <a:spcPts val="0"/>
              </a:spcAft>
              <a:buSzPts val="1980"/>
              <a:buFont typeface="Arial"/>
              <a:buNone/>
            </a:pPr>
            <a:r>
              <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10"/>
          <p:cNvSpPr txBox="1"/>
          <p:nvPr>
            <p:ph idx="4294967295" type="title"/>
          </p:nvPr>
        </p:nvSpPr>
        <p:spPr>
          <a:xfrm>
            <a:off x="1128713" y="277813"/>
            <a:ext cx="7558087"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Process Management Activities</a:t>
            </a:r>
            <a:endParaRPr/>
          </a:p>
        </p:txBody>
      </p:sp>
      <p:sp>
        <p:nvSpPr>
          <p:cNvPr id="276" name="Google Shape;276;p110"/>
          <p:cNvSpPr txBox="1"/>
          <p:nvPr>
            <p:ph idx="4294967295" type="body"/>
          </p:nvPr>
        </p:nvSpPr>
        <p:spPr>
          <a:xfrm>
            <a:off x="1077913" y="1728788"/>
            <a:ext cx="7958137" cy="4035425"/>
          </a:xfrm>
          <a:prstGeom prst="rect">
            <a:avLst/>
          </a:prstGeom>
          <a:noFill/>
          <a:ln>
            <a:noFill/>
          </a:ln>
        </p:spPr>
        <p:txBody>
          <a:bodyPr anchorCtr="0" anchor="t" bIns="45700" lIns="91425" spcFirstLastPara="1" rIns="91425" wrap="square" tIns="45700">
            <a:noAutofit/>
          </a:bodyPr>
          <a:lstStyle/>
          <a:p>
            <a:pPr indent="-354330" lvl="0" marL="457200" rtl="0" algn="just">
              <a:lnSpc>
                <a:spcPct val="100000"/>
              </a:lnSpc>
              <a:spcBef>
                <a:spcPts val="770"/>
              </a:spcBef>
              <a:spcAft>
                <a:spcPts val="0"/>
              </a:spcAft>
              <a:buSzPts val="1980"/>
              <a:buFont typeface="Arial"/>
              <a:buNone/>
            </a:pPr>
            <a:r>
              <a:rPr lang="en-US"/>
              <a:t>     </a:t>
            </a:r>
            <a:endParaRPr/>
          </a:p>
          <a:p>
            <a:pPr indent="-354330" lvl="0" marL="457200" marR="0" rtl="0" algn="just">
              <a:lnSpc>
                <a:spcPct val="100000"/>
              </a:lnSpc>
              <a:spcBef>
                <a:spcPts val="770"/>
              </a:spcBef>
              <a:spcAft>
                <a:spcPts val="0"/>
              </a:spcAft>
              <a:buClr>
                <a:srgbClr val="993300"/>
              </a:buClr>
              <a:buSzPts val="1980"/>
              <a:buFont typeface="Arial"/>
              <a:buChar char="●"/>
            </a:pPr>
            <a:r>
              <a:rPr lang="en-US"/>
              <a:t>Creating and deleting both user and system processes</a:t>
            </a:r>
            <a:endParaRPr/>
          </a:p>
          <a:p>
            <a:pPr indent="-354330" lvl="0" marL="457200" marR="0" rtl="0" algn="just">
              <a:lnSpc>
                <a:spcPct val="100000"/>
              </a:lnSpc>
              <a:spcBef>
                <a:spcPts val="770"/>
              </a:spcBef>
              <a:spcAft>
                <a:spcPts val="0"/>
              </a:spcAft>
              <a:buClr>
                <a:srgbClr val="993300"/>
              </a:buClr>
              <a:buSzPts val="1980"/>
              <a:buFont typeface="Arial"/>
              <a:buChar char="●"/>
            </a:pPr>
            <a:r>
              <a:rPr lang="en-US"/>
              <a:t>Suspending and resuming processes</a:t>
            </a:r>
            <a:endParaRPr/>
          </a:p>
          <a:p>
            <a:pPr indent="-354330" lvl="0" marL="457200" marR="0" rtl="0" algn="just">
              <a:lnSpc>
                <a:spcPct val="100000"/>
              </a:lnSpc>
              <a:spcBef>
                <a:spcPts val="770"/>
              </a:spcBef>
              <a:spcAft>
                <a:spcPts val="0"/>
              </a:spcAft>
              <a:buClr>
                <a:srgbClr val="993300"/>
              </a:buClr>
              <a:buSzPts val="1980"/>
              <a:buFont typeface="Arial"/>
              <a:buChar char="●"/>
            </a:pPr>
            <a:r>
              <a:rPr lang="en-US"/>
              <a:t>Providing mechanisms for process synchronization</a:t>
            </a:r>
            <a:endParaRPr/>
          </a:p>
          <a:p>
            <a:pPr indent="-354330" lvl="0" marL="457200" marR="0" rtl="0" algn="just">
              <a:lnSpc>
                <a:spcPct val="100000"/>
              </a:lnSpc>
              <a:spcBef>
                <a:spcPts val="770"/>
              </a:spcBef>
              <a:spcAft>
                <a:spcPts val="0"/>
              </a:spcAft>
              <a:buClr>
                <a:srgbClr val="993300"/>
              </a:buClr>
              <a:buSzPts val="1980"/>
              <a:buFont typeface="Arial"/>
              <a:buChar char="●"/>
            </a:pPr>
            <a:r>
              <a:rPr lang="en-US"/>
              <a:t>Providing mechanisms for process communication</a:t>
            </a:r>
            <a:endParaRPr/>
          </a:p>
          <a:p>
            <a:pPr indent="-354330" lvl="0" marL="457200" marR="0" rtl="0" algn="just">
              <a:lnSpc>
                <a:spcPct val="100000"/>
              </a:lnSpc>
              <a:spcBef>
                <a:spcPts val="770"/>
              </a:spcBef>
              <a:spcAft>
                <a:spcPts val="0"/>
              </a:spcAft>
              <a:buClr>
                <a:srgbClr val="993300"/>
              </a:buClr>
              <a:buSzPts val="1980"/>
              <a:buFont typeface="Arial"/>
              <a:buChar char="●"/>
            </a:pPr>
            <a:r>
              <a:rPr lang="en-US"/>
              <a:t>Providing mechanisms for deadlock handling</a:t>
            </a:r>
            <a:endParaRPr/>
          </a:p>
        </p:txBody>
      </p:sp>
      <p:sp>
        <p:nvSpPr>
          <p:cNvPr id="277" name="Google Shape;277;p110"/>
          <p:cNvSpPr txBox="1"/>
          <p:nvPr/>
        </p:nvSpPr>
        <p:spPr>
          <a:xfrm>
            <a:off x="885825" y="1238250"/>
            <a:ext cx="7586663"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Helvetica Neue"/>
                <a:ea typeface="Helvetica Neue"/>
                <a:cs typeface="Helvetica Neue"/>
                <a:sym typeface="Helvetica Neue"/>
              </a:rPr>
              <a:t>The operating system is responsible for the following activities in connection with process management: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11"/>
          <p:cNvSpPr txBox="1"/>
          <p:nvPr>
            <p:ph idx="4294967295" type="title"/>
          </p:nvPr>
        </p:nvSpPr>
        <p:spPr>
          <a:xfrm>
            <a:off x="1090613" y="277813"/>
            <a:ext cx="7596187"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8. Memory Management</a:t>
            </a:r>
            <a:endParaRPr/>
          </a:p>
        </p:txBody>
      </p:sp>
      <p:sp>
        <p:nvSpPr>
          <p:cNvPr id="283" name="Google Shape;283;p111"/>
          <p:cNvSpPr txBox="1"/>
          <p:nvPr>
            <p:ph idx="4294967295" type="body"/>
          </p:nvPr>
        </p:nvSpPr>
        <p:spPr>
          <a:xfrm>
            <a:off x="853583" y="1139220"/>
            <a:ext cx="7988759" cy="4530725"/>
          </a:xfrm>
          <a:prstGeom prst="rect">
            <a:avLst/>
          </a:prstGeom>
          <a:noFill/>
          <a:ln>
            <a:noFill/>
          </a:ln>
        </p:spPr>
        <p:txBody>
          <a:bodyPr anchorCtr="0" anchor="t" bIns="45700" lIns="91425" spcFirstLastPara="1" rIns="91425" wrap="square" tIns="45700">
            <a:noAutofit/>
          </a:bodyPr>
          <a:lstStyle/>
          <a:p>
            <a:pPr indent="-354330" lvl="0" marL="457200" marR="0" rtl="0" algn="just">
              <a:lnSpc>
                <a:spcPct val="100000"/>
              </a:lnSpc>
              <a:spcBef>
                <a:spcPts val="770"/>
              </a:spcBef>
              <a:spcAft>
                <a:spcPts val="0"/>
              </a:spcAft>
              <a:buClr>
                <a:srgbClr val="993300"/>
              </a:buClr>
              <a:buSzPts val="1980"/>
              <a:buFont typeface="Arial"/>
              <a:buChar char="●"/>
            </a:pPr>
            <a:r>
              <a:rPr lang="en-US" sz="2000"/>
              <a:t>All data in memory before and after processing</a:t>
            </a:r>
            <a:endParaRPr/>
          </a:p>
          <a:p>
            <a:pPr indent="-354330" lvl="0" marL="457200" marR="0" rtl="0" algn="just">
              <a:lnSpc>
                <a:spcPct val="100000"/>
              </a:lnSpc>
              <a:spcBef>
                <a:spcPts val="770"/>
              </a:spcBef>
              <a:spcAft>
                <a:spcPts val="0"/>
              </a:spcAft>
              <a:buClr>
                <a:srgbClr val="993300"/>
              </a:buClr>
              <a:buSzPts val="1980"/>
              <a:buFont typeface="Arial"/>
              <a:buChar char="●"/>
            </a:pPr>
            <a:r>
              <a:rPr lang="en-US" sz="2000"/>
              <a:t>All instructions in memory in order to execute</a:t>
            </a:r>
            <a:endParaRPr/>
          </a:p>
          <a:p>
            <a:pPr indent="-354330" lvl="0" marL="457200" marR="0" rtl="0" algn="just">
              <a:lnSpc>
                <a:spcPct val="100000"/>
              </a:lnSpc>
              <a:spcBef>
                <a:spcPts val="770"/>
              </a:spcBef>
              <a:spcAft>
                <a:spcPts val="0"/>
              </a:spcAft>
              <a:buClr>
                <a:srgbClr val="993300"/>
              </a:buClr>
              <a:buSzPts val="1980"/>
              <a:buFont typeface="Arial"/>
              <a:buChar char="●"/>
            </a:pPr>
            <a:r>
              <a:rPr lang="en-US" sz="2000"/>
              <a:t>Memory management determines what is in memory when</a:t>
            </a:r>
            <a:endParaRPr/>
          </a:p>
          <a:p>
            <a:pPr indent="-340360" lvl="1" marL="914400" rtl="0" algn="just">
              <a:lnSpc>
                <a:spcPct val="100000"/>
              </a:lnSpc>
              <a:spcBef>
                <a:spcPts val="770"/>
              </a:spcBef>
              <a:spcAft>
                <a:spcPts val="0"/>
              </a:spcAft>
              <a:buSzPts val="1760"/>
              <a:buChar char="●"/>
            </a:pPr>
            <a:r>
              <a:rPr lang="en-US" sz="2000"/>
              <a:t>Optimizing CPU utilization and computer response to users</a:t>
            </a:r>
            <a:endParaRPr/>
          </a:p>
          <a:p>
            <a:pPr indent="-354330" lvl="0" marL="457200" marR="0" rtl="0" algn="just">
              <a:lnSpc>
                <a:spcPct val="100000"/>
              </a:lnSpc>
              <a:spcBef>
                <a:spcPts val="770"/>
              </a:spcBef>
              <a:spcAft>
                <a:spcPts val="0"/>
              </a:spcAft>
              <a:buClr>
                <a:srgbClr val="993300"/>
              </a:buClr>
              <a:buSzPts val="1980"/>
              <a:buFont typeface="Arial"/>
              <a:buChar char="●"/>
            </a:pPr>
            <a:r>
              <a:rPr lang="en-US" sz="2000"/>
              <a:t>Memory management activities</a:t>
            </a:r>
            <a:endParaRPr/>
          </a:p>
          <a:p>
            <a:pPr indent="-340360" lvl="1" marL="914400" rtl="0" algn="just">
              <a:lnSpc>
                <a:spcPct val="100000"/>
              </a:lnSpc>
              <a:spcBef>
                <a:spcPts val="770"/>
              </a:spcBef>
              <a:spcAft>
                <a:spcPts val="0"/>
              </a:spcAft>
              <a:buSzPts val="1760"/>
              <a:buChar char="●"/>
            </a:pPr>
            <a:r>
              <a:rPr lang="en-US" sz="2000"/>
              <a:t>Keeping track of which parts of memory are currently being used and by whom</a:t>
            </a:r>
            <a:endParaRPr/>
          </a:p>
          <a:p>
            <a:pPr indent="-340360" lvl="1" marL="914400" rtl="0" algn="just">
              <a:lnSpc>
                <a:spcPct val="100000"/>
              </a:lnSpc>
              <a:spcBef>
                <a:spcPts val="770"/>
              </a:spcBef>
              <a:spcAft>
                <a:spcPts val="0"/>
              </a:spcAft>
              <a:buSzPts val="1760"/>
              <a:buChar char="●"/>
            </a:pPr>
            <a:r>
              <a:rPr lang="en-US" sz="2000"/>
              <a:t>Deciding which processes (or parts thereof) and data to move into and out of memory</a:t>
            </a:r>
            <a:endParaRPr/>
          </a:p>
          <a:p>
            <a:pPr indent="-340360" lvl="1" marL="914400" rtl="0" algn="just">
              <a:lnSpc>
                <a:spcPct val="100000"/>
              </a:lnSpc>
              <a:spcBef>
                <a:spcPts val="770"/>
              </a:spcBef>
              <a:spcAft>
                <a:spcPts val="0"/>
              </a:spcAft>
              <a:buSzPts val="1760"/>
              <a:buChar char="●"/>
            </a:pPr>
            <a:r>
              <a:rPr lang="en-US" sz="2000"/>
              <a:t>Allocating and deallocating memory space as needed</a:t>
            </a:r>
            <a:endParaRPr/>
          </a:p>
          <a:p>
            <a:pPr indent="-340360" lvl="1" marL="914400" rtl="0" algn="just">
              <a:lnSpc>
                <a:spcPct val="100000"/>
              </a:lnSpc>
              <a:spcBef>
                <a:spcPts val="770"/>
              </a:spcBef>
              <a:spcAft>
                <a:spcPts val="0"/>
              </a:spcAft>
              <a:buSzPts val="1760"/>
              <a:buFont typeface="Arial"/>
              <a:buNone/>
            </a:pPr>
            <a:r>
              <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12"/>
          <p:cNvSpPr txBox="1"/>
          <p:nvPr>
            <p:ph idx="4294967295" type="title"/>
          </p:nvPr>
        </p:nvSpPr>
        <p:spPr>
          <a:xfrm>
            <a:off x="744719" y="277813"/>
            <a:ext cx="7942082"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9. STORAGE MANAGEMENT</a:t>
            </a:r>
            <a:endParaRPr/>
          </a:p>
        </p:txBody>
      </p:sp>
      <p:sp>
        <p:nvSpPr>
          <p:cNvPr id="289" name="Google Shape;289;p112"/>
          <p:cNvSpPr txBox="1"/>
          <p:nvPr>
            <p:ph idx="4294967295" type="body"/>
          </p:nvPr>
        </p:nvSpPr>
        <p:spPr>
          <a:xfrm>
            <a:off x="1006573" y="1004544"/>
            <a:ext cx="7583488" cy="4992688"/>
          </a:xfrm>
          <a:prstGeom prst="rect">
            <a:avLst/>
          </a:prstGeom>
          <a:noFill/>
          <a:ln>
            <a:noFill/>
          </a:ln>
        </p:spPr>
        <p:txBody>
          <a:bodyPr anchorCtr="0" anchor="t" bIns="45700" lIns="91425" spcFirstLastPara="1" rIns="91425" wrap="square" tIns="45700">
            <a:noAutofit/>
          </a:bodyPr>
          <a:lstStyle/>
          <a:p>
            <a:pPr indent="-354330" lvl="0" marL="457200" rtl="0" algn="just">
              <a:lnSpc>
                <a:spcPct val="90000"/>
              </a:lnSpc>
              <a:spcBef>
                <a:spcPts val="770"/>
              </a:spcBef>
              <a:spcAft>
                <a:spcPts val="0"/>
              </a:spcAft>
              <a:buSzPts val="1980"/>
              <a:buChar char="●"/>
            </a:pPr>
            <a:r>
              <a:rPr lang="en-US" sz="1800"/>
              <a:t>OS provides uniform, logical view of information storage</a:t>
            </a:r>
            <a:endParaRPr/>
          </a:p>
          <a:p>
            <a:pPr indent="-340360" lvl="1" marL="914400" rtl="0" algn="just">
              <a:lnSpc>
                <a:spcPct val="90000"/>
              </a:lnSpc>
              <a:spcBef>
                <a:spcPts val="770"/>
              </a:spcBef>
              <a:spcAft>
                <a:spcPts val="0"/>
              </a:spcAft>
              <a:buSzPts val="1760"/>
              <a:buChar char="●"/>
            </a:pPr>
            <a:r>
              <a:rPr lang="en-US" sz="1800"/>
              <a:t>Abstracts physical properties to logical storage unit  - </a:t>
            </a:r>
            <a:r>
              <a:rPr b="1" lang="en-US" sz="1800">
                <a:solidFill>
                  <a:srgbClr val="3366FF"/>
                </a:solidFill>
              </a:rPr>
              <a:t>file</a:t>
            </a:r>
            <a:endParaRPr/>
          </a:p>
          <a:p>
            <a:pPr indent="-340360" lvl="1" marL="914400" rtl="0" algn="just">
              <a:lnSpc>
                <a:spcPct val="90000"/>
              </a:lnSpc>
              <a:spcBef>
                <a:spcPts val="770"/>
              </a:spcBef>
              <a:spcAft>
                <a:spcPts val="0"/>
              </a:spcAft>
              <a:buSzPts val="1760"/>
              <a:buChar char="●"/>
            </a:pPr>
            <a:r>
              <a:rPr lang="en-US" sz="1800"/>
              <a:t>Each medium is controlled by device (i.e., disk drive, tape drive)</a:t>
            </a:r>
            <a:endParaRPr/>
          </a:p>
          <a:p>
            <a:pPr indent="-323850" lvl="2" marL="1371600" rtl="0" algn="just">
              <a:lnSpc>
                <a:spcPct val="90000"/>
              </a:lnSpc>
              <a:spcBef>
                <a:spcPts val="700"/>
              </a:spcBef>
              <a:spcAft>
                <a:spcPts val="0"/>
              </a:spcAft>
              <a:buSzPts val="1500"/>
              <a:buFont typeface="Noto Sans Symbols"/>
              <a:buChar char="▪"/>
            </a:pPr>
            <a:r>
              <a:rPr lang="en-US" sz="1800"/>
              <a:t>Varying properties include access speed, capacity, data-transfer rate, access method (sequential or random)</a:t>
            </a:r>
            <a:endParaRPr sz="1800"/>
          </a:p>
          <a:p>
            <a:pPr indent="-354330" lvl="0" marL="457200" rtl="0" algn="just">
              <a:lnSpc>
                <a:spcPct val="90000"/>
              </a:lnSpc>
              <a:spcBef>
                <a:spcPts val="770"/>
              </a:spcBef>
              <a:spcAft>
                <a:spcPts val="0"/>
              </a:spcAft>
              <a:buSzPts val="1980"/>
              <a:buChar char="●"/>
            </a:pPr>
            <a:r>
              <a:rPr b="1" lang="en-US" sz="1800"/>
              <a:t>File-System Management</a:t>
            </a:r>
            <a:endParaRPr b="1" sz="1800"/>
          </a:p>
          <a:p>
            <a:pPr indent="-340360" lvl="1" marL="914400" rtl="0" algn="just">
              <a:lnSpc>
                <a:spcPct val="90000"/>
              </a:lnSpc>
              <a:spcBef>
                <a:spcPts val="770"/>
              </a:spcBef>
              <a:spcAft>
                <a:spcPts val="0"/>
              </a:spcAft>
              <a:buSzPts val="1760"/>
              <a:buChar char="●"/>
            </a:pPr>
            <a:r>
              <a:rPr lang="en-US" sz="1800"/>
              <a:t>Files usually organized into directories</a:t>
            </a:r>
            <a:endParaRPr/>
          </a:p>
          <a:p>
            <a:pPr indent="-340360" lvl="1" marL="914400" rtl="0" algn="just">
              <a:lnSpc>
                <a:spcPct val="90000"/>
              </a:lnSpc>
              <a:spcBef>
                <a:spcPts val="770"/>
              </a:spcBef>
              <a:spcAft>
                <a:spcPts val="0"/>
              </a:spcAft>
              <a:buSzPts val="1760"/>
              <a:buChar char="●"/>
            </a:pPr>
            <a:r>
              <a:rPr lang="en-US" sz="1800"/>
              <a:t>Access control on most systems to determine who can access what</a:t>
            </a:r>
            <a:endParaRPr/>
          </a:p>
          <a:p>
            <a:pPr indent="-340360" lvl="1" marL="914400" rtl="0" algn="just">
              <a:lnSpc>
                <a:spcPct val="90000"/>
              </a:lnSpc>
              <a:spcBef>
                <a:spcPts val="770"/>
              </a:spcBef>
              <a:spcAft>
                <a:spcPts val="0"/>
              </a:spcAft>
              <a:buSzPts val="1760"/>
              <a:buChar char="●"/>
            </a:pPr>
            <a:r>
              <a:rPr lang="en-US" sz="1800"/>
              <a:t>OS activities include</a:t>
            </a:r>
            <a:endParaRPr/>
          </a:p>
          <a:p>
            <a:pPr indent="-323850" lvl="2" marL="1371600" rtl="0" algn="just">
              <a:lnSpc>
                <a:spcPct val="90000"/>
              </a:lnSpc>
              <a:spcBef>
                <a:spcPts val="700"/>
              </a:spcBef>
              <a:spcAft>
                <a:spcPts val="0"/>
              </a:spcAft>
              <a:buSzPts val="1500"/>
              <a:buFont typeface="Noto Sans Symbols"/>
              <a:buChar char="▪"/>
            </a:pPr>
            <a:r>
              <a:rPr lang="en-US" sz="1800"/>
              <a:t>Creating and deleting files and directories</a:t>
            </a:r>
            <a:endParaRPr/>
          </a:p>
          <a:p>
            <a:pPr indent="-323850" lvl="2" marL="1371600" rtl="0" algn="just">
              <a:lnSpc>
                <a:spcPct val="90000"/>
              </a:lnSpc>
              <a:spcBef>
                <a:spcPts val="700"/>
              </a:spcBef>
              <a:spcAft>
                <a:spcPts val="0"/>
              </a:spcAft>
              <a:buSzPts val="1500"/>
              <a:buFont typeface="Noto Sans Symbols"/>
              <a:buChar char="▪"/>
            </a:pPr>
            <a:r>
              <a:rPr lang="en-US" sz="1800"/>
              <a:t>Primitives to manipulate files and dirs</a:t>
            </a:r>
            <a:endParaRPr sz="1800"/>
          </a:p>
          <a:p>
            <a:pPr indent="-323850" lvl="2" marL="1371600" rtl="0" algn="just">
              <a:lnSpc>
                <a:spcPct val="90000"/>
              </a:lnSpc>
              <a:spcBef>
                <a:spcPts val="700"/>
              </a:spcBef>
              <a:spcAft>
                <a:spcPts val="0"/>
              </a:spcAft>
              <a:buSzPts val="1500"/>
              <a:buFont typeface="Noto Sans Symbols"/>
              <a:buChar char="▪"/>
            </a:pPr>
            <a:r>
              <a:rPr lang="en-US" sz="1800"/>
              <a:t>Mapping files onto secondary storage</a:t>
            </a:r>
            <a:endParaRPr/>
          </a:p>
          <a:p>
            <a:pPr indent="-323850" lvl="2" marL="1371600" rtl="0" algn="just">
              <a:lnSpc>
                <a:spcPct val="90000"/>
              </a:lnSpc>
              <a:spcBef>
                <a:spcPts val="700"/>
              </a:spcBef>
              <a:spcAft>
                <a:spcPts val="0"/>
              </a:spcAft>
              <a:buSzPts val="1500"/>
              <a:buFont typeface="Noto Sans Symbols"/>
              <a:buChar char="▪"/>
            </a:pPr>
            <a:r>
              <a:rPr lang="en-US" sz="1800"/>
              <a:t>Backup files onto stable (non-volatile) storage media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13"/>
          <p:cNvSpPr txBox="1"/>
          <p:nvPr>
            <p:ph idx="4294967295" type="body"/>
          </p:nvPr>
        </p:nvSpPr>
        <p:spPr>
          <a:xfrm>
            <a:off x="712569" y="791073"/>
            <a:ext cx="7575550" cy="5772565"/>
          </a:xfrm>
          <a:prstGeom prst="rect">
            <a:avLst/>
          </a:prstGeom>
          <a:noFill/>
          <a:ln>
            <a:noFill/>
          </a:ln>
        </p:spPr>
        <p:txBody>
          <a:bodyPr anchorCtr="0" anchor="t" bIns="45700" lIns="91425" spcFirstLastPara="1" rIns="91425" wrap="square" tIns="45700">
            <a:noAutofit/>
          </a:bodyPr>
          <a:lstStyle/>
          <a:p>
            <a:pPr indent="-354330" lvl="0" marL="457200" marR="0" rtl="0" algn="just">
              <a:lnSpc>
                <a:spcPct val="100000"/>
              </a:lnSpc>
              <a:spcBef>
                <a:spcPts val="770"/>
              </a:spcBef>
              <a:spcAft>
                <a:spcPts val="0"/>
              </a:spcAft>
              <a:buClr>
                <a:srgbClr val="993300"/>
              </a:buClr>
              <a:buSzPts val="1980"/>
              <a:buFont typeface="Arial"/>
              <a:buChar char="●"/>
            </a:pPr>
            <a:r>
              <a:rPr b="1" lang="en-US" sz="1700">
                <a:latin typeface="Helvetica Neue"/>
                <a:ea typeface="Helvetica Neue"/>
                <a:cs typeface="Helvetica Neue"/>
                <a:sym typeface="Helvetica Neue"/>
              </a:rPr>
              <a:t>Mass Storage Management</a:t>
            </a:r>
            <a:endParaRPr b="1" sz="1700">
              <a:latin typeface="Helvetica Neue"/>
              <a:ea typeface="Helvetica Neue"/>
              <a:cs typeface="Helvetica Neue"/>
              <a:sym typeface="Helvetica Neue"/>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Usually disks used to store data that does not fit in main memory or data that must be kept for a “long” period of time</a:t>
            </a:r>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Most programs, use the disk as both the source</a:t>
            </a:r>
            <a:br>
              <a:rPr lang="en-US" sz="1700">
                <a:latin typeface="Helvetica Neue"/>
                <a:ea typeface="Helvetica Neue"/>
                <a:cs typeface="Helvetica Neue"/>
                <a:sym typeface="Helvetica Neue"/>
              </a:rPr>
            </a:br>
            <a:r>
              <a:rPr lang="en-US" sz="1700">
                <a:latin typeface="Helvetica Neue"/>
                <a:ea typeface="Helvetica Neue"/>
                <a:cs typeface="Helvetica Neue"/>
                <a:sym typeface="Helvetica Neue"/>
              </a:rPr>
              <a:t>and destination of their processing </a:t>
            </a:r>
            <a:endParaRPr sz="1700">
              <a:latin typeface="Helvetica Neue"/>
              <a:ea typeface="Helvetica Neue"/>
              <a:cs typeface="Helvetica Neue"/>
              <a:sym typeface="Helvetica Neue"/>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Due to this proper management is importance to a computer system </a:t>
            </a:r>
            <a:endParaRPr sz="1700">
              <a:latin typeface="Helvetica Neue"/>
              <a:ea typeface="Helvetica Neue"/>
              <a:cs typeface="Helvetica Neue"/>
              <a:sym typeface="Helvetica Neue"/>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OS activities in connection with disk management </a:t>
            </a:r>
            <a:endParaRPr sz="1700">
              <a:latin typeface="Helvetica Neue"/>
              <a:ea typeface="Helvetica Neue"/>
              <a:cs typeface="Helvetica Neue"/>
              <a:sym typeface="Helvetica Neue"/>
            </a:endParaRPr>
          </a:p>
          <a:p>
            <a:pPr indent="-323850" lvl="2" marL="1371600" rtl="0" algn="just">
              <a:lnSpc>
                <a:spcPct val="100000"/>
              </a:lnSpc>
              <a:spcBef>
                <a:spcPts val="700"/>
              </a:spcBef>
              <a:spcAft>
                <a:spcPts val="0"/>
              </a:spcAft>
              <a:buSzPts val="1500"/>
              <a:buFont typeface="Courier New"/>
              <a:buChar char="o"/>
            </a:pPr>
            <a:r>
              <a:rPr lang="en-US" sz="1700">
                <a:latin typeface="Helvetica Neue"/>
                <a:ea typeface="Helvetica Neue"/>
                <a:cs typeface="Helvetica Neue"/>
                <a:sym typeface="Helvetica Neue"/>
              </a:rPr>
              <a:t>Free-space management</a:t>
            </a:r>
            <a:endParaRPr/>
          </a:p>
          <a:p>
            <a:pPr indent="-323850" lvl="2" marL="1371600" rtl="0" algn="just">
              <a:lnSpc>
                <a:spcPct val="100000"/>
              </a:lnSpc>
              <a:spcBef>
                <a:spcPts val="700"/>
              </a:spcBef>
              <a:spcAft>
                <a:spcPts val="0"/>
              </a:spcAft>
              <a:buSzPts val="1500"/>
              <a:buFont typeface="Courier New"/>
              <a:buChar char="o"/>
            </a:pPr>
            <a:r>
              <a:rPr lang="en-US" sz="1700">
                <a:latin typeface="Helvetica Neue"/>
                <a:ea typeface="Helvetica Neue"/>
                <a:cs typeface="Helvetica Neue"/>
                <a:sym typeface="Helvetica Neue"/>
              </a:rPr>
              <a:t>Storage allocation</a:t>
            </a:r>
            <a:endParaRPr/>
          </a:p>
          <a:p>
            <a:pPr indent="-323850" lvl="2" marL="1371600" rtl="0" algn="just">
              <a:lnSpc>
                <a:spcPct val="100000"/>
              </a:lnSpc>
              <a:spcBef>
                <a:spcPts val="700"/>
              </a:spcBef>
              <a:spcAft>
                <a:spcPts val="0"/>
              </a:spcAft>
              <a:buSzPts val="1500"/>
              <a:buFont typeface="Courier New"/>
              <a:buChar char="o"/>
            </a:pPr>
            <a:r>
              <a:rPr lang="en-US" sz="1700">
                <a:latin typeface="Helvetica Neue"/>
                <a:ea typeface="Helvetica Neue"/>
                <a:cs typeface="Helvetica Neue"/>
                <a:sym typeface="Helvetica Neue"/>
              </a:rPr>
              <a:t>Disk scheduling</a:t>
            </a:r>
            <a:endParaRPr/>
          </a:p>
          <a:p>
            <a:pPr indent="-354330" lvl="0" marL="457200" marR="0" rtl="0" algn="just">
              <a:lnSpc>
                <a:spcPct val="100000"/>
              </a:lnSpc>
              <a:spcBef>
                <a:spcPts val="770"/>
              </a:spcBef>
              <a:spcAft>
                <a:spcPts val="0"/>
              </a:spcAft>
              <a:buClr>
                <a:srgbClr val="993300"/>
              </a:buClr>
              <a:buSzPts val="1980"/>
              <a:buFont typeface="Arial"/>
              <a:buChar char="●"/>
            </a:pPr>
            <a:r>
              <a:rPr lang="en-US" sz="1700">
                <a:latin typeface="Helvetica Neue"/>
                <a:ea typeface="Helvetica Neue"/>
                <a:cs typeface="Helvetica Neue"/>
                <a:sym typeface="Helvetica Neue"/>
              </a:rPr>
              <a:t>Some storage need not be fast</a:t>
            </a:r>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Tertiary storage includes optical storage, magnetic tape</a:t>
            </a:r>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Still must be managed – by OS or applications</a:t>
            </a:r>
            <a:endParaRPr/>
          </a:p>
          <a:p>
            <a:pPr indent="-340360" lvl="1" marL="914400" rtl="0" algn="just">
              <a:lnSpc>
                <a:spcPct val="100000"/>
              </a:lnSpc>
              <a:spcBef>
                <a:spcPts val="770"/>
              </a:spcBef>
              <a:spcAft>
                <a:spcPts val="0"/>
              </a:spcAft>
              <a:buSzPts val="1760"/>
              <a:buChar char="●"/>
            </a:pPr>
            <a:r>
              <a:rPr lang="en-US" sz="1700">
                <a:latin typeface="Helvetica Neue"/>
                <a:ea typeface="Helvetica Neue"/>
                <a:cs typeface="Helvetica Neue"/>
                <a:sym typeface="Helvetica Neue"/>
              </a:rPr>
              <a:t>Varies between WORM (write-once, read-many-times) and RW (read-write)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14"/>
          <p:cNvSpPr txBox="1"/>
          <p:nvPr>
            <p:ph idx="4294967295" type="title"/>
          </p:nvPr>
        </p:nvSpPr>
        <p:spPr>
          <a:xfrm>
            <a:off x="9144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sz="2800"/>
              <a:t>Migration of Integer A from Disk to Register</a:t>
            </a:r>
            <a:endParaRPr/>
          </a:p>
        </p:txBody>
      </p:sp>
      <p:sp>
        <p:nvSpPr>
          <p:cNvPr id="300" name="Google Shape;300;p114"/>
          <p:cNvSpPr txBox="1"/>
          <p:nvPr>
            <p:ph idx="4294967295" type="body"/>
          </p:nvPr>
        </p:nvSpPr>
        <p:spPr>
          <a:xfrm>
            <a:off x="806449" y="2181964"/>
            <a:ext cx="7781925" cy="4030946"/>
          </a:xfrm>
          <a:prstGeom prst="rect">
            <a:avLst/>
          </a:prstGeom>
          <a:noFill/>
          <a:ln>
            <a:noFill/>
          </a:ln>
        </p:spPr>
        <p:txBody>
          <a:bodyPr anchorCtr="0" anchor="t" bIns="45700" lIns="91425" spcFirstLastPara="1" rIns="91425" wrap="square" tIns="45700">
            <a:noAutofit/>
          </a:bodyPr>
          <a:lstStyle/>
          <a:p>
            <a:pPr indent="-354330" lvl="0" marL="457200" rtl="0" algn="l">
              <a:lnSpc>
                <a:spcPct val="100000"/>
              </a:lnSpc>
              <a:spcBef>
                <a:spcPts val="770"/>
              </a:spcBef>
              <a:spcAft>
                <a:spcPts val="0"/>
              </a:spcAft>
              <a:buSzPts val="1980"/>
              <a:buChar char="●"/>
            </a:pPr>
            <a:r>
              <a:rPr lang="en-US" sz="1800"/>
              <a:t>In hierarchical storage structure, the same data such as “</a:t>
            </a:r>
            <a:r>
              <a:rPr b="1" i="1" lang="en-US" sz="1800"/>
              <a:t>A</a:t>
            </a:r>
            <a:r>
              <a:rPr lang="en-US" sz="1800"/>
              <a:t>” may appear in different levels of the storage system (refer page 29).</a:t>
            </a:r>
            <a:endParaRPr/>
          </a:p>
          <a:p>
            <a:pPr indent="-354330" lvl="0" marL="457200" rtl="0" algn="l">
              <a:lnSpc>
                <a:spcPct val="100000"/>
              </a:lnSpc>
              <a:spcBef>
                <a:spcPts val="770"/>
              </a:spcBef>
              <a:spcAft>
                <a:spcPts val="0"/>
              </a:spcAft>
              <a:buSzPts val="1980"/>
              <a:buChar char="●"/>
            </a:pPr>
            <a:r>
              <a:rPr lang="en-US" sz="1800"/>
              <a:t>The value of “</a:t>
            </a:r>
            <a:r>
              <a:rPr b="1" i="1" lang="en-US" sz="1800"/>
              <a:t>A</a:t>
            </a:r>
            <a:r>
              <a:rPr lang="en-US" sz="1800"/>
              <a:t>” becomes same only after the new value of “</a:t>
            </a:r>
            <a:r>
              <a:rPr b="1" i="1" lang="en-US" sz="1800"/>
              <a:t>A</a:t>
            </a:r>
            <a:r>
              <a:rPr lang="en-US" sz="1800"/>
              <a:t>” is written - internal register back to the magnetic disk. </a:t>
            </a:r>
            <a:endParaRPr sz="1800"/>
          </a:p>
          <a:p>
            <a:pPr indent="-354330" lvl="0" marL="457200" rtl="0" algn="l">
              <a:lnSpc>
                <a:spcPct val="100000"/>
              </a:lnSpc>
              <a:spcBef>
                <a:spcPts val="770"/>
              </a:spcBef>
              <a:spcAft>
                <a:spcPts val="0"/>
              </a:spcAft>
              <a:buSzPts val="1980"/>
              <a:buChar char="●"/>
            </a:pPr>
            <a:r>
              <a:rPr lang="en-US" sz="1800"/>
              <a:t>In multiprocessor environment, each CPU’s own its local and it can execute value of “</a:t>
            </a:r>
            <a:r>
              <a:rPr b="1" i="1" lang="en-US" sz="1800"/>
              <a:t>A</a:t>
            </a:r>
            <a:r>
              <a:rPr lang="en-US" sz="1800"/>
              <a:t>”  in parallel and must ensure an update of value of “</a:t>
            </a:r>
            <a:r>
              <a:rPr b="1" i="1" lang="en-US" sz="1800"/>
              <a:t>A</a:t>
            </a:r>
            <a:r>
              <a:rPr lang="en-US" sz="1800"/>
              <a:t>” immediately.</a:t>
            </a:r>
            <a:endParaRPr/>
          </a:p>
          <a:p>
            <a:pPr indent="-354330" lvl="0" marL="457200" rtl="0" algn="l">
              <a:lnSpc>
                <a:spcPct val="100000"/>
              </a:lnSpc>
              <a:spcBef>
                <a:spcPts val="770"/>
              </a:spcBef>
              <a:spcAft>
                <a:spcPts val="0"/>
              </a:spcAft>
              <a:buSzPts val="1980"/>
              <a:buChar char="●"/>
            </a:pPr>
            <a:r>
              <a:rPr lang="en-US" sz="1800"/>
              <a:t>This situation is called </a:t>
            </a:r>
            <a:r>
              <a:rPr b="1" lang="en-US" sz="1800">
                <a:solidFill>
                  <a:srgbClr val="3366FF"/>
                </a:solidFill>
              </a:rPr>
              <a:t>cache coherency </a:t>
            </a:r>
            <a:r>
              <a:rPr lang="en-US" sz="1800">
                <a:solidFill>
                  <a:schemeClr val="dk1"/>
                </a:solidFill>
              </a:rPr>
              <a:t>and is a </a:t>
            </a:r>
            <a:r>
              <a:rPr lang="en-US" sz="1800"/>
              <a:t>hardware issue .</a:t>
            </a:r>
            <a:endParaRPr/>
          </a:p>
          <a:p>
            <a:pPr indent="-354330" lvl="0" marL="457200" rtl="0" algn="l">
              <a:lnSpc>
                <a:spcPct val="100000"/>
              </a:lnSpc>
              <a:spcBef>
                <a:spcPts val="770"/>
              </a:spcBef>
              <a:spcAft>
                <a:spcPts val="0"/>
              </a:spcAft>
              <a:buSzPts val="1980"/>
              <a:buChar char="●"/>
            </a:pPr>
            <a:r>
              <a:rPr lang="en-US" sz="1800"/>
              <a:t>In distributed environment situation even more complex</a:t>
            </a:r>
            <a:endParaRPr/>
          </a:p>
          <a:p>
            <a:pPr indent="-340360" lvl="1" marL="914400" rtl="0" algn="just">
              <a:lnSpc>
                <a:spcPct val="100000"/>
              </a:lnSpc>
              <a:spcBef>
                <a:spcPts val="770"/>
              </a:spcBef>
              <a:spcAft>
                <a:spcPts val="0"/>
              </a:spcAft>
              <a:buSzPts val="1760"/>
              <a:buChar char="●"/>
            </a:pPr>
            <a:r>
              <a:rPr lang="en-US" sz="1800"/>
              <a:t>Several copies of the same file is kept on different computer</a:t>
            </a:r>
            <a:endParaRPr sz="1800"/>
          </a:p>
          <a:p>
            <a:pPr indent="-340360" lvl="1" marL="914400" rtl="0" algn="just">
              <a:lnSpc>
                <a:spcPct val="100000"/>
              </a:lnSpc>
              <a:spcBef>
                <a:spcPts val="770"/>
              </a:spcBef>
              <a:spcAft>
                <a:spcPts val="0"/>
              </a:spcAft>
              <a:buSzPts val="1760"/>
              <a:buChar char="●"/>
            </a:pPr>
            <a:r>
              <a:rPr lang="en-US" sz="1800"/>
              <a:t>Various solutions covered in Chapter 17</a:t>
            </a:r>
            <a:endParaRPr/>
          </a:p>
        </p:txBody>
      </p:sp>
      <p:pic>
        <p:nvPicPr>
          <p:cNvPr id="301" name="Google Shape;301;p114"/>
          <p:cNvPicPr preferRelativeResize="0"/>
          <p:nvPr/>
        </p:nvPicPr>
        <p:blipFill rotWithShape="1">
          <a:blip r:embed="rId3">
            <a:alphaModFix/>
          </a:blip>
          <a:srcRect b="0" l="0" r="0" t="0"/>
          <a:stretch/>
        </p:blipFill>
        <p:spPr>
          <a:xfrm>
            <a:off x="1069181" y="1002082"/>
            <a:ext cx="7256462" cy="1031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15"/>
          <p:cNvSpPr txBox="1"/>
          <p:nvPr>
            <p:ph idx="4294967295"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I/O Subsystem</a:t>
            </a:r>
            <a:endParaRPr/>
          </a:p>
        </p:txBody>
      </p:sp>
      <p:sp>
        <p:nvSpPr>
          <p:cNvPr id="307" name="Google Shape;307;p115"/>
          <p:cNvSpPr txBox="1"/>
          <p:nvPr>
            <p:ph idx="4294967295" type="body"/>
          </p:nvPr>
        </p:nvSpPr>
        <p:spPr>
          <a:xfrm>
            <a:off x="806450" y="1233488"/>
            <a:ext cx="7713663" cy="4530725"/>
          </a:xfrm>
          <a:prstGeom prst="rect">
            <a:avLst/>
          </a:prstGeom>
          <a:noFill/>
          <a:ln>
            <a:noFill/>
          </a:ln>
        </p:spPr>
        <p:txBody>
          <a:bodyPr anchorCtr="0" anchor="t" bIns="45700" lIns="91425" spcFirstLastPara="1" rIns="91425" wrap="square" tIns="45700">
            <a:noAutofit/>
          </a:bodyPr>
          <a:lstStyle/>
          <a:p>
            <a:pPr indent="-354330" lvl="0" marL="457200" marR="0" rtl="0" algn="just">
              <a:lnSpc>
                <a:spcPct val="100000"/>
              </a:lnSpc>
              <a:spcBef>
                <a:spcPts val="770"/>
              </a:spcBef>
              <a:spcAft>
                <a:spcPts val="0"/>
              </a:spcAft>
              <a:buClr>
                <a:srgbClr val="993300"/>
              </a:buClr>
              <a:buSzPts val="1980"/>
              <a:buFont typeface="Arial"/>
              <a:buChar char="●"/>
            </a:pPr>
            <a:r>
              <a:rPr lang="en-US"/>
              <a:t>One purpose of OS is to hides the functions of the hardware devices from the users</a:t>
            </a:r>
            <a:endParaRPr/>
          </a:p>
          <a:p>
            <a:pPr indent="-354330" lvl="0" marL="457200" marR="0" rtl="0" algn="just">
              <a:lnSpc>
                <a:spcPct val="100000"/>
              </a:lnSpc>
              <a:spcBef>
                <a:spcPts val="770"/>
              </a:spcBef>
              <a:spcAft>
                <a:spcPts val="0"/>
              </a:spcAft>
              <a:buClr>
                <a:srgbClr val="993300"/>
              </a:buClr>
              <a:buSzPts val="1980"/>
              <a:buFont typeface="Arial"/>
              <a:buChar char="●"/>
            </a:pPr>
            <a:r>
              <a:rPr lang="en-US"/>
              <a:t>I/O subsystem responsible for</a:t>
            </a:r>
            <a:endParaRPr/>
          </a:p>
          <a:p>
            <a:pPr indent="-340360" lvl="1" marL="914400" rtl="0" algn="just">
              <a:lnSpc>
                <a:spcPct val="100000"/>
              </a:lnSpc>
              <a:spcBef>
                <a:spcPts val="770"/>
              </a:spcBef>
              <a:spcAft>
                <a:spcPts val="0"/>
              </a:spcAft>
              <a:buSzPts val="1760"/>
              <a:buChar char="●"/>
            </a:pPr>
            <a:r>
              <a:rPr lang="en-US"/>
              <a:t>Memory management of I/O including buffering (storing data temporarily while it is being transferred), caching (storing parts of data in faster storage for performance), spooling (the overlapping of output of one job with input of other jobs)</a:t>
            </a:r>
            <a:endParaRPr/>
          </a:p>
          <a:p>
            <a:pPr indent="-340360" lvl="1" marL="914400" rtl="0" algn="just">
              <a:lnSpc>
                <a:spcPct val="100000"/>
              </a:lnSpc>
              <a:spcBef>
                <a:spcPts val="770"/>
              </a:spcBef>
              <a:spcAft>
                <a:spcPts val="0"/>
              </a:spcAft>
              <a:buSzPts val="1760"/>
              <a:buChar char="●"/>
            </a:pPr>
            <a:r>
              <a:rPr lang="en-US"/>
              <a:t>General device-driver interface</a:t>
            </a:r>
            <a:endParaRPr/>
          </a:p>
          <a:p>
            <a:pPr indent="-340360" lvl="1" marL="914400" rtl="0" algn="just">
              <a:lnSpc>
                <a:spcPct val="100000"/>
              </a:lnSpc>
              <a:spcBef>
                <a:spcPts val="770"/>
              </a:spcBef>
              <a:spcAft>
                <a:spcPts val="0"/>
              </a:spcAft>
              <a:buSzPts val="1760"/>
              <a:buChar char="●"/>
            </a:pPr>
            <a:r>
              <a:rPr lang="en-US"/>
              <a:t>Drivers for specific hardware devices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9"/>
          <p:cNvSpPr txBox="1"/>
          <p:nvPr>
            <p:ph type="title"/>
          </p:nvPr>
        </p:nvSpPr>
        <p:spPr>
          <a:xfrm>
            <a:off x="457200" y="277813"/>
            <a:ext cx="82296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070C0"/>
                </a:solidFill>
              </a:rPr>
              <a:t>10. TYPES OF OPERATING SYSTEMS</a:t>
            </a:r>
            <a:endParaRPr/>
          </a:p>
        </p:txBody>
      </p:sp>
      <p:sp>
        <p:nvSpPr>
          <p:cNvPr id="313" name="Google Shape;313;p49"/>
          <p:cNvSpPr txBox="1"/>
          <p:nvPr>
            <p:ph idx="1" type="body"/>
          </p:nvPr>
        </p:nvSpPr>
        <p:spPr>
          <a:xfrm>
            <a:off x="754144" y="1233488"/>
            <a:ext cx="7720553"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70C0"/>
              </a:buClr>
              <a:buSzPts val="2200"/>
              <a:buFont typeface="Arial"/>
              <a:buNone/>
            </a:pPr>
            <a:r>
              <a:rPr b="1" lang="en-US">
                <a:solidFill>
                  <a:srgbClr val="0070C0"/>
                </a:solidFill>
              </a:rPr>
              <a:t>Early System</a:t>
            </a:r>
            <a:endParaRPr/>
          </a:p>
          <a:p>
            <a:pPr indent="-342900" lvl="0" marL="342900" rtl="0" algn="just">
              <a:lnSpc>
                <a:spcPct val="100000"/>
              </a:lnSpc>
              <a:spcBef>
                <a:spcPts val="200"/>
              </a:spcBef>
              <a:spcAft>
                <a:spcPts val="0"/>
              </a:spcAft>
              <a:buClr>
                <a:srgbClr val="222222"/>
              </a:buClr>
              <a:buSzPts val="1000"/>
              <a:buFont typeface="Arial"/>
              <a:buNone/>
            </a:pPr>
            <a:r>
              <a:t/>
            </a:r>
            <a:endParaRPr b="1" sz="1000">
              <a:solidFill>
                <a:srgbClr val="0070C0"/>
              </a:solidFill>
            </a:endParaRPr>
          </a:p>
          <a:p>
            <a:pPr indent="-342900" lvl="0" marL="342900" rtl="0" algn="just">
              <a:lnSpc>
                <a:spcPct val="100000"/>
              </a:lnSpc>
              <a:spcBef>
                <a:spcPts val="480"/>
              </a:spcBef>
              <a:spcAft>
                <a:spcPts val="0"/>
              </a:spcAft>
              <a:buClr>
                <a:srgbClr val="222222"/>
              </a:buClr>
              <a:buSzPts val="2400"/>
              <a:buFont typeface="Arial"/>
              <a:buChar char="•"/>
            </a:pPr>
            <a:r>
              <a:rPr lang="en-US" sz="2400"/>
              <a:t>No operating system</a:t>
            </a:r>
            <a:endParaRPr/>
          </a:p>
          <a:p>
            <a:pPr indent="-342900" lvl="1" marL="342900" rtl="0" algn="just">
              <a:lnSpc>
                <a:spcPct val="100000"/>
              </a:lnSpc>
              <a:spcBef>
                <a:spcPts val="440"/>
              </a:spcBef>
              <a:spcAft>
                <a:spcPts val="0"/>
              </a:spcAft>
              <a:buClr>
                <a:srgbClr val="222222"/>
              </a:buClr>
              <a:buSzPts val="2200"/>
              <a:buFont typeface="Arial"/>
              <a:buChar char="•"/>
            </a:pPr>
            <a:r>
              <a:rPr lang="en-US"/>
              <a:t>Machines run from a console with display lights, toggle switches, input device, and printer</a:t>
            </a:r>
            <a:endParaRPr/>
          </a:p>
          <a:p>
            <a:pPr indent="-342900" lvl="0" marL="342900" rtl="0" algn="just">
              <a:lnSpc>
                <a:spcPct val="100000"/>
              </a:lnSpc>
              <a:spcBef>
                <a:spcPts val="480"/>
              </a:spcBef>
              <a:spcAft>
                <a:spcPts val="0"/>
              </a:spcAft>
              <a:buClr>
                <a:srgbClr val="222222"/>
              </a:buClr>
              <a:buSzPts val="2400"/>
              <a:buFont typeface="Arial"/>
              <a:buChar char="•"/>
            </a:pPr>
            <a:r>
              <a:rPr lang="en-US" sz="2400"/>
              <a:t>Programmer acts as an operator </a:t>
            </a:r>
            <a:endParaRPr/>
          </a:p>
          <a:p>
            <a:pPr indent="-342900" lvl="1" marL="342900" rtl="0" algn="just">
              <a:lnSpc>
                <a:spcPct val="100000"/>
              </a:lnSpc>
              <a:spcBef>
                <a:spcPts val="440"/>
              </a:spcBef>
              <a:spcAft>
                <a:spcPts val="0"/>
              </a:spcAft>
              <a:buClr>
                <a:srgbClr val="222222"/>
              </a:buClr>
              <a:buSzPts val="2200"/>
              <a:buFont typeface="Arial"/>
              <a:buChar char="–"/>
            </a:pPr>
            <a:r>
              <a:rPr lang="en-US" sz="2200"/>
              <a:t>Setup included loading the compiler, source program, saving compiled program, and loading and linking</a:t>
            </a:r>
            <a:endParaRPr/>
          </a:p>
          <a:p>
            <a:pPr indent="-342900" lvl="0" marL="342900" rtl="0" algn="just">
              <a:lnSpc>
                <a:spcPct val="100000"/>
              </a:lnSpc>
              <a:spcBef>
                <a:spcPts val="480"/>
              </a:spcBef>
              <a:spcAft>
                <a:spcPts val="0"/>
              </a:spcAft>
              <a:buClr>
                <a:srgbClr val="222222"/>
              </a:buClr>
              <a:buSzPts val="2400"/>
              <a:buFont typeface="Arial"/>
              <a:buChar char="•"/>
            </a:pPr>
            <a:r>
              <a:rPr lang="en-US" sz="2400"/>
              <a:t>One-user system</a:t>
            </a:r>
            <a:endParaRPr/>
          </a:p>
          <a:p>
            <a:pPr indent="-342900" lvl="0" marL="342900" rtl="0" algn="just">
              <a:lnSpc>
                <a:spcPct val="100000"/>
              </a:lnSpc>
              <a:spcBef>
                <a:spcPts val="480"/>
              </a:spcBef>
              <a:spcAft>
                <a:spcPts val="0"/>
              </a:spcAft>
              <a:buClr>
                <a:srgbClr val="222222"/>
              </a:buClr>
              <a:buSzPts val="2400"/>
              <a:buFont typeface="Arial"/>
              <a:buChar char="•"/>
            </a:pPr>
            <a:r>
              <a:rPr lang="en-US" sz="2400"/>
              <a:t>Serial processing</a:t>
            </a:r>
            <a:endParaRPr/>
          </a:p>
          <a:p>
            <a:pPr indent="-342900" lvl="0" marL="342900" rtl="0" algn="just">
              <a:lnSpc>
                <a:spcPct val="100000"/>
              </a:lnSpc>
              <a:spcBef>
                <a:spcPts val="480"/>
              </a:spcBef>
              <a:spcAft>
                <a:spcPts val="0"/>
              </a:spcAft>
              <a:buClr>
                <a:srgbClr val="FF0000"/>
              </a:buClr>
              <a:buSzPts val="2400"/>
              <a:buFont typeface="Arial"/>
              <a:buChar char="•"/>
            </a:pPr>
            <a:r>
              <a:rPr lang="en-US" sz="2400">
                <a:solidFill>
                  <a:srgbClr val="FF0000"/>
                </a:solidFill>
              </a:rPr>
              <a:t>Weakness</a:t>
            </a:r>
            <a:r>
              <a:rPr lang="en-US" sz="2400"/>
              <a:t>: CPU idle – waste CPU time</a:t>
            </a:r>
            <a:endParaRPr/>
          </a:p>
        </p:txBody>
      </p:sp>
      <p:sp>
        <p:nvSpPr>
          <p:cNvPr id="314" name="Google Shape;314;p49"/>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p:nvPr/>
        </p:nvSpPr>
        <p:spPr>
          <a:xfrm>
            <a:off x="838200" y="4685708"/>
            <a:ext cx="4620064" cy="1008082"/>
          </a:xfrm>
          <a:prstGeom prst="roundRect">
            <a:avLst>
              <a:gd fmla="val 16667" name="adj"/>
            </a:avLst>
          </a:prstGeom>
          <a:solidFill>
            <a:srgbClr val="FFFF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320" name="Google Shape;320;p51"/>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222222"/>
              </a:buClr>
              <a:buSzPts val="2200"/>
              <a:buFont typeface="Arial"/>
              <a:buChar char="•"/>
            </a:pPr>
            <a:r>
              <a:rPr lang="en-US"/>
              <a:t>Five categories</a:t>
            </a:r>
            <a:endParaRPr/>
          </a:p>
          <a:p>
            <a:pPr indent="-342900" lvl="0" marL="342900" rtl="0" algn="just">
              <a:lnSpc>
                <a:spcPct val="100000"/>
              </a:lnSpc>
              <a:spcBef>
                <a:spcPts val="440"/>
              </a:spcBef>
              <a:spcAft>
                <a:spcPts val="0"/>
              </a:spcAft>
              <a:buClr>
                <a:srgbClr val="222222"/>
              </a:buClr>
              <a:buSzPts val="2200"/>
              <a:buFont typeface="Arial"/>
              <a:buNone/>
            </a:pPr>
            <a:r>
              <a:rPr lang="en-US"/>
              <a:t>	of Operating Systems</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146050" lvl="1" marL="742950" rtl="0" algn="just">
              <a:lnSpc>
                <a:spcPct val="100000"/>
              </a:lnSpc>
              <a:spcBef>
                <a:spcPts val="440"/>
              </a:spcBef>
              <a:spcAft>
                <a:spcPts val="0"/>
              </a:spcAft>
              <a:buClr>
                <a:srgbClr val="222222"/>
              </a:buClr>
              <a:buSzPts val="2200"/>
              <a:buFont typeface="Arial"/>
              <a:buNone/>
            </a:pPr>
            <a:r>
              <a:t/>
            </a:r>
            <a:endParaRPr/>
          </a:p>
          <a:p>
            <a:pPr indent="-342900" lvl="0" marL="342900" rtl="0" algn="just">
              <a:lnSpc>
                <a:spcPct val="100000"/>
              </a:lnSpc>
              <a:spcBef>
                <a:spcPts val="440"/>
              </a:spcBef>
              <a:spcAft>
                <a:spcPts val="0"/>
              </a:spcAft>
              <a:buClr>
                <a:srgbClr val="222222"/>
              </a:buClr>
              <a:buSzPts val="2200"/>
              <a:buFont typeface="Arial"/>
              <a:buChar char="•"/>
            </a:pPr>
            <a:r>
              <a:rPr lang="en-US"/>
              <a:t>Two distinguishing features</a:t>
            </a:r>
            <a:endParaRPr/>
          </a:p>
          <a:p>
            <a:pPr indent="-285750" lvl="1" marL="742950" rtl="0" algn="just">
              <a:lnSpc>
                <a:spcPct val="100000"/>
              </a:lnSpc>
              <a:spcBef>
                <a:spcPts val="440"/>
              </a:spcBef>
              <a:spcAft>
                <a:spcPts val="0"/>
              </a:spcAft>
              <a:buClr>
                <a:srgbClr val="222222"/>
              </a:buClr>
              <a:buSzPts val="2200"/>
              <a:buFont typeface="Arial"/>
              <a:buChar char="–"/>
            </a:pPr>
            <a:r>
              <a:rPr lang="en-US"/>
              <a:t>Response time</a:t>
            </a:r>
            <a:endParaRPr/>
          </a:p>
          <a:p>
            <a:pPr indent="-285750" lvl="1" marL="742950" rtl="0" algn="just">
              <a:lnSpc>
                <a:spcPct val="100000"/>
              </a:lnSpc>
              <a:spcBef>
                <a:spcPts val="440"/>
              </a:spcBef>
              <a:spcAft>
                <a:spcPts val="0"/>
              </a:spcAft>
              <a:buClr>
                <a:srgbClr val="222222"/>
              </a:buClr>
              <a:buSzPts val="2200"/>
              <a:buFont typeface="Arial"/>
              <a:buChar char="–"/>
            </a:pPr>
            <a:r>
              <a:rPr lang="en-US"/>
              <a:t>How data enters into the system</a:t>
            </a:r>
            <a:endParaRPr/>
          </a:p>
        </p:txBody>
      </p:sp>
      <p:sp>
        <p:nvSpPr>
          <p:cNvPr id="321" name="Google Shape;321;p51"/>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grpSp>
        <p:nvGrpSpPr>
          <p:cNvPr id="322" name="Google Shape;322;p51"/>
          <p:cNvGrpSpPr/>
          <p:nvPr/>
        </p:nvGrpSpPr>
        <p:grpSpPr>
          <a:xfrm>
            <a:off x="3962400" y="1371600"/>
            <a:ext cx="4495800" cy="3657600"/>
            <a:chOff x="3429000" y="2133600"/>
            <a:chExt cx="4495800" cy="3657600"/>
          </a:xfrm>
        </p:grpSpPr>
        <p:sp>
          <p:nvSpPr>
            <p:cNvPr id="323" name="Google Shape;323;p51"/>
            <p:cNvSpPr/>
            <p:nvPr/>
          </p:nvSpPr>
          <p:spPr>
            <a:xfrm>
              <a:off x="5715000" y="2133600"/>
              <a:ext cx="2209800" cy="609600"/>
            </a:xfrm>
            <a:prstGeom prst="rect">
              <a:avLst/>
            </a:prstGeom>
            <a:noFill/>
            <a:ln cap="flat" cmpd="sng" w="9525">
              <a:solidFill>
                <a:schemeClr val="dk1"/>
              </a:solidFill>
              <a:prstDash val="solid"/>
              <a:round/>
              <a:headEnd len="sm" w="sm" type="none"/>
              <a:tailEnd len="sm" w="sm" type="none"/>
            </a:ln>
            <a:effectLst>
              <a:outerShdw blurRad="63500" rotWithShape="0" algn="l"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Arial"/>
                <a:buNone/>
              </a:pPr>
              <a:r>
                <a:rPr b="0" i="0" lang="en-US" sz="2400" u="none" cap="none" strike="noStrike">
                  <a:solidFill>
                    <a:schemeClr val="dk1"/>
                  </a:solidFill>
                  <a:latin typeface="Arial"/>
                  <a:ea typeface="Arial"/>
                  <a:cs typeface="Arial"/>
                  <a:sym typeface="Arial"/>
                </a:rPr>
                <a:t>Batch</a:t>
              </a:r>
              <a:endParaRPr b="0" i="0" sz="1400" u="none" cap="none" strike="noStrike">
                <a:solidFill>
                  <a:schemeClr val="dk1"/>
                </a:solidFill>
                <a:latin typeface="Arial"/>
                <a:ea typeface="Arial"/>
                <a:cs typeface="Arial"/>
                <a:sym typeface="Arial"/>
              </a:endParaRPr>
            </a:p>
          </p:txBody>
        </p:sp>
        <p:sp>
          <p:nvSpPr>
            <p:cNvPr id="324" name="Google Shape;324;p51"/>
            <p:cNvSpPr/>
            <p:nvPr/>
          </p:nvSpPr>
          <p:spPr>
            <a:xfrm>
              <a:off x="5715000" y="2895600"/>
              <a:ext cx="2209800" cy="609600"/>
            </a:xfrm>
            <a:prstGeom prst="rect">
              <a:avLst/>
            </a:prstGeom>
            <a:noFill/>
            <a:ln cap="flat" cmpd="sng" w="9525">
              <a:solidFill>
                <a:schemeClr val="dk1"/>
              </a:solidFill>
              <a:prstDash val="solid"/>
              <a:round/>
              <a:headEnd len="sm" w="sm" type="none"/>
              <a:tailEnd len="sm" w="sm" type="none"/>
            </a:ln>
            <a:effectLst>
              <a:outerShdw blurRad="63500" rotWithShape="0" algn="l"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Arial"/>
                <a:buNone/>
              </a:pPr>
              <a:r>
                <a:rPr b="0" i="0" lang="en-US" sz="2400" u="none" cap="none" strike="noStrike">
                  <a:solidFill>
                    <a:schemeClr val="dk1"/>
                  </a:solidFill>
                  <a:latin typeface="Arial"/>
                  <a:ea typeface="Arial"/>
                  <a:cs typeface="Arial"/>
                  <a:sym typeface="Arial"/>
                </a:rPr>
                <a:t>Interactive</a:t>
              </a:r>
              <a:endParaRPr b="0" i="0" sz="1400" u="none" cap="none" strike="noStrike">
                <a:solidFill>
                  <a:schemeClr val="dk1"/>
                </a:solidFill>
                <a:latin typeface="Arial"/>
                <a:ea typeface="Arial"/>
                <a:cs typeface="Arial"/>
                <a:sym typeface="Arial"/>
              </a:endParaRPr>
            </a:p>
          </p:txBody>
        </p:sp>
        <p:sp>
          <p:nvSpPr>
            <p:cNvPr id="325" name="Google Shape;325;p51"/>
            <p:cNvSpPr/>
            <p:nvPr/>
          </p:nvSpPr>
          <p:spPr>
            <a:xfrm>
              <a:off x="5715000" y="3657600"/>
              <a:ext cx="2209800" cy="609600"/>
            </a:xfrm>
            <a:prstGeom prst="rect">
              <a:avLst/>
            </a:prstGeom>
            <a:noFill/>
            <a:ln cap="flat" cmpd="sng" w="9525">
              <a:solidFill>
                <a:schemeClr val="dk1"/>
              </a:solidFill>
              <a:prstDash val="solid"/>
              <a:round/>
              <a:headEnd len="sm" w="sm" type="none"/>
              <a:tailEnd len="sm" w="sm" type="none"/>
            </a:ln>
            <a:effectLst>
              <a:outerShdw blurRad="63500" rotWithShape="0" algn="l"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Arial"/>
                <a:buNone/>
              </a:pPr>
              <a:r>
                <a:rPr b="0" i="0" lang="en-US" sz="2400" u="none" cap="none" strike="noStrike">
                  <a:solidFill>
                    <a:schemeClr val="dk1"/>
                  </a:solidFill>
                  <a:latin typeface="Arial"/>
                  <a:ea typeface="Arial"/>
                  <a:cs typeface="Arial"/>
                  <a:sym typeface="Arial"/>
                </a:rPr>
                <a:t>Real-Time</a:t>
              </a:r>
              <a:endParaRPr b="0" i="0" sz="1400" u="none" cap="none" strike="noStrike">
                <a:solidFill>
                  <a:schemeClr val="dk1"/>
                </a:solidFill>
                <a:latin typeface="Arial"/>
                <a:ea typeface="Arial"/>
                <a:cs typeface="Arial"/>
                <a:sym typeface="Arial"/>
              </a:endParaRPr>
            </a:p>
          </p:txBody>
        </p:sp>
        <p:sp>
          <p:nvSpPr>
            <p:cNvPr id="326" name="Google Shape;326;p51"/>
            <p:cNvSpPr/>
            <p:nvPr/>
          </p:nvSpPr>
          <p:spPr>
            <a:xfrm>
              <a:off x="5715000" y="4419600"/>
              <a:ext cx="2209800" cy="609600"/>
            </a:xfrm>
            <a:prstGeom prst="rect">
              <a:avLst/>
            </a:prstGeom>
            <a:noFill/>
            <a:ln cap="flat" cmpd="sng" w="9525">
              <a:solidFill>
                <a:schemeClr val="dk1"/>
              </a:solidFill>
              <a:prstDash val="solid"/>
              <a:round/>
              <a:headEnd len="sm" w="sm" type="none"/>
              <a:tailEnd len="sm" w="sm" type="none"/>
            </a:ln>
            <a:effectLst>
              <a:outerShdw blurRad="63500" rotWithShape="0" algn="l"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Arial"/>
                <a:buNone/>
              </a:pPr>
              <a:r>
                <a:rPr b="0" i="0" lang="en-US" sz="2400" u="none" cap="none" strike="noStrike">
                  <a:solidFill>
                    <a:schemeClr val="dk1"/>
                  </a:solidFill>
                  <a:latin typeface="Arial"/>
                  <a:ea typeface="Arial"/>
                  <a:cs typeface="Arial"/>
                  <a:sym typeface="Arial"/>
                </a:rPr>
                <a:t>Hybrid</a:t>
              </a:r>
              <a:endParaRPr b="0" i="0" sz="1400" u="none" cap="none" strike="noStrike">
                <a:solidFill>
                  <a:schemeClr val="dk1"/>
                </a:solidFill>
                <a:latin typeface="Arial"/>
                <a:ea typeface="Arial"/>
                <a:cs typeface="Arial"/>
                <a:sym typeface="Arial"/>
              </a:endParaRPr>
            </a:p>
          </p:txBody>
        </p:sp>
        <p:sp>
          <p:nvSpPr>
            <p:cNvPr id="327" name="Google Shape;327;p51"/>
            <p:cNvSpPr/>
            <p:nvPr/>
          </p:nvSpPr>
          <p:spPr>
            <a:xfrm>
              <a:off x="5715000" y="5181600"/>
              <a:ext cx="2209800" cy="609600"/>
            </a:xfrm>
            <a:prstGeom prst="rect">
              <a:avLst/>
            </a:prstGeom>
            <a:noFill/>
            <a:ln cap="flat" cmpd="sng" w="9525">
              <a:solidFill>
                <a:schemeClr val="dk1"/>
              </a:solidFill>
              <a:prstDash val="solid"/>
              <a:round/>
              <a:headEnd len="sm" w="sm" type="none"/>
              <a:tailEnd len="sm" w="sm" type="none"/>
            </a:ln>
            <a:effectLst>
              <a:outerShdw blurRad="63500" rotWithShape="0" algn="l" dist="38100">
                <a:srgbClr val="000000">
                  <a:alpha val="39215"/>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Arial"/>
                <a:buNone/>
              </a:pPr>
              <a:r>
                <a:rPr b="0" i="0" lang="en-US" sz="2400" u="none" cap="none" strike="noStrike">
                  <a:solidFill>
                    <a:schemeClr val="dk1"/>
                  </a:solidFill>
                  <a:latin typeface="Arial"/>
                  <a:ea typeface="Arial"/>
                  <a:cs typeface="Arial"/>
                  <a:sym typeface="Arial"/>
                </a:rPr>
                <a:t>Embedded</a:t>
              </a:r>
              <a:endParaRPr b="0" i="0" sz="1400" u="none" cap="none" strike="noStrike">
                <a:solidFill>
                  <a:schemeClr val="dk1"/>
                </a:solidFill>
                <a:latin typeface="Arial"/>
                <a:ea typeface="Arial"/>
                <a:cs typeface="Arial"/>
                <a:sym typeface="Arial"/>
              </a:endParaRPr>
            </a:p>
          </p:txBody>
        </p:sp>
        <p:cxnSp>
          <p:nvCxnSpPr>
            <p:cNvPr id="328" name="Google Shape;328;p51"/>
            <p:cNvCxnSpPr/>
            <p:nvPr/>
          </p:nvCxnSpPr>
          <p:spPr>
            <a:xfrm rot="5400000">
              <a:off x="3505200" y="3962400"/>
              <a:ext cx="3048000" cy="0"/>
            </a:xfrm>
            <a:prstGeom prst="straightConnector1">
              <a:avLst/>
            </a:prstGeom>
            <a:noFill/>
            <a:ln cap="flat" cmpd="sng" w="9525">
              <a:solidFill>
                <a:schemeClr val="dk1"/>
              </a:solidFill>
              <a:prstDash val="solid"/>
              <a:round/>
              <a:headEnd len="sm" w="sm" type="none"/>
              <a:tailEnd len="sm" w="sm" type="none"/>
            </a:ln>
          </p:spPr>
        </p:cxnSp>
        <p:cxnSp>
          <p:nvCxnSpPr>
            <p:cNvPr id="329" name="Google Shape;329;p51"/>
            <p:cNvCxnSpPr>
              <a:endCxn id="327" idx="1"/>
            </p:cNvCxnSpPr>
            <p:nvPr/>
          </p:nvCxnSpPr>
          <p:spPr>
            <a:xfrm>
              <a:off x="5029200" y="5486400"/>
              <a:ext cx="685800" cy="0"/>
            </a:xfrm>
            <a:prstGeom prst="straightConnector1">
              <a:avLst/>
            </a:prstGeom>
            <a:noFill/>
            <a:ln cap="flat" cmpd="sng" w="9525">
              <a:solidFill>
                <a:schemeClr val="dk1"/>
              </a:solidFill>
              <a:prstDash val="solid"/>
              <a:round/>
              <a:headEnd len="sm" w="sm" type="none"/>
              <a:tailEnd len="sm" w="sm" type="none"/>
            </a:ln>
          </p:spPr>
        </p:cxnSp>
        <p:cxnSp>
          <p:nvCxnSpPr>
            <p:cNvPr id="330" name="Google Shape;330;p51"/>
            <p:cNvCxnSpPr/>
            <p:nvPr/>
          </p:nvCxnSpPr>
          <p:spPr>
            <a:xfrm>
              <a:off x="5029200" y="4724400"/>
              <a:ext cx="685800" cy="0"/>
            </a:xfrm>
            <a:prstGeom prst="straightConnector1">
              <a:avLst/>
            </a:prstGeom>
            <a:noFill/>
            <a:ln cap="flat" cmpd="sng" w="9525">
              <a:solidFill>
                <a:schemeClr val="dk1"/>
              </a:solidFill>
              <a:prstDash val="solid"/>
              <a:round/>
              <a:headEnd len="sm" w="sm" type="none"/>
              <a:tailEnd len="sm" w="sm" type="none"/>
            </a:ln>
          </p:spPr>
        </p:cxnSp>
        <p:cxnSp>
          <p:nvCxnSpPr>
            <p:cNvPr id="331" name="Google Shape;331;p51"/>
            <p:cNvCxnSpPr/>
            <p:nvPr/>
          </p:nvCxnSpPr>
          <p:spPr>
            <a:xfrm>
              <a:off x="5029200" y="4038600"/>
              <a:ext cx="685800" cy="0"/>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p51"/>
            <p:cNvCxnSpPr/>
            <p:nvPr/>
          </p:nvCxnSpPr>
          <p:spPr>
            <a:xfrm>
              <a:off x="5029200" y="3276600"/>
              <a:ext cx="685800" cy="0"/>
            </a:xfrm>
            <a:prstGeom prst="straightConnector1">
              <a:avLst/>
            </a:prstGeom>
            <a:noFill/>
            <a:ln cap="flat" cmpd="sng" w="9525">
              <a:solidFill>
                <a:schemeClr val="dk1"/>
              </a:solidFill>
              <a:prstDash val="solid"/>
              <a:round/>
              <a:headEnd len="sm" w="sm" type="none"/>
              <a:tailEnd len="sm" w="sm" type="none"/>
            </a:ln>
          </p:spPr>
        </p:cxnSp>
        <p:cxnSp>
          <p:nvCxnSpPr>
            <p:cNvPr id="333" name="Google Shape;333;p51"/>
            <p:cNvCxnSpPr/>
            <p:nvPr/>
          </p:nvCxnSpPr>
          <p:spPr>
            <a:xfrm>
              <a:off x="3429000" y="2438400"/>
              <a:ext cx="2286000" cy="0"/>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Batch Systems</a:t>
            </a:r>
            <a:endParaRPr/>
          </a:p>
        </p:txBody>
      </p:sp>
      <p:sp>
        <p:nvSpPr>
          <p:cNvPr id="339" name="Google Shape;339;p52"/>
          <p:cNvSpPr txBox="1"/>
          <p:nvPr>
            <p:ph idx="1" type="body"/>
          </p:nvPr>
        </p:nvSpPr>
        <p:spPr>
          <a:xfrm>
            <a:off x="107950" y="869578"/>
            <a:ext cx="6616407"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70C0"/>
              </a:buClr>
              <a:buSzPts val="2200"/>
              <a:buFont typeface="Arial"/>
              <a:buNone/>
            </a:pPr>
            <a:r>
              <a:t/>
            </a:r>
            <a:endParaRPr sz="1200"/>
          </a:p>
          <a:p>
            <a:pPr indent="-285750" lvl="1" marL="742950" rtl="0" algn="just">
              <a:lnSpc>
                <a:spcPct val="100000"/>
              </a:lnSpc>
              <a:spcBef>
                <a:spcPts val="440"/>
              </a:spcBef>
              <a:spcAft>
                <a:spcPts val="0"/>
              </a:spcAft>
              <a:buClr>
                <a:srgbClr val="222222"/>
              </a:buClr>
              <a:buSzPts val="2200"/>
              <a:buFont typeface="Arial"/>
              <a:buChar char="–"/>
            </a:pPr>
            <a:r>
              <a:rPr lang="en-US"/>
              <a:t>Input relied on punched cards or tape</a:t>
            </a:r>
            <a:endParaRPr/>
          </a:p>
          <a:p>
            <a:pPr indent="-285750" lvl="1" marL="742950" rtl="0" algn="just">
              <a:lnSpc>
                <a:spcPct val="100000"/>
              </a:lnSpc>
              <a:spcBef>
                <a:spcPts val="440"/>
              </a:spcBef>
              <a:spcAft>
                <a:spcPts val="0"/>
              </a:spcAft>
              <a:buClr>
                <a:srgbClr val="222222"/>
              </a:buClr>
              <a:buSzPts val="2200"/>
              <a:buFont typeface="Arial"/>
              <a:buChar char="–"/>
            </a:pPr>
            <a:r>
              <a:rPr lang="en-US"/>
              <a:t>Same jobs are collected and executed as one batch</a:t>
            </a:r>
            <a:endParaRPr/>
          </a:p>
          <a:p>
            <a:pPr indent="-228600" lvl="2" marL="1143000" rtl="0" algn="just">
              <a:lnSpc>
                <a:spcPct val="100000"/>
              </a:lnSpc>
              <a:spcBef>
                <a:spcPts val="400"/>
              </a:spcBef>
              <a:spcAft>
                <a:spcPts val="0"/>
              </a:spcAft>
              <a:buClr>
                <a:srgbClr val="222222"/>
              </a:buClr>
              <a:buSzPts val="2000"/>
              <a:buFont typeface="Arial"/>
              <a:buChar char="•"/>
            </a:pPr>
            <a:r>
              <a:rPr lang="en-US"/>
              <a:t>Reduce setup time</a:t>
            </a:r>
            <a:endParaRPr/>
          </a:p>
        </p:txBody>
      </p:sp>
      <p:sp>
        <p:nvSpPr>
          <p:cNvPr id="340" name="Google Shape;340;p52"/>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id="341" name="Google Shape;341;p52"/>
          <p:cNvPicPr preferRelativeResize="0"/>
          <p:nvPr/>
        </p:nvPicPr>
        <p:blipFill rotWithShape="1">
          <a:blip r:embed="rId3">
            <a:alphaModFix/>
          </a:blip>
          <a:srcRect b="0" l="0" r="0" t="0"/>
          <a:stretch/>
        </p:blipFill>
        <p:spPr>
          <a:xfrm>
            <a:off x="6858000" y="685800"/>
            <a:ext cx="2054225" cy="1422400"/>
          </a:xfrm>
          <a:prstGeom prst="rect">
            <a:avLst/>
          </a:prstGeom>
          <a:noFill/>
          <a:ln>
            <a:noFill/>
          </a:ln>
        </p:spPr>
      </p:pic>
      <p:pic>
        <p:nvPicPr>
          <p:cNvPr id="342" name="Google Shape;342;p52"/>
          <p:cNvPicPr preferRelativeResize="0"/>
          <p:nvPr/>
        </p:nvPicPr>
        <p:blipFill rotWithShape="1">
          <a:blip r:embed="rId4">
            <a:alphaModFix/>
          </a:blip>
          <a:srcRect b="0" l="0" r="0" t="0"/>
          <a:stretch/>
        </p:blipFill>
        <p:spPr>
          <a:xfrm>
            <a:off x="6858000" y="2209800"/>
            <a:ext cx="2019300" cy="1724025"/>
          </a:xfrm>
          <a:prstGeom prst="rect">
            <a:avLst/>
          </a:prstGeom>
          <a:noFill/>
          <a:ln>
            <a:noFill/>
          </a:ln>
        </p:spPr>
      </p:pic>
      <p:sp>
        <p:nvSpPr>
          <p:cNvPr id="343" name="Google Shape;343;p52"/>
          <p:cNvSpPr txBox="1"/>
          <p:nvPr/>
        </p:nvSpPr>
        <p:spPr>
          <a:xfrm>
            <a:off x="-173403" y="2815071"/>
            <a:ext cx="6978650" cy="26670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90000"/>
              </a:lnSpc>
              <a:spcBef>
                <a:spcPts val="0"/>
              </a:spcBef>
              <a:spcAft>
                <a:spcPts val="0"/>
              </a:spcAft>
              <a:buClr>
                <a:srgbClr val="222222"/>
              </a:buClr>
              <a:buSzPts val="2400"/>
              <a:buFont typeface="Arial"/>
              <a:buChar char="–"/>
            </a:pPr>
            <a:r>
              <a:rPr b="1" i="0" lang="en-US" sz="2400" u="none" cap="none" strike="noStrike">
                <a:solidFill>
                  <a:srgbClr val="222222"/>
                </a:solidFill>
                <a:latin typeface="Arial"/>
                <a:ea typeface="Arial"/>
                <a:cs typeface="Arial"/>
                <a:sym typeface="Arial"/>
              </a:rPr>
              <a:t>Resident monitor </a:t>
            </a:r>
            <a:r>
              <a:rPr b="0" i="0" lang="en-US" sz="2400" u="none" cap="none" strike="noStrike">
                <a:solidFill>
                  <a:srgbClr val="222222"/>
                </a:solidFill>
                <a:latin typeface="Arial"/>
                <a:ea typeface="Arial"/>
                <a:cs typeface="Arial"/>
                <a:sym typeface="Arial"/>
              </a:rPr>
              <a:t>or </a:t>
            </a:r>
            <a:r>
              <a:rPr b="1" i="0" lang="en-US" sz="2400" u="none" cap="none" strike="noStrike">
                <a:solidFill>
                  <a:srgbClr val="222222"/>
                </a:solidFill>
                <a:latin typeface="Arial"/>
                <a:ea typeface="Arial"/>
                <a:cs typeface="Arial"/>
                <a:sym typeface="Arial"/>
              </a:rPr>
              <a:t>batch monitor </a:t>
            </a:r>
            <a:r>
              <a:rPr b="0" i="0" lang="en-US" sz="2400" u="none" cap="none" strike="noStrike">
                <a:solidFill>
                  <a:srgbClr val="222222"/>
                </a:solidFill>
                <a:latin typeface="Arial"/>
                <a:ea typeface="Arial"/>
                <a:cs typeface="Arial"/>
                <a:sym typeface="Arial"/>
              </a:rPr>
              <a:t>is introduced</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First rudimentary / basic operating system.</a:t>
            </a:r>
            <a:endParaRPr b="0" i="0" sz="2200" u="none" cap="none" strike="noStrike">
              <a:solidFill>
                <a:srgbClr val="222222"/>
              </a:solidFill>
              <a:latin typeface="Arial"/>
              <a:ea typeface="Arial"/>
              <a:cs typeface="Arial"/>
              <a:sym typeface="Arial"/>
            </a:endParaRPr>
          </a:p>
          <a:p>
            <a:pPr indent="-228600" lvl="2" marL="1143000" marR="0" rtl="0" algn="l">
              <a:lnSpc>
                <a:spcPct val="9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initial control in monitor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control transfers to job </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when job completes control transfers back to monitor</a:t>
            </a:r>
            <a:endParaRPr b="0" i="0" sz="1400" u="none" cap="none" strike="noStrike">
              <a:solidFill>
                <a:srgbClr val="000000"/>
              </a:solidFill>
              <a:latin typeface="Arial"/>
              <a:ea typeface="Arial"/>
              <a:cs typeface="Arial"/>
              <a:sym typeface="Arial"/>
            </a:endParaRPr>
          </a:p>
          <a:p>
            <a:pPr indent="-228600" lvl="2" marL="1143000" marR="0" rtl="0" algn="l">
              <a:lnSpc>
                <a:spcPct val="9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Use automatic job sequencing – automatically transfers control from one job to another.</a:t>
            </a:r>
            <a:endParaRPr b="0" i="0" sz="2200" u="none" cap="none" strike="noStrike">
              <a:solidFill>
                <a:srgbClr val="222222"/>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Interactive Systems</a:t>
            </a:r>
            <a:endParaRPr/>
          </a:p>
        </p:txBody>
      </p:sp>
      <p:sp>
        <p:nvSpPr>
          <p:cNvPr id="349" name="Google Shape;349;p56"/>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0070C0"/>
              </a:buClr>
              <a:buSzPts val="2200"/>
              <a:buFont typeface="Arial"/>
              <a:buNone/>
            </a:pPr>
            <a:r>
              <a:t/>
            </a:r>
            <a:endParaRPr/>
          </a:p>
          <a:p>
            <a:pPr indent="-342900" lvl="0" marL="342900" rtl="0" algn="just">
              <a:lnSpc>
                <a:spcPct val="100000"/>
              </a:lnSpc>
              <a:spcBef>
                <a:spcPts val="440"/>
              </a:spcBef>
              <a:spcAft>
                <a:spcPts val="0"/>
              </a:spcAft>
              <a:buClr>
                <a:srgbClr val="222222"/>
              </a:buClr>
              <a:buSzPts val="2200"/>
              <a:buFont typeface="Arial"/>
              <a:buNone/>
            </a:pPr>
            <a:r>
              <a:t/>
            </a:r>
            <a:endParaRPr b="1">
              <a:solidFill>
                <a:srgbClr val="0070C0"/>
              </a:solidFill>
            </a:endParaRPr>
          </a:p>
        </p:txBody>
      </p:sp>
      <p:sp>
        <p:nvSpPr>
          <p:cNvPr id="350" name="Google Shape;350;p56"/>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grpSp>
        <p:nvGrpSpPr>
          <p:cNvPr id="351" name="Google Shape;351;p56"/>
          <p:cNvGrpSpPr/>
          <p:nvPr/>
        </p:nvGrpSpPr>
        <p:grpSpPr>
          <a:xfrm>
            <a:off x="4100834" y="3813981"/>
            <a:ext cx="4648200" cy="1597025"/>
            <a:chOff x="914400" y="4724400"/>
            <a:chExt cx="5547232" cy="1905000"/>
          </a:xfrm>
        </p:grpSpPr>
        <p:grpSp>
          <p:nvGrpSpPr>
            <p:cNvPr id="352" name="Google Shape;352;p56"/>
            <p:cNvGrpSpPr/>
            <p:nvPr/>
          </p:nvGrpSpPr>
          <p:grpSpPr>
            <a:xfrm>
              <a:off x="914400" y="5810249"/>
              <a:ext cx="3124200" cy="819151"/>
              <a:chOff x="990600" y="5410200"/>
              <a:chExt cx="3124200" cy="819151"/>
            </a:xfrm>
          </p:grpSpPr>
          <p:pic>
            <p:nvPicPr>
              <p:cNvPr descr="http://t0.gstatic.com/images?q=tbn:ANd9GcQ17w0NnWHpTQ16jf0wGMPPmAEFlBTftIjeHPX1D9S0z8ibZZ0x" id="353" name="Google Shape;353;p56"/>
              <p:cNvPicPr preferRelativeResize="0"/>
              <p:nvPr/>
            </p:nvPicPr>
            <p:blipFill rotWithShape="1">
              <a:blip r:embed="rId3">
                <a:alphaModFix/>
              </a:blip>
              <a:srcRect b="0" l="0" r="0" t="0"/>
              <a:stretch/>
            </p:blipFill>
            <p:spPr>
              <a:xfrm>
                <a:off x="990600" y="5410200"/>
                <a:ext cx="962025" cy="819151"/>
              </a:xfrm>
              <a:prstGeom prst="rect">
                <a:avLst/>
              </a:prstGeom>
              <a:noFill/>
              <a:ln>
                <a:noFill/>
              </a:ln>
            </p:spPr>
          </p:pic>
          <p:pic>
            <p:nvPicPr>
              <p:cNvPr descr="http://t0.gstatic.com/images?q=tbn:ANd9GcQ17w0NnWHpTQ16jf0wGMPPmAEFlBTftIjeHPX1D9S0z8ibZZ0x" id="354" name="Google Shape;354;p56"/>
              <p:cNvPicPr preferRelativeResize="0"/>
              <p:nvPr/>
            </p:nvPicPr>
            <p:blipFill rotWithShape="1">
              <a:blip r:embed="rId3">
                <a:alphaModFix/>
              </a:blip>
              <a:srcRect b="0" l="0" r="0" t="0"/>
              <a:stretch/>
            </p:blipFill>
            <p:spPr>
              <a:xfrm>
                <a:off x="2057400" y="5410200"/>
                <a:ext cx="962025" cy="819151"/>
              </a:xfrm>
              <a:prstGeom prst="rect">
                <a:avLst/>
              </a:prstGeom>
              <a:noFill/>
              <a:ln>
                <a:noFill/>
              </a:ln>
            </p:spPr>
          </p:pic>
          <p:pic>
            <p:nvPicPr>
              <p:cNvPr descr="http://t0.gstatic.com/images?q=tbn:ANd9GcQ17w0NnWHpTQ16jf0wGMPPmAEFlBTftIjeHPX1D9S0z8ibZZ0x" id="355" name="Google Shape;355;p56"/>
              <p:cNvPicPr preferRelativeResize="0"/>
              <p:nvPr/>
            </p:nvPicPr>
            <p:blipFill rotWithShape="1">
              <a:blip r:embed="rId3">
                <a:alphaModFix/>
              </a:blip>
              <a:srcRect b="0" l="0" r="0" t="0"/>
              <a:stretch/>
            </p:blipFill>
            <p:spPr>
              <a:xfrm>
                <a:off x="3152775" y="5410200"/>
                <a:ext cx="962025" cy="819151"/>
              </a:xfrm>
              <a:prstGeom prst="rect">
                <a:avLst/>
              </a:prstGeom>
              <a:noFill/>
              <a:ln>
                <a:noFill/>
              </a:ln>
            </p:spPr>
          </p:pic>
        </p:grpSp>
        <p:cxnSp>
          <p:nvCxnSpPr>
            <p:cNvPr id="356" name="Google Shape;356;p56"/>
            <p:cNvCxnSpPr/>
            <p:nvPr/>
          </p:nvCxnSpPr>
          <p:spPr>
            <a:xfrm>
              <a:off x="1447800" y="5334000"/>
              <a:ext cx="4038600" cy="0"/>
            </a:xfrm>
            <a:prstGeom prst="straightConnector1">
              <a:avLst/>
            </a:prstGeom>
            <a:noFill/>
            <a:ln cap="flat" cmpd="sng" w="9525">
              <a:solidFill>
                <a:schemeClr val="dk1"/>
              </a:solidFill>
              <a:prstDash val="solid"/>
              <a:round/>
              <a:headEnd len="sm" w="sm" type="none"/>
              <a:tailEnd len="sm" w="sm" type="none"/>
            </a:ln>
          </p:spPr>
        </p:cxnSp>
        <p:cxnSp>
          <p:nvCxnSpPr>
            <p:cNvPr id="357" name="Google Shape;357;p56"/>
            <p:cNvCxnSpPr/>
            <p:nvPr/>
          </p:nvCxnSpPr>
          <p:spPr>
            <a:xfrm rot="5400000">
              <a:off x="2209800" y="5562600"/>
              <a:ext cx="457200" cy="0"/>
            </a:xfrm>
            <a:prstGeom prst="straightConnector1">
              <a:avLst/>
            </a:prstGeom>
            <a:noFill/>
            <a:ln cap="flat" cmpd="sng" w="9525">
              <a:solidFill>
                <a:schemeClr val="dk1"/>
              </a:solidFill>
              <a:prstDash val="solid"/>
              <a:round/>
              <a:headEnd len="sm" w="sm" type="none"/>
              <a:tailEnd len="sm" w="sm" type="none"/>
            </a:ln>
          </p:spPr>
        </p:cxnSp>
        <p:cxnSp>
          <p:nvCxnSpPr>
            <p:cNvPr id="358" name="Google Shape;358;p56"/>
            <p:cNvCxnSpPr/>
            <p:nvPr/>
          </p:nvCxnSpPr>
          <p:spPr>
            <a:xfrm rot="5400000">
              <a:off x="1219200" y="5562600"/>
              <a:ext cx="457200" cy="0"/>
            </a:xfrm>
            <a:prstGeom prst="straightConnector1">
              <a:avLst/>
            </a:prstGeom>
            <a:noFill/>
            <a:ln cap="flat" cmpd="sng" w="9525">
              <a:solidFill>
                <a:schemeClr val="dk1"/>
              </a:solidFill>
              <a:prstDash val="solid"/>
              <a:round/>
              <a:headEnd len="sm" w="sm" type="none"/>
              <a:tailEnd len="sm" w="sm" type="none"/>
            </a:ln>
          </p:spPr>
        </p:cxnSp>
        <p:cxnSp>
          <p:nvCxnSpPr>
            <p:cNvPr id="359" name="Google Shape;359;p56"/>
            <p:cNvCxnSpPr/>
            <p:nvPr/>
          </p:nvCxnSpPr>
          <p:spPr>
            <a:xfrm rot="5400000">
              <a:off x="3352800" y="5562600"/>
              <a:ext cx="457200" cy="0"/>
            </a:xfrm>
            <a:prstGeom prst="straightConnector1">
              <a:avLst/>
            </a:prstGeom>
            <a:noFill/>
            <a:ln cap="flat" cmpd="sng" w="9525">
              <a:solidFill>
                <a:schemeClr val="dk1"/>
              </a:solidFill>
              <a:prstDash val="solid"/>
              <a:round/>
              <a:headEnd len="sm" w="sm" type="none"/>
              <a:tailEnd len="sm" w="sm" type="none"/>
            </a:ln>
          </p:spPr>
        </p:cxnSp>
        <p:pic>
          <p:nvPicPr>
            <p:cNvPr descr="http://www.dbgweb.com/CompaqAlphaServerES45Pedestal.JPG" id="360" name="Google Shape;360;p56"/>
            <p:cNvPicPr preferRelativeResize="0"/>
            <p:nvPr/>
          </p:nvPicPr>
          <p:blipFill rotWithShape="1">
            <a:blip r:embed="rId4">
              <a:alphaModFix/>
            </a:blip>
            <a:srcRect b="0" l="0" r="0" t="0"/>
            <a:stretch/>
          </p:blipFill>
          <p:spPr>
            <a:xfrm>
              <a:off x="4876800" y="4724400"/>
              <a:ext cx="1584832" cy="1905000"/>
            </a:xfrm>
            <a:prstGeom prst="rect">
              <a:avLst/>
            </a:prstGeom>
            <a:noFill/>
            <a:ln>
              <a:noFill/>
            </a:ln>
          </p:spPr>
        </p:pic>
      </p:grpSp>
      <p:pic>
        <p:nvPicPr>
          <p:cNvPr descr="http://www.lisisoft.com/imglisi/9/Utilities/152476htn5250.gif" id="361" name="Google Shape;361;p56"/>
          <p:cNvPicPr preferRelativeResize="0"/>
          <p:nvPr/>
        </p:nvPicPr>
        <p:blipFill rotWithShape="1">
          <a:blip r:embed="rId5">
            <a:alphaModFix/>
          </a:blip>
          <a:srcRect b="0" l="0" r="0" t="0"/>
          <a:stretch/>
        </p:blipFill>
        <p:spPr>
          <a:xfrm>
            <a:off x="430183" y="3488853"/>
            <a:ext cx="3368675" cy="2438400"/>
          </a:xfrm>
          <a:prstGeom prst="rect">
            <a:avLst/>
          </a:prstGeom>
          <a:noFill/>
          <a:ln>
            <a:noFill/>
          </a:ln>
        </p:spPr>
      </p:pic>
      <p:sp>
        <p:nvSpPr>
          <p:cNvPr id="362" name="Google Shape;362;p56"/>
          <p:cNvSpPr txBox="1"/>
          <p:nvPr/>
        </p:nvSpPr>
        <p:spPr>
          <a:xfrm>
            <a:off x="107950" y="984892"/>
            <a:ext cx="8458200" cy="26670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Faster turnaround than batch systems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Slower than real-time systems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Introduced to provide fast turnaround when debugging programs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1" lang="en-US" sz="2400" u="none" cap="none" strike="noStrike">
                <a:solidFill>
                  <a:srgbClr val="222222"/>
                </a:solidFill>
                <a:latin typeface="Arial"/>
                <a:ea typeface="Arial"/>
                <a:cs typeface="Arial"/>
                <a:sym typeface="Arial"/>
              </a:rPr>
              <a:t>Time-sharing</a:t>
            </a:r>
            <a:r>
              <a:rPr b="0" i="0" lang="en-US" sz="2400" u="none" cap="none" strike="noStrike">
                <a:solidFill>
                  <a:srgbClr val="222222"/>
                </a:solidFill>
                <a:latin typeface="Arial"/>
                <a:ea typeface="Arial"/>
                <a:cs typeface="Arial"/>
                <a:sym typeface="Arial"/>
              </a:rPr>
              <a:t> software developed for operating system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7"/>
          <p:cNvSpPr txBox="1"/>
          <p:nvPr>
            <p:ph idx="1" type="body"/>
          </p:nvPr>
        </p:nvSpPr>
        <p:spPr>
          <a:xfrm>
            <a:off x="435769" y="1031875"/>
            <a:ext cx="85788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222222"/>
              </a:buClr>
              <a:buSzPts val="2200"/>
              <a:buFont typeface="Arial"/>
              <a:buChar char="•"/>
            </a:pPr>
            <a:r>
              <a:rPr lang="en-US"/>
              <a:t>IBM </a:t>
            </a:r>
            <a:endParaRPr/>
          </a:p>
          <a:p>
            <a:pPr indent="-342900" lvl="0" marL="342900" rtl="0" algn="just">
              <a:lnSpc>
                <a:spcPct val="100000"/>
              </a:lnSpc>
              <a:spcBef>
                <a:spcPts val="440"/>
              </a:spcBef>
              <a:spcAft>
                <a:spcPts val="0"/>
              </a:spcAft>
              <a:buClr>
                <a:srgbClr val="222222"/>
              </a:buClr>
              <a:buSzPts val="2200"/>
              <a:buFont typeface="Arial"/>
              <a:buNone/>
            </a:pPr>
            <a:r>
              <a:rPr lang="en-US"/>
              <a:t>    Mainframe</a:t>
            </a:r>
            <a:endParaRPr/>
          </a:p>
        </p:txBody>
      </p:sp>
      <p:sp>
        <p:nvSpPr>
          <p:cNvPr id="368" name="Google Shape;368;p57"/>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descr="3084 Processor Complex" id="369" name="Google Shape;369;p57"/>
          <p:cNvPicPr preferRelativeResize="0"/>
          <p:nvPr/>
        </p:nvPicPr>
        <p:blipFill rotWithShape="1">
          <a:blip r:embed="rId3">
            <a:alphaModFix/>
          </a:blip>
          <a:srcRect b="0" l="0" r="0" t="0"/>
          <a:stretch/>
        </p:blipFill>
        <p:spPr>
          <a:xfrm>
            <a:off x="2973388" y="1038225"/>
            <a:ext cx="5900738" cy="2743200"/>
          </a:xfrm>
          <a:prstGeom prst="rect">
            <a:avLst/>
          </a:prstGeom>
          <a:noFill/>
          <a:ln>
            <a:noFill/>
          </a:ln>
        </p:spPr>
      </p:pic>
      <p:pic>
        <p:nvPicPr>
          <p:cNvPr descr="http://apps1.eere.energy.gov/news/images/07_08_08_ibm_servers.jpg" id="370" name="Google Shape;370;p57"/>
          <p:cNvPicPr preferRelativeResize="0"/>
          <p:nvPr/>
        </p:nvPicPr>
        <p:blipFill rotWithShape="1">
          <a:blip r:embed="rId4">
            <a:alphaModFix/>
          </a:blip>
          <a:srcRect b="0" l="0" r="0" t="0"/>
          <a:stretch/>
        </p:blipFill>
        <p:spPr>
          <a:xfrm>
            <a:off x="2973388" y="3790132"/>
            <a:ext cx="3503612" cy="2438400"/>
          </a:xfrm>
          <a:prstGeom prst="rect">
            <a:avLst/>
          </a:prstGeom>
          <a:noFill/>
          <a:ln>
            <a:noFill/>
          </a:ln>
        </p:spPr>
      </p:pic>
      <p:sp>
        <p:nvSpPr>
          <p:cNvPr id="371" name="Google Shape;371;p57"/>
          <p:cNvSpPr txBox="1"/>
          <p:nvPr/>
        </p:nvSpPr>
        <p:spPr>
          <a:xfrm>
            <a:off x="6934200" y="4273549"/>
            <a:ext cx="1905000"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Another data center worker is preparing to remove the excess servers.</a:t>
            </a:r>
            <a:endParaRPr b="0" i="0" sz="1400" u="none" cap="none" strike="noStrike">
              <a:solidFill>
                <a:srgbClr val="000000"/>
              </a:solidFill>
              <a:latin typeface="Arial"/>
              <a:ea typeface="Arial"/>
              <a:cs typeface="Arial"/>
              <a:sym typeface="Arial"/>
            </a:endParaRPr>
          </a:p>
        </p:txBody>
      </p:sp>
      <p:sp>
        <p:nvSpPr>
          <p:cNvPr id="372" name="Google Shape;372;p57"/>
          <p:cNvSpPr/>
          <p:nvPr/>
        </p:nvSpPr>
        <p:spPr>
          <a:xfrm>
            <a:off x="6324600" y="5257800"/>
            <a:ext cx="609600" cy="304800"/>
          </a:xfrm>
          <a:prstGeom prst="rightArrow">
            <a:avLst>
              <a:gd fmla="val 50000" name="adj1"/>
              <a:gd fmla="val 50000" name="adj2"/>
            </a:avLst>
          </a:pr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373" name="Google Shape;373;p57"/>
          <p:cNvSpPr txBox="1"/>
          <p:nvPr/>
        </p:nvSpPr>
        <p:spPr>
          <a:xfrm>
            <a:off x="435769" y="3781425"/>
            <a:ext cx="2057400" cy="23082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IBM Engineer Ed Horton records data from an IBM mainframe computer, which will replace many of the servers in the data center that stretches out behind him. </a:t>
            </a:r>
            <a:endParaRPr b="0" i="0" sz="1400" u="none" cap="none" strike="noStrike">
              <a:solidFill>
                <a:srgbClr val="000000"/>
              </a:solidFill>
              <a:latin typeface="Arial"/>
              <a:ea typeface="Arial"/>
              <a:cs typeface="Arial"/>
              <a:sym typeface="Arial"/>
            </a:endParaRPr>
          </a:p>
        </p:txBody>
      </p:sp>
      <p:sp>
        <p:nvSpPr>
          <p:cNvPr id="374" name="Google Shape;374;p57"/>
          <p:cNvSpPr/>
          <p:nvPr/>
        </p:nvSpPr>
        <p:spPr>
          <a:xfrm rot="10800000">
            <a:off x="2438400" y="5257800"/>
            <a:ext cx="609600" cy="304800"/>
          </a:xfrm>
          <a:prstGeom prst="rightArrow">
            <a:avLst>
              <a:gd fmla="val 50000" name="adj1"/>
              <a:gd fmla="val 50000" name="adj2"/>
            </a:avLst>
          </a:pr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2000"/>
              <a:buFont typeface="Arial"/>
              <a:buNone/>
            </a:pPr>
            <a:r>
              <a:t/>
            </a:r>
            <a:endParaRPr b="0" i="0" sz="20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58"/>
          <p:cNvPicPr preferRelativeResize="0"/>
          <p:nvPr/>
        </p:nvPicPr>
        <p:blipFill rotWithShape="1">
          <a:blip r:embed="rId3">
            <a:alphaModFix/>
          </a:blip>
          <a:srcRect b="0" l="0" r="0" t="0"/>
          <a:stretch/>
        </p:blipFill>
        <p:spPr>
          <a:xfrm>
            <a:off x="5867400" y="4195763"/>
            <a:ext cx="3048000" cy="2205037"/>
          </a:xfrm>
          <a:prstGeom prst="rect">
            <a:avLst/>
          </a:prstGeom>
          <a:noFill/>
          <a:ln>
            <a:noFill/>
          </a:ln>
        </p:spPr>
      </p:pic>
      <p:sp>
        <p:nvSpPr>
          <p:cNvPr id="380" name="Google Shape;380;p58"/>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Real-time systems (RTOS)</a:t>
            </a:r>
            <a:endParaRPr/>
          </a:p>
        </p:txBody>
      </p:sp>
      <p:sp>
        <p:nvSpPr>
          <p:cNvPr id="381" name="Google Shape;381;p58"/>
          <p:cNvSpPr txBox="1"/>
          <p:nvPr>
            <p:ph idx="1" type="body"/>
          </p:nvPr>
        </p:nvSpPr>
        <p:spPr>
          <a:xfrm>
            <a:off x="457200" y="1233488"/>
            <a:ext cx="5985803" cy="4530725"/>
          </a:xfrm>
          <a:prstGeom prst="rect">
            <a:avLst/>
          </a:prstGeom>
          <a:noFill/>
          <a:ln>
            <a:noFill/>
          </a:ln>
        </p:spPr>
        <p:txBody>
          <a:bodyPr anchorCtr="0" anchor="t" bIns="45700" lIns="91425" spcFirstLastPara="1" rIns="91425" wrap="square" tIns="45700">
            <a:noAutofit/>
          </a:bodyPr>
          <a:lstStyle/>
          <a:p>
            <a:pPr indent="-285750" lvl="1" marL="742950" rtl="0" algn="just">
              <a:lnSpc>
                <a:spcPct val="100000"/>
              </a:lnSpc>
              <a:spcBef>
                <a:spcPts val="440"/>
              </a:spcBef>
              <a:spcAft>
                <a:spcPts val="0"/>
              </a:spcAft>
              <a:buClr>
                <a:srgbClr val="222222"/>
              </a:buClr>
              <a:buSzPts val="2200"/>
              <a:buFont typeface="Arial"/>
              <a:buChar char="–"/>
            </a:pPr>
            <a:r>
              <a:rPr lang="en-US"/>
              <a:t>Reliability is key</a:t>
            </a:r>
            <a:endParaRPr/>
          </a:p>
          <a:p>
            <a:pPr indent="-285750" lvl="1" marL="742950" rtl="0" algn="just">
              <a:lnSpc>
                <a:spcPct val="100000"/>
              </a:lnSpc>
              <a:spcBef>
                <a:spcPts val="440"/>
              </a:spcBef>
              <a:spcAft>
                <a:spcPts val="0"/>
              </a:spcAft>
              <a:buClr>
                <a:srgbClr val="222222"/>
              </a:buClr>
              <a:buSzPts val="2200"/>
              <a:buFont typeface="Arial"/>
              <a:buChar char="–"/>
            </a:pPr>
            <a:r>
              <a:rPr lang="en-US"/>
              <a:t>Fast and time limit sensitive</a:t>
            </a:r>
            <a:endParaRPr/>
          </a:p>
          <a:p>
            <a:pPr indent="-285750" lvl="1" marL="742950" rtl="0" algn="just">
              <a:lnSpc>
                <a:spcPct val="100000"/>
              </a:lnSpc>
              <a:spcBef>
                <a:spcPts val="440"/>
              </a:spcBef>
              <a:spcAft>
                <a:spcPts val="0"/>
              </a:spcAft>
              <a:buClr>
                <a:srgbClr val="222222"/>
              </a:buClr>
              <a:buSzPts val="2200"/>
              <a:buFont typeface="Arial"/>
              <a:buChar char="–"/>
            </a:pPr>
            <a:r>
              <a:rPr lang="en-US"/>
              <a:t>Used in time-critical environments</a:t>
            </a:r>
            <a:endParaRPr/>
          </a:p>
          <a:p>
            <a:pPr indent="-228600" lvl="2" marL="1143000" rtl="0" algn="just">
              <a:lnSpc>
                <a:spcPct val="100000"/>
              </a:lnSpc>
              <a:spcBef>
                <a:spcPts val="400"/>
              </a:spcBef>
              <a:spcAft>
                <a:spcPts val="0"/>
              </a:spcAft>
              <a:buClr>
                <a:srgbClr val="222222"/>
              </a:buClr>
              <a:buSzPts val="2000"/>
              <a:buFont typeface="Arial"/>
              <a:buChar char="•"/>
            </a:pPr>
            <a:r>
              <a:rPr lang="en-US"/>
              <a:t>Space flights, airport traffic control, high-speed aircraft</a:t>
            </a:r>
            <a:endParaRPr/>
          </a:p>
          <a:p>
            <a:pPr indent="-228600" lvl="2" marL="1143000" rtl="0" algn="just">
              <a:lnSpc>
                <a:spcPct val="100000"/>
              </a:lnSpc>
              <a:spcBef>
                <a:spcPts val="400"/>
              </a:spcBef>
              <a:spcAft>
                <a:spcPts val="0"/>
              </a:spcAft>
              <a:buClr>
                <a:srgbClr val="222222"/>
              </a:buClr>
              <a:buSzPts val="2000"/>
              <a:buFont typeface="Arial"/>
              <a:buChar char="•"/>
            </a:pPr>
            <a:r>
              <a:rPr lang="en-US"/>
              <a:t>Industrial processes</a:t>
            </a:r>
            <a:endParaRPr/>
          </a:p>
          <a:p>
            <a:pPr indent="-228600" lvl="2" marL="1143000" rtl="0" algn="just">
              <a:lnSpc>
                <a:spcPct val="100000"/>
              </a:lnSpc>
              <a:spcBef>
                <a:spcPts val="400"/>
              </a:spcBef>
              <a:spcAft>
                <a:spcPts val="0"/>
              </a:spcAft>
              <a:buClr>
                <a:srgbClr val="222222"/>
              </a:buClr>
              <a:buSzPts val="2000"/>
              <a:buFont typeface="Arial"/>
              <a:buChar char="•"/>
            </a:pPr>
            <a:r>
              <a:rPr lang="en-US"/>
              <a:t>Sophisticated medical equipment</a:t>
            </a:r>
            <a:endParaRPr/>
          </a:p>
          <a:p>
            <a:pPr indent="-228600" lvl="2" marL="1143000" rtl="0" algn="just">
              <a:lnSpc>
                <a:spcPct val="100000"/>
              </a:lnSpc>
              <a:spcBef>
                <a:spcPts val="400"/>
              </a:spcBef>
              <a:spcAft>
                <a:spcPts val="0"/>
              </a:spcAft>
              <a:buClr>
                <a:srgbClr val="222222"/>
              </a:buClr>
              <a:buSzPts val="2000"/>
              <a:buFont typeface="Arial"/>
              <a:buChar char="•"/>
            </a:pPr>
            <a:r>
              <a:rPr lang="en-US"/>
              <a:t>Distribution of electricity</a:t>
            </a:r>
            <a:endParaRPr/>
          </a:p>
          <a:p>
            <a:pPr indent="-228600" lvl="2" marL="1143000" rtl="0" algn="just">
              <a:lnSpc>
                <a:spcPct val="100000"/>
              </a:lnSpc>
              <a:spcBef>
                <a:spcPts val="400"/>
              </a:spcBef>
              <a:spcAft>
                <a:spcPts val="0"/>
              </a:spcAft>
              <a:buClr>
                <a:srgbClr val="222222"/>
              </a:buClr>
              <a:buSzPts val="2000"/>
              <a:buFont typeface="Arial"/>
              <a:buChar char="•"/>
            </a:pPr>
            <a:r>
              <a:rPr lang="en-US"/>
              <a:t>Telephone switching</a:t>
            </a:r>
            <a:endParaRPr/>
          </a:p>
          <a:p>
            <a:pPr indent="-285750" lvl="1" marL="742950" rtl="0" algn="just">
              <a:lnSpc>
                <a:spcPct val="100000"/>
              </a:lnSpc>
              <a:spcBef>
                <a:spcPts val="440"/>
              </a:spcBef>
              <a:spcAft>
                <a:spcPts val="0"/>
              </a:spcAft>
              <a:buClr>
                <a:srgbClr val="222222"/>
              </a:buClr>
              <a:buSzPts val="2200"/>
              <a:buFont typeface="Arial"/>
              <a:buChar char="–"/>
            </a:pPr>
            <a:r>
              <a:rPr lang="en-US"/>
              <a:t>Must be 100% responsive, </a:t>
            </a:r>
            <a:endParaRPr/>
          </a:p>
          <a:p>
            <a:pPr indent="0" lvl="1" marL="457200" rtl="0" algn="just">
              <a:lnSpc>
                <a:spcPct val="100000"/>
              </a:lnSpc>
              <a:spcBef>
                <a:spcPts val="440"/>
              </a:spcBef>
              <a:spcAft>
                <a:spcPts val="0"/>
              </a:spcAft>
              <a:buClr>
                <a:srgbClr val="222222"/>
              </a:buClr>
              <a:buSzPts val="2200"/>
              <a:buFont typeface="Arial"/>
              <a:buNone/>
            </a:pPr>
            <a:r>
              <a:rPr lang="en-US"/>
              <a:t>   100% of the time</a:t>
            </a:r>
            <a:endParaRPr/>
          </a:p>
        </p:txBody>
      </p:sp>
      <p:sp>
        <p:nvSpPr>
          <p:cNvPr id="382" name="Google Shape;382;p58"/>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pic>
        <p:nvPicPr>
          <p:cNvPr descr="http://t3.gstatic.com/images?q=tbn:ANd9GcTB9RppOeKQCiGhxqbrvc0hpQHZXaDWocjiDVL7H2qYrwjnlrM8Ig" id="383" name="Google Shape;383;p58"/>
          <p:cNvPicPr preferRelativeResize="0"/>
          <p:nvPr/>
        </p:nvPicPr>
        <p:blipFill rotWithShape="1">
          <a:blip r:embed="rId4">
            <a:alphaModFix/>
          </a:blip>
          <a:srcRect b="0" l="0" r="0" t="0"/>
          <a:stretch/>
        </p:blipFill>
        <p:spPr>
          <a:xfrm>
            <a:off x="6694488" y="924956"/>
            <a:ext cx="2220912" cy="2438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Hybrid systems</a:t>
            </a:r>
            <a:endParaRPr/>
          </a:p>
        </p:txBody>
      </p:sp>
      <p:sp>
        <p:nvSpPr>
          <p:cNvPr id="389" name="Google Shape;389;p60"/>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p>
            <a:pPr indent="-285750" lvl="1" marL="742950" rtl="0" algn="just">
              <a:lnSpc>
                <a:spcPct val="90000"/>
              </a:lnSpc>
              <a:spcBef>
                <a:spcPts val="440"/>
              </a:spcBef>
              <a:spcAft>
                <a:spcPts val="0"/>
              </a:spcAft>
              <a:buClr>
                <a:srgbClr val="222222"/>
              </a:buClr>
              <a:buSzPts val="2200"/>
              <a:buFont typeface="Arial"/>
              <a:buChar char="–"/>
            </a:pPr>
            <a:r>
              <a:rPr lang="en-US"/>
              <a:t>Combination of batch and interactive</a:t>
            </a:r>
            <a:endParaRPr/>
          </a:p>
          <a:p>
            <a:pPr indent="-222250" lvl="1" marL="742950" rtl="0" algn="just">
              <a:lnSpc>
                <a:spcPct val="90000"/>
              </a:lnSpc>
              <a:spcBef>
                <a:spcPts val="200"/>
              </a:spcBef>
              <a:spcAft>
                <a:spcPts val="0"/>
              </a:spcAft>
              <a:buClr>
                <a:srgbClr val="222222"/>
              </a:buClr>
              <a:buSzPts val="1000"/>
              <a:buFont typeface="Arial"/>
              <a:buNone/>
            </a:pPr>
            <a:r>
              <a:t/>
            </a:r>
            <a:endParaRPr sz="1000"/>
          </a:p>
          <a:p>
            <a:pPr indent="-285750" lvl="1" marL="742950" rtl="0" algn="just">
              <a:lnSpc>
                <a:spcPct val="90000"/>
              </a:lnSpc>
              <a:spcBef>
                <a:spcPts val="440"/>
              </a:spcBef>
              <a:spcAft>
                <a:spcPts val="0"/>
              </a:spcAft>
              <a:buClr>
                <a:srgbClr val="222222"/>
              </a:buClr>
              <a:buSzPts val="2200"/>
              <a:buFont typeface="Arial"/>
              <a:buChar char="–"/>
            </a:pPr>
            <a:r>
              <a:rPr lang="en-US"/>
              <a:t>Appear to be interactive</a:t>
            </a:r>
            <a:endParaRPr/>
          </a:p>
          <a:p>
            <a:pPr indent="-228600" lvl="2" marL="1143000" rtl="0" algn="just">
              <a:lnSpc>
                <a:spcPct val="90000"/>
              </a:lnSpc>
              <a:spcBef>
                <a:spcPts val="400"/>
              </a:spcBef>
              <a:spcAft>
                <a:spcPts val="0"/>
              </a:spcAft>
              <a:buClr>
                <a:srgbClr val="222222"/>
              </a:buClr>
              <a:buSzPts val="2000"/>
              <a:buFont typeface="Arial"/>
              <a:buChar char="•"/>
            </a:pPr>
            <a:r>
              <a:rPr lang="en-US"/>
              <a:t>Users access system, fast responses</a:t>
            </a:r>
            <a:endParaRPr/>
          </a:p>
          <a:p>
            <a:pPr indent="-101600" lvl="2" marL="1143000" rtl="0" algn="just">
              <a:lnSpc>
                <a:spcPct val="90000"/>
              </a:lnSpc>
              <a:spcBef>
                <a:spcPts val="400"/>
              </a:spcBef>
              <a:spcAft>
                <a:spcPts val="0"/>
              </a:spcAft>
              <a:buClr>
                <a:srgbClr val="222222"/>
              </a:buClr>
              <a:buSzPts val="20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Accept and run batch programs in the background</a:t>
            </a:r>
            <a:endParaRPr/>
          </a:p>
          <a:p>
            <a:pPr indent="-228600" lvl="2" marL="1143000" rtl="0" algn="just">
              <a:lnSpc>
                <a:spcPct val="90000"/>
              </a:lnSpc>
              <a:spcBef>
                <a:spcPts val="400"/>
              </a:spcBef>
              <a:spcAft>
                <a:spcPts val="0"/>
              </a:spcAft>
              <a:buClr>
                <a:srgbClr val="222222"/>
              </a:buClr>
              <a:buSzPts val="2000"/>
              <a:buFont typeface="Arial"/>
              <a:buChar char="•"/>
            </a:pPr>
            <a:r>
              <a:rPr lang="en-US"/>
              <a:t>Condition: when interactive load is light</a:t>
            </a:r>
            <a:endParaRPr/>
          </a:p>
          <a:p>
            <a:pPr indent="-101600" lvl="2" marL="1143000" rtl="0" algn="just">
              <a:lnSpc>
                <a:spcPct val="90000"/>
              </a:lnSpc>
              <a:spcBef>
                <a:spcPts val="400"/>
              </a:spcBef>
              <a:spcAft>
                <a:spcPts val="0"/>
              </a:spcAft>
              <a:buClr>
                <a:srgbClr val="222222"/>
              </a:buClr>
              <a:buSzPts val="20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Take advantage from free time between high-low demand usage</a:t>
            </a:r>
            <a:endParaRPr/>
          </a:p>
          <a:p>
            <a:pPr indent="-146050" lvl="1" marL="742950" rtl="0" algn="just">
              <a:lnSpc>
                <a:spcPct val="90000"/>
              </a:lnSpc>
              <a:spcBef>
                <a:spcPts val="440"/>
              </a:spcBef>
              <a:spcAft>
                <a:spcPts val="0"/>
              </a:spcAft>
              <a:buClr>
                <a:srgbClr val="222222"/>
              </a:buClr>
              <a:buSzPts val="22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Many large computer system are hybrids</a:t>
            </a:r>
            <a:endParaRPr/>
          </a:p>
          <a:p>
            <a:pPr indent="-203200" lvl="0" marL="342900" rtl="0" algn="just">
              <a:lnSpc>
                <a:spcPct val="90000"/>
              </a:lnSpc>
              <a:spcBef>
                <a:spcPts val="440"/>
              </a:spcBef>
              <a:spcAft>
                <a:spcPts val="0"/>
              </a:spcAft>
              <a:buClr>
                <a:srgbClr val="222222"/>
              </a:buClr>
              <a:buSzPts val="2200"/>
              <a:buFont typeface="Arial"/>
              <a:buNone/>
            </a:pPr>
            <a:r>
              <a:t/>
            </a:r>
            <a:endParaRPr b="1"/>
          </a:p>
        </p:txBody>
      </p:sp>
      <p:sp>
        <p:nvSpPr>
          <p:cNvPr id="390" name="Google Shape;390;p60"/>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1"/>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070C0"/>
                </a:solidFill>
              </a:rPr>
              <a:t>Embedded systems</a:t>
            </a:r>
            <a:endParaRPr/>
          </a:p>
        </p:txBody>
      </p:sp>
      <p:sp>
        <p:nvSpPr>
          <p:cNvPr id="396" name="Google Shape;396;p61"/>
          <p:cNvSpPr txBox="1"/>
          <p:nvPr>
            <p:ph idx="1" type="body"/>
          </p:nvPr>
        </p:nvSpPr>
        <p:spPr>
          <a:xfrm>
            <a:off x="457200" y="1233488"/>
            <a:ext cx="85788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rgbClr val="0070C0"/>
              </a:buClr>
              <a:buSzPts val="22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Computers placed inside other products</a:t>
            </a:r>
            <a:endParaRPr/>
          </a:p>
          <a:p>
            <a:pPr indent="-146050" lvl="1" marL="742950" rtl="0" algn="just">
              <a:lnSpc>
                <a:spcPct val="50000"/>
              </a:lnSpc>
              <a:spcBef>
                <a:spcPts val="440"/>
              </a:spcBef>
              <a:spcAft>
                <a:spcPts val="0"/>
              </a:spcAft>
              <a:buClr>
                <a:srgbClr val="222222"/>
              </a:buClr>
              <a:buSzPts val="22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Adds features and capabilities</a:t>
            </a:r>
            <a:endParaRPr/>
          </a:p>
          <a:p>
            <a:pPr indent="-146050" lvl="1" marL="742950" rtl="0" algn="just">
              <a:lnSpc>
                <a:spcPct val="50000"/>
              </a:lnSpc>
              <a:spcBef>
                <a:spcPts val="440"/>
              </a:spcBef>
              <a:spcAft>
                <a:spcPts val="0"/>
              </a:spcAft>
              <a:buClr>
                <a:srgbClr val="222222"/>
              </a:buClr>
              <a:buSzPts val="2200"/>
              <a:buFont typeface="Arial"/>
              <a:buNone/>
            </a:pPr>
            <a:r>
              <a:t/>
            </a:r>
            <a:endParaRPr/>
          </a:p>
          <a:p>
            <a:pPr indent="-285750" lvl="1" marL="742950" rtl="0" algn="just">
              <a:lnSpc>
                <a:spcPct val="90000"/>
              </a:lnSpc>
              <a:spcBef>
                <a:spcPts val="440"/>
              </a:spcBef>
              <a:spcAft>
                <a:spcPts val="0"/>
              </a:spcAft>
              <a:buClr>
                <a:srgbClr val="222222"/>
              </a:buClr>
              <a:buSzPts val="2200"/>
              <a:buFont typeface="Arial"/>
              <a:buChar char="–"/>
            </a:pPr>
            <a:r>
              <a:rPr lang="en-US"/>
              <a:t>Operating system requirements</a:t>
            </a:r>
            <a:endParaRPr/>
          </a:p>
          <a:p>
            <a:pPr indent="-228600" lvl="2" marL="1143000" rtl="0" algn="just">
              <a:lnSpc>
                <a:spcPct val="90000"/>
              </a:lnSpc>
              <a:spcBef>
                <a:spcPts val="400"/>
              </a:spcBef>
              <a:spcAft>
                <a:spcPts val="0"/>
              </a:spcAft>
              <a:buClr>
                <a:srgbClr val="222222"/>
              </a:buClr>
              <a:buSzPts val="2000"/>
              <a:buFont typeface="Arial"/>
              <a:buChar char="•"/>
            </a:pPr>
            <a:r>
              <a:rPr lang="en-US"/>
              <a:t>Perform specific set of programs</a:t>
            </a:r>
            <a:endParaRPr/>
          </a:p>
          <a:p>
            <a:pPr indent="-228600" lvl="2" marL="1143000" rtl="0" algn="just">
              <a:lnSpc>
                <a:spcPct val="90000"/>
              </a:lnSpc>
              <a:spcBef>
                <a:spcPts val="400"/>
              </a:spcBef>
              <a:spcAft>
                <a:spcPts val="0"/>
              </a:spcAft>
              <a:buClr>
                <a:srgbClr val="222222"/>
              </a:buClr>
              <a:buSzPts val="2000"/>
              <a:buFont typeface="Arial"/>
              <a:buChar char="•"/>
            </a:pPr>
            <a:r>
              <a:rPr lang="en-US"/>
              <a:t>Not interchangeable among systems</a:t>
            </a:r>
            <a:endParaRPr/>
          </a:p>
          <a:p>
            <a:pPr indent="-228600" lvl="2" marL="1143000" rtl="0" algn="just">
              <a:lnSpc>
                <a:spcPct val="90000"/>
              </a:lnSpc>
              <a:spcBef>
                <a:spcPts val="400"/>
              </a:spcBef>
              <a:spcAft>
                <a:spcPts val="0"/>
              </a:spcAft>
              <a:buClr>
                <a:srgbClr val="222222"/>
              </a:buClr>
              <a:buSzPts val="2000"/>
              <a:buFont typeface="Arial"/>
              <a:buChar char="•"/>
            </a:pPr>
            <a:r>
              <a:rPr lang="en-US"/>
              <a:t>Small kernel and flexible function capabilities</a:t>
            </a:r>
            <a:endParaRPr/>
          </a:p>
          <a:p>
            <a:pPr indent="-146050" lvl="1" marL="742950" rtl="0" algn="just">
              <a:lnSpc>
                <a:spcPct val="90000"/>
              </a:lnSpc>
              <a:spcBef>
                <a:spcPts val="440"/>
              </a:spcBef>
              <a:spcAft>
                <a:spcPts val="0"/>
              </a:spcAft>
              <a:buClr>
                <a:srgbClr val="222222"/>
              </a:buClr>
              <a:buSzPts val="2200"/>
              <a:buFont typeface="Arial"/>
              <a:buNone/>
            </a:pPr>
            <a:r>
              <a:t/>
            </a:r>
            <a:endParaRPr/>
          </a:p>
        </p:txBody>
      </p:sp>
      <p:sp>
        <p:nvSpPr>
          <p:cNvPr id="397" name="Google Shape;397;p61"/>
          <p:cNvSpPr txBox="1"/>
          <p:nvPr>
            <p:ph idx="12" type="sldNum"/>
          </p:nvPr>
        </p:nvSpPr>
        <p:spPr>
          <a:xfrm>
            <a:off x="7086600" y="6477000"/>
            <a:ext cx="20574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none" cap="none" strike="noStrike">
                <a:solidFill>
                  <a:srgbClr val="FFFFFF"/>
                </a:solidFill>
                <a:latin typeface="Arial"/>
                <a:ea typeface="Arial"/>
                <a:cs typeface="Arial"/>
                <a:sym typeface="Arial"/>
              </a:rPr>
              <a:t>‹#›</a:t>
            </a:fld>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4"/>
          <p:cNvSpPr txBox="1"/>
          <p:nvPr>
            <p:ph idx="4294967295" type="body"/>
          </p:nvPr>
        </p:nvSpPr>
        <p:spPr>
          <a:xfrm>
            <a:off x="1098550" y="1198563"/>
            <a:ext cx="657225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Traditional Computing</a:t>
            </a:r>
            <a:endParaRPr/>
          </a:p>
          <a:p>
            <a:pPr indent="-342900" lvl="0" marL="342900" rtl="0" algn="just">
              <a:lnSpc>
                <a:spcPct val="100000"/>
              </a:lnSpc>
              <a:spcBef>
                <a:spcPts val="770"/>
              </a:spcBef>
              <a:spcAft>
                <a:spcPts val="0"/>
              </a:spcAft>
              <a:buSzPts val="1980"/>
              <a:buChar char="●"/>
            </a:pPr>
            <a:r>
              <a:rPr lang="en-US"/>
              <a:t>Mobile Computing</a:t>
            </a:r>
            <a:endParaRPr/>
          </a:p>
          <a:p>
            <a:pPr indent="-342900" lvl="0" marL="342900" rtl="0" algn="just">
              <a:lnSpc>
                <a:spcPct val="100000"/>
              </a:lnSpc>
              <a:spcBef>
                <a:spcPts val="770"/>
              </a:spcBef>
              <a:spcAft>
                <a:spcPts val="0"/>
              </a:spcAft>
              <a:buSzPts val="1980"/>
              <a:buChar char="●"/>
            </a:pPr>
            <a:r>
              <a:rPr lang="en-US"/>
              <a:t>Distributed Systems</a:t>
            </a:r>
            <a:endParaRPr/>
          </a:p>
          <a:p>
            <a:pPr indent="-342900" lvl="0" marL="342900" rtl="0" algn="just">
              <a:lnSpc>
                <a:spcPct val="100000"/>
              </a:lnSpc>
              <a:spcBef>
                <a:spcPts val="770"/>
              </a:spcBef>
              <a:spcAft>
                <a:spcPts val="0"/>
              </a:spcAft>
              <a:buSzPts val="1980"/>
              <a:buChar char="●"/>
            </a:pPr>
            <a:r>
              <a:rPr lang="en-US"/>
              <a:t>Virtualization</a:t>
            </a:r>
            <a:endParaRPr/>
          </a:p>
          <a:p>
            <a:pPr indent="-217170" lvl="0" marL="342900" rtl="0" algn="just">
              <a:lnSpc>
                <a:spcPct val="100000"/>
              </a:lnSpc>
              <a:spcBef>
                <a:spcPts val="770"/>
              </a:spcBef>
              <a:spcAft>
                <a:spcPts val="0"/>
              </a:spcAft>
              <a:buSzPts val="1980"/>
              <a:buNone/>
            </a:pPr>
            <a:r>
              <a:t/>
            </a:r>
            <a:endParaRPr/>
          </a:p>
        </p:txBody>
      </p:sp>
      <p:sp>
        <p:nvSpPr>
          <p:cNvPr id="403" name="Google Shape;403;p64"/>
          <p:cNvSpPr txBox="1"/>
          <p:nvPr/>
        </p:nvSpPr>
        <p:spPr>
          <a:xfrm>
            <a:off x="457200" y="277813"/>
            <a:ext cx="8229600" cy="5762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11. COMPUTING ENVIRONMENTS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4294967295" type="body"/>
          </p:nvPr>
        </p:nvSpPr>
        <p:spPr>
          <a:xfrm>
            <a:off x="539261" y="1198563"/>
            <a:ext cx="8053753"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Stand-alone general purpose machines</a:t>
            </a:r>
            <a:endParaRPr/>
          </a:p>
          <a:p>
            <a:pPr indent="-342900" lvl="0" marL="342900" rtl="0" algn="just">
              <a:lnSpc>
                <a:spcPct val="100000"/>
              </a:lnSpc>
              <a:spcBef>
                <a:spcPts val="770"/>
              </a:spcBef>
              <a:spcAft>
                <a:spcPts val="0"/>
              </a:spcAft>
              <a:buSzPts val="1980"/>
              <a:buChar char="●"/>
            </a:pPr>
            <a:r>
              <a:rPr lang="en-US"/>
              <a:t>But blurred as most systems interconnect with others (i.e., the Internet)</a:t>
            </a:r>
            <a:endParaRPr/>
          </a:p>
          <a:p>
            <a:pPr indent="-342900" lvl="0" marL="342900" rtl="0" algn="just">
              <a:lnSpc>
                <a:spcPct val="100000"/>
              </a:lnSpc>
              <a:spcBef>
                <a:spcPts val="770"/>
              </a:spcBef>
              <a:spcAft>
                <a:spcPts val="0"/>
              </a:spcAft>
              <a:buSzPts val="1980"/>
              <a:buChar char="●"/>
            </a:pPr>
            <a:r>
              <a:rPr b="1" lang="en-US">
                <a:solidFill>
                  <a:srgbClr val="3366FF"/>
                </a:solidFill>
              </a:rPr>
              <a:t>Portals</a:t>
            </a:r>
            <a:r>
              <a:rPr lang="en-US"/>
              <a:t> provide web access to internal systems</a:t>
            </a:r>
            <a:endParaRPr/>
          </a:p>
          <a:p>
            <a:pPr indent="-342900" lvl="0" marL="342900" rtl="0" algn="just">
              <a:lnSpc>
                <a:spcPct val="100000"/>
              </a:lnSpc>
              <a:spcBef>
                <a:spcPts val="770"/>
              </a:spcBef>
              <a:spcAft>
                <a:spcPts val="0"/>
              </a:spcAft>
              <a:buSzPts val="1980"/>
              <a:buChar char="●"/>
            </a:pPr>
            <a:r>
              <a:rPr b="1" lang="en-US">
                <a:solidFill>
                  <a:srgbClr val="3366FF"/>
                </a:solidFill>
              </a:rPr>
              <a:t>Network computers </a:t>
            </a:r>
            <a:r>
              <a:rPr lang="en-US"/>
              <a:t>(</a:t>
            </a:r>
            <a:r>
              <a:rPr b="1" lang="en-US">
                <a:solidFill>
                  <a:srgbClr val="3366FF"/>
                </a:solidFill>
              </a:rPr>
              <a:t>thin clients</a:t>
            </a:r>
            <a:r>
              <a:rPr lang="en-US"/>
              <a:t>) are like Web terminals</a:t>
            </a:r>
            <a:endParaRPr/>
          </a:p>
          <a:p>
            <a:pPr indent="-342900" lvl="0" marL="342900" rtl="0" algn="just">
              <a:lnSpc>
                <a:spcPct val="100000"/>
              </a:lnSpc>
              <a:spcBef>
                <a:spcPts val="770"/>
              </a:spcBef>
              <a:spcAft>
                <a:spcPts val="0"/>
              </a:spcAft>
              <a:buSzPts val="1980"/>
              <a:buChar char="●"/>
            </a:pPr>
            <a:r>
              <a:rPr lang="en-US"/>
              <a:t>Mobile computers interconnect via </a:t>
            </a:r>
            <a:r>
              <a:rPr b="1" lang="en-US">
                <a:solidFill>
                  <a:srgbClr val="3366FF"/>
                </a:solidFill>
              </a:rPr>
              <a:t>wireless networks</a:t>
            </a:r>
            <a:endParaRPr/>
          </a:p>
          <a:p>
            <a:pPr indent="-342900" lvl="0" marL="342900" rtl="0" algn="just">
              <a:lnSpc>
                <a:spcPct val="100000"/>
              </a:lnSpc>
              <a:spcBef>
                <a:spcPts val="770"/>
              </a:spcBef>
              <a:spcAft>
                <a:spcPts val="0"/>
              </a:spcAft>
              <a:buSzPts val="1980"/>
              <a:buChar char="●"/>
            </a:pPr>
            <a:r>
              <a:rPr lang="en-US"/>
              <a:t>Networking becoming ubiquitous – even home systems use </a:t>
            </a:r>
            <a:r>
              <a:rPr b="1" lang="en-US">
                <a:solidFill>
                  <a:srgbClr val="3366FF"/>
                </a:solidFill>
              </a:rPr>
              <a:t>firewalls</a:t>
            </a:r>
            <a:r>
              <a:rPr lang="en-US"/>
              <a:t> to protect home computers from Internet attacks</a:t>
            </a:r>
            <a:endParaRPr/>
          </a:p>
        </p:txBody>
      </p:sp>
      <p:sp>
        <p:nvSpPr>
          <p:cNvPr id="409" name="Google Shape;409;p65"/>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Computing Environments - Traditional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7"/>
          <p:cNvSpPr txBox="1"/>
          <p:nvPr>
            <p:ph idx="4294967295" type="body"/>
          </p:nvPr>
        </p:nvSpPr>
        <p:spPr>
          <a:xfrm>
            <a:off x="474785" y="1092200"/>
            <a:ext cx="8024446"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Collection of separate, possibly heterogeneous, systems networked together</a:t>
            </a:r>
            <a:endParaRPr/>
          </a:p>
          <a:p>
            <a:pPr indent="-285750" lvl="1" marL="742950" rtl="0" algn="just">
              <a:lnSpc>
                <a:spcPct val="100000"/>
              </a:lnSpc>
              <a:spcBef>
                <a:spcPts val="770"/>
              </a:spcBef>
              <a:spcAft>
                <a:spcPts val="0"/>
              </a:spcAft>
              <a:buSzPts val="1760"/>
              <a:buChar char="●"/>
            </a:pPr>
            <a:r>
              <a:rPr b="1" lang="en-US">
                <a:solidFill>
                  <a:srgbClr val="3366FF"/>
                </a:solidFill>
              </a:rPr>
              <a:t>Network</a:t>
            </a:r>
            <a:r>
              <a:rPr lang="en-US"/>
              <a:t> is a communications path, </a:t>
            </a:r>
            <a:r>
              <a:rPr b="1" lang="en-US">
                <a:solidFill>
                  <a:srgbClr val="3366FF"/>
                </a:solidFill>
              </a:rPr>
              <a:t>TCP/IP </a:t>
            </a:r>
            <a:r>
              <a:rPr lang="en-US"/>
              <a:t>most common</a:t>
            </a:r>
            <a:endParaRPr/>
          </a:p>
          <a:p>
            <a:pPr indent="-228600" lvl="2" marL="1085850" rtl="0" algn="just">
              <a:lnSpc>
                <a:spcPct val="100000"/>
              </a:lnSpc>
              <a:spcBef>
                <a:spcPts val="700"/>
              </a:spcBef>
              <a:spcAft>
                <a:spcPts val="0"/>
              </a:spcAft>
              <a:buSzPts val="1500"/>
              <a:buChar char="4"/>
            </a:pPr>
            <a:r>
              <a:rPr b="1" lang="en-US">
                <a:solidFill>
                  <a:srgbClr val="3366FF"/>
                </a:solidFill>
              </a:rPr>
              <a:t>Local Area Network </a:t>
            </a:r>
            <a:r>
              <a:rPr lang="en-US"/>
              <a:t>(</a:t>
            </a:r>
            <a:r>
              <a:rPr b="1" lang="en-US">
                <a:solidFill>
                  <a:srgbClr val="3366FF"/>
                </a:solidFill>
              </a:rPr>
              <a:t>LAN</a:t>
            </a:r>
            <a:r>
              <a:rPr lang="en-US"/>
              <a:t>)</a:t>
            </a:r>
            <a:endParaRPr/>
          </a:p>
          <a:p>
            <a:pPr indent="-228600" lvl="2" marL="1085850" rtl="0" algn="just">
              <a:lnSpc>
                <a:spcPct val="100000"/>
              </a:lnSpc>
              <a:spcBef>
                <a:spcPts val="700"/>
              </a:spcBef>
              <a:spcAft>
                <a:spcPts val="0"/>
              </a:spcAft>
              <a:buSzPts val="1500"/>
              <a:buChar char="4"/>
            </a:pPr>
            <a:r>
              <a:rPr b="1" lang="en-US">
                <a:solidFill>
                  <a:srgbClr val="3366FF"/>
                </a:solidFill>
              </a:rPr>
              <a:t>Wide Area Network </a:t>
            </a:r>
            <a:r>
              <a:rPr lang="en-US"/>
              <a:t>(</a:t>
            </a:r>
            <a:r>
              <a:rPr b="1" lang="en-US">
                <a:solidFill>
                  <a:srgbClr val="3366FF"/>
                </a:solidFill>
              </a:rPr>
              <a:t>WAN</a:t>
            </a:r>
            <a:r>
              <a:rPr lang="en-US"/>
              <a:t>)</a:t>
            </a:r>
            <a:endParaRPr/>
          </a:p>
          <a:p>
            <a:pPr indent="-228600" lvl="2" marL="1085850" rtl="0" algn="just">
              <a:lnSpc>
                <a:spcPct val="100000"/>
              </a:lnSpc>
              <a:spcBef>
                <a:spcPts val="700"/>
              </a:spcBef>
              <a:spcAft>
                <a:spcPts val="0"/>
              </a:spcAft>
              <a:buSzPts val="1500"/>
              <a:buChar char="4"/>
            </a:pPr>
            <a:r>
              <a:rPr b="1" lang="en-US">
                <a:solidFill>
                  <a:srgbClr val="3366FF"/>
                </a:solidFill>
              </a:rPr>
              <a:t>Metropolitan Area Network </a:t>
            </a:r>
            <a:r>
              <a:rPr lang="en-US"/>
              <a:t>(</a:t>
            </a:r>
            <a:r>
              <a:rPr b="1" lang="en-US">
                <a:solidFill>
                  <a:srgbClr val="3366FF"/>
                </a:solidFill>
              </a:rPr>
              <a:t>MAN</a:t>
            </a:r>
            <a:r>
              <a:rPr lang="en-US"/>
              <a:t>)</a:t>
            </a:r>
            <a:endParaRPr b="1">
              <a:solidFill>
                <a:srgbClr val="3366FF"/>
              </a:solidFill>
            </a:endParaRPr>
          </a:p>
          <a:p>
            <a:pPr indent="-228600" lvl="2" marL="1085850" rtl="0" algn="just">
              <a:lnSpc>
                <a:spcPct val="100000"/>
              </a:lnSpc>
              <a:spcBef>
                <a:spcPts val="700"/>
              </a:spcBef>
              <a:spcAft>
                <a:spcPts val="0"/>
              </a:spcAft>
              <a:buSzPts val="1500"/>
              <a:buChar char="4"/>
            </a:pPr>
            <a:r>
              <a:rPr b="1" lang="en-US">
                <a:solidFill>
                  <a:srgbClr val="3366FF"/>
                </a:solidFill>
              </a:rPr>
              <a:t>Personal Area Network </a:t>
            </a:r>
            <a:r>
              <a:rPr lang="en-US"/>
              <a:t>(</a:t>
            </a:r>
            <a:r>
              <a:rPr b="1" lang="en-US">
                <a:solidFill>
                  <a:srgbClr val="3366FF"/>
                </a:solidFill>
              </a:rPr>
              <a:t>PAN</a:t>
            </a:r>
            <a:r>
              <a:rPr lang="en-US"/>
              <a:t>)</a:t>
            </a:r>
            <a:endParaRPr/>
          </a:p>
          <a:p>
            <a:pPr indent="-342900" lvl="0" marL="342900" rtl="0" algn="just">
              <a:lnSpc>
                <a:spcPct val="100000"/>
              </a:lnSpc>
              <a:spcBef>
                <a:spcPts val="770"/>
              </a:spcBef>
              <a:spcAft>
                <a:spcPts val="0"/>
              </a:spcAft>
              <a:buSzPts val="1980"/>
              <a:buChar char="●"/>
            </a:pPr>
            <a:r>
              <a:rPr b="1" lang="en-US">
                <a:solidFill>
                  <a:srgbClr val="3366FF"/>
                </a:solidFill>
              </a:rPr>
              <a:t>Network Operating System </a:t>
            </a:r>
            <a:r>
              <a:rPr lang="en-US"/>
              <a:t>provides features to allow sharing of data between systems across a network.</a:t>
            </a:r>
            <a:endParaRPr/>
          </a:p>
          <a:p>
            <a:pPr indent="-285750" lvl="1" marL="742950" rtl="0" algn="just">
              <a:lnSpc>
                <a:spcPct val="100000"/>
              </a:lnSpc>
              <a:spcBef>
                <a:spcPts val="770"/>
              </a:spcBef>
              <a:spcAft>
                <a:spcPts val="0"/>
              </a:spcAft>
              <a:buSzPts val="1760"/>
              <a:buChar char="●"/>
            </a:pPr>
            <a:r>
              <a:rPr lang="en-US"/>
              <a:t>Communication scheme allows systems to exchange messages</a:t>
            </a:r>
            <a:endParaRPr/>
          </a:p>
          <a:p>
            <a:pPr indent="-285750" lvl="1" marL="742950" rtl="0" algn="just">
              <a:lnSpc>
                <a:spcPct val="100000"/>
              </a:lnSpc>
              <a:spcBef>
                <a:spcPts val="770"/>
              </a:spcBef>
              <a:spcAft>
                <a:spcPts val="0"/>
              </a:spcAft>
              <a:buSzPts val="1760"/>
              <a:buChar char="●"/>
            </a:pPr>
            <a:r>
              <a:rPr lang="en-US"/>
              <a:t>Illusion of a single system</a:t>
            </a:r>
            <a:endParaRPr/>
          </a:p>
        </p:txBody>
      </p:sp>
      <p:sp>
        <p:nvSpPr>
          <p:cNvPr id="415" name="Google Shape;415;p67"/>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Computing Environments - Distributed</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6"/>
          <p:cNvSpPr txBox="1"/>
          <p:nvPr>
            <p:ph idx="4294967295" type="body"/>
          </p:nvPr>
        </p:nvSpPr>
        <p:spPr>
          <a:xfrm>
            <a:off x="603738" y="1182688"/>
            <a:ext cx="7959970"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Handheld smartphones, tablets, etc</a:t>
            </a:r>
            <a:endParaRPr/>
          </a:p>
          <a:p>
            <a:pPr indent="-342900" lvl="0" marL="342900" rtl="0" algn="just">
              <a:lnSpc>
                <a:spcPct val="100000"/>
              </a:lnSpc>
              <a:spcBef>
                <a:spcPts val="770"/>
              </a:spcBef>
              <a:spcAft>
                <a:spcPts val="0"/>
              </a:spcAft>
              <a:buSzPts val="1980"/>
              <a:buChar char="●"/>
            </a:pPr>
            <a:r>
              <a:rPr lang="en-US"/>
              <a:t>What is the functional difference between them and a “traditional” laptop?</a:t>
            </a:r>
            <a:endParaRPr/>
          </a:p>
          <a:p>
            <a:pPr indent="-342900" lvl="0" marL="342900" rtl="0" algn="just">
              <a:lnSpc>
                <a:spcPct val="100000"/>
              </a:lnSpc>
              <a:spcBef>
                <a:spcPts val="770"/>
              </a:spcBef>
              <a:spcAft>
                <a:spcPts val="0"/>
              </a:spcAft>
              <a:buSzPts val="1980"/>
              <a:buChar char="●"/>
            </a:pPr>
            <a:r>
              <a:rPr lang="en-US"/>
              <a:t>Extra features – more OS features (GPS -- Waze)</a:t>
            </a:r>
            <a:endParaRPr/>
          </a:p>
          <a:p>
            <a:pPr indent="-342900" lvl="0" marL="342900" rtl="0" algn="just">
              <a:lnSpc>
                <a:spcPct val="100000"/>
              </a:lnSpc>
              <a:spcBef>
                <a:spcPts val="770"/>
              </a:spcBef>
              <a:spcAft>
                <a:spcPts val="0"/>
              </a:spcAft>
              <a:buSzPts val="1980"/>
              <a:buChar char="●"/>
            </a:pPr>
            <a:r>
              <a:rPr lang="en-US"/>
              <a:t>Allows new types of apps like </a:t>
            </a:r>
            <a:r>
              <a:rPr b="1" i="1" lang="en-US"/>
              <a:t>augmented reality</a:t>
            </a:r>
            <a:endParaRPr/>
          </a:p>
          <a:p>
            <a:pPr indent="-342900" lvl="0" marL="342900" rtl="0" algn="just">
              <a:lnSpc>
                <a:spcPct val="100000"/>
              </a:lnSpc>
              <a:spcBef>
                <a:spcPts val="770"/>
              </a:spcBef>
              <a:spcAft>
                <a:spcPts val="0"/>
              </a:spcAft>
              <a:buSzPts val="1980"/>
              <a:buChar char="●"/>
            </a:pPr>
            <a:r>
              <a:rPr lang="en-US"/>
              <a:t>Use IEEE 802.11 wireless, or cellular data networks for connectivity</a:t>
            </a:r>
            <a:endParaRPr/>
          </a:p>
          <a:p>
            <a:pPr indent="-342900" lvl="0" marL="342900" rtl="0" algn="just">
              <a:lnSpc>
                <a:spcPct val="100000"/>
              </a:lnSpc>
              <a:spcBef>
                <a:spcPts val="770"/>
              </a:spcBef>
              <a:spcAft>
                <a:spcPts val="0"/>
              </a:spcAft>
              <a:buSzPts val="1980"/>
              <a:buChar char="●"/>
            </a:pPr>
            <a:r>
              <a:rPr lang="en-US"/>
              <a:t>Leaders are </a:t>
            </a:r>
            <a:r>
              <a:rPr b="1" lang="en-US">
                <a:solidFill>
                  <a:srgbClr val="3366FF"/>
                </a:solidFill>
              </a:rPr>
              <a:t>Apple iOS </a:t>
            </a:r>
            <a:r>
              <a:rPr lang="en-US"/>
              <a:t>and </a:t>
            </a:r>
            <a:r>
              <a:rPr b="1" lang="en-US">
                <a:solidFill>
                  <a:srgbClr val="3366FF"/>
                </a:solidFill>
              </a:rPr>
              <a:t>Google Android</a:t>
            </a:r>
            <a:endParaRPr/>
          </a:p>
        </p:txBody>
      </p:sp>
      <p:sp>
        <p:nvSpPr>
          <p:cNvPr id="421" name="Google Shape;421;p66"/>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Computing Environments - Mobile</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8"/>
          <p:cNvSpPr txBox="1"/>
          <p:nvPr>
            <p:ph idx="4294967295" type="body"/>
          </p:nvPr>
        </p:nvSpPr>
        <p:spPr>
          <a:xfrm>
            <a:off x="545123" y="1009040"/>
            <a:ext cx="8053753"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sz="2000"/>
              <a:t>Allows operating systems to run applications within other OSes</a:t>
            </a:r>
            <a:endParaRPr sz="2000"/>
          </a:p>
          <a:p>
            <a:pPr indent="-285750" lvl="1" marL="742950" rtl="0" algn="just">
              <a:lnSpc>
                <a:spcPct val="100000"/>
              </a:lnSpc>
              <a:spcBef>
                <a:spcPts val="770"/>
              </a:spcBef>
              <a:spcAft>
                <a:spcPts val="0"/>
              </a:spcAft>
              <a:buSzPts val="1760"/>
              <a:buChar char="●"/>
            </a:pPr>
            <a:r>
              <a:rPr lang="en-US" sz="2000"/>
              <a:t>Vast and growing industry</a:t>
            </a:r>
            <a:endParaRPr sz="2000"/>
          </a:p>
          <a:p>
            <a:pPr indent="-342900" lvl="0" marL="342900" rtl="0" algn="just">
              <a:lnSpc>
                <a:spcPct val="100000"/>
              </a:lnSpc>
              <a:spcBef>
                <a:spcPts val="770"/>
              </a:spcBef>
              <a:spcAft>
                <a:spcPts val="0"/>
              </a:spcAft>
              <a:buSzPts val="1980"/>
              <a:buChar char="●"/>
            </a:pPr>
            <a:r>
              <a:rPr b="1" lang="en-US" sz="2000">
                <a:solidFill>
                  <a:srgbClr val="3366FF"/>
                </a:solidFill>
              </a:rPr>
              <a:t>Emulation</a:t>
            </a:r>
            <a:r>
              <a:rPr lang="en-US" sz="2000"/>
              <a:t> used when the source CPU type is different from the target type (i.e., PowerPC to Intel x86)</a:t>
            </a:r>
            <a:endParaRPr sz="2000"/>
          </a:p>
          <a:p>
            <a:pPr indent="-285750" lvl="1" marL="742950" rtl="0" algn="just">
              <a:lnSpc>
                <a:spcPct val="100000"/>
              </a:lnSpc>
              <a:spcBef>
                <a:spcPts val="770"/>
              </a:spcBef>
              <a:spcAft>
                <a:spcPts val="0"/>
              </a:spcAft>
              <a:buSzPts val="1760"/>
              <a:buChar char="●"/>
            </a:pPr>
            <a:r>
              <a:rPr lang="en-US" sz="2000"/>
              <a:t>Generally slowest method</a:t>
            </a:r>
            <a:endParaRPr sz="2000"/>
          </a:p>
          <a:p>
            <a:pPr indent="-285750" lvl="1" marL="742950" rtl="0" algn="just">
              <a:lnSpc>
                <a:spcPct val="100000"/>
              </a:lnSpc>
              <a:spcBef>
                <a:spcPts val="770"/>
              </a:spcBef>
              <a:spcAft>
                <a:spcPts val="0"/>
              </a:spcAft>
              <a:buSzPts val="1760"/>
              <a:buChar char="●"/>
            </a:pPr>
            <a:r>
              <a:rPr lang="en-US" sz="2000"/>
              <a:t>When computer language not compiled to native code – </a:t>
            </a:r>
            <a:r>
              <a:rPr b="1" lang="en-US" sz="2000">
                <a:solidFill>
                  <a:srgbClr val="3366FF"/>
                </a:solidFill>
              </a:rPr>
              <a:t>Interpretation</a:t>
            </a:r>
            <a:endParaRPr sz="2000"/>
          </a:p>
          <a:p>
            <a:pPr indent="-342900" lvl="0" marL="342900" rtl="0" algn="just">
              <a:lnSpc>
                <a:spcPct val="100000"/>
              </a:lnSpc>
              <a:spcBef>
                <a:spcPts val="770"/>
              </a:spcBef>
              <a:spcAft>
                <a:spcPts val="0"/>
              </a:spcAft>
              <a:buSzPts val="1980"/>
              <a:buChar char="●"/>
            </a:pPr>
            <a:r>
              <a:rPr b="1" lang="en-US" sz="2000">
                <a:solidFill>
                  <a:srgbClr val="3366FF"/>
                </a:solidFill>
              </a:rPr>
              <a:t>Virtualization</a:t>
            </a:r>
            <a:r>
              <a:rPr lang="en-US" sz="2000"/>
              <a:t> – OS natively compiled for CPU, running </a:t>
            </a:r>
            <a:r>
              <a:rPr b="1" lang="en-US" sz="2000">
                <a:solidFill>
                  <a:srgbClr val="3366FF"/>
                </a:solidFill>
              </a:rPr>
              <a:t>guest</a:t>
            </a:r>
            <a:r>
              <a:rPr lang="en-US" sz="2000"/>
              <a:t> OSes  also natively compiled </a:t>
            </a:r>
            <a:endParaRPr sz="2000"/>
          </a:p>
          <a:p>
            <a:pPr indent="-285750" lvl="1" marL="742950" rtl="0" algn="just">
              <a:lnSpc>
                <a:spcPct val="100000"/>
              </a:lnSpc>
              <a:spcBef>
                <a:spcPts val="770"/>
              </a:spcBef>
              <a:spcAft>
                <a:spcPts val="0"/>
              </a:spcAft>
              <a:buSzPts val="1760"/>
              <a:buChar char="●"/>
            </a:pPr>
            <a:r>
              <a:rPr lang="en-US" sz="2000"/>
              <a:t>Consider VMware running WinXP guests, each running applications, all on native WinXP </a:t>
            </a:r>
            <a:r>
              <a:rPr b="1" lang="en-US" sz="2000">
                <a:solidFill>
                  <a:srgbClr val="3366FF"/>
                </a:solidFill>
              </a:rPr>
              <a:t>host</a:t>
            </a:r>
            <a:r>
              <a:rPr lang="en-US" sz="2000"/>
              <a:t> OS</a:t>
            </a:r>
            <a:endParaRPr sz="2000"/>
          </a:p>
          <a:p>
            <a:pPr indent="-285750" lvl="1" marL="742950" rtl="0" algn="just">
              <a:lnSpc>
                <a:spcPct val="100000"/>
              </a:lnSpc>
              <a:spcBef>
                <a:spcPts val="770"/>
              </a:spcBef>
              <a:spcAft>
                <a:spcPts val="0"/>
              </a:spcAft>
              <a:buSzPts val="1760"/>
              <a:buChar char="●"/>
            </a:pPr>
            <a:r>
              <a:rPr b="1" lang="en-US" sz="2000">
                <a:solidFill>
                  <a:srgbClr val="3366FF"/>
                </a:solidFill>
              </a:rPr>
              <a:t>VMM</a:t>
            </a:r>
            <a:r>
              <a:rPr lang="en-US" sz="2000"/>
              <a:t> (virtual machine Manager) provides virtualization services</a:t>
            </a:r>
            <a:endParaRPr sz="2000"/>
          </a:p>
        </p:txBody>
      </p:sp>
      <p:sp>
        <p:nvSpPr>
          <p:cNvPr id="427" name="Google Shape;427;p68"/>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Virtualization</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idx="4294967295" type="body"/>
          </p:nvPr>
        </p:nvSpPr>
        <p:spPr>
          <a:xfrm>
            <a:off x="474785" y="1233488"/>
            <a:ext cx="8024445" cy="45307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80"/>
              <a:buChar char="●"/>
            </a:pPr>
            <a:r>
              <a:rPr lang="en-US"/>
              <a:t>A VMM allow the user to install multiple operating systems to run  application written for operating systems other than the native host.</a:t>
            </a:r>
            <a:endParaRPr/>
          </a:p>
          <a:p>
            <a:pPr indent="-285750" lvl="1" marL="742950" rtl="0" algn="just">
              <a:lnSpc>
                <a:spcPct val="100000"/>
              </a:lnSpc>
              <a:spcBef>
                <a:spcPts val="770"/>
              </a:spcBef>
              <a:spcAft>
                <a:spcPts val="0"/>
              </a:spcAft>
              <a:buSzPts val="1760"/>
              <a:buChar char="●"/>
            </a:pPr>
            <a:r>
              <a:rPr lang="en-US"/>
              <a:t>Apple laptop running Mac OS X host Windows as a guest</a:t>
            </a:r>
            <a:endParaRPr/>
          </a:p>
          <a:p>
            <a:pPr indent="-285750" lvl="1" marL="742950" rtl="0" algn="just">
              <a:lnSpc>
                <a:spcPct val="100000"/>
              </a:lnSpc>
              <a:spcBef>
                <a:spcPts val="770"/>
              </a:spcBef>
              <a:spcAft>
                <a:spcPts val="0"/>
              </a:spcAft>
              <a:buSzPts val="1760"/>
              <a:buChar char="●"/>
            </a:pPr>
            <a:r>
              <a:rPr lang="en-US"/>
              <a:t>Developing apps for multiple OSes without having multiple systems</a:t>
            </a:r>
            <a:endParaRPr/>
          </a:p>
          <a:p>
            <a:pPr indent="-285750" lvl="1" marL="742950" rtl="0" algn="just">
              <a:lnSpc>
                <a:spcPct val="100000"/>
              </a:lnSpc>
              <a:spcBef>
                <a:spcPts val="770"/>
              </a:spcBef>
              <a:spcAft>
                <a:spcPts val="0"/>
              </a:spcAft>
              <a:buSzPts val="1760"/>
              <a:buChar char="●"/>
            </a:pPr>
            <a:r>
              <a:rPr lang="en-US"/>
              <a:t>Testing applications without having multiple systems</a:t>
            </a:r>
            <a:endParaRPr/>
          </a:p>
          <a:p>
            <a:pPr indent="-285750" lvl="1" marL="742950" rtl="0" algn="just">
              <a:lnSpc>
                <a:spcPct val="100000"/>
              </a:lnSpc>
              <a:spcBef>
                <a:spcPts val="770"/>
              </a:spcBef>
              <a:spcAft>
                <a:spcPts val="0"/>
              </a:spcAft>
              <a:buSzPts val="1760"/>
              <a:buChar char="●"/>
            </a:pPr>
            <a:r>
              <a:rPr lang="en-US"/>
              <a:t>Executing and managing compute environments within data centers</a:t>
            </a:r>
            <a:endParaRPr/>
          </a:p>
          <a:p>
            <a:pPr indent="-228600" lvl="2" marL="1085850" rtl="0" algn="just">
              <a:lnSpc>
                <a:spcPct val="100000"/>
              </a:lnSpc>
              <a:spcBef>
                <a:spcPts val="700"/>
              </a:spcBef>
              <a:spcAft>
                <a:spcPts val="0"/>
              </a:spcAft>
              <a:buSzPts val="1500"/>
              <a:buFont typeface="Arimo"/>
              <a:buNone/>
            </a:pPr>
            <a:r>
              <a:t/>
            </a:r>
            <a:endParaRPr/>
          </a:p>
        </p:txBody>
      </p:sp>
      <p:sp>
        <p:nvSpPr>
          <p:cNvPr id="433" name="Google Shape;433;p69"/>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Virtualization on Laptops and Desktops</a:t>
            </a:r>
            <a:endParaRPr b="1" i="0" sz="3200" u="none" cap="none" strike="noStrike">
              <a:solidFill>
                <a:srgbClr val="006699"/>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descr="1_20.pdf" id="438" name="Google Shape;438;p70"/>
          <p:cNvPicPr preferRelativeResize="0"/>
          <p:nvPr/>
        </p:nvPicPr>
        <p:blipFill rotWithShape="1">
          <a:blip r:embed="rId3">
            <a:alphaModFix/>
          </a:blip>
          <a:srcRect b="0" l="0" r="0" t="0"/>
          <a:stretch/>
        </p:blipFill>
        <p:spPr>
          <a:xfrm>
            <a:off x="2604294" y="948810"/>
            <a:ext cx="3935412" cy="2567388"/>
          </a:xfrm>
          <a:prstGeom prst="rect">
            <a:avLst/>
          </a:prstGeom>
          <a:noFill/>
          <a:ln>
            <a:noFill/>
          </a:ln>
        </p:spPr>
      </p:pic>
      <p:pic>
        <p:nvPicPr>
          <p:cNvPr id="439" name="Google Shape;439;p70"/>
          <p:cNvPicPr preferRelativeResize="0"/>
          <p:nvPr/>
        </p:nvPicPr>
        <p:blipFill rotWithShape="1">
          <a:blip r:embed="rId4">
            <a:alphaModFix/>
          </a:blip>
          <a:srcRect b="0" l="0" r="0" t="0"/>
          <a:stretch/>
        </p:blipFill>
        <p:spPr>
          <a:xfrm>
            <a:off x="1712483" y="3617787"/>
            <a:ext cx="5794448" cy="2767904"/>
          </a:xfrm>
          <a:prstGeom prst="rect">
            <a:avLst/>
          </a:prstGeom>
          <a:noFill/>
          <a:ln>
            <a:noFill/>
          </a:ln>
        </p:spPr>
      </p:pic>
      <p:sp>
        <p:nvSpPr>
          <p:cNvPr id="440" name="Google Shape;440;p70"/>
          <p:cNvSpPr txBox="1"/>
          <p:nvPr/>
        </p:nvSpPr>
        <p:spPr>
          <a:xfrm>
            <a:off x="457200" y="277813"/>
            <a:ext cx="82296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6699"/>
                </a:solidFill>
                <a:latin typeface="Arial"/>
                <a:ea typeface="Arial"/>
                <a:cs typeface="Arial"/>
                <a:sym typeface="Arial"/>
              </a:rPr>
              <a:t>Virtualization Architecture Structure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9"/>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End of Chapter 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