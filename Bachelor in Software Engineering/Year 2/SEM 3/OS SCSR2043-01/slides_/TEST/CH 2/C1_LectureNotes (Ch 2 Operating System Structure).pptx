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4"/>
  </p:notesMasterIdLst>
  <p:handoutMasterIdLst>
    <p:handoutMasterId r:id="rId35"/>
  </p:handoutMasterIdLst>
  <p:sldIdLst>
    <p:sldId id="330" r:id="rId2"/>
    <p:sldId id="287" r:id="rId3"/>
    <p:sldId id="277" r:id="rId4"/>
    <p:sldId id="368" r:id="rId5"/>
    <p:sldId id="336" r:id="rId6"/>
    <p:sldId id="278" r:id="rId7"/>
    <p:sldId id="421" r:id="rId8"/>
    <p:sldId id="289" r:id="rId9"/>
    <p:sldId id="348" r:id="rId10"/>
    <p:sldId id="366" r:id="rId11"/>
    <p:sldId id="279" r:id="rId12"/>
    <p:sldId id="290" r:id="rId13"/>
    <p:sldId id="367" r:id="rId14"/>
    <p:sldId id="370" r:id="rId15"/>
    <p:sldId id="431" r:id="rId16"/>
    <p:sldId id="298" r:id="rId17"/>
    <p:sldId id="353" r:id="rId18"/>
    <p:sldId id="457" r:id="rId19"/>
    <p:sldId id="305" r:id="rId20"/>
    <p:sldId id="306" r:id="rId21"/>
    <p:sldId id="446" r:id="rId22"/>
    <p:sldId id="459" r:id="rId23"/>
    <p:sldId id="376" r:id="rId24"/>
    <p:sldId id="354" r:id="rId25"/>
    <p:sldId id="313" r:id="rId26"/>
    <p:sldId id="462" r:id="rId27"/>
    <p:sldId id="447" r:id="rId28"/>
    <p:sldId id="454" r:id="rId29"/>
    <p:sldId id="453" r:id="rId30"/>
    <p:sldId id="451" r:id="rId31"/>
    <p:sldId id="464" r:id="rId32"/>
    <p:sldId id="331" r:id="rId33"/>
  </p:sldIdLst>
  <p:sldSz cx="9144000" cy="6858000" type="screen4x3"/>
  <p:notesSz cx="10234613" cy="71040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69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D3BAEF3-64D7-4131-98CD-3CB222199D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86914" cy="33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10" tIns="46555" rIns="93110" bIns="46555" numCol="1" anchor="ctr" anchorCtr="0" compatLnSpc="1">
            <a:prstTxWarp prst="textNoShape">
              <a:avLst/>
            </a:prstTxWarp>
          </a:bodyPr>
          <a:lstStyle>
            <a:lvl1pPr defTabSz="931682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D07D623-1AF9-4EB0-B3D2-566297DF4B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68558" y="0"/>
            <a:ext cx="4484596" cy="33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10" tIns="46555" rIns="93110" bIns="46555" numCol="1" anchor="ctr" anchorCtr="0" compatLnSpc="1">
            <a:prstTxWarp prst="textNoShape">
              <a:avLst/>
            </a:prstTxWarp>
          </a:bodyPr>
          <a:lstStyle>
            <a:lvl1pPr algn="r" defTabSz="931682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BAB77CC-2B90-44C2-96CB-78A2EAE34BE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75307"/>
            <a:ext cx="4486914" cy="33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10" tIns="46555" rIns="93110" bIns="46555" numCol="1" anchor="b" anchorCtr="0" compatLnSpc="1">
            <a:prstTxWarp prst="textNoShape">
              <a:avLst/>
            </a:prstTxWarp>
          </a:bodyPr>
          <a:lstStyle>
            <a:lvl1pPr defTabSz="931682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5D8A108-3051-43B8-95A4-7305C855AF1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68558" y="6775307"/>
            <a:ext cx="4484596" cy="33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10" tIns="46555" rIns="93110" bIns="46555" numCol="1" anchor="b" anchorCtr="0" compatLnSpc="1">
            <a:prstTxWarp prst="textNoShape">
              <a:avLst/>
            </a:prstTxWarp>
          </a:bodyPr>
          <a:lstStyle>
            <a:lvl1pPr algn="r" defTabSz="931682">
              <a:defRPr sz="1200">
                <a:latin typeface="Helvetica" panose="020B0604020202020204" pitchFamily="34" charset="0"/>
              </a:defRPr>
            </a:lvl1pPr>
          </a:lstStyle>
          <a:p>
            <a:fld id="{3FA5F741-4AF3-44A8-BA85-C781AAA3CE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56A6416-4483-4248-94BF-A1022F2DDD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3610" cy="354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8278" tIns="49138" rIns="98278" bIns="49138" numCol="1" anchor="ctr" anchorCtr="0" compatLnSpc="1">
            <a:prstTxWarp prst="textNoShape">
              <a:avLst/>
            </a:prstTxWarp>
          </a:bodyPr>
          <a:lstStyle>
            <a:lvl1pPr defTabSz="982317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D64AC44-B76F-496A-B354-954162EB1A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801007" y="0"/>
            <a:ext cx="4433607" cy="354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8278" tIns="49138" rIns="98278" bIns="49138" numCol="1" anchor="ctr" anchorCtr="0" compatLnSpc="1">
            <a:prstTxWarp prst="textNoShape">
              <a:avLst/>
            </a:prstTxWarp>
          </a:bodyPr>
          <a:lstStyle>
            <a:lvl1pPr algn="r" defTabSz="982317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F43FFC22-1BA6-478F-815B-3819FCC67B9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3400"/>
            <a:ext cx="3554412" cy="2665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31BCF2E-88C4-4613-8DE7-D4563133F8A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5080" y="3374916"/>
            <a:ext cx="7504456" cy="3195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8278" tIns="49138" rIns="98278" bIns="491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2E2E773C-7A11-4F6E-9185-19D05D7E76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9831"/>
            <a:ext cx="4433610" cy="354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8278" tIns="49138" rIns="98278" bIns="49138" numCol="1" anchor="b" anchorCtr="0" compatLnSpc="1">
            <a:prstTxWarp prst="textNoShape">
              <a:avLst/>
            </a:prstTxWarp>
          </a:bodyPr>
          <a:lstStyle>
            <a:lvl1pPr defTabSz="982317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AA52949-8A91-4A0C-BCB1-B79F2A066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801007" y="6749831"/>
            <a:ext cx="4433607" cy="354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8278" tIns="49138" rIns="98278" bIns="49138" numCol="1" anchor="b" anchorCtr="0" compatLnSpc="1">
            <a:prstTxWarp prst="textNoShape">
              <a:avLst/>
            </a:prstTxWarp>
          </a:bodyPr>
          <a:lstStyle>
            <a:lvl1pPr algn="r" defTabSz="982317">
              <a:defRPr sz="1300">
                <a:latin typeface="Times New Roman" panose="02020603050405020304" pitchFamily="18" charset="0"/>
              </a:defRPr>
            </a:lvl1pPr>
          </a:lstStyle>
          <a:p>
            <a:fld id="{AEF7746B-47FB-43B1-BD0E-F8F04FCA9C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3B10D197-4E00-4DB8-94B8-FDC51E6CD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357207-86F9-4326-8734-65DED029411D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F3C3402C-515E-4C08-A154-5B239560DF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41E761BC-7857-40D0-A0E8-B05F4DBCE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DDE79379-6341-43EF-852A-020BDC2E7C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5AE56F-EC72-4EB8-8054-E9AEB3B43569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14EEE23-9F4F-41C3-9411-2EF29ED53A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C5E277E0-1AC7-4FF2-B859-8B3CF322B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5232B9F-DEFE-4924-AB19-75C950557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15C269-AB08-47A0-83F2-980442C2351A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07205B74-06B6-439A-BBEC-FD62F5BB5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637D1370-E2DA-43CE-9A8F-C6DB0CE18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CEC3099-82CD-4D08-B53A-7AB5114DF0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BFF5E4-548F-4984-93A6-F6A70881B697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4BFAE3A-1757-4002-B397-C14B10803F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2A8F9B7-DC41-4B15-AFB8-00E4D671B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7D6180B-67C1-4FB4-A987-84E69AEDD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DF2B59B-03B6-42F5-9D3B-D334C283E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6166A733-7161-4012-8F29-565D163B0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44D17F-25B1-4BFB-AEA2-9082D70BFBC2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E827FB1-0CF6-4DA4-AAC7-F9A5F8740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911A037-C8FC-49B0-922A-45CD3D235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2A926220-24BA-4E35-8CD5-E014F48B19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21BEAC9-DAFB-4D08-8F7B-E8C24D05B3F9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9FDCC3D7-14C3-4164-9F5F-1AB03FF0E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78CCEA21-13D4-460B-96B7-42A31C5DC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D9D2ADE6-739F-4DC7-AA74-F30D348FBD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2B9DAA-E90A-433F-9A63-07C76ECCF67A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7CACE2A-CEBD-422C-AFC8-BC906860E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EBA5984E-3F68-4CDB-830C-A13E0F0EB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7A79A50F-0795-49E7-B01D-F48116CA93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68B0AC-2306-403B-9511-A0C7D1996AAF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5591E6BF-A499-4172-A502-F5B907732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9F083A98-DFD1-4A4C-BC0A-C87D40722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5654EF6D-64C2-4DCB-A665-08001E3414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A007824-645F-4821-AE40-C1FD8A7DB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049C5426-C17B-464E-9D10-DEA6B1CEA6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2D4A2D-C0A2-44FC-A1C8-095B9F2C5C0C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3DFD0C81-81CE-468F-BCCE-B7BF36E88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472E28F-DDBF-4DE7-9BFE-377ED0E2D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1C96ED59-4E21-4B86-A8F0-CA96286E26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76F0B82-390B-4729-8803-DC622054BB98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EBD4EB50-41A6-4CF4-92A1-5B18ED088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719CF12D-4241-4B53-BFBB-2CE5ABE03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E9F68B47-B40C-4603-96C4-DC51056D49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585024-2A07-49EA-B88F-D0A865562225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216DD1A0-B459-46C5-BFFC-C735F7F5C7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4F895F56-506D-4965-9185-C591AE8C5D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1820D7C4-BCF8-4282-960C-044F386B3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BB9D4B-02C5-4CE0-9CF7-5E4A5F391C06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3FF3C26F-330D-48CF-AA2C-31F6747A57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6930003E-641C-4DC0-B7B8-87C5A83F1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3104EC49-7DA0-4B55-8D0E-D43F927BB5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D712B7F-9CB6-403B-A436-A56A45D58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1A3FEE3-7B10-43D3-8EE0-7BA61C5DB6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C15724B-4C14-4D7B-9514-D80FAE07017A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E9D23FED-8E33-4F54-81D0-BF65A9C2BA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293671E8-11FB-42DC-8AE7-CF859A92D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BFF20341-0161-4706-8620-54582537B3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55CB2F-19C2-438F-A748-BC2941CC5B07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5D16919D-2E70-40A4-B67D-CDEEDCCE31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6D4EF55-82A0-489B-BB19-D486FBEDF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D8A712AF-154B-4248-B5B4-C91A7C5BD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3BA83E-927C-4729-AA3F-1E82815C1B13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886AB40B-1696-426B-AFD6-9578D373A3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DC81BB0A-8B74-466E-B22B-4BC9500CD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DA041A97-38BA-4F6A-BC2D-622C78DB9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D82327-900C-4C76-B7C4-EFDBB61D05A4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AFA54A32-87E9-46E7-84ED-6B999F7BF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196EF553-EF11-4ABF-8B7E-5675B52D3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77799880-EBE6-4DEB-85C4-E74BE3420F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873271-9672-42CE-88FD-5488BF501E40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63926879-F3C4-4680-AF21-FE2C7ADF14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D18A5D9-9D60-4379-BB56-A314654E9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D1261F11-529C-4412-83A8-C3803C8BF7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F419D9-DC62-45F9-AEF2-1B1CD6FA8003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8F1CBC4C-A67C-4996-86A9-216381B35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FB6C2E46-452A-4B87-AF51-DC5050372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B45EA5B-BAC2-4469-A271-9848F0DFEF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64BCF-4043-4D25-8D7C-B3526044C8F1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C4EDB9A4-6B55-4DDD-AA3F-99DB20CC97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3511BE0-C0ED-4BE6-B1BD-4DD3FC339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7D59CF2-2494-4E60-9F21-F6C81A2EFD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DF9594-4763-437F-84CA-569A3635414E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C093EB3-EF74-4F71-8DF5-E812013F2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3F12E5E-D446-411B-AA3B-AA06CCD1A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4E082C0B-E552-4F47-8EF1-06649A9C05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6FCBF4-B399-47F2-AE38-95500EF1E23C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65E0398D-7413-47E1-B5C6-7C15FA80B8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56E296EB-B253-44D3-A337-E7025C3FB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808C8850-1F2D-479A-8EA1-D6902A0D8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FC09B-D630-4A1C-8C9B-92738893056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EB9B62AD-2C12-4533-AD09-748879D478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FB722AD-B6DB-4E12-B405-67B984A5E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7217097-2319-4CBE-854A-49FC23FA6B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7D9BA49-CF72-4B47-A1B9-2040BCD012E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89B18584-902F-4742-B3CB-283097CAFA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6B0AE7CA-5F25-4919-83F5-DF72EAB1C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98CBA9C9-541F-496A-8BD4-D80A67AF88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359133-521C-4BD7-8F36-08C9CF1AD85B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CAD22E7-A0DB-4B99-888D-A4CD9BEDD7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26F6030A-6791-4E48-8B07-AAE9A173A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521B0D6E-B974-40CE-B6AA-A725F67D5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340AE1-4555-4E0D-904E-CC0039797C78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47A64542-BB41-46CD-BA23-381C9AA2F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B84D274D-0AB8-4B1F-8C7B-EF9F4E0AF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60310781-A23A-4989-9384-1F8CEA98D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321BDC-476D-465D-8589-89739734F43C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F053DC5D-61B9-4012-A929-B32AF49837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C90F7B9A-6941-4FAF-8678-D5672FC50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A6B5755D-41C5-47E5-AC35-6AC501C3F0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9904" indent="-303809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1523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701333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87428" indent="-243048" defTabSz="98231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7352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5961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45713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31808" indent="-243048" defTabSz="9823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E864A2-35B5-405B-A2C1-A0AA14AFF510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59FCB4F1-8C52-4657-94B1-C15548B10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66365D7A-205C-40E8-BE7A-DECA2B3CB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61EFFE8B-EAB2-4FAE-AACE-3CC2ED77803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6BF7A15-D7FB-4123-8B82-FFB8BCAC0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A28F0FC-6A68-49AE-AB85-FF34C8522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74679E1C-33C6-4AA6-908C-7291C6275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913B9A9-193B-4C7B-9086-A35C80395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6C1FF894-ECD9-44DF-98FD-DC684D686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EA4E55AA-D8BB-47BF-B709-26634D94E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0A588C55-0EBE-4A6E-A3C1-E7319AFD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566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865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186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6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603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018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44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84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23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414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57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51DF8BB7-65DA-46F7-B85D-7CF14B95C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04B138A-1622-4912-93F2-D67333286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BB90D3-A248-4824-82F7-3636508DC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E8D214-62BE-4488-A262-729AE7904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AA80A7D5-4800-46E4-BD1A-DEA3D59FD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FDA415E-092D-43DE-B65D-5FCAF817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847046C-B376-4E8C-951A-DED3DF224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E399D6BD-1974-4711-B46C-893571F67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2.</a:t>
            </a:r>
            <a:fld id="{5A8E6ED8-769D-4379-A8E0-79E34509E665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1A92ABD6-0B01-42C9-9745-3599D414E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©2013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C99C2538-107B-4663-AD44-CE784D956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5073DFE-6860-49FF-A8C9-BB791BDF6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 sz="2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0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212BDC04-E9D0-455F-B137-181AAE95CF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2:  Operating-System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AF8C244-0EE1-4120-8CC3-4FD1454C0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7E383A8-807F-4C90-819C-5FE1A6B0B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3150" y="1233488"/>
            <a:ext cx="6761163" cy="4530725"/>
          </a:xfrm>
        </p:spPr>
        <p:txBody>
          <a:bodyPr/>
          <a:lstStyle/>
          <a:p>
            <a:r>
              <a:rPr lang="en-US" altLang="en-US" dirty="0"/>
              <a:t>To describe the services an operating system provides to users, processes, and other systems</a:t>
            </a:r>
          </a:p>
          <a:p>
            <a:r>
              <a:rPr lang="en-US" altLang="en-US" dirty="0"/>
              <a:t>To discuss the various ways of structuring an operating system</a:t>
            </a:r>
          </a:p>
          <a:p>
            <a:r>
              <a:rPr lang="en-US" altLang="en-US" dirty="0"/>
              <a:t>To explain how operating systems are booted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C4274B7-48CD-402E-8F87-3106E2A3F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60338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2.1	Operating System Services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6EFB270-53BF-44F0-B13B-BB894CC2E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6100" y="1181100"/>
            <a:ext cx="8026400" cy="4865688"/>
          </a:xfrm>
          <a:noFill/>
        </p:spPr>
        <p:txBody>
          <a:bodyPr/>
          <a:lstStyle/>
          <a:p>
            <a:r>
              <a:rPr lang="en-US" altLang="en-US" dirty="0"/>
              <a:t>Operating systems provide an environment for the execution of programs.</a:t>
            </a:r>
          </a:p>
          <a:p>
            <a:r>
              <a:rPr lang="en-US" altLang="en-US" dirty="0"/>
              <a:t>Operating  systems provides certain services to:</a:t>
            </a:r>
          </a:p>
          <a:p>
            <a:pPr lvl="1"/>
            <a:r>
              <a:rPr lang="en-US" altLang="en-US" dirty="0"/>
              <a:t>Programs</a:t>
            </a:r>
          </a:p>
          <a:p>
            <a:pPr lvl="1"/>
            <a:r>
              <a:rPr lang="en-US" altLang="en-US" dirty="0"/>
              <a:t>Users of those programs</a:t>
            </a:r>
          </a:p>
          <a:p>
            <a:r>
              <a:rPr lang="en-US" altLang="en-US" dirty="0"/>
              <a:t>Basically two types of services:</a:t>
            </a:r>
          </a:p>
          <a:p>
            <a:pPr lvl="1"/>
            <a:r>
              <a:rPr lang="en-US" altLang="en-US" dirty="0"/>
              <a:t>Set of operating-system services provides functions that are helpful to the user:</a:t>
            </a:r>
          </a:p>
          <a:p>
            <a:pPr lvl="1"/>
            <a:r>
              <a:rPr lang="en-US" altLang="en-US" dirty="0"/>
              <a:t>Set of operating-system functions for ensuring the efficient operation of the system itself via resource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6F94DCF-2399-4ACD-8021-617083A2C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34938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/>
              <a:t>OS Services Helpful to the User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670F302-CE3B-4DCE-9000-8491B7B5D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117600"/>
            <a:ext cx="8051800" cy="4865688"/>
          </a:xfrm>
          <a:noFill/>
        </p:spPr>
        <p:txBody>
          <a:bodyPr/>
          <a:lstStyle/>
          <a:p>
            <a:r>
              <a:rPr lang="en-US" altLang="en-US" b="1" dirty="0"/>
              <a:t>One of the many OS services is User interface.</a:t>
            </a:r>
          </a:p>
          <a:p>
            <a:r>
              <a:rPr lang="en-US" altLang="en-US" b="1" dirty="0"/>
              <a:t>User interface </a:t>
            </a:r>
            <a:r>
              <a:rPr lang="en-US" altLang="en-US" dirty="0"/>
              <a:t>- Almost all operating systems have a </a:t>
            </a:r>
            <a:r>
              <a:rPr lang="en-US" altLang="en-US" b="1" dirty="0">
                <a:solidFill>
                  <a:srgbClr val="3366FF"/>
                </a:solidFill>
              </a:rPr>
              <a:t>user interface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UI</a:t>
            </a:r>
            <a:r>
              <a:rPr lang="en-US" altLang="en-US" dirty="0"/>
              <a:t>).  This interface can take several forms: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Command-Line </a:t>
            </a:r>
            <a:r>
              <a:rPr lang="en-US" altLang="en-US" b="1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CLI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000000"/>
                </a:solidFill>
              </a:rPr>
              <a:t> -- uses text commands and a method for entering them (say, a keyboard for typing in commands in a specific format with specific options).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GUI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000000"/>
                </a:solidFill>
              </a:rPr>
              <a:t> -- the interface is a window system with a pointing device to direct I\O, choose from menus, and make selections and a keyboard to enter text..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Batch Interface </a:t>
            </a:r>
            <a:r>
              <a:rPr lang="en-US" altLang="en-US" dirty="0"/>
              <a:t>-- commands and directives to control those commands are entered into files, and those files are executed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dirty="0"/>
              <a:t>Some systems provide two or all three of these variations.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2A9AF4B-058D-4D88-8E89-B0A42717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1412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 View of Operating System Services</a:t>
            </a:r>
          </a:p>
        </p:txBody>
      </p:sp>
      <p:pic>
        <p:nvPicPr>
          <p:cNvPr id="9219" name="Picture 4" descr="2">
            <a:extLst>
              <a:ext uri="{FF2B5EF4-FFF2-40B4-BE49-F238E27FC236}">
                <a16:creationId xmlns:a16="http://schemas.microsoft.com/office/drawing/2014/main" id="{F98DB0DC-BC92-4C3B-AF1A-C3B790DBB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492250"/>
            <a:ext cx="6650038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7FDFF9-3303-45F0-A525-F61E224A17C1}"/>
              </a:ext>
            </a:extLst>
          </p:cNvPr>
          <p:cNvSpPr/>
          <p:nvPr/>
        </p:nvSpPr>
        <p:spPr>
          <a:xfrm>
            <a:off x="1485900" y="4922822"/>
            <a:ext cx="6650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dirty="0"/>
              <a:t>Figure 2.1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E77E0D9-92CC-4531-8BB6-153EE1204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063" y="1460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2.2.1	 Command Interpreters (CLI)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7E93F51-1C2B-4487-B938-05BF4F8C3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897063"/>
            <a:ext cx="8324850" cy="4483100"/>
          </a:xfrm>
        </p:spPr>
        <p:txBody>
          <a:bodyPr/>
          <a:lstStyle/>
          <a:p>
            <a:r>
              <a:rPr lang="en-US" altLang="en-US" sz="2000" dirty="0"/>
              <a:t>Some operating systems include the command interpreter in the kernel. </a:t>
            </a:r>
          </a:p>
          <a:p>
            <a:r>
              <a:rPr lang="en-US" altLang="en-US" sz="2000" dirty="0"/>
              <a:t>Some operating systems, such as Windows and UNIX, treat the command interpreter as a special program that is running when a job is initiated or when a user first logs on.</a:t>
            </a:r>
          </a:p>
          <a:p>
            <a:r>
              <a:rPr lang="en-US" altLang="en-US" sz="2000" dirty="0"/>
              <a:t>On systems with multiple command interpreters to choose from, the interpreters are known as</a:t>
            </a:r>
            <a:r>
              <a:rPr lang="en-US" altLang="en-US" sz="2000" b="1" dirty="0">
                <a:solidFill>
                  <a:srgbClr val="3366FF"/>
                </a:solidFill>
              </a:rPr>
              <a:t> shells.</a:t>
            </a:r>
            <a:endParaRPr lang="en-US" altLang="en-US" sz="2000" dirty="0"/>
          </a:p>
          <a:p>
            <a:r>
              <a:rPr lang="en-US" altLang="en-US" sz="2000" dirty="0"/>
              <a:t>The main function of the command interpreter is to get and execute the next user-specified command. </a:t>
            </a:r>
          </a:p>
          <a:p>
            <a:r>
              <a:rPr lang="en-US" altLang="en-US" sz="2000" dirty="0"/>
              <a:t>Sometimes commands built-in, sometimes just names of programs</a:t>
            </a:r>
          </a:p>
          <a:p>
            <a:pPr lvl="1"/>
            <a:r>
              <a:rPr lang="en-US" altLang="en-US" sz="2000" dirty="0"/>
              <a:t>If the latter, adding new features doesn’</a:t>
            </a:r>
            <a:r>
              <a:rPr lang="en-US" altLang="ja-JP" sz="2000" dirty="0"/>
              <a:t>t require shell modification</a:t>
            </a:r>
            <a:endParaRPr lang="en-US" altLang="en-US" sz="2000" dirty="0"/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65ADCEF8-BA8F-44EF-A6D9-6BD1AE5A6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300" y="1562100"/>
            <a:ext cx="46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245" name="TextBox 6">
            <a:extLst>
              <a:ext uri="{FF2B5EF4-FFF2-40B4-BE49-F238E27FC236}">
                <a16:creationId xmlns:a16="http://schemas.microsoft.com/office/drawing/2014/main" id="{CD6792DB-ABCD-431B-91E7-03D422898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1057276"/>
            <a:ext cx="8134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pitchFamily="-84" charset="2"/>
              <a:buNone/>
            </a:pPr>
            <a:r>
              <a:rPr lang="en-US" altLang="en-US" dirty="0"/>
              <a:t>CLI</a:t>
            </a:r>
            <a:r>
              <a:rPr lang="en-US" altLang="en-US" b="1" dirty="0">
                <a:solidFill>
                  <a:srgbClr val="3366FF"/>
                </a:solidFill>
              </a:rPr>
              <a:t>  </a:t>
            </a:r>
            <a:r>
              <a:rPr lang="en-US" altLang="en-US" dirty="0"/>
              <a:t>allows users to directly enter commands  to be performed by the operating system.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76A7170-F267-4F81-82C4-CFB7F867D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1925" y="-4763"/>
            <a:ext cx="7331075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The Bourne shell command interpreter in Solaris</a:t>
            </a:r>
          </a:p>
        </p:txBody>
      </p:sp>
      <p:pic>
        <p:nvPicPr>
          <p:cNvPr id="11267" name="Picture 1">
            <a:extLst>
              <a:ext uri="{FF2B5EF4-FFF2-40B4-BE49-F238E27FC236}">
                <a16:creationId xmlns:a16="http://schemas.microsoft.com/office/drawing/2014/main" id="{C85C31FF-FC87-4E8B-A0C3-A6ECC5D6D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1282700"/>
            <a:ext cx="6634163" cy="458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56FF76-179D-4D32-A0DA-387B64801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8" y="1174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2.2.2	 Graphical User Interfaces (GUI)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DE58298-7E5A-4030-864D-2EA91D35D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8150" y="1154113"/>
            <a:ext cx="8166100" cy="4530725"/>
          </a:xfrm>
        </p:spPr>
        <p:txBody>
          <a:bodyPr/>
          <a:lstStyle/>
          <a:p>
            <a:r>
              <a:rPr lang="en-US" altLang="en-US" dirty="0"/>
              <a:t>User-friendly </a:t>
            </a:r>
            <a:r>
              <a:rPr lang="en-US" altLang="en-US" b="1" dirty="0">
                <a:solidFill>
                  <a:srgbClr val="3366FF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1"/>
            <a:r>
              <a:rPr lang="en-US" altLang="en-US" dirty="0"/>
              <a:t>Usually mouse, keyboard, and monitor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Icons</a:t>
            </a:r>
            <a:r>
              <a:rPr lang="en-US" altLang="en-US" dirty="0"/>
              <a:t> represent files, programs, actions,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3366FF"/>
                </a:solidFill>
              </a:rPr>
              <a:t>folder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Invented at Xerox PARC</a:t>
            </a:r>
          </a:p>
          <a:p>
            <a:r>
              <a:rPr lang="en-US" altLang="en-US" dirty="0"/>
              <a:t>Many systems now include both CLI and GUI interfaces</a:t>
            </a:r>
          </a:p>
          <a:p>
            <a:pPr lvl="1"/>
            <a:r>
              <a:rPr lang="en-US" alt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/>
            <a:r>
              <a:rPr lang="en-US" alt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/>
            <a:r>
              <a:rPr lang="en-US" altLang="en-US" dirty="0"/>
              <a:t>Unix and Linux have CLI with optional GUI interfaces (CDE, KDE, GNOME)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A59D92-A954-441B-A269-CEE814990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Touchscreen Interfaces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E0537C2-8F95-4A7E-8783-72DB454A6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121150" cy="4530725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000" dirty="0">
                <a:ea typeface="ＭＳ Ｐゴシック" charset="-128"/>
              </a:rPr>
              <a:t>Mouse not possible or not desired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000" dirty="0">
                <a:ea typeface="ＭＳ Ｐゴシック" charset="-128"/>
              </a:rPr>
              <a:t>Actions and selection based on gestures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000" dirty="0">
                <a:ea typeface="ＭＳ Ｐゴシック" charset="-128"/>
              </a:rPr>
              <a:t>Virtual keyboard for text entry</a:t>
            </a: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ea typeface="ＭＳ Ｐゴシック" charset="-128"/>
              </a:rPr>
              <a:t>Voice commands.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14340" name="Picture 1">
            <a:extLst>
              <a:ext uri="{FF2B5EF4-FFF2-40B4-BE49-F238E27FC236}">
                <a16:creationId xmlns:a16="http://schemas.microsoft.com/office/drawing/2014/main" id="{6058CC13-3440-4D2E-9BCF-46F0FE1DD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1276350"/>
            <a:ext cx="2617788" cy="465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DB63497-0B15-4A08-8012-02F9B9B6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The Mac OS X GUI</a:t>
            </a:r>
          </a:p>
        </p:txBody>
      </p:sp>
      <p:pic>
        <p:nvPicPr>
          <p:cNvPr id="15363" name="Picture 4" descr="2">
            <a:extLst>
              <a:ext uri="{FF2B5EF4-FFF2-40B4-BE49-F238E27FC236}">
                <a16:creationId xmlns:a16="http://schemas.microsoft.com/office/drawing/2014/main" id="{69361ED6-06BD-4645-BBA5-FAA0EB64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1274763"/>
            <a:ext cx="6410325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16CE58-1DF7-4BA9-9D37-DDDB1AA56DA0}"/>
              </a:ext>
            </a:extLst>
          </p:cNvPr>
          <p:cNvSpPr/>
          <p:nvPr/>
        </p:nvSpPr>
        <p:spPr>
          <a:xfrm>
            <a:off x="1322387" y="6224588"/>
            <a:ext cx="6410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dirty="0"/>
              <a:t>Figure 2.4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E9AE152-30A2-44C0-AFC6-D9476AF21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55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2.3	System Calls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D9BC305-8897-4A76-AC0D-610751F40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44588"/>
            <a:ext cx="7994649" cy="44688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Programming interface to the services provided by the OS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Typically written in a high-level language (C or C++)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Three most common APIs are: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Win32 API for Windows,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POSIX API for POSIX-based systems (including virtually all versions of UNIX, Linux, and Mac OS X),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Java API for the Java virtual machine (JVM)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23DF7FF-266B-44B2-891F-93ACF82E1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022850"/>
            <a:ext cx="68897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Note that the system-call names used throughout this text are generic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29491EC-3552-4609-904A-E612B3575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System Calls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EB10B582-7D75-43EF-AF64-0FF0CCF71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8850" y="1258888"/>
            <a:ext cx="8185150" cy="4722812"/>
          </a:xfrm>
        </p:spPr>
        <p:txBody>
          <a:bodyPr/>
          <a:lstStyle/>
          <a:p>
            <a:r>
              <a:rPr lang="en-US" altLang="en-US" dirty="0"/>
              <a:t>System call sequence to copy the contents of one file to another file</a:t>
            </a:r>
          </a:p>
        </p:txBody>
      </p:sp>
      <p:pic>
        <p:nvPicPr>
          <p:cNvPr id="17412" name="Picture 5">
            <a:extLst>
              <a:ext uri="{FF2B5EF4-FFF2-40B4-BE49-F238E27FC236}">
                <a16:creationId xmlns:a16="http://schemas.microsoft.com/office/drawing/2014/main" id="{86C153ED-E6DF-4C12-AF26-A61FF3499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2252663"/>
            <a:ext cx="5249863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1C8797-7F8F-4E53-918A-2B4E291086E4}"/>
              </a:ext>
            </a:extLst>
          </p:cNvPr>
          <p:cNvSpPr/>
          <p:nvPr/>
        </p:nvSpPr>
        <p:spPr>
          <a:xfrm>
            <a:off x="1366837" y="5805488"/>
            <a:ext cx="6410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dirty="0"/>
              <a:t>Figure 2.5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5F08689-04E5-4CCE-8FD1-158CDFBF4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Standard API</a:t>
            </a:r>
          </a:p>
        </p:txBody>
      </p:sp>
      <p:pic>
        <p:nvPicPr>
          <p:cNvPr id="18435" name="Picture 1" descr="Screen Shot 2012-12-01 at 12.25.00 PM.png">
            <a:extLst>
              <a:ext uri="{FF2B5EF4-FFF2-40B4-BE49-F238E27FC236}">
                <a16:creationId xmlns:a16="http://schemas.microsoft.com/office/drawing/2014/main" id="{CDD0537F-51AB-4C88-9F27-27148E28A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117600"/>
            <a:ext cx="5094287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41F8175-43B8-4944-B454-AA4EE9AA4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2.4	Types of System Calls</a:t>
            </a: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71EE7FAA-0F25-4ABD-83D5-B7D426546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163638"/>
            <a:ext cx="8124825" cy="4530725"/>
          </a:xfrm>
        </p:spPr>
        <p:txBody>
          <a:bodyPr/>
          <a:lstStyle/>
          <a:p>
            <a:r>
              <a:rPr lang="en-US" altLang="en-US" dirty="0"/>
              <a:t>System calls can be grouped roughly into six major categories:</a:t>
            </a:r>
          </a:p>
          <a:p>
            <a:pPr lvl="1"/>
            <a:r>
              <a:rPr lang="en-US" altLang="en-US" dirty="0"/>
              <a:t>Process control, </a:t>
            </a:r>
          </a:p>
          <a:p>
            <a:pPr lvl="1"/>
            <a:r>
              <a:rPr lang="en-US" altLang="en-US" dirty="0"/>
              <a:t>File manipulation, </a:t>
            </a:r>
          </a:p>
          <a:p>
            <a:pPr lvl="1"/>
            <a:r>
              <a:rPr lang="en-US" altLang="en-US" dirty="0"/>
              <a:t>Device manipulation,</a:t>
            </a:r>
          </a:p>
          <a:p>
            <a:pPr lvl="1"/>
            <a:r>
              <a:rPr lang="en-US" altLang="en-US" dirty="0"/>
              <a:t>Information maintenance,</a:t>
            </a:r>
          </a:p>
          <a:p>
            <a:pPr lvl="1"/>
            <a:r>
              <a:rPr lang="en-US" altLang="en-US" dirty="0"/>
              <a:t>Communications,</a:t>
            </a:r>
          </a:p>
          <a:p>
            <a:pPr lvl="1"/>
            <a:r>
              <a:rPr lang="en-US" altLang="en-US" dirty="0"/>
              <a:t>Protection.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C37AFB5-9A04-46FB-AE0B-D1FCA737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106363"/>
            <a:ext cx="764857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Examples of Windows and  Unix System Calls</a:t>
            </a:r>
          </a:p>
        </p:txBody>
      </p:sp>
      <p:pic>
        <p:nvPicPr>
          <p:cNvPr id="30723" name="Picture 6" descr="OS8-p61">
            <a:extLst>
              <a:ext uri="{FF2B5EF4-FFF2-40B4-BE49-F238E27FC236}">
                <a16:creationId xmlns:a16="http://schemas.microsoft.com/office/drawing/2014/main" id="{C8E982BD-C6E2-408A-B9B6-A7C66CB79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203325"/>
            <a:ext cx="5395912" cy="481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D0F550D-339F-476A-A535-2F2403780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2.5	System Programs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ACE0742-3E4D-4795-85A7-8B7FABEC8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84263"/>
            <a:ext cx="8105775" cy="4683125"/>
          </a:xfrm>
        </p:spPr>
        <p:txBody>
          <a:bodyPr/>
          <a:lstStyle/>
          <a:p>
            <a:r>
              <a:rPr lang="en-US" altLang="en-US" dirty="0"/>
              <a:t>System programs provide a convenient environment for program development and execution.</a:t>
            </a:r>
          </a:p>
          <a:p>
            <a:r>
              <a:rPr lang="en-US" altLang="en-US" dirty="0"/>
              <a:t>Some of them are simply user interfaces to system calls. Others are considerably more complex.</a:t>
            </a:r>
          </a:p>
          <a:p>
            <a:r>
              <a:rPr lang="en-US" altLang="en-US" dirty="0"/>
              <a:t>They can be divided into:</a:t>
            </a:r>
          </a:p>
          <a:p>
            <a:pPr lvl="1"/>
            <a:r>
              <a:rPr lang="en-US" altLang="en-US" sz="1800" dirty="0"/>
              <a:t>File manipulation </a:t>
            </a:r>
          </a:p>
          <a:p>
            <a:pPr lvl="1"/>
            <a:r>
              <a:rPr lang="en-US" altLang="en-US" sz="1800" dirty="0"/>
              <a:t>Status information sometimes stored in a File modification</a:t>
            </a:r>
          </a:p>
          <a:p>
            <a:pPr lvl="1"/>
            <a:r>
              <a:rPr lang="en-US" altLang="en-US" sz="1800" dirty="0"/>
              <a:t>Programming language support</a:t>
            </a:r>
          </a:p>
          <a:p>
            <a:pPr lvl="1"/>
            <a:r>
              <a:rPr lang="en-US" altLang="en-US" sz="1800" dirty="0"/>
              <a:t>Program loading and execution</a:t>
            </a:r>
          </a:p>
          <a:p>
            <a:pPr lvl="1"/>
            <a:r>
              <a:rPr lang="en-US" altLang="en-US" sz="1800" dirty="0"/>
              <a:t>Communications</a:t>
            </a:r>
          </a:p>
          <a:p>
            <a:pPr lvl="1"/>
            <a:r>
              <a:rPr lang="en-US" altLang="en-US" sz="1800" dirty="0"/>
              <a:t>Background services</a:t>
            </a:r>
          </a:p>
          <a:p>
            <a:pPr lvl="1"/>
            <a:r>
              <a:rPr lang="en-US" altLang="en-US" sz="1800" dirty="0"/>
              <a:t>Application programs</a:t>
            </a:r>
          </a:p>
          <a:p>
            <a:r>
              <a:rPr lang="en-US" altLang="en-US" dirty="0"/>
              <a:t>Most users</a:t>
            </a:r>
            <a:r>
              <a:rPr lang="ja-JP" altLang="en-US" dirty="0"/>
              <a:t>’</a:t>
            </a:r>
            <a:r>
              <a:rPr lang="en-US" altLang="ja-JP" dirty="0"/>
              <a:t> view of the operation system is defined by system programs, not the actual system calls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C23E51B5-FA59-4468-9C81-858B6BBB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r>
              <a:rPr lang="en-US" altLang="en-US" dirty="0"/>
              <a:t>2.7	Operating System Structure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89AD437C-4F02-4708-9171-7AB193347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650" y="1155700"/>
            <a:ext cx="6918325" cy="4530725"/>
          </a:xfrm>
        </p:spPr>
        <p:txBody>
          <a:bodyPr/>
          <a:lstStyle/>
          <a:p>
            <a:r>
              <a:rPr lang="en-US" altLang="en-US"/>
              <a:t>Various ways to structure an operating system:</a:t>
            </a:r>
          </a:p>
          <a:p>
            <a:pPr lvl="1"/>
            <a:r>
              <a:rPr lang="en-US" altLang="en-US"/>
              <a:t>Monolithic structure</a:t>
            </a:r>
          </a:p>
          <a:p>
            <a:pPr lvl="2"/>
            <a:r>
              <a:rPr lang="en-US" altLang="en-US"/>
              <a:t>Simple structure – MS-DOS</a:t>
            </a:r>
          </a:p>
          <a:p>
            <a:pPr lvl="2"/>
            <a:r>
              <a:rPr lang="en-US" altLang="en-US"/>
              <a:t>More complex – UNIX</a:t>
            </a:r>
          </a:p>
          <a:p>
            <a:pPr lvl="2"/>
            <a:r>
              <a:rPr lang="en-US" altLang="en-US"/>
              <a:t>More complex – Linux</a:t>
            </a:r>
          </a:p>
          <a:p>
            <a:pPr lvl="1"/>
            <a:r>
              <a:rPr lang="en-US" altLang="en-US"/>
              <a:t>Layered – An abstraction</a:t>
            </a:r>
          </a:p>
          <a:p>
            <a:pPr lvl="1"/>
            <a:r>
              <a:rPr lang="en-US" altLang="en-US"/>
              <a:t>Microkernel - Mach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231823F-2097-48E4-A81A-63F5B774A3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00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2.7.1	   Simple Structure: MS-DOS</a:t>
            </a:r>
            <a:endParaRPr lang="en-US" altLang="en-US" sz="2400" dirty="0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D4B63D9-9471-4855-AA22-796EE44AF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960813" cy="4530725"/>
          </a:xfrm>
        </p:spPr>
        <p:txBody>
          <a:bodyPr/>
          <a:lstStyle/>
          <a:p>
            <a:r>
              <a:rPr lang="en-US" altLang="en-US"/>
              <a:t>MS-DOS – written to provide the most functionality in the least amount  of space</a:t>
            </a:r>
          </a:p>
          <a:p>
            <a:r>
              <a:rPr lang="en-US" altLang="en-US"/>
              <a:t>MS-DOS was limited by hardware funcionality.</a:t>
            </a:r>
          </a:p>
          <a:p>
            <a:pPr lvl="1"/>
            <a:r>
              <a:rPr lang="en-US" altLang="en-US"/>
              <a:t>Not divided into modules</a:t>
            </a:r>
          </a:p>
          <a:p>
            <a:pPr lvl="1"/>
            <a:r>
              <a:rPr lang="en-US" altLang="en-US"/>
              <a:t>Although MS-DOS has some structure, its interfaces and levels of functionality are not well separated</a:t>
            </a:r>
          </a:p>
        </p:txBody>
      </p:sp>
      <p:pic>
        <p:nvPicPr>
          <p:cNvPr id="41988" name="Picture 6" descr="2">
            <a:extLst>
              <a:ext uri="{FF2B5EF4-FFF2-40B4-BE49-F238E27FC236}">
                <a16:creationId xmlns:a16="http://schemas.microsoft.com/office/drawing/2014/main" id="{3AE00703-F414-4A1D-B754-4B819C30C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1712913"/>
            <a:ext cx="3570288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3771FAD-611F-4519-B2A1-19104F638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0663" y="255588"/>
            <a:ext cx="6773862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2.7.1  More Complex: UNIX</a:t>
            </a:r>
            <a:endParaRPr lang="en-US" altLang="en-US" sz="2400" dirty="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A10F5ED-D069-41B3-8DAC-65A3F02DA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155700"/>
            <a:ext cx="8108950" cy="4073525"/>
          </a:xfrm>
        </p:spPr>
        <p:txBody>
          <a:bodyPr/>
          <a:lstStyle/>
          <a:p>
            <a:r>
              <a:rPr lang="en-US" altLang="en-US" dirty="0"/>
              <a:t>UNIX – the original UNIX operating system had limited structuring and was limited by hardware functionality.</a:t>
            </a:r>
          </a:p>
          <a:p>
            <a:r>
              <a:rPr lang="en-US" altLang="en-US" dirty="0"/>
              <a:t>The UNIX OS consists of two separable parts</a:t>
            </a:r>
          </a:p>
          <a:p>
            <a:pPr lvl="1"/>
            <a:r>
              <a:rPr lang="en-US" altLang="en-US" dirty="0"/>
              <a:t>Systems programs</a:t>
            </a:r>
          </a:p>
          <a:p>
            <a:pPr lvl="1"/>
            <a:r>
              <a:rPr lang="en-US" altLang="en-US" dirty="0"/>
              <a:t>The kernel</a:t>
            </a:r>
          </a:p>
          <a:p>
            <a:pPr lvl="2"/>
            <a:r>
              <a:rPr lang="en-US" altLang="en-US" dirty="0"/>
              <a:t>Consists of everything below the system-call interface and above the physical hardware</a:t>
            </a:r>
          </a:p>
          <a:p>
            <a:pPr lvl="2"/>
            <a:r>
              <a:rPr lang="en-US" altLang="en-US" dirty="0"/>
              <a:t>Provides the file system, CPU scheduling, memory management, and other operating-system functions; a large number of functions for one level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8B673BC-9460-4AAF-BEAC-2B61DC302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Traditional UNIX System Structure</a:t>
            </a:r>
          </a:p>
        </p:txBody>
      </p:sp>
      <p:pic>
        <p:nvPicPr>
          <p:cNvPr id="44035" name="Picture 4">
            <a:extLst>
              <a:ext uri="{FF2B5EF4-FFF2-40B4-BE49-F238E27FC236}">
                <a16:creationId xmlns:a16="http://schemas.microsoft.com/office/drawing/2014/main" id="{530DB5B9-3AB6-4FDA-9758-59F525E76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1384300"/>
            <a:ext cx="5830888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7AB41F-F0BF-475A-8E9B-8A374EE105E4}"/>
              </a:ext>
            </a:extLst>
          </p:cNvPr>
          <p:cNvSpPr/>
          <p:nvPr/>
        </p:nvSpPr>
        <p:spPr>
          <a:xfrm>
            <a:off x="1366837" y="4978248"/>
            <a:ext cx="6410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dirty="0"/>
              <a:t>Figure 2.12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4FC297B-3014-4D96-9CA7-AF7722A26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838" y="198438"/>
            <a:ext cx="88245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System Structure </a:t>
            </a:r>
            <a:endParaRPr lang="en-US" altLang="en-US" sz="2400" dirty="0"/>
          </a:p>
        </p:txBody>
      </p:sp>
      <p:pic>
        <p:nvPicPr>
          <p:cNvPr id="45059" name="Picture 1">
            <a:extLst>
              <a:ext uri="{FF2B5EF4-FFF2-40B4-BE49-F238E27FC236}">
                <a16:creationId xmlns:a16="http://schemas.microsoft.com/office/drawing/2014/main" id="{99B5547D-A361-456C-887C-3CB584330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8" y="1549400"/>
            <a:ext cx="297180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52C13EC-78A4-4F05-8996-25F2C3F16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2.7.2	  Layered Approach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0A01A55-612B-41E3-B9EE-82A8C0FCA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258888"/>
            <a:ext cx="7950200" cy="4530725"/>
          </a:xfrm>
        </p:spPr>
        <p:txBody>
          <a:bodyPr/>
          <a:lstStyle/>
          <a:p>
            <a:r>
              <a:rPr lang="en-US" altLang="en-US" dirty="0"/>
              <a:t>A system can be made modular in many ways. One method is the </a:t>
            </a:r>
            <a:r>
              <a:rPr lang="en-US" altLang="en-US" b="1" dirty="0"/>
              <a:t>layered approach</a:t>
            </a:r>
            <a:r>
              <a:rPr lang="en-US" altLang="en-US" dirty="0"/>
              <a:t>, in which the operating system is broken into a number of layers (levels). The bottom layer (layer 0) is the hardware; the highest (layer N) is the user interface. </a:t>
            </a:r>
          </a:p>
        </p:txBody>
      </p:sp>
      <p:pic>
        <p:nvPicPr>
          <p:cNvPr id="47108" name="Picture 5">
            <a:extLst>
              <a:ext uri="{FF2B5EF4-FFF2-40B4-BE49-F238E27FC236}">
                <a16:creationId xmlns:a16="http://schemas.microsoft.com/office/drawing/2014/main" id="{EFEB7C9E-77B0-46B6-8090-58F0C131C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2973388"/>
            <a:ext cx="2927350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6EF02A-3E54-456C-9853-131164670C85}"/>
              </a:ext>
            </a:extLst>
          </p:cNvPr>
          <p:cNvSpPr/>
          <p:nvPr/>
        </p:nvSpPr>
        <p:spPr>
          <a:xfrm>
            <a:off x="1366837" y="6075363"/>
            <a:ext cx="6410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dirty="0"/>
              <a:t>Figure 2.13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9C53BDB-B758-48BD-851B-2923A268D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2.7.3	  Microkernel System Structure </a:t>
            </a:r>
            <a:endParaRPr lang="en-US" altLang="en-US" sz="2400" dirty="0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76F5022-9A6D-4822-8C60-727D7F2409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6175"/>
            <a:ext cx="8159749" cy="4921250"/>
          </a:xfrm>
        </p:spPr>
        <p:txBody>
          <a:bodyPr/>
          <a:lstStyle/>
          <a:p>
            <a:r>
              <a:rPr lang="en-US" altLang="en-US" dirty="0"/>
              <a:t>Moves as much from the kernel into user space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Mach </a:t>
            </a: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3366FF"/>
                </a:solidFill>
              </a:rPr>
              <a:t>microkernel</a:t>
            </a:r>
          </a:p>
          <a:p>
            <a:pPr lvl="1"/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3366FF"/>
                </a:solidFill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800" dirty="0"/>
          </a:p>
          <a:p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  <a:endParaRPr lang="en-US" altLang="en-US" sz="800" dirty="0"/>
          </a:p>
          <a:p>
            <a:r>
              <a:rPr lang="en-US" altLang="en-US" dirty="0"/>
              <a:t>Benefits:</a:t>
            </a:r>
          </a:p>
          <a:p>
            <a:pPr lvl="1"/>
            <a:r>
              <a:rPr lang="en-US" altLang="en-US" sz="2000" dirty="0"/>
              <a:t>Easier to extend a microkernel</a:t>
            </a:r>
          </a:p>
          <a:p>
            <a:pPr lvl="1"/>
            <a:r>
              <a:rPr lang="en-US" altLang="en-US" sz="2000" dirty="0"/>
              <a:t>Easier to port the operating system to new architectures</a:t>
            </a:r>
          </a:p>
          <a:p>
            <a:pPr lvl="1"/>
            <a:r>
              <a:rPr lang="en-US" altLang="en-US" sz="2000" dirty="0"/>
              <a:t>More reliable (less code is running in kernel mode)</a:t>
            </a:r>
          </a:p>
          <a:p>
            <a:pPr lvl="1"/>
            <a:r>
              <a:rPr lang="en-US" altLang="en-US" sz="2000" dirty="0"/>
              <a:t>More secure</a:t>
            </a:r>
            <a:endParaRPr lang="en-US" altLang="en-US" sz="700" dirty="0"/>
          </a:p>
          <a:p>
            <a:r>
              <a:rPr lang="en-US" altLang="en-US" dirty="0"/>
              <a:t>Detriments:</a:t>
            </a:r>
          </a:p>
          <a:p>
            <a:pPr lvl="1"/>
            <a:r>
              <a:rPr lang="en-US" altLang="en-US" sz="2000" dirty="0"/>
              <a:t>Performance overhead of user space to kernel space communication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4A551CC-3E89-4A50-9251-69082E19A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pic>
        <p:nvPicPr>
          <p:cNvPr id="50179" name="Picture 2" descr="2_14.pdf">
            <a:extLst>
              <a:ext uri="{FF2B5EF4-FFF2-40B4-BE49-F238E27FC236}">
                <a16:creationId xmlns:a16="http://schemas.microsoft.com/office/drawing/2014/main" id="{952048FE-ABDE-45C7-B309-BF6FD8DD6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423988"/>
            <a:ext cx="6664325" cy="322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7BA352-E6C6-4BB3-B2B2-66D86E624C9E}"/>
              </a:ext>
            </a:extLst>
          </p:cNvPr>
          <p:cNvSpPr/>
          <p:nvPr/>
        </p:nvSpPr>
        <p:spPr>
          <a:xfrm>
            <a:off x="1366837" y="4912281"/>
            <a:ext cx="6410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MY" dirty="0"/>
              <a:t>Figure 2.14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FCB452EE-24D7-4A9C-8912-A3711D8D4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2.7.4	  Modules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599D65A-72AB-4A7D-8E3E-74642B469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33488"/>
            <a:ext cx="8121650" cy="4530725"/>
          </a:xfrm>
        </p:spPr>
        <p:txBody>
          <a:bodyPr/>
          <a:lstStyle/>
          <a:p>
            <a:r>
              <a:rPr lang="en-US" altLang="en-US" dirty="0"/>
              <a:t>Many modern operating systems implement </a:t>
            </a:r>
            <a:r>
              <a:rPr lang="en-US" altLang="en-US" b="1" dirty="0">
                <a:solidFill>
                  <a:srgbClr val="3366FF"/>
                </a:solidFill>
              </a:rPr>
              <a:t>loadable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kernel modules</a:t>
            </a:r>
          </a:p>
          <a:p>
            <a:pPr lvl="1"/>
            <a:r>
              <a:rPr lang="en-US" altLang="en-US" dirty="0"/>
              <a:t>Uses object-oriented approach</a:t>
            </a:r>
          </a:p>
          <a:p>
            <a:pPr lvl="1"/>
            <a:r>
              <a:rPr lang="en-US" altLang="en-US" dirty="0"/>
              <a:t>Each core component is separate</a:t>
            </a:r>
          </a:p>
          <a:p>
            <a:pPr lvl="1"/>
            <a:r>
              <a:rPr lang="en-US" altLang="en-US" dirty="0"/>
              <a:t>Each talks to the others over known interfaces</a:t>
            </a:r>
          </a:p>
          <a:p>
            <a:pPr lvl="1"/>
            <a:r>
              <a:rPr lang="en-US" altLang="en-US" dirty="0"/>
              <a:t>Each is loadable as needed within the kernel</a:t>
            </a:r>
          </a:p>
          <a:p>
            <a:r>
              <a:rPr lang="en-US" altLang="en-US" dirty="0"/>
              <a:t>Overall, similar to layers but with more flexible</a:t>
            </a:r>
          </a:p>
          <a:p>
            <a:pPr lvl="1"/>
            <a:r>
              <a:rPr lang="en-US" altLang="en-US" dirty="0"/>
              <a:t>Linux, Solaris,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CE3AC0E-86D7-4FB7-86FA-C9405296F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2.7.5  Hybrid Systems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1B42BCB-ED3B-4057-8437-184D19016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182688"/>
            <a:ext cx="8077200" cy="4530725"/>
          </a:xfrm>
        </p:spPr>
        <p:txBody>
          <a:bodyPr/>
          <a:lstStyle/>
          <a:p>
            <a:r>
              <a:rPr lang="en-US" altLang="en-US" dirty="0"/>
              <a:t>In practice, very few operating systems adopt a single, strictly defined structure.  </a:t>
            </a:r>
          </a:p>
          <a:p>
            <a:r>
              <a:rPr lang="en-US" altLang="en-US" dirty="0"/>
              <a:t>Instead, they combine different structures, resulting in hybrid systems that address performance, security, and usability issues. </a:t>
            </a:r>
          </a:p>
          <a:p>
            <a:pPr lvl="1"/>
            <a:r>
              <a:rPr lang="en-US" altLang="en-US" sz="2000" dirty="0"/>
              <a:t>For example, Linux is monolithic, because having the operating system in a single address space provides very efficient performance. However, Linux  are also modular, so that new functionality can be dynamically added to the kernel.</a:t>
            </a:r>
          </a:p>
          <a:p>
            <a:r>
              <a:rPr lang="en-US" altLang="en-US" dirty="0"/>
              <a:t>Examples of the structure of hybrid systems: </a:t>
            </a:r>
          </a:p>
          <a:p>
            <a:pPr lvl="1"/>
            <a:r>
              <a:rPr lang="en-US" altLang="en-US" sz="2000" dirty="0"/>
              <a:t>Apple Mac operating system (laptop)</a:t>
            </a:r>
          </a:p>
          <a:p>
            <a:pPr lvl="1"/>
            <a:r>
              <a:rPr lang="en-US" altLang="en-US" sz="2000" dirty="0"/>
              <a:t>iOS  (mobile operating systems)</a:t>
            </a:r>
          </a:p>
          <a:p>
            <a:pPr lvl="1"/>
            <a:r>
              <a:rPr lang="en-US" altLang="en-US" sz="2000" dirty="0"/>
              <a:t>Android (mobile operating systems)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4D7E2EF-9650-4281-8970-5AE742B42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1925" y="198438"/>
            <a:ext cx="7712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Architecture of Mac OS X and iOS </a:t>
            </a:r>
            <a:endParaRPr lang="en-US" altLang="en-US" sz="2400" dirty="0"/>
          </a:p>
        </p:txBody>
      </p:sp>
      <p:pic>
        <p:nvPicPr>
          <p:cNvPr id="53251" name="Picture 1">
            <a:extLst>
              <a:ext uri="{FF2B5EF4-FFF2-40B4-BE49-F238E27FC236}">
                <a16:creationId xmlns:a16="http://schemas.microsoft.com/office/drawing/2014/main" id="{E1A45ED0-90F7-46B7-A179-CE24AF30C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8" y="1373188"/>
            <a:ext cx="4513262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6E8D77C-1ADE-48EF-95E3-DB149A7FC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Android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658CD3F-8A5A-4623-9D36-900994D37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08075"/>
            <a:ext cx="8077200" cy="4530725"/>
          </a:xfrm>
        </p:spPr>
        <p:txBody>
          <a:bodyPr/>
          <a:lstStyle/>
          <a:p>
            <a:r>
              <a:rPr lang="en-US" altLang="en-US" dirty="0"/>
              <a:t>Developed by Open Handset Alliance (mostly Google)</a:t>
            </a:r>
          </a:p>
          <a:p>
            <a:pPr lvl="1"/>
            <a:r>
              <a:rPr lang="en-US" altLang="en-US" dirty="0"/>
              <a:t>Open Source</a:t>
            </a:r>
          </a:p>
          <a:p>
            <a:r>
              <a:rPr lang="en-US" altLang="en-US" dirty="0"/>
              <a:t>Similar stack to iOS</a:t>
            </a:r>
          </a:p>
          <a:p>
            <a:r>
              <a:rPr lang="en-US" altLang="en-US" dirty="0"/>
              <a:t>Based on Linux kernel but modified</a:t>
            </a:r>
          </a:p>
          <a:p>
            <a:pPr lvl="1"/>
            <a:r>
              <a:rPr lang="en-US" altLang="en-US" dirty="0"/>
              <a:t>Provides process, memory, device-driver management</a:t>
            </a:r>
          </a:p>
          <a:p>
            <a:pPr lvl="1"/>
            <a:r>
              <a:rPr lang="en-US" altLang="en-US" dirty="0"/>
              <a:t>Adds power management </a:t>
            </a:r>
          </a:p>
          <a:p>
            <a:r>
              <a:rPr lang="en-US" altLang="en-US" dirty="0"/>
              <a:t>Runtime environment includes core set of libraries and </a:t>
            </a:r>
            <a:r>
              <a:rPr lang="en-US" altLang="en-US" dirty="0" err="1"/>
              <a:t>Dalvik</a:t>
            </a:r>
            <a:r>
              <a:rPr lang="en-US" altLang="en-US" dirty="0"/>
              <a:t> virtual machine</a:t>
            </a:r>
          </a:p>
          <a:p>
            <a:pPr lvl="1"/>
            <a:r>
              <a:rPr lang="en-US" altLang="en-US" dirty="0"/>
              <a:t>Apps developed in Java plus Android API</a:t>
            </a:r>
          </a:p>
          <a:p>
            <a:pPr lvl="2"/>
            <a:r>
              <a:rPr lang="en-US" altLang="en-US" dirty="0"/>
              <a:t>Java class files compiled to Java bytecode then translated to executable than runs in </a:t>
            </a:r>
            <a:r>
              <a:rPr lang="en-US" altLang="en-US" dirty="0" err="1"/>
              <a:t>Dalvik</a:t>
            </a:r>
            <a:r>
              <a:rPr lang="en-US" altLang="en-US" dirty="0"/>
              <a:t> VM</a:t>
            </a:r>
          </a:p>
          <a:p>
            <a:r>
              <a:rPr lang="en-US" altLang="en-US" dirty="0"/>
              <a:t>Libraries include frameworks for web browser (</a:t>
            </a:r>
            <a:r>
              <a:rPr lang="en-US" altLang="en-US" dirty="0" err="1"/>
              <a:t>webkit</a:t>
            </a:r>
            <a:r>
              <a:rPr lang="en-US" altLang="en-US" dirty="0"/>
              <a:t>), database (SQLite), multimedia, smaller </a:t>
            </a:r>
            <a:r>
              <a:rPr lang="en-US" altLang="en-US" dirty="0" err="1"/>
              <a:t>libc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2EB4028-91B2-458C-A95A-9B08D76DF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1925" y="198438"/>
            <a:ext cx="7399338" cy="576262"/>
          </a:xfrm>
        </p:spPr>
        <p:txBody>
          <a:bodyPr/>
          <a:lstStyle/>
          <a:p>
            <a:pPr eaLnBrk="1" hangingPunct="1"/>
            <a:r>
              <a:rPr lang="en-US" altLang="en-US"/>
              <a:t>Android Architecture </a:t>
            </a:r>
            <a:endParaRPr lang="en-US" altLang="en-US" sz="2400"/>
          </a:p>
        </p:txBody>
      </p:sp>
      <p:pic>
        <p:nvPicPr>
          <p:cNvPr id="56323" name="Picture 1">
            <a:extLst>
              <a:ext uri="{FF2B5EF4-FFF2-40B4-BE49-F238E27FC236}">
                <a16:creationId xmlns:a16="http://schemas.microsoft.com/office/drawing/2014/main" id="{158CFE50-ADC0-4C68-B243-23DF9F1A6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1358900"/>
            <a:ext cx="4837113" cy="383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21812FE-ADDC-47C7-9D24-35BD2F7F3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2.10	System Boot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C8BEE02-5A8A-41EB-A0F1-BA8733801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1" y="1154113"/>
            <a:ext cx="8128000" cy="4530725"/>
          </a:xfrm>
        </p:spPr>
        <p:txBody>
          <a:bodyPr/>
          <a:lstStyle/>
          <a:p>
            <a:r>
              <a:rPr lang="en-US" altLang="en-US" dirty="0"/>
              <a:t>When power initialized on system, execution starts at a fixed memory location</a:t>
            </a:r>
          </a:p>
          <a:p>
            <a:pPr lvl="1"/>
            <a:r>
              <a:rPr lang="en-US" altLang="en-US" sz="2000" dirty="0"/>
              <a:t>Firmware ROM used to hold initial boot code</a:t>
            </a:r>
          </a:p>
          <a:p>
            <a:r>
              <a:rPr lang="en-US" altLang="en-US" dirty="0"/>
              <a:t>Operating system must be made available to hardware so hardware can start it</a:t>
            </a:r>
          </a:p>
          <a:p>
            <a:pPr lvl="1"/>
            <a:r>
              <a:rPr lang="en-US" altLang="en-US" sz="2000" dirty="0"/>
              <a:t>Small piece of code – </a:t>
            </a:r>
            <a:r>
              <a:rPr lang="en-US" altLang="en-US" sz="2000" b="1" dirty="0">
                <a:solidFill>
                  <a:srgbClr val="3366FF"/>
                </a:solidFill>
              </a:rPr>
              <a:t>bootstrap loader</a:t>
            </a:r>
            <a:r>
              <a:rPr lang="en-US" altLang="en-US" sz="2000" dirty="0"/>
              <a:t>, stored in </a:t>
            </a:r>
            <a:r>
              <a:rPr lang="en-US" altLang="en-US" sz="2000" b="1" dirty="0">
                <a:solidFill>
                  <a:srgbClr val="3366FF"/>
                </a:solidFill>
              </a:rPr>
              <a:t>ROM</a:t>
            </a:r>
            <a:r>
              <a:rPr lang="en-US" altLang="en-US" sz="2000" dirty="0"/>
              <a:t> or </a:t>
            </a:r>
            <a:r>
              <a:rPr lang="en-US" altLang="en-US" sz="2000" b="1" dirty="0">
                <a:solidFill>
                  <a:srgbClr val="3366FF"/>
                </a:solidFill>
              </a:rPr>
              <a:t>EEPROM</a:t>
            </a:r>
            <a:r>
              <a:rPr lang="en-US" altLang="en-US" sz="2000" dirty="0"/>
              <a:t> locates the kernel, loads it into memory, and starts it</a:t>
            </a:r>
          </a:p>
          <a:p>
            <a:pPr lvl="1"/>
            <a:r>
              <a:rPr lang="en-US" altLang="en-US" sz="2000" dirty="0"/>
              <a:t>Sometimes two-step process where </a:t>
            </a:r>
            <a:r>
              <a:rPr lang="en-US" altLang="en-US" sz="2000" b="1" dirty="0">
                <a:solidFill>
                  <a:srgbClr val="3366FF"/>
                </a:solidFill>
              </a:rPr>
              <a:t>boot block </a:t>
            </a:r>
            <a:r>
              <a:rPr lang="en-US" altLang="en-US" sz="2000" dirty="0"/>
              <a:t>at fixed location loaded by ROM code, which loads bootstrap loader from disk</a:t>
            </a:r>
          </a:p>
          <a:p>
            <a:r>
              <a:rPr lang="en-US" altLang="en-US" dirty="0"/>
              <a:t>Common bootstrap loader, </a:t>
            </a:r>
            <a:r>
              <a:rPr lang="en-US" altLang="en-US" b="1" dirty="0">
                <a:solidFill>
                  <a:srgbClr val="3366FF"/>
                </a:solidFill>
              </a:rPr>
              <a:t>GRUB</a:t>
            </a:r>
            <a:r>
              <a:rPr lang="en-US" altLang="en-US" dirty="0"/>
              <a:t>, allows selection of kernel from multiple disks, versions, kernel options</a:t>
            </a:r>
          </a:p>
          <a:p>
            <a:r>
              <a:rPr lang="en-US" altLang="en-US" dirty="0"/>
              <a:t>Kernel loads and system is then </a:t>
            </a:r>
            <a:r>
              <a:rPr lang="en-US" altLang="en-US" b="1" dirty="0">
                <a:solidFill>
                  <a:srgbClr val="3366FF"/>
                </a:solidFill>
              </a:rPr>
              <a:t>running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417A-9F90-4DC2-A4E4-A31183D1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FE2F7-63B8-42B1-8265-0E6CF9B8BDAB}"/>
              </a:ext>
            </a:extLst>
          </p:cNvPr>
          <p:cNvSpPr txBox="1"/>
          <p:nvPr/>
        </p:nvSpPr>
        <p:spPr>
          <a:xfrm>
            <a:off x="806400" y="1173600"/>
            <a:ext cx="770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Silberchatz</a:t>
            </a:r>
            <a:r>
              <a:rPr lang="en-US" dirty="0"/>
              <a:t>, Operating System Concepts Chapter 2 Exercises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Odd number Matric card – 2.1, 2.11, 2.13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Even number Matric card – 2.6, 2.10, 2.12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Due date: Submit to e-learning 5 days after you receive the textbook. </a:t>
            </a:r>
          </a:p>
        </p:txBody>
      </p:sp>
    </p:spTree>
    <p:extLst>
      <p:ext uri="{BB962C8B-B14F-4D97-AF65-F5344CB8AC3E}">
        <p14:creationId xmlns:p14="http://schemas.microsoft.com/office/powerpoint/2010/main" val="1163687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A53B2BD-A19B-4AE1-B9F5-62849751B3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9925</TotalTime>
  <Words>1442</Words>
  <Application>Microsoft Office PowerPoint</Application>
  <PresentationFormat>On-screen Show (4:3)</PresentationFormat>
  <Paragraphs>196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ＭＳ Ｐゴシック</vt:lpstr>
      <vt:lpstr>ＭＳ Ｐゴシック</vt:lpstr>
      <vt:lpstr>Arial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2:  Operating-System Structures</vt:lpstr>
      <vt:lpstr>Objectives</vt:lpstr>
      <vt:lpstr>2.1 Operating System Services</vt:lpstr>
      <vt:lpstr>OS Services Helpful to the User</vt:lpstr>
      <vt:lpstr>A View of Operating System Services</vt:lpstr>
      <vt:lpstr>2.2.1  Command Interpreters (CLI) </vt:lpstr>
      <vt:lpstr>The Bourne shell command interpreter in Solaris</vt:lpstr>
      <vt:lpstr>2.2.2  Graphical User Interfaces (GUI)</vt:lpstr>
      <vt:lpstr>Touchscreen Interfaces</vt:lpstr>
      <vt:lpstr>The Mac OS X GUI</vt:lpstr>
      <vt:lpstr>2.3 System Calls</vt:lpstr>
      <vt:lpstr>Example of System Calls</vt:lpstr>
      <vt:lpstr>Example of Standard API</vt:lpstr>
      <vt:lpstr>2.4 Types of System Calls</vt:lpstr>
      <vt:lpstr>Examples of Windows and  Unix System Calls</vt:lpstr>
      <vt:lpstr>2.5 System Programs</vt:lpstr>
      <vt:lpstr>2.7 Operating System Structure</vt:lpstr>
      <vt:lpstr>2.7.1    Simple Structure: MS-DOS</vt:lpstr>
      <vt:lpstr>2.7.1  More Complex: UNIX</vt:lpstr>
      <vt:lpstr>Traditional UNIX System Structure</vt:lpstr>
      <vt:lpstr>Linux System Structure </vt:lpstr>
      <vt:lpstr>2.7.2   Layered Approach</vt:lpstr>
      <vt:lpstr>2.7.3   Microkernel System Structure </vt:lpstr>
      <vt:lpstr>Microkernel System Structure </vt:lpstr>
      <vt:lpstr>2.7.4   Modules</vt:lpstr>
      <vt:lpstr>2.7.5  Hybrid Systems</vt:lpstr>
      <vt:lpstr>Architecture of Mac OS X and iOS </vt:lpstr>
      <vt:lpstr>Android</vt:lpstr>
      <vt:lpstr>Android Architecture </vt:lpstr>
      <vt:lpstr>2.10 System Boot</vt:lpstr>
      <vt:lpstr>EXERCISE</vt:lpstr>
      <vt:lpstr>End of Chapter 2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MARINA</cp:lastModifiedBy>
  <cp:revision>270</cp:revision>
  <cp:lastPrinted>2018-02-16T06:35:04Z</cp:lastPrinted>
  <dcterms:created xsi:type="dcterms:W3CDTF">2011-01-13T23:43:38Z</dcterms:created>
  <dcterms:modified xsi:type="dcterms:W3CDTF">2018-02-17T10:08:00Z</dcterms:modified>
</cp:coreProperties>
</file>