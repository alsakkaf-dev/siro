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  <p:sldMasterId id="2147484384" r:id="rId2"/>
    <p:sldMasterId id="2147484397" r:id="rId3"/>
  </p:sldMasterIdLst>
  <p:notesMasterIdLst>
    <p:notesMasterId r:id="rId53"/>
  </p:notesMasterIdLst>
  <p:handoutMasterIdLst>
    <p:handoutMasterId r:id="rId54"/>
  </p:handoutMasterIdLst>
  <p:sldIdLst>
    <p:sldId id="330" r:id="rId4"/>
    <p:sldId id="411" r:id="rId5"/>
    <p:sldId id="468" r:id="rId6"/>
    <p:sldId id="483" r:id="rId7"/>
    <p:sldId id="414" r:id="rId8"/>
    <p:sldId id="610" r:id="rId9"/>
    <p:sldId id="611" r:id="rId10"/>
    <p:sldId id="612" r:id="rId11"/>
    <p:sldId id="415" r:id="rId12"/>
    <p:sldId id="616" r:id="rId13"/>
    <p:sldId id="613" r:id="rId14"/>
    <p:sldId id="614" r:id="rId15"/>
    <p:sldId id="615" r:id="rId16"/>
    <p:sldId id="417" r:id="rId17"/>
    <p:sldId id="419" r:id="rId18"/>
    <p:sldId id="421" r:id="rId19"/>
    <p:sldId id="422" r:id="rId20"/>
    <p:sldId id="424" r:id="rId21"/>
    <p:sldId id="617" r:id="rId22"/>
    <p:sldId id="426" r:id="rId23"/>
    <p:sldId id="427" r:id="rId24"/>
    <p:sldId id="619" r:id="rId25"/>
    <p:sldId id="618" r:id="rId26"/>
    <p:sldId id="428" r:id="rId27"/>
    <p:sldId id="578" r:id="rId28"/>
    <p:sldId id="580" r:id="rId29"/>
    <p:sldId id="567" r:id="rId30"/>
    <p:sldId id="605" r:id="rId31"/>
    <p:sldId id="485" r:id="rId32"/>
    <p:sldId id="607" r:id="rId33"/>
    <p:sldId id="484" r:id="rId34"/>
    <p:sldId id="471" r:id="rId35"/>
    <p:sldId id="486" r:id="rId36"/>
    <p:sldId id="436" r:id="rId37"/>
    <p:sldId id="621" r:id="rId38"/>
    <p:sldId id="333" r:id="rId39"/>
    <p:sldId id="268" r:id="rId40"/>
    <p:sldId id="331" r:id="rId41"/>
    <p:sldId id="332" r:id="rId42"/>
    <p:sldId id="310" r:id="rId43"/>
    <p:sldId id="622" r:id="rId44"/>
    <p:sldId id="271" r:id="rId45"/>
    <p:sldId id="273" r:id="rId46"/>
    <p:sldId id="274" r:id="rId47"/>
    <p:sldId id="298" r:id="rId48"/>
    <p:sldId id="275" r:id="rId49"/>
    <p:sldId id="299" r:id="rId50"/>
    <p:sldId id="620" r:id="rId51"/>
    <p:sldId id="467" r:id="rId52"/>
  </p:sldIdLst>
  <p:sldSz cx="9144000" cy="6858000" type="screen4x3"/>
  <p:notesSz cx="9929813" cy="67976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0" autoAdjust="0"/>
    <p:restoredTop sz="94690"/>
  </p:normalViewPr>
  <p:slideViewPr>
    <p:cSldViewPr snapToGrid="0">
      <p:cViewPr varScale="1">
        <p:scale>
          <a:sx n="95" d="100"/>
          <a:sy n="95" d="100"/>
        </p:scale>
        <p:origin x="1488" y="17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14" d="100"/>
        <a:sy n="114" d="100"/>
      </p:scale>
      <p:origin x="0" y="0"/>
    </p:cViewPr>
  </p:sorterViewPr>
  <p:notesViewPr>
    <p:cSldViewPr snapToGrid="0">
      <p:cViewPr varScale="1">
        <p:scale>
          <a:sx n="111" d="100"/>
          <a:sy n="111" d="100"/>
        </p:scale>
        <p:origin x="215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D5D065-F991-D442-B4DD-3F7BE68F6BE5}" type="doc">
      <dgm:prSet loTypeId="urn:microsoft.com/office/officeart/2005/8/layout/hierarchy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FDCD21-BB77-A945-A4C2-02D18B4BB527}">
      <dgm:prSet phldrT="[Text]"/>
      <dgm:spPr/>
      <dgm:t>
        <a:bodyPr/>
        <a:lstStyle/>
        <a:p>
          <a:r>
            <a:rPr lang="en-US" b="1" dirty="0"/>
            <a:t>Process State Models</a:t>
          </a:r>
        </a:p>
      </dgm:t>
    </dgm:pt>
    <dgm:pt modelId="{B416937A-1EFD-9746-967D-049E124585F2}" type="parTrans" cxnId="{DE28711F-6301-414F-9226-738F1A4C9C6E}">
      <dgm:prSet/>
      <dgm:spPr/>
      <dgm:t>
        <a:bodyPr/>
        <a:lstStyle/>
        <a:p>
          <a:endParaRPr lang="en-US"/>
        </a:p>
      </dgm:t>
    </dgm:pt>
    <dgm:pt modelId="{098D21AF-4095-334E-BC51-B718C3E89B9D}" type="sibTrans" cxnId="{DE28711F-6301-414F-9226-738F1A4C9C6E}">
      <dgm:prSet/>
      <dgm:spPr/>
      <dgm:t>
        <a:bodyPr/>
        <a:lstStyle/>
        <a:p>
          <a:endParaRPr lang="en-US"/>
        </a:p>
      </dgm:t>
    </dgm:pt>
    <dgm:pt modelId="{87332964-F592-BA45-A77C-69D6F7FBCC3C}">
      <dgm:prSet phldrT="[Text]"/>
      <dgm:spPr/>
      <dgm:t>
        <a:bodyPr/>
        <a:lstStyle/>
        <a:p>
          <a:r>
            <a:rPr lang="en-US" dirty="0">
              <a:solidFill>
                <a:srgbClr val="0070C0"/>
              </a:solidFill>
            </a:rPr>
            <a:t>Two-state Model</a:t>
          </a:r>
        </a:p>
      </dgm:t>
    </dgm:pt>
    <dgm:pt modelId="{ECF6F286-78C9-1942-A3EC-28D1DEA76E72}" type="parTrans" cxnId="{5FB0DADF-6AC4-B847-81B3-1C539E9EB1C1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CAA8DCE1-EEA4-EB4B-A14D-D2AFDB9BD468}" type="sibTrans" cxnId="{5FB0DADF-6AC4-B847-81B3-1C539E9EB1C1}">
      <dgm:prSet/>
      <dgm:spPr/>
      <dgm:t>
        <a:bodyPr/>
        <a:lstStyle/>
        <a:p>
          <a:endParaRPr lang="en-US"/>
        </a:p>
      </dgm:t>
    </dgm:pt>
    <dgm:pt modelId="{2D1EA09A-6E11-5044-AE4A-B09C3563A492}">
      <dgm:prSet phldrT="[Text]"/>
      <dgm:spPr/>
      <dgm:t>
        <a:bodyPr/>
        <a:lstStyle/>
        <a:p>
          <a:r>
            <a:rPr lang="en-US" dirty="0">
              <a:solidFill>
                <a:srgbClr val="0070C0"/>
              </a:solidFill>
            </a:rPr>
            <a:t>Five-state Model</a:t>
          </a:r>
        </a:p>
      </dgm:t>
    </dgm:pt>
    <dgm:pt modelId="{615EBC1E-D283-924F-8474-A2BBDD11725D}" type="parTrans" cxnId="{28CB5B31-F2D1-BF45-8CA9-5351C4705F90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DB85B5D7-486F-E045-9946-E5C5361B19B4}" type="sibTrans" cxnId="{28CB5B31-F2D1-BF45-8CA9-5351C4705F90}">
      <dgm:prSet/>
      <dgm:spPr/>
      <dgm:t>
        <a:bodyPr/>
        <a:lstStyle/>
        <a:p>
          <a:endParaRPr lang="en-US"/>
        </a:p>
      </dgm:t>
    </dgm:pt>
    <dgm:pt modelId="{92DF21F4-55B5-0F4B-A5FF-A820B6B9E4EB}" type="pres">
      <dgm:prSet presAssocID="{C2D5D065-F991-D442-B4DD-3F7BE68F6BE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EC6C3C-4BFB-D84D-ACE1-A61BD7CFB3D6}" type="pres">
      <dgm:prSet presAssocID="{7BFDCD21-BB77-A945-A4C2-02D18B4BB527}" presName="hierRoot1" presStyleCnt="0"/>
      <dgm:spPr/>
    </dgm:pt>
    <dgm:pt modelId="{480AFB4D-2EC0-4749-8B4E-09937D2F57B0}" type="pres">
      <dgm:prSet presAssocID="{7BFDCD21-BB77-A945-A4C2-02D18B4BB527}" presName="composite" presStyleCnt="0"/>
      <dgm:spPr/>
    </dgm:pt>
    <dgm:pt modelId="{716991C9-3241-8D47-B04B-F100620912E8}" type="pres">
      <dgm:prSet presAssocID="{7BFDCD21-BB77-A945-A4C2-02D18B4BB527}" presName="background" presStyleLbl="node0" presStyleIdx="0" presStyleCnt="1"/>
      <dgm:spPr/>
    </dgm:pt>
    <dgm:pt modelId="{A38145F8-BEAC-B14C-99F7-7A5A36529627}" type="pres">
      <dgm:prSet presAssocID="{7BFDCD21-BB77-A945-A4C2-02D18B4BB527}" presName="text" presStyleLbl="fgAcc0" presStyleIdx="0" presStyleCnt="1" custScaleX="120171">
        <dgm:presLayoutVars>
          <dgm:chPref val="3"/>
        </dgm:presLayoutVars>
      </dgm:prSet>
      <dgm:spPr/>
    </dgm:pt>
    <dgm:pt modelId="{C7F418F1-A511-E547-BD36-746693268BB9}" type="pres">
      <dgm:prSet presAssocID="{7BFDCD21-BB77-A945-A4C2-02D18B4BB527}" presName="hierChild2" presStyleCnt="0"/>
      <dgm:spPr/>
    </dgm:pt>
    <dgm:pt modelId="{EAD7138D-9B2A-234D-9481-AAF8D21F6F09}" type="pres">
      <dgm:prSet presAssocID="{ECF6F286-78C9-1942-A3EC-28D1DEA76E72}" presName="Name10" presStyleLbl="parChTrans1D2" presStyleIdx="0" presStyleCnt="2"/>
      <dgm:spPr/>
    </dgm:pt>
    <dgm:pt modelId="{214D11BC-4B87-8141-B47B-CC4021B53DD5}" type="pres">
      <dgm:prSet presAssocID="{87332964-F592-BA45-A77C-69D6F7FBCC3C}" presName="hierRoot2" presStyleCnt="0"/>
      <dgm:spPr/>
    </dgm:pt>
    <dgm:pt modelId="{8BD9526B-0255-3A42-A1A6-2DBBD88A3864}" type="pres">
      <dgm:prSet presAssocID="{87332964-F592-BA45-A77C-69D6F7FBCC3C}" presName="composite2" presStyleCnt="0"/>
      <dgm:spPr/>
    </dgm:pt>
    <dgm:pt modelId="{C9262F87-FB2D-E34D-8C34-FEE10104996F}" type="pres">
      <dgm:prSet presAssocID="{87332964-F592-BA45-A77C-69D6F7FBCC3C}" presName="background2" presStyleLbl="node2" presStyleIdx="0" presStyleCnt="2"/>
      <dgm:spPr/>
    </dgm:pt>
    <dgm:pt modelId="{12D7D9F2-89DF-064E-9108-A943A15A11AA}" type="pres">
      <dgm:prSet presAssocID="{87332964-F592-BA45-A77C-69D6F7FBCC3C}" presName="text2" presStyleLbl="fgAcc2" presStyleIdx="0" presStyleCnt="2">
        <dgm:presLayoutVars>
          <dgm:chPref val="3"/>
        </dgm:presLayoutVars>
      </dgm:prSet>
      <dgm:spPr/>
    </dgm:pt>
    <dgm:pt modelId="{D9FB01AA-ABC7-8B41-ABFA-B70F401B080B}" type="pres">
      <dgm:prSet presAssocID="{87332964-F592-BA45-A77C-69D6F7FBCC3C}" presName="hierChild3" presStyleCnt="0"/>
      <dgm:spPr/>
    </dgm:pt>
    <dgm:pt modelId="{16540A9D-20CC-F44D-874F-516354518013}" type="pres">
      <dgm:prSet presAssocID="{615EBC1E-D283-924F-8474-A2BBDD11725D}" presName="Name10" presStyleLbl="parChTrans1D2" presStyleIdx="1" presStyleCnt="2"/>
      <dgm:spPr/>
    </dgm:pt>
    <dgm:pt modelId="{26A26D2F-A2E5-474B-A293-6DA2C61A533C}" type="pres">
      <dgm:prSet presAssocID="{2D1EA09A-6E11-5044-AE4A-B09C3563A492}" presName="hierRoot2" presStyleCnt="0"/>
      <dgm:spPr/>
    </dgm:pt>
    <dgm:pt modelId="{6A2794C5-B4A3-DB4D-9BD7-D318D388B3D9}" type="pres">
      <dgm:prSet presAssocID="{2D1EA09A-6E11-5044-AE4A-B09C3563A492}" presName="composite2" presStyleCnt="0"/>
      <dgm:spPr/>
    </dgm:pt>
    <dgm:pt modelId="{DA442011-3849-4C4E-A7DE-EB46807270B9}" type="pres">
      <dgm:prSet presAssocID="{2D1EA09A-6E11-5044-AE4A-B09C3563A492}" presName="background2" presStyleLbl="node2" presStyleIdx="1" presStyleCnt="2"/>
      <dgm:spPr/>
    </dgm:pt>
    <dgm:pt modelId="{37D23D6C-C9BA-1A4E-9377-391D546C36F4}" type="pres">
      <dgm:prSet presAssocID="{2D1EA09A-6E11-5044-AE4A-B09C3563A492}" presName="text2" presStyleLbl="fgAcc2" presStyleIdx="1" presStyleCnt="2">
        <dgm:presLayoutVars>
          <dgm:chPref val="3"/>
        </dgm:presLayoutVars>
      </dgm:prSet>
      <dgm:spPr/>
    </dgm:pt>
    <dgm:pt modelId="{14824159-6748-4D43-9C36-00B2F6F13171}" type="pres">
      <dgm:prSet presAssocID="{2D1EA09A-6E11-5044-AE4A-B09C3563A492}" presName="hierChild3" presStyleCnt="0"/>
      <dgm:spPr/>
    </dgm:pt>
  </dgm:ptLst>
  <dgm:cxnLst>
    <dgm:cxn modelId="{A39B1F17-93CE-4C7F-AF00-D704A287486C}" type="presOf" srcId="{87332964-F592-BA45-A77C-69D6F7FBCC3C}" destId="{12D7D9F2-89DF-064E-9108-A943A15A11AA}" srcOrd="0" destOrd="0" presId="urn:microsoft.com/office/officeart/2005/8/layout/hierarchy1"/>
    <dgm:cxn modelId="{DE28711F-6301-414F-9226-738F1A4C9C6E}" srcId="{C2D5D065-F991-D442-B4DD-3F7BE68F6BE5}" destId="{7BFDCD21-BB77-A945-A4C2-02D18B4BB527}" srcOrd="0" destOrd="0" parTransId="{B416937A-1EFD-9746-967D-049E124585F2}" sibTransId="{098D21AF-4095-334E-BC51-B718C3E89B9D}"/>
    <dgm:cxn modelId="{28CB5B31-F2D1-BF45-8CA9-5351C4705F90}" srcId="{7BFDCD21-BB77-A945-A4C2-02D18B4BB527}" destId="{2D1EA09A-6E11-5044-AE4A-B09C3563A492}" srcOrd="1" destOrd="0" parTransId="{615EBC1E-D283-924F-8474-A2BBDD11725D}" sibTransId="{DB85B5D7-486F-E045-9946-E5C5361B19B4}"/>
    <dgm:cxn modelId="{056F7634-1E00-41ED-B93C-311C7025149A}" type="presOf" srcId="{ECF6F286-78C9-1942-A3EC-28D1DEA76E72}" destId="{EAD7138D-9B2A-234D-9481-AAF8D21F6F09}" srcOrd="0" destOrd="0" presId="urn:microsoft.com/office/officeart/2005/8/layout/hierarchy1"/>
    <dgm:cxn modelId="{7302D73A-C6A5-47D5-9DAB-B600A2DCA0C9}" type="presOf" srcId="{2D1EA09A-6E11-5044-AE4A-B09C3563A492}" destId="{37D23D6C-C9BA-1A4E-9377-391D546C36F4}" srcOrd="0" destOrd="0" presId="urn:microsoft.com/office/officeart/2005/8/layout/hierarchy1"/>
    <dgm:cxn modelId="{4064B747-FA27-48DC-ABBA-D089F5EFDACC}" type="presOf" srcId="{615EBC1E-D283-924F-8474-A2BBDD11725D}" destId="{16540A9D-20CC-F44D-874F-516354518013}" srcOrd="0" destOrd="0" presId="urn:microsoft.com/office/officeart/2005/8/layout/hierarchy1"/>
    <dgm:cxn modelId="{81DC5D7E-04CD-4EF2-B44C-4B6C8A7B640A}" type="presOf" srcId="{C2D5D065-F991-D442-B4DD-3F7BE68F6BE5}" destId="{92DF21F4-55B5-0F4B-A5FF-A820B6B9E4EB}" srcOrd="0" destOrd="0" presId="urn:microsoft.com/office/officeart/2005/8/layout/hierarchy1"/>
    <dgm:cxn modelId="{484C5091-CE1F-4764-89BC-36F1F34CFBC4}" type="presOf" srcId="{7BFDCD21-BB77-A945-A4C2-02D18B4BB527}" destId="{A38145F8-BEAC-B14C-99F7-7A5A36529627}" srcOrd="0" destOrd="0" presId="urn:microsoft.com/office/officeart/2005/8/layout/hierarchy1"/>
    <dgm:cxn modelId="{5FB0DADF-6AC4-B847-81B3-1C539E9EB1C1}" srcId="{7BFDCD21-BB77-A945-A4C2-02D18B4BB527}" destId="{87332964-F592-BA45-A77C-69D6F7FBCC3C}" srcOrd="0" destOrd="0" parTransId="{ECF6F286-78C9-1942-A3EC-28D1DEA76E72}" sibTransId="{CAA8DCE1-EEA4-EB4B-A14D-D2AFDB9BD468}"/>
    <dgm:cxn modelId="{2C1F8C76-7476-46EF-87A4-EE62E51DDFF1}" type="presParOf" srcId="{92DF21F4-55B5-0F4B-A5FF-A820B6B9E4EB}" destId="{D4EC6C3C-4BFB-D84D-ACE1-A61BD7CFB3D6}" srcOrd="0" destOrd="0" presId="urn:microsoft.com/office/officeart/2005/8/layout/hierarchy1"/>
    <dgm:cxn modelId="{E390EA2D-8817-41FA-AECA-F34FD821A864}" type="presParOf" srcId="{D4EC6C3C-4BFB-D84D-ACE1-A61BD7CFB3D6}" destId="{480AFB4D-2EC0-4749-8B4E-09937D2F57B0}" srcOrd="0" destOrd="0" presId="urn:microsoft.com/office/officeart/2005/8/layout/hierarchy1"/>
    <dgm:cxn modelId="{4A85D5C7-87DE-4F2C-AA31-86FFD1F2522B}" type="presParOf" srcId="{480AFB4D-2EC0-4749-8B4E-09937D2F57B0}" destId="{716991C9-3241-8D47-B04B-F100620912E8}" srcOrd="0" destOrd="0" presId="urn:microsoft.com/office/officeart/2005/8/layout/hierarchy1"/>
    <dgm:cxn modelId="{C1C54A1D-1FA0-4058-A44E-24841EBBD9F0}" type="presParOf" srcId="{480AFB4D-2EC0-4749-8B4E-09937D2F57B0}" destId="{A38145F8-BEAC-B14C-99F7-7A5A36529627}" srcOrd="1" destOrd="0" presId="urn:microsoft.com/office/officeart/2005/8/layout/hierarchy1"/>
    <dgm:cxn modelId="{2A7840B5-FF0A-4FE8-9F44-E74232D307D6}" type="presParOf" srcId="{D4EC6C3C-4BFB-D84D-ACE1-A61BD7CFB3D6}" destId="{C7F418F1-A511-E547-BD36-746693268BB9}" srcOrd="1" destOrd="0" presId="urn:microsoft.com/office/officeart/2005/8/layout/hierarchy1"/>
    <dgm:cxn modelId="{733C1A90-0FA5-4B2E-B5E6-8784EBF7C006}" type="presParOf" srcId="{C7F418F1-A511-E547-BD36-746693268BB9}" destId="{EAD7138D-9B2A-234D-9481-AAF8D21F6F09}" srcOrd="0" destOrd="0" presId="urn:microsoft.com/office/officeart/2005/8/layout/hierarchy1"/>
    <dgm:cxn modelId="{81D400BA-C148-4C0F-9F6C-1C476EC40C38}" type="presParOf" srcId="{C7F418F1-A511-E547-BD36-746693268BB9}" destId="{214D11BC-4B87-8141-B47B-CC4021B53DD5}" srcOrd="1" destOrd="0" presId="urn:microsoft.com/office/officeart/2005/8/layout/hierarchy1"/>
    <dgm:cxn modelId="{E94E1A3F-5532-41C6-9F44-4DAE0B5EB4C0}" type="presParOf" srcId="{214D11BC-4B87-8141-B47B-CC4021B53DD5}" destId="{8BD9526B-0255-3A42-A1A6-2DBBD88A3864}" srcOrd="0" destOrd="0" presId="urn:microsoft.com/office/officeart/2005/8/layout/hierarchy1"/>
    <dgm:cxn modelId="{796A252E-C181-455F-86FC-B8DC1E4CFF33}" type="presParOf" srcId="{8BD9526B-0255-3A42-A1A6-2DBBD88A3864}" destId="{C9262F87-FB2D-E34D-8C34-FEE10104996F}" srcOrd="0" destOrd="0" presId="urn:microsoft.com/office/officeart/2005/8/layout/hierarchy1"/>
    <dgm:cxn modelId="{FFA25B35-CB85-47C0-86FB-E6F92CAA5FE5}" type="presParOf" srcId="{8BD9526B-0255-3A42-A1A6-2DBBD88A3864}" destId="{12D7D9F2-89DF-064E-9108-A943A15A11AA}" srcOrd="1" destOrd="0" presId="urn:microsoft.com/office/officeart/2005/8/layout/hierarchy1"/>
    <dgm:cxn modelId="{0F864EE4-59ED-485A-ACB5-CBA890C82EDC}" type="presParOf" srcId="{214D11BC-4B87-8141-B47B-CC4021B53DD5}" destId="{D9FB01AA-ABC7-8B41-ABFA-B70F401B080B}" srcOrd="1" destOrd="0" presId="urn:microsoft.com/office/officeart/2005/8/layout/hierarchy1"/>
    <dgm:cxn modelId="{C4180E0B-F314-4D76-921A-AECAD36AF13C}" type="presParOf" srcId="{C7F418F1-A511-E547-BD36-746693268BB9}" destId="{16540A9D-20CC-F44D-874F-516354518013}" srcOrd="2" destOrd="0" presId="urn:microsoft.com/office/officeart/2005/8/layout/hierarchy1"/>
    <dgm:cxn modelId="{DAF25866-ACFF-4D0A-90DD-E1ED9A776CF4}" type="presParOf" srcId="{C7F418F1-A511-E547-BD36-746693268BB9}" destId="{26A26D2F-A2E5-474B-A293-6DA2C61A533C}" srcOrd="3" destOrd="0" presId="urn:microsoft.com/office/officeart/2005/8/layout/hierarchy1"/>
    <dgm:cxn modelId="{E0707577-132E-4FDA-B948-C2398E03F950}" type="presParOf" srcId="{26A26D2F-A2E5-474B-A293-6DA2C61A533C}" destId="{6A2794C5-B4A3-DB4D-9BD7-D318D388B3D9}" srcOrd="0" destOrd="0" presId="urn:microsoft.com/office/officeart/2005/8/layout/hierarchy1"/>
    <dgm:cxn modelId="{7CFC65C2-D132-4615-BCE0-A58456FAD327}" type="presParOf" srcId="{6A2794C5-B4A3-DB4D-9BD7-D318D388B3D9}" destId="{DA442011-3849-4C4E-A7DE-EB46807270B9}" srcOrd="0" destOrd="0" presId="urn:microsoft.com/office/officeart/2005/8/layout/hierarchy1"/>
    <dgm:cxn modelId="{69C976C3-255F-4E85-83B9-19E209271363}" type="presParOf" srcId="{6A2794C5-B4A3-DB4D-9BD7-D318D388B3D9}" destId="{37D23D6C-C9BA-1A4E-9377-391D546C36F4}" srcOrd="1" destOrd="0" presId="urn:microsoft.com/office/officeart/2005/8/layout/hierarchy1"/>
    <dgm:cxn modelId="{4325AAA8-63A5-4318-B442-F20FF3C622CE}" type="presParOf" srcId="{26A26D2F-A2E5-474B-A293-6DA2C61A533C}" destId="{14824159-6748-4D43-9C36-00B2F6F1317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540A9D-20CC-F44D-874F-516354518013}">
      <dsp:nvSpPr>
        <dsp:cNvPr id="0" name=""/>
        <dsp:cNvSpPr/>
      </dsp:nvSpPr>
      <dsp:spPr>
        <a:xfrm>
          <a:off x="1934730" y="958429"/>
          <a:ext cx="921534" cy="4385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8870"/>
              </a:lnTo>
              <a:lnTo>
                <a:pt x="921534" y="298870"/>
              </a:lnTo>
              <a:lnTo>
                <a:pt x="921534" y="438566"/>
              </a:lnTo>
            </a:path>
          </a:pathLst>
        </a:custGeom>
        <a:noFill/>
        <a:ln w="952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D7138D-9B2A-234D-9481-AAF8D21F6F09}">
      <dsp:nvSpPr>
        <dsp:cNvPr id="0" name=""/>
        <dsp:cNvSpPr/>
      </dsp:nvSpPr>
      <dsp:spPr>
        <a:xfrm>
          <a:off x="1013195" y="958429"/>
          <a:ext cx="921534" cy="438566"/>
        </a:xfrm>
        <a:custGeom>
          <a:avLst/>
          <a:gdLst/>
          <a:ahLst/>
          <a:cxnLst/>
          <a:rect l="0" t="0" r="0" b="0"/>
          <a:pathLst>
            <a:path>
              <a:moveTo>
                <a:pt x="921534" y="0"/>
              </a:moveTo>
              <a:lnTo>
                <a:pt x="921534" y="298870"/>
              </a:lnTo>
              <a:lnTo>
                <a:pt x="0" y="298870"/>
              </a:lnTo>
              <a:lnTo>
                <a:pt x="0" y="438566"/>
              </a:lnTo>
            </a:path>
          </a:pathLst>
        </a:custGeom>
        <a:noFill/>
        <a:ln w="952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6991C9-3241-8D47-B04B-F100620912E8}">
      <dsp:nvSpPr>
        <dsp:cNvPr id="0" name=""/>
        <dsp:cNvSpPr/>
      </dsp:nvSpPr>
      <dsp:spPr>
        <a:xfrm>
          <a:off x="1028661" y="870"/>
          <a:ext cx="1812138" cy="9575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8145F8-BEAC-B14C-99F7-7A5A36529627}">
      <dsp:nvSpPr>
        <dsp:cNvPr id="0" name=""/>
        <dsp:cNvSpPr/>
      </dsp:nvSpPr>
      <dsp:spPr>
        <a:xfrm>
          <a:off x="1196213" y="160045"/>
          <a:ext cx="1812138" cy="9575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Process State Models</a:t>
          </a:r>
        </a:p>
      </dsp:txBody>
      <dsp:txXfrm>
        <a:off x="1224259" y="188091"/>
        <a:ext cx="1756046" cy="901466"/>
      </dsp:txXfrm>
    </dsp:sp>
    <dsp:sp modelId="{C9262F87-FB2D-E34D-8C34-FEE10104996F}">
      <dsp:nvSpPr>
        <dsp:cNvPr id="0" name=""/>
        <dsp:cNvSpPr/>
      </dsp:nvSpPr>
      <dsp:spPr>
        <a:xfrm>
          <a:off x="259212" y="1396996"/>
          <a:ext cx="1507966" cy="9575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D7D9F2-89DF-064E-9108-A943A15A11AA}">
      <dsp:nvSpPr>
        <dsp:cNvPr id="0" name=""/>
        <dsp:cNvSpPr/>
      </dsp:nvSpPr>
      <dsp:spPr>
        <a:xfrm>
          <a:off x="426764" y="1556170"/>
          <a:ext cx="1507966" cy="9575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70C0"/>
              </a:solidFill>
            </a:rPr>
            <a:t>Two-state Model</a:t>
          </a:r>
        </a:p>
      </dsp:txBody>
      <dsp:txXfrm>
        <a:off x="454810" y="1584216"/>
        <a:ext cx="1451874" cy="901466"/>
      </dsp:txXfrm>
    </dsp:sp>
    <dsp:sp modelId="{DA442011-3849-4C4E-A7DE-EB46807270B9}">
      <dsp:nvSpPr>
        <dsp:cNvPr id="0" name=""/>
        <dsp:cNvSpPr/>
      </dsp:nvSpPr>
      <dsp:spPr>
        <a:xfrm>
          <a:off x="2102282" y="1396996"/>
          <a:ext cx="1507966" cy="9575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D23D6C-C9BA-1A4E-9377-391D546C36F4}">
      <dsp:nvSpPr>
        <dsp:cNvPr id="0" name=""/>
        <dsp:cNvSpPr/>
      </dsp:nvSpPr>
      <dsp:spPr>
        <a:xfrm>
          <a:off x="2269834" y="1556170"/>
          <a:ext cx="1507966" cy="9575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70C0"/>
              </a:solidFill>
            </a:rPr>
            <a:t>Five-state Model</a:t>
          </a:r>
        </a:p>
      </dsp:txBody>
      <dsp:txXfrm>
        <a:off x="2297880" y="1584216"/>
        <a:ext cx="1451874" cy="901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AC784B7-171D-433E-A34D-1317D340D16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53288" cy="323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510" tIns="45257" rIns="90510" bIns="45257" numCol="1" anchor="ctr" anchorCtr="0" compatLnSpc="1">
            <a:prstTxWarp prst="textNoShape">
              <a:avLst/>
            </a:prstTxWarp>
          </a:bodyPr>
          <a:lstStyle>
            <a:lvl1pPr defTabSz="905677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2274832-8666-4914-9209-28B2DE51E5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6763" y="0"/>
            <a:ext cx="4351039" cy="323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510" tIns="45257" rIns="90510" bIns="45257" numCol="1" anchor="ctr" anchorCtr="0" compatLnSpc="1">
            <a:prstTxWarp prst="textNoShape">
              <a:avLst/>
            </a:prstTxWarp>
          </a:bodyPr>
          <a:lstStyle>
            <a:lvl1pPr algn="r" defTabSz="905677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5FE72E0A-C1CC-4010-9A6C-50A96D22440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83098"/>
            <a:ext cx="4353288" cy="323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510" tIns="45257" rIns="90510" bIns="45257" numCol="1" anchor="b" anchorCtr="0" compatLnSpc="1">
            <a:prstTxWarp prst="textNoShape">
              <a:avLst/>
            </a:prstTxWarp>
          </a:bodyPr>
          <a:lstStyle>
            <a:lvl1pPr defTabSz="905677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B99E306C-31DE-4432-8E12-0E44DB47184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395895" y="6291565"/>
            <a:ext cx="4351039" cy="323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510" tIns="45257" rIns="90510" bIns="45257" numCol="1" anchor="b" anchorCtr="0" compatLnSpc="1">
            <a:prstTxWarp prst="textNoShape">
              <a:avLst/>
            </a:prstTxWarp>
          </a:bodyPr>
          <a:lstStyle>
            <a:lvl1pPr algn="r" defTabSz="903679">
              <a:defRPr sz="1200">
                <a:latin typeface="Helvetica" panose="020B0604020202020204" pitchFamily="34" charset="0"/>
              </a:defRPr>
            </a:lvl1pPr>
          </a:lstStyle>
          <a:p>
            <a:fld id="{9A95A82B-8BBA-4A43-91F2-E4204E6FB5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257926F-4CF6-49A7-B014-CE5305D824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1571" cy="338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5534" tIns="47767" rIns="95534" bIns="47767" numCol="1" anchor="ctr" anchorCtr="0" compatLnSpc="1">
            <a:prstTxWarp prst="textNoShape">
              <a:avLst/>
            </a:prstTxWarp>
          </a:bodyPr>
          <a:lstStyle>
            <a:lvl1pPr defTabSz="954901">
              <a:defRPr sz="13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E6ED843-DA46-4A83-8765-1BC7A5094F4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628246" y="0"/>
            <a:ext cx="4301568" cy="338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5534" tIns="47767" rIns="95534" bIns="47767" numCol="1" anchor="ctr" anchorCtr="0" compatLnSpc="1">
            <a:prstTxWarp prst="textNoShape">
              <a:avLst/>
            </a:prstTxWarp>
          </a:bodyPr>
          <a:lstStyle>
            <a:lvl1pPr algn="r" defTabSz="954901">
              <a:defRPr sz="13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1828ADF1-DBA4-4CCB-9A32-8B38C2E0B87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5488" y="511175"/>
            <a:ext cx="3400425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4A1C779-B0FC-4E00-BCF0-B260B04E8BD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2176" y="3229361"/>
            <a:ext cx="7285461" cy="305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5534" tIns="47767" rIns="95534" bIns="4776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34FEC6CF-D3D2-40C3-8010-6E44CA71437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8721"/>
            <a:ext cx="4301571" cy="338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5534" tIns="47767" rIns="95534" bIns="47767" numCol="1" anchor="b" anchorCtr="0" compatLnSpc="1">
            <a:prstTxWarp prst="textNoShape">
              <a:avLst/>
            </a:prstTxWarp>
          </a:bodyPr>
          <a:lstStyle>
            <a:lvl1pPr defTabSz="954901">
              <a:defRPr sz="13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64A1ED1-D483-4604-95C5-1D352BC55A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8246" y="6458721"/>
            <a:ext cx="4301568" cy="338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5534" tIns="47767" rIns="95534" bIns="47767" numCol="1" anchor="b" anchorCtr="0" compatLnSpc="1">
            <a:prstTxWarp prst="textNoShape">
              <a:avLst/>
            </a:prstTxWarp>
          </a:bodyPr>
          <a:lstStyle>
            <a:lvl1pPr algn="r" defTabSz="954154">
              <a:defRPr sz="1300">
                <a:latin typeface="Times New Roman" panose="02020603050405020304" pitchFamily="18" charset="0"/>
              </a:defRPr>
            </a:lvl1pPr>
          </a:lstStyle>
          <a:p>
            <a:fld id="{CC011463-C041-40BE-8026-490C099A9AF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35BAF812-F111-456A-BFB4-511536AFA4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26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62020" indent="-293085" defTabSz="952526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72340" indent="-234468" defTabSz="952526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41276" indent="-234468" defTabSz="952526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10212" indent="-234468" defTabSz="952526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79148" indent="-234468" defTabSz="95252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48083" indent="-234468" defTabSz="95252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517019" indent="-234468" defTabSz="95252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85955" indent="-234468" defTabSz="95252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1FA5D3-0AFD-4443-B622-E546123BF8F6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4735CFCF-7E4C-4D0B-BA56-FD351E8D38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729385DD-8DAB-44E2-8A2C-511846A31F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26FBA6FE-9ACF-4161-8463-18DEB2C066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9D4C8239-9700-410B-A938-0988BCBDFE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7C136A37-71A8-4141-9FFA-38BC81B0AD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4C9D091B-7B7D-476F-8EA2-E65FCF615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222EADB-DCDC-45F9-AD3C-881F804366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F23D552-B72C-469F-B876-9DF773BF6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4229E56E-F935-4428-A0F2-9114926280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3B719FE-CB41-42C2-8240-4D766FB9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83389CD-645C-43D3-8EDE-FD6273D521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95650" y="582613"/>
            <a:ext cx="3125788" cy="2343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CC3E24B-C4F7-4DD6-B3FA-2915AE55B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A5BB3C-C4C1-4F9B-BC99-3B3F1B534C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M @ 2012-13-II</a:t>
            </a:r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BC24FD4F-1497-44D5-A3F8-F0CB96BE8B2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SCSR2043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746426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E059592-CD2B-4308-8931-3FAABE0B5D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95650" y="582613"/>
            <a:ext cx="3125788" cy="2343150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D4E2A0A-E9D3-406E-B223-2444F772A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3B4358-CEDB-4D76-BEB2-D378F57F8B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M @ 2012-13-II</a:t>
            </a:r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395F1DDE-AF9A-4713-AFBD-46298CFA31F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SCSR2043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429636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219C6FA-07F8-49AD-9F47-BFD4C43FA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95650" y="582613"/>
            <a:ext cx="3125788" cy="2343150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6B386D7-80C0-487C-8544-71AEFE2F1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5B2229-17F1-4DFD-B17A-D04896977A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M @ 2012-13-II</a:t>
            </a:r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23572FE0-5FF7-4736-9661-BA0AD7BBFD5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SCSR2043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077387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6E752E2B-7299-4FA9-BE6B-FB2BEB0C34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2CF42C4F-42B7-4FB1-BC99-EEBB5202D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A05C316-4DF2-4FCE-8493-2396502592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B9B19EC9-556B-4BAF-8490-4001FA00B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152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2978224-0E51-4E6B-B595-F7A984C6A5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95650" y="582613"/>
            <a:ext cx="3125788" cy="2343150"/>
          </a:xfrm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61FEEB8-A478-422F-8293-4EAC1C47A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B22AA7-4479-41DB-833F-ACC3B01280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M @ 2012-13-II</a:t>
            </a:r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6FB2B528-BA50-468E-9C3D-737DE3E1993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SCSR2043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2537341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4527FBF-1C5D-4446-AD6C-F6C80528A0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95650" y="582613"/>
            <a:ext cx="3125788" cy="2343150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81C288C-75D3-4D9C-9EF8-B71E4E5831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2A1D5-302C-442F-B26F-23D6DADB98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M @ 2012-13-II</a:t>
            </a:r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175CAE1-C4C2-43B3-A62D-455CBC29450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SCSR2043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65785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D73ECE8-BD02-4C4D-B137-99483958EE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95650" y="582613"/>
            <a:ext cx="3125788" cy="2343150"/>
          </a:xfrm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ABBBB68-88AF-4A4C-A471-4588C4554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250847-37E5-4CBB-AC14-CE9CEC1CA3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M @ 2012-13-II</a:t>
            </a:r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1FA2F4DF-BB1B-4363-AAB3-96B79EFF6C2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SCSR2043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4028368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6148DF73-3046-412E-9B85-855F5C3F1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168CA2A7-4552-48F1-A79F-2923BB2E00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E1709DF6-B8BF-490C-8F1F-69BFF0A6CD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7B5CFE19-B5EC-41B5-BAE5-165447AD20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1F1F0020-EF37-40DB-B5C8-915B59F2F7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1BF4ABD2-EE4E-4B97-87E2-5D1060303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D0B33570-40BD-43D7-81DE-377EC426F0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44601BA1-D978-4301-92E3-13F2485886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189E9661-7849-4A7F-B3C1-B2C391E391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25D2831B-6A88-4F4B-878E-5D9193A41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881EC0C6-9A4A-4E71-87E2-63EEB0B05B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76358275-D130-43F6-A65A-1890CE2B1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DE882532-7DFB-4698-B426-E7FF600D8B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C6146B14-3443-4AA7-BB41-E0B9CC3B8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76CC4D88-42BE-4947-8AFF-E3DD921DE2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DFE14FDB-E457-4EDA-A241-FCAC35F31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8850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06EA530-F614-4EC3-8A2C-BA98C560D3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95650" y="582613"/>
            <a:ext cx="3125788" cy="2343150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EFB19294-F3D3-412F-A682-D8115B026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B5F630-48DC-4FA1-8161-9C3B5D0B97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M @ 2012-13-II</a:t>
            </a:r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F97A4A25-4625-45E0-8A13-0FB089D1B0A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defTabSz="937872" eaLnBrk="1" hangingPunct="1">
              <a:defRPr/>
            </a:pPr>
            <a:r>
              <a:rPr lang="en-US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SCSR2043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285692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B6A633BE-4468-4F1C-A27D-2DA13B34B9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F7DF56FE-00D5-45A0-B2AF-A636EC5DD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2DADCFFD-9DBC-457E-894A-74A85234F5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1887C0DC-A7A7-4444-8865-23265BBE2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342999BB-8258-411B-B149-DFD3016D6A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585A8814-66DB-4D55-BD93-D30791F9E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86159876-79F2-492A-8FEE-0BEC118521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12F0B373-E1D0-4EBB-A5BB-28CC13377D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1E591499-4B98-4E38-BFD8-F2407B01DB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60FA27D7-B576-4962-974B-3192103AFD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CA54F85E-D13A-4066-97BB-DA0F2B90A7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BE9B9CC8-47BA-43FC-A51B-20AADABE8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EB9D674C-89E2-489C-9607-9ECD5B737C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EF264B63-4E43-4193-B7F1-AD46F4738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3ACFC3C4-C8D0-4912-9376-242522AD1F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0D7FFEB7-1FC9-48A0-8FCC-0485BAF7A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00ECAAFF-25D8-4C9E-893E-2B6FEEBC9E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49E80F50-BF70-41F7-897D-A1E0154537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70DFDF91-947A-446B-93F7-D48D86EA23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E13A66A7-6A91-4394-91E1-7EA6E3531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912D326A-0184-473E-9A63-51897C450E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1E1521BF-3BB8-48E9-AC15-BFD930582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912D326A-0184-473E-9A63-51897C450E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1E1521BF-3BB8-48E9-AC15-BFD930582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3213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867F8C3-5245-8D45-9D71-E0F42219A8C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5E330297-7DB7-E84E-B3C6-A4F254EF98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3909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E2437D95-B82A-6D46-ACB5-4F882D399A4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8BAFBF35-A4E6-C94E-8295-1CC33F4DBD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9289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9964D404-6A8C-1E4B-B484-62DE110B703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1F4F40ED-DF36-CD4B-8A5D-C7B998D705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7866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BEADACC0-BD16-D746-A3DD-77783119C9C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3C736903-8525-2645-9FA9-837DB1FE3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8227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6A477171-4883-E343-A887-192A5963876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5BF0C426-8037-3844-9DDF-0ECC7D68DD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8549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B4458B67-F8F0-614A-8092-033326C31C1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D0A013BE-0352-A944-9991-773E57998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0146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B4458B67-F8F0-614A-8092-033326C31C1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D0A013BE-0352-A944-9991-773E57998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0182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BA0A5DF-94DE-4B48-9B31-624FD5BAC1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3358344-5376-1645-B87C-7580FB341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0407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F40E5B74-F89F-084E-BC48-FAE478B43D8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11E50C6A-7B67-164A-9C67-0CFD6A41FD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8422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D6BEB871-DD3C-1D43-B9C0-3FB27A0DF56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D8B21ED4-A82F-9646-B1B4-6AF58783E6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3267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DB6F08A0-DDCA-3945-9F27-90CA0FC252B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8A4E42E7-B07B-1E42-91F8-E3BCF31B44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154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7144A5F8-9A34-994D-BE95-E867EAB2FE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6907F978-C50B-6940-B627-674795134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8963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0ACE6BAB-BDCF-46DE-9665-3834F484D3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11175"/>
            <a:ext cx="3400425" cy="2549525"/>
          </a:xfrm>
          <a:ln/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59DF3740-A8DD-46D3-88AA-E9A48D14F0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AA8FD5C-A504-498C-8BF8-5E83C68C5FA0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80457A3-1CEF-4DB2-B462-E0801E71D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25394849-3190-4B50-829F-480776631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0B2A590E-1855-4B8D-BDB1-194F9DD4B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BF2D3C8F-9A08-4F6A-B247-9D3368AF2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9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8525A802-33FF-4576-AA6F-76B7EB1F5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9" y="6613529"/>
            <a:ext cx="2659702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FF28A3E6-FB13-4D9C-A53E-320690E2F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ABCEF9DC-753F-4B2D-B20B-C0FD79F0D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4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021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514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492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91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91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1994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043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5524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81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67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535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18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1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0645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00EE1C-E1FD-409B-83DD-3070C0A744B1}"/>
              </a:ext>
            </a:extLst>
          </p:cNvPr>
          <p:cNvSpPr/>
          <p:nvPr userDrawn="1"/>
        </p:nvSpPr>
        <p:spPr bwMode="auto">
          <a:xfrm>
            <a:off x="8305800" y="6477000"/>
            <a:ext cx="838200" cy="304800"/>
          </a:xfrm>
          <a:prstGeom prst="rect">
            <a:avLst/>
          </a:prstGeom>
          <a:gradFill flip="none" rotWithShape="0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1100" i="1">
              <a:ea typeface="+mn-ea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3886200"/>
            <a:ext cx="7772400" cy="1752600"/>
          </a:xfrm>
        </p:spPr>
        <p:txBody>
          <a:bodyPr/>
          <a:lstStyle>
            <a:lvl1pPr marL="0" indent="0" algn="ctr">
              <a:buFontTx/>
              <a:buNone/>
              <a:defRPr sz="3400" i="1" smtClean="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416D55-DF6D-46F6-B7D6-8C68BBFCF16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6934200" y="152400"/>
            <a:ext cx="2133600" cy="304800"/>
          </a:xfrm>
          <a:prstGeom prst="rect">
            <a:avLst/>
          </a:prstGeom>
        </p:spPr>
        <p:txBody>
          <a:bodyPr/>
          <a:lstStyle>
            <a:lvl1pPr algn="r" eaLnBrk="1" hangingPunct="1">
              <a:defRPr sz="1400">
                <a:solidFill>
                  <a:schemeClr val="bg1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9E9DE8-9E81-419C-907D-E4C3121C0C8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FADF53-FADA-4485-B94C-67FA0B9687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0466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BC4CABC7-CAAF-4A27-893F-889107B2BAD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34200" y="1524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r">
              <a:defRPr sz="1400" dirty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pPr eaLnBrk="1" hangingPunct="1">
              <a:defRPr/>
            </a:pPr>
            <a:r>
              <a:rPr lang="en-US" sz="1400">
                <a:ea typeface="+mn-ea"/>
              </a:rPr>
              <a:t>Operating Systems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B71E9B-8BEA-48FD-9663-F7B7BA0520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Times New Roman" pitchFamily="18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046FE8-F582-4EFE-BF37-949732C28C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3198567-2BC2-4755-B467-AEB3FA90D6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818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5B53BA1-94FF-4AD0-99A2-61B7193747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A69ABD-3D50-4D98-B0E7-D9A429F103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693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8077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209800"/>
            <a:ext cx="3962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09800"/>
            <a:ext cx="3962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FC2D98E-273B-4D4E-B05D-60FCA3A24B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CD346-BCFF-4D4D-A109-2E6C357812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1788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375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90841"/>
            <a:ext cx="4040188" cy="3463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206375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890841"/>
            <a:ext cx="4041775" cy="3463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EA9A57-6D1B-4391-999A-1BC7D7E4BBE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FEE540-A166-4DE0-9033-AA4B9D7517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412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2DDFE50-C62C-4170-B657-1346F6F4F2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37D99D-371C-488D-9F3A-C063FA146B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95758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DD38AF7-0508-465C-93BA-D20188EAB7C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Times New Roman" pitchFamily="18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A6270A7-AC04-419D-931F-445837FB37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E5DBC8-B910-4F03-83A9-8BDEFBFFB5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909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8953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2"/>
            <a:ext cx="5111750" cy="52117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2057404"/>
            <a:ext cx="3008313" cy="4068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CFA15B1-9759-416B-9B72-DE956FB781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67064-B485-443F-ABA3-F293246AA6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2340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914403"/>
            <a:ext cx="5486400" cy="3813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4C3C63-5B7B-49B7-AF16-E67E66052EB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07314-7CFA-472D-899F-6EF9916CD1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0070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7D509B-F973-47C1-97FB-C36F29A0BF6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19034A-D85B-4252-9413-2147561D7E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83926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990600"/>
            <a:ext cx="20193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990600"/>
            <a:ext cx="59055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F0FF029-AE1B-4A98-8634-EAAA7A83B74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Times New Roman" pitchFamily="18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C1D53F-20A2-4CE2-9346-2AD3748243B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260669-2A76-414C-9964-CB57949E8B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7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8077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2286000"/>
            <a:ext cx="3962400" cy="1905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33400" y="4343400"/>
            <a:ext cx="3962400" cy="1905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4648200" y="2286000"/>
            <a:ext cx="3962400" cy="396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941AF-F402-4208-BD10-6BA69412FA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Times New Roman" pitchFamily="18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D3D96-D07A-4C88-9FD7-86C068C73F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BE914A-6A8A-4F28-B51B-7F004C082B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58004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9BE331-EE91-484D-908C-100676F80CC2}"/>
              </a:ext>
            </a:extLst>
          </p:cNvPr>
          <p:cNvSpPr/>
          <p:nvPr userDrawn="1"/>
        </p:nvSpPr>
        <p:spPr bwMode="auto">
          <a:xfrm>
            <a:off x="8305800" y="6477000"/>
            <a:ext cx="838200" cy="304800"/>
          </a:xfrm>
          <a:prstGeom prst="rect">
            <a:avLst/>
          </a:prstGeom>
          <a:gradFill flip="none" rotWithShape="0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100" i="1">
              <a:ea typeface="+mn-ea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3886200"/>
            <a:ext cx="7772400" cy="1752600"/>
          </a:xfrm>
        </p:spPr>
        <p:txBody>
          <a:bodyPr/>
          <a:lstStyle>
            <a:lvl1pPr marL="0" indent="0" algn="ctr">
              <a:buFontTx/>
              <a:buNone/>
              <a:defRPr sz="3400" i="1" smtClean="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5CDEB2-FE4C-4078-8246-011A0A7D53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6934200" y="152400"/>
            <a:ext cx="2133600" cy="304800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SCR2043 Operating Systems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2C788D-D52E-4BE9-AC9B-6798EC6C6C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1C4453-1A28-4CD3-9F65-878848B046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45320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50DD0661-97EC-4FE1-80BF-DBF7629461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34200" y="1524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r">
              <a:defRPr sz="1400" dirty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sz="1400">
                <a:ea typeface="+mn-ea"/>
              </a:rPr>
              <a:t>Operating Systems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CFC3F54-7114-44C7-BBD5-C0687D84ABC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SCR2043 Operating Systems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1FC08E-70D1-41E6-8680-9902316E379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09FC7FA-1C1F-48C9-8954-8DC3EB2E21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84732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7EF3219-7C3E-440A-A426-2746F47188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7F6746-1EAA-4F9E-91B2-9325B9D7BB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56303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8077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209800"/>
            <a:ext cx="3962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09800"/>
            <a:ext cx="3962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8F1FBFE-23C7-4308-8F7B-65E38EB557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5051E8-D95B-4923-B485-17156B64E9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8304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375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90841"/>
            <a:ext cx="4040188" cy="3463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206375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890841"/>
            <a:ext cx="4041775" cy="3463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81E1A0-9776-48F0-8A8C-AF97631ACB3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47C96F-F8B0-4FCA-9EBF-EE5EA9B5C3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75481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EAC80B1-EE67-424F-A0C8-A0C7EC93EF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6608C9-0D99-4DC0-B534-9C76E5ADB7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45172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CC77D84-90B7-4A96-AAF2-3A0014BC282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SCR2043 Operating Systems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1E3A738-4657-4931-AAF1-4FE03C49789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7B78411-3434-488F-AEFE-43241D3DD3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60185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8953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2"/>
            <a:ext cx="5111750" cy="52117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2057404"/>
            <a:ext cx="3008313" cy="4068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A91E5AB-8415-4716-8D7A-5FA4F13E0F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0FC531-0A34-4A0E-BF48-FAFC07B60F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59257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914403"/>
            <a:ext cx="5486400" cy="3813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0DA80AF-9404-47D2-B508-AC16BC3BF26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91D781-8002-439D-8A5B-E90F58D50A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532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B60207F-3505-4253-831F-FB1B08FEA3B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D5303E-E115-4A69-8973-E2ADB623F3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46831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990600"/>
            <a:ext cx="20193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990600"/>
            <a:ext cx="59055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D9C9AD3-682D-4776-90E0-1A4D264A669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SCR2043 Operating Systems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95C3480-E0F8-4827-8603-62EDBC280D7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3D44EC0-CB57-4ECD-AD98-59EE845F90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54655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8077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2286000"/>
            <a:ext cx="3962400" cy="1905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33400" y="4343400"/>
            <a:ext cx="3962400" cy="1905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4648200" y="2286000"/>
            <a:ext cx="3962400" cy="396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12DF3-DC29-4082-8190-2EC70311D25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SCR2043 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010E9-7FDE-4009-8D19-AF0B58A4A2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215D8D-6D68-4FBD-926E-BB879AFB48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596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BED6BABF-A84B-410C-9B5B-C8321F036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1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0186CCB0-6597-4144-A7EA-AE71543CF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2A3EDCB-CA56-4023-B747-8869CDCE7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91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41F804-AB77-4A8E-81C6-F472EEAC2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97C01D1B-73DD-4F94-AB5C-51309745D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F1D99091-E241-4D26-8B11-D3F850A9E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DDF96F7-4A80-45E6-91CA-65FD8CA27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44C5C23-F9C8-4764-9612-2E9A866FA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149" y="6613529"/>
            <a:ext cx="447558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3.</a:t>
            </a:r>
            <a:fld id="{8715AA44-28DA-4DD7-A4D6-827E8FAC5848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1C28BD06-F089-43C9-986D-6DDF625D9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9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155B3C38-3E5E-4513-A7EE-677D04D8F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7"/>
            <a:ext cx="2659702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F882C5FC-23A0-42EC-A667-EB0048C7C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90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83" r:id="rId1"/>
    <p:sldLayoutId id="2147484373" r:id="rId2"/>
    <p:sldLayoutId id="2147484374" r:id="rId3"/>
    <p:sldLayoutId id="2147484375" r:id="rId4"/>
    <p:sldLayoutId id="2147484376" r:id="rId5"/>
    <p:sldLayoutId id="2147484377" r:id="rId6"/>
    <p:sldLayoutId id="2147484378" r:id="rId7"/>
    <p:sldLayoutId id="2147484379" r:id="rId8"/>
    <p:sldLayoutId id="2147484380" r:id="rId9"/>
    <p:sldLayoutId id="2147484381" r:id="rId10"/>
    <p:sldLayoutId id="21474843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 sz="22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 sz="22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0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0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olded Corner 10">
            <a:extLst>
              <a:ext uri="{FF2B5EF4-FFF2-40B4-BE49-F238E27FC236}">
                <a16:creationId xmlns:a16="http://schemas.microsoft.com/office/drawing/2014/main" id="{BB383D0F-18C1-4CDB-99B5-20275D8CE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8839200" cy="6096000"/>
          </a:xfrm>
          <a:prstGeom prst="foldedCorner">
            <a:avLst>
              <a:gd name="adj" fmla="val 16667"/>
            </a:avLst>
          </a:prstGeom>
          <a:noFill/>
          <a:ln w="127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/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57332C2B-09E2-4569-B560-AC6EA4141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0668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F5DAF595-B060-4071-9852-66C76D087A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2286000"/>
            <a:ext cx="8077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6197411-2382-4C69-B157-AF86D0A917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77000"/>
            <a:ext cx="2057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857532C-00CB-4E9E-B728-F68791CFF0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6E15D0-7A49-4CC6-A945-B343F4BF084A}"/>
              </a:ext>
            </a:extLst>
          </p:cNvPr>
          <p:cNvSpPr/>
          <p:nvPr/>
        </p:nvSpPr>
        <p:spPr bwMode="auto">
          <a:xfrm>
            <a:off x="0" y="76200"/>
            <a:ext cx="9144000" cy="457200"/>
          </a:xfrm>
          <a:prstGeom prst="rect">
            <a:avLst/>
          </a:prstGeom>
          <a:gradFill flip="none" rotWithShape="0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1100" i="1">
              <a:ea typeface="+mn-ea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5E59931-D800-47C6-89E1-82A7A964EDC1}"/>
              </a:ext>
            </a:extLst>
          </p:cNvPr>
          <p:cNvSpPr txBox="1">
            <a:spLocks noChangeArrowheads="1"/>
          </p:cNvSpPr>
          <p:nvPr/>
        </p:nvSpPr>
        <p:spPr>
          <a:xfrm>
            <a:off x="6934200" y="152400"/>
            <a:ext cx="2133600" cy="304800"/>
          </a:xfrm>
          <a:prstGeom prst="rect">
            <a:avLst/>
          </a:prstGeom>
        </p:spPr>
        <p:txBody>
          <a:bodyPr/>
          <a:lstStyle>
            <a:lvl1pPr algn="r">
              <a:defRPr sz="1400" dirty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pPr eaLnBrk="1" hangingPunct="1">
              <a:defRPr/>
            </a:pPr>
            <a:r>
              <a:rPr lang="en-US" sz="1400">
                <a:ea typeface="+mn-ea"/>
              </a:rPr>
              <a:t>Operating Systems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FF18BC-0655-4462-8054-EB70820E7941}"/>
              </a:ext>
            </a:extLst>
          </p:cNvPr>
          <p:cNvSpPr/>
          <p:nvPr/>
        </p:nvSpPr>
        <p:spPr bwMode="auto">
          <a:xfrm rot="16200000">
            <a:off x="-609600" y="5867400"/>
            <a:ext cx="1676400" cy="304800"/>
          </a:xfrm>
          <a:prstGeom prst="rect">
            <a:avLst/>
          </a:prstGeom>
          <a:gradFill flip="none" rotWithShape="1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r" eaLnBrk="1" hangingPunct="1">
              <a:defRPr/>
            </a:pPr>
            <a:r>
              <a:rPr lang="en-US" sz="1400" b="1" dirty="0">
                <a:latin typeface="+mn-lt"/>
                <a:ea typeface="+mn-ea"/>
              </a:rPr>
              <a:t>Chapter</a:t>
            </a:r>
            <a:r>
              <a:rPr lang="en-US" sz="1400" dirty="0">
                <a:latin typeface="+mn-lt"/>
                <a:ea typeface="+mn-ea"/>
              </a:rPr>
              <a:t>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EE7C7C-7CFE-40DE-87D4-EE55881C04CD}"/>
              </a:ext>
            </a:extLst>
          </p:cNvPr>
          <p:cNvSpPr/>
          <p:nvPr/>
        </p:nvSpPr>
        <p:spPr bwMode="auto">
          <a:xfrm>
            <a:off x="8305800" y="6477000"/>
            <a:ext cx="838200" cy="304800"/>
          </a:xfrm>
          <a:prstGeom prst="rect">
            <a:avLst/>
          </a:prstGeom>
          <a:gradFill flip="none" rotWithShape="0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1100" i="1">
              <a:ea typeface="+mn-ea"/>
            </a:endParaRPr>
          </a:p>
        </p:txBody>
      </p:sp>
      <p:sp>
        <p:nvSpPr>
          <p:cNvPr id="1040" name="Rectangle 11">
            <a:extLst>
              <a:ext uri="{FF2B5EF4-FFF2-40B4-BE49-F238E27FC236}">
                <a16:creationId xmlns:a16="http://schemas.microsoft.com/office/drawing/2014/main" id="{0410DA98-E774-46D3-842C-34A719CE1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3400"/>
            <a:ext cx="2362200" cy="381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/>
          </a:p>
        </p:txBody>
      </p:sp>
      <p:pic>
        <p:nvPicPr>
          <p:cNvPr id="1041" name="Picture 24" descr="UTM-English.gif">
            <a:extLst>
              <a:ext uri="{FF2B5EF4-FFF2-40B4-BE49-F238E27FC236}">
                <a16:creationId xmlns:a16="http://schemas.microsoft.com/office/drawing/2014/main" id="{A410535C-3693-4623-94A3-0F31810C1F2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0"/>
            <a:ext cx="2209800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78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5" r:id="rId1"/>
    <p:sldLayoutId id="2147484386" r:id="rId2"/>
    <p:sldLayoutId id="2147484387" r:id="rId3"/>
    <p:sldLayoutId id="2147484388" r:id="rId4"/>
    <p:sldLayoutId id="2147484389" r:id="rId5"/>
    <p:sldLayoutId id="2147484390" r:id="rId6"/>
    <p:sldLayoutId id="2147484391" r:id="rId7"/>
    <p:sldLayoutId id="2147484392" r:id="rId8"/>
    <p:sldLayoutId id="2147484393" r:id="rId9"/>
    <p:sldLayoutId id="2147484394" r:id="rId10"/>
    <p:sldLayoutId id="2147484395" r:id="rId11"/>
    <p:sldLayoutId id="2147484396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olded Corner 10">
            <a:extLst>
              <a:ext uri="{FF2B5EF4-FFF2-40B4-BE49-F238E27FC236}">
                <a16:creationId xmlns:a16="http://schemas.microsoft.com/office/drawing/2014/main" id="{E5556988-EEAA-4A11-9EE2-CD676223E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8839200" cy="6096000"/>
          </a:xfrm>
          <a:prstGeom prst="foldedCorner">
            <a:avLst>
              <a:gd name="adj" fmla="val 16667"/>
            </a:avLst>
          </a:prstGeom>
          <a:noFill/>
          <a:ln w="127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/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EDC2F21A-E74B-479C-8017-42AB7F516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0668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6EE0BF95-2B98-4CD4-9856-FC3365B0E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2286000"/>
            <a:ext cx="8077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DE3D724-F790-4D00-A109-4B67C1145C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77000"/>
            <a:ext cx="2057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170527-881D-4B01-B1E8-566C452EC58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B5D7DD-D420-4A39-B8F1-E9773E79BAA5}"/>
              </a:ext>
            </a:extLst>
          </p:cNvPr>
          <p:cNvSpPr/>
          <p:nvPr/>
        </p:nvSpPr>
        <p:spPr bwMode="auto">
          <a:xfrm>
            <a:off x="0" y="76200"/>
            <a:ext cx="9144000" cy="457200"/>
          </a:xfrm>
          <a:prstGeom prst="rect">
            <a:avLst/>
          </a:prstGeom>
          <a:gradFill flip="none" rotWithShape="0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100" i="1">
              <a:ea typeface="+mn-ea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BCAA140-F1F9-474E-B140-E5692F7F2259}"/>
              </a:ext>
            </a:extLst>
          </p:cNvPr>
          <p:cNvSpPr txBox="1">
            <a:spLocks noChangeArrowheads="1"/>
          </p:cNvSpPr>
          <p:nvPr/>
        </p:nvSpPr>
        <p:spPr>
          <a:xfrm>
            <a:off x="6934200" y="152400"/>
            <a:ext cx="2133600" cy="304800"/>
          </a:xfrm>
          <a:prstGeom prst="rect">
            <a:avLst/>
          </a:prstGeom>
        </p:spPr>
        <p:txBody>
          <a:bodyPr/>
          <a:lstStyle>
            <a:lvl1pPr algn="r">
              <a:defRPr sz="1400" dirty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sz="1400">
                <a:ea typeface="+mn-ea"/>
              </a:rPr>
              <a:t>Operating Systems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4A4C32-307C-4573-B55E-B062778ABBF5}"/>
              </a:ext>
            </a:extLst>
          </p:cNvPr>
          <p:cNvSpPr/>
          <p:nvPr/>
        </p:nvSpPr>
        <p:spPr bwMode="auto">
          <a:xfrm rot="16200000">
            <a:off x="-609600" y="5867400"/>
            <a:ext cx="1676400" cy="304800"/>
          </a:xfrm>
          <a:prstGeom prst="rect">
            <a:avLst/>
          </a:prstGeom>
          <a:gradFill flip="none" rotWithShape="1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r">
              <a:defRPr/>
            </a:pPr>
            <a:r>
              <a:rPr lang="en-US" sz="1400" b="1" dirty="0">
                <a:latin typeface="+mn-lt"/>
                <a:ea typeface="+mn-ea"/>
              </a:rPr>
              <a:t>Chapter</a:t>
            </a:r>
            <a:r>
              <a:rPr lang="en-US" sz="1400" dirty="0">
                <a:latin typeface="+mn-lt"/>
                <a:ea typeface="+mn-ea"/>
              </a:rPr>
              <a:t>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F242FE-81C6-4354-8A9A-3244BBE7F3FF}"/>
              </a:ext>
            </a:extLst>
          </p:cNvPr>
          <p:cNvSpPr/>
          <p:nvPr/>
        </p:nvSpPr>
        <p:spPr bwMode="auto">
          <a:xfrm>
            <a:off x="8305800" y="6477000"/>
            <a:ext cx="838200" cy="304800"/>
          </a:xfrm>
          <a:prstGeom prst="rect">
            <a:avLst/>
          </a:prstGeom>
          <a:gradFill flip="none" rotWithShape="0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100" i="1">
              <a:ea typeface="+mn-ea"/>
            </a:endParaRPr>
          </a:p>
        </p:txBody>
      </p:sp>
      <p:sp>
        <p:nvSpPr>
          <p:cNvPr id="1040" name="Rectangle 11">
            <a:extLst>
              <a:ext uri="{FF2B5EF4-FFF2-40B4-BE49-F238E27FC236}">
                <a16:creationId xmlns:a16="http://schemas.microsoft.com/office/drawing/2014/main" id="{2B998824-1025-429C-9281-C1346D21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3400"/>
            <a:ext cx="2362200" cy="381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/>
          </a:p>
        </p:txBody>
      </p:sp>
      <p:pic>
        <p:nvPicPr>
          <p:cNvPr id="1041" name="Picture 24" descr="UTM-English.gif">
            <a:extLst>
              <a:ext uri="{FF2B5EF4-FFF2-40B4-BE49-F238E27FC236}">
                <a16:creationId xmlns:a16="http://schemas.microsoft.com/office/drawing/2014/main" id="{1B5C5A8D-F5BB-4945-8206-6E3AB6F808C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0"/>
            <a:ext cx="2209800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752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8" r:id="rId1"/>
    <p:sldLayoutId id="2147484399" r:id="rId2"/>
    <p:sldLayoutId id="2147484400" r:id="rId3"/>
    <p:sldLayoutId id="2147484401" r:id="rId4"/>
    <p:sldLayoutId id="2147484402" r:id="rId5"/>
    <p:sldLayoutId id="2147484403" r:id="rId6"/>
    <p:sldLayoutId id="2147484404" r:id="rId7"/>
    <p:sldLayoutId id="2147484405" r:id="rId8"/>
    <p:sldLayoutId id="2147484406" r:id="rId9"/>
    <p:sldLayoutId id="2147484407" r:id="rId10"/>
    <p:sldLayoutId id="2147484408" r:id="rId11"/>
    <p:sldLayoutId id="2147484409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0DB0A549-A261-4E51-8C91-5D3F60F008C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EF2CFC2-E633-43BF-A965-F03A59FCB0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4654" y="182563"/>
            <a:ext cx="6380163" cy="576262"/>
          </a:xfrm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8C3637D-951F-4729-9695-0EA07E1359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8567" y="1133479"/>
            <a:ext cx="6677025" cy="3738563"/>
          </a:xfrm>
        </p:spPr>
        <p:txBody>
          <a:bodyPr/>
          <a:lstStyle/>
          <a:p>
            <a:r>
              <a:rPr lang="en-US" altLang="en-US" dirty="0"/>
              <a:t>3.1 Process Concept</a:t>
            </a:r>
          </a:p>
          <a:p>
            <a:r>
              <a:rPr lang="en-US" altLang="en-US" dirty="0"/>
              <a:t>3.2 Process Scheduling</a:t>
            </a:r>
          </a:p>
          <a:p>
            <a:r>
              <a:rPr lang="en-US" altLang="en-US" dirty="0"/>
              <a:t>3.3 Operations on Processes</a:t>
            </a:r>
          </a:p>
          <a:p>
            <a:r>
              <a:rPr lang="en-US" altLang="en-US" dirty="0"/>
              <a:t>3.4 Inter-process Communication (IPC)</a:t>
            </a:r>
          </a:p>
          <a:p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OBJECTIVES</a:t>
            </a:r>
          </a:p>
          <a:p>
            <a:r>
              <a:rPr lang="en-US" altLang="en-US" dirty="0"/>
              <a:t>To introduce the notion of a process -- a program in execution, which forms the basis of all computation</a:t>
            </a:r>
          </a:p>
          <a:p>
            <a:r>
              <a:rPr lang="en-US" altLang="en-US" dirty="0"/>
              <a:t>To describe the various features of processes, including scheduling, creation and termination, and communication</a:t>
            </a:r>
          </a:p>
          <a:p>
            <a:r>
              <a:rPr lang="en-US" altLang="en-US" dirty="0"/>
              <a:t>To learn about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0F87DF0-59EB-44A9-8D4A-A7223FCC2C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155579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3.1	Process Concept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FCFF8AC-8381-4F4D-A134-568295DC7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0850" y="1146179"/>
            <a:ext cx="8159750" cy="4786313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Process</a:t>
            </a:r>
            <a:r>
              <a:rPr lang="en-US" altLang="en-US" dirty="0"/>
              <a:t> – a program in execution; process execution must progress in sequential fashion</a:t>
            </a:r>
          </a:p>
          <a:p>
            <a:r>
              <a:rPr lang="en-US" altLang="en-US" dirty="0"/>
              <a:t>Program is </a:t>
            </a:r>
            <a:r>
              <a:rPr lang="en-US" altLang="en-US" b="1" i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3366FF"/>
                </a:solidFill>
              </a:rPr>
              <a:t>executable file</a:t>
            </a:r>
            <a:r>
              <a:rPr lang="en-US" altLang="en-US" dirty="0"/>
              <a:t>), process is </a:t>
            </a:r>
            <a:r>
              <a:rPr lang="en-US" altLang="en-US" b="1" i="1" dirty="0"/>
              <a:t>active </a:t>
            </a:r>
          </a:p>
          <a:p>
            <a:pPr lvl="1"/>
            <a:r>
              <a:rPr lang="en-US" altLang="en-US" dirty="0"/>
              <a:t>Program becomes process when executable file loaded into memory</a:t>
            </a:r>
          </a:p>
          <a:p>
            <a:r>
              <a:rPr lang="en-US" altLang="en-US" dirty="0"/>
              <a:t>Execution of program started via GUI mouse clicks, command line entry of its name, </a:t>
            </a:r>
            <a:r>
              <a:rPr lang="en-US" altLang="en-US" dirty="0" err="1"/>
              <a:t>etc</a:t>
            </a:r>
            <a:endParaRPr lang="en-US" altLang="en-US" dirty="0"/>
          </a:p>
          <a:p>
            <a:r>
              <a:rPr lang="en-US" altLang="en-US" dirty="0"/>
              <a:t>One program can be several processes</a:t>
            </a:r>
          </a:p>
          <a:p>
            <a:pPr lvl="1"/>
            <a:r>
              <a:rPr lang="en-US" altLang="en-US" dirty="0"/>
              <a:t>Consider multiple users executing the same program</a:t>
            </a:r>
          </a:p>
          <a:p>
            <a:pPr lvl="1"/>
            <a:r>
              <a:rPr lang="en-US" altLang="en-US" dirty="0"/>
              <a:t>Example: If two users are running a word processor, two processes will be created.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106AD87-BEBB-4255-87D6-F40D6B771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155579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3.1.1		Process Structure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BC40BD4-099B-4F43-A5C8-66D4F60DA9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7050" y="1146179"/>
            <a:ext cx="8032750" cy="4786313"/>
          </a:xfrm>
        </p:spPr>
        <p:txBody>
          <a:bodyPr/>
          <a:lstStyle/>
          <a:p>
            <a:r>
              <a:rPr lang="en-US" altLang="en-US" dirty="0"/>
              <a:t>A process is more than the program code, which is sometimes known as the </a:t>
            </a:r>
            <a:r>
              <a:rPr lang="en-US" altLang="en-US" b="1" dirty="0"/>
              <a:t>text </a:t>
            </a:r>
            <a:r>
              <a:rPr lang="en-US" altLang="en-US" dirty="0"/>
              <a:t>section. </a:t>
            </a:r>
          </a:p>
          <a:p>
            <a:r>
              <a:rPr lang="en-US" altLang="en-US" dirty="0"/>
              <a:t>It also includes the current activity:</a:t>
            </a:r>
          </a:p>
          <a:p>
            <a:pPr lvl="1"/>
            <a:r>
              <a:rPr lang="en-US" altLang="en-US" dirty="0"/>
              <a:t>The value of the </a:t>
            </a:r>
            <a:r>
              <a:rPr lang="en-US" altLang="en-US" b="1" dirty="0"/>
              <a:t>program counter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The contents of the </a:t>
            </a:r>
            <a:r>
              <a:rPr lang="en-US" altLang="en-US" b="1" dirty="0"/>
              <a:t>processor's registers</a:t>
            </a:r>
            <a:r>
              <a:rPr lang="en-US" altLang="en-US" dirty="0"/>
              <a:t>. </a:t>
            </a:r>
          </a:p>
          <a:p>
            <a:r>
              <a:rPr lang="en-US" altLang="en-US" dirty="0"/>
              <a:t>It also includes the process </a:t>
            </a:r>
            <a:r>
              <a:rPr lang="en-US" altLang="en-US" b="1" dirty="0"/>
              <a:t>stack</a:t>
            </a:r>
            <a:r>
              <a:rPr lang="en-US" altLang="en-US" dirty="0"/>
              <a:t>, which contains temporary data (such as function parameters, return addresses, and local variables)</a:t>
            </a:r>
          </a:p>
          <a:p>
            <a:r>
              <a:rPr lang="en-US" altLang="en-US" dirty="0"/>
              <a:t>It also includes the </a:t>
            </a:r>
            <a:r>
              <a:rPr lang="en-US" altLang="en-US" b="1" dirty="0"/>
              <a:t>data section</a:t>
            </a:r>
            <a:r>
              <a:rPr lang="en-US" altLang="en-US" dirty="0"/>
              <a:t>, which contains global variables.</a:t>
            </a:r>
          </a:p>
          <a:p>
            <a:r>
              <a:rPr lang="en-US" altLang="en-US" dirty="0"/>
              <a:t> It may also include a  </a:t>
            </a:r>
            <a:r>
              <a:rPr lang="en-US" altLang="en-US" b="1" dirty="0"/>
              <a:t>heap</a:t>
            </a:r>
            <a:r>
              <a:rPr lang="en-US" altLang="en-US" dirty="0"/>
              <a:t>, which is memory that is dynamically allocated during process run time.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4FA5BF6-5400-4464-BE01-28CB700471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8195" name="Picture 4">
            <a:extLst>
              <a:ext uri="{FF2B5EF4-FFF2-40B4-BE49-F238E27FC236}">
                <a16:creationId xmlns:a16="http://schemas.microsoft.com/office/drawing/2014/main" id="{27E97F1A-C5D4-443E-9BEA-D6FC17AFB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7" y="1352550"/>
            <a:ext cx="2617787" cy="413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CCC38C-2BE5-4434-A7AF-E85A50C2921E}"/>
              </a:ext>
            </a:extLst>
          </p:cNvPr>
          <p:cNvSpPr txBox="1"/>
          <p:nvPr/>
        </p:nvSpPr>
        <p:spPr>
          <a:xfrm>
            <a:off x="2902226" y="5748793"/>
            <a:ext cx="3403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3.1</a:t>
            </a:r>
            <a:endParaRPr lang="en-MY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4534D4D-1CF0-4C16-8A44-63BA1187C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8077200" cy="1143000"/>
          </a:xfrm>
          <a:noFill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Process States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F5B4D94-D6AF-4BFB-BDB6-59FED15D30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001000" cy="2438400"/>
          </a:xfrm>
          <a:noFill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Process states depict the </a:t>
            </a:r>
            <a:r>
              <a:rPr lang="en-US" altLang="en-US" b="1" dirty="0"/>
              <a:t>current activity</a:t>
            </a:r>
            <a:r>
              <a:rPr lang="en-US" altLang="en-US" dirty="0"/>
              <a:t> of a process. </a:t>
            </a:r>
          </a:p>
          <a:p>
            <a:pPr eaLnBrk="1" hangingPunct="1"/>
            <a:r>
              <a:rPr lang="en-US" altLang="en-US" dirty="0"/>
              <a:t>When a process is executed, </a:t>
            </a:r>
          </a:p>
          <a:p>
            <a:pPr lvl="1" eaLnBrk="1" hangingPunct="1"/>
            <a:r>
              <a:rPr lang="en-US" altLang="en-US" dirty="0"/>
              <a:t>the process will change from one state to another; </a:t>
            </a:r>
          </a:p>
          <a:p>
            <a:pPr lvl="1" eaLnBrk="1" hangingPunct="1"/>
            <a:r>
              <a:rPr lang="en-US" altLang="en-US" dirty="0"/>
              <a:t>changes states after an event occurs.</a:t>
            </a: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AAFB39D8-62A7-468A-BC18-366EEA9CA8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231A06D1-3F22-4931-9CDA-86B3B8D5867F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None/>
                <a:defRPr/>
              </a:pPr>
              <a:t>6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9163F07-004C-4EB5-949A-CF2CEC18F492}"/>
              </a:ext>
            </a:extLst>
          </p:cNvPr>
          <p:cNvGrpSpPr>
            <a:grpSpLocks/>
          </p:cNvGrpSpPr>
          <p:nvPr/>
        </p:nvGrpSpPr>
        <p:grpSpPr bwMode="auto">
          <a:xfrm>
            <a:off x="4800604" y="4038600"/>
            <a:ext cx="4037013" cy="2667000"/>
            <a:chOff x="4800600" y="4038600"/>
            <a:chExt cx="4037726" cy="2667000"/>
          </a:xfrm>
        </p:grpSpPr>
        <p:sp>
          <p:nvSpPr>
            <p:cNvPr id="20487" name="Rectangle 2">
              <a:extLst>
                <a:ext uri="{FF2B5EF4-FFF2-40B4-BE49-F238E27FC236}">
                  <a16:creationId xmlns:a16="http://schemas.microsoft.com/office/drawing/2014/main" id="{8E537181-06C9-42B2-8BC3-F2BCFB471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4038600"/>
              <a:ext cx="3810000" cy="266700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  <a:defRPr/>
              </a:pPr>
              <a:endParaRPr lang="en-US" altLang="en-US" sz="20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039DF26B-5EED-495A-B6C6-8F806B17A0F5}"/>
                </a:ext>
              </a:extLst>
            </p:cNvPr>
            <p:cNvGraphicFramePr/>
            <p:nvPr/>
          </p:nvGraphicFramePr>
          <p:xfrm>
            <a:off x="4800600" y="4114800"/>
            <a:ext cx="4037726" cy="25146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  <p:sp>
        <p:nvSpPr>
          <p:cNvPr id="20486" name="Rectangle 3">
            <a:extLst>
              <a:ext uri="{FF2B5EF4-FFF2-40B4-BE49-F238E27FC236}">
                <a16:creationId xmlns:a16="http://schemas.microsoft.com/office/drawing/2014/main" id="{DCF86BB2-BCF0-40B5-805E-E13DE69FA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495800"/>
            <a:ext cx="4038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dirty="0"/>
              <a:t>A </a:t>
            </a:r>
            <a:r>
              <a:rPr lang="en-US" altLang="en-US" b="1" dirty="0"/>
              <a:t>state transition diagram </a:t>
            </a:r>
            <a:r>
              <a:rPr lang="en-US" altLang="en-US" dirty="0"/>
              <a:t>can tell what event causes a process to change states</a:t>
            </a:r>
          </a:p>
        </p:txBody>
      </p:sp>
    </p:spTree>
    <p:extLst>
      <p:ext uri="{BB962C8B-B14F-4D97-AF65-F5344CB8AC3E}">
        <p14:creationId xmlns:p14="http://schemas.microsoft.com/office/powerpoint/2010/main" val="31423298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0B88264-B8EF-4389-821E-F609F7B9C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8077200" cy="1143000"/>
          </a:xfrm>
          <a:noFill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Process with Two-State Model</a:t>
            </a:r>
          </a:p>
        </p:txBody>
      </p:sp>
      <p:grpSp>
        <p:nvGrpSpPr>
          <p:cNvPr id="22531" name="Group 17">
            <a:extLst>
              <a:ext uri="{FF2B5EF4-FFF2-40B4-BE49-F238E27FC236}">
                <a16:creationId xmlns:a16="http://schemas.microsoft.com/office/drawing/2014/main" id="{787C715E-EDFE-4CF2-AAB4-3163AB7F61C1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3886200"/>
            <a:ext cx="6643688" cy="2359338"/>
            <a:chOff x="1447800" y="3886200"/>
            <a:chExt cx="6643688" cy="2359651"/>
          </a:xfrm>
        </p:grpSpPr>
        <p:sp>
          <p:nvSpPr>
            <p:cNvPr id="2" name="Line 4">
              <a:extLst>
                <a:ext uri="{FF2B5EF4-FFF2-40B4-BE49-F238E27FC236}">
                  <a16:creationId xmlns:a16="http://schemas.microsoft.com/office/drawing/2014/main" id="{54E8334E-1CE9-49CB-82B5-C2DDD72E94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57600" y="5181772"/>
              <a:ext cx="76200" cy="76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5367" name="Oval 6">
              <a:extLst>
                <a:ext uri="{FF2B5EF4-FFF2-40B4-BE49-F238E27FC236}">
                  <a16:creationId xmlns:a16="http://schemas.microsoft.com/office/drawing/2014/main" id="{6FF95E7C-4721-4B8B-AF69-A0BAF56BE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4838" y="4329172"/>
              <a:ext cx="2959100" cy="138289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0070C0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5368" name="Oval 7">
              <a:extLst>
                <a:ext uri="{FF2B5EF4-FFF2-40B4-BE49-F238E27FC236}">
                  <a16:creationId xmlns:a16="http://schemas.microsoft.com/office/drawing/2014/main" id="{0947292D-7CB5-456C-9E6C-CF72D0869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638" y="4495881"/>
              <a:ext cx="1511300" cy="954215"/>
            </a:xfrm>
            <a:prstGeom prst="ellipse">
              <a:avLst/>
            </a:prstGeom>
            <a:solidFill>
              <a:srgbClr val="00CC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 dirty="0">
                <a:solidFill>
                  <a:srgbClr val="000000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5369" name="Line 8">
              <a:extLst>
                <a:ext uri="{FF2B5EF4-FFF2-40B4-BE49-F238E27FC236}">
                  <a16:creationId xmlns:a16="http://schemas.microsoft.com/office/drawing/2014/main" id="{77A59553-9049-4D17-8BBD-7A97E5E8C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2088" y="5021414"/>
              <a:ext cx="914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5370" name="Line 9">
              <a:extLst>
                <a:ext uri="{FF2B5EF4-FFF2-40B4-BE49-F238E27FC236}">
                  <a16:creationId xmlns:a16="http://schemas.microsoft.com/office/drawing/2014/main" id="{622BABED-BE82-4F51-9A5F-2EB0D1E0A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2288" y="5021414"/>
              <a:ext cx="1219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5371" name="Rectangle 10">
              <a:extLst>
                <a:ext uri="{FF2B5EF4-FFF2-40B4-BE49-F238E27FC236}">
                  <a16:creationId xmlns:a16="http://schemas.microsoft.com/office/drawing/2014/main" id="{B24AE8E7-AF2F-4A5A-BBAB-A458A8BF4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4572091"/>
              <a:ext cx="918522" cy="45916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 i="1" dirty="0">
                  <a:solidFill>
                    <a:srgbClr val="000000"/>
                  </a:solidFill>
                  <a:latin typeface="Arial"/>
                  <a:cs typeface="Arial" charset="0"/>
                </a:rPr>
                <a:t>Enter</a:t>
              </a:r>
            </a:p>
          </p:txBody>
        </p:sp>
        <p:sp>
          <p:nvSpPr>
            <p:cNvPr id="15372" name="Rectangle 11">
              <a:extLst>
                <a:ext uri="{FF2B5EF4-FFF2-40B4-BE49-F238E27FC236}">
                  <a16:creationId xmlns:a16="http://schemas.microsoft.com/office/drawing/2014/main" id="{5EDBE6DF-8250-457C-A716-70683C5B2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4572091"/>
              <a:ext cx="695704" cy="45916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 i="1" dirty="0">
                  <a:solidFill>
                    <a:srgbClr val="000000"/>
                  </a:solidFill>
                  <a:latin typeface="Arial"/>
                  <a:cs typeface="Arial" charset="0"/>
                </a:rPr>
                <a:t>Exit</a:t>
              </a:r>
            </a:p>
          </p:txBody>
        </p:sp>
        <p:sp>
          <p:nvSpPr>
            <p:cNvPr id="15373" name="Rectangle 12">
              <a:extLst>
                <a:ext uri="{FF2B5EF4-FFF2-40B4-BE49-F238E27FC236}">
                  <a16:creationId xmlns:a16="http://schemas.microsoft.com/office/drawing/2014/main" id="{8F8F1B48-6CFF-4FBA-8570-546C39698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3886200"/>
              <a:ext cx="1381790" cy="45916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 i="1" dirty="0">
                  <a:solidFill>
                    <a:srgbClr val="000000"/>
                  </a:solidFill>
                  <a:latin typeface="Arial"/>
                  <a:cs typeface="Arial" charset="0"/>
                </a:rPr>
                <a:t>Dispatch</a:t>
              </a:r>
            </a:p>
          </p:txBody>
        </p:sp>
        <p:sp>
          <p:nvSpPr>
            <p:cNvPr id="15374" name="Rectangle 13">
              <a:extLst>
                <a:ext uri="{FF2B5EF4-FFF2-40B4-BE49-F238E27FC236}">
                  <a16:creationId xmlns:a16="http://schemas.microsoft.com/office/drawing/2014/main" id="{C8B24821-F061-40F7-984F-9F40C9CEE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088" y="5786690"/>
              <a:ext cx="1056380" cy="45916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 i="1" dirty="0">
                  <a:solidFill>
                    <a:srgbClr val="000000"/>
                  </a:solidFill>
                  <a:latin typeface="Arial"/>
                  <a:cs typeface="Arial" charset="0"/>
                </a:rPr>
                <a:t>Pause</a:t>
              </a:r>
            </a:p>
          </p:txBody>
        </p:sp>
        <p:sp>
          <p:nvSpPr>
            <p:cNvPr id="15375" name="Rectangle 14">
              <a:extLst>
                <a:ext uri="{FF2B5EF4-FFF2-40B4-BE49-F238E27FC236}">
                  <a16:creationId xmlns:a16="http://schemas.microsoft.com/office/drawing/2014/main" id="{CF5825CA-9B7E-4D79-8C91-1FCB18CFF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724511"/>
              <a:ext cx="1371600" cy="4588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 dirty="0">
                  <a:solidFill>
                    <a:srgbClr val="FFFFFF"/>
                  </a:solidFill>
                  <a:latin typeface="Arial"/>
                  <a:cs typeface="Arial" charset="0"/>
                </a:rPr>
                <a:t>Running</a:t>
              </a:r>
            </a:p>
          </p:txBody>
        </p:sp>
        <p:sp>
          <p:nvSpPr>
            <p:cNvPr id="15376" name="Oval 15">
              <a:extLst>
                <a:ext uri="{FF2B5EF4-FFF2-40B4-BE49-F238E27FC236}">
                  <a16:creationId xmlns:a16="http://schemas.microsoft.com/office/drawing/2014/main" id="{A5D105B5-002D-4B0A-A5C5-DEADA0A64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488" y="4526048"/>
              <a:ext cx="1511300" cy="960564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 dirty="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5377" name="Rectangle 16">
              <a:extLst>
                <a:ext uri="{FF2B5EF4-FFF2-40B4-BE49-F238E27FC236}">
                  <a16:creationId xmlns:a16="http://schemas.microsoft.com/office/drawing/2014/main" id="{B302FAF9-486D-42D3-9692-6CB935BB2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4572091"/>
              <a:ext cx="1331913" cy="8335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1" hangingPunct="1">
                <a:defRPr/>
              </a:pPr>
              <a:r>
                <a:rPr lang="en-US" sz="2400" dirty="0">
                  <a:solidFill>
                    <a:srgbClr val="FFFFFF"/>
                  </a:solidFill>
                  <a:latin typeface="Arial"/>
                  <a:cs typeface="Arial" charset="0"/>
                </a:rPr>
                <a:t>Not</a:t>
              </a:r>
            </a:p>
            <a:p>
              <a:pPr algn="ctr" eaLnBrk="1" hangingPunct="1">
                <a:defRPr/>
              </a:pPr>
              <a:r>
                <a:rPr lang="en-US" sz="2400" dirty="0">
                  <a:solidFill>
                    <a:srgbClr val="FFFFFF"/>
                  </a:solidFill>
                  <a:latin typeface="Arial"/>
                  <a:cs typeface="Arial" charset="0"/>
                </a:rPr>
                <a:t>Running</a:t>
              </a:r>
            </a:p>
          </p:txBody>
        </p:sp>
      </p:grpSp>
      <p:sp>
        <p:nvSpPr>
          <p:cNvPr id="7176" name="Text Box 17">
            <a:extLst>
              <a:ext uri="{FF2B5EF4-FFF2-40B4-BE49-F238E27FC236}">
                <a16:creationId xmlns:a16="http://schemas.microsoft.com/office/drawing/2014/main" id="{A3F95549-B86A-4B88-9225-1AC00B639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7" y="1905004"/>
            <a:ext cx="7496175" cy="21875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lvl="1" indent="-342900"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100000"/>
              <a:buFontTx/>
              <a:buChar char="•"/>
              <a:defRPr/>
            </a:pPr>
            <a:r>
              <a:rPr lang="en-US" sz="2600" dirty="0">
                <a:solidFill>
                  <a:srgbClr val="222222"/>
                </a:solidFill>
                <a:latin typeface="Arial"/>
              </a:rPr>
              <a:t>A process can be in one of the following states:</a:t>
            </a:r>
          </a:p>
          <a:p>
            <a:pPr marL="800100" lvl="2" indent="-342900"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100000"/>
              <a:buFontTx/>
              <a:buChar char="-"/>
              <a:defRPr/>
            </a:pPr>
            <a:r>
              <a:rPr lang="en-US" sz="2400" dirty="0">
                <a:solidFill>
                  <a:srgbClr val="0070C0"/>
                </a:solidFill>
                <a:latin typeface="Arial"/>
              </a:rPr>
              <a:t>Running</a:t>
            </a:r>
          </a:p>
          <a:p>
            <a:pPr marL="800100" lvl="2" indent="-342900" eaLnBrk="1" hangingPunct="1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100000"/>
              <a:buFontTx/>
              <a:buChar char="-"/>
              <a:defRPr/>
            </a:pPr>
            <a:r>
              <a:rPr lang="en-US" sz="2400" dirty="0">
                <a:solidFill>
                  <a:srgbClr val="0070C0"/>
                </a:solidFill>
                <a:latin typeface="Arial"/>
              </a:rPr>
              <a:t>Not-running</a:t>
            </a:r>
          </a:p>
          <a:p>
            <a:pPr marL="342900" lvl="1" indent="-342900" eaLnBrk="1" hangingPunct="1">
              <a:spcBef>
                <a:spcPct val="20000"/>
              </a:spcBef>
              <a:buClr>
                <a:srgbClr val="000000"/>
              </a:buClr>
              <a:buSzPct val="100000"/>
              <a:buFontTx/>
              <a:buChar char="•"/>
              <a:defRPr/>
            </a:pPr>
            <a:r>
              <a:rPr lang="en-US" sz="2600" dirty="0">
                <a:solidFill>
                  <a:srgbClr val="222222"/>
                </a:solidFill>
                <a:latin typeface="Arial"/>
              </a:rPr>
              <a:t>State Transition Diagram</a:t>
            </a:r>
          </a:p>
          <a:p>
            <a:pPr eaLnBrk="1" hangingPunct="1">
              <a:spcBef>
                <a:spcPct val="20000"/>
              </a:spcBef>
              <a:buClr>
                <a:srgbClr val="000000"/>
              </a:buClr>
              <a:buSzPct val="100000"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Arial" charset="0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7373578D-8853-4615-9894-BB4B3C0010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0967F75D-6A57-4E5E-ABC2-6E12E5325224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None/>
                <a:defRPr/>
              </a:pPr>
              <a:t>7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58270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6338BC76-4C99-4D99-8C02-91500BD19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8382000" cy="1066800"/>
          </a:xfrm>
          <a:noFill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Two-State Model : Queue Diagram</a:t>
            </a:r>
          </a:p>
        </p:txBody>
      </p:sp>
      <p:grpSp>
        <p:nvGrpSpPr>
          <p:cNvPr id="24579" name="Group 23">
            <a:extLst>
              <a:ext uri="{FF2B5EF4-FFF2-40B4-BE49-F238E27FC236}">
                <a16:creationId xmlns:a16="http://schemas.microsoft.com/office/drawing/2014/main" id="{B06B408E-6F3F-4507-ADE9-526E8501FC48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728913"/>
            <a:ext cx="7086600" cy="2760662"/>
            <a:chOff x="1143000" y="2728913"/>
            <a:chExt cx="7086600" cy="2759948"/>
          </a:xfrm>
        </p:grpSpPr>
        <p:sp>
          <p:nvSpPr>
            <p:cNvPr id="16395" name="Oval 6">
              <a:extLst>
                <a:ext uri="{FF2B5EF4-FFF2-40B4-BE49-F238E27FC236}">
                  <a16:creationId xmlns:a16="http://schemas.microsoft.com/office/drawing/2014/main" id="{F8321649-5363-49BA-9AE7-40A7E3044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5963" y="3047917"/>
              <a:ext cx="1163637" cy="1117311"/>
            </a:xfrm>
            <a:prstGeom prst="ellipse">
              <a:avLst/>
            </a:prstGeom>
            <a:solidFill>
              <a:srgbClr val="00CC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2400">
                  <a:solidFill>
                    <a:srgbClr val="FFFFFF"/>
                  </a:solidFill>
                  <a:latin typeface="Arial"/>
                  <a:cs typeface="Arial" charset="0"/>
                </a:rPr>
                <a:t>CPU</a:t>
              </a:r>
            </a:p>
          </p:txBody>
        </p:sp>
        <p:sp>
          <p:nvSpPr>
            <p:cNvPr id="16396" name="Rectangle 7">
              <a:extLst>
                <a:ext uri="{FF2B5EF4-FFF2-40B4-BE49-F238E27FC236}">
                  <a16:creationId xmlns:a16="http://schemas.microsoft.com/office/drawing/2014/main" id="{87DB984A-1ED4-4D48-B817-670329E9E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1288" y="3325659"/>
              <a:ext cx="1498600" cy="55389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000000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6397" name="Line 8">
              <a:extLst>
                <a:ext uri="{FF2B5EF4-FFF2-40B4-BE49-F238E27FC236}">
                  <a16:creationId xmlns:a16="http://schemas.microsoft.com/office/drawing/2014/main" id="{65825E64-748F-4A40-8CAB-FA81AF5589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8875" y="3603399"/>
              <a:ext cx="14303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6398" name="Line 9">
              <a:extLst>
                <a:ext uri="{FF2B5EF4-FFF2-40B4-BE49-F238E27FC236}">
                  <a16:creationId xmlns:a16="http://schemas.microsoft.com/office/drawing/2014/main" id="{4CC27108-99AA-4CB9-9B7E-EE10DE3DE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1675" y="3603399"/>
              <a:ext cx="11779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6399" name="Line 10">
              <a:extLst>
                <a:ext uri="{FF2B5EF4-FFF2-40B4-BE49-F238E27FC236}">
                  <a16:creationId xmlns:a16="http://schemas.microsoft.com/office/drawing/2014/main" id="{17025673-D2CF-465E-97D5-B073500605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3550" y="3603399"/>
              <a:ext cx="14303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6400" name="Line 11">
              <a:extLst>
                <a:ext uri="{FF2B5EF4-FFF2-40B4-BE49-F238E27FC236}">
                  <a16:creationId xmlns:a16="http://schemas.microsoft.com/office/drawing/2014/main" id="{246CAB15-7EE3-4B86-B8FB-AFDBA16E59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7838" y="3697038"/>
              <a:ext cx="0" cy="13315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6402" name="Line 13">
              <a:extLst>
                <a:ext uri="{FF2B5EF4-FFF2-40B4-BE49-F238E27FC236}">
                  <a16:creationId xmlns:a16="http://schemas.microsoft.com/office/drawing/2014/main" id="{D6D402ED-5B94-4CC1-8F72-CA93D5C73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4190622"/>
              <a:ext cx="0" cy="8379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6403" name="Line 14">
              <a:extLst>
                <a:ext uri="{FF2B5EF4-FFF2-40B4-BE49-F238E27FC236}">
                  <a16:creationId xmlns:a16="http://schemas.microsoft.com/office/drawing/2014/main" id="{A224D928-3505-41A6-8913-227AEE8095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838" y="5028605"/>
              <a:ext cx="46529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6404" name="Rectangle 15">
              <a:extLst>
                <a:ext uri="{FF2B5EF4-FFF2-40B4-BE49-F238E27FC236}">
                  <a16:creationId xmlns:a16="http://schemas.microsoft.com/office/drawing/2014/main" id="{4B30FB24-E794-4424-B5FF-3654ED1CA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014589"/>
              <a:ext cx="1225550" cy="4586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 dirty="0">
                  <a:solidFill>
                    <a:srgbClr val="000000"/>
                  </a:solidFill>
                  <a:latin typeface="Arial"/>
                  <a:cs typeface="Arial" charset="0"/>
                </a:rPr>
                <a:t>ENTER</a:t>
              </a:r>
            </a:p>
          </p:txBody>
        </p:sp>
        <p:sp>
          <p:nvSpPr>
            <p:cNvPr id="16405" name="Rectangle 16">
              <a:extLst>
                <a:ext uri="{FF2B5EF4-FFF2-40B4-BE49-F238E27FC236}">
                  <a16:creationId xmlns:a16="http://schemas.microsoft.com/office/drawing/2014/main" id="{8437783E-E7DC-4002-91E5-313EEAD31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475" y="2728913"/>
              <a:ext cx="1108075" cy="460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>
                  <a:solidFill>
                    <a:srgbClr val="000000"/>
                  </a:solidFill>
                  <a:latin typeface="Arial"/>
                  <a:cs typeface="Arial" charset="0"/>
                </a:rPr>
                <a:t>Queue</a:t>
              </a:r>
            </a:p>
          </p:txBody>
        </p:sp>
        <p:sp>
          <p:nvSpPr>
            <p:cNvPr id="16406" name="Rectangle 17">
              <a:extLst>
                <a:ext uri="{FF2B5EF4-FFF2-40B4-BE49-F238E27FC236}">
                  <a16:creationId xmlns:a16="http://schemas.microsoft.com/office/drawing/2014/main" id="{45A0196F-AAF0-4D5E-A855-1E5415F19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7675" y="2919364"/>
              <a:ext cx="1381125" cy="4586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>
                  <a:solidFill>
                    <a:srgbClr val="000000"/>
                  </a:solidFill>
                  <a:latin typeface="Arial"/>
                  <a:cs typeface="Arial" charset="0"/>
                </a:rPr>
                <a:t>Dispatch</a:t>
              </a:r>
            </a:p>
          </p:txBody>
        </p:sp>
        <p:sp>
          <p:nvSpPr>
            <p:cNvPr id="16407" name="Rectangle 18">
              <a:extLst>
                <a:ext uri="{FF2B5EF4-FFF2-40B4-BE49-F238E27FC236}">
                  <a16:creationId xmlns:a16="http://schemas.microsoft.com/office/drawing/2014/main" id="{EC81A8E0-D483-4724-A407-F210B0B0C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3014589"/>
              <a:ext cx="865188" cy="4586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 dirty="0">
                  <a:solidFill>
                    <a:srgbClr val="FF0000"/>
                  </a:solidFill>
                  <a:latin typeface="Arial"/>
                  <a:cs typeface="Arial" charset="0"/>
                </a:rPr>
                <a:t>EXIT</a:t>
              </a:r>
            </a:p>
          </p:txBody>
        </p:sp>
        <p:sp>
          <p:nvSpPr>
            <p:cNvPr id="16408" name="Rectangle 19">
              <a:extLst>
                <a:ext uri="{FF2B5EF4-FFF2-40B4-BE49-F238E27FC236}">
                  <a16:creationId xmlns:a16="http://schemas.microsoft.com/office/drawing/2014/main" id="{68B45BC3-A41B-4934-AC3F-B8092CD1A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5028605"/>
              <a:ext cx="1055688" cy="460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 dirty="0">
                  <a:solidFill>
                    <a:srgbClr val="000000"/>
                  </a:solidFill>
                  <a:latin typeface="Arial"/>
                  <a:cs typeface="Arial" charset="0"/>
                </a:rPr>
                <a:t>Pause</a:t>
              </a:r>
            </a:p>
          </p:txBody>
        </p:sp>
        <p:sp>
          <p:nvSpPr>
            <p:cNvPr id="16390" name="Line 20">
              <a:extLst>
                <a:ext uri="{FF2B5EF4-FFF2-40B4-BE49-F238E27FC236}">
                  <a16:creationId xmlns:a16="http://schemas.microsoft.com/office/drawing/2014/main" id="{C15F29FC-7196-49C7-BBB1-9D64C1802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000" y="3317723"/>
              <a:ext cx="0" cy="5697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6391" name="Line 21">
              <a:extLst>
                <a:ext uri="{FF2B5EF4-FFF2-40B4-BE49-F238E27FC236}">
                  <a16:creationId xmlns:a16="http://schemas.microsoft.com/office/drawing/2014/main" id="{707F7F7A-BE7D-40D9-9148-760EAE3FD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763" y="3317723"/>
              <a:ext cx="0" cy="5697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6392" name="Line 22">
              <a:extLst>
                <a:ext uri="{FF2B5EF4-FFF2-40B4-BE49-F238E27FC236}">
                  <a16:creationId xmlns:a16="http://schemas.microsoft.com/office/drawing/2014/main" id="{BF0C4606-76DB-4949-9BAF-717C4044C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9763" y="3317723"/>
              <a:ext cx="0" cy="5697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6393" name="Line 23">
              <a:extLst>
                <a:ext uri="{FF2B5EF4-FFF2-40B4-BE49-F238E27FC236}">
                  <a16:creationId xmlns:a16="http://schemas.microsoft.com/office/drawing/2014/main" id="{61D580DF-FA3E-42A6-8C65-AB17A9D1F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175" y="3317723"/>
              <a:ext cx="0" cy="5697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16394" name="Line 24">
              <a:extLst>
                <a:ext uri="{FF2B5EF4-FFF2-40B4-BE49-F238E27FC236}">
                  <a16:creationId xmlns:a16="http://schemas.microsoft.com/office/drawing/2014/main" id="{DA733CEB-B016-4308-B75E-07D0802FEA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4588" y="3317723"/>
              <a:ext cx="0" cy="5697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</p:grp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1A7D7804-5638-45B6-85A6-75789C205C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AD4FE43F-8A0A-4F58-9401-D0BAA04A29F2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None/>
                <a:defRPr/>
              </a:pPr>
              <a:t>8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E0E7A563-287A-491A-A83F-9644A7AB9FFF}"/>
              </a:ext>
            </a:extLst>
          </p:cNvPr>
          <p:cNvSpPr/>
          <p:nvPr/>
        </p:nvSpPr>
        <p:spPr bwMode="auto">
          <a:xfrm>
            <a:off x="2590800" y="3276600"/>
            <a:ext cx="1676400" cy="685800"/>
          </a:xfrm>
          <a:prstGeom prst="frame">
            <a:avLst/>
          </a:prstGeom>
          <a:solidFill>
            <a:srgbClr val="3366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000">
              <a:solidFill>
                <a:srgbClr val="FFFFFF"/>
              </a:solidFill>
              <a:latin typeface="Times New Roman" panose="02020603050405020304" pitchFamily="18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89112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CC1B2A3-D79D-40E8-A025-A24043CCA5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0488" y="158709"/>
            <a:ext cx="751316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3.1.2	 Process State (Five State Model)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9CF48CE-0F17-407F-96CE-1BB4EB8B1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5140" y="987443"/>
            <a:ext cx="8056563" cy="3254375"/>
          </a:xfrm>
        </p:spPr>
        <p:txBody>
          <a:bodyPr/>
          <a:lstStyle/>
          <a:p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3366FF"/>
                </a:solidFill>
              </a:rPr>
              <a:t>state</a:t>
            </a:r>
          </a:p>
          <a:p>
            <a:pPr lvl="1"/>
            <a:r>
              <a:rPr lang="en-US" altLang="en-US" sz="2000" b="1" dirty="0"/>
              <a:t>new</a:t>
            </a:r>
            <a:r>
              <a:rPr lang="en-US" altLang="en-US" sz="2000" dirty="0"/>
              <a:t>:  The process is being created</a:t>
            </a:r>
          </a:p>
          <a:p>
            <a:pPr lvl="1"/>
            <a:r>
              <a:rPr lang="en-US" altLang="en-US" sz="2000" b="1" dirty="0"/>
              <a:t>running</a:t>
            </a:r>
            <a:r>
              <a:rPr lang="en-US" altLang="en-US" sz="2000" dirty="0"/>
              <a:t>:  Instructions are being executed</a:t>
            </a:r>
          </a:p>
          <a:p>
            <a:pPr lvl="1"/>
            <a:r>
              <a:rPr lang="en-US" altLang="en-US" sz="2000" b="1" dirty="0"/>
              <a:t>waiting</a:t>
            </a:r>
            <a:r>
              <a:rPr lang="en-US" altLang="en-US" sz="2000" dirty="0"/>
              <a:t>:  The process is waiting for some event to occur</a:t>
            </a:r>
          </a:p>
          <a:p>
            <a:pPr lvl="1"/>
            <a:r>
              <a:rPr lang="en-US" altLang="en-US" sz="2000" b="1" dirty="0"/>
              <a:t>ready</a:t>
            </a:r>
            <a:r>
              <a:rPr lang="en-US" altLang="en-US" sz="2000" dirty="0"/>
              <a:t>:  The process is waiting to be assigned to a processor</a:t>
            </a:r>
          </a:p>
          <a:p>
            <a:pPr lvl="1"/>
            <a:r>
              <a:rPr lang="en-US" altLang="en-US" sz="2000" b="1" dirty="0"/>
              <a:t>terminated</a:t>
            </a:r>
            <a:r>
              <a:rPr lang="en-US" altLang="en-US" sz="2000" dirty="0"/>
              <a:t>:  The process has finished execution</a:t>
            </a:r>
          </a:p>
          <a:p>
            <a:r>
              <a:rPr lang="en-US" altLang="en-US" dirty="0"/>
              <a:t>State Transition Diagram:</a:t>
            </a:r>
          </a:p>
          <a:p>
            <a:pPr lvl="1"/>
            <a:endParaRPr lang="en-US" altLang="en-US" dirty="0"/>
          </a:p>
        </p:txBody>
      </p:sp>
      <p:pic>
        <p:nvPicPr>
          <p:cNvPr id="9220" name="Picture 9">
            <a:extLst>
              <a:ext uri="{FF2B5EF4-FFF2-40B4-BE49-F238E27FC236}">
                <a16:creationId xmlns:a16="http://schemas.microsoft.com/office/drawing/2014/main" id="{B6E5E417-DBD1-4E37-9C89-024808CDE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0" y="3997300"/>
            <a:ext cx="5049838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A22923-3631-42CE-9B36-59464DFD571E}"/>
              </a:ext>
            </a:extLst>
          </p:cNvPr>
          <p:cNvSpPr txBox="1"/>
          <p:nvPr/>
        </p:nvSpPr>
        <p:spPr>
          <a:xfrm>
            <a:off x="2275064" y="6018809"/>
            <a:ext cx="437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3.2 Diagram of process state</a:t>
            </a:r>
            <a:endParaRPr lang="en-MY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7DACF3E-3199-4027-ABE8-26EC9AC13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152404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Five State Model: Queue Diagram</a:t>
            </a:r>
          </a:p>
        </p:txBody>
      </p:sp>
      <p:pic>
        <p:nvPicPr>
          <p:cNvPr id="15363" name="Picture 4" descr="3">
            <a:extLst>
              <a:ext uri="{FF2B5EF4-FFF2-40B4-BE49-F238E27FC236}">
                <a16:creationId xmlns:a16="http://schemas.microsoft.com/office/drawing/2014/main" id="{A01CE9AC-D821-4B03-BDDB-E594AC84A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929" y="1979617"/>
            <a:ext cx="5668963" cy="327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3">
            <a:extLst>
              <a:ext uri="{FF2B5EF4-FFF2-40B4-BE49-F238E27FC236}">
                <a16:creationId xmlns:a16="http://schemas.microsoft.com/office/drawing/2014/main" id="{2E28CBF4-9871-43F9-B22A-D4A9D1F18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7" y="1303338"/>
            <a:ext cx="6808787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Queuing diagram </a:t>
            </a:r>
            <a:r>
              <a:rPr kumimoji="1" lang="en-US" altLang="en-US" dirty="0">
                <a:latin typeface="Helvetica" panose="020B0604020202020204" pitchFamily="34" charset="0"/>
              </a:rPr>
              <a:t>represents queues, resources, flows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6ECA4-98AA-4381-BFAF-05FC69D65271}"/>
              </a:ext>
            </a:extLst>
          </p:cNvPr>
          <p:cNvSpPr txBox="1"/>
          <p:nvPr/>
        </p:nvSpPr>
        <p:spPr>
          <a:xfrm>
            <a:off x="971551" y="5376763"/>
            <a:ext cx="797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3.6 Queueing-diagram representation of process scheduling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281898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3F6FA5B-A8A9-4276-9DFB-215978F56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838200"/>
            <a:ext cx="8077200" cy="762000"/>
          </a:xfrm>
          <a:noFill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Process Description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C9F153A-3048-4A1A-84D9-886AD8D0FC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305800" cy="1295400"/>
          </a:xfrm>
          <a:noFill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OS controls all the events that occur in a computer system.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Therefore some data structure is needed to </a:t>
            </a:r>
            <a:r>
              <a:rPr lang="en-US" altLang="en-US" b="1"/>
              <a:t>keep track</a:t>
            </a:r>
            <a:r>
              <a:rPr lang="en-US" altLang="en-US"/>
              <a:t> of this information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</p:txBody>
      </p:sp>
      <p:grpSp>
        <p:nvGrpSpPr>
          <p:cNvPr id="34820" name="Group 4">
            <a:extLst>
              <a:ext uri="{FF2B5EF4-FFF2-40B4-BE49-F238E27FC236}">
                <a16:creationId xmlns:a16="http://schemas.microsoft.com/office/drawing/2014/main" id="{8C523CD2-B62E-483B-B984-F5B040422D8C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429000"/>
            <a:ext cx="8091488" cy="2578100"/>
            <a:chOff x="432" y="2064"/>
            <a:chExt cx="5097" cy="1624"/>
          </a:xfrm>
        </p:grpSpPr>
        <p:sp>
          <p:nvSpPr>
            <p:cNvPr id="20490" name="Oval 5">
              <a:extLst>
                <a:ext uri="{FF2B5EF4-FFF2-40B4-BE49-F238E27FC236}">
                  <a16:creationId xmlns:a16="http://schemas.microsoft.com/office/drawing/2014/main" id="{70FB90FC-DEBE-426F-B1B3-815721F14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2112"/>
              <a:ext cx="424" cy="376"/>
            </a:xfrm>
            <a:prstGeom prst="ellipse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000000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491" name="Oval 6">
              <a:extLst>
                <a:ext uri="{FF2B5EF4-FFF2-40B4-BE49-F238E27FC236}">
                  <a16:creationId xmlns:a16="http://schemas.microsoft.com/office/drawing/2014/main" id="{2BD066A8-708B-4AB9-82DB-F89B674E8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" y="2112"/>
              <a:ext cx="424" cy="376"/>
            </a:xfrm>
            <a:prstGeom prst="ellipse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000000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492" name="Oval 7">
              <a:extLst>
                <a:ext uri="{FF2B5EF4-FFF2-40B4-BE49-F238E27FC236}">
                  <a16:creationId xmlns:a16="http://schemas.microsoft.com/office/drawing/2014/main" id="{2F586175-FD1D-4933-8534-793A5F7F6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" y="2064"/>
              <a:ext cx="424" cy="376"/>
            </a:xfrm>
            <a:prstGeom prst="ellipse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000000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493" name="Rectangle 8">
              <a:extLst>
                <a:ext uri="{FF2B5EF4-FFF2-40B4-BE49-F238E27FC236}">
                  <a16:creationId xmlns:a16="http://schemas.microsoft.com/office/drawing/2014/main" id="{B862F659-3B14-4D92-8157-EB6D9FB0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" y="3264"/>
              <a:ext cx="664" cy="42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000000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494" name="Rectangle 9">
              <a:extLst>
                <a:ext uri="{FF2B5EF4-FFF2-40B4-BE49-F238E27FC236}">
                  <a16:creationId xmlns:a16="http://schemas.microsoft.com/office/drawing/2014/main" id="{BBAEC25E-E7E9-485A-8335-849767091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7" y="3264"/>
              <a:ext cx="664" cy="42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000000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495" name="Rectangle 10">
              <a:extLst>
                <a:ext uri="{FF2B5EF4-FFF2-40B4-BE49-F238E27FC236}">
                  <a16:creationId xmlns:a16="http://schemas.microsoft.com/office/drawing/2014/main" id="{CEAB8C2F-EE8A-4DEE-A3E2-DC0DE2E2A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5" y="3264"/>
              <a:ext cx="664" cy="42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000000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496" name="Rectangle 11">
              <a:extLst>
                <a:ext uri="{FF2B5EF4-FFF2-40B4-BE49-F238E27FC236}">
                  <a16:creationId xmlns:a16="http://schemas.microsoft.com/office/drawing/2014/main" id="{20CA4917-2D63-48AB-AB9B-04BD22100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" y="3264"/>
              <a:ext cx="664" cy="42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000000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497" name="Rectangle 12">
              <a:extLst>
                <a:ext uri="{FF2B5EF4-FFF2-40B4-BE49-F238E27FC236}">
                  <a16:creationId xmlns:a16="http://schemas.microsoft.com/office/drawing/2014/main" id="{3C01FE0F-2751-4B0D-9121-76EF1B448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9" y="3264"/>
              <a:ext cx="755" cy="42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000000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498" name="Line 13">
              <a:extLst>
                <a:ext uri="{FF2B5EF4-FFF2-40B4-BE49-F238E27FC236}">
                  <a16:creationId xmlns:a16="http://schemas.microsoft.com/office/drawing/2014/main" id="{92ECE2A7-6557-4CF0-9358-C75E0981F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" y="2828"/>
              <a:ext cx="50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499" name="Line 14">
              <a:extLst>
                <a:ext uri="{FF2B5EF4-FFF2-40B4-BE49-F238E27FC236}">
                  <a16:creationId xmlns:a16="http://schemas.microsoft.com/office/drawing/2014/main" id="{8E174C30-290E-4282-B0FF-B3E33BD268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93" y="2492"/>
              <a:ext cx="432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500" name="Line 15">
              <a:extLst>
                <a:ext uri="{FF2B5EF4-FFF2-40B4-BE49-F238E27FC236}">
                  <a16:creationId xmlns:a16="http://schemas.microsoft.com/office/drawing/2014/main" id="{8DC0F2EE-F7AB-4252-B1F3-178C4AD05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1" y="2492"/>
              <a:ext cx="192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501" name="Line 16">
              <a:extLst>
                <a:ext uri="{FF2B5EF4-FFF2-40B4-BE49-F238E27FC236}">
                  <a16:creationId xmlns:a16="http://schemas.microsoft.com/office/drawing/2014/main" id="{D546FDE7-9145-4460-B225-683067FD51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9" y="2444"/>
              <a:ext cx="86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502" name="Line 17">
              <a:extLst>
                <a:ext uri="{FF2B5EF4-FFF2-40B4-BE49-F238E27FC236}">
                  <a16:creationId xmlns:a16="http://schemas.microsoft.com/office/drawing/2014/main" id="{6B79C21B-F538-4EBE-A369-18EA18131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5" y="2396"/>
              <a:ext cx="2448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503" name="Line 18">
              <a:extLst>
                <a:ext uri="{FF2B5EF4-FFF2-40B4-BE49-F238E27FC236}">
                  <a16:creationId xmlns:a16="http://schemas.microsoft.com/office/drawing/2014/main" id="{06A61AEC-8A2F-4BA0-9869-095DB15C7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2492"/>
              <a:ext cx="576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504" name="Line 19">
              <a:extLst>
                <a:ext uri="{FF2B5EF4-FFF2-40B4-BE49-F238E27FC236}">
                  <a16:creationId xmlns:a16="http://schemas.microsoft.com/office/drawing/2014/main" id="{6C9038D5-2886-4385-8910-0F47240C0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448"/>
              <a:ext cx="1536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505" name="Line 20">
              <a:extLst>
                <a:ext uri="{FF2B5EF4-FFF2-40B4-BE49-F238E27FC236}">
                  <a16:creationId xmlns:a16="http://schemas.microsoft.com/office/drawing/2014/main" id="{68A0CE66-2CA6-43B6-AE0A-E441E135A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05" y="2492"/>
              <a:ext cx="528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506" name="Line 21">
              <a:extLst>
                <a:ext uri="{FF2B5EF4-FFF2-40B4-BE49-F238E27FC236}">
                  <a16:creationId xmlns:a16="http://schemas.microsoft.com/office/drawing/2014/main" id="{DF16F175-3053-4E8E-B6E3-B388401B1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92"/>
              <a:ext cx="144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20507" name="Rectangle 22">
              <a:extLst>
                <a:ext uri="{FF2B5EF4-FFF2-40B4-BE49-F238E27FC236}">
                  <a16:creationId xmlns:a16="http://schemas.microsoft.com/office/drawing/2014/main" id="{80076D23-83DA-4544-BF5A-398686741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147"/>
              <a:ext cx="352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 dirty="0">
                  <a:solidFill>
                    <a:srgbClr val="000000"/>
                  </a:solidFill>
                  <a:latin typeface="Arial"/>
                  <a:cs typeface="Arial" charset="0"/>
                </a:rPr>
                <a:t>P1</a:t>
              </a:r>
            </a:p>
          </p:txBody>
        </p:sp>
        <p:sp>
          <p:nvSpPr>
            <p:cNvPr id="20508" name="Rectangle 23">
              <a:extLst>
                <a:ext uri="{FF2B5EF4-FFF2-40B4-BE49-F238E27FC236}">
                  <a16:creationId xmlns:a16="http://schemas.microsoft.com/office/drawing/2014/main" id="{86A67DAD-BEC7-464C-85E6-1D30B3BEC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099"/>
              <a:ext cx="352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>
                  <a:solidFill>
                    <a:srgbClr val="000000"/>
                  </a:solidFill>
                  <a:latin typeface="Arial"/>
                  <a:cs typeface="Arial" charset="0"/>
                </a:rPr>
                <a:t>P3</a:t>
              </a:r>
            </a:p>
          </p:txBody>
        </p:sp>
        <p:sp>
          <p:nvSpPr>
            <p:cNvPr id="20509" name="Rectangle 24">
              <a:extLst>
                <a:ext uri="{FF2B5EF4-FFF2-40B4-BE49-F238E27FC236}">
                  <a16:creationId xmlns:a16="http://schemas.microsoft.com/office/drawing/2014/main" id="{3257477F-69FF-402B-96DC-6B39E009D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" y="2156"/>
              <a:ext cx="352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>
                  <a:solidFill>
                    <a:srgbClr val="000000"/>
                  </a:solidFill>
                  <a:latin typeface="Arial"/>
                  <a:cs typeface="Arial" charset="0"/>
                </a:rPr>
                <a:t>P2</a:t>
              </a:r>
            </a:p>
          </p:txBody>
        </p:sp>
        <p:sp>
          <p:nvSpPr>
            <p:cNvPr id="20510" name="Rectangle 25">
              <a:extLst>
                <a:ext uri="{FF2B5EF4-FFF2-40B4-BE49-F238E27FC236}">
                  <a16:creationId xmlns:a16="http://schemas.microsoft.com/office/drawing/2014/main" id="{EA9B6EE9-37A1-424D-956D-36A10587C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3356"/>
              <a:ext cx="525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>
                  <a:solidFill>
                    <a:srgbClr val="000000"/>
                  </a:solidFill>
                  <a:latin typeface="Arial"/>
                  <a:cs typeface="Arial" charset="0"/>
                </a:rPr>
                <a:t>CPU</a:t>
              </a:r>
            </a:p>
          </p:txBody>
        </p:sp>
        <p:sp>
          <p:nvSpPr>
            <p:cNvPr id="20511" name="Rectangle 26">
              <a:extLst>
                <a:ext uri="{FF2B5EF4-FFF2-40B4-BE49-F238E27FC236}">
                  <a16:creationId xmlns:a16="http://schemas.microsoft.com/office/drawing/2014/main" id="{AB49CF20-6DA6-459D-BA3E-DE314F266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" y="3356"/>
              <a:ext cx="374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>
                  <a:solidFill>
                    <a:srgbClr val="000000"/>
                  </a:solidFill>
                  <a:latin typeface="Arial"/>
                  <a:cs typeface="Arial" charset="0"/>
                </a:rPr>
                <a:t>I/O</a:t>
              </a:r>
            </a:p>
          </p:txBody>
        </p:sp>
        <p:sp>
          <p:nvSpPr>
            <p:cNvPr id="20512" name="Rectangle 27">
              <a:extLst>
                <a:ext uri="{FF2B5EF4-FFF2-40B4-BE49-F238E27FC236}">
                  <a16:creationId xmlns:a16="http://schemas.microsoft.com/office/drawing/2014/main" id="{2AD02115-4DA2-45CD-B784-AB67BD93E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347"/>
              <a:ext cx="374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>
                  <a:solidFill>
                    <a:srgbClr val="000000"/>
                  </a:solidFill>
                  <a:latin typeface="Arial"/>
                  <a:cs typeface="Arial" charset="0"/>
                </a:rPr>
                <a:t>I/O</a:t>
              </a:r>
            </a:p>
          </p:txBody>
        </p:sp>
        <p:sp>
          <p:nvSpPr>
            <p:cNvPr id="20513" name="Rectangle 28">
              <a:extLst>
                <a:ext uri="{FF2B5EF4-FFF2-40B4-BE49-F238E27FC236}">
                  <a16:creationId xmlns:a16="http://schemas.microsoft.com/office/drawing/2014/main" id="{B3302673-4066-435A-B83E-CD53796CA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347"/>
              <a:ext cx="374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400">
                  <a:solidFill>
                    <a:srgbClr val="000000"/>
                  </a:solidFill>
                  <a:latin typeface="Arial"/>
                  <a:cs typeface="Arial" charset="0"/>
                </a:rPr>
                <a:t>I/O</a:t>
              </a:r>
            </a:p>
          </p:txBody>
        </p:sp>
        <p:sp>
          <p:nvSpPr>
            <p:cNvPr id="20514" name="Rectangle 29">
              <a:extLst>
                <a:ext uri="{FF2B5EF4-FFF2-40B4-BE49-F238E27FC236}">
                  <a16:creationId xmlns:a16="http://schemas.microsoft.com/office/drawing/2014/main" id="{5661982C-E4B0-4F12-BA94-E0148EBF2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347"/>
              <a:ext cx="758" cy="27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200">
                  <a:solidFill>
                    <a:srgbClr val="000000"/>
                  </a:solidFill>
                  <a:latin typeface="Arial"/>
                  <a:cs typeface="Arial" charset="0"/>
                </a:rPr>
                <a:t>Memory</a:t>
              </a:r>
            </a:p>
          </p:txBody>
        </p:sp>
        <p:sp>
          <p:nvSpPr>
            <p:cNvPr id="20515" name="Rectangle 30">
              <a:extLst>
                <a:ext uri="{FF2B5EF4-FFF2-40B4-BE49-F238E27FC236}">
                  <a16:creationId xmlns:a16="http://schemas.microsoft.com/office/drawing/2014/main" id="{9E71BB35-7FEF-4105-A569-A00ABEE8B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300"/>
              <a:ext cx="758" cy="48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200" dirty="0">
                  <a:solidFill>
                    <a:srgbClr val="000000"/>
                  </a:solidFill>
                  <a:latin typeface="Arial"/>
                  <a:cs typeface="Arial" charset="0"/>
                </a:rPr>
                <a:t>Virtual</a:t>
              </a:r>
            </a:p>
            <a:p>
              <a:pPr eaLnBrk="1" hangingPunct="1">
                <a:defRPr/>
              </a:pPr>
              <a:r>
                <a:rPr lang="en-US" sz="2200" dirty="0">
                  <a:solidFill>
                    <a:srgbClr val="000000"/>
                  </a:solidFill>
                  <a:latin typeface="Arial"/>
                  <a:cs typeface="Arial" charset="0"/>
                </a:rPr>
                <a:t>Memory</a:t>
              </a:r>
            </a:p>
          </p:txBody>
        </p:sp>
        <p:sp>
          <p:nvSpPr>
            <p:cNvPr id="20516" name="Rectangle 31">
              <a:extLst>
                <a:ext uri="{FF2B5EF4-FFF2-40B4-BE49-F238E27FC236}">
                  <a16:creationId xmlns:a16="http://schemas.microsoft.com/office/drawing/2014/main" id="{F4694E79-78EB-459A-B16D-7AFABECF0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867"/>
              <a:ext cx="965" cy="48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200" dirty="0">
                  <a:solidFill>
                    <a:srgbClr val="000000"/>
                  </a:solidFill>
                  <a:latin typeface="Arial"/>
                  <a:cs typeface="Arial" charset="0"/>
                </a:rPr>
                <a:t>Computer</a:t>
              </a:r>
            </a:p>
            <a:p>
              <a:pPr eaLnBrk="1" hangingPunct="1">
                <a:defRPr/>
              </a:pPr>
              <a:r>
                <a:rPr lang="en-US" sz="2200" dirty="0">
                  <a:solidFill>
                    <a:srgbClr val="000000"/>
                  </a:solidFill>
                  <a:latin typeface="Arial"/>
                  <a:cs typeface="Arial" charset="0"/>
                </a:rPr>
                <a:t>Resources</a:t>
              </a:r>
            </a:p>
          </p:txBody>
        </p:sp>
      </p:grpSp>
      <p:sp>
        <p:nvSpPr>
          <p:cNvPr id="20485" name="Line 32">
            <a:extLst>
              <a:ext uri="{FF2B5EF4-FFF2-40B4-BE49-F238E27FC236}">
                <a16:creationId xmlns:a16="http://schemas.microsoft.com/office/drawing/2014/main" id="{9F8711E1-F2E8-4A15-AC4A-58ECCE428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613" y="6215063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eaLnBrk="1" hangingPunct="1">
              <a:defRPr/>
            </a:pPr>
            <a:endParaRPr lang="en-US" sz="200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sp>
        <p:nvSpPr>
          <p:cNvPr id="20486" name="Text Box 33">
            <a:extLst>
              <a:ext uri="{FF2B5EF4-FFF2-40B4-BE49-F238E27FC236}">
                <a16:creationId xmlns:a16="http://schemas.microsoft.com/office/drawing/2014/main" id="{4EA6A6DB-F9AE-40EF-9DDC-B9364C6F6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7" y="6062663"/>
            <a:ext cx="1017587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>
                <a:solidFill>
                  <a:srgbClr val="000000"/>
                </a:solidFill>
                <a:latin typeface="Arial"/>
                <a:cs typeface="Arial" charset="0"/>
              </a:rPr>
              <a:t>Allocated</a:t>
            </a:r>
          </a:p>
        </p:txBody>
      </p:sp>
      <p:sp>
        <p:nvSpPr>
          <p:cNvPr id="20487" name="Line 34">
            <a:extLst>
              <a:ext uri="{FF2B5EF4-FFF2-40B4-BE49-F238E27FC236}">
                <a16:creationId xmlns:a16="http://schemas.microsoft.com/office/drawing/2014/main" id="{96D00460-C487-4372-ACDD-A3BF93BFF5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613" y="6519863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pPr eaLnBrk="1" hangingPunct="1">
              <a:defRPr/>
            </a:pPr>
            <a:endParaRPr lang="en-US" sz="200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sp>
        <p:nvSpPr>
          <p:cNvPr id="20488" name="Text Box 35">
            <a:extLst>
              <a:ext uri="{FF2B5EF4-FFF2-40B4-BE49-F238E27FC236}">
                <a16:creationId xmlns:a16="http://schemas.microsoft.com/office/drawing/2014/main" id="{D176B3EF-AAB1-413D-A5A9-A20E99CD4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7" y="6367467"/>
            <a:ext cx="947737" cy="338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>
                <a:solidFill>
                  <a:srgbClr val="000000"/>
                </a:solidFill>
                <a:latin typeface="Arial"/>
                <a:cs typeface="Arial" charset="0"/>
              </a:rPr>
              <a:t>Request</a:t>
            </a:r>
          </a:p>
        </p:txBody>
      </p:sp>
      <p:sp>
        <p:nvSpPr>
          <p:cNvPr id="34825" name="Slide Number Placeholder 3">
            <a:extLst>
              <a:ext uri="{FF2B5EF4-FFF2-40B4-BE49-F238E27FC236}">
                <a16:creationId xmlns:a16="http://schemas.microsoft.com/office/drawing/2014/main" id="{83BC6F50-996D-4D42-BF50-A027A0FE88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945C8F02-D6F6-4F11-9F3B-A24267D1B5E1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None/>
                <a:defRPr/>
              </a:pPr>
              <a:t>11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39590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F456360-A6ED-487F-AFCF-6ED49B6CB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838200"/>
            <a:ext cx="8077200" cy="1143000"/>
          </a:xfrm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Information Table (cont…)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69A92C5-357D-4D1D-AC35-496511422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8077200" cy="2590800"/>
          </a:xfrm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OS needs to </a:t>
            </a:r>
            <a:r>
              <a:rPr lang="en-US" altLang="en-US" b="1" dirty="0"/>
              <a:t>keep track </a:t>
            </a:r>
            <a:r>
              <a:rPr lang="en-US" altLang="en-US" dirty="0"/>
              <a:t>on the </a:t>
            </a:r>
            <a:r>
              <a:rPr lang="en-US" altLang="en-US" b="1" dirty="0"/>
              <a:t>status</a:t>
            </a:r>
            <a:r>
              <a:rPr lang="en-US" altLang="en-US" dirty="0"/>
              <a:t> of each </a:t>
            </a:r>
            <a:r>
              <a:rPr lang="en-US" altLang="en-US" b="1" dirty="0"/>
              <a:t>process</a:t>
            </a:r>
            <a:r>
              <a:rPr lang="en-US" altLang="en-US" dirty="0"/>
              <a:t> as well as the resources available in a computer system. 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Done by keeping the information in </a:t>
            </a:r>
            <a:r>
              <a:rPr lang="en-US" altLang="en-US" b="1" dirty="0"/>
              <a:t>tables</a:t>
            </a:r>
            <a:r>
              <a:rPr lang="en-US" altLang="en-US" dirty="0"/>
              <a:t> as follows:</a:t>
            </a: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299423DC-C5FF-4E70-894F-C8AECD15F9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5B260840-F832-4473-9217-9B9510265775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None/>
                <a:defRPr/>
              </a:pPr>
              <a:t>12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grpSp>
        <p:nvGrpSpPr>
          <p:cNvPr id="36869" name="Group 28">
            <a:extLst>
              <a:ext uri="{FF2B5EF4-FFF2-40B4-BE49-F238E27FC236}">
                <a16:creationId xmlns:a16="http://schemas.microsoft.com/office/drawing/2014/main" id="{EE4EB510-CFF7-4EC0-9A34-AE7716D5A343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3810000"/>
            <a:ext cx="5105400" cy="2895600"/>
            <a:chOff x="2286000" y="3810000"/>
            <a:chExt cx="5105400" cy="28956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D8D11A7-96CA-446E-92A3-5C6EDB067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3810000"/>
              <a:ext cx="3886200" cy="289560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/>
            <a:lstStyle/>
            <a:p>
              <a:pPr eaLnBrk="1" hangingPunct="1">
                <a:defRPr/>
              </a:pPr>
              <a:endParaRPr lang="en-US" sz="2000">
                <a:solidFill>
                  <a:srgbClr val="FFFFFF"/>
                </a:solidFill>
                <a:latin typeface="Times New Roman" panose="02020603050405020304" pitchFamily="18" charset="0"/>
                <a:cs typeface="Arial" charset="0"/>
              </a:endParaRPr>
            </a:p>
          </p:txBody>
        </p:sp>
        <p:grpSp>
          <p:nvGrpSpPr>
            <p:cNvPr id="3" name="Group 10">
              <a:extLst>
                <a:ext uri="{FF2B5EF4-FFF2-40B4-BE49-F238E27FC236}">
                  <a16:creationId xmlns:a16="http://schemas.microsoft.com/office/drawing/2014/main" id="{01C7AF41-2906-4A2B-8AD9-E172C6A55E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6800" y="4267200"/>
              <a:ext cx="2057400" cy="990600"/>
              <a:chOff x="3962400" y="4343400"/>
              <a:chExt cx="2057400" cy="9906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4B29F5D-DBA4-40B4-9CAF-D495CA99643F}"/>
                  </a:ext>
                </a:extLst>
              </p:cNvPr>
              <p:cNvSpPr/>
              <p:nvPr/>
            </p:nvSpPr>
            <p:spPr bwMode="auto">
              <a:xfrm>
                <a:off x="3962400" y="4343400"/>
                <a:ext cx="2057400" cy="381000"/>
              </a:xfrm>
              <a:prstGeom prst="rect">
                <a:avLst/>
              </a:prstGeom>
              <a:solidFill>
                <a:srgbClr val="00CC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en-US" sz="2000" b="1" dirty="0">
                    <a:solidFill>
                      <a:srgbClr val="FFFFFF"/>
                    </a:solidFill>
                    <a:latin typeface="Arial"/>
                    <a:cs typeface="Arial" charset="0"/>
                  </a:rPr>
                  <a:t>Memory Table</a:t>
                </a:r>
              </a:p>
            </p:txBody>
          </p:sp>
          <p:sp>
            <p:nvSpPr>
              <p:cNvPr id="21522" name="Rectangle 6">
                <a:extLst>
                  <a:ext uri="{FF2B5EF4-FFF2-40B4-BE49-F238E27FC236}">
                    <a16:creationId xmlns:a16="http://schemas.microsoft.com/office/drawing/2014/main" id="{ED01A15C-6828-4702-85F4-E9990EEEF8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2400" y="4724400"/>
                <a:ext cx="990600" cy="304800"/>
              </a:xfrm>
              <a:prstGeom prst="rect">
                <a:avLst/>
              </a:prstGeom>
              <a:solidFill>
                <a:srgbClr val="00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  <p:sp>
            <p:nvSpPr>
              <p:cNvPr id="21523" name="Rectangle 7">
                <a:extLst>
                  <a:ext uri="{FF2B5EF4-FFF2-40B4-BE49-F238E27FC236}">
                    <a16:creationId xmlns:a16="http://schemas.microsoft.com/office/drawing/2014/main" id="{5FCE8770-0FDE-4B6C-9F58-B16399DBF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3000" y="4724400"/>
                <a:ext cx="1066800" cy="304800"/>
              </a:xfrm>
              <a:prstGeom prst="rect">
                <a:avLst/>
              </a:prstGeom>
              <a:solidFill>
                <a:srgbClr val="00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  <p:sp>
            <p:nvSpPr>
              <p:cNvPr id="21524" name="Rectangle 8">
                <a:extLst>
                  <a:ext uri="{FF2B5EF4-FFF2-40B4-BE49-F238E27FC236}">
                    <a16:creationId xmlns:a16="http://schemas.microsoft.com/office/drawing/2014/main" id="{66DA737A-A352-42D6-BBC2-4C8578D6B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2400" y="5029200"/>
                <a:ext cx="990600" cy="304800"/>
              </a:xfrm>
              <a:prstGeom prst="rect">
                <a:avLst/>
              </a:prstGeom>
              <a:solidFill>
                <a:srgbClr val="00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  <p:sp>
            <p:nvSpPr>
              <p:cNvPr id="21525" name="Rectangle 9">
                <a:extLst>
                  <a:ext uri="{FF2B5EF4-FFF2-40B4-BE49-F238E27FC236}">
                    <a16:creationId xmlns:a16="http://schemas.microsoft.com/office/drawing/2014/main" id="{258A64C2-FD3B-4CC7-BCEB-05ED3A774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3000" y="5029200"/>
                <a:ext cx="1066800" cy="304800"/>
              </a:xfrm>
              <a:prstGeom prst="rect">
                <a:avLst/>
              </a:prstGeom>
              <a:solidFill>
                <a:srgbClr val="00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</p:grpSp>
        <p:grpSp>
          <p:nvGrpSpPr>
            <p:cNvPr id="4" name="Group 11">
              <a:extLst>
                <a:ext uri="{FF2B5EF4-FFF2-40B4-BE49-F238E27FC236}">
                  <a16:creationId xmlns:a16="http://schemas.microsoft.com/office/drawing/2014/main" id="{717889D2-2117-4EF8-8E42-6B2CCC3E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6000" y="4267200"/>
              <a:ext cx="2057400" cy="990600"/>
              <a:chOff x="3962400" y="4343400"/>
              <a:chExt cx="2057400" cy="9906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9A5B33A-F309-4507-B629-5B26ADFCF8A3}"/>
                  </a:ext>
                </a:extLst>
              </p:cNvPr>
              <p:cNvSpPr/>
              <p:nvPr/>
            </p:nvSpPr>
            <p:spPr bwMode="auto">
              <a:xfrm>
                <a:off x="3962400" y="4343400"/>
                <a:ext cx="2057400" cy="381000"/>
              </a:xfrm>
              <a:prstGeom prst="rect">
                <a:avLst/>
              </a:prstGeom>
              <a:solidFill>
                <a:srgbClr val="00CC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en-US" sz="2000" b="1" dirty="0">
                    <a:solidFill>
                      <a:srgbClr val="FFFFFF"/>
                    </a:solidFill>
                    <a:latin typeface="Arial"/>
                    <a:cs typeface="Arial" charset="0"/>
                  </a:rPr>
                  <a:t>I/O Table</a:t>
                </a:r>
              </a:p>
            </p:txBody>
          </p:sp>
          <p:sp>
            <p:nvSpPr>
              <p:cNvPr id="21517" name="Rectangle 13">
                <a:extLst>
                  <a:ext uri="{FF2B5EF4-FFF2-40B4-BE49-F238E27FC236}">
                    <a16:creationId xmlns:a16="http://schemas.microsoft.com/office/drawing/2014/main" id="{8F58F142-ACE9-4C9E-A9CC-6981E9EE7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2400" y="4724400"/>
                <a:ext cx="990600" cy="304800"/>
              </a:xfrm>
              <a:prstGeom prst="rect">
                <a:avLst/>
              </a:prstGeom>
              <a:solidFill>
                <a:srgbClr val="00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  <p:sp>
            <p:nvSpPr>
              <p:cNvPr id="21518" name="Rectangle 14">
                <a:extLst>
                  <a:ext uri="{FF2B5EF4-FFF2-40B4-BE49-F238E27FC236}">
                    <a16:creationId xmlns:a16="http://schemas.microsoft.com/office/drawing/2014/main" id="{F94C2819-BDF6-4C25-8EF7-54CD509AD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3000" y="4724400"/>
                <a:ext cx="1066800" cy="304800"/>
              </a:xfrm>
              <a:prstGeom prst="rect">
                <a:avLst/>
              </a:prstGeom>
              <a:solidFill>
                <a:srgbClr val="00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  <p:sp>
            <p:nvSpPr>
              <p:cNvPr id="21519" name="Rectangle 15">
                <a:extLst>
                  <a:ext uri="{FF2B5EF4-FFF2-40B4-BE49-F238E27FC236}">
                    <a16:creationId xmlns:a16="http://schemas.microsoft.com/office/drawing/2014/main" id="{5BA4E339-9CAE-4002-99DD-4ABE5932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2400" y="5029200"/>
                <a:ext cx="990600" cy="304800"/>
              </a:xfrm>
              <a:prstGeom prst="rect">
                <a:avLst/>
              </a:prstGeom>
              <a:solidFill>
                <a:srgbClr val="00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  <p:sp>
            <p:nvSpPr>
              <p:cNvPr id="21520" name="Rectangle 16">
                <a:extLst>
                  <a:ext uri="{FF2B5EF4-FFF2-40B4-BE49-F238E27FC236}">
                    <a16:creationId xmlns:a16="http://schemas.microsoft.com/office/drawing/2014/main" id="{90ACFECC-07D8-418B-BF79-20D64BEB4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3000" y="5029200"/>
                <a:ext cx="1066800" cy="304800"/>
              </a:xfrm>
              <a:prstGeom prst="rect">
                <a:avLst/>
              </a:prstGeom>
              <a:solidFill>
                <a:srgbClr val="00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</p:grpSp>
        <p:grpSp>
          <p:nvGrpSpPr>
            <p:cNvPr id="5" name="Group 17">
              <a:extLst>
                <a:ext uri="{FF2B5EF4-FFF2-40B4-BE49-F238E27FC236}">
                  <a16:creationId xmlns:a16="http://schemas.microsoft.com/office/drawing/2014/main" id="{838A8907-0473-4565-B5BB-F4DDA15A2D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800" y="5486400"/>
              <a:ext cx="2057400" cy="685800"/>
              <a:chOff x="3962400" y="4343400"/>
              <a:chExt cx="2057400" cy="6858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63B395E-66C5-475E-8A77-0864EFCFEB74}"/>
                  </a:ext>
                </a:extLst>
              </p:cNvPr>
              <p:cNvSpPr/>
              <p:nvPr/>
            </p:nvSpPr>
            <p:spPr bwMode="auto">
              <a:xfrm>
                <a:off x="3962400" y="4343400"/>
                <a:ext cx="2057400" cy="381000"/>
              </a:xfrm>
              <a:prstGeom prst="rect">
                <a:avLst/>
              </a:prstGeom>
              <a:solidFill>
                <a:srgbClr val="00CC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en-US" sz="2000" b="1" dirty="0">
                    <a:solidFill>
                      <a:srgbClr val="FFFFFF"/>
                    </a:solidFill>
                    <a:latin typeface="Arial"/>
                    <a:cs typeface="Arial" charset="0"/>
                  </a:rPr>
                  <a:t>File Table</a:t>
                </a:r>
              </a:p>
            </p:txBody>
          </p:sp>
          <p:sp>
            <p:nvSpPr>
              <p:cNvPr id="21514" name="Rectangle 19">
                <a:extLst>
                  <a:ext uri="{FF2B5EF4-FFF2-40B4-BE49-F238E27FC236}">
                    <a16:creationId xmlns:a16="http://schemas.microsoft.com/office/drawing/2014/main" id="{8EB2E38A-AB21-479D-9F0F-49FEFFA118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2400" y="4724400"/>
                <a:ext cx="990600" cy="304800"/>
              </a:xfrm>
              <a:prstGeom prst="rect">
                <a:avLst/>
              </a:prstGeom>
              <a:solidFill>
                <a:srgbClr val="00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  <p:sp>
            <p:nvSpPr>
              <p:cNvPr id="21515" name="Rectangle 20">
                <a:extLst>
                  <a:ext uri="{FF2B5EF4-FFF2-40B4-BE49-F238E27FC236}">
                    <a16:creationId xmlns:a16="http://schemas.microsoft.com/office/drawing/2014/main" id="{A95C93A9-4F18-4C89-ABF0-280BFB482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3000" y="4724400"/>
                <a:ext cx="1066800" cy="304800"/>
              </a:xfrm>
              <a:prstGeom prst="rect">
                <a:avLst/>
              </a:prstGeom>
              <a:solidFill>
                <a:srgbClr val="00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</p:grpSp>
        <p:grpSp>
          <p:nvGrpSpPr>
            <p:cNvPr id="7" name="Group 17">
              <a:extLst>
                <a:ext uri="{FF2B5EF4-FFF2-40B4-BE49-F238E27FC236}">
                  <a16:creationId xmlns:a16="http://schemas.microsoft.com/office/drawing/2014/main" id="{7FD0279B-361C-4903-A9EC-38907169DD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0" y="5791200"/>
              <a:ext cx="2057400" cy="685800"/>
              <a:chOff x="3962400" y="4343400"/>
              <a:chExt cx="2057400" cy="6858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7BFB8EB-AD9C-40D5-9EFB-45FB8E44184A}"/>
                  </a:ext>
                </a:extLst>
              </p:cNvPr>
              <p:cNvSpPr/>
              <p:nvPr/>
            </p:nvSpPr>
            <p:spPr bwMode="auto">
              <a:xfrm>
                <a:off x="3962400" y="4343400"/>
                <a:ext cx="2057400" cy="381000"/>
              </a:xfrm>
              <a:prstGeom prst="rect">
                <a:avLst/>
              </a:prstGeom>
              <a:solidFill>
                <a:srgbClr val="00CC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en-US" sz="2000" b="1" dirty="0">
                    <a:solidFill>
                      <a:srgbClr val="FFFFFF"/>
                    </a:solidFill>
                    <a:latin typeface="Arial"/>
                    <a:cs typeface="Arial" charset="0"/>
                  </a:rPr>
                  <a:t>Process Table</a:t>
                </a:r>
              </a:p>
            </p:txBody>
          </p:sp>
          <p:sp>
            <p:nvSpPr>
              <p:cNvPr id="26" name="Rectangle 19">
                <a:extLst>
                  <a:ext uri="{FF2B5EF4-FFF2-40B4-BE49-F238E27FC236}">
                    <a16:creationId xmlns:a16="http://schemas.microsoft.com/office/drawing/2014/main" id="{2AAB474E-8EA6-45DD-AB95-467122BCE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2400" y="4724400"/>
                <a:ext cx="990600" cy="304800"/>
              </a:xfrm>
              <a:prstGeom prst="rect">
                <a:avLst/>
              </a:prstGeom>
              <a:solidFill>
                <a:srgbClr val="00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  <p:sp>
            <p:nvSpPr>
              <p:cNvPr id="27" name="Rectangle 20">
                <a:extLst>
                  <a:ext uri="{FF2B5EF4-FFF2-40B4-BE49-F238E27FC236}">
                    <a16:creationId xmlns:a16="http://schemas.microsoft.com/office/drawing/2014/main" id="{8BCF7255-E509-4255-BD84-4D072E3B2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3000" y="4724400"/>
                <a:ext cx="1066800" cy="304800"/>
              </a:xfrm>
              <a:prstGeom prst="rect">
                <a:avLst/>
              </a:prstGeom>
              <a:solidFill>
                <a:srgbClr val="00CC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124498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3E4B8FF-C0DC-4ED7-9380-E3180EC805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838200"/>
            <a:ext cx="8077200" cy="914400"/>
          </a:xfrm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Information Table (…cont)</a:t>
            </a:r>
          </a:p>
        </p:txBody>
      </p:sp>
      <p:grpSp>
        <p:nvGrpSpPr>
          <p:cNvPr id="38915" name="Group 39">
            <a:extLst>
              <a:ext uri="{FF2B5EF4-FFF2-40B4-BE49-F238E27FC236}">
                <a16:creationId xmlns:a16="http://schemas.microsoft.com/office/drawing/2014/main" id="{9D3E06DB-7CE4-4E13-A3BA-42819E77C506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828800"/>
            <a:ext cx="8153400" cy="4191000"/>
            <a:chOff x="609600" y="1828800"/>
            <a:chExt cx="8153400" cy="4191000"/>
          </a:xfrm>
        </p:grpSpPr>
        <p:sp>
          <p:nvSpPr>
            <p:cNvPr id="38917" name="Rectangle 4">
              <a:extLst>
                <a:ext uri="{FF2B5EF4-FFF2-40B4-BE49-F238E27FC236}">
                  <a16:creationId xmlns:a16="http://schemas.microsoft.com/office/drawing/2014/main" id="{1123A318-4335-4A26-9E3F-45E3C9F16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1828800"/>
              <a:ext cx="8153400" cy="419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  <a:defRPr/>
              </a:pPr>
              <a:endParaRPr lang="en-US" altLang="en-US" sz="20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34" name="Rectangle 5">
              <a:extLst>
                <a:ext uri="{FF2B5EF4-FFF2-40B4-BE49-F238E27FC236}">
                  <a16:creationId xmlns:a16="http://schemas.microsoft.com/office/drawing/2014/main" id="{49B90902-1112-4F48-A7AE-9282A4572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2667000"/>
              <a:ext cx="1293813" cy="1416050"/>
            </a:xfrm>
            <a:prstGeom prst="rect">
              <a:avLst/>
            </a:prstGeom>
            <a:solidFill>
              <a:srgbClr val="99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FFFFFF"/>
                </a:solidFill>
                <a:latin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38919" name="Line 6">
              <a:extLst>
                <a:ext uri="{FF2B5EF4-FFF2-40B4-BE49-F238E27FC236}">
                  <a16:creationId xmlns:a16="http://schemas.microsoft.com/office/drawing/2014/main" id="{9D943070-66B5-465B-BC2C-B913BB8FD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9475" y="3083297"/>
              <a:ext cx="13067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MY" sz="20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20" name="Line 7">
              <a:extLst>
                <a:ext uri="{FF2B5EF4-FFF2-40B4-BE49-F238E27FC236}">
                  <a16:creationId xmlns:a16="http://schemas.microsoft.com/office/drawing/2014/main" id="{6CE658FF-2B09-41D1-B0B5-B673F7CC16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9475" y="3419698"/>
              <a:ext cx="13067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MY" sz="20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21" name="Line 8">
              <a:extLst>
                <a:ext uri="{FF2B5EF4-FFF2-40B4-BE49-F238E27FC236}">
                  <a16:creationId xmlns:a16="http://schemas.microsoft.com/office/drawing/2014/main" id="{41B8AA05-597C-44BA-B809-3691B118B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9475" y="3756099"/>
              <a:ext cx="13067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MY" sz="20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38" name="Rectangle 9">
              <a:extLst>
                <a:ext uri="{FF2B5EF4-FFF2-40B4-BE49-F238E27FC236}">
                  <a16:creationId xmlns:a16="http://schemas.microsoft.com/office/drawing/2014/main" id="{8EA84D7A-CA52-4223-8DD8-A308ECA6A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2697163"/>
              <a:ext cx="1108075" cy="3984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Memory</a:t>
              </a:r>
            </a:p>
          </p:txBody>
        </p:sp>
        <p:sp>
          <p:nvSpPr>
            <p:cNvPr id="22539" name="Rectangle 10">
              <a:extLst>
                <a:ext uri="{FF2B5EF4-FFF2-40B4-BE49-F238E27FC236}">
                  <a16:creationId xmlns:a16="http://schemas.microsoft.com/office/drawing/2014/main" id="{987F83CB-C167-4045-BB7C-D9E216FCC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033713"/>
              <a:ext cx="1096963" cy="3984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Devices</a:t>
              </a:r>
            </a:p>
          </p:txBody>
        </p:sp>
        <p:sp>
          <p:nvSpPr>
            <p:cNvPr id="22540" name="Rectangle 11">
              <a:extLst>
                <a:ext uri="{FF2B5EF4-FFF2-40B4-BE49-F238E27FC236}">
                  <a16:creationId xmlns:a16="http://schemas.microsoft.com/office/drawing/2014/main" id="{151AC631-06C6-4D8C-8117-C5E6335E2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3" y="3362325"/>
              <a:ext cx="725487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Files</a:t>
              </a:r>
            </a:p>
          </p:txBody>
        </p:sp>
        <p:sp>
          <p:nvSpPr>
            <p:cNvPr id="22541" name="Rectangle 12">
              <a:extLst>
                <a:ext uri="{FF2B5EF4-FFF2-40B4-BE49-F238E27FC236}">
                  <a16:creationId xmlns:a16="http://schemas.microsoft.com/office/drawing/2014/main" id="{88C5B719-D5E8-4340-96CF-BB7D63C52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" y="3706813"/>
              <a:ext cx="1381125" cy="3984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Processes</a:t>
              </a:r>
            </a:p>
          </p:txBody>
        </p:sp>
        <p:sp>
          <p:nvSpPr>
            <p:cNvPr id="215053" name="Rectangle 13">
              <a:extLst>
                <a:ext uri="{FF2B5EF4-FFF2-40B4-BE49-F238E27FC236}">
                  <a16:creationId xmlns:a16="http://schemas.microsoft.com/office/drawing/2014/main" id="{6474D6E6-81C1-49BD-A27A-B2B42D6A0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2165350"/>
              <a:ext cx="1865312" cy="406400"/>
            </a:xfrm>
            <a:prstGeom prst="rect">
              <a:avLst/>
            </a:prstGeom>
            <a:solidFill>
              <a:srgbClr val="99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FFFFFF"/>
                </a:solidFill>
                <a:latin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215055" name="Rectangle 15">
              <a:extLst>
                <a:ext uri="{FF2B5EF4-FFF2-40B4-BE49-F238E27FC236}">
                  <a16:creationId xmlns:a16="http://schemas.microsoft.com/office/drawing/2014/main" id="{BFB4C7C2-9DEE-40FF-9BA9-E24FEFDD3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3678238"/>
              <a:ext cx="1865312" cy="414337"/>
            </a:xfrm>
            <a:prstGeom prst="rect">
              <a:avLst/>
            </a:prstGeom>
            <a:solidFill>
              <a:srgbClr val="99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FFFFFF"/>
                </a:solidFill>
                <a:latin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215056" name="Rectangle 16">
              <a:extLst>
                <a:ext uri="{FF2B5EF4-FFF2-40B4-BE49-F238E27FC236}">
                  <a16:creationId xmlns:a16="http://schemas.microsoft.com/office/drawing/2014/main" id="{44F1A0EE-785A-4098-8B94-B9BB593C0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2922588"/>
              <a:ext cx="1865312" cy="406400"/>
            </a:xfrm>
            <a:prstGeom prst="rect">
              <a:avLst/>
            </a:prstGeom>
            <a:solidFill>
              <a:srgbClr val="99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FFFFFF"/>
                </a:solidFill>
                <a:latin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22546" name="Rectangle 17">
              <a:extLst>
                <a:ext uri="{FF2B5EF4-FFF2-40B4-BE49-F238E27FC236}">
                  <a16:creationId xmlns:a16="http://schemas.microsoft.com/office/drawing/2014/main" id="{0263A49C-666A-48D6-9C53-DE4B2B760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3913" y="2151063"/>
              <a:ext cx="1916112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Memory Tables</a:t>
              </a:r>
            </a:p>
          </p:txBody>
        </p:sp>
        <p:sp>
          <p:nvSpPr>
            <p:cNvPr id="22547" name="Rectangle 18">
              <a:extLst>
                <a:ext uri="{FF2B5EF4-FFF2-40B4-BE49-F238E27FC236}">
                  <a16:creationId xmlns:a16="http://schemas.microsoft.com/office/drawing/2014/main" id="{9ED914FE-5C58-4A98-9D6A-B2924E63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7425" y="2949575"/>
              <a:ext cx="1458913" cy="3984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000" dirty="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rPr>
                <a:t>  </a:t>
              </a: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I/O Tables</a:t>
              </a:r>
            </a:p>
          </p:txBody>
        </p:sp>
        <p:sp>
          <p:nvSpPr>
            <p:cNvPr id="22548" name="Rectangle 19">
              <a:extLst>
                <a:ext uri="{FF2B5EF4-FFF2-40B4-BE49-F238E27FC236}">
                  <a16:creationId xmlns:a16="http://schemas.microsoft.com/office/drawing/2014/main" id="{2043C5C1-2224-4AFC-817C-75AB5B632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9663" y="3622675"/>
              <a:ext cx="1406525" cy="3984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File Tables</a:t>
              </a:r>
            </a:p>
          </p:txBody>
        </p:sp>
        <p:grpSp>
          <p:nvGrpSpPr>
            <p:cNvPr id="3" name="Group 37">
              <a:extLst>
                <a:ext uri="{FF2B5EF4-FFF2-40B4-BE49-F238E27FC236}">
                  <a16:creationId xmlns:a16="http://schemas.microsoft.com/office/drawing/2014/main" id="{1DA6A39B-D9BD-41D3-ADB7-C0EF1747C95B}"/>
                </a:ext>
              </a:extLst>
            </p:cNvPr>
            <p:cNvGrpSpPr/>
            <p:nvPr/>
          </p:nvGrpSpPr>
          <p:grpSpPr>
            <a:xfrm>
              <a:off x="3352800" y="4435910"/>
              <a:ext cx="1917834" cy="1518883"/>
              <a:chOff x="3352800" y="4435910"/>
              <a:chExt cx="1917834" cy="15188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543" name="Rectangle 14">
                <a:extLst>
                  <a:ext uri="{FF2B5EF4-FFF2-40B4-BE49-F238E27FC236}">
                    <a16:creationId xmlns:a16="http://schemas.microsoft.com/office/drawing/2014/main" id="{32766509-ED04-419F-8C9D-FA1901E310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6384" y="4435910"/>
                <a:ext cx="1864801" cy="406485"/>
              </a:xfrm>
              <a:prstGeom prst="rect">
                <a:avLst/>
              </a:prstGeom>
              <a:solidFill>
                <a:srgbClr val="99CC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SG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  <p:sp>
            <p:nvSpPr>
              <p:cNvPr id="22549" name="Rectangle 20">
                <a:extLst>
                  <a:ext uri="{FF2B5EF4-FFF2-40B4-BE49-F238E27FC236}">
                    <a16:creationId xmlns:a16="http://schemas.microsoft.com/office/drawing/2014/main" id="{2CF0D8B4-D3DC-44B7-A4D1-B079B3BBF1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2800" y="4463944"/>
                <a:ext cx="1917834" cy="3975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1" hangingPunct="1"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cs typeface="Arial" charset="0"/>
                  </a:rPr>
                  <a:t>Process Tables</a:t>
                </a:r>
              </a:p>
            </p:txBody>
          </p:sp>
          <p:sp>
            <p:nvSpPr>
              <p:cNvPr id="22550" name="Rectangle 21">
                <a:extLst>
                  <a:ext uri="{FF2B5EF4-FFF2-40B4-BE49-F238E27FC236}">
                    <a16:creationId xmlns:a16="http://schemas.microsoft.com/office/drawing/2014/main" id="{E0BA34FB-0F17-4E8A-9443-DDB2FF126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9578" y="4849404"/>
                <a:ext cx="1864801" cy="1079288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SG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  <p:sp>
            <p:nvSpPr>
              <p:cNvPr id="22551" name="Line 22">
                <a:extLst>
                  <a:ext uri="{FF2B5EF4-FFF2-40B4-BE49-F238E27FC236}">
                    <a16:creationId xmlns:a16="http://schemas.microsoft.com/office/drawing/2014/main" id="{3E4B431D-708F-4910-AC19-1C7CB5C30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9578" y="5185805"/>
                <a:ext cx="18784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  <p:sp>
            <p:nvSpPr>
              <p:cNvPr id="22552" name="Line 23">
                <a:extLst>
                  <a:ext uri="{FF2B5EF4-FFF2-40B4-BE49-F238E27FC236}">
                    <a16:creationId xmlns:a16="http://schemas.microsoft.com/office/drawing/2014/main" id="{C00DF4AE-CBA5-4F2E-8D76-465E10E665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9578" y="5606307"/>
                <a:ext cx="18784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sz="2000">
                  <a:solidFill>
                    <a:srgbClr val="FFFFFF"/>
                  </a:solidFill>
                  <a:latin typeface="Times New Roman" panose="02020603050405020304" pitchFamily="18" charset="0"/>
                  <a:cs typeface="Arial" charset="0"/>
                </a:endParaRPr>
              </a:p>
            </p:txBody>
          </p:sp>
          <p:sp>
            <p:nvSpPr>
              <p:cNvPr id="22553" name="Rectangle 24">
                <a:extLst>
                  <a:ext uri="{FF2B5EF4-FFF2-40B4-BE49-F238E27FC236}">
                    <a16:creationId xmlns:a16="http://schemas.microsoft.com/office/drawing/2014/main" id="{9CA693DD-7625-4C70-9629-571F1B853F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605" y="4800345"/>
                <a:ext cx="1322479" cy="3975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1" hangingPunct="1"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cs typeface="Arial" charset="0"/>
                  </a:rPr>
                  <a:t>Process 1</a:t>
                </a:r>
              </a:p>
            </p:txBody>
          </p:sp>
          <p:sp>
            <p:nvSpPr>
              <p:cNvPr id="22554" name="Rectangle 25">
                <a:extLst>
                  <a:ext uri="{FF2B5EF4-FFF2-40B4-BE49-F238E27FC236}">
                    <a16:creationId xmlns:a16="http://schemas.microsoft.com/office/drawing/2014/main" id="{A855D204-0294-4C54-AAA6-E6DF3C956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605" y="5557248"/>
                <a:ext cx="1322479" cy="3975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1" hangingPunct="1"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cs typeface="Arial" charset="0"/>
                  </a:rPr>
                  <a:t>Process </a:t>
                </a:r>
                <a:r>
                  <a:rPr lang="en-US" sz="2000" i="1" dirty="0">
                    <a:solidFill>
                      <a:srgbClr val="000000"/>
                    </a:solidFill>
                    <a:latin typeface="Arial"/>
                    <a:cs typeface="Arial" charset="0"/>
                  </a:rPr>
                  <a:t>n</a:t>
                </a:r>
              </a:p>
            </p:txBody>
          </p:sp>
          <p:sp>
            <p:nvSpPr>
              <p:cNvPr id="22555" name="Rectangle 26">
                <a:extLst>
                  <a:ext uri="{FF2B5EF4-FFF2-40B4-BE49-F238E27FC236}">
                    <a16:creationId xmlns:a16="http://schemas.microsoft.com/office/drawing/2014/main" id="{4167E8FE-D6EB-4586-A29C-AB43E385E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5956" y="4968546"/>
                <a:ext cx="246863" cy="70532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1" hangingPunct="1">
                  <a:defRPr/>
                </a:pPr>
                <a:r>
                  <a:rPr lang="en-US" sz="2000">
                    <a:solidFill>
                      <a:srgbClr val="FFFFFF"/>
                    </a:solidFill>
                    <a:latin typeface="Times New Roman" panose="02020603050405020304" pitchFamily="18" charset="0"/>
                    <a:cs typeface="Arial" charset="0"/>
                  </a:rPr>
                  <a:t>.</a:t>
                </a:r>
              </a:p>
              <a:p>
                <a:pPr eaLnBrk="1" hangingPunct="1">
                  <a:defRPr/>
                </a:pPr>
                <a:r>
                  <a:rPr lang="en-US" sz="2000">
                    <a:solidFill>
                      <a:srgbClr val="FFFFFF"/>
                    </a:solidFill>
                    <a:latin typeface="Times New Roman" panose="02020603050405020304" pitchFamily="18" charset="0"/>
                    <a:cs typeface="Arial" charset="0"/>
                  </a:rPr>
                  <a:t>.</a:t>
                </a:r>
              </a:p>
            </p:txBody>
          </p:sp>
        </p:grpSp>
        <p:sp>
          <p:nvSpPr>
            <p:cNvPr id="38933" name="Line 27">
              <a:extLst>
                <a:ext uri="{FF2B5EF4-FFF2-40B4-BE49-F238E27FC236}">
                  <a16:creationId xmlns:a16="http://schemas.microsoft.com/office/drawing/2014/main" id="{446A06AB-CE57-4995-92A8-E421978762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7867" y="2326394"/>
              <a:ext cx="1061712" cy="5046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MY" sz="20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4" name="Line 28">
              <a:extLst>
                <a:ext uri="{FF2B5EF4-FFF2-40B4-BE49-F238E27FC236}">
                  <a16:creationId xmlns:a16="http://schemas.microsoft.com/office/drawing/2014/main" id="{E1283990-30F5-4DC5-BCAC-B4E3508C46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6196" y="3083297"/>
              <a:ext cx="1225052" cy="1682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MY" sz="20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5" name="Line 29">
              <a:extLst>
                <a:ext uri="{FF2B5EF4-FFF2-40B4-BE49-F238E27FC236}">
                  <a16:creationId xmlns:a16="http://schemas.microsoft.com/office/drawing/2014/main" id="{CDCA8134-112C-4E79-AC85-2991AB51F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6196" y="3587899"/>
              <a:ext cx="1143382" cy="3364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MY" sz="20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6" name="Line 30">
              <a:extLst>
                <a:ext uri="{FF2B5EF4-FFF2-40B4-BE49-F238E27FC236}">
                  <a16:creationId xmlns:a16="http://schemas.microsoft.com/office/drawing/2014/main" id="{5C115A7F-DE13-42B4-A74D-2DB1F068A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867" y="3924300"/>
              <a:ext cx="1061712" cy="6728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MY" sz="20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071" name="Rectangle 31">
              <a:extLst>
                <a:ext uri="{FF2B5EF4-FFF2-40B4-BE49-F238E27FC236}">
                  <a16:creationId xmlns:a16="http://schemas.microsoft.com/office/drawing/2014/main" id="{BD33D461-B668-4BC4-946D-F545DBA50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5225" y="2081213"/>
              <a:ext cx="1125538" cy="1836737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FFFFFF"/>
                </a:solidFill>
                <a:latin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215072" name="Rectangle 32">
              <a:extLst>
                <a:ext uri="{FF2B5EF4-FFF2-40B4-BE49-F238E27FC236}">
                  <a16:creationId xmlns:a16="http://schemas.microsoft.com/office/drawing/2014/main" id="{1720F3BD-0A3A-4C3C-8524-6E5681EA7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4098925"/>
              <a:ext cx="1284288" cy="1836738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SG" sz="2000">
                <a:solidFill>
                  <a:srgbClr val="FFFFFF"/>
                </a:solidFill>
                <a:latin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38939" name="Line 33">
              <a:extLst>
                <a:ext uri="{FF2B5EF4-FFF2-40B4-BE49-F238E27FC236}">
                  <a16:creationId xmlns:a16="http://schemas.microsoft.com/office/drawing/2014/main" id="{CC2BAE00-BEC6-40CA-BA90-CA356490B4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7991" y="2746895"/>
              <a:ext cx="980041" cy="22707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MY" sz="20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0" name="Line 34">
              <a:extLst>
                <a:ext uri="{FF2B5EF4-FFF2-40B4-BE49-F238E27FC236}">
                  <a16:creationId xmlns:a16="http://schemas.microsoft.com/office/drawing/2014/main" id="{5ABCE9D1-218F-4A84-AC87-56B4BABD1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7991" y="4952999"/>
              <a:ext cx="2057209" cy="8215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MY" sz="20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64" name="Rectangle 35">
              <a:extLst>
                <a:ext uri="{FF2B5EF4-FFF2-40B4-BE49-F238E27FC236}">
                  <a16:creationId xmlns:a16="http://schemas.microsoft.com/office/drawing/2014/main" id="{1B029FCE-778D-4588-A5BF-ED9318749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4738" y="2193925"/>
              <a:ext cx="1322387" cy="1320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Process</a:t>
              </a:r>
            </a:p>
            <a:p>
              <a:pPr algn="ctr"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Image</a:t>
              </a:r>
            </a:p>
            <a:p>
              <a:pPr algn="ctr"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for</a:t>
              </a:r>
            </a:p>
            <a:p>
              <a:pPr algn="ctr"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Process 1</a:t>
              </a:r>
            </a:p>
          </p:txBody>
        </p:sp>
        <p:sp>
          <p:nvSpPr>
            <p:cNvPr id="22565" name="Rectangle 36">
              <a:extLst>
                <a:ext uri="{FF2B5EF4-FFF2-40B4-BE49-F238E27FC236}">
                  <a16:creationId xmlns:a16="http://schemas.microsoft.com/office/drawing/2014/main" id="{AE9CC469-5982-43E5-8F68-3E1CEA3B9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8213" y="4379913"/>
              <a:ext cx="1322387" cy="1320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Process</a:t>
              </a:r>
            </a:p>
            <a:p>
              <a:pPr algn="ctr"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Image</a:t>
              </a:r>
            </a:p>
            <a:p>
              <a:pPr algn="ctr"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for</a:t>
              </a:r>
            </a:p>
            <a:p>
              <a:pPr algn="ctr" eaLnBrk="1" hangingPunct="1">
                <a:defRPr/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cs typeface="Arial" charset="0"/>
                </a:rPr>
                <a:t>Process </a:t>
              </a:r>
              <a:r>
                <a:rPr lang="en-US" sz="2000" i="1" dirty="0">
                  <a:solidFill>
                    <a:srgbClr val="000000"/>
                  </a:solidFill>
                  <a:latin typeface="Arial"/>
                  <a:cs typeface="Arial" charset="0"/>
                </a:rPr>
                <a:t>n</a:t>
              </a:r>
            </a:p>
          </p:txBody>
        </p:sp>
      </p:grp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3E82CB85-4D1A-4239-96C2-6B0BFE1496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ACE6C1F5-E193-43FA-92ED-290D45020CA3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None/>
                <a:defRPr/>
              </a:pPr>
              <a:t>13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90931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4CBC4B4-08B5-43EE-9F43-7FF3DB3735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7" y="136529"/>
            <a:ext cx="75199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3.1.3	 Process Control Block (PCB)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9C938C-A77B-42C4-9C38-098EFD143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1" y="979488"/>
            <a:ext cx="5505450" cy="5262562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sz="2000" dirty="0"/>
              <a:t>Information associated with each process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/>
              <a:t>(also called </a:t>
            </a:r>
            <a:r>
              <a:rPr lang="en-US" altLang="en-US" sz="2000" b="1" dirty="0">
                <a:solidFill>
                  <a:srgbClr val="3366FF"/>
                </a:solidFill>
              </a:rPr>
              <a:t>task control block</a:t>
            </a:r>
            <a:r>
              <a:rPr lang="en-US" altLang="en-US" sz="2000" dirty="0"/>
              <a:t>)</a:t>
            </a:r>
          </a:p>
          <a:p>
            <a:r>
              <a:rPr lang="en-US" altLang="en-US" sz="2000" dirty="0"/>
              <a:t>Process state – running, waiting, </a:t>
            </a:r>
            <a:r>
              <a:rPr lang="en-US" altLang="en-US" sz="2000" dirty="0" err="1"/>
              <a:t>etc</a:t>
            </a:r>
            <a:endParaRPr lang="en-US" altLang="en-US" sz="2000" dirty="0"/>
          </a:p>
          <a:p>
            <a:r>
              <a:rPr lang="en-US" altLang="en-US" sz="2000" dirty="0"/>
              <a:t>Program counter – location of instruction to next execute</a:t>
            </a:r>
          </a:p>
          <a:p>
            <a:r>
              <a:rPr lang="en-US" altLang="en-US" sz="2000" dirty="0"/>
              <a:t>CPU registers – contents of all process-centric registers</a:t>
            </a:r>
          </a:p>
          <a:p>
            <a:r>
              <a:rPr lang="en-US" altLang="en-US" sz="2000" dirty="0"/>
              <a:t>CPU scheduling information- priorities, scheduling queue pointers</a:t>
            </a:r>
          </a:p>
          <a:p>
            <a:r>
              <a:rPr lang="en-US" altLang="en-US" sz="2000" dirty="0"/>
              <a:t>Memory-management information – memory allocated to the process</a:t>
            </a:r>
          </a:p>
          <a:p>
            <a:r>
              <a:rPr lang="en-US" altLang="en-US" sz="2000" dirty="0"/>
              <a:t>Accounting information – CPU used, clock time elapsed since start, time limits</a:t>
            </a:r>
          </a:p>
          <a:p>
            <a:r>
              <a:rPr lang="en-US" altLang="en-US" sz="2000" dirty="0"/>
              <a:t>I/O status information – I/O devices allocated to process, list of open files</a:t>
            </a:r>
          </a:p>
          <a:p>
            <a:endParaRPr lang="en-US" altLang="en-US" sz="2000" dirty="0"/>
          </a:p>
        </p:txBody>
      </p:sp>
      <p:pic>
        <p:nvPicPr>
          <p:cNvPr id="10244" name="Picture 9">
            <a:extLst>
              <a:ext uri="{FF2B5EF4-FFF2-40B4-BE49-F238E27FC236}">
                <a16:creationId xmlns:a16="http://schemas.microsoft.com/office/drawing/2014/main" id="{AEF22213-0012-4D29-8871-2DEF4257E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1871663"/>
            <a:ext cx="1987550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E6460D-92F9-4F87-8AE9-A971814B99A9}"/>
              </a:ext>
            </a:extLst>
          </p:cNvPr>
          <p:cNvSpPr txBox="1"/>
          <p:nvPr/>
        </p:nvSpPr>
        <p:spPr>
          <a:xfrm>
            <a:off x="5581871" y="5100751"/>
            <a:ext cx="3403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3.3</a:t>
            </a:r>
            <a:endParaRPr lang="en-MY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0FD7A46-3B59-4907-B0E7-5FFC3A36A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136529"/>
            <a:ext cx="7645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3.1.4	 Threads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0A04124-0CCB-4973-A131-2401F705D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7700" y="1093792"/>
            <a:ext cx="7854950" cy="3983037"/>
          </a:xfrm>
        </p:spPr>
        <p:txBody>
          <a:bodyPr/>
          <a:lstStyle/>
          <a:p>
            <a:r>
              <a:rPr lang="en-US" altLang="en-US" dirty="0"/>
              <a:t>So far, process has a single thread of execution</a:t>
            </a:r>
          </a:p>
          <a:p>
            <a:r>
              <a:rPr lang="en-US" altLang="en-US" dirty="0"/>
              <a:t>Consider having multiple program counters per process</a:t>
            </a:r>
          </a:p>
          <a:p>
            <a:pPr lvl="1"/>
            <a:r>
              <a:rPr lang="en-US" altLang="en-US" dirty="0"/>
              <a:t>Multiple locations can execute at once</a:t>
            </a:r>
          </a:p>
          <a:p>
            <a:pPr lvl="2"/>
            <a:r>
              <a:rPr lang="en-US" altLang="en-US" dirty="0"/>
              <a:t>Multiple threads of control -&gt; </a:t>
            </a:r>
            <a:r>
              <a:rPr lang="en-US" altLang="en-US" b="1" dirty="0">
                <a:solidFill>
                  <a:srgbClr val="3366FF"/>
                </a:solidFill>
              </a:rPr>
              <a:t>threads</a:t>
            </a:r>
          </a:p>
          <a:p>
            <a:r>
              <a:rPr lang="en-US" altLang="en-US" dirty="0"/>
              <a:t>Need storage for thread details, multiple program counters in PCB</a:t>
            </a:r>
          </a:p>
          <a:p>
            <a:r>
              <a:rPr lang="en-US" altLang="en-US" dirty="0"/>
              <a:t>Covered in the next chapter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3F51F01-B61E-43F2-B0F2-B2B7BF8AD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136529"/>
            <a:ext cx="7645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3.2	Process Scheduling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99E3AB9-85D0-4BDD-B36F-7A0F9FF0C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9900" y="1168403"/>
            <a:ext cx="8108950" cy="4723517"/>
          </a:xfrm>
        </p:spPr>
        <p:txBody>
          <a:bodyPr/>
          <a:lstStyle/>
          <a:p>
            <a:r>
              <a:rPr lang="en-US" altLang="en-US" dirty="0"/>
              <a:t>Maximize CPU use</a:t>
            </a:r>
          </a:p>
          <a:p>
            <a:pPr lvl="1"/>
            <a:r>
              <a:rPr lang="en-US" altLang="en-US" sz="2000" dirty="0"/>
              <a:t>Quickly switch processes onto CPU for time sharing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Process scheduler </a:t>
            </a:r>
            <a:r>
              <a:rPr lang="en-US" altLang="en-US" dirty="0"/>
              <a:t>selects among available processes for next execution on CPU</a:t>
            </a:r>
          </a:p>
          <a:p>
            <a:r>
              <a:rPr lang="en-US" altLang="en-US" dirty="0"/>
              <a:t>Maintains </a:t>
            </a:r>
            <a:r>
              <a:rPr lang="en-US" altLang="en-US" b="1" dirty="0">
                <a:solidFill>
                  <a:srgbClr val="3366FF"/>
                </a:solidFill>
              </a:rPr>
              <a:t>scheduling queues </a:t>
            </a:r>
            <a:r>
              <a:rPr lang="en-US" altLang="en-US" dirty="0"/>
              <a:t>of processes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Job queue </a:t>
            </a:r>
            <a:r>
              <a:rPr lang="en-US" altLang="en-US" sz="2000" dirty="0"/>
              <a:t>– set of all processes in the system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Ready queue </a:t>
            </a:r>
            <a:r>
              <a:rPr lang="en-US" altLang="en-US" sz="2000" dirty="0"/>
              <a:t>– set of all processes residing in main memory, ready and waiting to execute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Device queues </a:t>
            </a:r>
            <a:r>
              <a:rPr lang="en-US" altLang="en-US" sz="2000" dirty="0"/>
              <a:t>– set of processes waiting for an I/O device (Figure 3.5)</a:t>
            </a:r>
          </a:p>
          <a:p>
            <a:pPr lvl="1"/>
            <a:r>
              <a:rPr lang="en-US" altLang="en-US" sz="2000" dirty="0"/>
              <a:t>Processes migrate among the various queues</a:t>
            </a:r>
          </a:p>
          <a:p>
            <a:r>
              <a:rPr lang="en-US" altLang="en-US" dirty="0"/>
              <a:t>A common representation of process scheduling is a queueing diagram. (Figure 3.6 in slides #11)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058FF94-81F0-4842-A76A-81A5164E8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4725" y="236538"/>
            <a:ext cx="7983538" cy="457200"/>
          </a:xfrm>
        </p:spPr>
        <p:txBody>
          <a:bodyPr/>
          <a:lstStyle/>
          <a:p>
            <a:pPr eaLnBrk="1" hangingPunct="1"/>
            <a:r>
              <a:rPr lang="en-US" altLang="en-US" sz="2400"/>
              <a:t>Ready Queue And Various I/O Device Queues</a:t>
            </a:r>
          </a:p>
        </p:txBody>
      </p:sp>
      <p:pic>
        <p:nvPicPr>
          <p:cNvPr id="14339" name="Picture 7">
            <a:extLst>
              <a:ext uri="{FF2B5EF4-FFF2-40B4-BE49-F238E27FC236}">
                <a16:creationId xmlns:a16="http://schemas.microsoft.com/office/drawing/2014/main" id="{5D44D621-ECD6-4C7D-8A6F-2F2601587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1179517"/>
            <a:ext cx="5289550" cy="456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1DB94F-39A3-469F-A6F7-59BC7786ECA6}"/>
              </a:ext>
            </a:extLst>
          </p:cNvPr>
          <p:cNvSpPr txBox="1"/>
          <p:nvPr/>
        </p:nvSpPr>
        <p:spPr>
          <a:xfrm>
            <a:off x="2902226" y="5748793"/>
            <a:ext cx="3403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3.5</a:t>
            </a:r>
            <a:endParaRPr lang="en-MY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B9D64B9-7E1B-46B9-97F3-B9FB7872F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3.2.2	 Schedulers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1006BF2-9E70-4319-ACB5-488303C0A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17575"/>
            <a:ext cx="8166100" cy="5022850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3366FF"/>
                </a:solidFill>
              </a:rPr>
              <a:t>Short-term scheduler  </a:t>
            </a:r>
            <a:r>
              <a:rPr lang="en-US" altLang="en-US" sz="2000" dirty="0"/>
              <a:t>(or </a:t>
            </a:r>
            <a:r>
              <a:rPr lang="en-US" altLang="en-US" sz="2000" b="1" dirty="0">
                <a:solidFill>
                  <a:srgbClr val="3366FF"/>
                </a:solidFill>
              </a:rPr>
              <a:t>CPU scheduler</a:t>
            </a:r>
            <a:r>
              <a:rPr lang="en-US" altLang="en-US" sz="2000" dirty="0"/>
              <a:t>) – selects which process should be executed next and allocates  a CPU</a:t>
            </a:r>
          </a:p>
          <a:p>
            <a:pPr lvl="1"/>
            <a:r>
              <a:rPr lang="en-US" altLang="en-US" sz="1800" dirty="0"/>
              <a:t>Sometimes the only scheduler in a system</a:t>
            </a:r>
          </a:p>
          <a:p>
            <a:pPr lvl="1"/>
            <a:r>
              <a:rPr lang="en-US" altLang="en-US" sz="1800" dirty="0"/>
              <a:t>Short-term scheduler is invoked frequently (milliseconds) </a:t>
            </a:r>
            <a:r>
              <a:rPr lang="en-US" altLang="en-US" sz="1800" dirty="0">
                <a:sym typeface="Symbol" panose="05050102010706020507" pitchFamily="18" charset="2"/>
              </a:rPr>
              <a:t> (must be fast)</a:t>
            </a:r>
          </a:p>
          <a:p>
            <a:r>
              <a:rPr lang="en-US" altLang="en-US" sz="2000" b="1" dirty="0">
                <a:solidFill>
                  <a:srgbClr val="3366FF"/>
                </a:solidFill>
              </a:rPr>
              <a:t>Long-term scheduler  </a:t>
            </a:r>
            <a:r>
              <a:rPr lang="en-US" altLang="en-US" sz="2000" dirty="0"/>
              <a:t>(or </a:t>
            </a:r>
            <a:r>
              <a:rPr lang="en-US" altLang="en-US" sz="2000" b="1" dirty="0">
                <a:solidFill>
                  <a:srgbClr val="3366FF"/>
                </a:solidFill>
              </a:rPr>
              <a:t>job scheduler</a:t>
            </a:r>
            <a:r>
              <a:rPr lang="en-US" altLang="en-US" sz="2000" dirty="0"/>
              <a:t>) – selects which processes should be brought into the ready queue</a:t>
            </a:r>
          </a:p>
          <a:p>
            <a:pPr lvl="1"/>
            <a:r>
              <a:rPr lang="en-US" altLang="en-US" sz="1800" dirty="0">
                <a:sym typeface="Symbol" panose="05050102010706020507" pitchFamily="18" charset="2"/>
              </a:rPr>
              <a:t>Long-term scheduler is invoked  infrequently (seconds, minutes)  (may be slow)</a:t>
            </a:r>
          </a:p>
          <a:p>
            <a:pPr lvl="1"/>
            <a:r>
              <a:rPr lang="en-US" altLang="en-US" sz="1800" dirty="0">
                <a:sym typeface="Symbol" panose="05050102010706020507" pitchFamily="18" charset="2"/>
              </a:rPr>
              <a:t>The long-term scheduler controls the </a:t>
            </a:r>
            <a:r>
              <a:rPr lang="en-US" altLang="en-US" sz="1800" b="1" dirty="0">
                <a:solidFill>
                  <a:srgbClr val="3366FF"/>
                </a:solidFill>
                <a:sym typeface="Symbol" panose="05050102010706020507" pitchFamily="18" charset="2"/>
              </a:rPr>
              <a:t>degree of multiprogramming</a:t>
            </a:r>
            <a:endParaRPr lang="en-US" altLang="en-US" sz="1800" i="1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Processes can be described as either:</a:t>
            </a:r>
          </a:p>
          <a:p>
            <a:pPr lvl="1"/>
            <a:r>
              <a:rPr lang="en-US" altLang="en-US" sz="1800" b="1" dirty="0">
                <a:solidFill>
                  <a:srgbClr val="3366FF"/>
                </a:solidFill>
                <a:sym typeface="Symbol" panose="05050102010706020507" pitchFamily="18" charset="2"/>
              </a:rPr>
              <a:t>I/O-bound process</a:t>
            </a:r>
            <a:r>
              <a:rPr lang="en-US" altLang="en-US" sz="18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– spends more time doing I/O than computations, many short CPU bursts</a:t>
            </a:r>
          </a:p>
          <a:p>
            <a:pPr lvl="1"/>
            <a:r>
              <a:rPr lang="en-US" altLang="en-US" sz="1800" b="1" dirty="0">
                <a:solidFill>
                  <a:srgbClr val="3366FF"/>
                </a:solidFill>
                <a:sym typeface="Symbol" panose="05050102010706020507" pitchFamily="18" charset="2"/>
              </a:rPr>
              <a:t>CPU-bound process </a:t>
            </a:r>
            <a:r>
              <a:rPr lang="en-US" altLang="en-US" sz="1800" dirty="0">
                <a:sym typeface="Symbol" panose="05050102010706020507" pitchFamily="18" charset="2"/>
              </a:rPr>
              <a:t>– spends more time doing computations; few very long CPU bursts</a:t>
            </a:r>
          </a:p>
          <a:p>
            <a:r>
              <a:rPr lang="en-US" altLang="en-US" sz="2000" dirty="0">
                <a:sym typeface="Symbol" panose="05050102010706020507" pitchFamily="18" charset="2"/>
              </a:rPr>
              <a:t>Long-term scheduler strives for good </a:t>
            </a:r>
            <a:r>
              <a:rPr lang="en-US" altLang="en-US" sz="2000" b="1" i="1" dirty="0">
                <a:sym typeface="Symbol" panose="05050102010706020507" pitchFamily="18" charset="2"/>
              </a:rPr>
              <a:t>process mix</a:t>
            </a:r>
            <a:endParaRPr lang="en-US" altLang="en-US" sz="2000" dirty="0">
              <a:sym typeface="Symbol" panose="05050102010706020507" pitchFamily="18" charset="2"/>
            </a:endParaRPr>
          </a:p>
          <a:p>
            <a:endParaRPr lang="en-US" altLang="en-US" sz="2800" dirty="0"/>
          </a:p>
          <a:p>
            <a:endParaRPr lang="en-US" alt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ounded Rectangle 2">
            <a:extLst>
              <a:ext uri="{FF2B5EF4-FFF2-40B4-BE49-F238E27FC236}">
                <a16:creationId xmlns:a16="http://schemas.microsoft.com/office/drawing/2014/main" id="{4C5FF412-2B50-4DB4-A2B8-AED994965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495800"/>
            <a:ext cx="7772400" cy="18288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28674" name="Rectangle 11">
            <a:extLst>
              <a:ext uri="{FF2B5EF4-FFF2-40B4-BE49-F238E27FC236}">
                <a16:creationId xmlns:a16="http://schemas.microsoft.com/office/drawing/2014/main" id="{E78E1519-4597-474D-A59A-76B2FC10D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0550" y="1752600"/>
            <a:ext cx="8077200" cy="3962400"/>
          </a:xfrm>
        </p:spPr>
        <p:txBody>
          <a:bodyPr/>
          <a:lstStyle/>
          <a:p>
            <a:pPr eaLnBrk="1" hangingPunct="1"/>
            <a:r>
              <a:rPr lang="en-CA" altLang="en-US" sz="2200" b="1" dirty="0"/>
              <a:t>Middle-level scheduler:</a:t>
            </a:r>
            <a:r>
              <a:rPr lang="en-US" altLang="en-US" sz="2200" b="1" dirty="0"/>
              <a:t> </a:t>
            </a:r>
            <a:r>
              <a:rPr lang="en-CA" altLang="en-US" sz="2200" dirty="0"/>
              <a:t>third layer</a:t>
            </a:r>
            <a:endParaRPr lang="en-US" altLang="en-US" sz="2200" dirty="0"/>
          </a:p>
          <a:p>
            <a:pPr eaLnBrk="1" hangingPunct="1"/>
            <a:r>
              <a:rPr lang="en-CA" altLang="en-US" sz="2200" dirty="0"/>
              <a:t>Found in highly interactive environments</a:t>
            </a:r>
            <a:endParaRPr lang="en-US" altLang="en-US" sz="2200" dirty="0"/>
          </a:p>
          <a:p>
            <a:pPr lvl="1" eaLnBrk="1" hangingPunct="1"/>
            <a:r>
              <a:rPr lang="en-CA" altLang="en-US" sz="2200" dirty="0"/>
              <a:t>Handles overloading</a:t>
            </a:r>
          </a:p>
          <a:p>
            <a:pPr lvl="2" eaLnBrk="1" hangingPunct="1"/>
            <a:r>
              <a:rPr lang="en-CA" altLang="en-US" dirty="0"/>
              <a:t>Removes active jobs from memory</a:t>
            </a:r>
          </a:p>
          <a:p>
            <a:pPr lvl="2" eaLnBrk="1" hangingPunct="1"/>
            <a:r>
              <a:rPr lang="en-CA" altLang="en-US" dirty="0"/>
              <a:t>Reduces degree of</a:t>
            </a:r>
            <a:r>
              <a:rPr lang="en-US" altLang="en-US" dirty="0"/>
              <a:t> </a:t>
            </a:r>
            <a:r>
              <a:rPr lang="en-CA" altLang="en-US" dirty="0"/>
              <a:t>multiprogramming </a:t>
            </a:r>
            <a:endParaRPr lang="en-US" altLang="en-US" dirty="0"/>
          </a:p>
          <a:p>
            <a:pPr lvl="1" eaLnBrk="1" hangingPunct="1"/>
            <a:r>
              <a:rPr lang="en-CA" altLang="en-US" sz="2200" dirty="0"/>
              <a:t>Results in faster job completion</a:t>
            </a:r>
          </a:p>
          <a:p>
            <a:pPr lvl="1" eaLnBrk="1" hangingPunct="1"/>
            <a:endParaRPr lang="en-CA" altLang="en-US" sz="2200" dirty="0"/>
          </a:p>
          <a:p>
            <a:pPr eaLnBrk="1" hangingPunct="1"/>
            <a:r>
              <a:rPr lang="en-CA" altLang="en-US" sz="2200" dirty="0"/>
              <a:t>Single-user environment</a:t>
            </a:r>
          </a:p>
          <a:p>
            <a:pPr lvl="1" eaLnBrk="1" hangingPunct="1"/>
            <a:r>
              <a:rPr lang="en-CA" altLang="en-US" sz="2200" dirty="0"/>
              <a:t>No distinction between job and process scheduling</a:t>
            </a:r>
          </a:p>
          <a:p>
            <a:pPr lvl="1" eaLnBrk="1" hangingPunct="1"/>
            <a:r>
              <a:rPr lang="en-CA" altLang="en-US" sz="2200" dirty="0"/>
              <a:t>One job active at a time</a:t>
            </a:r>
          </a:p>
          <a:p>
            <a:pPr lvl="2" eaLnBrk="1" hangingPunct="1"/>
            <a:r>
              <a:rPr lang="en-CA" altLang="en-US" dirty="0"/>
              <a:t>Receives dedicated system resources for job duration</a:t>
            </a:r>
          </a:p>
        </p:txBody>
      </p:sp>
      <p:sp>
        <p:nvSpPr>
          <p:cNvPr id="28675" name="Slide Number Placeholder 4">
            <a:extLst>
              <a:ext uri="{FF2B5EF4-FFF2-40B4-BE49-F238E27FC236}">
                <a16:creationId xmlns:a16="http://schemas.microsoft.com/office/drawing/2014/main" id="{898375D9-450A-4957-9B65-42FEEEA804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fld id="{23F59A73-9E8A-4B83-AC5D-38970B85AF13}" type="slidenum">
              <a:rPr lang="en-US" altLang="en-US" sz="1400">
                <a:latin typeface="Arial" panose="020B0604020202020204" pitchFamily="34" charset="0"/>
              </a:rPr>
              <a:pPr eaLnBrk="1" hangingPunct="1">
                <a:defRPr/>
              </a:pPr>
              <a:t>19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28676" name="Rectangle 8">
            <a:extLst>
              <a:ext uri="{FF2B5EF4-FFF2-40B4-BE49-F238E27FC236}">
                <a16:creationId xmlns:a16="http://schemas.microsoft.com/office/drawing/2014/main" id="{8D854808-CDDF-45A1-9FB4-25FF4DA6D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7747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</a:rPr>
              <a:t>. . . Process Scheduler (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</a:rPr>
              <a:t>cont</a:t>
            </a:r>
            <a:r>
              <a:rPr lang="ja-JP" altLang="en-US" sz="2800" dirty="0">
                <a:solidFill>
                  <a:srgbClr val="0070C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2800" dirty="0">
                <a:solidFill>
                  <a:srgbClr val="0070C0"/>
                </a:solidFill>
                <a:latin typeface="Arial" panose="020B0604020202020204" pitchFamily="34" charset="0"/>
              </a:rPr>
              <a:t>d)</a:t>
            </a:r>
            <a:endParaRPr lang="en-US" altLang="en-US" sz="2800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82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D0B77DB-3B1B-49BF-A895-3D90EE530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15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Multitasking in Mobile Systems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9231284-BA77-43B4-B1FD-44CBA697EA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9904" y="1122367"/>
            <a:ext cx="8140699" cy="4448175"/>
          </a:xfrm>
        </p:spPr>
        <p:txBody>
          <a:bodyPr/>
          <a:lstStyle/>
          <a:p>
            <a:r>
              <a:rPr lang="en-US" altLang="en-US" dirty="0"/>
              <a:t>Some mobile systems (e.g., early version of iOS)  allow only one process to run, others suspended</a:t>
            </a:r>
          </a:p>
          <a:p>
            <a:r>
              <a:rPr lang="en-US" altLang="en-US" dirty="0"/>
              <a:t>Starting with iOS 4,  it provides for a </a:t>
            </a:r>
          </a:p>
          <a:p>
            <a:pPr lvl="1"/>
            <a:r>
              <a:rPr lang="en-US" altLang="en-US" sz="2000" dirty="0"/>
              <a:t>Single </a:t>
            </a:r>
            <a:r>
              <a:rPr lang="en-US" altLang="en-US" sz="2000" b="1" dirty="0">
                <a:solidFill>
                  <a:srgbClr val="3366FF"/>
                </a:solidFill>
              </a:rPr>
              <a:t>foreground</a:t>
            </a:r>
            <a:r>
              <a:rPr lang="en-US" altLang="en-US" sz="2000" dirty="0"/>
              <a:t> process – controlled via user interface</a:t>
            </a:r>
          </a:p>
          <a:p>
            <a:pPr lvl="1"/>
            <a:r>
              <a:rPr lang="en-US" altLang="en-US" sz="2000" dirty="0"/>
              <a:t>Multiple </a:t>
            </a:r>
            <a:r>
              <a:rPr lang="en-US" altLang="en-US" sz="2000" b="1" dirty="0">
                <a:solidFill>
                  <a:srgbClr val="3366FF"/>
                </a:solidFill>
              </a:rPr>
              <a:t>background</a:t>
            </a:r>
            <a:r>
              <a:rPr lang="en-US" altLang="en-US" sz="2000" dirty="0"/>
              <a:t> processes – in memory, running, but not on the display, and with limits</a:t>
            </a:r>
          </a:p>
          <a:p>
            <a:pPr lvl="1"/>
            <a:r>
              <a:rPr lang="en-US" altLang="en-US" sz="2000" dirty="0"/>
              <a:t>Limits include single, short task, receiving notification of events, specific long-running tasks like audio playback</a:t>
            </a:r>
          </a:p>
          <a:p>
            <a:r>
              <a:rPr lang="en-US" altLang="en-US" dirty="0"/>
              <a:t>Android runs foreground and background, with fewer limits</a:t>
            </a:r>
          </a:p>
          <a:p>
            <a:pPr lvl="1"/>
            <a:r>
              <a:rPr lang="en-US" altLang="en-US" sz="2000" dirty="0"/>
              <a:t>Background process uses a </a:t>
            </a:r>
            <a:r>
              <a:rPr lang="en-US" altLang="en-US" sz="2000" b="1" dirty="0">
                <a:solidFill>
                  <a:srgbClr val="3366FF"/>
                </a:solidFill>
              </a:rPr>
              <a:t>service</a:t>
            </a:r>
            <a:r>
              <a:rPr lang="en-US" altLang="en-US" sz="2000" dirty="0"/>
              <a:t> to perform tasks</a:t>
            </a:r>
          </a:p>
          <a:p>
            <a:pPr lvl="1"/>
            <a:r>
              <a:rPr lang="en-US" altLang="en-US" sz="2000" dirty="0"/>
              <a:t>Service can keep running even if background process is suspended</a:t>
            </a:r>
          </a:p>
          <a:p>
            <a:pPr lvl="1"/>
            <a:r>
              <a:rPr lang="en-US" altLang="en-US" sz="2000" dirty="0"/>
              <a:t>Service has no user interface, small memory use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1EC133A-6C20-4EC6-A552-677C0A963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3.2.3	 Context Switch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47B6937-E505-4AE5-8879-48D07AF19B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2450" y="1108079"/>
            <a:ext cx="7969250" cy="4448175"/>
          </a:xfrm>
        </p:spPr>
        <p:txBody>
          <a:bodyPr/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dirty="0">
                <a:solidFill>
                  <a:srgbClr val="3366FF"/>
                </a:solidFill>
              </a:rPr>
              <a:t>save the state </a:t>
            </a:r>
            <a:r>
              <a:rPr lang="en-US" altLang="en-US" dirty="0"/>
              <a:t>of the old process and load the </a:t>
            </a:r>
            <a:r>
              <a:rPr lang="en-US" altLang="en-US" b="1" dirty="0">
                <a:solidFill>
                  <a:srgbClr val="3366FF"/>
                </a:solidFill>
              </a:rPr>
              <a:t>saved state </a:t>
            </a:r>
            <a:r>
              <a:rPr lang="en-US" altLang="en-US" dirty="0"/>
              <a:t>for the new process via a </a:t>
            </a:r>
            <a:r>
              <a:rPr lang="en-US" altLang="en-US" b="1" dirty="0">
                <a:solidFill>
                  <a:srgbClr val="3366FF"/>
                </a:solidFill>
              </a:rPr>
              <a:t>context switch</a:t>
            </a:r>
            <a:endParaRPr lang="en-US" altLang="en-US" dirty="0"/>
          </a:p>
          <a:p>
            <a:r>
              <a:rPr lang="en-US" altLang="en-US" b="1" dirty="0">
                <a:solidFill>
                  <a:srgbClr val="3366FF"/>
                </a:solidFill>
              </a:rPr>
              <a:t>Context </a:t>
            </a:r>
            <a:r>
              <a:rPr lang="en-US" altLang="en-US" dirty="0"/>
              <a:t>of a process represented in the PCB</a:t>
            </a:r>
          </a:p>
          <a:p>
            <a:r>
              <a:rPr lang="en-US" altLang="en-US" dirty="0"/>
              <a:t>Context-switch time is pure overhead; the system does no useful work while switching</a:t>
            </a:r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anose="05000000000000000000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r>
              <a:rPr lang="en-US" altLang="en-US" dirty="0"/>
              <a:t>Time dependent on hardware support</a:t>
            </a:r>
          </a:p>
          <a:p>
            <a:pPr lvl="1"/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EF9BF8D-B8E9-4031-8BC8-FA7570184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pic>
        <p:nvPicPr>
          <p:cNvPr id="16387" name="Picture 9">
            <a:extLst>
              <a:ext uri="{FF2B5EF4-FFF2-40B4-BE49-F238E27FC236}">
                <a16:creationId xmlns:a16="http://schemas.microsoft.com/office/drawing/2014/main" id="{61C0F7E8-EC73-45EF-97CF-EDC1E3B76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4" y="1104900"/>
            <a:ext cx="6969125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D0C505-E19A-4EAA-A5F1-44F8ACA1ED3B}"/>
              </a:ext>
            </a:extLst>
          </p:cNvPr>
          <p:cNvSpPr txBox="1"/>
          <p:nvPr/>
        </p:nvSpPr>
        <p:spPr>
          <a:xfrm>
            <a:off x="2902226" y="5748793"/>
            <a:ext cx="3403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3.4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37725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7DAB2211-A7C4-4CE2-9789-773B731C88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838200"/>
            <a:ext cx="8077200" cy="914400"/>
          </a:xfrm>
        </p:spPr>
        <p:txBody>
          <a:bodyPr/>
          <a:lstStyle/>
          <a:p>
            <a:pPr eaLnBrk="1" hangingPunct="1"/>
            <a:r>
              <a:rPr lang="en-US" altLang="en-US"/>
              <a:t>When to Switch a Process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7150C8E-BBE2-4831-A9B0-EA60B6D07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0772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/>
              <a:t>Clock interrupt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process has executed for the maximum allowable time slice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/>
              <a:t>I/O interrupt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/>
              <a:t>Memory fault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memory address is in virtual memory so it must be brought into main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/>
              <a:t>Trap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error occurred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may cause process to be moved to Exit state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/>
              <a:t>Supervisor call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such as file open</a:t>
            </a: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7D266130-0660-492F-A938-CC675B3D82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73616F32-0F68-4D8C-BE9A-6D31D7E2191D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None/>
                <a:defRPr/>
              </a:pPr>
              <a:t>23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613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4C7FE55-2820-47DB-B77E-3691F6D4DB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3.3	Operations on Processes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76E3414-4844-4722-8766-57E6CF3B88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0638" y="1233488"/>
            <a:ext cx="5981700" cy="4252912"/>
          </a:xfrm>
        </p:spPr>
        <p:txBody>
          <a:bodyPr/>
          <a:lstStyle/>
          <a:p>
            <a:r>
              <a:rPr lang="en-US" altLang="en-US" dirty="0"/>
              <a:t>System must provide mechanisms for:</a:t>
            </a:r>
          </a:p>
          <a:p>
            <a:pPr lvl="1"/>
            <a:r>
              <a:rPr lang="en-US" altLang="en-US" dirty="0"/>
              <a:t> process creation,</a:t>
            </a:r>
          </a:p>
          <a:p>
            <a:pPr lvl="1"/>
            <a:r>
              <a:rPr lang="en-US" altLang="en-US" dirty="0"/>
              <a:t> process termination, </a:t>
            </a:r>
          </a:p>
          <a:p>
            <a:pPr lvl="1"/>
            <a:r>
              <a:rPr lang="en-US" altLang="en-US" dirty="0"/>
              <a:t> and so on as detailed next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BAD946B-B318-48E8-AFC8-C5E0D18699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3.3.1	 Process Creation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5F3B9CA-E8C7-48C8-AD22-3CA44EEE2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4" y="1169988"/>
            <a:ext cx="8045449" cy="2170112"/>
          </a:xfrm>
        </p:spPr>
        <p:txBody>
          <a:bodyPr/>
          <a:lstStyle/>
          <a:p>
            <a:r>
              <a:rPr lang="en-US" altLang="en-US" dirty="0"/>
              <a:t>A</a:t>
            </a:r>
            <a:r>
              <a:rPr lang="en-US" altLang="en-US" b="1" dirty="0">
                <a:solidFill>
                  <a:srgbClr val="3366FF"/>
                </a:solidFill>
              </a:rPr>
              <a:t> process </a:t>
            </a:r>
            <a:r>
              <a:rPr lang="en-US" altLang="en-US" dirty="0"/>
              <a:t>may create other processes.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3366FF"/>
                </a:solidFill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3366FF"/>
                </a:solidFill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a process is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process identifier </a:t>
            </a:r>
            <a:r>
              <a:rPr lang="en-US" altLang="en-US" dirty="0"/>
              <a:t>(</a:t>
            </a:r>
            <a:r>
              <a:rPr lang="en-US" altLang="en-US" b="1" dirty="0" err="1">
                <a:solidFill>
                  <a:srgbClr val="3366FF"/>
                </a:solidFill>
              </a:rPr>
              <a:t>pid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A Tree of Processes in UNIX</a:t>
            </a:r>
          </a:p>
        </p:txBody>
      </p:sp>
      <p:pic>
        <p:nvPicPr>
          <p:cNvPr id="21508" name="Picture 1">
            <a:extLst>
              <a:ext uri="{FF2B5EF4-FFF2-40B4-BE49-F238E27FC236}">
                <a16:creationId xmlns:a16="http://schemas.microsoft.com/office/drawing/2014/main" id="{23363D8E-2AEE-45AF-95DB-05BC3E03D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3897313"/>
            <a:ext cx="5373688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F8E0DA6-540E-4B31-ACEE-4C07B9FBD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F810ECD-D88C-45E1-861A-2319E54D6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1169992"/>
            <a:ext cx="7702550" cy="5076825"/>
          </a:xfrm>
        </p:spPr>
        <p:txBody>
          <a:bodyPr/>
          <a:lstStyle/>
          <a:p>
            <a:r>
              <a:rPr lang="en-US" altLang="en-US" dirty="0"/>
              <a:t>Resource sharing  among parents and children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FF0062D-8B5A-49CE-9439-7448C6CD96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9" y="152404"/>
            <a:ext cx="761682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3EC606A-ECD7-4CB1-A0C3-0F65FFCF6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60454"/>
            <a:ext cx="7861300" cy="4530725"/>
          </a:xfrm>
        </p:spPr>
        <p:txBody>
          <a:bodyPr/>
          <a:lstStyle/>
          <a:p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A child is a duplicate of  the parent address space.</a:t>
            </a:r>
          </a:p>
          <a:p>
            <a:pPr lvl="1"/>
            <a:r>
              <a:rPr lang="en-US" altLang="en-US" dirty="0"/>
              <a:t>A child loads a program into the address space.</a:t>
            </a:r>
          </a:p>
          <a:p>
            <a:r>
              <a:rPr lang="en-US" altLang="en-US" dirty="0"/>
              <a:t>UNIX examples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altLang="en-US" dirty="0"/>
              <a:t>replaces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  <a:endParaRPr lang="en-US" altLang="en-US" dirty="0"/>
          </a:p>
        </p:txBody>
      </p:sp>
      <p:pic>
        <p:nvPicPr>
          <p:cNvPr id="23556" name="Picture 4" descr="3">
            <a:extLst>
              <a:ext uri="{FF2B5EF4-FFF2-40B4-BE49-F238E27FC236}">
                <a16:creationId xmlns:a16="http://schemas.microsoft.com/office/drawing/2014/main" id="{6EA27F83-D0ED-4F3C-8199-B774EDFEB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4262442"/>
            <a:ext cx="4884738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9D9BA6-41B1-4BEF-8DE5-F360947BD9E7}"/>
              </a:ext>
            </a:extLst>
          </p:cNvPr>
          <p:cNvSpPr txBox="1"/>
          <p:nvPr/>
        </p:nvSpPr>
        <p:spPr>
          <a:xfrm>
            <a:off x="1343770" y="5698609"/>
            <a:ext cx="679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3.10 Process creation using the fork() system call</a:t>
            </a:r>
            <a:endParaRPr lang="en-MY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A9F986A-4A85-449E-B29A-FCAD2A3BC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350" y="365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400"/>
              <a:t>C program to create a separate process in UNIX</a:t>
            </a:r>
          </a:p>
        </p:txBody>
      </p:sp>
      <p:sp>
        <p:nvSpPr>
          <p:cNvPr id="24579" name="TextBox 1">
            <a:extLst>
              <a:ext uri="{FF2B5EF4-FFF2-40B4-BE49-F238E27FC236}">
                <a16:creationId xmlns:a16="http://schemas.microsoft.com/office/drawing/2014/main" id="{4C6B3FFD-A16D-4D61-A294-EEF2616BA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7" y="1119192"/>
            <a:ext cx="7037387" cy="55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pit.t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/*fork a child process */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fork();</a:t>
            </a:r>
          </a:p>
          <a:p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(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0) { /* error occurred */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(stderr, “Fork Failed”);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1;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else if (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0) { /*child process */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execlp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ls”,”ls”,NULL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else { /* parent process */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/* parent will wait for the child to complete */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wait(NULL);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(“Child Complete”);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0;</a:t>
            </a:r>
          </a:p>
          <a:p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E7415-4EBC-46C3-A284-024AA3B28DD5}"/>
              </a:ext>
            </a:extLst>
          </p:cNvPr>
          <p:cNvSpPr txBox="1"/>
          <p:nvPr/>
        </p:nvSpPr>
        <p:spPr>
          <a:xfrm>
            <a:off x="2870421" y="5955527"/>
            <a:ext cx="3403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3.9</a:t>
            </a:r>
            <a:endParaRPr lang="en-MY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95B6E89-31FA-4E60-947F-14559B8C03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2638" y="13652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C Program Forking Separate Process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F861B8F-23E4-4403-8836-2DDC6DCCA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0400" y="1233492"/>
            <a:ext cx="7397750" cy="4530725"/>
          </a:xfrm>
        </p:spPr>
        <p:txBody>
          <a:bodyPr/>
          <a:lstStyle/>
          <a:p>
            <a:r>
              <a:rPr lang="en-US" altLang="en-US" sz="1600" dirty="0"/>
              <a:t>The C program illustrates  how to create a new process UNIX.</a:t>
            </a:r>
          </a:p>
          <a:p>
            <a:r>
              <a:rPr lang="en-US" altLang="en-US" sz="1600" dirty="0"/>
              <a:t>After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1600" dirty="0"/>
              <a:t>there are two different processes running copies of the same program. The only difference is that the value of </a:t>
            </a:r>
            <a:r>
              <a:rPr lang="en-US" altLang="en-US" sz="1600" dirty="0" err="1"/>
              <a:t>pid</a:t>
            </a:r>
            <a:r>
              <a:rPr lang="en-US" altLang="en-US" sz="1600" dirty="0"/>
              <a:t>  for the child process is zero, while that for the parent is an integer value greater than zero </a:t>
            </a:r>
          </a:p>
          <a:p>
            <a:r>
              <a:rPr lang="en-US" altLang="en-US" sz="1600" dirty="0"/>
              <a:t>The child process inherits privileges and scheduling attributes from the parent, as well certain resources, such as open files. </a:t>
            </a:r>
          </a:p>
          <a:p>
            <a:r>
              <a:rPr lang="en-US" altLang="en-US" sz="1600" dirty="0"/>
              <a:t>The child process then overlays its address space with the UNIX command “ls” (used to get a directory listing) using the </a:t>
            </a:r>
            <a:r>
              <a:rPr lang="en-US" altLang="en-US" sz="1600" dirty="0" err="1"/>
              <a:t>execlp</a:t>
            </a:r>
            <a:r>
              <a:rPr lang="en-US" altLang="en-US" sz="1600" dirty="0"/>
              <a:t>() (a version of the exec() system call). </a:t>
            </a:r>
          </a:p>
          <a:p>
            <a:r>
              <a:rPr lang="en-US" altLang="en-US" sz="1600" dirty="0"/>
              <a:t>The parent waits for the child process to complete with the wait() system call. </a:t>
            </a:r>
          </a:p>
          <a:p>
            <a:r>
              <a:rPr lang="en-US" altLang="en-US" sz="1600" dirty="0"/>
              <a:t>When the child process completes the parent process resumes from the call to wait(), where it completes using the exit() system call.</a:t>
            </a:r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9512713-B283-4E90-9C73-EC8162019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4263" y="1158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400"/>
              <a:t>Creating a Separate Process via Windows API</a:t>
            </a:r>
          </a:p>
        </p:txBody>
      </p:sp>
      <p:sp>
        <p:nvSpPr>
          <p:cNvPr id="26627" name="TextBox 1">
            <a:extLst>
              <a:ext uri="{FF2B5EF4-FFF2-40B4-BE49-F238E27FC236}">
                <a16:creationId xmlns:a16="http://schemas.microsoft.com/office/drawing/2014/main" id="{D11D4C42-D381-4356-A226-A886B9C7E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28" y="1221841"/>
            <a:ext cx="5229349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STARTUPINFO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PROCESS_INFORMATION pi;</a:t>
            </a:r>
          </a:p>
          <a:p>
            <a:endParaRPr lang="en-US" alt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/* allocate memory */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ZeroMemory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si.cb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ZeroMemory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(&amp;pi,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(pi));</a:t>
            </a:r>
          </a:p>
          <a:p>
            <a:endParaRPr lang="en-US" alt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/* create child process */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(!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CreateProcess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(NULL, /* use command line */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“C:\\WINDOWS\\system32\\mspaint.exe”,/* command */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NULL, /* don’t inherit process handle */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NULL, /* don’t inherit threat handle */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FALSE, /* disable handle inheritance */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0, /* no creation flags */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NULL, /* use parent’s environment block */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NULL, /* use parent’s existing directory */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&amp;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&amp;pi))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{</a:t>
            </a:r>
          </a:p>
          <a:p>
            <a:endParaRPr lang="en-US" alt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AC7908A2-421A-4FBA-B9ED-34D05A0AF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089" y="1219173"/>
            <a:ext cx="3442915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{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{stderr, “Create Process Failed”};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-1;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/* parent will wait for the child to complete */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WaitForSingleObject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pi.hProcess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INFINITE);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(“Child Complete”);</a:t>
            </a:r>
          </a:p>
          <a:p>
            <a:endParaRPr lang="en-US" alt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/* close handles */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CloseHandle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pi.hProcess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CloseHandle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pi.hThread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BDBEEE-9D7C-4374-AA90-65D3DD98EFA0}"/>
              </a:ext>
            </a:extLst>
          </p:cNvPr>
          <p:cNvSpPr txBox="1"/>
          <p:nvPr/>
        </p:nvSpPr>
        <p:spPr>
          <a:xfrm>
            <a:off x="2870421" y="5451497"/>
            <a:ext cx="3403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3.11</a:t>
            </a:r>
            <a:endParaRPr lang="en-MY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52E468D-92B1-4CC2-B02F-353FCEFBF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3.3.2		Process Termination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351C4FB-3F08-4BB7-89D3-E4A582254A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33492"/>
            <a:ext cx="8172450" cy="4530725"/>
          </a:xfrm>
        </p:spPr>
        <p:txBody>
          <a:bodyPr/>
          <a:lstStyle/>
          <a:p>
            <a:r>
              <a:rPr lang="en-US" altLang="en-US" dirty="0"/>
              <a:t>A process terminates when it finishes executing its final statement and  it asks the operating system to delete it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exit() </a:t>
            </a:r>
            <a:r>
              <a:rPr lang="en-US" altLang="en-US" dirty="0"/>
              <a:t>system call. </a:t>
            </a:r>
          </a:p>
          <a:p>
            <a:pPr lvl="1"/>
            <a:r>
              <a:rPr lang="en-US" altLang="en-US" sz="2000" dirty="0"/>
              <a:t>At that point, the process may return a status value (typically an integer) to its parent process (via the wait() system call. </a:t>
            </a:r>
          </a:p>
          <a:p>
            <a:pPr lvl="1"/>
            <a:r>
              <a:rPr lang="en-US" altLang="en-US" sz="2000" dirty="0"/>
              <a:t>All the resources of the process are deallocated by the operating system.</a:t>
            </a:r>
          </a:p>
          <a:p>
            <a:r>
              <a:rPr lang="en-US" altLang="en-US" dirty="0"/>
              <a:t>A 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abort()</a:t>
            </a:r>
            <a:r>
              <a:rPr lang="en-US" altLang="en-US" sz="2000" dirty="0">
                <a:cs typeface="Courier New" panose="02070309020205020404" pitchFamily="49" charset="0"/>
              </a:rPr>
              <a:t> </a:t>
            </a:r>
            <a:r>
              <a:rPr lang="en-US" altLang="en-US" dirty="0">
                <a:cs typeface="Courier New" panose="02070309020205020404" pitchFamily="49" charset="0"/>
              </a:rPr>
              <a:t>system call.  Some reasons for doing so:</a:t>
            </a:r>
            <a:endParaRPr lang="en-US" altLang="en-US" dirty="0"/>
          </a:p>
          <a:p>
            <a:pPr lvl="1"/>
            <a:r>
              <a:rPr lang="en-US" altLang="en-US" sz="2000" dirty="0"/>
              <a:t>Child has exceeded allocated resources</a:t>
            </a:r>
          </a:p>
          <a:p>
            <a:pPr lvl="1"/>
            <a:r>
              <a:rPr lang="en-US" altLang="en-US" sz="2000" dirty="0"/>
              <a:t>Task assigned to child is no longer required</a:t>
            </a:r>
          </a:p>
          <a:p>
            <a:pPr lvl="1"/>
            <a:r>
              <a:rPr lang="en-US" altLang="en-US" sz="2000" dirty="0"/>
              <a:t>The parent is exiting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AADE7B3-C5F7-4434-A6FC-DCA4C7EE8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 (Cont.)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FC4F237-3F47-4121-9E49-690A67CA2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0700" y="923925"/>
            <a:ext cx="8032750" cy="4960938"/>
          </a:xfrm>
        </p:spPr>
        <p:txBody>
          <a:bodyPr/>
          <a:lstStyle/>
          <a:p>
            <a:pPr lvl="1"/>
            <a:endParaRPr lang="en-US" altLang="en-US" sz="800" dirty="0"/>
          </a:p>
          <a:p>
            <a:r>
              <a:rPr lang="en-US" altLang="en-US" dirty="0"/>
              <a:t>Some operating systems do not allow a child  process to exists if its parent has terminated.  If a process terminates, then all its children must also be terminated.</a:t>
            </a:r>
          </a:p>
          <a:p>
            <a:pPr lvl="1"/>
            <a:r>
              <a:rPr lang="en-US" altLang="en-US" sz="2000" b="1" dirty="0"/>
              <a:t>cascading termination.  </a:t>
            </a:r>
            <a:r>
              <a:rPr lang="en-US" altLang="en-US" sz="2000" dirty="0"/>
              <a:t>All children, grandchildren, etc. are terminated.</a:t>
            </a:r>
            <a:endParaRPr lang="en-US" altLang="en-US" sz="2000" b="1" dirty="0"/>
          </a:p>
          <a:p>
            <a:pPr lvl="1"/>
            <a:r>
              <a:rPr lang="en-US" altLang="en-US" sz="2000" dirty="0"/>
              <a:t>The termination is initiated by the operating system.</a:t>
            </a:r>
            <a:endParaRPr lang="en-US" altLang="en-US" sz="2000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</a:t>
            </a:r>
            <a:r>
              <a:rPr lang="en-US" altLang="en-US" dirty="0" err="1"/>
              <a:t>pid</a:t>
            </a:r>
            <a:r>
              <a:rPr lang="en-US" altLang="en-US" dirty="0"/>
              <a:t>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en-US" dirty="0">
                <a:cs typeface="Courier New" panose="02070309020205020404" pitchFamily="49" charset="0"/>
              </a:rPr>
              <a:t>) </a:t>
            </a:r>
            <a:r>
              <a:rPr lang="en-US" altLang="en-US" dirty="0"/>
              <a:t>process is </a:t>
            </a:r>
            <a:r>
              <a:rPr lang="en-US" altLang="en-US" b="1" dirty="0">
                <a:solidFill>
                  <a:srgbClr val="3366FF"/>
                </a:solidFill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</a:t>
            </a:r>
            <a:r>
              <a:rPr lang="en-US" altLang="en-US" dirty="0"/>
              <a:t>, process is </a:t>
            </a:r>
            <a:r>
              <a:rPr lang="en-US" altLang="en-US" b="1" dirty="0">
                <a:solidFill>
                  <a:srgbClr val="3366FF"/>
                </a:solidFill>
              </a:rPr>
              <a:t>orphan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28847934-1604-4D61-AF3D-A9DAC5C59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54" y="150813"/>
            <a:ext cx="7997825" cy="576262"/>
          </a:xfrm>
        </p:spPr>
        <p:txBody>
          <a:bodyPr/>
          <a:lstStyle/>
          <a:p>
            <a:r>
              <a:rPr lang="en-US" altLang="en-US" sz="2400"/>
              <a:t>Multiprocess Architecture – Chrome Browser</a:t>
            </a:r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0887EDA0-E6BB-4E58-914A-81FB62660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33492"/>
            <a:ext cx="8140700" cy="4530725"/>
          </a:xfrm>
        </p:spPr>
        <p:txBody>
          <a:bodyPr/>
          <a:lstStyle/>
          <a:p>
            <a:r>
              <a:rPr lang="en-US" altLang="en-US" dirty="0"/>
              <a:t>Many web browsers ran as single process (some still do)</a:t>
            </a:r>
          </a:p>
          <a:p>
            <a:pPr lvl="1"/>
            <a:r>
              <a:rPr lang="en-US" altLang="en-US" sz="2000" dirty="0"/>
              <a:t>If one web site causes trouble, entire browser can hang or crash</a:t>
            </a:r>
          </a:p>
          <a:p>
            <a:r>
              <a:rPr lang="en-US" altLang="en-US" dirty="0"/>
              <a:t>Google Chrome Browser is </a:t>
            </a:r>
            <a:r>
              <a:rPr lang="en-US" altLang="en-US" dirty="0" err="1"/>
              <a:t>multiprocess</a:t>
            </a:r>
            <a:r>
              <a:rPr lang="en-US" altLang="en-US" dirty="0"/>
              <a:t> with 3 different types of processes: 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Browser</a:t>
            </a:r>
            <a:r>
              <a:rPr lang="en-US" altLang="en-US" sz="2000" dirty="0"/>
              <a:t> process manages user interface, disk and network I/O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Renderer</a:t>
            </a:r>
            <a:r>
              <a:rPr lang="en-US" altLang="en-US" sz="2000" dirty="0"/>
              <a:t> process renders web pages, deals with HTML, </a:t>
            </a:r>
            <a:r>
              <a:rPr lang="en-US" altLang="en-US" sz="2000" dirty="0" err="1"/>
              <a:t>Javascript</a:t>
            </a:r>
            <a:r>
              <a:rPr lang="en-US" altLang="en-US" sz="2000" dirty="0"/>
              <a:t>. A new renderer created for each website opened</a:t>
            </a:r>
          </a:p>
          <a:p>
            <a:pPr lvl="2"/>
            <a:r>
              <a:rPr lang="en-US" altLang="en-US" dirty="0"/>
              <a:t>Runs in </a:t>
            </a:r>
            <a:r>
              <a:rPr lang="en-US" altLang="en-US" b="1" dirty="0">
                <a:solidFill>
                  <a:srgbClr val="3366FF"/>
                </a:solidFill>
              </a:rPr>
              <a:t>sandbox</a:t>
            </a:r>
            <a:r>
              <a:rPr lang="en-US" altLang="en-US" dirty="0"/>
              <a:t> restricting disk and network I/O, minimizing effect of security exploits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Plug-in </a:t>
            </a:r>
            <a:r>
              <a:rPr lang="en-US" altLang="en-US" dirty="0"/>
              <a:t>process for each type of plug-in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66564" name="Picture 1" descr="in-3_2.pdf">
            <a:extLst>
              <a:ext uri="{FF2B5EF4-FFF2-40B4-BE49-F238E27FC236}">
                <a16:creationId xmlns:a16="http://schemas.microsoft.com/office/drawing/2014/main" id="{1AD97E06-40DD-48DB-B021-52B2F2A8A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5" y="5357813"/>
            <a:ext cx="6292850" cy="114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16562730-0DB6-46F6-82EE-EC1958BF8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7" y="168279"/>
            <a:ext cx="7704137" cy="576263"/>
          </a:xfrm>
        </p:spPr>
        <p:txBody>
          <a:bodyPr/>
          <a:lstStyle/>
          <a:p>
            <a:r>
              <a:rPr lang="en-US" altLang="en-US" dirty="0"/>
              <a:t>3.4 	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49F64718-1962-4CD8-AAA2-324B5C65C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50" y="1154113"/>
            <a:ext cx="8026400" cy="4697412"/>
          </a:xfrm>
        </p:spPr>
        <p:txBody>
          <a:bodyPr/>
          <a:lstStyle/>
          <a:p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pPr lvl="1"/>
            <a:r>
              <a:rPr lang="en-US" altLang="en-US" sz="2000" dirty="0"/>
              <a:t>Cooperating processes can affect or be affected by other processes, including sharing data</a:t>
            </a:r>
          </a:p>
          <a:p>
            <a:pPr lvl="1"/>
            <a:r>
              <a:rPr lang="en-US" altLang="en-US" sz="2000" dirty="0"/>
              <a:t>Independent processes cannot affect other processes</a:t>
            </a:r>
          </a:p>
          <a:p>
            <a:r>
              <a:rPr lang="en-US" altLang="en-US" dirty="0"/>
              <a:t>Reasons for having cooperating processes:</a:t>
            </a:r>
          </a:p>
          <a:p>
            <a:pPr lvl="1"/>
            <a:r>
              <a:rPr lang="en-US" altLang="en-US" sz="2000" dirty="0"/>
              <a:t>Information sharing</a:t>
            </a:r>
          </a:p>
          <a:p>
            <a:pPr lvl="1"/>
            <a:r>
              <a:rPr lang="en-US" altLang="en-US" sz="2000" dirty="0"/>
              <a:t>Computation speedup (multiple processes running in parallel)</a:t>
            </a:r>
          </a:p>
          <a:p>
            <a:pPr lvl="1"/>
            <a:r>
              <a:rPr lang="en-US" altLang="en-US" sz="2000" dirty="0"/>
              <a:t>Modularity</a:t>
            </a:r>
          </a:p>
          <a:p>
            <a:pPr lvl="1"/>
            <a:r>
              <a:rPr lang="en-US" altLang="en-US" sz="2000" dirty="0"/>
              <a:t>Convenience</a:t>
            </a:r>
            <a:r>
              <a:rPr lang="en-US" altLang="en-US" dirty="0"/>
              <a:t>	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16562730-0DB6-46F6-82EE-EC1958BF8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7" y="168279"/>
            <a:ext cx="7704137" cy="576263"/>
          </a:xfrm>
        </p:spPr>
        <p:txBody>
          <a:bodyPr/>
          <a:lstStyle/>
          <a:p>
            <a:r>
              <a:rPr lang="en-US" altLang="en-US" dirty="0" err="1"/>
              <a:t>Interprocess</a:t>
            </a:r>
            <a:r>
              <a:rPr lang="en-US" altLang="en-US" dirty="0"/>
              <a:t> Communication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49F64718-1962-4CD8-AAA2-324B5C65C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50" y="1154113"/>
            <a:ext cx="8026400" cy="4697412"/>
          </a:xfrm>
        </p:spPr>
        <p:txBody>
          <a:bodyPr/>
          <a:lstStyle/>
          <a:p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3366FF"/>
                </a:solidFill>
              </a:rPr>
              <a:t>interprocess communication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IPC</a:t>
            </a:r>
            <a:r>
              <a:rPr lang="en-US" altLang="en-US" dirty="0"/>
              <a:t>)</a:t>
            </a:r>
          </a:p>
          <a:p>
            <a:r>
              <a:rPr lang="en-US" altLang="en-US"/>
              <a:t>Two models of IPC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Shared memory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Message passing</a:t>
            </a: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426069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003DEB0-DBB2-824A-B998-2891DBDF61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Two Models of IPC</a:t>
            </a:r>
          </a:p>
        </p:txBody>
      </p:sp>
      <p:pic>
        <p:nvPicPr>
          <p:cNvPr id="30723" name="Picture 1" descr="3_12.pdf">
            <a:extLst>
              <a:ext uri="{FF2B5EF4-FFF2-40B4-BE49-F238E27FC236}">
                <a16:creationId xmlns:a16="http://schemas.microsoft.com/office/drawing/2014/main" id="{FA967555-F13E-BB40-B524-28F106AA73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83"/>
          <a:stretch/>
        </p:blipFill>
        <p:spPr bwMode="auto">
          <a:xfrm>
            <a:off x="1354137" y="1127934"/>
            <a:ext cx="6435725" cy="3739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FA3995-1831-6B45-8172-02426D8E0630}"/>
              </a:ext>
            </a:extLst>
          </p:cNvPr>
          <p:cNvSpPr txBox="1"/>
          <p:nvPr/>
        </p:nvSpPr>
        <p:spPr>
          <a:xfrm>
            <a:off x="1684676" y="5141694"/>
            <a:ext cx="2645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/>
              <a:t>(a) Message passing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324E76-93BA-7C4C-A7A2-75B25AAF2D8F}"/>
              </a:ext>
            </a:extLst>
          </p:cNvPr>
          <p:cNvSpPr txBox="1"/>
          <p:nvPr/>
        </p:nvSpPr>
        <p:spPr>
          <a:xfrm>
            <a:off x="5024029" y="5141694"/>
            <a:ext cx="2645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/>
              <a:t>(b) Shared memory  </a:t>
            </a:r>
          </a:p>
        </p:txBody>
      </p:sp>
    </p:spTree>
    <p:extLst>
      <p:ext uri="{BB962C8B-B14F-4D97-AF65-F5344CB8AC3E}">
        <p14:creationId xmlns:p14="http://schemas.microsoft.com/office/powerpoint/2010/main" val="2367307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E86E3E4-E899-6742-BAC7-0A03638555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722" y="385545"/>
            <a:ext cx="7937500" cy="512233"/>
          </a:xfrm>
        </p:spPr>
        <p:txBody>
          <a:bodyPr/>
          <a:lstStyle/>
          <a:p>
            <a:pPr eaLnBrk="1" hangingPunct="1"/>
            <a:r>
              <a:rPr lang="en-US" altLang="en-US" sz="2800"/>
              <a:t>Shared Memory:</a:t>
            </a:r>
            <a:br>
              <a:rPr lang="en-US" altLang="en-US" sz="2800"/>
            </a:br>
            <a:r>
              <a:rPr lang="en-US" altLang="en-US" sz="2800"/>
              <a:t>Producer-Consumer Problem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DA3083B-73D4-AF46-99A4-EBA208D45D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2122" y="1164479"/>
            <a:ext cx="7791949" cy="3998383"/>
          </a:xfrm>
        </p:spPr>
        <p:txBody>
          <a:bodyPr/>
          <a:lstStyle/>
          <a:p>
            <a:r>
              <a:rPr lang="en-US" altLang="en-US"/>
              <a:t>Paradigm for cooperating processes, </a:t>
            </a:r>
            <a:r>
              <a:rPr lang="en-US" altLang="en-US" i="1"/>
              <a:t>producer</a:t>
            </a:r>
            <a:r>
              <a:rPr lang="en-US" altLang="en-US"/>
              <a:t> process produces information that is consumed by a </a:t>
            </a:r>
            <a:r>
              <a:rPr lang="en-US" altLang="en-US" i="1"/>
              <a:t>consumer</a:t>
            </a:r>
            <a:r>
              <a:rPr lang="en-US" altLang="en-US"/>
              <a:t> process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unbounded-buffer </a:t>
            </a:r>
            <a:r>
              <a:rPr lang="en-US" altLang="en-US"/>
              <a:t>places no practical limit on the size of the buffer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bounded-buffer </a:t>
            </a:r>
            <a:r>
              <a:rPr lang="en-US" altLang="en-US"/>
              <a:t>assumes that there is a fixed buffer size</a:t>
            </a:r>
          </a:p>
          <a:p>
            <a:r>
              <a:rPr lang="en-US" altLang="en-US"/>
              <a:t>Will be detailed out in </a:t>
            </a:r>
            <a:r>
              <a:rPr lang="en-US" altLang="en-US">
                <a:solidFill>
                  <a:srgbClr val="FF0000"/>
                </a:solidFill>
                <a:highlight>
                  <a:srgbClr val="FFFF00"/>
                </a:highlight>
              </a:rPr>
              <a:t>Chapter 6 – Synchronization</a:t>
            </a:r>
            <a:r>
              <a:rPr lang="en-US" alt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1596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36617DD-B0E9-B14D-AD5D-D3F525F0D1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7794" y="243604"/>
            <a:ext cx="8074025" cy="406400"/>
          </a:xfrm>
        </p:spPr>
        <p:txBody>
          <a:bodyPr/>
          <a:lstStyle/>
          <a:p>
            <a:pPr eaLnBrk="1" hangingPunct="1"/>
            <a:r>
              <a:rPr lang="en-US" altLang="en-US" sz="2667"/>
              <a:t>Bounded-Buffer – Shared-Memory Solution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950BE16-984E-E442-97E4-D724470E43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2163" y="1098363"/>
            <a:ext cx="7665695" cy="4401484"/>
          </a:xfrm>
        </p:spPr>
        <p:txBody>
          <a:bodyPr/>
          <a:lstStyle/>
          <a:p>
            <a:r>
              <a:rPr lang="en-US" altLang="en-US"/>
              <a:t>Shared data</a:t>
            </a:r>
          </a:p>
          <a:p>
            <a:pPr marL="1523018" lvl="3">
              <a:buNone/>
            </a:pPr>
            <a:r>
              <a:rPr lang="en-US" altLang="en-US" sz="1933">
                <a:latin typeface="Courier New" panose="02070309020205020404" pitchFamily="49" charset="0"/>
                <a:cs typeface="Courier New" panose="02070309020205020404" pitchFamily="49" charset="0"/>
              </a:rPr>
              <a:t>#define BUFFER_SIZE 10</a:t>
            </a:r>
          </a:p>
          <a:p>
            <a:pPr marL="1523018" lvl="3">
              <a:buNone/>
            </a:pPr>
            <a:r>
              <a:rPr lang="en-US" altLang="en-US" sz="1933">
                <a:latin typeface="Courier New" panose="02070309020205020404" pitchFamily="49" charset="0"/>
                <a:cs typeface="Courier New" panose="02070309020205020404" pitchFamily="49" charset="0"/>
              </a:rPr>
              <a:t>typedef struct {</a:t>
            </a:r>
          </a:p>
          <a:p>
            <a:pPr marL="1523018" lvl="3">
              <a:buNone/>
            </a:pPr>
            <a:r>
              <a:rPr lang="en-US" altLang="en-US" sz="1933">
                <a:latin typeface="Courier New" panose="02070309020205020404" pitchFamily="49" charset="0"/>
                <a:cs typeface="Courier New" panose="02070309020205020404" pitchFamily="49" charset="0"/>
              </a:rPr>
              <a:t>	. . .</a:t>
            </a:r>
          </a:p>
          <a:p>
            <a:pPr marL="1523018" lvl="3">
              <a:buNone/>
            </a:pPr>
            <a:r>
              <a:rPr lang="en-US" altLang="en-US" sz="1933">
                <a:latin typeface="Courier New" panose="02070309020205020404" pitchFamily="49" charset="0"/>
                <a:cs typeface="Courier New" panose="02070309020205020404" pitchFamily="49" charset="0"/>
              </a:rPr>
              <a:t>} item;</a:t>
            </a:r>
          </a:p>
          <a:p>
            <a:pPr marL="1523018" lvl="3">
              <a:buNone/>
            </a:pPr>
            <a:endParaRPr lang="en-US" altLang="en-US" sz="733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523018" lvl="3">
              <a:buNone/>
            </a:pPr>
            <a:r>
              <a:rPr lang="en-US" altLang="en-US" sz="1933">
                <a:latin typeface="Courier New" panose="02070309020205020404" pitchFamily="49" charset="0"/>
                <a:cs typeface="Courier New" panose="02070309020205020404" pitchFamily="49" charset="0"/>
              </a:rPr>
              <a:t>item buffer[BUFFER_SIZE];</a:t>
            </a:r>
          </a:p>
          <a:p>
            <a:pPr marL="1523018" lvl="3">
              <a:buNone/>
            </a:pPr>
            <a:r>
              <a:rPr lang="en-US" altLang="en-US" sz="1933">
                <a:latin typeface="Courier New" panose="02070309020205020404" pitchFamily="49" charset="0"/>
                <a:cs typeface="Courier New" panose="02070309020205020404" pitchFamily="49" charset="0"/>
              </a:rPr>
              <a:t>int in = 0;</a:t>
            </a:r>
          </a:p>
          <a:p>
            <a:pPr marL="1523018" lvl="3">
              <a:buNone/>
            </a:pPr>
            <a:r>
              <a:rPr lang="en-US" altLang="en-US" sz="1933">
                <a:latin typeface="Courier New" panose="02070309020205020404" pitchFamily="49" charset="0"/>
                <a:cs typeface="Courier New" panose="02070309020205020404" pitchFamily="49" charset="0"/>
              </a:rPr>
              <a:t>int out = 0;</a:t>
            </a:r>
          </a:p>
          <a:p>
            <a:pPr marL="1523018" lvl="3">
              <a:buNone/>
            </a:pPr>
            <a:endParaRPr lang="en-US" altLang="en-US" sz="733"/>
          </a:p>
          <a:p>
            <a:r>
              <a:rPr lang="en-US" altLang="en-US"/>
              <a:t>Solution is correct, but can only use BUFFER_SIZE-1 elements</a:t>
            </a:r>
          </a:p>
          <a:p>
            <a:pPr marL="1523018" lvl="3">
              <a:buNone/>
            </a:pPr>
            <a:endParaRPr lang="en-US" altLang="en-US" sz="1933" b="1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8E376E3F-4A0E-154D-B45A-CDF58EB02672}"/>
              </a:ext>
            </a:extLst>
          </p:cNvPr>
          <p:cNvSpPr/>
          <p:nvPr/>
        </p:nvSpPr>
        <p:spPr bwMode="auto">
          <a:xfrm>
            <a:off x="6195172" y="1062317"/>
            <a:ext cx="2756647" cy="591671"/>
          </a:xfrm>
          <a:prstGeom prst="wedgeRoundRectCallout">
            <a:avLst>
              <a:gd name="adj1" fmla="val -46199"/>
              <a:gd name="adj2" fmla="val 136850"/>
              <a:gd name="adj3" fmla="val 16667"/>
            </a:avLst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charset="0"/>
              </a:rPr>
              <a:t>Details in Chap. 6 !</a:t>
            </a:r>
          </a:p>
        </p:txBody>
      </p:sp>
    </p:spTree>
    <p:extLst>
      <p:ext uri="{BB962C8B-B14F-4D97-AF65-F5344CB8AC3E}">
        <p14:creationId xmlns:p14="http://schemas.microsoft.com/office/powerpoint/2010/main" val="16327872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DB547DD-03FD-7540-B012-F901693E4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682" y="210733"/>
            <a:ext cx="7569200" cy="512233"/>
          </a:xfrm>
        </p:spPr>
        <p:txBody>
          <a:bodyPr/>
          <a:lstStyle/>
          <a:p>
            <a:pPr eaLnBrk="1" hangingPunct="1"/>
            <a:r>
              <a:rPr lang="en-US" altLang="en-US"/>
              <a:t>Bounded-Buffer – Producer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6643407-73EC-6F4C-B22D-8BB8BE2CEC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2107" y="1159748"/>
            <a:ext cx="7351183" cy="3984625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endParaRPr lang="en-US" altLang="en-US" sz="1867">
              <a:latin typeface="Monaco" pitchFamily="2" charset="77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item next produced;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next produced */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	while (((in + 1) % BUFFER SIZE) == out)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		; /* do nothing */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	buffer[in] = next produced;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	in = (in + 1) % BUFFER SIZE;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buFont typeface="Monotype Sorts" pitchFamily="2" charset="2"/>
              <a:buNone/>
            </a:pPr>
            <a:endParaRPr lang="en-US" altLang="en-US" sz="1867">
              <a:latin typeface="Monaco" pitchFamily="2" charset="77"/>
            </a:endParaRPr>
          </a:p>
          <a:p>
            <a:pPr>
              <a:buFont typeface="Monotype Sorts" pitchFamily="2" charset="2"/>
              <a:buNone/>
            </a:pPr>
            <a:endParaRPr lang="en-US" altLang="en-US" sz="1867"/>
          </a:p>
          <a:p>
            <a:pPr>
              <a:buFont typeface="Monotype Sorts" pitchFamily="2" charset="2"/>
              <a:buNone/>
            </a:pPr>
            <a:r>
              <a:rPr lang="en-US" altLang="en-US" sz="1333"/>
              <a:t>	</a:t>
            </a:r>
          </a:p>
          <a:p>
            <a:pPr marL="6827650" lvl="4">
              <a:buNone/>
            </a:pPr>
            <a:endParaRPr lang="en-US" altLang="en-US" sz="1067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2B1AC11B-E8F1-424F-9D7C-EEC177F1B5E0}"/>
              </a:ext>
            </a:extLst>
          </p:cNvPr>
          <p:cNvSpPr/>
          <p:nvPr/>
        </p:nvSpPr>
        <p:spPr bwMode="auto">
          <a:xfrm>
            <a:off x="6195172" y="1062317"/>
            <a:ext cx="2756647" cy="591671"/>
          </a:xfrm>
          <a:prstGeom prst="wedgeRoundRectCallout">
            <a:avLst>
              <a:gd name="adj1" fmla="val -46199"/>
              <a:gd name="adj2" fmla="val 136850"/>
              <a:gd name="adj3" fmla="val 16667"/>
            </a:avLst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charset="0"/>
              </a:rPr>
              <a:t>Details in Chap. 6 !</a:t>
            </a:r>
          </a:p>
        </p:txBody>
      </p:sp>
    </p:spTree>
    <p:extLst>
      <p:ext uri="{BB962C8B-B14F-4D97-AF65-F5344CB8AC3E}">
        <p14:creationId xmlns:p14="http://schemas.microsoft.com/office/powerpoint/2010/main" val="5978894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E8B09A6-065C-1A42-98BD-B425FEC98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679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Bounded Buffer – Consumer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0F31318-5033-9646-939A-D8A905CD3C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0350"/>
            <a:ext cx="7539567" cy="39211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item next consumed; </a:t>
            </a:r>
          </a:p>
          <a:p>
            <a:pPr marL="0" indent="0"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  <a:b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	while (in == out) </a:t>
            </a:r>
          </a:p>
          <a:p>
            <a:pPr marL="0" indent="0"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		; /* do nothing */</a:t>
            </a:r>
            <a:b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	next consumed = buffer[out]; </a:t>
            </a:r>
          </a:p>
          <a:p>
            <a:pPr marL="0" indent="0"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	out = (out + 1) % BUFFER SIZE;</a:t>
            </a:r>
            <a:b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1867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None/>
            </a:pPr>
            <a:r>
              <a:rPr lang="en-US" altLang="en-US" sz="1867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D42AC635-8232-F541-BF69-53AE20FC4710}"/>
              </a:ext>
            </a:extLst>
          </p:cNvPr>
          <p:cNvSpPr/>
          <p:nvPr/>
        </p:nvSpPr>
        <p:spPr bwMode="auto">
          <a:xfrm>
            <a:off x="6195172" y="1062317"/>
            <a:ext cx="2756647" cy="591671"/>
          </a:xfrm>
          <a:prstGeom prst="wedgeRoundRectCallout">
            <a:avLst>
              <a:gd name="adj1" fmla="val -46199"/>
              <a:gd name="adj2" fmla="val 136850"/>
              <a:gd name="adj3" fmla="val 16667"/>
            </a:avLst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charset="0"/>
              </a:rPr>
              <a:t>Details in Chap. 6 !</a:t>
            </a:r>
          </a:p>
        </p:txBody>
      </p:sp>
    </p:spTree>
    <p:extLst>
      <p:ext uri="{BB962C8B-B14F-4D97-AF65-F5344CB8AC3E}">
        <p14:creationId xmlns:p14="http://schemas.microsoft.com/office/powerpoint/2010/main" val="35289800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89543C6-5D47-F940-9739-E3AA1A9F4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221" y="133538"/>
            <a:ext cx="8229600" cy="512233"/>
          </a:xfrm>
        </p:spPr>
        <p:txBody>
          <a:bodyPr/>
          <a:lstStyle/>
          <a:p>
            <a:pPr eaLnBrk="1" hangingPunct="1"/>
            <a:r>
              <a:rPr lang="en-US" altLang="en-US" sz="2400"/>
              <a:t>IPC – Message Passing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99062DB-2CE1-C04F-890D-12485012C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221" y="1116431"/>
            <a:ext cx="8229599" cy="40269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Mechanism for processes to communicate and to synchronize their actions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Message system – 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send</a:t>
            </a:r>
            <a:r>
              <a:rPr lang="en-US" altLang="en-US"/>
              <a:t>(</a:t>
            </a:r>
            <a:r>
              <a:rPr lang="en-US" altLang="en-US" i="1"/>
              <a:t>message</a:t>
            </a:r>
            <a:r>
              <a:rPr lang="en-US" altLang="en-US"/>
              <a:t>) – message size fixed or variable 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message</a:t>
            </a:r>
            <a:r>
              <a:rPr lang="en-US" altLang="en-US"/>
              <a:t>)</a:t>
            </a:r>
          </a:p>
          <a:p>
            <a:pPr lvl="1"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12009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89543C6-5D47-F940-9739-E3AA1A9F4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221" y="133538"/>
            <a:ext cx="8229600" cy="512233"/>
          </a:xfrm>
        </p:spPr>
        <p:txBody>
          <a:bodyPr/>
          <a:lstStyle/>
          <a:p>
            <a:pPr eaLnBrk="1" hangingPunct="1"/>
            <a:r>
              <a:rPr lang="en-US" altLang="en-US" sz="2400"/>
              <a:t>IPC – Message Passing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99062DB-2CE1-C04F-890D-12485012C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220" y="993339"/>
            <a:ext cx="8229599" cy="4026959"/>
          </a:xfrm>
        </p:spPr>
        <p:txBody>
          <a:bodyPr/>
          <a:lstStyle/>
          <a:p>
            <a:pPr marL="457200" lvl="1" indent="0">
              <a:lnSpc>
                <a:spcPct val="90000"/>
              </a:lnSpc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 i="1"/>
              <a:t>P</a:t>
            </a:r>
            <a:r>
              <a:rPr lang="en-US" altLang="en-US"/>
              <a:t> and </a:t>
            </a:r>
            <a:r>
              <a:rPr lang="en-US" altLang="en-US" i="1"/>
              <a:t>Q</a:t>
            </a:r>
            <a:r>
              <a:rPr lang="en-US" altLang="en-US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establish a </a:t>
            </a:r>
            <a:r>
              <a:rPr lang="en-US" altLang="en-US" b="1" i="1"/>
              <a:t>communication</a:t>
            </a:r>
            <a:r>
              <a:rPr lang="en-US" altLang="en-US" b="1"/>
              <a:t> </a:t>
            </a:r>
            <a:r>
              <a:rPr lang="en-US" altLang="en-US" b="1" i="1"/>
              <a:t>link</a:t>
            </a:r>
            <a:r>
              <a:rPr lang="en-US" altLang="en-US" b="1"/>
              <a:t> </a:t>
            </a:r>
            <a:r>
              <a:rPr lang="en-US" altLang="en-US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exchange messages via send/receive</a:t>
            </a:r>
          </a:p>
          <a:p>
            <a:pPr lvl="1"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Implementation of communication link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physical (e.g., shared memory, hardware bus)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logical (e.g., direct or indirect, synchronous or asynchronous, automatic or explicit buffering)</a:t>
            </a:r>
          </a:p>
        </p:txBody>
      </p:sp>
    </p:spTree>
    <p:extLst>
      <p:ext uri="{BB962C8B-B14F-4D97-AF65-F5344CB8AC3E}">
        <p14:creationId xmlns:p14="http://schemas.microsoft.com/office/powerpoint/2010/main" val="41793208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CCEE0C4-01AB-3548-89C4-2DDCA88A4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989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Direct Communication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76C28B9-B4D9-504C-8858-B4BA4B4732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5436" y="1037818"/>
            <a:ext cx="8091364" cy="4026959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pPr lvl="1"/>
            <a:endParaRPr lang="en-US" altLang="en-US"/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  <p:extLst>
      <p:ext uri="{BB962C8B-B14F-4D97-AF65-F5344CB8AC3E}">
        <p14:creationId xmlns:p14="http://schemas.microsoft.com/office/powerpoint/2010/main" val="2605115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52047AD-6BD1-F345-814F-E3DD4B2C0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23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3DB692D-61AE-B549-95A8-A182DC7D9D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7045"/>
            <a:ext cx="8229600" cy="3696758"/>
          </a:xfrm>
        </p:spPr>
        <p:txBody>
          <a:bodyPr/>
          <a:lstStyle/>
          <a:p>
            <a:r>
              <a:rPr lang="en-US" altLang="en-US"/>
              <a:t>Messages are directed and received from mailboxes (also referred to as ports)</a:t>
            </a:r>
          </a:p>
          <a:p>
            <a:pPr lvl="1"/>
            <a:r>
              <a:rPr lang="en-US" altLang="en-US"/>
              <a:t>Each mailbox has a unique id</a:t>
            </a:r>
          </a:p>
          <a:p>
            <a:pPr lvl="1"/>
            <a:r>
              <a:rPr lang="en-US" altLang="en-US"/>
              <a:t>Processes can communicate only if they share a mailbox</a:t>
            </a:r>
          </a:p>
          <a:p>
            <a:pPr lvl="1"/>
            <a:endParaRPr lang="en-US" altLang="en-US"/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 established only if processes share a common mailbox</a:t>
            </a:r>
          </a:p>
          <a:p>
            <a:pPr lvl="1"/>
            <a:r>
              <a:rPr lang="en-US" altLang="en-US"/>
              <a:t>A link may be associated with many processes</a:t>
            </a:r>
          </a:p>
          <a:p>
            <a:pPr lvl="1"/>
            <a:r>
              <a:rPr lang="en-US" altLang="en-US"/>
              <a:t>Each pair of processes may share several communication links</a:t>
            </a:r>
          </a:p>
          <a:p>
            <a:pPr lvl="1"/>
            <a:r>
              <a:rPr lang="en-US" altLang="en-US"/>
              <a:t>Link may be unidirectional or bi-directional</a:t>
            </a:r>
          </a:p>
        </p:txBody>
      </p:sp>
    </p:spTree>
    <p:extLst>
      <p:ext uri="{BB962C8B-B14F-4D97-AF65-F5344CB8AC3E}">
        <p14:creationId xmlns:p14="http://schemas.microsoft.com/office/powerpoint/2010/main" val="37393941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6C6C8B9-3D2D-2147-9E01-C9F881DAD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472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00F6659-F582-FD45-A003-E35C1F562C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5434" y="1067046"/>
            <a:ext cx="8091365" cy="3396191"/>
          </a:xfrm>
        </p:spPr>
        <p:txBody>
          <a:bodyPr/>
          <a:lstStyle/>
          <a:p>
            <a:r>
              <a:rPr lang="en-US" altLang="en-US"/>
              <a:t>Operations</a:t>
            </a:r>
          </a:p>
          <a:p>
            <a:pPr lvl="1"/>
            <a:r>
              <a:rPr lang="en-US" altLang="en-US"/>
              <a:t>create a new mailbox</a:t>
            </a:r>
          </a:p>
          <a:p>
            <a:pPr lvl="1"/>
            <a:r>
              <a:rPr lang="en-US" altLang="en-US"/>
              <a:t>send and receive messages through mailbox</a:t>
            </a:r>
          </a:p>
          <a:p>
            <a:pPr lvl="1"/>
            <a:r>
              <a:rPr lang="en-US" altLang="en-US"/>
              <a:t>destroy a mailbox</a:t>
            </a:r>
          </a:p>
          <a:p>
            <a:pPr lvl="1"/>
            <a:endParaRPr lang="en-US" altLang="en-US"/>
          </a:p>
          <a:p>
            <a:r>
              <a:rPr lang="en-US" altLang="en-US"/>
              <a:t>Primitives are defined as: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send</a:t>
            </a:r>
            <a:r>
              <a:rPr lang="en-US" altLang="en-US"/>
              <a:t>(</a:t>
            </a:r>
            <a:r>
              <a:rPr lang="en-US" altLang="en-US" i="1"/>
              <a:t>A, message</a:t>
            </a:r>
            <a:r>
              <a:rPr lang="en-US" altLang="en-US"/>
              <a:t>) – send a message to mailbox A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A, message</a:t>
            </a:r>
            <a:r>
              <a:rPr lang="en-US" altLang="en-US"/>
              <a:t>) – receive a message from mailbox A</a:t>
            </a:r>
          </a:p>
        </p:txBody>
      </p:sp>
    </p:spTree>
    <p:extLst>
      <p:ext uri="{BB962C8B-B14F-4D97-AF65-F5344CB8AC3E}">
        <p14:creationId xmlns:p14="http://schemas.microsoft.com/office/powerpoint/2010/main" val="27302796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>
            <a:extLst>
              <a:ext uri="{FF2B5EF4-FFF2-40B4-BE49-F238E27FC236}">
                <a16:creationId xmlns:a16="http://schemas.microsoft.com/office/drawing/2014/main" id="{4AB01A8B-11BD-BE4E-B777-07940A511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2680" y="985064"/>
            <a:ext cx="8074269" cy="4026959"/>
          </a:xfrm>
        </p:spPr>
        <p:txBody>
          <a:bodyPr/>
          <a:lstStyle/>
          <a:p>
            <a:r>
              <a:rPr lang="en-US" altLang="en-US"/>
              <a:t>Mailbox sharing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</a:p>
          <a:p>
            <a:pPr lvl="1"/>
            <a:r>
              <a:rPr lang="en-US" altLang="en-US"/>
              <a:t>Who gets the message?</a:t>
            </a:r>
          </a:p>
          <a:p>
            <a:pPr lvl="1"/>
            <a:endParaRPr lang="en-US" altLang="en-US"/>
          </a:p>
          <a:p>
            <a:r>
              <a:rPr lang="en-US" altLang="en-US"/>
              <a:t>Solutions</a:t>
            </a:r>
          </a:p>
          <a:p>
            <a:pPr lvl="1"/>
            <a:r>
              <a:rPr lang="en-US" altLang="en-US"/>
              <a:t>Allow a link to be associated with at most two processes</a:t>
            </a:r>
          </a:p>
          <a:p>
            <a:pPr lvl="1"/>
            <a:r>
              <a:rPr lang="en-US" altLang="en-US"/>
              <a:t>Allow only one process at a time to execute a receive operation</a:t>
            </a:r>
          </a:p>
          <a:p>
            <a:pPr lvl="1"/>
            <a:r>
              <a:rPr lang="en-US" altLang="en-US"/>
              <a:t>Allow the system to select arbitrarily the receiver.  Sender is notified who the receiver was.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4C6B6D-B4C5-B24D-9036-46C323494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472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4411917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8DC6F95-E765-7B4C-AFA8-915913579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6508" y="10551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Synchronization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B4000CF1-476B-C745-8607-EB3B49064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6508" y="1090572"/>
            <a:ext cx="8436138" cy="4026959"/>
          </a:xfrm>
        </p:spPr>
        <p:txBody>
          <a:bodyPr/>
          <a:lstStyle/>
          <a:p>
            <a:pPr marL="361968" indent="-361968"/>
            <a:r>
              <a:rPr lang="en-US" altLang="en-US"/>
              <a:t>Message passing may be either blocking or non-blocking</a:t>
            </a:r>
          </a:p>
          <a:p>
            <a:pPr marL="361968" indent="-361968"/>
            <a:endParaRPr lang="en-US" altLang="en-US" sz="1100"/>
          </a:p>
          <a:p>
            <a:pPr marL="361968" indent="-361968"/>
            <a:r>
              <a:rPr lang="en-US" altLang="en-US" b="1">
                <a:solidFill>
                  <a:srgbClr val="3366FF"/>
                </a:solidFill>
              </a:rPr>
              <a:t>Blocking</a:t>
            </a:r>
            <a:r>
              <a:rPr lang="en-US" altLang="en-US"/>
              <a:t> is considered </a:t>
            </a:r>
            <a:r>
              <a:rPr lang="en-US" altLang="en-US" b="1">
                <a:solidFill>
                  <a:srgbClr val="3366FF"/>
                </a:solidFill>
              </a:rPr>
              <a:t>synchronous</a:t>
            </a:r>
          </a:p>
          <a:p>
            <a:pPr marL="760980" lvl="1" indent="-325983"/>
            <a:r>
              <a:rPr lang="en-US" altLang="en-US" b="1"/>
              <a:t>Blocking send </a:t>
            </a:r>
            <a:r>
              <a:rPr lang="en-US" altLang="en-US"/>
              <a:t>has the sender block until the message is received</a:t>
            </a:r>
          </a:p>
          <a:p>
            <a:pPr marL="760980" lvl="1" indent="-325983"/>
            <a:r>
              <a:rPr lang="en-US" altLang="en-US" b="1"/>
              <a:t>Blocking receive </a:t>
            </a:r>
            <a:r>
              <a:rPr lang="en-US" altLang="en-US"/>
              <a:t>has the receiver block until a message is available</a:t>
            </a:r>
          </a:p>
          <a:p>
            <a:pPr marL="760980" lvl="1" indent="-325983"/>
            <a:endParaRPr lang="en-US" altLang="en-US" sz="1200"/>
          </a:p>
          <a:p>
            <a:pPr marL="361968" indent="-361968"/>
            <a:r>
              <a:rPr lang="en-US" altLang="en-US" b="1">
                <a:solidFill>
                  <a:srgbClr val="3366FF"/>
                </a:solidFill>
              </a:rPr>
              <a:t>Non-blocking</a:t>
            </a:r>
            <a:r>
              <a:rPr lang="en-US" altLang="en-US"/>
              <a:t> is considered </a:t>
            </a:r>
            <a:r>
              <a:rPr lang="en-US" altLang="en-US" b="1">
                <a:solidFill>
                  <a:srgbClr val="3366FF"/>
                </a:solidFill>
              </a:rPr>
              <a:t>asynchronous</a:t>
            </a:r>
          </a:p>
          <a:p>
            <a:pPr marL="760980" lvl="1" indent="-325983"/>
            <a:r>
              <a:rPr lang="en-US" altLang="en-US" b="1"/>
              <a:t>Non-blocking </a:t>
            </a:r>
            <a:r>
              <a:rPr lang="en-US" altLang="en-US"/>
              <a:t>send has the sender send the message and continue</a:t>
            </a:r>
          </a:p>
          <a:p>
            <a:pPr marL="760980" lvl="1" indent="-325983"/>
            <a:r>
              <a:rPr lang="en-US" altLang="en-US" b="1"/>
              <a:t>Non-blocking </a:t>
            </a:r>
            <a:r>
              <a:rPr lang="en-US" altLang="en-US"/>
              <a:t>receive has the receiver receive a valid message or null</a:t>
            </a:r>
          </a:p>
          <a:p>
            <a:pPr marL="361968" indent="-361968"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9314655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417A-9F90-4DC2-A4E4-A31183D1D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M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FE2F7-63B8-42B1-8265-0E6CF9B8BDAB}"/>
              </a:ext>
            </a:extLst>
          </p:cNvPr>
          <p:cNvSpPr txBox="1"/>
          <p:nvPr/>
        </p:nvSpPr>
        <p:spPr>
          <a:xfrm>
            <a:off x="806400" y="1173604"/>
            <a:ext cx="7704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Silberchatz</a:t>
            </a:r>
            <a:r>
              <a:rPr lang="en-US" dirty="0"/>
              <a:t>, Operating System Concepts Chapter 3 Exercises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Odd number Matric card – 3.1, 3.3, 3.5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Even number Matric card – 3.2, 3.4, 3.9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Due date: Submit to e-learning 5 days after the end of the lecture.</a:t>
            </a:r>
          </a:p>
        </p:txBody>
      </p:sp>
    </p:spTree>
    <p:extLst>
      <p:ext uri="{BB962C8B-B14F-4D97-AF65-F5344CB8AC3E}">
        <p14:creationId xmlns:p14="http://schemas.microsoft.com/office/powerpoint/2010/main" val="11636873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8C3B472C-2103-4CAA-BCE5-997B3BFAE6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18499</TotalTime>
  <Words>3174</Words>
  <Application>Microsoft Macintosh PowerPoint</Application>
  <PresentationFormat>On-screen Show (4:3)</PresentationFormat>
  <Paragraphs>475</Paragraphs>
  <Slides>49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49</vt:i4>
      </vt:variant>
    </vt:vector>
  </HeadingPairs>
  <TitlesOfParts>
    <vt:vector size="61" baseType="lpstr">
      <vt:lpstr>Arial</vt:lpstr>
      <vt:lpstr>Courier New</vt:lpstr>
      <vt:lpstr>Helvetica</vt:lpstr>
      <vt:lpstr>Monaco</vt:lpstr>
      <vt:lpstr>Monotype Sorts</vt:lpstr>
      <vt:lpstr>Times New Roman</vt:lpstr>
      <vt:lpstr>Verdana</vt:lpstr>
      <vt:lpstr>Webdings</vt:lpstr>
      <vt:lpstr>Wingdings</vt:lpstr>
      <vt:lpstr>os-8</vt:lpstr>
      <vt:lpstr>Default Design</vt:lpstr>
      <vt:lpstr>1_Default Design</vt:lpstr>
      <vt:lpstr>Chapter 3:  Processes</vt:lpstr>
      <vt:lpstr>Chapter 3:  Processes</vt:lpstr>
      <vt:lpstr>3.1 Process Concept</vt:lpstr>
      <vt:lpstr>3.1.1  Process Structure</vt:lpstr>
      <vt:lpstr>Process in Memory</vt:lpstr>
      <vt:lpstr>Process States</vt:lpstr>
      <vt:lpstr>Process with Two-State Model</vt:lpstr>
      <vt:lpstr>Two-State Model : Queue Diagram</vt:lpstr>
      <vt:lpstr>3.1.2  Process State (Five State Model)</vt:lpstr>
      <vt:lpstr>Five State Model: Queue Diagram</vt:lpstr>
      <vt:lpstr>Process Description</vt:lpstr>
      <vt:lpstr>Information Table (cont…)</vt:lpstr>
      <vt:lpstr>Information Table (…cont)</vt:lpstr>
      <vt:lpstr>3.1.3  Process Control Block (PCB)</vt:lpstr>
      <vt:lpstr>3.1.4  Threads</vt:lpstr>
      <vt:lpstr>3.2 Process Scheduling</vt:lpstr>
      <vt:lpstr>Ready Queue And Various I/O Device Queues</vt:lpstr>
      <vt:lpstr>3.2.2  Schedulers</vt:lpstr>
      <vt:lpstr>PowerPoint Presentation</vt:lpstr>
      <vt:lpstr>Multitasking in Mobile Systems</vt:lpstr>
      <vt:lpstr>3.2.3  Context Switch</vt:lpstr>
      <vt:lpstr>CPU Switch From Process to Process</vt:lpstr>
      <vt:lpstr>When to Switch a Process</vt:lpstr>
      <vt:lpstr>3.3 Operations on Processes</vt:lpstr>
      <vt:lpstr>3.3.1  Process Creation</vt:lpstr>
      <vt:lpstr>Process Creation (Cont.)</vt:lpstr>
      <vt:lpstr>Process Creation (Cont.)</vt:lpstr>
      <vt:lpstr>C program to create a separate process in UNIX</vt:lpstr>
      <vt:lpstr>C Program Forking Separate Process</vt:lpstr>
      <vt:lpstr>Creating a Separate Process via Windows API</vt:lpstr>
      <vt:lpstr>3.3.2  Process Termination</vt:lpstr>
      <vt:lpstr>Process Termination (Cont.)</vt:lpstr>
      <vt:lpstr>Multiprocess Architecture – Chrome Browser</vt:lpstr>
      <vt:lpstr>3.4  Interprocess Communication</vt:lpstr>
      <vt:lpstr>Interprocess Communication</vt:lpstr>
      <vt:lpstr>Two Models of IPC</vt:lpstr>
      <vt:lpstr>Shared Memory: Producer-Consumer Problem</vt:lpstr>
      <vt:lpstr>Bounded-Buffer – Shared-Memory Solution</vt:lpstr>
      <vt:lpstr>Bounded-Buffer – Producer</vt:lpstr>
      <vt:lpstr>Bounded Buffer – Consumer</vt:lpstr>
      <vt:lpstr>IPC – Message Passing</vt:lpstr>
      <vt:lpstr>IPC – Message Passing</vt:lpstr>
      <vt:lpstr>Direct Communication</vt:lpstr>
      <vt:lpstr>Indirect Communication</vt:lpstr>
      <vt:lpstr>Indirect Communication</vt:lpstr>
      <vt:lpstr>Indirect Communication</vt:lpstr>
      <vt:lpstr>Synchronization</vt:lpstr>
      <vt:lpstr>EXERCISE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Ahmad Fariz Ali</cp:lastModifiedBy>
  <cp:revision>480</cp:revision>
  <cp:lastPrinted>2018-02-17T13:08:03Z</cp:lastPrinted>
  <dcterms:created xsi:type="dcterms:W3CDTF">2011-01-13T23:43:38Z</dcterms:created>
  <dcterms:modified xsi:type="dcterms:W3CDTF">2021-03-07T04:08:47Z</dcterms:modified>
</cp:coreProperties>
</file>