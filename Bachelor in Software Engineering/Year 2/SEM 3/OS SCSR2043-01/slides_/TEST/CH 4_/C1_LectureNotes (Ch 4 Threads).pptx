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  <p:sldMasterId id="2147484240" r:id="rId2"/>
    <p:sldMasterId id="2147484253" r:id="rId3"/>
    <p:sldMasterId id="2147484265" r:id="rId4"/>
  </p:sldMasterIdLst>
  <p:notesMasterIdLst>
    <p:notesMasterId r:id="rId36"/>
  </p:notesMasterIdLst>
  <p:handoutMasterIdLst>
    <p:handoutMasterId r:id="rId37"/>
  </p:handoutMasterIdLst>
  <p:sldIdLst>
    <p:sldId id="331" r:id="rId5"/>
    <p:sldId id="332" r:id="rId6"/>
    <p:sldId id="419" r:id="rId7"/>
    <p:sldId id="334" r:id="rId8"/>
    <p:sldId id="418" r:id="rId9"/>
    <p:sldId id="420" r:id="rId10"/>
    <p:sldId id="417" r:id="rId11"/>
    <p:sldId id="413" r:id="rId12"/>
    <p:sldId id="421" r:id="rId13"/>
    <p:sldId id="336" r:id="rId14"/>
    <p:sldId id="337" r:id="rId15"/>
    <p:sldId id="378" r:id="rId16"/>
    <p:sldId id="374" r:id="rId17"/>
    <p:sldId id="379" r:id="rId18"/>
    <p:sldId id="338" r:id="rId19"/>
    <p:sldId id="426" r:id="rId20"/>
    <p:sldId id="427" r:id="rId21"/>
    <p:sldId id="428" r:id="rId22"/>
    <p:sldId id="429" r:id="rId23"/>
    <p:sldId id="430" r:id="rId24"/>
    <p:sldId id="431" r:id="rId25"/>
    <p:sldId id="432" r:id="rId26"/>
    <p:sldId id="433" r:id="rId27"/>
    <p:sldId id="434" r:id="rId28"/>
    <p:sldId id="435" r:id="rId29"/>
    <p:sldId id="436" r:id="rId30"/>
    <p:sldId id="422" r:id="rId31"/>
    <p:sldId id="423" r:id="rId32"/>
    <p:sldId id="424" r:id="rId33"/>
    <p:sldId id="425" r:id="rId34"/>
    <p:sldId id="372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76" d="100"/>
          <a:sy n="76" d="100"/>
        </p:scale>
        <p:origin x="96" y="13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1332" y="8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D6B9D27-D43F-472C-9070-E3F9C72BD5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 eaLnBrk="0" hangingPunct="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22419A9-39EE-4984-BCFB-385577D447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 eaLnBrk="0" hangingPunct="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772DDD6F-2A8E-4035-A8D7-49A3C322B38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 eaLnBrk="0" hangingPunct="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E079ED0-D184-4E80-AA63-6866FE7EA47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4057" y="8636551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1063">
              <a:defRPr sz="1100">
                <a:latin typeface="Helvetica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B70E5D-FA9B-476E-85BE-040AB021918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FD2E16A-F3A9-4409-9145-A6BD6D4113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 eaLnBrk="0" hangingPunct="0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81BA77-A7A0-4FB7-BD68-79ED107E9D1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 eaLnBrk="0" hangingPunct="0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AC4D8B71-714C-44F2-8573-2D784D84E30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E9E9B1E-5A37-424F-96E2-623E9F6F912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B28AB5B4-8B52-42FD-8D86-FC6530A051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 eaLnBrk="0" hangingPunct="0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6AC45F1B-3EB7-486B-8191-E10037E6CF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5348A25E-4EA2-44F3-AE50-A607616511F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09799641-4404-410B-86E1-4C12310B18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11D361-4F09-4D6A-A91B-B0C52731039E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63E3FED-A028-4227-8032-1AD9EA64E9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F6946D3-4BD4-4023-A3BF-08EBF2B00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F6D8EF02-178A-41C7-8F2E-03D55DDF43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C3685-44E4-4D5C-9299-16C64D9E13B6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069BC669-BF70-4D6A-9B6F-1E6E2334C5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B7F298F3-1B1E-48BB-B212-298FA4F01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95FCA38-CC56-453F-AADA-4DA21121B8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98FD486-B071-4F41-B2F4-16E92D7F4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DC82F6-CFA1-485C-99CD-3231AC4D68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57DF2D41-64C6-48E0-954F-CFA6104713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834586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0D12570-C347-47F5-B3BA-A9EF4BAF6D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6CF8498A-77EB-4438-92AA-765B46CDF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F7D374-88F1-4673-9A0D-AAC1836201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B94E5055-9F6C-48B1-A2A6-59AEABBFBD6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961481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022BD75A-1B7E-4897-A568-156E6BA02E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7FF5426-FBB1-4212-98BD-B7845434333E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C0A8F5B3-3E21-4896-AD88-3AE99E0B0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BE5C3A9C-1416-4351-A6C6-807A39A983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22E9A07-5574-4AC2-B18A-D137A9E2A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6AFD17BD-F37C-480C-B29E-4E08434DF0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E7D5473-3626-46FC-A79C-4C10A30BB4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88D4226-68E2-43AD-A86E-C2068C0AA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1F5F66-A7D8-4B2F-B799-389068B2BDF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3" name="Header Placeholder 2">
            <a:extLst>
              <a:ext uri="{FF2B5EF4-FFF2-40B4-BE49-F238E27FC236}">
                <a16:creationId xmlns:a16="http://schemas.microsoft.com/office/drawing/2014/main" id="{32C162B0-4476-4B68-85AF-616DF80AE6B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632767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2A63E0BD-CFF8-40CB-948F-BEB5FCD932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CFDD72-1A93-45F3-A527-A273D74D868A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215ED6A-F608-47B4-9853-6E3628493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B2120E1-E402-46E4-A917-C1C4B7F39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27AA777-1A0C-43F4-80C5-9B04A3CF1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E92B469-0F6A-4EE6-8120-25CF4CDD7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508F6E6-99DA-41D6-8D54-EB502CF4D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288FF7C-5FF5-49EE-86FE-1C0F2A8F7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FC3242D4-3D49-4C53-9238-73F31FC25F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58118126-603F-42E9-8A8A-E888507F8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F64D7260-3DAE-459F-AEDB-6471A0A98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E955C707-BF00-4EFE-AECD-9B180A712B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EADDF09-F573-4618-826F-520883E789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C3D6C2F-1162-471D-BD0C-5D1F75485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D9139E1-0CA3-49E3-836E-D5D1F80AB4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5088" y="812800"/>
            <a:ext cx="4340225" cy="3255963"/>
          </a:xfrm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5D0E5DA-5220-4A5F-B183-31071B845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1678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D0EC732-017C-40FB-9EBA-FD028BD7BF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5088" y="812800"/>
            <a:ext cx="4340225" cy="3255963"/>
          </a:xfrm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E781DB1-D981-479A-8F5C-A7CCF894E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2182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6F0EF50-B59F-4FCC-80A5-9955F44C22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5088" y="812800"/>
            <a:ext cx="4340225" cy="3255963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9EC6DE7-88D7-4EEE-A9A4-B483709A3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37739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98A8189-8049-4468-A50C-B50766BD3B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5088" y="812800"/>
            <a:ext cx="4340225" cy="3255963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FA6763C-36AC-4684-A194-A103BB880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255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02EF13A-01CF-4193-86AA-24AD2F4E8E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5088" y="812800"/>
            <a:ext cx="4340225" cy="3255963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E85485E-FCAA-4329-AF46-701CCCC8B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76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D3F8EE7E-D073-4AA9-8F3D-AE6F26C391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C5FAA807-7272-43CF-A136-30F3A93C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1FFE143-08CE-409B-9794-EC42CD02328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SCSR2043 Operating Systems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63E09-79FD-4108-9618-B258308593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M @ 2012-13-II</a:t>
            </a:r>
          </a:p>
        </p:txBody>
      </p:sp>
      <p:sp>
        <p:nvSpPr>
          <p:cNvPr id="65542" name="Slide Number Placeholder 5">
            <a:extLst>
              <a:ext uri="{FF2B5EF4-FFF2-40B4-BE49-F238E27FC236}">
                <a16:creationId xmlns:a16="http://schemas.microsoft.com/office/drawing/2014/main" id="{3B4A9BB4-7D53-491D-AEEC-8B2D12E07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FFF02C-5683-438F-960B-B955050DCF9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557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57420C95-68B3-4433-9E70-2832CD41A4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F36372-2220-4CD0-AFFB-947D0F1FEDE4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B7494E49-B349-4AB0-82D2-AFD35C6FE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1107B1EB-2B84-47FF-B563-D318D9DA3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08F60F91-4E28-49A5-A548-476327B055B6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F16EE2F-F583-4197-8AD4-3D69D4E47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CFF6F608-59B3-459A-B712-52E3DA66D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A062550-45F0-40EE-883C-D21A85C1A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9131DAA-CB50-46B9-8816-5FEDD1CBA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F10C7FB-17FB-47A0-89AB-ECCD8697B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C1F125DD-6B8B-4D81-BB8A-BF110B0BB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22DBA88-7E0C-49A8-8EC6-BDF92F090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965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417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492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4083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382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1034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76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991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5708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02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8102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893F4D-62DB-4F42-A861-59A06DE1A0FA}"/>
              </a:ext>
            </a:extLst>
          </p:cNvPr>
          <p:cNvSpPr/>
          <p:nvPr userDrawn="1"/>
        </p:nvSpPr>
        <p:spPr bwMode="auto">
          <a:xfrm>
            <a:off x="8305800" y="6477000"/>
            <a:ext cx="838200" cy="3048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886200"/>
            <a:ext cx="7772400" cy="1752600"/>
          </a:xfrm>
        </p:spPr>
        <p:txBody>
          <a:bodyPr/>
          <a:lstStyle>
            <a:lvl1pPr marL="0" indent="0" algn="ctr">
              <a:buFontTx/>
              <a:buNone/>
              <a:defRPr sz="3400" i="1" smtClean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E22FCC-4917-42C1-89ED-FA0F2BEA880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6934200" y="152400"/>
            <a:ext cx="2133600" cy="304800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/>
                </a:solidFill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89B892-441A-4079-A5D7-FEDE9EAC6A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44F526-2869-4A2D-998C-DF39AC4D8B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88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F7B7E6D8-359C-4F5A-B960-180C69869A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34200" y="1524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r">
              <a:defRPr sz="1400" dirty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>
                <a:ea typeface="+mn-ea"/>
              </a:rPr>
              <a:t>Operating Systems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B5C5B0-4446-432A-97FE-D3E219D2FD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A9F027-6869-4AD2-BB4D-0D891FADAB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144C63-ACD4-44BA-A94E-5850CE8A69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764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C5C567-6EF6-4B99-9F9E-77AEE99623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70DD05-52BB-4462-A7C1-B2E9616E51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2682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077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209800"/>
            <a:ext cx="3962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09800"/>
            <a:ext cx="3962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E3EF6D-9F9D-4658-B89C-383C790B98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D1A4D5-5061-4341-9AB9-A675498A96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832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375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90837"/>
            <a:ext cx="4040188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375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890837"/>
            <a:ext cx="4041775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42D3A-62D3-4F2D-8797-3D8DF0B383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460B7A-E8BD-486E-8192-468E9C71FD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53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C870A59-8C0E-4138-88C9-F0635B8A27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8FC1D2-A899-4166-985D-59F7E11D69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45604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C3E8F9C-B8D4-4133-9E7E-B0F59387E7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EC76804-05B2-4C52-9F16-F85DA44821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2D682F-862F-4942-8783-D5B73FAABE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4170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53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2117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3008313" cy="4068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A18370-1418-458C-92AC-0393E4CE5F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C75198-6445-4847-9DAB-C2C6843423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160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914399"/>
            <a:ext cx="5486400" cy="3813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C59BD9-8FCC-4791-8873-BC405E5DA6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23AD6E-DE1A-46BB-BB82-9127F5516B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33081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E1E3E1D-FC8F-483C-B945-CDBA10765DB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001D0C-1CBF-4AF3-BD5C-0D7A2078D8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1802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990600"/>
            <a:ext cx="20193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990600"/>
            <a:ext cx="59055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E63646-81F1-40C3-9C73-10574BC707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DDCAAB-F4DE-46F2-86F0-72107F232CD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8903E5-B324-4573-BF00-8762BD6276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71289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077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2286000"/>
            <a:ext cx="3962400" cy="190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33400" y="4343400"/>
            <a:ext cx="3962400" cy="190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48200" y="2286000"/>
            <a:ext cx="3962400" cy="396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E1E30-63B9-41E6-B765-47DCCD3EE8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4A3E0-37C8-4240-B287-953712A4FE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37AE8D-9F1E-4A05-A9EB-613581A1B5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059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AA8FD5C-A504-498C-8BF8-5E83C68C5FA0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80457A3-1CEF-4DB2-B462-E0801E71D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5394849-3190-4B50-829F-480776631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B2A590E-1855-4B8D-BDB1-194F9DD4B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BF2D3C8F-9A08-4F6A-B247-9D3368AF2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9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8525A802-33FF-4576-AA6F-76B7EB1F5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9" y="6613529"/>
            <a:ext cx="2659702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FF28A3E6-FB13-4D9C-A53E-320690E2F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ABCEF9DC-753F-4B2D-B20B-C0FD79F0D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4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56808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11430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22821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91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1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58494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3948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327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5426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7018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39752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44274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1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81201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AB2481-C862-479A-9E47-E8A9A843D9BE}"/>
              </a:ext>
            </a:extLst>
          </p:cNvPr>
          <p:cNvSpPr/>
          <p:nvPr userDrawn="1"/>
        </p:nvSpPr>
        <p:spPr bwMode="auto">
          <a:xfrm>
            <a:off x="8305800" y="6477000"/>
            <a:ext cx="838200" cy="3048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828800"/>
            <a:ext cx="7772400" cy="1752600"/>
          </a:xfrm>
        </p:spPr>
        <p:txBody>
          <a:bodyPr/>
          <a:lstStyle>
            <a:lvl1pPr marL="0" indent="0" algn="ctr">
              <a:buFontTx/>
              <a:buNone/>
              <a:defRPr sz="3400" i="1" smtClean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33400" y="609600"/>
            <a:ext cx="8077200" cy="1143000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7C8F46-6F55-4CDE-B492-B8E577D5482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6934200" y="152400"/>
            <a:ext cx="2133600" cy="304800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C31187-422B-4624-A310-4C9A7342C6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9054BE1-2478-40A2-92FB-1E10FA4261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35721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ED82391-1F82-4557-BB6D-8A6CEAD1D1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34200" y="1524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r">
              <a:defRPr sz="1400" dirty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>
                <a:ea typeface="+mn-ea"/>
              </a:rPr>
              <a:t>Operating Systems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6E35E1F-D09E-4BD9-BE77-C30431828F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9A85B48-E895-439B-A18A-32616C59C0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07676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0574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533400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9B849A5-3884-414E-AC5B-33A1EE5153F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0BA4A-D651-4758-A5F6-3E5640019F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73678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8077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209800"/>
            <a:ext cx="3962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09800"/>
            <a:ext cx="3962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C4D4995-DDDA-4199-B3E1-038B1939D0F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DEB29C-0B92-4B62-A8D3-6F7E79766D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850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375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90837"/>
            <a:ext cx="4040188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375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890837"/>
            <a:ext cx="4041775" cy="34639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1411E-71E2-4CFF-B09C-15EA351F4A7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4A57C-B1B1-43DA-895F-BF40A958EE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5356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D13F704-4666-49A8-A369-ECCE59FCBC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C566C-E987-40EF-997E-81501E8D3B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58568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3EB3880-B0D0-4CBA-B5EB-5256606ABA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79733-4384-4111-BC05-FE5D0E7F6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267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53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2117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3008313" cy="4068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9E00C3-B04C-4A99-9BF9-6DF2B6F72F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F899E-D6D5-4111-9E15-16AB27E453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6699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914399"/>
            <a:ext cx="5486400" cy="3813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3F3C3F-2191-4AE5-9CDB-79A7B0C041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0A098A-F745-47E1-8026-1B7702CABD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30CFF5-1C01-4EF1-81EE-7F080DCDBB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7375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CAAAC70-5ABF-4C62-9441-A3D6FCB9F6C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AFB1776-8B8F-458E-81A3-C21AC54FC22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587DB71-F06A-40A5-A2D9-34FD7D8463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241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990600"/>
            <a:ext cx="20193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990600"/>
            <a:ext cx="59055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358A00-25ED-48A0-87A8-1AA6D79A0E5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33400" y="6477000"/>
            <a:ext cx="58674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Operating Systems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0BFBDD-4D4D-4E67-82E8-A1EDC01F8EE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41542B6-A856-4DEA-93D4-AC7CA22D54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19827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077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2286000"/>
            <a:ext cx="3962400" cy="190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33400" y="4343400"/>
            <a:ext cx="3962400" cy="190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48200" y="2286000"/>
            <a:ext cx="3962400" cy="396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D2923C-3AE0-42B4-A7BE-41F570AF45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089DC-42EB-4DFB-9757-685FDB266B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99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7C8FA16-88DA-48BB-8518-B31EA9A35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4CB746-3F34-4845-B567-6D059215F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0F97E6-9FDC-402F-8DC8-454C9819B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C6B0630-97FF-4275-A0C4-C46DDEFC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7E6339E6-7CA8-4C1A-B59B-38981F489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DA234A5-0A68-4826-A909-D75DBCC30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F5A765E-F094-4C78-97E5-B0A3D686D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B36C934D-B2BB-4ACD-8C2E-7646BEF0F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t>4.</a:t>
            </a:r>
            <a:fld id="{2DAE390B-F331-4F0F-B231-838634352CA8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  <a:cs typeface="Arial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F00D2D59-2525-4FC6-9556-461CB4915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56D92E0-C27E-431E-9D39-E0D0FFF92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74174B54-EE4B-4629-BA0E-6096259EC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9" r:id="rId1"/>
    <p:sldLayoutId id="2147484229" r:id="rId2"/>
    <p:sldLayoutId id="2147484230" r:id="rId3"/>
    <p:sldLayoutId id="2147484231" r:id="rId4"/>
    <p:sldLayoutId id="2147484232" r:id="rId5"/>
    <p:sldLayoutId id="2147484233" r:id="rId6"/>
    <p:sldLayoutId id="2147484234" r:id="rId7"/>
    <p:sldLayoutId id="2147484235" r:id="rId8"/>
    <p:sldLayoutId id="2147484236" r:id="rId9"/>
    <p:sldLayoutId id="2147484237" r:id="rId10"/>
    <p:sldLayoutId id="214748423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80000"/>
        <a:buFont typeface="MS PGothic" panose="020B0600070205080204" pitchFamily="34" charset="-128"/>
        <a:buChar char="■"/>
        <a:defRPr kumimoji="1" sz="22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30000"/>
        <a:buFont typeface="Symbol" panose="05050102010706020507" pitchFamily="18" charset="2"/>
        <a:buChar char="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0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olded Corner 10">
            <a:extLst>
              <a:ext uri="{FF2B5EF4-FFF2-40B4-BE49-F238E27FC236}">
                <a16:creationId xmlns:a16="http://schemas.microsoft.com/office/drawing/2014/main" id="{2FE612D7-106A-4031-A5BD-69FA64322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8839200" cy="6096000"/>
          </a:xfrm>
          <a:prstGeom prst="foldedCorner">
            <a:avLst>
              <a:gd name="adj" fmla="val 16667"/>
            </a:avLst>
          </a:prstGeom>
          <a:noFill/>
          <a:ln w="127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5CA48AF7-606D-4DEE-A997-1B129E427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0668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191769D0-23F5-46CE-A20A-35C0130D5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2286000"/>
            <a:ext cx="8077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EB14222-6118-4435-89B8-AB075820E2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77000"/>
            <a:ext cx="2057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6CF947-326B-4BF6-8237-610E07E179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20B74F-9868-4256-B0B2-4A2145C17535}"/>
              </a:ext>
            </a:extLst>
          </p:cNvPr>
          <p:cNvSpPr/>
          <p:nvPr/>
        </p:nvSpPr>
        <p:spPr bwMode="auto">
          <a:xfrm>
            <a:off x="0" y="76200"/>
            <a:ext cx="9144000" cy="4572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6F64A73-74BD-4B3B-A34A-57DFD3E6145E}"/>
              </a:ext>
            </a:extLst>
          </p:cNvPr>
          <p:cNvSpPr txBox="1">
            <a:spLocks noChangeArrowheads="1"/>
          </p:cNvSpPr>
          <p:nvPr/>
        </p:nvSpPr>
        <p:spPr>
          <a:xfrm>
            <a:off x="6934200" y="152400"/>
            <a:ext cx="2133600" cy="304800"/>
          </a:xfrm>
          <a:prstGeom prst="rect">
            <a:avLst/>
          </a:prstGeom>
        </p:spPr>
        <p:txBody>
          <a:bodyPr/>
          <a:lstStyle>
            <a:lvl1pPr algn="r">
              <a:defRPr sz="1400" dirty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>
                <a:ea typeface="+mn-ea"/>
              </a:rPr>
              <a:t>Operating Systems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85FCA0-484A-4DD3-8C24-2D384FC32CB4}"/>
              </a:ext>
            </a:extLst>
          </p:cNvPr>
          <p:cNvSpPr/>
          <p:nvPr/>
        </p:nvSpPr>
        <p:spPr bwMode="auto">
          <a:xfrm rot="16200000">
            <a:off x="-609600" y="5867400"/>
            <a:ext cx="1676400" cy="304800"/>
          </a:xfrm>
          <a:prstGeom prst="rect">
            <a:avLst/>
          </a:prstGeom>
          <a:gradFill flip="none" rotWithShape="1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>
              <a:defRPr/>
            </a:pPr>
            <a:r>
              <a:rPr lang="en-US" sz="1400" b="1" dirty="0">
                <a:latin typeface="+mn-lt"/>
                <a:ea typeface="+mn-ea"/>
              </a:rPr>
              <a:t>Chapter</a:t>
            </a:r>
            <a:r>
              <a:rPr lang="en-US" sz="1400" dirty="0">
                <a:latin typeface="+mn-lt"/>
                <a:ea typeface="+mn-ea"/>
              </a:rPr>
              <a:t>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9DC17-6279-47BD-BB06-C071FA8ADD38}"/>
              </a:ext>
            </a:extLst>
          </p:cNvPr>
          <p:cNvSpPr/>
          <p:nvPr/>
        </p:nvSpPr>
        <p:spPr bwMode="auto">
          <a:xfrm>
            <a:off x="8305800" y="6477000"/>
            <a:ext cx="838200" cy="3048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1040" name="Rectangle 11">
            <a:extLst>
              <a:ext uri="{FF2B5EF4-FFF2-40B4-BE49-F238E27FC236}">
                <a16:creationId xmlns:a16="http://schemas.microsoft.com/office/drawing/2014/main" id="{40166C7A-E36E-4801-87B9-5F5B1B810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3400"/>
            <a:ext cx="2362200" cy="381000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041" name="Picture 24" descr="UTM-English.gif">
            <a:extLst>
              <a:ext uri="{FF2B5EF4-FFF2-40B4-BE49-F238E27FC236}">
                <a16:creationId xmlns:a16="http://schemas.microsoft.com/office/drawing/2014/main" id="{654ED199-FDA0-421F-B69E-DA211CA2864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22098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699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1" r:id="rId1"/>
    <p:sldLayoutId id="2147484242" r:id="rId2"/>
    <p:sldLayoutId id="2147484243" r:id="rId3"/>
    <p:sldLayoutId id="2147484244" r:id="rId4"/>
    <p:sldLayoutId id="2147484245" r:id="rId5"/>
    <p:sldLayoutId id="2147484246" r:id="rId6"/>
    <p:sldLayoutId id="2147484247" r:id="rId7"/>
    <p:sldLayoutId id="2147484248" r:id="rId8"/>
    <p:sldLayoutId id="2147484249" r:id="rId9"/>
    <p:sldLayoutId id="2147484250" r:id="rId10"/>
    <p:sldLayoutId id="2147484251" r:id="rId11"/>
    <p:sldLayoutId id="214748425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BED6BABF-A84B-410C-9B5B-C8321F036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1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0186CCB0-6597-4144-A7EA-AE71543CF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2A3EDCB-CA56-4023-B747-8869CDCE7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91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741F804-AB77-4A8E-81C6-F472EEAC2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7C01D1B-73DD-4F94-AB5C-51309745D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1D99091-E241-4D26-8B11-D3F850A9E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DDF96F7-4A80-45E6-91CA-65FD8CA27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44C5C23-F9C8-4764-9612-2E9A866FA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149" y="6613529"/>
            <a:ext cx="447558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3.</a:t>
            </a:r>
            <a:fld id="{8715AA44-28DA-4DD7-A4D6-827E8FAC5848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1C28BD06-F089-43C9-986D-6DDF625D9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9"/>
            <a:ext cx="2713038" cy="2444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155B3C38-3E5E-4513-A7EE-677D04D8F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7"/>
            <a:ext cx="2659702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F882C5FC-23A0-42EC-A667-EB0048C7C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90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357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 sz="22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0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olded Corner 10">
            <a:extLst>
              <a:ext uri="{FF2B5EF4-FFF2-40B4-BE49-F238E27FC236}">
                <a16:creationId xmlns:a16="http://schemas.microsoft.com/office/drawing/2014/main" id="{0352F3D2-E100-4E69-A288-C35F0139DB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609600"/>
            <a:ext cx="8839200" cy="6096000"/>
          </a:xfrm>
          <a:prstGeom prst="foldedCorner">
            <a:avLst>
              <a:gd name="adj" fmla="val 16667"/>
            </a:avLst>
          </a:prstGeom>
          <a:noFill/>
          <a:ln w="127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4BB87FCC-BD5B-442C-9C70-38D6106E7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0668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75FFA962-42E1-4979-96CF-E96FB7CDE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2286000"/>
            <a:ext cx="8077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0EB7C7B-5CA2-49DE-9BF0-154777FD9AF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77000"/>
            <a:ext cx="2057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chemeClr val="bg1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8784EEC8-74ED-4BD3-B4B1-C457112B44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AD2481-9EC1-4F6F-96F1-51F6442ED643}"/>
              </a:ext>
            </a:extLst>
          </p:cNvPr>
          <p:cNvSpPr/>
          <p:nvPr userDrawn="1"/>
        </p:nvSpPr>
        <p:spPr bwMode="auto">
          <a:xfrm>
            <a:off x="0" y="76200"/>
            <a:ext cx="9144000" cy="4572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AA1EB9F-2A87-4490-92E3-412F7FCAD774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6934200" y="152400"/>
            <a:ext cx="2133600" cy="304800"/>
          </a:xfrm>
          <a:prstGeom prst="rect">
            <a:avLst/>
          </a:prstGeom>
        </p:spPr>
        <p:txBody>
          <a:bodyPr/>
          <a:lstStyle>
            <a:lvl1pPr algn="r">
              <a:defRPr sz="1400" dirty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>
                <a:ea typeface="+mn-ea"/>
              </a:rPr>
              <a:t>Operating Systems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FDCC9-D649-4F69-98F5-9769D5AE488C}"/>
              </a:ext>
            </a:extLst>
          </p:cNvPr>
          <p:cNvSpPr/>
          <p:nvPr userDrawn="1"/>
        </p:nvSpPr>
        <p:spPr bwMode="auto">
          <a:xfrm rot="16200000">
            <a:off x="-609600" y="5867400"/>
            <a:ext cx="1676400" cy="304800"/>
          </a:xfrm>
          <a:prstGeom prst="rect">
            <a:avLst/>
          </a:prstGeom>
          <a:gradFill flip="none" rotWithShape="1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r">
              <a:defRPr/>
            </a:pPr>
            <a:r>
              <a:rPr lang="en-US" sz="1400" b="1" dirty="0">
                <a:solidFill>
                  <a:schemeClr val="bg1"/>
                </a:solidFill>
                <a:latin typeface="+mn-lt"/>
                <a:ea typeface="+mn-ea"/>
              </a:rPr>
              <a:t>Chapter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A8FA0A-BCE1-4872-BC85-E110EA8E7651}"/>
              </a:ext>
            </a:extLst>
          </p:cNvPr>
          <p:cNvSpPr/>
          <p:nvPr userDrawn="1"/>
        </p:nvSpPr>
        <p:spPr bwMode="auto">
          <a:xfrm>
            <a:off x="8305800" y="6477000"/>
            <a:ext cx="838200" cy="304800"/>
          </a:xfrm>
          <a:prstGeom prst="rect">
            <a:avLst/>
          </a:prstGeom>
          <a:gradFill flip="none" rotWithShape="0">
            <a:gsLst>
              <a:gs pos="31000">
                <a:schemeClr val="accent6">
                  <a:lumMod val="50000"/>
                </a:schemeClr>
              </a:gs>
              <a:gs pos="0">
                <a:schemeClr val="accent6">
                  <a:lumMod val="5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/>
          </a:gra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100" i="1">
              <a:ea typeface="+mn-ea"/>
            </a:endParaRPr>
          </a:p>
        </p:txBody>
      </p:sp>
      <p:sp>
        <p:nvSpPr>
          <p:cNvPr id="1040" name="Rectangle 11">
            <a:extLst>
              <a:ext uri="{FF2B5EF4-FFF2-40B4-BE49-F238E27FC236}">
                <a16:creationId xmlns:a16="http://schemas.microsoft.com/office/drawing/2014/main" id="{BDBE3E30-C628-4333-A7CB-A38BAA734A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33400"/>
            <a:ext cx="23622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1041" name="Picture 24" descr="UTM-English.gif">
            <a:extLst>
              <a:ext uri="{FF2B5EF4-FFF2-40B4-BE49-F238E27FC236}">
                <a16:creationId xmlns:a16="http://schemas.microsoft.com/office/drawing/2014/main" id="{DE9BFE0E-04CF-46F4-8BC6-4916780C7C2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2209800" cy="75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36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6" r:id="rId1"/>
    <p:sldLayoutId id="2147484267" r:id="rId2"/>
    <p:sldLayoutId id="2147484268" r:id="rId3"/>
    <p:sldLayoutId id="2147484269" r:id="rId4"/>
    <p:sldLayoutId id="2147484270" r:id="rId5"/>
    <p:sldLayoutId id="2147484271" r:id="rId6"/>
    <p:sldLayoutId id="2147484272" r:id="rId7"/>
    <p:sldLayoutId id="2147484273" r:id="rId8"/>
    <p:sldLayoutId id="2147484274" r:id="rId9"/>
    <p:sldLayoutId id="2147484275" r:id="rId10"/>
    <p:sldLayoutId id="2147484276" r:id="rId11"/>
    <p:sldLayoutId id="214748427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70C0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5BFFC25-4191-4D57-9632-74A07A9B9A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4:  Threads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0FEC95B-2254-4B78-8F1D-EEBE707BD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4: Threads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594E3BF-D53D-447D-8654-3822F3AE7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1.1 Overview</a:t>
            </a:r>
          </a:p>
          <a:p>
            <a:r>
              <a:rPr lang="en-US" altLang="en-US" dirty="0"/>
              <a:t>1.2 Multicore Programming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OBJECTIVES</a:t>
            </a:r>
          </a:p>
          <a:p>
            <a:r>
              <a:rPr lang="en-US" altLang="en-US" dirty="0"/>
              <a:t>To introduce the notion of a thread—a fundamental unit of CPU utilization that forms the basis of multithreaded computer systems</a:t>
            </a:r>
          </a:p>
          <a:p>
            <a:pPr>
              <a:buFont typeface="Monotype Sorts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187FCC-48BF-4C6E-AD20-FC5CA033E8B0}"/>
              </a:ext>
            </a:extLst>
          </p:cNvPr>
          <p:cNvSpPr/>
          <p:nvPr/>
        </p:nvSpPr>
        <p:spPr bwMode="auto">
          <a:xfrm>
            <a:off x="2133601" y="2476500"/>
            <a:ext cx="2895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7D741C-1998-4FF4-95A5-A998E483935B}"/>
              </a:ext>
            </a:extLst>
          </p:cNvPr>
          <p:cNvSpPr/>
          <p:nvPr/>
        </p:nvSpPr>
        <p:spPr bwMode="auto">
          <a:xfrm>
            <a:off x="1981200" y="4913107"/>
            <a:ext cx="5181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BBCD76B3-DA2A-4190-9BD1-36FD32CB2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829696"/>
            <a:ext cx="8229600" cy="4647304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i="1" dirty="0">
                <a:solidFill>
                  <a:srgbClr val="3366FF"/>
                </a:solidFill>
              </a:rPr>
              <a:t>Thread</a:t>
            </a:r>
            <a:r>
              <a:rPr lang="en-US" altLang="en-US" i="1" dirty="0"/>
              <a:t>:</a:t>
            </a:r>
            <a:r>
              <a:rPr lang="en-US" altLang="en-US" dirty="0"/>
              <a:t> a basic unit of CPU utilization;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It composes of: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en-US" sz="2400" i="1" dirty="0">
                <a:latin typeface="Arial" panose="020B0604020202020204" pitchFamily="34" charset="0"/>
              </a:rPr>
              <a:t>Program counter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en-US" sz="2400" i="1" dirty="0">
                <a:latin typeface="Arial" panose="020B0604020202020204" pitchFamily="34" charset="0"/>
              </a:rPr>
              <a:t>Set of registers 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en-US" sz="2400" i="1" dirty="0">
                <a:latin typeface="Arial" panose="020B0604020202020204" pitchFamily="34" charset="0"/>
              </a:rPr>
              <a:t>Stack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A thread has its own thread ID.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Thread shares the following items with other threads that are created in the same process: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</a:rPr>
              <a:t>code section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</a:rPr>
              <a:t>data section</a:t>
            </a:r>
          </a:p>
          <a:p>
            <a:pPr lvl="4"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</a:rPr>
              <a:t>Other operating system resources</a:t>
            </a:r>
          </a:p>
        </p:txBody>
      </p:sp>
      <p:sp>
        <p:nvSpPr>
          <p:cNvPr id="29701" name="Rectangle 2">
            <a:extLst>
              <a:ext uri="{FF2B5EF4-FFF2-40B4-BE49-F238E27FC236}">
                <a16:creationId xmlns:a16="http://schemas.microsoft.com/office/drawing/2014/main" id="{B9C98F2A-0233-4935-AF83-D18E508C6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Thread</a:t>
            </a:r>
          </a:p>
        </p:txBody>
      </p:sp>
      <p:sp>
        <p:nvSpPr>
          <p:cNvPr id="29702" name="Slide Number Placeholder 3">
            <a:extLst>
              <a:ext uri="{FF2B5EF4-FFF2-40B4-BE49-F238E27FC236}">
                <a16:creationId xmlns:a16="http://schemas.microsoft.com/office/drawing/2014/main" id="{96B15D1F-1189-4A81-8168-D1069AE5C3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6A7D73-8149-4AF1-924C-354CFEE6599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642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CB7C473-94E0-4CBA-9E4E-407495A5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r>
              <a:rPr lang="en-US" altLang="en-US" dirty="0"/>
              <a:t>4.1.1		Motivation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62C7A3E-3F35-470F-8EEA-1405F44B6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6813550" cy="4530725"/>
          </a:xfrm>
        </p:spPr>
        <p:txBody>
          <a:bodyPr/>
          <a:lstStyle/>
          <a:p>
            <a:r>
              <a:rPr lang="en-US" altLang="en-US" dirty="0"/>
              <a:t>Most modern applications are multithreaded</a:t>
            </a:r>
          </a:p>
          <a:p>
            <a:r>
              <a:rPr lang="en-US" altLang="en-US" dirty="0"/>
              <a:t>Threads run within application</a:t>
            </a:r>
          </a:p>
          <a:p>
            <a:r>
              <a:rPr lang="en-US" altLang="en-US" dirty="0"/>
              <a:t>Multiple tasks with the application can be implemented by separate threads</a:t>
            </a:r>
          </a:p>
          <a:p>
            <a:pPr lvl="1"/>
            <a:r>
              <a:rPr lang="en-US" altLang="en-US" dirty="0"/>
              <a:t>Update display</a:t>
            </a:r>
          </a:p>
          <a:p>
            <a:pPr lvl="1"/>
            <a:r>
              <a:rPr lang="en-US" altLang="en-US" dirty="0"/>
              <a:t>Fetch data</a:t>
            </a:r>
          </a:p>
          <a:p>
            <a:pPr lvl="1"/>
            <a:r>
              <a:rPr lang="en-US" altLang="en-US" dirty="0"/>
              <a:t>Spell checking</a:t>
            </a:r>
          </a:p>
          <a:p>
            <a:pPr lvl="1"/>
            <a:r>
              <a:rPr lang="en-US" altLang="en-US" dirty="0"/>
              <a:t>Answer a network request</a:t>
            </a:r>
          </a:p>
          <a:p>
            <a:r>
              <a:rPr lang="en-US" altLang="en-US" dirty="0"/>
              <a:t>Process creation is heavy-weight while thread creation is light-weight</a:t>
            </a:r>
          </a:p>
          <a:p>
            <a:r>
              <a:rPr lang="en-US" altLang="en-US" dirty="0"/>
              <a:t>Can simplify code, increase efficiency</a:t>
            </a:r>
          </a:p>
          <a:p>
            <a:r>
              <a:rPr lang="en-US" altLang="en-US" dirty="0"/>
              <a:t>Kernels are generally multithreaded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85C3D56-EE47-4B24-95B5-AD12058AE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347" y="2167812"/>
            <a:ext cx="2221454" cy="2100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95A7A168-4138-4A20-93AE-442C071C4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5" y="4691063"/>
            <a:ext cx="15748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8B18C071-6BD7-454C-BC19-D3A330BC8E2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D7D528-401B-41C7-AAFA-B7546A3A860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2BB86E44-32A4-4600-8285-F1FA2EF3C5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077200" cy="4572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Multiple actions executing simultaneously</a:t>
            </a:r>
          </a:p>
          <a:p>
            <a:pPr marL="914400" lvl="1" indent="-457200">
              <a:lnSpc>
                <a:spcPct val="90000"/>
              </a:lnSpc>
              <a:buFontTx/>
              <a:buAutoNum type="alphaLcParenR"/>
            </a:pPr>
            <a:r>
              <a:rPr lang="en-US" altLang="en-US" b="1" dirty="0"/>
              <a:t>Heavyweight process </a:t>
            </a:r>
            <a:r>
              <a:rPr lang="en-US" altLang="en-US" dirty="0"/>
              <a:t>(traditional process)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Owns the resources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Passive element</a:t>
            </a:r>
          </a:p>
          <a:p>
            <a:pPr marL="914400" lvl="1" indent="-457200">
              <a:lnSpc>
                <a:spcPct val="90000"/>
              </a:lnSpc>
              <a:buFontTx/>
              <a:buAutoNum type="alphaLcParenR"/>
            </a:pPr>
            <a:r>
              <a:rPr lang="en-US" altLang="en-US" b="1" dirty="0"/>
              <a:t>Lightweight process </a:t>
            </a:r>
            <a:r>
              <a:rPr lang="en-US" altLang="en-US" dirty="0"/>
              <a:t>(</a:t>
            </a:r>
            <a:r>
              <a:rPr lang="en-US" altLang="en-US" dirty="0">
                <a:solidFill>
                  <a:srgbClr val="0070C0"/>
                </a:solidFill>
              </a:rPr>
              <a:t>Thread</a:t>
            </a:r>
            <a:r>
              <a:rPr lang="en-US" altLang="en-US" dirty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Uses CPU and scheduled for execution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Active element</a:t>
            </a:r>
          </a:p>
          <a:p>
            <a:pPr marL="914400" lvl="1" indent="-457200">
              <a:lnSpc>
                <a:spcPct val="90000"/>
              </a:lnSpc>
              <a:buFontTx/>
              <a:buAutoNum type="alphaLcParenR"/>
            </a:pPr>
            <a:r>
              <a:rPr lang="en-US" altLang="en-US" b="1" dirty="0"/>
              <a:t>Multithreaded applications </a:t>
            </a:r>
            <a:r>
              <a:rPr lang="en-US" altLang="en-US" dirty="0"/>
              <a:t>programs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Contain several threads running at one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Same or different priorities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Examples: 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Web browsers and time-sharing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EFA6F9-1603-4BF8-9AA7-B55AEDF21BE9}"/>
              </a:ext>
            </a:extLst>
          </p:cNvPr>
          <p:cNvSpPr/>
          <p:nvPr/>
        </p:nvSpPr>
        <p:spPr bwMode="auto">
          <a:xfrm>
            <a:off x="7467600" y="2286000"/>
            <a:ext cx="1447800" cy="762000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  <a:cs typeface="ＭＳ Ｐゴシック" charset="0"/>
              </a:rPr>
              <a:t>Processes with multiple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  <a:cs typeface="ＭＳ Ｐゴシック" charset="0"/>
              </a:rPr>
              <a:t>subprocesses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/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83A15-CC07-4161-9F3B-3AFE75E95C6E}"/>
              </a:ext>
            </a:extLst>
          </p:cNvPr>
          <p:cNvSpPr/>
          <p:nvPr/>
        </p:nvSpPr>
        <p:spPr bwMode="auto">
          <a:xfrm>
            <a:off x="7467600" y="3581400"/>
            <a:ext cx="1447800" cy="609600"/>
          </a:xfrm>
          <a:prstGeom prst="rect">
            <a:avLst/>
          </a:prstGeom>
          <a:solidFill>
            <a:srgbClr val="FFFF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  <a:cs typeface="ＭＳ Ｐゴシック" charset="0"/>
              </a:rPr>
              <a:t>Proces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ＭＳ Ｐゴシック" charset="0"/>
                <a:cs typeface="ＭＳ Ｐゴシック" charset="0"/>
              </a:rPr>
              <a:t> with multiple threads</a:t>
            </a:r>
          </a:p>
        </p:txBody>
      </p:sp>
    </p:spTree>
    <p:extLst>
      <p:ext uri="{BB962C8B-B14F-4D97-AF65-F5344CB8AC3E}">
        <p14:creationId xmlns:p14="http://schemas.microsoft.com/office/powerpoint/2010/main" val="2237539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4DA80CA-1C8B-4FA1-BFFB-E1AABE142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696200" cy="990600"/>
          </a:xfrm>
        </p:spPr>
        <p:txBody>
          <a:bodyPr/>
          <a:lstStyle/>
          <a:p>
            <a:pPr eaLnBrk="1" hangingPunct="1"/>
            <a:r>
              <a:rPr lang="en-US" altLang="en-US" sz="3200"/>
              <a:t>Components of Threads vs. Process</a:t>
            </a:r>
            <a:endParaRPr lang="en-US" altLang="en-US" sz="290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6D6821E-8E57-4E43-8E08-C70BA9733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5099050"/>
            <a:ext cx="7696200" cy="1149350"/>
          </a:xfrm>
        </p:spPr>
        <p:txBody>
          <a:bodyPr/>
          <a:lstStyle/>
          <a:p>
            <a:pPr eaLnBrk="1" hangingPunct="1"/>
            <a:r>
              <a:rPr lang="en-US" altLang="en-US"/>
              <a:t>Items shared by all threads in a </a:t>
            </a:r>
            <a:r>
              <a:rPr lang="en-US" altLang="en-US">
                <a:solidFill>
                  <a:srgbClr val="0070C0"/>
                </a:solidFill>
              </a:rPr>
              <a:t>process</a:t>
            </a:r>
          </a:p>
          <a:p>
            <a:pPr eaLnBrk="1" hangingPunct="1"/>
            <a:r>
              <a:rPr lang="en-US" altLang="en-US"/>
              <a:t>Items private to each </a:t>
            </a:r>
            <a:r>
              <a:rPr lang="en-US" altLang="en-US">
                <a:solidFill>
                  <a:srgbClr val="0070C0"/>
                </a:solidFill>
              </a:rPr>
              <a:t>thread</a:t>
            </a: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88AECBB6-1476-4BA0-9798-E0070E4A8F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03EFB1-F205-449F-A184-C7B89FD1C888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1749" name="Picture 2">
            <a:extLst>
              <a:ext uri="{FF2B5EF4-FFF2-40B4-BE49-F238E27FC236}">
                <a16:creationId xmlns:a16="http://schemas.microsoft.com/office/drawing/2014/main" id="{B485F214-F7E7-46F8-862B-E7F40ECD5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524000"/>
            <a:ext cx="768667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404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FDF6801-E78E-4898-84C2-35FF40D03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9175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Single and Multithreaded Processes</a:t>
            </a:r>
          </a:p>
        </p:txBody>
      </p:sp>
      <p:pic>
        <p:nvPicPr>
          <p:cNvPr id="7171" name="Picture 1" descr="4_01.pdf">
            <a:extLst>
              <a:ext uri="{FF2B5EF4-FFF2-40B4-BE49-F238E27FC236}">
                <a16:creationId xmlns:a16="http://schemas.microsoft.com/office/drawing/2014/main" id="{231424E7-ABD5-4F95-AF4A-4AD9D65B9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295400"/>
            <a:ext cx="6884988" cy="446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EEE15D-ADDA-4BA5-83C3-D794D2A1C6A3}"/>
              </a:ext>
            </a:extLst>
          </p:cNvPr>
          <p:cNvSpPr txBox="1"/>
          <p:nvPr/>
        </p:nvSpPr>
        <p:spPr>
          <a:xfrm>
            <a:off x="2006353" y="5850384"/>
            <a:ext cx="565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4.1</a:t>
            </a:r>
            <a:endParaRPr lang="en-MY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578D3EB-C4E0-4576-B8EB-26A21A3C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35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Multithreaded Server Architecture</a:t>
            </a:r>
          </a:p>
        </p:txBody>
      </p:sp>
      <p:pic>
        <p:nvPicPr>
          <p:cNvPr id="8195" name="Picture 1" descr="4_02.pdf">
            <a:extLst>
              <a:ext uri="{FF2B5EF4-FFF2-40B4-BE49-F238E27FC236}">
                <a16:creationId xmlns:a16="http://schemas.microsoft.com/office/drawing/2014/main" id="{AA59DDD0-D700-4E9A-8FED-59329C9C5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1443038"/>
            <a:ext cx="6397625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96B663-AD43-4467-AD6E-CAD3D3028D3E}"/>
              </a:ext>
            </a:extLst>
          </p:cNvPr>
          <p:cNvSpPr txBox="1"/>
          <p:nvPr/>
        </p:nvSpPr>
        <p:spPr>
          <a:xfrm>
            <a:off x="1935332" y="4243526"/>
            <a:ext cx="565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</a:t>
            </a:r>
            <a:r>
              <a:rPr lang="en-US" dirty="0" smtClean="0"/>
              <a:t>4.2 Refer to page164-165</a:t>
            </a:r>
            <a:endParaRPr lang="en-MY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4466478-11F4-4F12-8698-EB1CDDE7B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8382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/>
              <a:t>Applications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9FA8A2A-7DA6-4B3F-A2D3-8FB33D9ED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0772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Use by many software packages that run on modern desktop PCs.</a:t>
            </a: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6AD2A26F-0E8A-474C-8503-A72AA106CF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B71CF3-5E54-4ED1-B3D4-A17093965B8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2951FF-AD8C-44B6-901F-CF85EF808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750811"/>
              </p:ext>
            </p:extLst>
          </p:nvPr>
        </p:nvGraphicFramePr>
        <p:xfrm>
          <a:off x="685800" y="2971800"/>
          <a:ext cx="80010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0" i="1" dirty="0">
                          <a:solidFill>
                            <a:srgbClr val="0070C0"/>
                          </a:solidFill>
                        </a:rPr>
                        <a:t>Word Processor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a thread for displaying graphic, another thread for reading keystrokes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0" i="1" dirty="0">
                          <a:solidFill>
                            <a:srgbClr val="0070C0"/>
                          </a:solidFill>
                        </a:rPr>
                        <a:t>Web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one thread displays image or text, while another thread retrieves data from the network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0" i="1" dirty="0">
                          <a:solidFill>
                            <a:srgbClr val="0070C0"/>
                          </a:solidFill>
                        </a:rPr>
                        <a:t>Web server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when server receives a request, a thread will be created to service that request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722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2CFA9B7-6191-4A67-9444-AE7E9B6F7B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013" y="415925"/>
            <a:ext cx="6951662" cy="312738"/>
          </a:xfrm>
        </p:spPr>
        <p:txBody>
          <a:bodyPr/>
          <a:lstStyle/>
          <a:p>
            <a:pPr eaLnBrk="1" hangingPunct="1"/>
            <a:r>
              <a:rPr lang="en-US" altLang="en-US" dirty="0"/>
              <a:t>4.1.2		Benefits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DCD5A10-7EBE-41A3-ADAE-637FE8763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2428" y="1233488"/>
            <a:ext cx="7960659" cy="4530725"/>
          </a:xfrm>
        </p:spPr>
        <p:txBody>
          <a:bodyPr/>
          <a:lstStyle/>
          <a:p>
            <a:r>
              <a:rPr lang="en-US" altLang="en-US" b="1" dirty="0"/>
              <a:t>Responsiveness – </a:t>
            </a:r>
            <a:r>
              <a:rPr lang="en-US" altLang="en-US" dirty="0"/>
              <a:t>may allow continued execution if part of process is blocked, especially important for user interfaces.</a:t>
            </a:r>
          </a:p>
          <a:p>
            <a:endParaRPr lang="en-US" altLang="en-US" dirty="0"/>
          </a:p>
          <a:p>
            <a:pPr algn="just"/>
            <a:r>
              <a:rPr lang="en-US" altLang="en-US" b="1" dirty="0"/>
              <a:t>Resource Sharing – </a:t>
            </a:r>
            <a:r>
              <a:rPr lang="en-US" altLang="en-US" dirty="0"/>
              <a:t>threads share resources of process, easier than shared memory or message passing.</a:t>
            </a:r>
          </a:p>
          <a:p>
            <a:endParaRPr lang="en-US" altLang="en-US" dirty="0"/>
          </a:p>
          <a:p>
            <a:pPr algn="just"/>
            <a:r>
              <a:rPr lang="en-US" altLang="en-US" b="1" dirty="0"/>
              <a:t>Economy – </a:t>
            </a:r>
            <a:r>
              <a:rPr lang="en-US" altLang="en-US" dirty="0"/>
              <a:t>cheaper than process creation, thread switching lower overhead than context switching.</a:t>
            </a:r>
          </a:p>
          <a:p>
            <a:endParaRPr lang="en-US" altLang="en-US" dirty="0"/>
          </a:p>
          <a:p>
            <a:r>
              <a:rPr lang="en-US" altLang="en-US" b="1" dirty="0"/>
              <a:t>Scalability – </a:t>
            </a:r>
            <a:r>
              <a:rPr lang="en-US" altLang="en-US" dirty="0"/>
              <a:t>process can take advantage of multiprocessor architectures.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CDBE3135-A4E8-4DEB-9C8A-305238E0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176213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4.2	Multicore Programming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5EF32754-8F19-4F34-BC13-BD352F917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98" y="1163637"/>
            <a:ext cx="8127402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Multi-CPU systems</a:t>
            </a:r>
            <a:r>
              <a:rPr lang="en-US" altLang="en-US" dirty="0"/>
              <a:t>.  Multiple CPUs are placed in the computer to provide more computing performance.  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Multicore systems</a:t>
            </a:r>
            <a:r>
              <a:rPr lang="en-US" altLang="en-US" dirty="0"/>
              <a:t>. Multiple computing cores are placed on a single processing chip where each core appears as a separate CPU to the operating system</a:t>
            </a:r>
          </a:p>
          <a:p>
            <a:r>
              <a:rPr lang="en-US" altLang="en-US" dirty="0"/>
              <a:t>Multithreaded programming provides a mechanism for more efficient use of these multiple computing cores and improved concurrency.</a:t>
            </a:r>
          </a:p>
          <a:p>
            <a:r>
              <a:rPr lang="en-US" altLang="en-US" dirty="0"/>
              <a:t>Consider an application with four threads. </a:t>
            </a:r>
          </a:p>
          <a:p>
            <a:pPr lvl="1"/>
            <a:r>
              <a:rPr lang="en-US" altLang="en-US" sz="2000" dirty="0"/>
              <a:t>On a system with a single computing core, concurrency means that the execution of the threads will be interleaved over time. </a:t>
            </a:r>
          </a:p>
          <a:p>
            <a:pPr lvl="1"/>
            <a:r>
              <a:rPr lang="en-US" altLang="en-US" sz="2000" dirty="0"/>
              <a:t>On a system with multiple cores, however, concurrency means that some threads can run in parallel, because the system can assign a separate thread to each core</a:t>
            </a:r>
          </a:p>
          <a:p>
            <a:pPr>
              <a:buFont typeface="Monotype Sorts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F378B2A-75EB-4276-A9FC-738173DA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176213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Multicore Programming (Cont.)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672205BD-8702-4EF2-823F-74E924827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650" y="1208088"/>
            <a:ext cx="7673975" cy="4530725"/>
          </a:xfrm>
        </p:spPr>
        <p:txBody>
          <a:bodyPr/>
          <a:lstStyle/>
          <a:p>
            <a:r>
              <a:rPr lang="en-US" altLang="en-US" dirty="0"/>
              <a:t>There is a fine but clear distinction between concurrency and parallelism.</a:t>
            </a:r>
          </a:p>
          <a:p>
            <a:endParaRPr lang="en-US" altLang="en-US" dirty="0"/>
          </a:p>
          <a:p>
            <a:r>
              <a:rPr lang="en-US" altLang="en-US" dirty="0"/>
              <a:t>A concurrent system supports more than one task by allowing all the tasks to make progress.</a:t>
            </a:r>
          </a:p>
          <a:p>
            <a:endParaRPr lang="en-US" altLang="en-US" dirty="0"/>
          </a:p>
          <a:p>
            <a:r>
              <a:rPr lang="en-US" altLang="en-US" dirty="0"/>
              <a:t>In contrast, a system is parallel if it can perform more than one task simultaneously.</a:t>
            </a:r>
          </a:p>
          <a:p>
            <a:endParaRPr lang="en-US" altLang="en-US" dirty="0"/>
          </a:p>
          <a:p>
            <a:r>
              <a:rPr lang="en-US" altLang="en-US" dirty="0"/>
              <a:t>Thus, it is possible to have concurrency without parallelism</a:t>
            </a:r>
          </a:p>
          <a:p>
            <a:pPr lvl="1">
              <a:buFont typeface="Monotype Sorts"/>
              <a:buNone/>
            </a:pPr>
            <a:endParaRPr lang="en-US" altLang="en-US" dirty="0"/>
          </a:p>
          <a:p>
            <a:pPr lvl="1">
              <a:buFont typeface="Monotype Sorts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F8075A1-1FF5-423A-B551-C94903AE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176213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Multicore Programming (Cont.)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D7406BB5-5CE4-41EF-B6A5-EC899AB1F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7156450" cy="4530725"/>
          </a:xfrm>
        </p:spPr>
        <p:txBody>
          <a:bodyPr/>
          <a:lstStyle/>
          <a:p>
            <a:r>
              <a:rPr lang="en-US" altLang="en-US" dirty="0"/>
              <a:t>Types of parallelism 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Data parallelism</a:t>
            </a:r>
            <a:r>
              <a:rPr lang="en-US" altLang="en-US" dirty="0"/>
              <a:t> – distributes subsets of the same data across multiple cores, same operation on each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Task parallelism </a:t>
            </a:r>
            <a:r>
              <a:rPr lang="en-US" altLang="en-US" dirty="0"/>
              <a:t>– distributing threads across cores, each thread performing unique operation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As number of threads grows, so does architectural support for threading</a:t>
            </a:r>
          </a:p>
          <a:p>
            <a:pPr lvl="1"/>
            <a:r>
              <a:rPr lang="en-US" altLang="en-US" dirty="0"/>
              <a:t>CPUs have cores as well as </a:t>
            </a:r>
            <a:r>
              <a:rPr lang="en-US" altLang="en-US" b="1" i="1" dirty="0"/>
              <a:t>hardware threads</a:t>
            </a:r>
          </a:p>
          <a:p>
            <a:pPr lvl="1"/>
            <a:r>
              <a:rPr lang="en-US" altLang="en-US" dirty="0"/>
              <a:t>Consider Oracle SPARC T4 with 8 cores, and 8 hardware threads per core</a:t>
            </a:r>
          </a:p>
          <a:p>
            <a:pPr lvl="1"/>
            <a:endParaRPr lang="en-US" altLang="en-US" dirty="0"/>
          </a:p>
          <a:p>
            <a:pPr lvl="1">
              <a:buFont typeface="Monotype Sorts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A278223E-45CB-47C6-A079-B23A9A61F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825" y="176213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Multicore Programming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AC809B34-1E6A-4F26-BA14-885B8A8BA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208088"/>
            <a:ext cx="8057198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Multicore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multiprocessor</a:t>
            </a:r>
            <a:r>
              <a:rPr lang="en-US" altLang="en-US" dirty="0"/>
              <a:t> systems are placing pressure on programmers.  Challenges include:</a:t>
            </a:r>
          </a:p>
          <a:p>
            <a:pPr lvl="1"/>
            <a:r>
              <a:rPr lang="en-US" altLang="en-US" b="1" dirty="0"/>
              <a:t>Dividing activities</a:t>
            </a:r>
          </a:p>
          <a:p>
            <a:pPr lvl="1"/>
            <a:r>
              <a:rPr lang="en-US" altLang="en-US" b="1" dirty="0"/>
              <a:t>Balance</a:t>
            </a:r>
          </a:p>
          <a:p>
            <a:pPr lvl="1"/>
            <a:r>
              <a:rPr lang="en-US" altLang="en-US" b="1" dirty="0"/>
              <a:t>Data splitting</a:t>
            </a:r>
          </a:p>
          <a:p>
            <a:pPr lvl="1"/>
            <a:r>
              <a:rPr lang="en-US" altLang="en-US" b="1" dirty="0"/>
              <a:t>Data dependency</a:t>
            </a:r>
          </a:p>
          <a:p>
            <a:pPr lvl="1"/>
            <a:r>
              <a:rPr lang="en-US" altLang="en-US" b="1" dirty="0"/>
              <a:t>Testing and debugging</a:t>
            </a:r>
          </a:p>
          <a:p>
            <a:r>
              <a:rPr lang="en-US" altLang="en-US" b="1" i="1" dirty="0"/>
              <a:t>Parallelism</a:t>
            </a:r>
            <a:r>
              <a:rPr lang="en-US" altLang="en-US" dirty="0"/>
              <a:t> implies a system can perform more than one task simultaneously</a:t>
            </a:r>
          </a:p>
          <a:p>
            <a:r>
              <a:rPr lang="en-US" altLang="en-US" b="1" i="1" dirty="0"/>
              <a:t>Concurrency</a:t>
            </a:r>
            <a:r>
              <a:rPr lang="en-US" altLang="en-US" dirty="0"/>
              <a:t> supports more than one task making progress</a:t>
            </a:r>
          </a:p>
          <a:p>
            <a:pPr lvl="1"/>
            <a:r>
              <a:rPr lang="en-US" altLang="en-US" dirty="0"/>
              <a:t>Single processor / core, scheduler providing concurrency</a:t>
            </a:r>
          </a:p>
          <a:p>
            <a:pPr lvl="1">
              <a:buFont typeface="Monotype Sorts"/>
              <a:buNone/>
            </a:pPr>
            <a:endParaRPr lang="en-US" altLang="en-US" dirty="0"/>
          </a:p>
          <a:p>
            <a:pPr lvl="1">
              <a:buFont typeface="Monotype Sorts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58D5F1D-92A6-4D45-A27F-77E0C52C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2968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Concurrency vs. Parallelism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AA09CFD-2223-4DA8-AC3E-4014F07C517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879475" y="1163638"/>
            <a:ext cx="78073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20000"/>
              <a:buFont typeface="Arial" panose="020B0604020202020204" pitchFamily="34" charset="0"/>
              <a:buChar char="■"/>
            </a:pPr>
            <a:r>
              <a:rPr kumimoji="1" lang="en-US" altLang="en-US" b="1">
                <a:latin typeface="Helvetica" panose="020B0604020202020204" pitchFamily="34" charset="0"/>
                <a:cs typeface="Arial" panose="020B0604020202020204" pitchFamily="34" charset="0"/>
              </a:rPr>
              <a:t>Concurrent execution on single-core system: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/>
              <a:buChar char="n"/>
            </a:pPr>
            <a:endParaRPr kumimoji="1" lang="en-US" altLang="en-US" b="1">
              <a:latin typeface="Helvetica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/>
              <a:buChar char="n"/>
            </a:pPr>
            <a:endParaRPr kumimoji="1" lang="en-US" altLang="en-US" b="1">
              <a:latin typeface="Helvetica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/>
              <a:buChar char="n"/>
            </a:pPr>
            <a:endParaRPr kumimoji="1" lang="en-US" altLang="en-US" b="1">
              <a:latin typeface="Helvetica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</a:pPr>
            <a:endParaRPr kumimoji="1" lang="en-US" altLang="en-US" b="1">
              <a:latin typeface="Helvetica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20000"/>
              <a:buFont typeface="Arial" panose="020B0604020202020204" pitchFamily="34" charset="0"/>
              <a:buChar char="■"/>
            </a:pPr>
            <a:r>
              <a:rPr kumimoji="1" lang="en-US" altLang="en-US" b="1">
                <a:latin typeface="Helvetica" panose="020B0604020202020204" pitchFamily="34" charset="0"/>
                <a:cs typeface="Arial" panose="020B0604020202020204" pitchFamily="34" charset="0"/>
              </a:rPr>
              <a:t>Parallelism on a multi-core system: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/>
              <a:buChar char="n"/>
            </a:pPr>
            <a:endParaRPr kumimoji="1" lang="en-US" altLang="en-US" b="1">
              <a:latin typeface="Helvetica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40" name="Picture 1">
            <a:extLst>
              <a:ext uri="{FF2B5EF4-FFF2-40B4-BE49-F238E27FC236}">
                <a16:creationId xmlns:a16="http://schemas.microsoft.com/office/drawing/2014/main" id="{F7E2D848-BF1F-4710-B064-1891AA9BD3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8" y="1803400"/>
            <a:ext cx="6126162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1">
            <a:extLst>
              <a:ext uri="{FF2B5EF4-FFF2-40B4-BE49-F238E27FC236}">
                <a16:creationId xmlns:a16="http://schemas.microsoft.com/office/drawing/2014/main" id="{D02ECDD2-F5E4-4527-8FC5-E9157C4DF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5" y="3760788"/>
            <a:ext cx="5276850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6615E1-A10F-45FD-A3E1-6CF04ED4AF5B}"/>
              </a:ext>
            </a:extLst>
          </p:cNvPr>
          <p:cNvSpPr txBox="1"/>
          <p:nvPr/>
        </p:nvSpPr>
        <p:spPr>
          <a:xfrm>
            <a:off x="2006353" y="5850384"/>
            <a:ext cx="565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4.4</a:t>
            </a:r>
            <a:endParaRPr lang="en-MY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FFA8411-D9D3-42AF-8E5D-745FEEF6C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8077200" cy="762000"/>
          </a:xfrm>
          <a:noFill/>
        </p:spPr>
        <p:txBody>
          <a:bodyPr lIns="90488" tIns="44450" rIns="90488" bIns="44450" anchor="b"/>
          <a:lstStyle/>
          <a:p>
            <a:r>
              <a:rPr lang="en-US" altLang="en-US"/>
              <a:t>Concurrency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B4C125-94A5-4D3B-BBE2-72FF5F8FE5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848600" cy="4343400"/>
          </a:xfrm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altLang="en-US"/>
              <a:t>In a </a:t>
            </a:r>
            <a:r>
              <a:rPr lang="en-US" altLang="en-US">
                <a:solidFill>
                  <a:srgbClr val="0070C0"/>
                </a:solidFill>
              </a:rPr>
              <a:t>uniprocessor</a:t>
            </a:r>
            <a:r>
              <a:rPr lang="en-US" altLang="en-US"/>
              <a:t> multiprogramming system: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Execution of processes / threads are </a:t>
            </a:r>
            <a:r>
              <a:rPr lang="en-US" altLang="en-US" b="1" i="1"/>
              <a:t>interleaved in time</a:t>
            </a:r>
            <a:r>
              <a:rPr lang="en-US" altLang="en-US" i="1"/>
              <a:t> </a:t>
            </a:r>
            <a:r>
              <a:rPr lang="en-US" altLang="en-US"/>
              <a:t>to yield the appearance of simultaneous execution;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Known as </a:t>
            </a:r>
            <a:r>
              <a:rPr lang="en-US" altLang="en-US" b="1" i="1"/>
              <a:t>concurrent</a:t>
            </a:r>
            <a:r>
              <a:rPr lang="en-US" altLang="en-US"/>
              <a:t> processes / threads execution;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Note that actual </a:t>
            </a:r>
            <a:r>
              <a:rPr lang="en-US" altLang="en-US" b="1" i="1"/>
              <a:t>parallel processing </a:t>
            </a:r>
            <a:r>
              <a:rPr lang="en-US" altLang="en-US"/>
              <a:t>does not occur;</a:t>
            </a:r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DF090D0A-B6EB-46CB-8C9D-770D95E95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5F9111-764C-4C89-8823-5853424ABBCE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21509" name="Picture 1">
            <a:extLst>
              <a:ext uri="{FF2B5EF4-FFF2-40B4-BE49-F238E27FC236}">
                <a16:creationId xmlns:a16="http://schemas.microsoft.com/office/drawing/2014/main" id="{A3F90D1F-88E1-4434-B300-CF59E96F1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685800"/>
            <a:ext cx="1498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518327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">
            <a:extLst>
              <a:ext uri="{FF2B5EF4-FFF2-40B4-BE49-F238E27FC236}">
                <a16:creationId xmlns:a16="http://schemas.microsoft.com/office/drawing/2014/main" id="{852E07AA-4EF1-4B98-A476-28DECDD9A3DD}"/>
              </a:ext>
            </a:extLst>
          </p:cNvPr>
          <p:cNvGrpSpPr/>
          <p:nvPr/>
        </p:nvGrpSpPr>
        <p:grpSpPr>
          <a:xfrm>
            <a:off x="762000" y="1828800"/>
            <a:ext cx="7772400" cy="3962400"/>
            <a:chOff x="762000" y="1752600"/>
            <a:chExt cx="7772400" cy="3962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246" name="Rectangle 5">
              <a:extLst>
                <a:ext uri="{FF2B5EF4-FFF2-40B4-BE49-F238E27FC236}">
                  <a16:creationId xmlns:a16="http://schemas.microsoft.com/office/drawing/2014/main" id="{76D31174-0477-4415-B89D-D5EE7C628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362200"/>
              <a:ext cx="7772400" cy="3352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47" name="Line 6">
              <a:extLst>
                <a:ext uri="{FF2B5EF4-FFF2-40B4-BE49-F238E27FC236}">
                  <a16:creationId xmlns:a16="http://schemas.microsoft.com/office/drawing/2014/main" id="{394D90AB-4EE1-441A-9180-B463D76E8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5334000"/>
              <a:ext cx="6172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48" name="Line 7">
              <a:extLst>
                <a:ext uri="{FF2B5EF4-FFF2-40B4-BE49-F238E27FC236}">
                  <a16:creationId xmlns:a16="http://schemas.microsoft.com/office/drawing/2014/main" id="{FDA6D98D-6FE8-48A7-B2F2-AA6BD9846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637" y="3133831"/>
              <a:ext cx="9051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49" name="Rectangle 8">
              <a:extLst>
                <a:ext uri="{FF2B5EF4-FFF2-40B4-BE49-F238E27FC236}">
                  <a16:creationId xmlns:a16="http://schemas.microsoft.com/office/drawing/2014/main" id="{6CADC74B-9550-4F78-98E7-C8D85C216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358" y="2923508"/>
              <a:ext cx="503995" cy="4541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MS PGothic" panose="020B0600070205080204" pitchFamily="34" charset="-128"/>
                  <a:cs typeface="+mn-cs"/>
                </a:rPr>
                <a:t>P1</a:t>
              </a:r>
            </a:p>
          </p:txBody>
        </p:sp>
        <p:sp>
          <p:nvSpPr>
            <p:cNvPr id="10250" name="Rectangle 9">
              <a:extLst>
                <a:ext uri="{FF2B5EF4-FFF2-40B4-BE49-F238E27FC236}">
                  <a16:creationId xmlns:a16="http://schemas.microsoft.com/office/drawing/2014/main" id="{22DAE083-66D6-4139-AC37-A0B692159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358" y="3437929"/>
              <a:ext cx="503995" cy="4541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MS PGothic" panose="020B0600070205080204" pitchFamily="34" charset="-128"/>
                  <a:cs typeface="+mn-cs"/>
                </a:rPr>
                <a:t>P2</a:t>
              </a:r>
            </a:p>
          </p:txBody>
        </p:sp>
        <p:sp>
          <p:nvSpPr>
            <p:cNvPr id="10251" name="Rectangle 10">
              <a:extLst>
                <a:ext uri="{FF2B5EF4-FFF2-40B4-BE49-F238E27FC236}">
                  <a16:creationId xmlns:a16="http://schemas.microsoft.com/office/drawing/2014/main" id="{B4FD0EF7-EC05-4AF6-A02B-B62D0811D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358" y="4080955"/>
              <a:ext cx="503995" cy="45413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MS PGothic" panose="020B0600070205080204" pitchFamily="34" charset="-128"/>
                  <a:cs typeface="+mn-cs"/>
                </a:rPr>
                <a:t>P3</a:t>
              </a:r>
            </a:p>
          </p:txBody>
        </p:sp>
        <p:sp>
          <p:nvSpPr>
            <p:cNvPr id="10252" name="Rectangle 11">
              <a:extLst>
                <a:ext uri="{FF2B5EF4-FFF2-40B4-BE49-F238E27FC236}">
                  <a16:creationId xmlns:a16="http://schemas.microsoft.com/office/drawing/2014/main" id="{470E74D6-6066-486C-A935-DC551FFD2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5029200"/>
              <a:ext cx="8382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MS PGothic" panose="020B0600070205080204" pitchFamily="34" charset="-128"/>
                  <a:cs typeface="+mn-cs"/>
                </a:rPr>
                <a:t>Time</a:t>
              </a:r>
            </a:p>
          </p:txBody>
        </p:sp>
        <p:sp>
          <p:nvSpPr>
            <p:cNvPr id="10253" name="Rectangle 12">
              <a:extLst>
                <a:ext uri="{FF2B5EF4-FFF2-40B4-BE49-F238E27FC236}">
                  <a16:creationId xmlns:a16="http://schemas.microsoft.com/office/drawing/2014/main" id="{645CF4BD-9007-4200-B684-246FE95EC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759" y="2940923"/>
              <a:ext cx="916889" cy="38581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54" name="Rectangle 13">
              <a:extLst>
                <a:ext uri="{FF2B5EF4-FFF2-40B4-BE49-F238E27FC236}">
                  <a16:creationId xmlns:a16="http://schemas.microsoft.com/office/drawing/2014/main" id="{490D3E3D-1B9D-4DA7-931B-D64B67D10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8649" y="3455344"/>
              <a:ext cx="916889" cy="38581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55" name="Rectangle 14">
              <a:extLst>
                <a:ext uri="{FF2B5EF4-FFF2-40B4-BE49-F238E27FC236}">
                  <a16:creationId xmlns:a16="http://schemas.microsoft.com/office/drawing/2014/main" id="{D063B45A-A550-4CAE-8C80-15BF0AE1B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538" y="4098370"/>
              <a:ext cx="1269539" cy="38581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56" name="Rectangle 15">
              <a:extLst>
                <a:ext uri="{FF2B5EF4-FFF2-40B4-BE49-F238E27FC236}">
                  <a16:creationId xmlns:a16="http://schemas.microsoft.com/office/drawing/2014/main" id="{E6BC420F-0365-4F9D-A9FF-AF2293582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077" y="3455344"/>
              <a:ext cx="705299" cy="38581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57" name="Rectangle 16">
              <a:extLst>
                <a:ext uri="{FF2B5EF4-FFF2-40B4-BE49-F238E27FC236}">
                  <a16:creationId xmlns:a16="http://schemas.microsoft.com/office/drawing/2014/main" id="{41B637B4-4ACD-4776-A453-16FCEB2C7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0906" y="4098370"/>
              <a:ext cx="916889" cy="38581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58" name="Rectangle 17">
              <a:extLst>
                <a:ext uri="{FF2B5EF4-FFF2-40B4-BE49-F238E27FC236}">
                  <a16:creationId xmlns:a16="http://schemas.microsoft.com/office/drawing/2014/main" id="{AF673D91-45A4-403A-B798-8B24DCEBE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8326" y="2940923"/>
              <a:ext cx="705299" cy="385816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59" name="Line 18">
              <a:extLst>
                <a:ext uri="{FF2B5EF4-FFF2-40B4-BE49-F238E27FC236}">
                  <a16:creationId xmlns:a16="http://schemas.microsoft.com/office/drawing/2014/main" id="{5AA8EAA0-FDEF-4459-9232-DACAEB853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8649" y="2940923"/>
              <a:ext cx="39496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60" name="Line 19">
              <a:extLst>
                <a:ext uri="{FF2B5EF4-FFF2-40B4-BE49-F238E27FC236}">
                  <a16:creationId xmlns:a16="http://schemas.microsoft.com/office/drawing/2014/main" id="{6079BEB9-3E75-4119-A147-069F055624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8649" y="3326739"/>
              <a:ext cx="39496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61" name="Rectangle 20">
              <a:extLst>
                <a:ext uri="{FF2B5EF4-FFF2-40B4-BE49-F238E27FC236}">
                  <a16:creationId xmlns:a16="http://schemas.microsoft.com/office/drawing/2014/main" id="{C148A052-C1AA-4C74-A3A2-8F66D41E3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759" y="3455344"/>
              <a:ext cx="916889" cy="3858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62" name="Rectangle 21">
              <a:extLst>
                <a:ext uri="{FF2B5EF4-FFF2-40B4-BE49-F238E27FC236}">
                  <a16:creationId xmlns:a16="http://schemas.microsoft.com/office/drawing/2014/main" id="{1770D5C2-2473-417A-B01F-A614A228B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538" y="3455344"/>
              <a:ext cx="1269539" cy="3858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63" name="Rectangle 22">
              <a:extLst>
                <a:ext uri="{FF2B5EF4-FFF2-40B4-BE49-F238E27FC236}">
                  <a16:creationId xmlns:a16="http://schemas.microsoft.com/office/drawing/2014/main" id="{DE837DE8-A4C2-4D7A-8004-CF3F4C7DF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077" y="4098370"/>
              <a:ext cx="775829" cy="3858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45" name="Text Box 23">
              <a:extLst>
                <a:ext uri="{FF2B5EF4-FFF2-40B4-BE49-F238E27FC236}">
                  <a16:creationId xmlns:a16="http://schemas.microsoft.com/office/drawing/2014/main" id="{003FB62C-98EE-450D-9F8E-E59BF2988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1752600"/>
              <a:ext cx="3124200" cy="4572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aramond" pitchFamily="18" charset="0"/>
                  <a:ea typeface="MS PGothic" panose="020B0600070205080204" pitchFamily="34" charset="-128"/>
                  <a:cs typeface="+mn-cs"/>
                </a:rPr>
                <a:t>Interleaving</a:t>
              </a:r>
            </a:p>
          </p:txBody>
        </p:sp>
      </p:grpSp>
      <p:sp>
        <p:nvSpPr>
          <p:cNvPr id="23555" name="Slide Number Placeholder 4">
            <a:extLst>
              <a:ext uri="{FF2B5EF4-FFF2-40B4-BE49-F238E27FC236}">
                <a16:creationId xmlns:a16="http://schemas.microsoft.com/office/drawing/2014/main" id="{6CD1BB56-B099-4D63-852E-FF4565781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DCC6DD-4C43-4141-9B07-7EA5663BE0F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23556" name="Picture 22">
            <a:extLst>
              <a:ext uri="{FF2B5EF4-FFF2-40B4-BE49-F238E27FC236}">
                <a16:creationId xmlns:a16="http://schemas.microsoft.com/office/drawing/2014/main" id="{DADD1F75-FD4E-40C0-B5FB-E571CBEB8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685800"/>
            <a:ext cx="1498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040670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5">
            <a:extLst>
              <a:ext uri="{FF2B5EF4-FFF2-40B4-BE49-F238E27FC236}">
                <a16:creationId xmlns:a16="http://schemas.microsoft.com/office/drawing/2014/main" id="{3260C859-5B5C-4009-90A4-F21EB1DDF9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6705600" cy="2514600"/>
          </a:xfrm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70C0"/>
                </a:solidFill>
              </a:rPr>
              <a:t>Multiprocessor</a:t>
            </a:r>
            <a:r>
              <a:rPr lang="en-US" altLang="en-US" sz="2400"/>
              <a:t> system: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b="1" i="1"/>
              <a:t>Overlapping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</a:t>
            </a:r>
            <a:r>
              <a:rPr lang="en-US" altLang="en-US" b="1" i="1"/>
              <a:t>interleaving</a:t>
            </a:r>
            <a:r>
              <a:rPr lang="en-US" altLang="en-US" i="1"/>
              <a:t> </a:t>
            </a:r>
            <a:r>
              <a:rPr lang="en-US" altLang="en-US"/>
              <a:t>of processes execution;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 b="1" i="1"/>
              <a:t>Parallel processing </a:t>
            </a:r>
            <a:r>
              <a:rPr lang="en-US" altLang="en-US"/>
              <a:t>sometime occurs;</a:t>
            </a:r>
          </a:p>
        </p:txBody>
      </p:sp>
      <p:grpSp>
        <p:nvGrpSpPr>
          <p:cNvPr id="25603" name="Group 21">
            <a:extLst>
              <a:ext uri="{FF2B5EF4-FFF2-40B4-BE49-F238E27FC236}">
                <a16:creationId xmlns:a16="http://schemas.microsoft.com/office/drawing/2014/main" id="{DE5BBDE1-DF7A-4538-AD5A-6EED775B020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810000"/>
            <a:ext cx="6248400" cy="2667000"/>
            <a:chOff x="1295400" y="3429000"/>
            <a:chExt cx="6248400" cy="2667000"/>
          </a:xfrm>
        </p:grpSpPr>
        <p:sp>
          <p:nvSpPr>
            <p:cNvPr id="25607" name="Rectangle 4">
              <a:extLst>
                <a:ext uri="{FF2B5EF4-FFF2-40B4-BE49-F238E27FC236}">
                  <a16:creationId xmlns:a16="http://schemas.microsoft.com/office/drawing/2014/main" id="{30A11AC1-8C00-4D8E-9CCB-A710675D7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3429000"/>
              <a:ext cx="6248400" cy="2667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08" name="Line 5">
              <a:extLst>
                <a:ext uri="{FF2B5EF4-FFF2-40B4-BE49-F238E27FC236}">
                  <a16:creationId xmlns:a16="http://schemas.microsoft.com/office/drawing/2014/main" id="{F2594908-B0AB-4A06-893F-316BD2009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1" y="5715000"/>
              <a:ext cx="4800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09" name="Rectangle 12">
              <a:extLst>
                <a:ext uri="{FF2B5EF4-FFF2-40B4-BE49-F238E27FC236}">
                  <a16:creationId xmlns:a16="http://schemas.microsoft.com/office/drawing/2014/main" id="{6EAC53A2-E27F-4E11-95B2-258C6570C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8137" y="3757460"/>
              <a:ext cx="504172" cy="454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P1</a:t>
              </a:r>
            </a:p>
          </p:txBody>
        </p:sp>
        <p:sp>
          <p:nvSpPr>
            <p:cNvPr id="25610" name="Rectangle 13">
              <a:extLst>
                <a:ext uri="{FF2B5EF4-FFF2-40B4-BE49-F238E27FC236}">
                  <a16:creationId xmlns:a16="http://schemas.microsoft.com/office/drawing/2014/main" id="{B3DE073F-E43F-4ACB-8C48-DC04734E0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8137" y="4830294"/>
              <a:ext cx="504172" cy="454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P3</a:t>
              </a:r>
            </a:p>
          </p:txBody>
        </p:sp>
        <p:sp>
          <p:nvSpPr>
            <p:cNvPr id="25611" name="Rectangle 14">
              <a:extLst>
                <a:ext uri="{FF2B5EF4-FFF2-40B4-BE49-F238E27FC236}">
                  <a16:creationId xmlns:a16="http://schemas.microsoft.com/office/drawing/2014/main" id="{44431617-B204-44B8-BB48-D842FE277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8137" y="4294385"/>
              <a:ext cx="504172" cy="453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P2</a:t>
              </a:r>
            </a:p>
          </p:txBody>
        </p:sp>
        <p:sp>
          <p:nvSpPr>
            <p:cNvPr id="25612" name="Rectangle 15">
              <a:extLst>
                <a:ext uri="{FF2B5EF4-FFF2-40B4-BE49-F238E27FC236}">
                  <a16:creationId xmlns:a16="http://schemas.microsoft.com/office/drawing/2014/main" id="{5DE3856E-0D21-4A69-AD32-9DF1181BD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5410200"/>
              <a:ext cx="822531" cy="453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Time</a:t>
              </a:r>
            </a:p>
          </p:txBody>
        </p:sp>
        <p:sp>
          <p:nvSpPr>
            <p:cNvPr id="25613" name="Rectangle 16">
              <a:extLst>
                <a:ext uri="{FF2B5EF4-FFF2-40B4-BE49-F238E27FC236}">
                  <a16:creationId xmlns:a16="http://schemas.microsoft.com/office/drawing/2014/main" id="{DFA19458-F7F1-4F8F-98E4-63239F949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381" y="3721868"/>
              <a:ext cx="891902" cy="292868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14" name="Rectangle 17">
              <a:extLst>
                <a:ext uri="{FF2B5EF4-FFF2-40B4-BE49-F238E27FC236}">
                  <a16:creationId xmlns:a16="http://schemas.microsoft.com/office/drawing/2014/main" id="{89ACA21C-387A-4A38-94A5-919AC1B47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982" y="4258794"/>
              <a:ext cx="891902" cy="292868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15" name="Rectangle 18">
              <a:extLst>
                <a:ext uri="{FF2B5EF4-FFF2-40B4-BE49-F238E27FC236}">
                  <a16:creationId xmlns:a16="http://schemas.microsoft.com/office/drawing/2014/main" id="{82914A8F-0BD6-4F3E-AE22-1C324B823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0485" y="4258794"/>
              <a:ext cx="1010822" cy="292868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16" name="Rectangle 19">
              <a:extLst>
                <a:ext uri="{FF2B5EF4-FFF2-40B4-BE49-F238E27FC236}">
                  <a16:creationId xmlns:a16="http://schemas.microsoft.com/office/drawing/2014/main" id="{5F7F4D4E-0D71-4303-92FD-292E83563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044" y="4795719"/>
              <a:ext cx="1010822" cy="292868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17" name="Rectangle 20">
              <a:extLst>
                <a:ext uri="{FF2B5EF4-FFF2-40B4-BE49-F238E27FC236}">
                  <a16:creationId xmlns:a16="http://schemas.microsoft.com/office/drawing/2014/main" id="{33749E29-2016-48EA-8FA9-BAECACA21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466" y="4795719"/>
              <a:ext cx="1010822" cy="292868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18" name="Rectangle 21">
              <a:extLst>
                <a:ext uri="{FF2B5EF4-FFF2-40B4-BE49-F238E27FC236}">
                  <a16:creationId xmlns:a16="http://schemas.microsoft.com/office/drawing/2014/main" id="{67008F92-A625-4DEE-906F-E39407DB9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8607" y="3721868"/>
              <a:ext cx="891902" cy="292868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19" name="Rectangle 22">
              <a:extLst>
                <a:ext uri="{FF2B5EF4-FFF2-40B4-BE49-F238E27FC236}">
                  <a16:creationId xmlns:a16="http://schemas.microsoft.com/office/drawing/2014/main" id="{95278311-066F-4CBF-85BC-02BB8BFFE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1283" y="3721868"/>
              <a:ext cx="2497324" cy="2928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20" name="Rectangle 23">
              <a:extLst>
                <a:ext uri="{FF2B5EF4-FFF2-40B4-BE49-F238E27FC236}">
                  <a16:creationId xmlns:a16="http://schemas.microsoft.com/office/drawing/2014/main" id="{668281D6-4AE6-4B2E-BD62-FBEF3933A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884" y="4258794"/>
              <a:ext cx="594601" cy="2928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621" name="Rectangle 24">
              <a:extLst>
                <a:ext uri="{FF2B5EF4-FFF2-40B4-BE49-F238E27FC236}">
                  <a16:creationId xmlns:a16="http://schemas.microsoft.com/office/drawing/2014/main" id="{0E7308AD-2D2E-4F45-9E4E-88622CF9A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865" y="4795719"/>
              <a:ext cx="594601" cy="29286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6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rgbClr val="222222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660743DD-F3AD-42D4-9435-17EED1C24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E751D4-8C00-4D38-B85D-9F65D3D9F55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25605" name="Picture 20">
            <a:extLst>
              <a:ext uri="{FF2B5EF4-FFF2-40B4-BE49-F238E27FC236}">
                <a16:creationId xmlns:a16="http://schemas.microsoft.com/office/drawing/2014/main" id="{05A034E4-89DD-4CD0-92B7-D51399FF1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685800"/>
            <a:ext cx="1498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21">
            <a:extLst>
              <a:ext uri="{FF2B5EF4-FFF2-40B4-BE49-F238E27FC236}">
                <a16:creationId xmlns:a16="http://schemas.microsoft.com/office/drawing/2014/main" id="{825B6FFA-6CE1-45D6-BF7A-0B6BBCBEE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905000"/>
            <a:ext cx="1498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396820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4D99848C-19AB-411C-825F-374DA1E8F8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27AB60-3187-4D73-8005-41C5657A43E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F40266F-918A-44A3-A2D0-0E2AE91DDF49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2514600"/>
          <a:ext cx="7162800" cy="3324225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11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Multiple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applications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2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Multiprogramming was invented to allow processing time to be dynamically shared among a number of active applications.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Structured application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Application can be a set of concurrent processes.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1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Operating-system structure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Operating system is a set of processes or threads.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Example: Solaris and Linux  (MS-DOS – no concurrency)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6B82D31A-CAC7-4BB6-9922-551247C5F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305800" cy="9144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ea typeface="ＭＳ Ｐゴシック" charset="0"/>
              </a:rPr>
              <a:t>Concurrency arises / occurs in </a:t>
            </a:r>
            <a:r>
              <a:rPr lang="en-US" sz="2400" b="1" kern="1200" dirty="0">
                <a:solidFill>
                  <a:srgbClr val="0070C0"/>
                </a:solidFill>
                <a:ea typeface="+mn-ea"/>
                <a:cs typeface="+mn-cs"/>
              </a:rPr>
              <a:t>three</a:t>
            </a:r>
            <a:r>
              <a:rPr lang="en-US" sz="2400" dirty="0">
                <a:solidFill>
                  <a:srgbClr val="008000"/>
                </a:solidFill>
                <a:ea typeface="ＭＳ Ｐゴシック" charset="0"/>
              </a:rPr>
              <a:t> </a:t>
            </a:r>
            <a:r>
              <a:rPr lang="en-US" sz="2400" dirty="0">
                <a:ea typeface="ＭＳ Ｐゴシック" charset="0"/>
              </a:rPr>
              <a:t>different contexts*:</a:t>
            </a:r>
          </a:p>
        </p:txBody>
      </p:sp>
      <p:sp>
        <p:nvSpPr>
          <p:cNvPr id="27666" name="TextBox 5">
            <a:extLst>
              <a:ext uri="{FF2B5EF4-FFF2-40B4-BE49-F238E27FC236}">
                <a16:creationId xmlns:a16="http://schemas.microsoft.com/office/drawing/2014/main" id="{FD2ADBC9-9702-4033-838C-42C21734D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19800"/>
            <a:ext cx="7391400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__________________________________</a:t>
            </a:r>
          </a:p>
          <a:p>
            <a:pPr marL="0" marR="0" lvl="0" indent="0" algn="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* Stalling, W. Operating Systems: Internals and Design Principles (5</a:t>
            </a:r>
            <a:r>
              <a:rPr kumimoji="0" lang="en-US" altLang="en-US" sz="1000" b="0" i="1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Edition). Prentice Hall. (2005)</a:t>
            </a:r>
          </a:p>
        </p:txBody>
      </p:sp>
    </p:spTree>
    <p:extLst>
      <p:ext uri="{BB962C8B-B14F-4D97-AF65-F5344CB8AC3E}">
        <p14:creationId xmlns:p14="http://schemas.microsoft.com/office/powerpoint/2010/main" val="418086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A0AE617B-625C-442F-95A4-13100639B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419600"/>
            <a:ext cx="7467600" cy="2133600"/>
          </a:xfrm>
          <a:prstGeom prst="rect">
            <a:avLst/>
          </a:prstGeom>
          <a:solidFill>
            <a:srgbClr val="FDFFCF"/>
          </a:solidFill>
          <a:ln>
            <a:noFill/>
          </a:ln>
          <a:effectLst>
            <a:outerShdw dist="139700" dir="2700000" algn="tl" rotWithShape="0">
              <a:srgbClr val="808080">
                <a:alpha val="42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99C5E8E-2AF0-4D70-BC20-1625E8ADA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990600"/>
            <a:ext cx="8229600" cy="54102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Interleaving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0070C0"/>
                </a:solidFill>
              </a:rPr>
              <a:t>overlapping</a:t>
            </a:r>
            <a:r>
              <a:rPr lang="en-US" altLang="en-US" dirty="0">
                <a:solidFill>
                  <a:srgbClr val="FF3300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execution of processes </a:t>
            </a:r>
            <a:r>
              <a:rPr lang="en-US" altLang="en-US" dirty="0"/>
              <a:t>can be viewed as examples of </a:t>
            </a:r>
            <a:r>
              <a:rPr lang="en-US" altLang="en-US" dirty="0">
                <a:solidFill>
                  <a:schemeClr val="tx1"/>
                </a:solidFill>
              </a:rPr>
              <a:t>concurrent processing;</a:t>
            </a:r>
          </a:p>
          <a:p>
            <a:pPr lvl="1"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 Need </a:t>
            </a:r>
            <a:r>
              <a:rPr lang="en-US" altLang="en-US" i="1" dirty="0">
                <a:sym typeface="Wingdings" panose="05000000000000000000" pitchFamily="2" charset="2"/>
              </a:rPr>
              <a:t>control synchronization </a:t>
            </a:r>
            <a:r>
              <a:rPr lang="en-US" altLang="en-US" dirty="0">
                <a:sym typeface="Wingdings" panose="05000000000000000000" pitchFamily="2" charset="2"/>
              </a:rPr>
              <a:t>and </a:t>
            </a:r>
            <a:r>
              <a:rPr lang="en-US" altLang="en-US" i="1" dirty="0">
                <a:sym typeface="Wingdings" panose="05000000000000000000" pitchFamily="2" charset="2"/>
              </a:rPr>
              <a:t>data access     synchronization (Chapter 6)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rgbClr val="0070C0"/>
                </a:solidFill>
              </a:rPr>
              <a:t>Both</a:t>
            </a:r>
            <a:r>
              <a:rPr lang="en-US" altLang="en-US" dirty="0"/>
              <a:t> present the same problems such as in </a:t>
            </a:r>
            <a:r>
              <a:rPr lang="en-US" altLang="en-US" u="sng" dirty="0">
                <a:solidFill>
                  <a:srgbClr val="FF0000"/>
                </a:solidFill>
              </a:rPr>
              <a:t>sharing global resources</a:t>
            </a:r>
            <a:r>
              <a:rPr lang="en-US" altLang="en-US" dirty="0"/>
              <a:t>. Example:</a:t>
            </a:r>
          </a:p>
          <a:p>
            <a:pPr lvl="1"/>
            <a:r>
              <a:rPr lang="en-US" altLang="en-US" dirty="0"/>
              <a:t>Global variables; </a:t>
            </a:r>
          </a:p>
          <a:p>
            <a:pPr lvl="1"/>
            <a:r>
              <a:rPr lang="en-US" altLang="en-US" dirty="0"/>
              <a:t>Shared files or data bases;</a:t>
            </a:r>
          </a:p>
          <a:p>
            <a:pPr lvl="1"/>
            <a:r>
              <a:rPr lang="en-US" altLang="en-US" dirty="0"/>
              <a:t>Managing the allocation of resources optimally such as the request use of a particular I/O device (may lead to deadlock);</a:t>
            </a:r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8C295671-DDCC-4330-8DD2-A6B69AA58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2473EE-116E-4CA4-AAC8-F69FA1CB28F8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4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D084441-E286-41D4-951C-E6BDA9E35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077200" cy="838200"/>
          </a:xfrm>
        </p:spPr>
        <p:txBody>
          <a:bodyPr/>
          <a:lstStyle/>
          <a:p>
            <a:r>
              <a:rPr lang="en-US" altLang="en-US" dirty="0"/>
              <a:t>Another Example </a:t>
            </a:r>
            <a:r>
              <a:rPr lang="en-US" altLang="en-US"/>
              <a:t>of Concurrency</a:t>
            </a:r>
            <a:endParaRPr lang="en-US" altLang="en-US" dirty="0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44960D6E-D002-4DAA-A5FD-A1739898FC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2514600"/>
            <a:ext cx="7924800" cy="3352800"/>
          </a:xfrm>
        </p:spPr>
        <p:txBody>
          <a:bodyPr/>
          <a:lstStyle/>
          <a:p>
            <a:r>
              <a:rPr lang="en-US" altLang="en-US"/>
              <a:t>Two or more threads need access to a shared resource that must be used by only one thread at a time</a:t>
            </a:r>
          </a:p>
          <a:p>
            <a:pPr lvl="1"/>
            <a:r>
              <a:rPr lang="en-US" altLang="en-US"/>
              <a:t>Eg. When one thread is writing to a file, a second thread must be prevented from writing to the file at the same time.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63492" name="Slide Number Placeholder 4">
            <a:extLst>
              <a:ext uri="{FF2B5EF4-FFF2-40B4-BE49-F238E27FC236}">
                <a16:creationId xmlns:a16="http://schemas.microsoft.com/office/drawing/2014/main" id="{A7DFA184-EB0B-4101-83A6-53EFFB8465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195586-A9D3-4BAA-8E07-45DC32870E5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476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3B68C18-CDE3-4211-BE66-8A83F6152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Concurrent Programming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EE1366B3-6A94-4E4A-9183-BBE4359B9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743200"/>
            <a:ext cx="8077200" cy="2819400"/>
          </a:xfrm>
        </p:spPr>
        <p:txBody>
          <a:bodyPr/>
          <a:lstStyle/>
          <a:p>
            <a:pPr eaLnBrk="1" hangingPunct="1"/>
            <a:r>
              <a:rPr lang="en-CA" altLang="en-US" b="1"/>
              <a:t>Concurrent processing system</a:t>
            </a:r>
          </a:p>
          <a:p>
            <a:pPr eaLnBrk="1" hangingPunct="1"/>
            <a:endParaRPr lang="en-US" altLang="en-US" sz="1200" b="1"/>
          </a:p>
          <a:p>
            <a:pPr lvl="1" eaLnBrk="1" hangingPunct="1"/>
            <a:r>
              <a:rPr lang="en-CA" altLang="en-US"/>
              <a:t>One job uses several processors (multiprocessors)</a:t>
            </a:r>
          </a:p>
          <a:p>
            <a:pPr lvl="1" eaLnBrk="1" hangingPunct="1"/>
            <a:endParaRPr lang="en-CA" altLang="en-US" sz="1200"/>
          </a:p>
          <a:p>
            <a:pPr lvl="1" eaLnBrk="1" hangingPunct="1"/>
            <a:r>
              <a:rPr lang="en-CA" altLang="en-US"/>
              <a:t>Executes</a:t>
            </a:r>
            <a:r>
              <a:rPr lang="en-US" altLang="en-US"/>
              <a:t> </a:t>
            </a:r>
            <a:r>
              <a:rPr lang="en-CA" altLang="en-US"/>
              <a:t>sets of instructions in parallel</a:t>
            </a:r>
          </a:p>
          <a:p>
            <a:pPr lvl="1" eaLnBrk="1" hangingPunct="1"/>
            <a:endParaRPr lang="en-CA" altLang="en-US" sz="1200"/>
          </a:p>
          <a:p>
            <a:pPr lvl="1" eaLnBrk="1" hangingPunct="1"/>
            <a:r>
              <a:rPr lang="en-US" altLang="en-US"/>
              <a:t>Requires programming language and computer system support</a:t>
            </a:r>
          </a:p>
        </p:txBody>
      </p:sp>
      <p:sp>
        <p:nvSpPr>
          <p:cNvPr id="65540" name="Slide Number Placeholder 4">
            <a:extLst>
              <a:ext uri="{FF2B5EF4-FFF2-40B4-BE49-F238E27FC236}">
                <a16:creationId xmlns:a16="http://schemas.microsoft.com/office/drawing/2014/main" id="{411CD7E1-8C4F-4B83-AA0C-1E553C0B86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0EC165-59D5-4475-8F30-577D3B03B68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0631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1">
            <a:extLst>
              <a:ext uri="{FF2B5EF4-FFF2-40B4-BE49-F238E27FC236}">
                <a16:creationId xmlns:a16="http://schemas.microsoft.com/office/drawing/2014/main" id="{5F08E93F-7590-4DBE-99DD-FA1625B23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8382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/>
              <a:t>Applications of Concurrent Programming</a:t>
            </a:r>
            <a:endParaRPr lang="en-CA" altLang="en-US"/>
          </a:p>
        </p:txBody>
      </p:sp>
      <p:sp>
        <p:nvSpPr>
          <p:cNvPr id="66563" name="Rectangle 12">
            <a:extLst>
              <a:ext uri="{FF2B5EF4-FFF2-40B4-BE49-F238E27FC236}">
                <a16:creationId xmlns:a16="http://schemas.microsoft.com/office/drawing/2014/main" id="{6B3471C5-6EE7-4CB4-9A09-D0D229276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2209800"/>
            <a:ext cx="8229600" cy="609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A = 3 * B * C + 4 / (D + E) ** (F – G)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AC6D574C-A6A1-4965-B3BD-60B1557B6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5A51B4-2302-444A-8257-46A1309623D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6565" name="Picture 7">
            <a:extLst>
              <a:ext uri="{FF2B5EF4-FFF2-40B4-BE49-F238E27FC236}">
                <a16:creationId xmlns:a16="http://schemas.microsoft.com/office/drawing/2014/main" id="{37122584-6E08-47FB-97C3-351B3BD91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95600"/>
            <a:ext cx="7135813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6" name="Rounded Rectangle 5">
            <a:extLst>
              <a:ext uri="{FF2B5EF4-FFF2-40B4-BE49-F238E27FC236}">
                <a16:creationId xmlns:a16="http://schemas.microsoft.com/office/drawing/2014/main" id="{EB2A3997-BC5A-4AC0-9483-B99FDF4F7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886200"/>
            <a:ext cx="3276600" cy="10668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6567" name="TextBox 6">
            <a:extLst>
              <a:ext uri="{FF2B5EF4-FFF2-40B4-BE49-F238E27FC236}">
                <a16:creationId xmlns:a16="http://schemas.microsoft.com/office/drawing/2014/main" id="{D2A07B2C-A8E1-43A7-BE3A-F815EC529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114800"/>
            <a:ext cx="28019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Uniprocessor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(Sequential Computation)</a:t>
            </a:r>
          </a:p>
        </p:txBody>
      </p:sp>
      <p:pic>
        <p:nvPicPr>
          <p:cNvPr id="66568" name="Picture 7">
            <a:extLst>
              <a:ext uri="{FF2B5EF4-FFF2-40B4-BE49-F238E27FC236}">
                <a16:creationId xmlns:a16="http://schemas.microsoft.com/office/drawing/2014/main" id="{9725F956-929A-45B5-B028-F8AB10482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738" y="685800"/>
            <a:ext cx="12493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7477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F9A96F-A156-4EEB-BE26-3FF9BCB2A9D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7696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3 * B * C + 4 / (D + E) **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3 * B * C + 4 /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 **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3 * B * C + 4 /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3 * B * C +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* C +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+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7615" name="Rounded Rectangle 2">
            <a:extLst>
              <a:ext uri="{FF2B5EF4-FFF2-40B4-BE49-F238E27FC236}">
                <a16:creationId xmlns:a16="http://schemas.microsoft.com/office/drawing/2014/main" id="{4ED7CDFC-F7DA-425F-9730-62DA88F79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334000"/>
            <a:ext cx="3276600" cy="10668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7616" name="Rectangle 12">
            <a:extLst>
              <a:ext uri="{FF2B5EF4-FFF2-40B4-BE49-F238E27FC236}">
                <a16:creationId xmlns:a16="http://schemas.microsoft.com/office/drawing/2014/main" id="{35011C80-E952-4B48-8225-1FEBDC281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A = 3 * B * C + 4 / (D + E) ** (F – G)</a:t>
            </a:r>
          </a:p>
        </p:txBody>
      </p:sp>
      <p:sp>
        <p:nvSpPr>
          <p:cNvPr id="67617" name="Slide Number Placeholder 5">
            <a:extLst>
              <a:ext uri="{FF2B5EF4-FFF2-40B4-BE49-F238E27FC236}">
                <a16:creationId xmlns:a16="http://schemas.microsoft.com/office/drawing/2014/main" id="{C876787A-F655-4039-8537-A69017E47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69930D-550E-4980-BD49-4298CA8D4E1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7618" name="TextBox 1">
            <a:extLst>
              <a:ext uri="{FF2B5EF4-FFF2-40B4-BE49-F238E27FC236}">
                <a16:creationId xmlns:a16="http://schemas.microsoft.com/office/drawing/2014/main" id="{8F248FBE-6038-4D24-8468-3C9211EC9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5562600"/>
            <a:ext cx="28019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Uniprocessor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(Sequential Computation)</a:t>
            </a:r>
          </a:p>
        </p:txBody>
      </p:sp>
      <p:pic>
        <p:nvPicPr>
          <p:cNvPr id="67619" name="Picture 9">
            <a:extLst>
              <a:ext uri="{FF2B5EF4-FFF2-40B4-BE49-F238E27FC236}">
                <a16:creationId xmlns:a16="http://schemas.microsoft.com/office/drawing/2014/main" id="{6D5A747B-23E0-4FD6-AC85-777B73271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738" y="685800"/>
            <a:ext cx="12493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4277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462BB7D-EEE6-4DB6-B7C9-4188D9FD5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63246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/>
              <a:t>A = 3 * B * C + 4 / (D + E) ** (F – G)</a:t>
            </a:r>
          </a:p>
        </p:txBody>
      </p:sp>
      <p:sp>
        <p:nvSpPr>
          <p:cNvPr id="68611" name="Slide Number Placeholder 5">
            <a:extLst>
              <a:ext uri="{FF2B5EF4-FFF2-40B4-BE49-F238E27FC236}">
                <a16:creationId xmlns:a16="http://schemas.microsoft.com/office/drawing/2014/main" id="{2E52DF11-57BF-4856-BB71-52F7A126E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E21EAB-CBF9-4187-9AB0-B2ADE2A00E4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68612" name="Picture 7">
            <a:extLst>
              <a:ext uri="{FF2B5EF4-FFF2-40B4-BE49-F238E27FC236}">
                <a16:creationId xmlns:a16="http://schemas.microsoft.com/office/drawing/2014/main" id="{F496B9CD-2D9D-4F4B-A8D6-64321EA83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0"/>
            <a:ext cx="7239000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Rounded Rectangle 4">
            <a:extLst>
              <a:ext uri="{FF2B5EF4-FFF2-40B4-BE49-F238E27FC236}">
                <a16:creationId xmlns:a16="http://schemas.microsoft.com/office/drawing/2014/main" id="{BE492350-3051-4650-9161-C8F0609F4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762000"/>
            <a:ext cx="2895600" cy="838200"/>
          </a:xfrm>
          <a:prstGeom prst="roundRect">
            <a:avLst>
              <a:gd name="adj" fmla="val 1666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614" name="TextBox 5">
            <a:extLst>
              <a:ext uri="{FF2B5EF4-FFF2-40B4-BE49-F238E27FC236}">
                <a16:creationId xmlns:a16="http://schemas.microsoft.com/office/drawing/2014/main" id="{F9229FBD-2FC2-4CE5-8FA4-638249019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838200"/>
            <a:ext cx="26606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Multiprocessor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(Concurrent processing)</a:t>
            </a:r>
          </a:p>
        </p:txBody>
      </p:sp>
      <p:pic>
        <p:nvPicPr>
          <p:cNvPr id="68615" name="Picture 9">
            <a:extLst>
              <a:ext uri="{FF2B5EF4-FFF2-40B4-BE49-F238E27FC236}">
                <a16:creationId xmlns:a16="http://schemas.microsoft.com/office/drawing/2014/main" id="{EBDF3430-3F67-4AE9-A7FF-0B8E26D24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738" y="685800"/>
            <a:ext cx="12493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10">
            <a:extLst>
              <a:ext uri="{FF2B5EF4-FFF2-40B4-BE49-F238E27FC236}">
                <a16:creationId xmlns:a16="http://schemas.microsoft.com/office/drawing/2014/main" id="{37131458-BF70-4202-894B-783F96BB3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752600"/>
            <a:ext cx="12493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7" name="Picture 11">
            <a:extLst>
              <a:ext uri="{FF2B5EF4-FFF2-40B4-BE49-F238E27FC236}">
                <a16:creationId xmlns:a16="http://schemas.microsoft.com/office/drawing/2014/main" id="{AF1DD052-01E0-4C8B-AF8A-36E619AFE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819400"/>
            <a:ext cx="12493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8697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2">
            <a:extLst>
              <a:ext uri="{FF2B5EF4-FFF2-40B4-BE49-F238E27FC236}">
                <a16:creationId xmlns:a16="http://schemas.microsoft.com/office/drawing/2014/main" id="{8CD168AD-1119-40AD-BB27-443B21AB2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3058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A = 3 * B * C + 4 / (D + E) ** (F – G)</a:t>
            </a:r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C7A0B35A-29B0-4327-8397-25713CE295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99EC80-476A-4295-B9DB-44C66D61E97A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6E4639-9DD0-415B-995D-2A709C3750A2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2590800"/>
          <a:ext cx="865505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 marL="91455" marR="9145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Processor</a:t>
                      </a:r>
                    </a:p>
                  </a:txBody>
                  <a:tcPr marL="91455" marR="9145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Operation</a:t>
                      </a:r>
                    </a:p>
                  </a:txBody>
                  <a:tcPr marL="91455" marR="9145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3366FF"/>
                          </a:solidFill>
                        </a:rPr>
                        <a:t>1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* C + 4 / (D + E) ** (F-G)</a:t>
                      </a: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3366FF"/>
                          </a:solidFill>
                        </a:rPr>
                        <a:t>2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* C + 4 /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 ** (F-G)</a:t>
                      </a: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3366FF"/>
                          </a:solidFill>
                        </a:rPr>
                        <a:t>3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* C + 4 /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 **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3366FF"/>
                          </a:solidFill>
                        </a:rPr>
                        <a:t>1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+ 4 /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 **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3366FF"/>
                          </a:solidFill>
                        </a:rPr>
                        <a:t>2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+ 4 /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3366FF"/>
                          </a:solidFill>
                        </a:rPr>
                        <a:t>1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 =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+ </a:t>
                      </a:r>
                      <a:r>
                        <a:rPr lang="en-US" sz="2400" b="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lang="en-US" sz="2400" b="0" baseline="-25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rgbClr val="3366FF"/>
                          </a:solidFill>
                        </a:rPr>
                        <a:t>1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9674" name="Rounded Rectangle 4">
            <a:extLst>
              <a:ext uri="{FF2B5EF4-FFF2-40B4-BE49-F238E27FC236}">
                <a16:creationId xmlns:a16="http://schemas.microsoft.com/office/drawing/2014/main" id="{C88CB057-21C9-4415-9ABE-DB8E8862C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5334000"/>
            <a:ext cx="2895600" cy="1066800"/>
          </a:xfrm>
          <a:prstGeom prst="roundRect">
            <a:avLst>
              <a:gd name="adj" fmla="val 1666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9675" name="TextBox 5">
            <a:extLst>
              <a:ext uri="{FF2B5EF4-FFF2-40B4-BE49-F238E27FC236}">
                <a16:creationId xmlns:a16="http://schemas.microsoft.com/office/drawing/2014/main" id="{B5AEEFDB-A12B-42AB-BC02-6BD7920F8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1238" y="5562600"/>
            <a:ext cx="26606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Multiprocessor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(Concurrent processing)</a:t>
            </a:r>
          </a:p>
        </p:txBody>
      </p:sp>
      <p:pic>
        <p:nvPicPr>
          <p:cNvPr id="69676" name="Picture 10">
            <a:extLst>
              <a:ext uri="{FF2B5EF4-FFF2-40B4-BE49-F238E27FC236}">
                <a16:creationId xmlns:a16="http://schemas.microsoft.com/office/drawing/2014/main" id="{B7EFAC53-7E34-4EDF-8963-6B8C31B23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738" y="685800"/>
            <a:ext cx="12493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77" name="Picture 11">
            <a:extLst>
              <a:ext uri="{FF2B5EF4-FFF2-40B4-BE49-F238E27FC236}">
                <a16:creationId xmlns:a16="http://schemas.microsoft.com/office/drawing/2014/main" id="{FD404C01-7BF5-4C9E-97AE-8DE04917F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685800"/>
            <a:ext cx="12493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78" name="Picture 12">
            <a:extLst>
              <a:ext uri="{FF2B5EF4-FFF2-40B4-BE49-F238E27FC236}">
                <a16:creationId xmlns:a16="http://schemas.microsoft.com/office/drawing/2014/main" id="{B8ED603E-B182-427C-B1A8-2C3C56246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85800"/>
            <a:ext cx="12493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79" name="TextBox 2">
            <a:extLst>
              <a:ext uri="{FF2B5EF4-FFF2-40B4-BE49-F238E27FC236}">
                <a16:creationId xmlns:a16="http://schemas.microsoft.com/office/drawing/2014/main" id="{6E854112-D05A-405D-9977-C043BA51A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3" y="1295400"/>
            <a:ext cx="312737" cy="369888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69680" name="TextBox 11">
            <a:extLst>
              <a:ext uri="{FF2B5EF4-FFF2-40B4-BE49-F238E27FC236}">
                <a16:creationId xmlns:a16="http://schemas.microsoft.com/office/drawing/2014/main" id="{B5230A0F-DFAF-4BD7-BF41-D4C7FF38C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1295400"/>
            <a:ext cx="312738" cy="369888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69681" name="TextBox 12">
            <a:extLst>
              <a:ext uri="{FF2B5EF4-FFF2-40B4-BE49-F238E27FC236}">
                <a16:creationId xmlns:a16="http://schemas.microsoft.com/office/drawing/2014/main" id="{A56DE83C-531A-40B7-9BB4-3F8861DAE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1295400"/>
            <a:ext cx="312738" cy="369888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49643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9F8AFB63-4ADE-49B4-A96A-FFF18D9F5B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D0C06D-FD96-400D-BA90-882249DF612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AB6DD-C0E0-4B03-90EA-F71864A3BD3D}"/>
              </a:ext>
            </a:extLst>
          </p:cNvPr>
          <p:cNvSpPr txBox="1"/>
          <p:nvPr/>
        </p:nvSpPr>
        <p:spPr>
          <a:xfrm>
            <a:off x="533400" y="1231900"/>
            <a:ext cx="3733800" cy="1816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ＭＳ Ｐゴシック" charset="0"/>
                <a:cs typeface="ＭＳ Ｐゴシック" charset="0"/>
              </a:rPr>
              <a:t>EXAMPLE: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/>
              <a:ea typeface="ＭＳ Ｐゴシック" charset="0"/>
              <a:cs typeface="ＭＳ Ｐゴシック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ＭＳ Ｐゴシック" charset="0"/>
                <a:cs typeface="ＭＳ Ｐゴシック" charset="0"/>
              </a:rPr>
              <a:t>Screenshot from MacBook Pro</a:t>
            </a:r>
          </a:p>
        </p:txBody>
      </p:sp>
      <p:pic>
        <p:nvPicPr>
          <p:cNvPr id="37892" name="Picture 2" descr="Screen Shot 2012-03-07 at 7.55.40 AM.png">
            <a:extLst>
              <a:ext uri="{FF2B5EF4-FFF2-40B4-BE49-F238E27FC236}">
                <a16:creationId xmlns:a16="http://schemas.microsoft.com/office/drawing/2014/main" id="{3D227A54-E7C3-4CFB-AA14-5EE52A2EE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270000"/>
            <a:ext cx="3962400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0456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>
            <a:extLst>
              <a:ext uri="{FF2B5EF4-FFF2-40B4-BE49-F238E27FC236}">
                <a16:creationId xmlns:a16="http://schemas.microsoft.com/office/drawing/2014/main" id="{4D47EA86-536B-421B-8DCE-D80AC5A8C1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E11443-EEAB-4120-9C8C-8A9C06CC47B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8915" name="Picture 6" descr="Screen Shot 2012-03-07 at 7.46.33 AM.png">
            <a:extLst>
              <a:ext uri="{FF2B5EF4-FFF2-40B4-BE49-F238E27FC236}">
                <a16:creationId xmlns:a16="http://schemas.microsoft.com/office/drawing/2014/main" id="{BC0F01E0-A1A2-4BF7-9F82-24BFF3144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2138"/>
            <a:ext cx="8991600" cy="618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944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>
            <a:extLst>
              <a:ext uri="{FF2B5EF4-FFF2-40B4-BE49-F238E27FC236}">
                <a16:creationId xmlns:a16="http://schemas.microsoft.com/office/drawing/2014/main" id="{2A809859-4AE6-46E1-9BCE-AB6D33D500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23FE09-DA89-4DAF-ABB0-42F95D23CF5A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9939" name="Picture 1" descr="Screen Shot 2012-03-07 at 7.48.55 AM.png">
            <a:extLst>
              <a:ext uri="{FF2B5EF4-FFF2-40B4-BE49-F238E27FC236}">
                <a16:creationId xmlns:a16="http://schemas.microsoft.com/office/drawing/2014/main" id="{DB1EA036-0431-49A9-B73D-336C07AB4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5313"/>
            <a:ext cx="8991600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093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0417A-9F90-4DC2-A4E4-A31183D1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FE2F7-63B8-42B1-8265-0E6CF9B8BDAB}"/>
              </a:ext>
            </a:extLst>
          </p:cNvPr>
          <p:cNvSpPr txBox="1"/>
          <p:nvPr/>
        </p:nvSpPr>
        <p:spPr>
          <a:xfrm>
            <a:off x="806400" y="1173604"/>
            <a:ext cx="770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From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Silberchatz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, Operating System Concepts Chapter 4 Exercises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Odd number Matric card – 4.3, 4.5 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Even number Matric card – 4.2, 4.4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rPr>
              <a:t>Due date: Submit to e-learning 5 days after the end of the lecture.</a:t>
            </a:r>
          </a:p>
        </p:txBody>
      </p:sp>
    </p:spTree>
    <p:extLst>
      <p:ext uri="{BB962C8B-B14F-4D97-AF65-F5344CB8AC3E}">
        <p14:creationId xmlns:p14="http://schemas.microsoft.com/office/powerpoint/2010/main" val="1163687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DC193BB-5F12-4E19-955A-9B9C133109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53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15343</TotalTime>
  <Words>1331</Words>
  <Application>Microsoft Office PowerPoint</Application>
  <PresentationFormat>On-screen Show (4:3)</PresentationFormat>
  <Paragraphs>255</Paragraphs>
  <Slides>31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31</vt:i4>
      </vt:variant>
    </vt:vector>
  </HeadingPairs>
  <TitlesOfParts>
    <vt:vector size="47" baseType="lpstr">
      <vt:lpstr>MS PGothic</vt:lpstr>
      <vt:lpstr>MS PGothic</vt:lpstr>
      <vt:lpstr>Arial</vt:lpstr>
      <vt:lpstr>Courier New</vt:lpstr>
      <vt:lpstr>Garamond</vt:lpstr>
      <vt:lpstr>Helvetica</vt:lpstr>
      <vt:lpstr>Monotype Sorts</vt:lpstr>
      <vt:lpstr>Symbol</vt:lpstr>
      <vt:lpstr>Times New Roman</vt:lpstr>
      <vt:lpstr>Verdana</vt:lpstr>
      <vt:lpstr>Webdings</vt:lpstr>
      <vt:lpstr>Wingdings</vt:lpstr>
      <vt:lpstr>os-8</vt:lpstr>
      <vt:lpstr>Default Design</vt:lpstr>
      <vt:lpstr>1_os-8</vt:lpstr>
      <vt:lpstr>1_Default Design</vt:lpstr>
      <vt:lpstr>Chapter 4:  Threads</vt:lpstr>
      <vt:lpstr>Chapter 4: Threads</vt:lpstr>
      <vt:lpstr>Thread</vt:lpstr>
      <vt:lpstr>4.1.1  Motivation</vt:lpstr>
      <vt:lpstr>PowerPoint Presentation</vt:lpstr>
      <vt:lpstr>Components of Threads vs. Process</vt:lpstr>
      <vt:lpstr>Single and Multithreaded Processes</vt:lpstr>
      <vt:lpstr>Multithreaded Server Architecture</vt:lpstr>
      <vt:lpstr>Applications</vt:lpstr>
      <vt:lpstr>4.1.2  Benefits</vt:lpstr>
      <vt:lpstr>4.2 Multicore Programming</vt:lpstr>
      <vt:lpstr>Multicore Programming (Cont.)</vt:lpstr>
      <vt:lpstr>Multicore Programming (Cont.)</vt:lpstr>
      <vt:lpstr>Multicore Programming</vt:lpstr>
      <vt:lpstr>Concurrency vs. Parallelism</vt:lpstr>
      <vt:lpstr>Concurrency</vt:lpstr>
      <vt:lpstr>PowerPoint Presentation</vt:lpstr>
      <vt:lpstr>PowerPoint Presentation</vt:lpstr>
      <vt:lpstr>PowerPoint Presentation</vt:lpstr>
      <vt:lpstr>PowerPoint Presentation</vt:lpstr>
      <vt:lpstr>Another Example of Concurrency</vt:lpstr>
      <vt:lpstr>Concurrent Programming</vt:lpstr>
      <vt:lpstr>Applications of Concurrent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DELL</cp:lastModifiedBy>
  <cp:revision>540</cp:revision>
  <cp:lastPrinted>2013-09-10T17:57:57Z</cp:lastPrinted>
  <dcterms:created xsi:type="dcterms:W3CDTF">2011-01-13T23:43:38Z</dcterms:created>
  <dcterms:modified xsi:type="dcterms:W3CDTF">2022-11-12T23:18:54Z</dcterms:modified>
</cp:coreProperties>
</file>