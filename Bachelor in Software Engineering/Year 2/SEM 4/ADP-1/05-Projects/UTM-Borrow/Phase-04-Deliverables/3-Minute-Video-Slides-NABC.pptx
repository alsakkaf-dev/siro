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4849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 – 0:14]  INTRODUCTION</a:t>
            </a:r>
          </a:p>
          <a:p>
            <a:endParaRPr/>
          </a:p>
          <a:p>
            <a:r>
              <a:t>"Good morning. We are Group Alpha — Mohammed Alsakkaf, Muaz Ibne Ahmed, and Ahmat Mahamat. Our application is UTM Borrow: a campus-wide circular resource-sharing platform, where every handover is cryptographically signed."</a:t>
            </a:r>
          </a:p>
          <a:p>
            <a:endParaRPr/>
          </a:p>
          <a:p>
            <a:r>
              <a:t>Delivery: All three of you on camera, or a static slide with one voice. Whoever speaks, say all three names.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[0:14 – 0:36]  NEED — the problem</a:t>
            </a:r>
          </a:p>
          <a:p>
            <a:endParaRPr/>
          </a:p>
          <a:p>
            <a:r>
              <a:t>"Every semester, UTM students buy specialised items they use once — lab coats, calculators, drawing sets, formal attire. After one semester, they're worthless. The only place to pass them on is an unverified WhatsApp group. No identity. No reputation. No record of who holds what. So lenders are afraid to lend — and nothing circulates."</a:t>
            </a:r>
          </a:p>
          <a:p>
            <a:endParaRPr/>
          </a:p>
          <a:p>
            <a:r>
              <a:t>Delivery: Slow. This is the emotional beat. Let the last sentence land before you click.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[0:36 – 0:54]  NEED — the evidence</a:t>
            </a:r>
          </a:p>
          <a:p>
            <a:endParaRPr/>
          </a:p>
          <a:p>
            <a:r>
              <a:t>"We surveyed twenty-nine UTM students. Sixty-two per cent spend up to a hundred and fifty ringgit a year on items used once. Thirty-eight per cent fear never getting a lent item back. The demand is there. The infrastructure was not."</a:t>
            </a:r>
          </a:p>
          <a:p>
            <a:endParaRPr/>
          </a:p>
          <a:p>
            <a:r>
              <a:t>Delivery: Let each number appear as you say it — set the four boxes to Appear, On Click. The slide shows two more statistics than you speak; that is deliberate, let the eye find them.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[0:54 – 1:15]  APPROACH — architecture</a:t>
            </a:r>
          </a:p>
          <a:p>
            <a:endParaRPr/>
          </a:p>
          <a:p>
            <a:r>
              <a:t>"We built three subsystems, one each. Ahmat built Identity — only UTM emails may register, and the Trust Score is earned, never claimed. Muaz built the Catalog, with server-enforced categories and college filtering. I built Transaction and Handover, where a request locks the item and every state change is logged."</a:t>
            </a:r>
          </a:p>
          <a:p>
            <a:endParaRPr/>
          </a:p>
          <a:p>
            <a:r>
              <a:t>Delivery: Name each owner out loud. The rubric rewards visible individual contribution.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 1:35]  APPROACH — the mechanism</a:t>
            </a:r>
          </a:p>
          <a:p>
            <a:endParaRPr/>
          </a:p>
          <a:p>
            <a:r>
              <a:t>"A loan is a state machine — Available, Pending, Approved, Borrowed, Completed. It cannot skip a state. The handover itself is proven with a signed token: HMAC-SHA256, re-verified on every scan, expiring in twenty-four hours. A captured code cannot be replayed. A handover cannot be quietly undone."</a:t>
            </a:r>
          </a:p>
          <a:p>
            <a:endParaRPr/>
          </a:p>
          <a:p>
            <a:r>
              <a:t>Delivery: This is the technical heart of the project. Say it with confidence, not speed.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[1:35 – 2:08]  APPROACH — LIVE DEMO</a:t>
            </a:r>
          </a:p>
          <a:p>
            <a:endParaRPr/>
          </a:p>
          <a:p>
            <a:r>
              <a:t>"Here it is running. A student filters the catalog by residential college, opens an item, and sends a borrow request. The item locks immediately, so nobody else can claim it. The lender reviews the borrower's Trust Score and approves. They meet. The borrower shows the QR code; the lender scans it — and only then does the item become Borrowed. When it comes back, a second scan closes the loan, and both students rate each other."</a:t>
            </a:r>
          </a:p>
          <a:p>
            <a:endParaRPr/>
          </a:p>
          <a:p>
            <a:r>
              <a:t>Delivery: Hold the card ~3 seconds, then CUT TO SCREEN RECORDING. See the demo shot list below.</a:t>
            </a:r>
          </a:p>
          <a:p>
            <a:endParaRPr/>
          </a:p>
          <a:p>
            <a:r>
              <a:t>DEMO SHOT LIST — record at 1920x1080 from https://utmborrow.alsakkaf.site/login</a:t>
            </a:r>
          </a:p>
          <a:p>
            <a:r>
              <a:t>  1. Browse the catalog. Apply a college filter.            (~5s)</a:t>
            </a:r>
          </a:p>
          <a:p>
            <a:r>
              <a:t>  2. Open an item, pick dates, send a request -&gt; Pending.    (~7s)</a:t>
            </a:r>
          </a:p>
          <a:p>
            <a:r>
              <a:t>  3. Switch to the lender. Approve.                          (~5s)</a:t>
            </a:r>
          </a:p>
          <a:p>
            <a:r>
              <a:t>  4. Borrower shows QR. Lender scans. -&gt; Borrowed.           (~9s)</a:t>
            </a:r>
          </a:p>
          <a:p>
            <a:r>
              <a:t>  5. Return scan. -&gt; Completed. Rating dialog opens.         (~7s)</a:t>
            </a:r>
          </a:p>
          <a:p>
            <a:r>
              <a:t>Use two browsers side by side so the handover is believable.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[2:08 – 2:21]  APPROACH — technology</a:t>
            </a:r>
          </a:p>
          <a:p>
            <a:endParaRPr/>
          </a:p>
          <a:p>
            <a:r>
              <a:t>"React on Vercel, FastAPI on Render, MongoDB behind it. All twenty-seven use cases implemented. Security is not a diagram: bcrypt, JWTs, signed tokens, and two-factor on every admin action."</a:t>
            </a:r>
          </a:p>
          <a:p>
            <a:endParaRPr/>
          </a:p>
          <a:p>
            <a:r>
              <a:t>Delivery: Brisk. This slide is proof, not persuasion. If the video runs long, trim here — never the demo.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[2:21 – 2:43]  BENEFIT</a:t>
            </a:r>
          </a:p>
          <a:p>
            <a:endParaRPr/>
          </a:p>
          <a:p>
            <a:r>
              <a:t>"Borrowers stop buying — that money stays in their pocket. Lenders lend without fear: the counterpart is verified, and there is proof of both handover and return. The university keeps outsiders out, every decision audited. Every item borrowed is one fewer bought and one fewer discarded — UTM's Smart and Green Campus, and SDG 12."</a:t>
            </a:r>
          </a:p>
          <a:p>
            <a:endParaRPr/>
          </a:p>
          <a:p>
            <a:r>
              <a:t>Delivery: Three beats, one per column. Pause between them.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[2:43 – 2:57]  COMPETITION</a:t>
            </a:r>
          </a:p>
          <a:p>
            <a:endParaRPr/>
          </a:p>
          <a:p>
            <a:r>
              <a:t>"A WhatsApp group verifies nothing. Marketplace apps are built to sell, and let outsiders in. The loan counter only lends what the university owns. None of them can prove a handover happened. UTM Borrow can."</a:t>
            </a:r>
          </a:p>
          <a:p>
            <a:endParaRPr/>
          </a:p>
          <a:p>
            <a:r>
              <a:t>Delivery: On the last sentence, point at the final column.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[2:57 – 3:00]  CLOSE</a:t>
            </a:r>
          </a:p>
          <a:p>
            <a:endParaRPr/>
          </a:p>
          <a:p>
            <a:r>
              <a:t>"UTM Borrow. Every handover, signed. Thank you."</a:t>
            </a:r>
          </a:p>
          <a:p>
            <a:endParaRPr/>
          </a:p>
          <a:p>
            <a:r>
              <a:t>Delivery: Hold the QR on screen for the final two seconds. Do not rush the last word.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A0A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762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251460" y="304800"/>
            <a:ext cx="10058400" cy="228600"/>
          </a:xfrm>
          <a:prstGeom prst="rect">
            <a:avLst/>
          </a:prstGeom>
          <a:noFill/>
        </p:spPr>
        <p:txBody>
          <a:bodyPr wrap="square" lIns="0" tIns="0" rIns="0" bIns="0" anchor="t">
            <a:spAutoFit/>
          </a:bodyPr>
          <a:lstStyle/>
          <a:p>
            <a:pPr algn="l"/>
            <a:r>
              <a:rPr sz="1100" b="1" i="0" spc="160" dirty="0">
                <a:solidFill>
                  <a:srgbClr val="E3BFC0"/>
                </a:solidFill>
                <a:latin typeface="Segoe UI"/>
              </a:rPr>
              <a:t>UNIVERSITI TEKNOLOGI MALAYSIA   ·   FACULTY OF COMPUTING   ·   SCSE2243   ·   SECTION 01</a:t>
            </a:r>
          </a:p>
        </p:txBody>
      </p:sp>
      <p:sp>
        <p:nvSpPr>
          <p:cNvPr id="5" name="TextBox 4"/>
          <p:cNvSpPr txBox="1"/>
          <p:nvPr/>
        </p:nvSpPr>
        <p:spPr>
          <a:xfrm>
            <a:off x="429768" y="1089660"/>
            <a:ext cx="10058400" cy="1554480"/>
          </a:xfrm>
          <a:prstGeom prst="rect">
            <a:avLst/>
          </a:prstGeom>
          <a:noFill/>
        </p:spPr>
        <p:txBody>
          <a:bodyPr wrap="square" lIns="0" tIns="0" rIns="0" bIns="0" anchor="t">
            <a:spAutoFit/>
          </a:bodyPr>
          <a:lstStyle/>
          <a:p>
            <a:pPr algn="l">
              <a:lnSpc>
                <a:spcPct val="92000"/>
              </a:lnSpc>
            </a:pPr>
            <a:r>
              <a:rPr sz="8000" b="1" i="0" dirty="0">
                <a:solidFill>
                  <a:srgbClr val="FBF3F1"/>
                </a:solidFill>
                <a:latin typeface="Palatino Linotype"/>
              </a:rPr>
              <a:t>UTM Borrow</a:t>
            </a:r>
          </a:p>
        </p:txBody>
      </p:sp>
      <p:sp>
        <p:nvSpPr>
          <p:cNvPr id="6" name="TextBox 5"/>
          <p:cNvSpPr txBox="1"/>
          <p:nvPr/>
        </p:nvSpPr>
        <p:spPr>
          <a:xfrm>
            <a:off x="658368" y="2232660"/>
            <a:ext cx="8778240" cy="822960"/>
          </a:xfrm>
          <a:prstGeom prst="rect">
            <a:avLst/>
          </a:prstGeom>
          <a:noFill/>
        </p:spPr>
        <p:txBody>
          <a:bodyPr wrap="square" lIns="0" tIns="0" rIns="0" bIns="0" anchor="t">
            <a:spAutoFit/>
          </a:bodyPr>
          <a:lstStyle/>
          <a:p>
            <a:pPr algn="l">
              <a:lnSpc>
                <a:spcPct val="125000"/>
              </a:lnSpc>
            </a:pPr>
            <a:r>
              <a:rPr sz="2000" b="0" i="1" dirty="0">
                <a:solidFill>
                  <a:srgbClr val="F3D9D6"/>
                </a:solidFill>
                <a:latin typeface="Palatino Linotype"/>
              </a:rPr>
              <a:t>A campus-wide circular resource-sharing platform —
where every handover is cryptographically signed.</a:t>
            </a:r>
          </a:p>
        </p:txBody>
      </p:sp>
      <p:sp>
        <p:nvSpPr>
          <p:cNvPr id="7" name="Rectangle 6"/>
          <p:cNvSpPr/>
          <p:nvPr/>
        </p:nvSpPr>
        <p:spPr>
          <a:xfrm>
            <a:off x="777240" y="4480560"/>
            <a:ext cx="10637215" cy="9525"/>
          </a:xfrm>
          <a:prstGeom prst="rect">
            <a:avLst/>
          </a:prstGeom>
          <a:solidFill>
            <a:srgbClr val="7E3A4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777240" y="4846320"/>
            <a:ext cx="2788920" cy="1097280"/>
          </a:xfrm>
          <a:prstGeom prst="rect">
            <a:avLst/>
          </a:prstGeom>
          <a:noFill/>
        </p:spPr>
        <p:txBody>
          <a:bodyPr wrap="square" lIns="0" tIns="0" rIns="0" bIns="0" anchor="t">
            <a:spAutoFit/>
          </a:bodyPr>
          <a:lstStyle/>
          <a:p>
            <a:pPr algn="l">
              <a:lnSpc>
                <a:spcPct val="120000"/>
              </a:lnSpc>
            </a:pPr>
            <a:r>
              <a:rPr sz="1300" b="1" i="0">
                <a:solidFill>
                  <a:srgbClr val="FBF3F1"/>
                </a:solidFill>
                <a:latin typeface="Segoe UI"/>
              </a:rPr>
              <a:t>Mohammed Mohsen Mohammed Alsakkaf</a:t>
            </a:r>
          </a:p>
          <a:p>
            <a:pPr algn="l">
              <a:spcBef>
                <a:spcPts val="300"/>
              </a:spcBef>
            </a:pPr>
            <a:r>
              <a:rPr sz="1050" b="0" i="0">
                <a:solidFill>
                  <a:srgbClr val="E3BFC0"/>
                </a:solidFill>
                <a:latin typeface="Consolas"/>
              </a:rPr>
              <a:t>A23CS4026</a:t>
            </a:r>
          </a:p>
          <a:p>
            <a:pPr algn="l">
              <a:spcBef>
                <a:spcPts val="200"/>
              </a:spcBef>
            </a:pPr>
            <a:r>
              <a:rPr sz="1050" b="0" i="0">
                <a:solidFill>
                  <a:srgbClr val="F3D9D6"/>
                </a:solidFill>
                <a:latin typeface="Segoe UI"/>
              </a:rPr>
              <a:t>Transaction &amp; Handover</a:t>
            </a:r>
          </a:p>
        </p:txBody>
      </p:sp>
      <p:sp>
        <p:nvSpPr>
          <p:cNvPr id="9" name="TextBox 8"/>
          <p:cNvSpPr txBox="1"/>
          <p:nvPr/>
        </p:nvSpPr>
        <p:spPr>
          <a:xfrm>
            <a:off x="3886200" y="4846320"/>
            <a:ext cx="2788920" cy="1097280"/>
          </a:xfrm>
          <a:prstGeom prst="rect">
            <a:avLst/>
          </a:prstGeom>
          <a:noFill/>
        </p:spPr>
        <p:txBody>
          <a:bodyPr wrap="square" lIns="0" tIns="0" rIns="0" bIns="0" anchor="t">
            <a:spAutoFit/>
          </a:bodyPr>
          <a:lstStyle/>
          <a:p>
            <a:pPr algn="l">
              <a:lnSpc>
                <a:spcPct val="120000"/>
              </a:lnSpc>
            </a:pPr>
            <a:r>
              <a:rPr sz="1300" b="1" i="0">
                <a:solidFill>
                  <a:srgbClr val="FBF3F1"/>
                </a:solidFill>
                <a:latin typeface="Segoe UI"/>
              </a:rPr>
              <a:t>Muaz Ibne Ahmed</a:t>
            </a:r>
          </a:p>
          <a:p>
            <a:pPr algn="l">
              <a:spcBef>
                <a:spcPts val="300"/>
              </a:spcBef>
            </a:pPr>
            <a:r>
              <a:rPr sz="1050" b="0" i="0">
                <a:solidFill>
                  <a:srgbClr val="E3BFC0"/>
                </a:solidFill>
                <a:latin typeface="Consolas"/>
              </a:rPr>
              <a:t>A23CS4062</a:t>
            </a:r>
          </a:p>
          <a:p>
            <a:pPr algn="l">
              <a:spcBef>
                <a:spcPts val="200"/>
              </a:spcBef>
            </a:pPr>
            <a:r>
              <a:rPr sz="1050" b="0" i="0">
                <a:solidFill>
                  <a:srgbClr val="F3D9D6"/>
                </a:solidFill>
                <a:latin typeface="Segoe UI"/>
              </a:rPr>
              <a:t>Resource Catalog &amp; Discovery</a:t>
            </a:r>
          </a:p>
        </p:txBody>
      </p:sp>
      <p:sp>
        <p:nvSpPr>
          <p:cNvPr id="10" name="TextBox 9"/>
          <p:cNvSpPr txBox="1"/>
          <p:nvPr/>
        </p:nvSpPr>
        <p:spPr>
          <a:xfrm>
            <a:off x="6995160" y="4846320"/>
            <a:ext cx="2788920" cy="1097280"/>
          </a:xfrm>
          <a:prstGeom prst="rect">
            <a:avLst/>
          </a:prstGeom>
          <a:noFill/>
        </p:spPr>
        <p:txBody>
          <a:bodyPr wrap="square" lIns="0" tIns="0" rIns="0" bIns="0" anchor="t">
            <a:spAutoFit/>
          </a:bodyPr>
          <a:lstStyle/>
          <a:p>
            <a:pPr algn="l">
              <a:lnSpc>
                <a:spcPct val="120000"/>
              </a:lnSpc>
            </a:pPr>
            <a:r>
              <a:rPr sz="1300" b="1" i="0">
                <a:solidFill>
                  <a:srgbClr val="FBF3F1"/>
                </a:solidFill>
                <a:latin typeface="Segoe UI"/>
              </a:rPr>
              <a:t>Ahmat Mahamat Mourdji Moustapha</a:t>
            </a:r>
          </a:p>
          <a:p>
            <a:pPr algn="l">
              <a:spcBef>
                <a:spcPts val="300"/>
              </a:spcBef>
            </a:pPr>
            <a:r>
              <a:rPr sz="1050" b="0" i="0">
                <a:solidFill>
                  <a:srgbClr val="E3BFC0"/>
                </a:solidFill>
                <a:latin typeface="Consolas"/>
              </a:rPr>
              <a:t>A24CS4053</a:t>
            </a:r>
          </a:p>
          <a:p>
            <a:pPr algn="l">
              <a:spcBef>
                <a:spcPts val="200"/>
              </a:spcBef>
            </a:pPr>
            <a:r>
              <a:rPr sz="1050" b="0" i="0">
                <a:solidFill>
                  <a:srgbClr val="F3D9D6"/>
                </a:solidFill>
                <a:latin typeface="Segoe UI"/>
              </a:rPr>
              <a:t>Identity &amp; User Management</a:t>
            </a:r>
          </a:p>
        </p:txBody>
      </p:sp>
      <p:sp>
        <p:nvSpPr>
          <p:cNvPr id="11" name="TextBox 10"/>
          <p:cNvSpPr txBox="1"/>
          <p:nvPr/>
        </p:nvSpPr>
        <p:spPr>
          <a:xfrm>
            <a:off x="8671255" y="4846320"/>
            <a:ext cx="2743200" cy="1005840"/>
          </a:xfrm>
          <a:prstGeom prst="rect">
            <a:avLst/>
          </a:prstGeom>
          <a:noFill/>
        </p:spPr>
        <p:txBody>
          <a:bodyPr wrap="square" lIns="0" tIns="0" rIns="0" bIns="0" anchor="t">
            <a:spAutoFit/>
          </a:bodyPr>
          <a:lstStyle/>
          <a:p>
            <a:pPr algn="r"/>
            <a:r>
              <a:rPr sz="900" b="1" i="0" spc="150">
                <a:solidFill>
                  <a:srgbClr val="E3BFC0"/>
                </a:solidFill>
                <a:latin typeface="Segoe UI"/>
              </a:rPr>
              <a:t>SUPERVISED BY</a:t>
            </a:r>
          </a:p>
          <a:p>
            <a:pPr algn="r">
              <a:spcBef>
                <a:spcPts val="400"/>
              </a:spcBef>
            </a:pPr>
            <a:r>
              <a:rPr sz="1500" b="0" i="0">
                <a:solidFill>
                  <a:srgbClr val="FBF3F1"/>
                </a:solidFill>
                <a:latin typeface="Palatino Linotype"/>
              </a:rPr>
              <a:t>Dr. Mohd Yazid Bin Idris</a:t>
            </a:r>
          </a:p>
          <a:p>
            <a:pPr algn="r">
              <a:spcBef>
                <a:spcPts val="200"/>
              </a:spcBef>
            </a:pPr>
            <a:r>
              <a:rPr sz="1050" b="0" i="0">
                <a:solidFill>
                  <a:srgbClr val="F3D9D6"/>
                </a:solidFill>
                <a:latin typeface="Segoe UI"/>
              </a:rPr>
              <a:t>Group Alpha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dirty="0"/>
          </a:p>
        </p:txBody>
      </p:sp>
      <p:sp>
        <p:nvSpPr>
          <p:cNvPr id="3" name="TextBox 2"/>
          <p:cNvSpPr txBox="1"/>
          <p:nvPr/>
        </p:nvSpPr>
        <p:spPr>
          <a:xfrm>
            <a:off x="777240" y="475488"/>
            <a:ext cx="914400" cy="1005840"/>
          </a:xfrm>
          <a:prstGeom prst="rect">
            <a:avLst/>
          </a:prstGeom>
          <a:noFill/>
        </p:spPr>
        <p:txBody>
          <a:bodyPr wrap="square" lIns="0" tIns="0" rIns="0" bIns="0" anchor="t">
            <a:spAutoFit/>
          </a:bodyPr>
          <a:lstStyle/>
          <a:p>
            <a:pPr algn="l">
              <a:lnSpc>
                <a:spcPct val="85000"/>
              </a:lnSpc>
            </a:pPr>
            <a:r>
              <a:rPr sz="5400" b="1" i="0">
                <a:solidFill>
                  <a:srgbClr val="6E1023"/>
                </a:solidFill>
                <a:latin typeface="Palatino Linotype"/>
              </a:rPr>
              <a:t>N</a:t>
            </a:r>
          </a:p>
        </p:txBody>
      </p:sp>
      <p:sp>
        <p:nvSpPr>
          <p:cNvPr id="4" name="TextBox 3"/>
          <p:cNvSpPr txBox="1"/>
          <p:nvPr/>
        </p:nvSpPr>
        <p:spPr>
          <a:xfrm>
            <a:off x="777240" y="1298448"/>
            <a:ext cx="1280160" cy="228600"/>
          </a:xfrm>
          <a:prstGeom prst="rect">
            <a:avLst/>
          </a:prstGeom>
          <a:noFill/>
        </p:spPr>
        <p:txBody>
          <a:bodyPr wrap="square" lIns="0" tIns="0" rIns="0" bIns="0" anchor="t">
            <a:spAutoFit/>
          </a:bodyPr>
          <a:lstStyle/>
          <a:p>
            <a:pPr algn="l"/>
            <a:r>
              <a:rPr sz="900" b="1" i="0" spc="160">
                <a:solidFill>
                  <a:srgbClr val="B8862F"/>
                </a:solidFill>
                <a:latin typeface="Segoe UI"/>
              </a:rPr>
              <a:t>NEED</a:t>
            </a:r>
          </a:p>
        </p:txBody>
      </p:sp>
      <p:sp>
        <p:nvSpPr>
          <p:cNvPr id="5" name="TextBox 4"/>
          <p:cNvSpPr txBox="1"/>
          <p:nvPr/>
        </p:nvSpPr>
        <p:spPr>
          <a:xfrm>
            <a:off x="1828800" y="566928"/>
            <a:ext cx="7391095" cy="822960"/>
          </a:xfrm>
          <a:prstGeom prst="rect">
            <a:avLst/>
          </a:prstGeom>
          <a:noFill/>
        </p:spPr>
        <p:txBody>
          <a:bodyPr wrap="square" lIns="0" tIns="0" rIns="0" bIns="0" anchor="t">
            <a:spAutoFit/>
          </a:bodyPr>
          <a:lstStyle/>
          <a:p>
            <a:pPr algn="l">
              <a:lnSpc>
                <a:spcPct val="105000"/>
              </a:lnSpc>
            </a:pPr>
            <a:r>
              <a:rPr sz="2700" b="1" i="0">
                <a:solidFill>
                  <a:srgbClr val="1B1517"/>
                </a:solidFill>
                <a:latin typeface="Palatino Linotype"/>
              </a:rPr>
              <a:t>Buy once. Use once. Throw away.</a:t>
            </a:r>
          </a:p>
        </p:txBody>
      </p:sp>
      <p:sp>
        <p:nvSpPr>
          <p:cNvPr id="6" name="Rectangle 5"/>
          <p:cNvSpPr/>
          <p:nvPr/>
        </p:nvSpPr>
        <p:spPr>
          <a:xfrm>
            <a:off x="1828800" y="1481328"/>
            <a:ext cx="9585655" cy="17780"/>
          </a:xfrm>
          <a:prstGeom prst="rect">
            <a:avLst/>
          </a:prstGeom>
          <a:solidFill>
            <a:srgbClr val="1B15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1828800" y="1965960"/>
            <a:ext cx="5349240" cy="2377440"/>
          </a:xfrm>
          <a:prstGeom prst="rect">
            <a:avLst/>
          </a:prstGeom>
          <a:noFill/>
        </p:spPr>
        <p:txBody>
          <a:bodyPr wrap="square" lIns="0" tIns="0" rIns="0" bIns="0" anchor="t">
            <a:spAutoFit/>
          </a:bodyPr>
          <a:lstStyle/>
          <a:p>
            <a:pPr algn="l">
              <a:lnSpc>
                <a:spcPct val="140000"/>
              </a:lnSpc>
            </a:pPr>
            <a:r>
              <a:rPr sz="1500" b="0" i="0">
                <a:solidFill>
                  <a:srgbClr val="2C2427"/>
                </a:solidFill>
                <a:latin typeface="Segoe UI"/>
              </a:rPr>
              <a:t>UTM courses require specialised, single-use items —</a:t>
            </a:r>
          </a:p>
          <a:p>
            <a:pPr algn="l">
              <a:lnSpc>
                <a:spcPct val="140000"/>
              </a:lnSpc>
              <a:spcBef>
                <a:spcPts val="600"/>
              </a:spcBef>
            </a:pPr>
            <a:r>
              <a:rPr sz="1500" b="1" i="0">
                <a:solidFill>
                  <a:srgbClr val="6E1023"/>
                </a:solidFill>
                <a:latin typeface="Segoe UI"/>
              </a:rPr>
              <a:t>lab coats · calculators · drawing sets · formal attire</a:t>
            </a:r>
          </a:p>
          <a:p>
            <a:pPr algn="l">
              <a:lnSpc>
                <a:spcPct val="140000"/>
              </a:lnSpc>
              <a:spcBef>
                <a:spcPts val="1000"/>
              </a:spcBef>
            </a:pPr>
            <a:r>
              <a:rPr sz="1500" b="0" i="0">
                <a:solidFill>
                  <a:srgbClr val="2C2427"/>
                </a:solidFill>
                <a:latin typeface="Segoe UI"/>
              </a:rPr>
              <a:t>They lose all value after one semester, and sit unused in dorm rooms until they are thrown away.</a:t>
            </a:r>
          </a:p>
        </p:txBody>
      </p:sp>
      <p:sp>
        <p:nvSpPr>
          <p:cNvPr id="8" name="Rectangle 7"/>
          <p:cNvSpPr/>
          <p:nvPr/>
        </p:nvSpPr>
        <p:spPr>
          <a:xfrm>
            <a:off x="7452360" y="1965960"/>
            <a:ext cx="3959352" cy="2606040"/>
          </a:xfrm>
          <a:prstGeom prst="rect">
            <a:avLst/>
          </a:prstGeom>
          <a:solidFill>
            <a:srgbClr val="F8F5F5"/>
          </a:solidFill>
          <a:ln w="9525">
            <a:solidFill>
              <a:srgbClr val="DF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7452360" y="1965960"/>
            <a:ext cx="3959352" cy="38100"/>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772400" y="2240280"/>
            <a:ext cx="3383280" cy="274320"/>
          </a:xfrm>
          <a:prstGeom prst="rect">
            <a:avLst/>
          </a:prstGeom>
          <a:noFill/>
        </p:spPr>
        <p:txBody>
          <a:bodyPr wrap="square" lIns="0" tIns="0" rIns="0" bIns="0" anchor="t">
            <a:spAutoFit/>
          </a:bodyPr>
          <a:lstStyle/>
          <a:p>
            <a:pPr algn="l"/>
            <a:r>
              <a:rPr sz="900" b="1" i="0" spc="130">
                <a:solidFill>
                  <a:srgbClr val="6C6063"/>
                </a:solidFill>
                <a:latin typeface="Segoe UI"/>
              </a:rPr>
              <a:t>THE ONLY CHANNEL THAT EXISTS TODAY</a:t>
            </a:r>
          </a:p>
        </p:txBody>
      </p:sp>
      <p:sp>
        <p:nvSpPr>
          <p:cNvPr id="11" name="TextBox 10"/>
          <p:cNvSpPr txBox="1"/>
          <p:nvPr/>
        </p:nvSpPr>
        <p:spPr>
          <a:xfrm>
            <a:off x="7772400" y="2606040"/>
            <a:ext cx="3383280" cy="411480"/>
          </a:xfrm>
          <a:prstGeom prst="rect">
            <a:avLst/>
          </a:prstGeom>
          <a:noFill/>
        </p:spPr>
        <p:txBody>
          <a:bodyPr wrap="square" lIns="0" tIns="0" rIns="0" bIns="0" anchor="t">
            <a:spAutoFit/>
          </a:bodyPr>
          <a:lstStyle/>
          <a:p>
            <a:pPr algn="l">
              <a:lnSpc>
                <a:spcPct val="115000"/>
              </a:lnSpc>
            </a:pPr>
            <a:r>
              <a:rPr sz="1700" b="1" i="0">
                <a:solidFill>
                  <a:srgbClr val="1B1517"/>
                </a:solidFill>
                <a:latin typeface="Palatino Linotype"/>
              </a:rPr>
              <a:t>An unverified WhatsApp
or Telegram group</a:t>
            </a:r>
          </a:p>
        </p:txBody>
      </p:sp>
      <p:sp>
        <p:nvSpPr>
          <p:cNvPr id="12" name="Rectangle 11"/>
          <p:cNvSpPr/>
          <p:nvPr/>
        </p:nvSpPr>
        <p:spPr>
          <a:xfrm>
            <a:off x="7772400" y="3584448"/>
            <a:ext cx="88900" cy="889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973568" y="3520440"/>
            <a:ext cx="3200400" cy="274320"/>
          </a:xfrm>
          <a:prstGeom prst="rect">
            <a:avLst/>
          </a:prstGeom>
          <a:noFill/>
        </p:spPr>
        <p:txBody>
          <a:bodyPr wrap="square" lIns="0" tIns="0" rIns="0" bIns="0" anchor="t">
            <a:spAutoFit/>
          </a:bodyPr>
          <a:lstStyle/>
          <a:p>
            <a:pPr algn="l"/>
            <a:r>
              <a:rPr sz="1300" b="0" i="0">
                <a:solidFill>
                  <a:srgbClr val="2C2427"/>
                </a:solidFill>
                <a:latin typeface="Segoe UI"/>
              </a:rPr>
              <a:t>No identity</a:t>
            </a:r>
          </a:p>
        </p:txBody>
      </p:sp>
      <p:sp>
        <p:nvSpPr>
          <p:cNvPr id="14" name="Rectangle 13"/>
          <p:cNvSpPr/>
          <p:nvPr/>
        </p:nvSpPr>
        <p:spPr>
          <a:xfrm>
            <a:off x="7772400" y="3913632"/>
            <a:ext cx="88900" cy="889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7973568" y="3849624"/>
            <a:ext cx="3200400" cy="274320"/>
          </a:xfrm>
          <a:prstGeom prst="rect">
            <a:avLst/>
          </a:prstGeom>
          <a:noFill/>
        </p:spPr>
        <p:txBody>
          <a:bodyPr wrap="square" lIns="0" tIns="0" rIns="0" bIns="0" anchor="t">
            <a:spAutoFit/>
          </a:bodyPr>
          <a:lstStyle/>
          <a:p>
            <a:pPr algn="l"/>
            <a:r>
              <a:rPr sz="1300" b="0" i="0">
                <a:solidFill>
                  <a:srgbClr val="2C2427"/>
                </a:solidFill>
                <a:latin typeface="Segoe UI"/>
              </a:rPr>
              <a:t>No reputation</a:t>
            </a:r>
          </a:p>
        </p:txBody>
      </p:sp>
      <p:sp>
        <p:nvSpPr>
          <p:cNvPr id="16" name="Rectangle 15"/>
          <p:cNvSpPr/>
          <p:nvPr/>
        </p:nvSpPr>
        <p:spPr>
          <a:xfrm>
            <a:off x="7772400" y="4242816"/>
            <a:ext cx="88900" cy="889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7973568" y="4178808"/>
            <a:ext cx="3200400" cy="274320"/>
          </a:xfrm>
          <a:prstGeom prst="rect">
            <a:avLst/>
          </a:prstGeom>
          <a:noFill/>
        </p:spPr>
        <p:txBody>
          <a:bodyPr wrap="square" lIns="0" tIns="0" rIns="0" bIns="0" anchor="t">
            <a:spAutoFit/>
          </a:bodyPr>
          <a:lstStyle/>
          <a:p>
            <a:pPr algn="l"/>
            <a:r>
              <a:rPr sz="1300" b="0" i="0">
                <a:solidFill>
                  <a:srgbClr val="2C2427"/>
                </a:solidFill>
                <a:latin typeface="Segoe UI"/>
              </a:rPr>
              <a:t>No record of who holds what</a:t>
            </a:r>
          </a:p>
        </p:txBody>
      </p:sp>
      <p:sp>
        <p:nvSpPr>
          <p:cNvPr id="18" name="TextBox 17"/>
          <p:cNvSpPr txBox="1"/>
          <p:nvPr/>
        </p:nvSpPr>
        <p:spPr>
          <a:xfrm>
            <a:off x="1828800" y="5074920"/>
            <a:ext cx="10058400" cy="548640"/>
          </a:xfrm>
          <a:prstGeom prst="rect">
            <a:avLst/>
          </a:prstGeom>
          <a:noFill/>
        </p:spPr>
        <p:txBody>
          <a:bodyPr wrap="square" lIns="0" tIns="0" rIns="0" bIns="0" anchor="t">
            <a:spAutoFit/>
          </a:bodyPr>
          <a:lstStyle/>
          <a:p>
            <a:pPr algn="l"/>
            <a:r>
              <a:rPr sz="1900" b="1" i="1">
                <a:solidFill>
                  <a:srgbClr val="6E1023"/>
                </a:solidFill>
                <a:latin typeface="Palatino Linotype"/>
              </a:rPr>
              <a:t>So lenders are afraid to lend — and nothing circulates.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77240" y="475488"/>
            <a:ext cx="914400" cy="1005840"/>
          </a:xfrm>
          <a:prstGeom prst="rect">
            <a:avLst/>
          </a:prstGeom>
          <a:noFill/>
        </p:spPr>
        <p:txBody>
          <a:bodyPr wrap="square" lIns="0" tIns="0" rIns="0" bIns="0" anchor="t">
            <a:spAutoFit/>
          </a:bodyPr>
          <a:lstStyle/>
          <a:p>
            <a:pPr algn="l">
              <a:lnSpc>
                <a:spcPct val="85000"/>
              </a:lnSpc>
            </a:pPr>
            <a:r>
              <a:rPr sz="5400" b="1" i="0">
                <a:solidFill>
                  <a:srgbClr val="6E1023"/>
                </a:solidFill>
                <a:latin typeface="Palatino Linotype"/>
              </a:rPr>
              <a:t>N</a:t>
            </a:r>
          </a:p>
        </p:txBody>
      </p:sp>
      <p:sp>
        <p:nvSpPr>
          <p:cNvPr id="4" name="TextBox 3"/>
          <p:cNvSpPr txBox="1"/>
          <p:nvPr/>
        </p:nvSpPr>
        <p:spPr>
          <a:xfrm>
            <a:off x="777240" y="1298448"/>
            <a:ext cx="1280160" cy="228600"/>
          </a:xfrm>
          <a:prstGeom prst="rect">
            <a:avLst/>
          </a:prstGeom>
          <a:noFill/>
        </p:spPr>
        <p:txBody>
          <a:bodyPr wrap="square" lIns="0" tIns="0" rIns="0" bIns="0" anchor="t">
            <a:spAutoFit/>
          </a:bodyPr>
          <a:lstStyle/>
          <a:p>
            <a:pPr algn="l"/>
            <a:r>
              <a:rPr sz="900" b="1" i="0" spc="160">
                <a:solidFill>
                  <a:srgbClr val="B8862F"/>
                </a:solidFill>
                <a:latin typeface="Segoe UI"/>
              </a:rPr>
              <a:t>NEED</a:t>
            </a:r>
          </a:p>
        </p:txBody>
      </p:sp>
      <p:sp>
        <p:nvSpPr>
          <p:cNvPr id="5" name="TextBox 4"/>
          <p:cNvSpPr txBox="1"/>
          <p:nvPr/>
        </p:nvSpPr>
        <p:spPr>
          <a:xfrm>
            <a:off x="1828800" y="566928"/>
            <a:ext cx="7391095" cy="822960"/>
          </a:xfrm>
          <a:prstGeom prst="rect">
            <a:avLst/>
          </a:prstGeom>
          <a:noFill/>
        </p:spPr>
        <p:txBody>
          <a:bodyPr wrap="square" lIns="0" tIns="0" rIns="0" bIns="0" anchor="t">
            <a:spAutoFit/>
          </a:bodyPr>
          <a:lstStyle/>
          <a:p>
            <a:pPr algn="l">
              <a:lnSpc>
                <a:spcPct val="105000"/>
              </a:lnSpc>
            </a:pPr>
            <a:r>
              <a:rPr sz="2700" b="1" i="0">
                <a:solidFill>
                  <a:srgbClr val="1B1517"/>
                </a:solidFill>
                <a:latin typeface="Palatino Linotype"/>
              </a:rPr>
              <a:t>We asked 29 UTM students. They confirmed it.</a:t>
            </a:r>
          </a:p>
        </p:txBody>
      </p:sp>
      <p:sp>
        <p:nvSpPr>
          <p:cNvPr id="6" name="TextBox 5"/>
          <p:cNvSpPr txBox="1"/>
          <p:nvPr/>
        </p:nvSpPr>
        <p:spPr>
          <a:xfrm>
            <a:off x="9219895" y="713232"/>
            <a:ext cx="2194560" cy="274320"/>
          </a:xfrm>
          <a:prstGeom prst="rect">
            <a:avLst/>
          </a:prstGeom>
          <a:noFill/>
        </p:spPr>
        <p:txBody>
          <a:bodyPr wrap="square" lIns="0" tIns="0" rIns="0" bIns="0" anchor="t">
            <a:spAutoFit/>
          </a:bodyPr>
          <a:lstStyle/>
          <a:p>
            <a:pPr algn="r"/>
            <a:r>
              <a:rPr sz="900" b="1" i="0" spc="140">
                <a:solidFill>
                  <a:srgbClr val="6C6063"/>
                </a:solidFill>
                <a:latin typeface="Segoe UI"/>
              </a:rPr>
              <a:t>OUR OWN QUESTIONNAIRE</a:t>
            </a:r>
          </a:p>
        </p:txBody>
      </p:sp>
      <p:sp>
        <p:nvSpPr>
          <p:cNvPr id="7" name="Rectangle 6"/>
          <p:cNvSpPr/>
          <p:nvPr/>
        </p:nvSpPr>
        <p:spPr>
          <a:xfrm>
            <a:off x="1828800" y="1481328"/>
            <a:ext cx="9585655" cy="17780"/>
          </a:xfrm>
          <a:prstGeom prst="rect">
            <a:avLst/>
          </a:prstGeom>
          <a:solidFill>
            <a:srgbClr val="1B15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1828800" y="2148840"/>
            <a:ext cx="2190673" cy="2286000"/>
          </a:xfrm>
          <a:prstGeom prst="rect">
            <a:avLst/>
          </a:prstGeom>
          <a:solidFill>
            <a:srgbClr val="F8F5F5"/>
          </a:solidFill>
          <a:ln w="9525">
            <a:solidFill>
              <a:srgbClr val="DF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1828800" y="2148840"/>
            <a:ext cx="2190673" cy="50800"/>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2066544" y="2487168"/>
            <a:ext cx="1715185" cy="868680"/>
          </a:xfrm>
          <a:prstGeom prst="rect">
            <a:avLst/>
          </a:prstGeom>
          <a:noFill/>
        </p:spPr>
        <p:txBody>
          <a:bodyPr wrap="square" lIns="0" tIns="0" rIns="0" bIns="0" anchor="t">
            <a:spAutoFit/>
          </a:bodyPr>
          <a:lstStyle/>
          <a:p>
            <a:pPr algn="l">
              <a:lnSpc>
                <a:spcPct val="90000"/>
              </a:lnSpc>
            </a:pPr>
            <a:r>
              <a:rPr sz="4200" b="1" i="0">
                <a:solidFill>
                  <a:srgbClr val="6E1023"/>
                </a:solidFill>
                <a:latin typeface="Palatino Linotype"/>
              </a:rPr>
              <a:t>62.1%</a:t>
            </a:r>
          </a:p>
        </p:txBody>
      </p:sp>
      <p:sp>
        <p:nvSpPr>
          <p:cNvPr id="11" name="TextBox 10"/>
          <p:cNvSpPr txBox="1"/>
          <p:nvPr/>
        </p:nvSpPr>
        <p:spPr>
          <a:xfrm>
            <a:off x="2066544" y="3364992"/>
            <a:ext cx="1715185" cy="914400"/>
          </a:xfrm>
          <a:prstGeom prst="rect">
            <a:avLst/>
          </a:prstGeom>
          <a:noFill/>
        </p:spPr>
        <p:txBody>
          <a:bodyPr wrap="square" lIns="0" tIns="0" rIns="0" bIns="0" anchor="t">
            <a:spAutoFit/>
          </a:bodyPr>
          <a:lstStyle/>
          <a:p>
            <a:pPr algn="l">
              <a:lnSpc>
                <a:spcPct val="130000"/>
              </a:lnSpc>
            </a:pPr>
            <a:r>
              <a:rPr sz="1150" b="0" i="0">
                <a:solidFill>
                  <a:srgbClr val="2C2427"/>
                </a:solidFill>
                <a:latin typeface="Segoe UI"/>
              </a:rPr>
              <a:t>spend RM50–RM150 a year on items used for one semester</a:t>
            </a:r>
          </a:p>
        </p:txBody>
      </p:sp>
      <p:sp>
        <p:nvSpPr>
          <p:cNvPr id="12" name="Rectangle 11"/>
          <p:cNvSpPr/>
          <p:nvPr/>
        </p:nvSpPr>
        <p:spPr>
          <a:xfrm>
            <a:off x="4293793" y="2148840"/>
            <a:ext cx="2190673" cy="2286000"/>
          </a:xfrm>
          <a:prstGeom prst="rect">
            <a:avLst/>
          </a:prstGeom>
          <a:solidFill>
            <a:srgbClr val="F8F5F5"/>
          </a:solidFill>
          <a:ln w="9525">
            <a:solidFill>
              <a:srgbClr val="DF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4293793" y="2148840"/>
            <a:ext cx="2190673" cy="50800"/>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4531537" y="2487168"/>
            <a:ext cx="1715185" cy="868680"/>
          </a:xfrm>
          <a:prstGeom prst="rect">
            <a:avLst/>
          </a:prstGeom>
          <a:noFill/>
        </p:spPr>
        <p:txBody>
          <a:bodyPr wrap="square" lIns="0" tIns="0" rIns="0" bIns="0" anchor="t">
            <a:spAutoFit/>
          </a:bodyPr>
          <a:lstStyle/>
          <a:p>
            <a:pPr algn="l">
              <a:lnSpc>
                <a:spcPct val="90000"/>
              </a:lnSpc>
            </a:pPr>
            <a:r>
              <a:rPr sz="4200" b="1" i="0">
                <a:solidFill>
                  <a:srgbClr val="6E1023"/>
                </a:solidFill>
                <a:latin typeface="Palatino Linotype"/>
              </a:rPr>
              <a:t>37.9%</a:t>
            </a:r>
          </a:p>
        </p:txBody>
      </p:sp>
      <p:sp>
        <p:nvSpPr>
          <p:cNvPr id="15" name="TextBox 14"/>
          <p:cNvSpPr txBox="1"/>
          <p:nvPr/>
        </p:nvSpPr>
        <p:spPr>
          <a:xfrm>
            <a:off x="4531537" y="3364992"/>
            <a:ext cx="1715185" cy="914400"/>
          </a:xfrm>
          <a:prstGeom prst="rect">
            <a:avLst/>
          </a:prstGeom>
          <a:noFill/>
        </p:spPr>
        <p:txBody>
          <a:bodyPr wrap="square" lIns="0" tIns="0" rIns="0" bIns="0" anchor="t">
            <a:spAutoFit/>
          </a:bodyPr>
          <a:lstStyle/>
          <a:p>
            <a:pPr algn="l">
              <a:lnSpc>
                <a:spcPct val="130000"/>
              </a:lnSpc>
            </a:pPr>
            <a:r>
              <a:rPr sz="1150" b="0" i="0">
                <a:solidFill>
                  <a:srgbClr val="2C2427"/>
                </a:solidFill>
                <a:latin typeface="Segoe UI"/>
              </a:rPr>
              <a:t>fear most that a lent item never comes back</a:t>
            </a:r>
          </a:p>
        </p:txBody>
      </p:sp>
      <p:sp>
        <p:nvSpPr>
          <p:cNvPr id="16" name="Rectangle 15"/>
          <p:cNvSpPr/>
          <p:nvPr/>
        </p:nvSpPr>
        <p:spPr>
          <a:xfrm>
            <a:off x="6758786" y="2148840"/>
            <a:ext cx="2190673" cy="2286000"/>
          </a:xfrm>
          <a:prstGeom prst="rect">
            <a:avLst/>
          </a:prstGeom>
          <a:solidFill>
            <a:srgbClr val="F8F5F5"/>
          </a:solidFill>
          <a:ln w="9525">
            <a:solidFill>
              <a:srgbClr val="DF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6758786" y="2148840"/>
            <a:ext cx="2190673" cy="50800"/>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996530" y="2487168"/>
            <a:ext cx="1715185" cy="868680"/>
          </a:xfrm>
          <a:prstGeom prst="rect">
            <a:avLst/>
          </a:prstGeom>
          <a:noFill/>
        </p:spPr>
        <p:txBody>
          <a:bodyPr wrap="square" lIns="0" tIns="0" rIns="0" bIns="0" anchor="t">
            <a:spAutoFit/>
          </a:bodyPr>
          <a:lstStyle/>
          <a:p>
            <a:pPr algn="l">
              <a:lnSpc>
                <a:spcPct val="90000"/>
              </a:lnSpc>
            </a:pPr>
            <a:r>
              <a:rPr sz="4200" b="1" i="0">
                <a:solidFill>
                  <a:srgbClr val="6E1023"/>
                </a:solidFill>
                <a:latin typeface="Palatino Linotype"/>
              </a:rPr>
              <a:t>31%</a:t>
            </a:r>
          </a:p>
        </p:txBody>
      </p:sp>
      <p:sp>
        <p:nvSpPr>
          <p:cNvPr id="19" name="TextBox 18"/>
          <p:cNvSpPr txBox="1"/>
          <p:nvPr/>
        </p:nvSpPr>
        <p:spPr>
          <a:xfrm>
            <a:off x="6996530" y="3364992"/>
            <a:ext cx="1715185" cy="914400"/>
          </a:xfrm>
          <a:prstGeom prst="rect">
            <a:avLst/>
          </a:prstGeom>
          <a:noFill/>
        </p:spPr>
        <p:txBody>
          <a:bodyPr wrap="square" lIns="0" tIns="0" rIns="0" bIns="0" anchor="t">
            <a:spAutoFit/>
          </a:bodyPr>
          <a:lstStyle/>
          <a:p>
            <a:pPr algn="l">
              <a:lnSpc>
                <a:spcPct val="130000"/>
              </a:lnSpc>
            </a:pPr>
            <a:r>
              <a:rPr sz="1150" b="0" i="0">
                <a:solidFill>
                  <a:srgbClr val="2C2427"/>
                </a:solidFill>
                <a:latin typeface="Segoe UI"/>
              </a:rPr>
              <a:t>have no proof at all if an item returns damaged</a:t>
            </a:r>
          </a:p>
        </p:txBody>
      </p:sp>
      <p:sp>
        <p:nvSpPr>
          <p:cNvPr id="20" name="Rectangle 19"/>
          <p:cNvSpPr/>
          <p:nvPr/>
        </p:nvSpPr>
        <p:spPr>
          <a:xfrm>
            <a:off x="9223779" y="2148840"/>
            <a:ext cx="2190673" cy="2286000"/>
          </a:xfrm>
          <a:prstGeom prst="rect">
            <a:avLst/>
          </a:prstGeom>
          <a:solidFill>
            <a:srgbClr val="F8F5F5"/>
          </a:solidFill>
          <a:ln w="9525">
            <a:solidFill>
              <a:srgbClr val="DF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9223779" y="2148840"/>
            <a:ext cx="2190673" cy="50800"/>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9461523" y="2487168"/>
            <a:ext cx="1715185" cy="868680"/>
          </a:xfrm>
          <a:prstGeom prst="rect">
            <a:avLst/>
          </a:prstGeom>
          <a:noFill/>
        </p:spPr>
        <p:txBody>
          <a:bodyPr wrap="square" lIns="0" tIns="0" rIns="0" bIns="0" anchor="t">
            <a:spAutoFit/>
          </a:bodyPr>
          <a:lstStyle/>
          <a:p>
            <a:pPr algn="l">
              <a:lnSpc>
                <a:spcPct val="90000"/>
              </a:lnSpc>
            </a:pPr>
            <a:r>
              <a:rPr sz="4200" b="1" i="0">
                <a:solidFill>
                  <a:srgbClr val="6E1023"/>
                </a:solidFill>
                <a:latin typeface="Palatino Linotype"/>
              </a:rPr>
              <a:t>24.1%</a:t>
            </a:r>
          </a:p>
        </p:txBody>
      </p:sp>
      <p:sp>
        <p:nvSpPr>
          <p:cNvPr id="23" name="TextBox 22"/>
          <p:cNvSpPr txBox="1"/>
          <p:nvPr/>
        </p:nvSpPr>
        <p:spPr>
          <a:xfrm>
            <a:off x="9461523" y="3364992"/>
            <a:ext cx="1715185" cy="914400"/>
          </a:xfrm>
          <a:prstGeom prst="rect">
            <a:avLst/>
          </a:prstGeom>
          <a:noFill/>
        </p:spPr>
        <p:txBody>
          <a:bodyPr wrap="square" lIns="0" tIns="0" rIns="0" bIns="0" anchor="t">
            <a:spAutoFit/>
          </a:bodyPr>
          <a:lstStyle/>
          <a:p>
            <a:pPr algn="l">
              <a:lnSpc>
                <a:spcPct val="130000"/>
              </a:lnSpc>
            </a:pPr>
            <a:r>
              <a:rPr sz="1150" b="0" i="0">
                <a:solidFill>
                  <a:srgbClr val="2C2427"/>
                </a:solidFill>
                <a:latin typeface="Segoe UI"/>
              </a:rPr>
              <a:t>never find anyone willing to lend to them</a:t>
            </a:r>
          </a:p>
        </p:txBody>
      </p:sp>
      <p:sp>
        <p:nvSpPr>
          <p:cNvPr id="24" name="TextBox 23"/>
          <p:cNvSpPr txBox="1"/>
          <p:nvPr/>
        </p:nvSpPr>
        <p:spPr>
          <a:xfrm>
            <a:off x="1828800" y="4828032"/>
            <a:ext cx="10058400" cy="457200"/>
          </a:xfrm>
          <a:prstGeom prst="rect">
            <a:avLst/>
          </a:prstGeom>
          <a:noFill/>
        </p:spPr>
        <p:txBody>
          <a:bodyPr wrap="square" lIns="0" tIns="0" rIns="0" bIns="0" anchor="t">
            <a:spAutoFit/>
          </a:bodyPr>
          <a:lstStyle/>
          <a:p>
            <a:pPr algn="l"/>
            <a:r>
              <a:rPr sz="1200" b="0" i="1">
                <a:solidFill>
                  <a:srgbClr val="6C6063"/>
                </a:solidFill>
                <a:latin typeface="Segoe UI"/>
              </a:rPr>
              <a:t>29 students · multiple faculties · multiple years of study</a:t>
            </a:r>
          </a:p>
        </p:txBody>
      </p:sp>
      <p:sp>
        <p:nvSpPr>
          <p:cNvPr id="25" name="TextBox 24"/>
          <p:cNvSpPr txBox="1"/>
          <p:nvPr/>
        </p:nvSpPr>
        <p:spPr>
          <a:xfrm>
            <a:off x="1828800" y="5321808"/>
            <a:ext cx="10058400" cy="548640"/>
          </a:xfrm>
          <a:prstGeom prst="rect">
            <a:avLst/>
          </a:prstGeom>
          <a:noFill/>
        </p:spPr>
        <p:txBody>
          <a:bodyPr wrap="square" lIns="0" tIns="0" rIns="0" bIns="0" anchor="t">
            <a:spAutoFit/>
          </a:bodyPr>
          <a:lstStyle/>
          <a:p>
            <a:pPr algn="l"/>
            <a:r>
              <a:rPr sz="1900" b="1" i="1">
                <a:solidFill>
                  <a:srgbClr val="6E1023"/>
                </a:solidFill>
                <a:latin typeface="Palatino Linotype"/>
              </a:rPr>
              <a:t>The demand is there. The infrastructure was not.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77240" y="475488"/>
            <a:ext cx="914400" cy="1005840"/>
          </a:xfrm>
          <a:prstGeom prst="rect">
            <a:avLst/>
          </a:prstGeom>
          <a:noFill/>
        </p:spPr>
        <p:txBody>
          <a:bodyPr wrap="square" lIns="0" tIns="0" rIns="0" bIns="0" anchor="t">
            <a:spAutoFit/>
          </a:bodyPr>
          <a:lstStyle/>
          <a:p>
            <a:pPr algn="l">
              <a:lnSpc>
                <a:spcPct val="85000"/>
              </a:lnSpc>
            </a:pPr>
            <a:r>
              <a:rPr sz="5400" b="1" i="0">
                <a:solidFill>
                  <a:srgbClr val="6E1023"/>
                </a:solidFill>
                <a:latin typeface="Palatino Linotype"/>
              </a:rPr>
              <a:t>A</a:t>
            </a:r>
          </a:p>
        </p:txBody>
      </p:sp>
      <p:sp>
        <p:nvSpPr>
          <p:cNvPr id="4" name="TextBox 3"/>
          <p:cNvSpPr txBox="1"/>
          <p:nvPr/>
        </p:nvSpPr>
        <p:spPr>
          <a:xfrm>
            <a:off x="777240" y="1298448"/>
            <a:ext cx="1280160" cy="228600"/>
          </a:xfrm>
          <a:prstGeom prst="rect">
            <a:avLst/>
          </a:prstGeom>
          <a:noFill/>
        </p:spPr>
        <p:txBody>
          <a:bodyPr wrap="square" lIns="0" tIns="0" rIns="0" bIns="0" anchor="t">
            <a:spAutoFit/>
          </a:bodyPr>
          <a:lstStyle/>
          <a:p>
            <a:pPr algn="l"/>
            <a:r>
              <a:rPr sz="900" b="1" i="0" spc="160">
                <a:solidFill>
                  <a:srgbClr val="B8862F"/>
                </a:solidFill>
                <a:latin typeface="Segoe UI"/>
              </a:rPr>
              <a:t>APPROACH</a:t>
            </a:r>
          </a:p>
        </p:txBody>
      </p:sp>
      <p:sp>
        <p:nvSpPr>
          <p:cNvPr id="5" name="TextBox 4"/>
          <p:cNvSpPr txBox="1"/>
          <p:nvPr/>
        </p:nvSpPr>
        <p:spPr>
          <a:xfrm>
            <a:off x="1828800" y="566928"/>
            <a:ext cx="7391095" cy="822960"/>
          </a:xfrm>
          <a:prstGeom prst="rect">
            <a:avLst/>
          </a:prstGeom>
          <a:noFill/>
        </p:spPr>
        <p:txBody>
          <a:bodyPr wrap="square" lIns="0" tIns="0" rIns="0" bIns="0" anchor="t">
            <a:spAutoFit/>
          </a:bodyPr>
          <a:lstStyle/>
          <a:p>
            <a:pPr algn="l">
              <a:lnSpc>
                <a:spcPct val="105000"/>
              </a:lnSpc>
            </a:pPr>
            <a:r>
              <a:rPr sz="2700" b="1" i="0">
                <a:solidFill>
                  <a:srgbClr val="1B1517"/>
                </a:solidFill>
                <a:latin typeface="Palatino Linotype"/>
              </a:rPr>
              <a:t>Three subsystems. Nine modules. One verified session.</a:t>
            </a:r>
          </a:p>
        </p:txBody>
      </p:sp>
      <p:sp>
        <p:nvSpPr>
          <p:cNvPr id="6" name="TextBox 5"/>
          <p:cNvSpPr txBox="1"/>
          <p:nvPr/>
        </p:nvSpPr>
        <p:spPr>
          <a:xfrm>
            <a:off x="9219895" y="713232"/>
            <a:ext cx="2194560" cy="274320"/>
          </a:xfrm>
          <a:prstGeom prst="rect">
            <a:avLst/>
          </a:prstGeom>
          <a:noFill/>
        </p:spPr>
        <p:txBody>
          <a:bodyPr wrap="square" lIns="0" tIns="0" rIns="0" bIns="0" anchor="t">
            <a:spAutoFit/>
          </a:bodyPr>
          <a:lstStyle/>
          <a:p>
            <a:pPr algn="r"/>
            <a:r>
              <a:rPr sz="900" b="1" i="0" spc="140">
                <a:solidFill>
                  <a:srgbClr val="6C6063"/>
                </a:solidFill>
                <a:latin typeface="Segoe UI"/>
              </a:rPr>
              <a:t>3 OWNERS</a:t>
            </a:r>
          </a:p>
        </p:txBody>
      </p:sp>
      <p:sp>
        <p:nvSpPr>
          <p:cNvPr id="7" name="Rectangle 6"/>
          <p:cNvSpPr/>
          <p:nvPr/>
        </p:nvSpPr>
        <p:spPr>
          <a:xfrm>
            <a:off x="1828800" y="1481328"/>
            <a:ext cx="9585655" cy="17780"/>
          </a:xfrm>
          <a:prstGeom prst="rect">
            <a:avLst/>
          </a:prstGeom>
          <a:solidFill>
            <a:srgbClr val="1B15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1828800" y="1965960"/>
            <a:ext cx="3024530" cy="3429000"/>
          </a:xfrm>
          <a:prstGeom prst="rect">
            <a:avLst/>
          </a:prstGeom>
          <a:solidFill>
            <a:srgbClr val="FFFFFF"/>
          </a:solidFill>
          <a:ln w="9525">
            <a:solidFill>
              <a:srgbClr val="DF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1828800" y="1965960"/>
            <a:ext cx="3024530" cy="868680"/>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2066544" y="2084831"/>
            <a:ext cx="2567330" cy="548640"/>
          </a:xfrm>
          <a:prstGeom prst="rect">
            <a:avLst/>
          </a:prstGeom>
          <a:noFill/>
        </p:spPr>
        <p:txBody>
          <a:bodyPr wrap="square" lIns="0" tIns="0" rIns="0" bIns="0" anchor="t">
            <a:spAutoFit/>
          </a:bodyPr>
          <a:lstStyle/>
          <a:p>
            <a:pPr algn="l">
              <a:lnSpc>
                <a:spcPct val="105000"/>
              </a:lnSpc>
            </a:pPr>
            <a:r>
              <a:rPr sz="1500" b="1" i="0">
                <a:solidFill>
                  <a:srgbClr val="FBF3F1"/>
                </a:solidFill>
                <a:latin typeface="Palatino Linotype"/>
              </a:rPr>
              <a:t>Identity &amp;
User Management</a:t>
            </a:r>
          </a:p>
        </p:txBody>
      </p:sp>
      <p:sp>
        <p:nvSpPr>
          <p:cNvPr id="11" name="TextBox 10"/>
          <p:cNvSpPr txBox="1"/>
          <p:nvPr/>
        </p:nvSpPr>
        <p:spPr>
          <a:xfrm>
            <a:off x="2066544" y="2889504"/>
            <a:ext cx="2567330" cy="228600"/>
          </a:xfrm>
          <a:prstGeom prst="rect">
            <a:avLst/>
          </a:prstGeom>
          <a:noFill/>
        </p:spPr>
        <p:txBody>
          <a:bodyPr wrap="square" lIns="0" tIns="0" rIns="0" bIns="0" anchor="t">
            <a:spAutoFit/>
          </a:bodyPr>
          <a:lstStyle/>
          <a:p>
            <a:pPr algn="l"/>
            <a:r>
              <a:rPr sz="950" b="0" i="0">
                <a:solidFill>
                  <a:srgbClr val="6C6063"/>
                </a:solidFill>
                <a:latin typeface="Segoe UI"/>
              </a:rPr>
              <a:t>Ahmat Mahamat Mourdji Moustapha</a:t>
            </a:r>
          </a:p>
        </p:txBody>
      </p:sp>
      <p:sp>
        <p:nvSpPr>
          <p:cNvPr id="12" name="Rectangle 11"/>
          <p:cNvSpPr/>
          <p:nvPr/>
        </p:nvSpPr>
        <p:spPr>
          <a:xfrm>
            <a:off x="2066544" y="3300984"/>
            <a:ext cx="76200" cy="762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2249424" y="3246120"/>
            <a:ext cx="2384450" cy="256032"/>
          </a:xfrm>
          <a:prstGeom prst="rect">
            <a:avLst/>
          </a:prstGeom>
          <a:noFill/>
        </p:spPr>
        <p:txBody>
          <a:bodyPr wrap="square" lIns="0" tIns="0" rIns="0" bIns="0" anchor="t">
            <a:spAutoFit/>
          </a:bodyPr>
          <a:lstStyle/>
          <a:p>
            <a:pPr algn="l"/>
            <a:r>
              <a:rPr sz="1200" b="0" i="0">
                <a:solidFill>
                  <a:srgbClr val="1B1517"/>
                </a:solidFill>
                <a:latin typeface="Segoe UI"/>
              </a:rPr>
              <a:t>Authentication</a:t>
            </a:r>
          </a:p>
        </p:txBody>
      </p:sp>
      <p:sp>
        <p:nvSpPr>
          <p:cNvPr id="14" name="Rectangle 13"/>
          <p:cNvSpPr/>
          <p:nvPr/>
        </p:nvSpPr>
        <p:spPr>
          <a:xfrm>
            <a:off x="2066544" y="3602736"/>
            <a:ext cx="76200" cy="762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2249424" y="3547872"/>
            <a:ext cx="2384450" cy="256032"/>
          </a:xfrm>
          <a:prstGeom prst="rect">
            <a:avLst/>
          </a:prstGeom>
          <a:noFill/>
        </p:spPr>
        <p:txBody>
          <a:bodyPr wrap="square" lIns="0" tIns="0" rIns="0" bIns="0" anchor="t">
            <a:spAutoFit/>
          </a:bodyPr>
          <a:lstStyle/>
          <a:p>
            <a:pPr algn="l"/>
            <a:r>
              <a:rPr sz="1200" b="0" i="0">
                <a:solidFill>
                  <a:srgbClr val="1B1517"/>
                </a:solidFill>
                <a:latin typeface="Segoe UI"/>
              </a:rPr>
              <a:t>Profile &amp; Trust Score</a:t>
            </a:r>
          </a:p>
        </p:txBody>
      </p:sp>
      <p:sp>
        <p:nvSpPr>
          <p:cNvPr id="16" name="Rectangle 15"/>
          <p:cNvSpPr/>
          <p:nvPr/>
        </p:nvSpPr>
        <p:spPr>
          <a:xfrm>
            <a:off x="2066544" y="3904488"/>
            <a:ext cx="76200" cy="762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2249424" y="3849624"/>
            <a:ext cx="2384450" cy="256032"/>
          </a:xfrm>
          <a:prstGeom prst="rect">
            <a:avLst/>
          </a:prstGeom>
          <a:noFill/>
        </p:spPr>
        <p:txBody>
          <a:bodyPr wrap="square" lIns="0" tIns="0" rIns="0" bIns="0" anchor="t">
            <a:spAutoFit/>
          </a:bodyPr>
          <a:lstStyle/>
          <a:p>
            <a:pPr algn="l"/>
            <a:r>
              <a:rPr sz="1200" b="0" i="0">
                <a:solidFill>
                  <a:srgbClr val="1B1517"/>
                </a:solidFill>
                <a:latin typeface="Segoe UI"/>
              </a:rPr>
              <a:t>Activity Dashboard</a:t>
            </a:r>
          </a:p>
        </p:txBody>
      </p:sp>
      <p:sp>
        <p:nvSpPr>
          <p:cNvPr id="18" name="TextBox 17"/>
          <p:cNvSpPr txBox="1"/>
          <p:nvPr/>
        </p:nvSpPr>
        <p:spPr>
          <a:xfrm>
            <a:off x="2066544" y="4315968"/>
            <a:ext cx="2567330" cy="914400"/>
          </a:xfrm>
          <a:prstGeom prst="rect">
            <a:avLst/>
          </a:prstGeom>
          <a:noFill/>
        </p:spPr>
        <p:txBody>
          <a:bodyPr wrap="square" lIns="0" tIns="0" rIns="0" bIns="0" anchor="t">
            <a:spAutoFit/>
          </a:bodyPr>
          <a:lstStyle/>
          <a:p>
            <a:pPr algn="l">
              <a:lnSpc>
                <a:spcPct val="135000"/>
              </a:lnSpc>
            </a:pPr>
            <a:r>
              <a:rPr sz="1100" b="0" i="0">
                <a:solidFill>
                  <a:srgbClr val="6C6063"/>
                </a:solidFill>
                <a:latin typeface="Segoe UI"/>
              </a:rPr>
              <a:t>Only @utm.my addresses may register.
A 5-star Trust Score is earned from
completed loans — never claimed.</a:t>
            </a:r>
          </a:p>
        </p:txBody>
      </p:sp>
      <p:sp>
        <p:nvSpPr>
          <p:cNvPr id="19" name="Rectangle 18"/>
          <p:cNvSpPr/>
          <p:nvPr/>
        </p:nvSpPr>
        <p:spPr>
          <a:xfrm>
            <a:off x="5109362" y="1965960"/>
            <a:ext cx="3024530" cy="3429000"/>
          </a:xfrm>
          <a:prstGeom prst="rect">
            <a:avLst/>
          </a:prstGeom>
          <a:solidFill>
            <a:srgbClr val="FFFFFF"/>
          </a:solidFill>
          <a:ln w="9525">
            <a:solidFill>
              <a:srgbClr val="DF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5109362" y="1965960"/>
            <a:ext cx="3024530" cy="868680"/>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5347106" y="2084831"/>
            <a:ext cx="2567330" cy="548640"/>
          </a:xfrm>
          <a:prstGeom prst="rect">
            <a:avLst/>
          </a:prstGeom>
          <a:noFill/>
        </p:spPr>
        <p:txBody>
          <a:bodyPr wrap="square" lIns="0" tIns="0" rIns="0" bIns="0" anchor="t">
            <a:spAutoFit/>
          </a:bodyPr>
          <a:lstStyle/>
          <a:p>
            <a:pPr algn="l">
              <a:lnSpc>
                <a:spcPct val="105000"/>
              </a:lnSpc>
            </a:pPr>
            <a:r>
              <a:rPr sz="1500" b="1" i="0">
                <a:solidFill>
                  <a:srgbClr val="FBF3F1"/>
                </a:solidFill>
                <a:latin typeface="Palatino Linotype"/>
              </a:rPr>
              <a:t>Resource Catalog
&amp; Discovery</a:t>
            </a:r>
          </a:p>
        </p:txBody>
      </p:sp>
      <p:sp>
        <p:nvSpPr>
          <p:cNvPr id="22" name="TextBox 21"/>
          <p:cNvSpPr txBox="1"/>
          <p:nvPr/>
        </p:nvSpPr>
        <p:spPr>
          <a:xfrm>
            <a:off x="5347106" y="2889504"/>
            <a:ext cx="2567330" cy="228600"/>
          </a:xfrm>
          <a:prstGeom prst="rect">
            <a:avLst/>
          </a:prstGeom>
          <a:noFill/>
        </p:spPr>
        <p:txBody>
          <a:bodyPr wrap="square" lIns="0" tIns="0" rIns="0" bIns="0" anchor="t">
            <a:spAutoFit/>
          </a:bodyPr>
          <a:lstStyle/>
          <a:p>
            <a:pPr algn="l"/>
            <a:r>
              <a:rPr sz="950" b="0" i="0">
                <a:solidFill>
                  <a:srgbClr val="6C6063"/>
                </a:solidFill>
                <a:latin typeface="Segoe UI"/>
              </a:rPr>
              <a:t>Muaz Ibne Ahmed</a:t>
            </a:r>
          </a:p>
        </p:txBody>
      </p:sp>
      <p:sp>
        <p:nvSpPr>
          <p:cNvPr id="23" name="Rectangle 22"/>
          <p:cNvSpPr/>
          <p:nvPr/>
        </p:nvSpPr>
        <p:spPr>
          <a:xfrm>
            <a:off x="5347106" y="3300984"/>
            <a:ext cx="76200" cy="762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5529986" y="3246120"/>
            <a:ext cx="2384450" cy="256032"/>
          </a:xfrm>
          <a:prstGeom prst="rect">
            <a:avLst/>
          </a:prstGeom>
          <a:noFill/>
        </p:spPr>
        <p:txBody>
          <a:bodyPr wrap="square" lIns="0" tIns="0" rIns="0" bIns="0" anchor="t">
            <a:spAutoFit/>
          </a:bodyPr>
          <a:lstStyle/>
          <a:p>
            <a:pPr algn="l"/>
            <a:r>
              <a:rPr sz="1200" b="0" i="0">
                <a:solidFill>
                  <a:srgbClr val="1B1517"/>
                </a:solidFill>
                <a:latin typeface="Segoe UI"/>
              </a:rPr>
              <a:t>Item Listing &amp; Management</a:t>
            </a:r>
          </a:p>
        </p:txBody>
      </p:sp>
      <p:sp>
        <p:nvSpPr>
          <p:cNvPr id="25" name="Rectangle 24"/>
          <p:cNvSpPr/>
          <p:nvPr/>
        </p:nvSpPr>
        <p:spPr>
          <a:xfrm>
            <a:off x="5347106" y="3602736"/>
            <a:ext cx="76200" cy="762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5529986" y="3547872"/>
            <a:ext cx="2384450" cy="256032"/>
          </a:xfrm>
          <a:prstGeom prst="rect">
            <a:avLst/>
          </a:prstGeom>
          <a:noFill/>
        </p:spPr>
        <p:txBody>
          <a:bodyPr wrap="square" lIns="0" tIns="0" rIns="0" bIns="0" anchor="t">
            <a:spAutoFit/>
          </a:bodyPr>
          <a:lstStyle/>
          <a:p>
            <a:pPr algn="l"/>
            <a:r>
              <a:rPr sz="1200" b="0" i="0">
                <a:solidFill>
                  <a:srgbClr val="1B1517"/>
                </a:solidFill>
                <a:latin typeface="Segoe UI"/>
              </a:rPr>
              <a:t>Category &amp; Condition Metadata</a:t>
            </a:r>
          </a:p>
        </p:txBody>
      </p:sp>
      <p:sp>
        <p:nvSpPr>
          <p:cNvPr id="27" name="Rectangle 26"/>
          <p:cNvSpPr/>
          <p:nvPr/>
        </p:nvSpPr>
        <p:spPr>
          <a:xfrm>
            <a:off x="5347106" y="3904488"/>
            <a:ext cx="76200" cy="762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5529986" y="3849624"/>
            <a:ext cx="2384450" cy="256032"/>
          </a:xfrm>
          <a:prstGeom prst="rect">
            <a:avLst/>
          </a:prstGeom>
          <a:noFill/>
        </p:spPr>
        <p:txBody>
          <a:bodyPr wrap="square" lIns="0" tIns="0" rIns="0" bIns="0" anchor="t">
            <a:spAutoFit/>
          </a:bodyPr>
          <a:lstStyle/>
          <a:p>
            <a:pPr algn="l"/>
            <a:r>
              <a:rPr sz="1200" b="0" i="0">
                <a:solidFill>
                  <a:srgbClr val="1B1517"/>
                </a:solidFill>
                <a:latin typeface="Segoe UI"/>
              </a:rPr>
              <a:t>Location-Based Filter</a:t>
            </a:r>
          </a:p>
        </p:txBody>
      </p:sp>
      <p:sp>
        <p:nvSpPr>
          <p:cNvPr id="29" name="TextBox 28"/>
          <p:cNvSpPr txBox="1"/>
          <p:nvPr/>
        </p:nvSpPr>
        <p:spPr>
          <a:xfrm>
            <a:off x="5347106" y="4315968"/>
            <a:ext cx="2567330" cy="914400"/>
          </a:xfrm>
          <a:prstGeom prst="rect">
            <a:avLst/>
          </a:prstGeom>
          <a:noFill/>
        </p:spPr>
        <p:txBody>
          <a:bodyPr wrap="square" lIns="0" tIns="0" rIns="0" bIns="0" anchor="t">
            <a:spAutoFit/>
          </a:bodyPr>
          <a:lstStyle/>
          <a:p>
            <a:pPr algn="l">
              <a:lnSpc>
                <a:spcPct val="135000"/>
              </a:lnSpc>
            </a:pPr>
            <a:r>
              <a:rPr sz="1100" b="0" i="0">
                <a:solidFill>
                  <a:srgbClr val="6C6063"/>
                </a:solidFill>
                <a:latin typeface="Segoe UI"/>
              </a:rPr>
              <a:t>Server-enforced category and condition.
Filter by residential college and faculty,
sort by true campus distance.</a:t>
            </a:r>
          </a:p>
        </p:txBody>
      </p:sp>
      <p:sp>
        <p:nvSpPr>
          <p:cNvPr id="30" name="Rectangle 29"/>
          <p:cNvSpPr/>
          <p:nvPr/>
        </p:nvSpPr>
        <p:spPr>
          <a:xfrm>
            <a:off x="8389924" y="1965960"/>
            <a:ext cx="3024530" cy="3429000"/>
          </a:xfrm>
          <a:prstGeom prst="rect">
            <a:avLst/>
          </a:prstGeom>
          <a:solidFill>
            <a:srgbClr val="FFFFFF"/>
          </a:solidFill>
          <a:ln w="9525">
            <a:solidFill>
              <a:srgbClr val="DF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Rectangle 30"/>
          <p:cNvSpPr/>
          <p:nvPr/>
        </p:nvSpPr>
        <p:spPr>
          <a:xfrm>
            <a:off x="8389924" y="1965960"/>
            <a:ext cx="3024530" cy="868680"/>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8627668" y="2084831"/>
            <a:ext cx="2567330" cy="548640"/>
          </a:xfrm>
          <a:prstGeom prst="rect">
            <a:avLst/>
          </a:prstGeom>
          <a:noFill/>
        </p:spPr>
        <p:txBody>
          <a:bodyPr wrap="square" lIns="0" tIns="0" rIns="0" bIns="0" anchor="t">
            <a:spAutoFit/>
          </a:bodyPr>
          <a:lstStyle/>
          <a:p>
            <a:pPr algn="l">
              <a:lnSpc>
                <a:spcPct val="105000"/>
              </a:lnSpc>
            </a:pPr>
            <a:r>
              <a:rPr sz="1500" b="1" i="0">
                <a:solidFill>
                  <a:srgbClr val="FBF3F1"/>
                </a:solidFill>
                <a:latin typeface="Palatino Linotype"/>
              </a:rPr>
              <a:t>Transaction
&amp; Handover</a:t>
            </a:r>
          </a:p>
        </p:txBody>
      </p:sp>
      <p:sp>
        <p:nvSpPr>
          <p:cNvPr id="33" name="TextBox 32"/>
          <p:cNvSpPr txBox="1"/>
          <p:nvPr/>
        </p:nvSpPr>
        <p:spPr>
          <a:xfrm>
            <a:off x="8627668" y="2889504"/>
            <a:ext cx="2567330" cy="228600"/>
          </a:xfrm>
          <a:prstGeom prst="rect">
            <a:avLst/>
          </a:prstGeom>
          <a:noFill/>
        </p:spPr>
        <p:txBody>
          <a:bodyPr wrap="square" lIns="0" tIns="0" rIns="0" bIns="0" anchor="t">
            <a:spAutoFit/>
          </a:bodyPr>
          <a:lstStyle/>
          <a:p>
            <a:pPr algn="l"/>
            <a:r>
              <a:rPr sz="950" b="0" i="0">
                <a:solidFill>
                  <a:srgbClr val="6C6063"/>
                </a:solidFill>
                <a:latin typeface="Segoe UI"/>
              </a:rPr>
              <a:t>Mohammed Mohsen Mohammed Alsakkaf</a:t>
            </a:r>
          </a:p>
        </p:txBody>
      </p:sp>
      <p:sp>
        <p:nvSpPr>
          <p:cNvPr id="34" name="Rectangle 33"/>
          <p:cNvSpPr/>
          <p:nvPr/>
        </p:nvSpPr>
        <p:spPr>
          <a:xfrm>
            <a:off x="8627668" y="3300984"/>
            <a:ext cx="76200" cy="762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8810548" y="3246120"/>
            <a:ext cx="2384450" cy="256032"/>
          </a:xfrm>
          <a:prstGeom prst="rect">
            <a:avLst/>
          </a:prstGeom>
          <a:noFill/>
        </p:spPr>
        <p:txBody>
          <a:bodyPr wrap="square" lIns="0" tIns="0" rIns="0" bIns="0" anchor="t">
            <a:spAutoFit/>
          </a:bodyPr>
          <a:lstStyle/>
          <a:p>
            <a:pPr algn="l"/>
            <a:r>
              <a:rPr sz="1200" b="0" i="0">
                <a:solidFill>
                  <a:srgbClr val="1B1517"/>
                </a:solidFill>
                <a:latin typeface="Segoe UI"/>
              </a:rPr>
              <a:t>Request &amp; Approval Workflow</a:t>
            </a:r>
          </a:p>
        </p:txBody>
      </p:sp>
      <p:sp>
        <p:nvSpPr>
          <p:cNvPr id="36" name="Rectangle 35"/>
          <p:cNvSpPr/>
          <p:nvPr/>
        </p:nvSpPr>
        <p:spPr>
          <a:xfrm>
            <a:off x="8627668" y="3602736"/>
            <a:ext cx="76200" cy="762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8810548" y="3547872"/>
            <a:ext cx="2384450" cy="256032"/>
          </a:xfrm>
          <a:prstGeom prst="rect">
            <a:avLst/>
          </a:prstGeom>
          <a:noFill/>
        </p:spPr>
        <p:txBody>
          <a:bodyPr wrap="square" lIns="0" tIns="0" rIns="0" bIns="0" anchor="t">
            <a:spAutoFit/>
          </a:bodyPr>
          <a:lstStyle/>
          <a:p>
            <a:pPr algn="l"/>
            <a:r>
              <a:rPr sz="1200" b="0" i="0">
                <a:solidFill>
                  <a:srgbClr val="1B1517"/>
                </a:solidFill>
                <a:latin typeface="Segoe UI"/>
              </a:rPr>
              <a:t>QR Verification</a:t>
            </a:r>
          </a:p>
        </p:txBody>
      </p:sp>
      <p:sp>
        <p:nvSpPr>
          <p:cNvPr id="38" name="Rectangle 37"/>
          <p:cNvSpPr/>
          <p:nvPr/>
        </p:nvSpPr>
        <p:spPr>
          <a:xfrm>
            <a:off x="8627668" y="3904488"/>
            <a:ext cx="76200" cy="762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TextBox 38"/>
          <p:cNvSpPr txBox="1"/>
          <p:nvPr/>
        </p:nvSpPr>
        <p:spPr>
          <a:xfrm>
            <a:off x="8810548" y="3849624"/>
            <a:ext cx="2384450" cy="256032"/>
          </a:xfrm>
          <a:prstGeom prst="rect">
            <a:avLst/>
          </a:prstGeom>
          <a:noFill/>
        </p:spPr>
        <p:txBody>
          <a:bodyPr wrap="square" lIns="0" tIns="0" rIns="0" bIns="0" anchor="t">
            <a:spAutoFit/>
          </a:bodyPr>
          <a:lstStyle/>
          <a:p>
            <a:pPr algn="l"/>
            <a:r>
              <a:rPr sz="1200" b="0" i="0">
                <a:solidFill>
                  <a:srgbClr val="1B1517"/>
                </a:solidFill>
                <a:latin typeface="Segoe UI"/>
              </a:rPr>
              <a:t>Moderation &amp; Reporting</a:t>
            </a:r>
          </a:p>
        </p:txBody>
      </p:sp>
      <p:sp>
        <p:nvSpPr>
          <p:cNvPr id="40" name="TextBox 39"/>
          <p:cNvSpPr txBox="1"/>
          <p:nvPr/>
        </p:nvSpPr>
        <p:spPr>
          <a:xfrm>
            <a:off x="8627668" y="4315968"/>
            <a:ext cx="2567330" cy="914400"/>
          </a:xfrm>
          <a:prstGeom prst="rect">
            <a:avLst/>
          </a:prstGeom>
          <a:noFill/>
        </p:spPr>
        <p:txBody>
          <a:bodyPr wrap="square" lIns="0" tIns="0" rIns="0" bIns="0" anchor="t">
            <a:spAutoFit/>
          </a:bodyPr>
          <a:lstStyle/>
          <a:p>
            <a:pPr algn="l">
              <a:lnSpc>
                <a:spcPct val="135000"/>
              </a:lnSpc>
            </a:pPr>
            <a:r>
              <a:rPr sz="1100" b="0" i="0">
                <a:solidFill>
                  <a:srgbClr val="6C6063"/>
                </a:solidFill>
                <a:latin typeface="Segoe UI"/>
              </a:rPr>
              <a:t>A request atomically locks the item.
Every state change is appended to
an immutable audit log.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77240" y="475488"/>
            <a:ext cx="914400" cy="1005840"/>
          </a:xfrm>
          <a:prstGeom prst="rect">
            <a:avLst/>
          </a:prstGeom>
          <a:noFill/>
        </p:spPr>
        <p:txBody>
          <a:bodyPr wrap="square" lIns="0" tIns="0" rIns="0" bIns="0" anchor="t">
            <a:spAutoFit/>
          </a:bodyPr>
          <a:lstStyle/>
          <a:p>
            <a:pPr algn="l">
              <a:lnSpc>
                <a:spcPct val="85000"/>
              </a:lnSpc>
            </a:pPr>
            <a:r>
              <a:rPr sz="5400" b="1" i="0">
                <a:solidFill>
                  <a:srgbClr val="6E1023"/>
                </a:solidFill>
                <a:latin typeface="Palatino Linotype"/>
              </a:rPr>
              <a:t>A</a:t>
            </a:r>
          </a:p>
        </p:txBody>
      </p:sp>
      <p:sp>
        <p:nvSpPr>
          <p:cNvPr id="4" name="TextBox 3"/>
          <p:cNvSpPr txBox="1"/>
          <p:nvPr/>
        </p:nvSpPr>
        <p:spPr>
          <a:xfrm>
            <a:off x="777240" y="1298448"/>
            <a:ext cx="1280160" cy="228600"/>
          </a:xfrm>
          <a:prstGeom prst="rect">
            <a:avLst/>
          </a:prstGeom>
          <a:noFill/>
        </p:spPr>
        <p:txBody>
          <a:bodyPr wrap="square" lIns="0" tIns="0" rIns="0" bIns="0" anchor="t">
            <a:spAutoFit/>
          </a:bodyPr>
          <a:lstStyle/>
          <a:p>
            <a:pPr algn="l"/>
            <a:r>
              <a:rPr sz="900" b="1" i="0" spc="160">
                <a:solidFill>
                  <a:srgbClr val="B8862F"/>
                </a:solidFill>
                <a:latin typeface="Segoe UI"/>
              </a:rPr>
              <a:t>APPROACH</a:t>
            </a:r>
          </a:p>
        </p:txBody>
      </p:sp>
      <p:sp>
        <p:nvSpPr>
          <p:cNvPr id="5" name="TextBox 4"/>
          <p:cNvSpPr txBox="1"/>
          <p:nvPr/>
        </p:nvSpPr>
        <p:spPr>
          <a:xfrm>
            <a:off x="1828800" y="566928"/>
            <a:ext cx="7391095" cy="822960"/>
          </a:xfrm>
          <a:prstGeom prst="rect">
            <a:avLst/>
          </a:prstGeom>
          <a:noFill/>
        </p:spPr>
        <p:txBody>
          <a:bodyPr wrap="square" lIns="0" tIns="0" rIns="0" bIns="0" anchor="t">
            <a:spAutoFit/>
          </a:bodyPr>
          <a:lstStyle/>
          <a:p>
            <a:pPr algn="l">
              <a:lnSpc>
                <a:spcPct val="105000"/>
              </a:lnSpc>
            </a:pPr>
            <a:r>
              <a:rPr sz="2700" b="1" i="0">
                <a:solidFill>
                  <a:srgbClr val="1B1517"/>
                </a:solidFill>
                <a:latin typeface="Palatino Linotype"/>
              </a:rPr>
              <a:t>A loan cannot skip a state.</a:t>
            </a:r>
          </a:p>
        </p:txBody>
      </p:sp>
      <p:sp>
        <p:nvSpPr>
          <p:cNvPr id="6" name="TextBox 5"/>
          <p:cNvSpPr txBox="1"/>
          <p:nvPr/>
        </p:nvSpPr>
        <p:spPr>
          <a:xfrm>
            <a:off x="9219895" y="713232"/>
            <a:ext cx="2194560" cy="274320"/>
          </a:xfrm>
          <a:prstGeom prst="rect">
            <a:avLst/>
          </a:prstGeom>
          <a:noFill/>
        </p:spPr>
        <p:txBody>
          <a:bodyPr wrap="square" lIns="0" tIns="0" rIns="0" bIns="0" anchor="t">
            <a:spAutoFit/>
          </a:bodyPr>
          <a:lstStyle/>
          <a:p>
            <a:pPr algn="r"/>
            <a:r>
              <a:rPr sz="900" b="1" i="0" spc="140">
                <a:solidFill>
                  <a:srgbClr val="6C6063"/>
                </a:solidFill>
                <a:latin typeface="Segoe UI"/>
              </a:rPr>
              <a:t>THE ACCOUNTABILITY ENGINE</a:t>
            </a:r>
          </a:p>
        </p:txBody>
      </p:sp>
      <p:sp>
        <p:nvSpPr>
          <p:cNvPr id="7" name="Rectangle 6"/>
          <p:cNvSpPr/>
          <p:nvPr/>
        </p:nvSpPr>
        <p:spPr>
          <a:xfrm>
            <a:off x="1828800" y="1481328"/>
            <a:ext cx="9585655" cy="17780"/>
          </a:xfrm>
          <a:prstGeom prst="rect">
            <a:avLst/>
          </a:prstGeom>
          <a:solidFill>
            <a:srgbClr val="1B15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1828800" y="2103120"/>
            <a:ext cx="1800087" cy="76200"/>
          </a:xfrm>
          <a:prstGeom prst="rect">
            <a:avLst/>
          </a:prstGeom>
          <a:solidFill>
            <a:srgbClr val="8A808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1828800" y="2304288"/>
            <a:ext cx="1800087" cy="320040"/>
          </a:xfrm>
          <a:prstGeom prst="rect">
            <a:avLst/>
          </a:prstGeom>
          <a:noFill/>
        </p:spPr>
        <p:txBody>
          <a:bodyPr wrap="square" lIns="0" tIns="0" rIns="0" bIns="0" anchor="t">
            <a:spAutoFit/>
          </a:bodyPr>
          <a:lstStyle/>
          <a:p>
            <a:pPr algn="l"/>
            <a:r>
              <a:rPr sz="1500" b="1" i="0">
                <a:solidFill>
                  <a:srgbClr val="8A8083"/>
                </a:solidFill>
                <a:latin typeface="Consolas"/>
              </a:rPr>
              <a:t>Available</a:t>
            </a:r>
          </a:p>
        </p:txBody>
      </p:sp>
      <p:sp>
        <p:nvSpPr>
          <p:cNvPr id="10" name="TextBox 9"/>
          <p:cNvSpPr txBox="1"/>
          <p:nvPr/>
        </p:nvSpPr>
        <p:spPr>
          <a:xfrm>
            <a:off x="1828800" y="2670048"/>
            <a:ext cx="1800087" cy="685800"/>
          </a:xfrm>
          <a:prstGeom prst="rect">
            <a:avLst/>
          </a:prstGeom>
          <a:noFill/>
        </p:spPr>
        <p:txBody>
          <a:bodyPr wrap="square" lIns="0" tIns="0" rIns="0" bIns="0" anchor="t">
            <a:spAutoFit/>
          </a:bodyPr>
          <a:lstStyle/>
          <a:p>
            <a:pPr algn="l">
              <a:lnSpc>
                <a:spcPct val="128000"/>
              </a:lnSpc>
            </a:pPr>
            <a:r>
              <a:rPr sz="1100" b="0" i="0">
                <a:solidFill>
                  <a:srgbClr val="6C6063"/>
                </a:solidFill>
                <a:latin typeface="Segoe UI"/>
              </a:rPr>
              <a:t>Listed in the catalog</a:t>
            </a:r>
          </a:p>
        </p:txBody>
      </p:sp>
      <p:sp>
        <p:nvSpPr>
          <p:cNvPr id="11" name="TextBox 10"/>
          <p:cNvSpPr txBox="1"/>
          <p:nvPr/>
        </p:nvSpPr>
        <p:spPr>
          <a:xfrm>
            <a:off x="3628887" y="2249424"/>
            <a:ext cx="146304" cy="274320"/>
          </a:xfrm>
          <a:prstGeom prst="rect">
            <a:avLst/>
          </a:prstGeom>
          <a:noFill/>
        </p:spPr>
        <p:txBody>
          <a:bodyPr wrap="square" lIns="0" tIns="0" rIns="0" bIns="0" anchor="t">
            <a:spAutoFit/>
          </a:bodyPr>
          <a:lstStyle/>
          <a:p>
            <a:pPr algn="ctr"/>
            <a:r>
              <a:rPr sz="1400" b="0" i="0">
                <a:solidFill>
                  <a:srgbClr val="DFD6D6"/>
                </a:solidFill>
                <a:latin typeface="Segoe UI"/>
              </a:rPr>
              <a:t>›</a:t>
            </a:r>
          </a:p>
        </p:txBody>
      </p:sp>
      <p:sp>
        <p:nvSpPr>
          <p:cNvPr id="12" name="Rectangle 11"/>
          <p:cNvSpPr/>
          <p:nvPr/>
        </p:nvSpPr>
        <p:spPr>
          <a:xfrm>
            <a:off x="3775191" y="2103120"/>
            <a:ext cx="1800087" cy="76200"/>
          </a:xfrm>
          <a:prstGeom prst="rect">
            <a:avLst/>
          </a:prstGeom>
          <a:solidFill>
            <a:srgbClr val="B0761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3775191" y="2304288"/>
            <a:ext cx="1800087" cy="320040"/>
          </a:xfrm>
          <a:prstGeom prst="rect">
            <a:avLst/>
          </a:prstGeom>
          <a:noFill/>
        </p:spPr>
        <p:txBody>
          <a:bodyPr wrap="square" lIns="0" tIns="0" rIns="0" bIns="0" anchor="t">
            <a:spAutoFit/>
          </a:bodyPr>
          <a:lstStyle/>
          <a:p>
            <a:pPr algn="l"/>
            <a:r>
              <a:rPr sz="1500" b="1" i="0">
                <a:solidFill>
                  <a:srgbClr val="B0761C"/>
                </a:solidFill>
                <a:latin typeface="Consolas"/>
              </a:rPr>
              <a:t>Pending</a:t>
            </a:r>
          </a:p>
        </p:txBody>
      </p:sp>
      <p:sp>
        <p:nvSpPr>
          <p:cNvPr id="14" name="TextBox 13"/>
          <p:cNvSpPr txBox="1"/>
          <p:nvPr/>
        </p:nvSpPr>
        <p:spPr>
          <a:xfrm>
            <a:off x="3775191" y="2670048"/>
            <a:ext cx="1800087" cy="685800"/>
          </a:xfrm>
          <a:prstGeom prst="rect">
            <a:avLst/>
          </a:prstGeom>
          <a:noFill/>
        </p:spPr>
        <p:txBody>
          <a:bodyPr wrap="square" lIns="0" tIns="0" rIns="0" bIns="0" anchor="t">
            <a:spAutoFit/>
          </a:bodyPr>
          <a:lstStyle/>
          <a:p>
            <a:pPr algn="l">
              <a:lnSpc>
                <a:spcPct val="128000"/>
              </a:lnSpc>
            </a:pPr>
            <a:r>
              <a:rPr sz="1100" b="0" i="0">
                <a:solidFill>
                  <a:srgbClr val="6C6063"/>
                </a:solidFill>
                <a:latin typeface="Segoe UI"/>
              </a:rPr>
              <a:t>Request locks the item atomically</a:t>
            </a:r>
          </a:p>
        </p:txBody>
      </p:sp>
      <p:sp>
        <p:nvSpPr>
          <p:cNvPr id="15" name="TextBox 14"/>
          <p:cNvSpPr txBox="1"/>
          <p:nvPr/>
        </p:nvSpPr>
        <p:spPr>
          <a:xfrm>
            <a:off x="5575278" y="2249424"/>
            <a:ext cx="146304" cy="274320"/>
          </a:xfrm>
          <a:prstGeom prst="rect">
            <a:avLst/>
          </a:prstGeom>
          <a:noFill/>
        </p:spPr>
        <p:txBody>
          <a:bodyPr wrap="square" lIns="0" tIns="0" rIns="0" bIns="0" anchor="t">
            <a:spAutoFit/>
          </a:bodyPr>
          <a:lstStyle/>
          <a:p>
            <a:pPr algn="ctr"/>
            <a:r>
              <a:rPr sz="1400" b="0" i="0">
                <a:solidFill>
                  <a:srgbClr val="DFD6D6"/>
                </a:solidFill>
                <a:latin typeface="Segoe UI"/>
              </a:rPr>
              <a:t>›</a:t>
            </a:r>
          </a:p>
        </p:txBody>
      </p:sp>
      <p:sp>
        <p:nvSpPr>
          <p:cNvPr id="16" name="Rectangle 15"/>
          <p:cNvSpPr/>
          <p:nvPr/>
        </p:nvSpPr>
        <p:spPr>
          <a:xfrm>
            <a:off x="5721582" y="2103120"/>
            <a:ext cx="1800087" cy="76200"/>
          </a:xfrm>
          <a:prstGeom prst="rect">
            <a:avLst/>
          </a:prstGeom>
          <a:solidFill>
            <a:srgbClr val="4B5A8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5721582" y="2304288"/>
            <a:ext cx="1800087" cy="320040"/>
          </a:xfrm>
          <a:prstGeom prst="rect">
            <a:avLst/>
          </a:prstGeom>
          <a:noFill/>
        </p:spPr>
        <p:txBody>
          <a:bodyPr wrap="square" lIns="0" tIns="0" rIns="0" bIns="0" anchor="t">
            <a:spAutoFit/>
          </a:bodyPr>
          <a:lstStyle/>
          <a:p>
            <a:pPr algn="l"/>
            <a:r>
              <a:rPr sz="1500" b="1" i="0">
                <a:solidFill>
                  <a:srgbClr val="4B5A8C"/>
                </a:solidFill>
                <a:latin typeface="Consolas"/>
              </a:rPr>
              <a:t>Approved</a:t>
            </a:r>
          </a:p>
        </p:txBody>
      </p:sp>
      <p:sp>
        <p:nvSpPr>
          <p:cNvPr id="18" name="TextBox 17"/>
          <p:cNvSpPr txBox="1"/>
          <p:nvPr/>
        </p:nvSpPr>
        <p:spPr>
          <a:xfrm>
            <a:off x="5721582" y="2670048"/>
            <a:ext cx="1800087" cy="685800"/>
          </a:xfrm>
          <a:prstGeom prst="rect">
            <a:avLst/>
          </a:prstGeom>
          <a:noFill/>
        </p:spPr>
        <p:txBody>
          <a:bodyPr wrap="square" lIns="0" tIns="0" rIns="0" bIns="0" anchor="t">
            <a:spAutoFit/>
          </a:bodyPr>
          <a:lstStyle/>
          <a:p>
            <a:pPr algn="l">
              <a:lnSpc>
                <a:spcPct val="128000"/>
              </a:lnSpc>
            </a:pPr>
            <a:r>
              <a:rPr sz="1100" b="0" i="0">
                <a:solidFill>
                  <a:srgbClr val="6C6063"/>
                </a:solidFill>
                <a:latin typeface="Segoe UI"/>
              </a:rPr>
              <a:t>Lender accepts after the Trust Score</a:t>
            </a:r>
          </a:p>
        </p:txBody>
      </p:sp>
      <p:sp>
        <p:nvSpPr>
          <p:cNvPr id="19" name="TextBox 18"/>
          <p:cNvSpPr txBox="1"/>
          <p:nvPr/>
        </p:nvSpPr>
        <p:spPr>
          <a:xfrm>
            <a:off x="7521669" y="2249424"/>
            <a:ext cx="146304" cy="274320"/>
          </a:xfrm>
          <a:prstGeom prst="rect">
            <a:avLst/>
          </a:prstGeom>
          <a:noFill/>
        </p:spPr>
        <p:txBody>
          <a:bodyPr wrap="square" lIns="0" tIns="0" rIns="0" bIns="0" anchor="t">
            <a:spAutoFit/>
          </a:bodyPr>
          <a:lstStyle/>
          <a:p>
            <a:pPr algn="ctr"/>
            <a:r>
              <a:rPr sz="1400" b="0" i="0">
                <a:solidFill>
                  <a:srgbClr val="DFD6D6"/>
                </a:solidFill>
                <a:latin typeface="Segoe UI"/>
              </a:rPr>
              <a:t>›</a:t>
            </a:r>
          </a:p>
        </p:txBody>
      </p:sp>
      <p:sp>
        <p:nvSpPr>
          <p:cNvPr id="20" name="Rectangle 19"/>
          <p:cNvSpPr/>
          <p:nvPr/>
        </p:nvSpPr>
        <p:spPr>
          <a:xfrm>
            <a:off x="7667973" y="2103120"/>
            <a:ext cx="1800087" cy="76200"/>
          </a:xfrm>
          <a:prstGeom prst="rect">
            <a:avLst/>
          </a:prstGeom>
          <a:solidFill>
            <a:srgbClr val="2F71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7667973" y="2304288"/>
            <a:ext cx="1800087" cy="320040"/>
          </a:xfrm>
          <a:prstGeom prst="rect">
            <a:avLst/>
          </a:prstGeom>
          <a:noFill/>
        </p:spPr>
        <p:txBody>
          <a:bodyPr wrap="square" lIns="0" tIns="0" rIns="0" bIns="0" anchor="t">
            <a:spAutoFit/>
          </a:bodyPr>
          <a:lstStyle/>
          <a:p>
            <a:pPr algn="l"/>
            <a:r>
              <a:rPr sz="1500" b="1" i="0">
                <a:solidFill>
                  <a:srgbClr val="2F7168"/>
                </a:solidFill>
                <a:latin typeface="Consolas"/>
              </a:rPr>
              <a:t>Borrowed</a:t>
            </a:r>
          </a:p>
        </p:txBody>
      </p:sp>
      <p:sp>
        <p:nvSpPr>
          <p:cNvPr id="22" name="TextBox 21"/>
          <p:cNvSpPr txBox="1"/>
          <p:nvPr/>
        </p:nvSpPr>
        <p:spPr>
          <a:xfrm>
            <a:off x="7667973" y="2670048"/>
            <a:ext cx="1800087" cy="685800"/>
          </a:xfrm>
          <a:prstGeom prst="rect">
            <a:avLst/>
          </a:prstGeom>
          <a:noFill/>
        </p:spPr>
        <p:txBody>
          <a:bodyPr wrap="square" lIns="0" tIns="0" rIns="0" bIns="0" anchor="t">
            <a:spAutoFit/>
          </a:bodyPr>
          <a:lstStyle/>
          <a:p>
            <a:pPr algn="l">
              <a:lnSpc>
                <a:spcPct val="128000"/>
              </a:lnSpc>
            </a:pPr>
            <a:r>
              <a:rPr sz="1100" b="0" i="0">
                <a:solidFill>
                  <a:srgbClr val="6C6063"/>
                </a:solidFill>
                <a:latin typeface="Segoe UI"/>
              </a:rPr>
              <a:t>Lender scans the signed QR</a:t>
            </a:r>
          </a:p>
        </p:txBody>
      </p:sp>
      <p:sp>
        <p:nvSpPr>
          <p:cNvPr id="23" name="TextBox 22"/>
          <p:cNvSpPr txBox="1"/>
          <p:nvPr/>
        </p:nvSpPr>
        <p:spPr>
          <a:xfrm>
            <a:off x="9468060" y="2249424"/>
            <a:ext cx="146304" cy="274320"/>
          </a:xfrm>
          <a:prstGeom prst="rect">
            <a:avLst/>
          </a:prstGeom>
          <a:noFill/>
        </p:spPr>
        <p:txBody>
          <a:bodyPr wrap="square" lIns="0" tIns="0" rIns="0" bIns="0" anchor="t">
            <a:spAutoFit/>
          </a:bodyPr>
          <a:lstStyle/>
          <a:p>
            <a:pPr algn="ctr"/>
            <a:r>
              <a:rPr sz="1400" b="0" i="0">
                <a:solidFill>
                  <a:srgbClr val="DFD6D6"/>
                </a:solidFill>
                <a:latin typeface="Segoe UI"/>
              </a:rPr>
              <a:t>›</a:t>
            </a:r>
          </a:p>
        </p:txBody>
      </p:sp>
      <p:sp>
        <p:nvSpPr>
          <p:cNvPr id="24" name="Rectangle 23"/>
          <p:cNvSpPr/>
          <p:nvPr/>
        </p:nvSpPr>
        <p:spPr>
          <a:xfrm>
            <a:off x="9614364" y="2103120"/>
            <a:ext cx="1800087" cy="76200"/>
          </a:xfrm>
          <a:prstGeom prst="rect">
            <a:avLst/>
          </a:prstGeom>
          <a:solidFill>
            <a:srgbClr val="3F7A3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9614364" y="2304288"/>
            <a:ext cx="1800087" cy="320040"/>
          </a:xfrm>
          <a:prstGeom prst="rect">
            <a:avLst/>
          </a:prstGeom>
          <a:noFill/>
        </p:spPr>
        <p:txBody>
          <a:bodyPr wrap="square" lIns="0" tIns="0" rIns="0" bIns="0" anchor="t">
            <a:spAutoFit/>
          </a:bodyPr>
          <a:lstStyle/>
          <a:p>
            <a:pPr algn="l"/>
            <a:r>
              <a:rPr sz="1500" b="1" i="0">
                <a:solidFill>
                  <a:srgbClr val="3F7A3A"/>
                </a:solidFill>
                <a:latin typeface="Consolas"/>
              </a:rPr>
              <a:t>Completed</a:t>
            </a:r>
          </a:p>
        </p:txBody>
      </p:sp>
      <p:sp>
        <p:nvSpPr>
          <p:cNvPr id="26" name="TextBox 25"/>
          <p:cNvSpPr txBox="1"/>
          <p:nvPr/>
        </p:nvSpPr>
        <p:spPr>
          <a:xfrm>
            <a:off x="9614364" y="2670048"/>
            <a:ext cx="1800087" cy="685800"/>
          </a:xfrm>
          <a:prstGeom prst="rect">
            <a:avLst/>
          </a:prstGeom>
          <a:noFill/>
        </p:spPr>
        <p:txBody>
          <a:bodyPr wrap="square" lIns="0" tIns="0" rIns="0" bIns="0" anchor="t">
            <a:spAutoFit/>
          </a:bodyPr>
          <a:lstStyle/>
          <a:p>
            <a:pPr algn="l">
              <a:lnSpc>
                <a:spcPct val="128000"/>
              </a:lnSpc>
            </a:pPr>
            <a:r>
              <a:rPr sz="1100" b="0" i="0">
                <a:solidFill>
                  <a:srgbClr val="6C6063"/>
                </a:solidFill>
                <a:latin typeface="Segoe UI"/>
              </a:rPr>
              <a:t>Return scan closes it; both rate</a:t>
            </a:r>
          </a:p>
        </p:txBody>
      </p:sp>
      <p:sp>
        <p:nvSpPr>
          <p:cNvPr id="27" name="Rectangle 26"/>
          <p:cNvSpPr/>
          <p:nvPr/>
        </p:nvSpPr>
        <p:spPr>
          <a:xfrm>
            <a:off x="1828800" y="3703320"/>
            <a:ext cx="9585655" cy="1874519"/>
          </a:xfrm>
          <a:prstGeom prst="rect">
            <a:avLst/>
          </a:prstGeom>
          <a:solidFill>
            <a:srgbClr val="1B15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2121408" y="3950208"/>
            <a:ext cx="5120640" cy="274320"/>
          </a:xfrm>
          <a:prstGeom prst="rect">
            <a:avLst/>
          </a:prstGeom>
          <a:noFill/>
        </p:spPr>
        <p:txBody>
          <a:bodyPr wrap="square" lIns="0" tIns="0" rIns="0" bIns="0" anchor="t">
            <a:spAutoFit/>
          </a:bodyPr>
          <a:lstStyle/>
          <a:p>
            <a:pPr algn="l"/>
            <a:r>
              <a:rPr sz="900" b="1" i="0" spc="140">
                <a:solidFill>
                  <a:srgbClr val="A99B9E"/>
                </a:solidFill>
                <a:latin typeface="Segoe UI"/>
              </a:rPr>
              <a:t>PROOF OF PHYSICAL HANDOVER</a:t>
            </a:r>
          </a:p>
        </p:txBody>
      </p:sp>
      <p:sp>
        <p:nvSpPr>
          <p:cNvPr id="29" name="TextBox 28"/>
          <p:cNvSpPr txBox="1"/>
          <p:nvPr/>
        </p:nvSpPr>
        <p:spPr>
          <a:xfrm>
            <a:off x="2121408" y="4315968"/>
            <a:ext cx="5669280" cy="411480"/>
          </a:xfrm>
          <a:prstGeom prst="rect">
            <a:avLst/>
          </a:prstGeom>
          <a:noFill/>
        </p:spPr>
        <p:txBody>
          <a:bodyPr wrap="square" lIns="0" tIns="0" rIns="0" bIns="0" anchor="t">
            <a:spAutoFit/>
          </a:bodyPr>
          <a:lstStyle/>
          <a:p>
            <a:r>
              <a:rPr sz="2100" b="1">
                <a:solidFill>
                  <a:srgbClr val="B8862F"/>
                </a:solidFill>
                <a:latin typeface="Consolas"/>
              </a:rPr>
              <a:t>UTMB</a:t>
            </a:r>
            <a:r>
              <a:rPr sz="2100" b="1">
                <a:solidFill>
                  <a:srgbClr val="7A6E71"/>
                </a:solidFill>
                <a:latin typeface="Consolas"/>
              </a:rPr>
              <a:t> . </a:t>
            </a:r>
            <a:r>
              <a:rPr sz="2100" b="1">
                <a:solidFill>
                  <a:srgbClr val="8FBFB6"/>
                </a:solidFill>
                <a:latin typeface="Consolas"/>
              </a:rPr>
              <a:t>&lt;payload&gt;</a:t>
            </a:r>
            <a:r>
              <a:rPr sz="2100" b="1">
                <a:solidFill>
                  <a:srgbClr val="7A6E71"/>
                </a:solidFill>
                <a:latin typeface="Consolas"/>
              </a:rPr>
              <a:t> . </a:t>
            </a:r>
            <a:r>
              <a:rPr sz="2100" b="1">
                <a:solidFill>
                  <a:srgbClr val="D4919B"/>
                </a:solidFill>
                <a:latin typeface="Consolas"/>
              </a:rPr>
              <a:t>&lt;signature&gt;</a:t>
            </a:r>
          </a:p>
        </p:txBody>
      </p:sp>
      <p:sp>
        <p:nvSpPr>
          <p:cNvPr id="30" name="TextBox 29"/>
          <p:cNvSpPr txBox="1"/>
          <p:nvPr/>
        </p:nvSpPr>
        <p:spPr>
          <a:xfrm>
            <a:off x="2121408" y="4892040"/>
            <a:ext cx="5394960" cy="548640"/>
          </a:xfrm>
          <a:prstGeom prst="rect">
            <a:avLst/>
          </a:prstGeom>
          <a:noFill/>
        </p:spPr>
        <p:txBody>
          <a:bodyPr wrap="square" lIns="0" tIns="0" rIns="0" bIns="0" anchor="t">
            <a:spAutoFit/>
          </a:bodyPr>
          <a:lstStyle/>
          <a:p>
            <a:pPr algn="l">
              <a:lnSpc>
                <a:spcPct val="135000"/>
              </a:lnSpc>
            </a:pPr>
            <a:r>
              <a:rPr sz="1250" b="0" i="0">
                <a:solidFill>
                  <a:srgbClr val="CFC4C6"/>
                </a:solidFill>
                <a:latin typeface="Segoe UI"/>
              </a:rPr>
              <a:t>HMAC-SHA256, signed with a server-held secret.
Re-verified on every scan. Expires in 24 hours.</a:t>
            </a:r>
          </a:p>
        </p:txBody>
      </p:sp>
      <p:sp>
        <p:nvSpPr>
          <p:cNvPr id="31" name="TextBox 30"/>
          <p:cNvSpPr txBox="1"/>
          <p:nvPr/>
        </p:nvSpPr>
        <p:spPr>
          <a:xfrm>
            <a:off x="7360920" y="4041648"/>
            <a:ext cx="3794760" cy="1371600"/>
          </a:xfrm>
          <a:prstGeom prst="rect">
            <a:avLst/>
          </a:prstGeom>
          <a:noFill/>
        </p:spPr>
        <p:txBody>
          <a:bodyPr wrap="square" lIns="0" tIns="0" rIns="0" bIns="0" anchor="t">
            <a:spAutoFit/>
          </a:bodyPr>
          <a:lstStyle/>
          <a:p>
            <a:pPr algn="l">
              <a:lnSpc>
                <a:spcPct val="142000"/>
              </a:lnSpc>
            </a:pPr>
            <a:r>
              <a:rPr sz="1300" b="0" i="0">
                <a:solidFill>
                  <a:srgbClr val="FBF3F1"/>
                </a:solidFill>
                <a:latin typeface="Segoe UI"/>
              </a:rPr>
              <a:t>A captured code cannot be replayed.
A handover cannot be quietly undone.
Every scan attempt is logged — success,
expired, wrong transaction, already used.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A0A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762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777240" y="2148840"/>
            <a:ext cx="10607040" cy="365760"/>
          </a:xfrm>
          <a:prstGeom prst="rect">
            <a:avLst/>
          </a:prstGeom>
          <a:noFill/>
        </p:spPr>
        <p:txBody>
          <a:bodyPr wrap="square" lIns="0" tIns="0" rIns="0" bIns="0" anchor="t">
            <a:spAutoFit/>
          </a:bodyPr>
          <a:lstStyle/>
          <a:p>
            <a:pPr algn="l"/>
            <a:r>
              <a:rPr sz="1100" b="1" i="0" spc="200">
                <a:solidFill>
                  <a:srgbClr val="E3BFC0"/>
                </a:solidFill>
                <a:latin typeface="Segoe UI"/>
              </a:rPr>
              <a:t>APPROACH  ·  LIVE SYSTEM</a:t>
            </a:r>
          </a:p>
        </p:txBody>
      </p:sp>
      <p:sp>
        <p:nvSpPr>
          <p:cNvPr id="5" name="TextBox 4"/>
          <p:cNvSpPr txBox="1"/>
          <p:nvPr/>
        </p:nvSpPr>
        <p:spPr>
          <a:xfrm>
            <a:off x="777240" y="2697480"/>
            <a:ext cx="10607040" cy="1280160"/>
          </a:xfrm>
          <a:prstGeom prst="rect">
            <a:avLst/>
          </a:prstGeom>
          <a:noFill/>
        </p:spPr>
        <p:txBody>
          <a:bodyPr wrap="square" lIns="0" tIns="0" rIns="0" bIns="0" anchor="t">
            <a:spAutoFit/>
          </a:bodyPr>
          <a:lstStyle/>
          <a:p>
            <a:pPr algn="l">
              <a:lnSpc>
                <a:spcPct val="100000"/>
              </a:lnSpc>
            </a:pPr>
            <a:r>
              <a:rPr sz="4800" b="1" i="0">
                <a:solidFill>
                  <a:srgbClr val="FBF3F1"/>
                </a:solidFill>
                <a:latin typeface="Palatino Linotype"/>
              </a:rPr>
              <a:t>It is not a mockup. It is deployed.</a:t>
            </a:r>
          </a:p>
        </p:txBody>
      </p:sp>
      <p:sp>
        <p:nvSpPr>
          <p:cNvPr id="6" name="TextBox 5"/>
          <p:cNvSpPr txBox="1"/>
          <p:nvPr/>
        </p:nvSpPr>
        <p:spPr>
          <a:xfrm>
            <a:off x="777240" y="3977639"/>
            <a:ext cx="8595360" cy="822960"/>
          </a:xfrm>
          <a:prstGeom prst="rect">
            <a:avLst/>
          </a:prstGeom>
          <a:noFill/>
        </p:spPr>
        <p:txBody>
          <a:bodyPr wrap="square" lIns="0" tIns="0" rIns="0" bIns="0" anchor="t">
            <a:spAutoFit/>
          </a:bodyPr>
          <a:lstStyle/>
          <a:p>
            <a:pPr algn="l">
              <a:lnSpc>
                <a:spcPct val="130000"/>
              </a:lnSpc>
            </a:pPr>
            <a:r>
              <a:rPr sz="1700" b="0" i="1">
                <a:solidFill>
                  <a:srgbClr val="F3D9D6"/>
                </a:solidFill>
                <a:latin typeface="Palatino Linotype"/>
              </a:rPr>
              <a:t>React · FastAPI · MongoDB — live on Vercel and Render at utmborrow.alsakkaf.site</a:t>
            </a:r>
          </a:p>
        </p:txBody>
      </p:sp>
      <p:sp>
        <p:nvSpPr>
          <p:cNvPr id="7" name="Rectangle 6"/>
          <p:cNvSpPr/>
          <p:nvPr/>
        </p:nvSpPr>
        <p:spPr>
          <a:xfrm>
            <a:off x="777240" y="4983480"/>
            <a:ext cx="2011680" cy="381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77240" y="475488"/>
            <a:ext cx="914400" cy="1005840"/>
          </a:xfrm>
          <a:prstGeom prst="rect">
            <a:avLst/>
          </a:prstGeom>
          <a:noFill/>
        </p:spPr>
        <p:txBody>
          <a:bodyPr wrap="square" lIns="0" tIns="0" rIns="0" bIns="0" anchor="t">
            <a:spAutoFit/>
          </a:bodyPr>
          <a:lstStyle/>
          <a:p>
            <a:pPr algn="l">
              <a:lnSpc>
                <a:spcPct val="85000"/>
              </a:lnSpc>
            </a:pPr>
            <a:r>
              <a:rPr sz="5400" b="1" i="0">
                <a:solidFill>
                  <a:srgbClr val="6E1023"/>
                </a:solidFill>
                <a:latin typeface="Palatino Linotype"/>
              </a:rPr>
              <a:t>A</a:t>
            </a:r>
          </a:p>
        </p:txBody>
      </p:sp>
      <p:sp>
        <p:nvSpPr>
          <p:cNvPr id="4" name="TextBox 3"/>
          <p:cNvSpPr txBox="1"/>
          <p:nvPr/>
        </p:nvSpPr>
        <p:spPr>
          <a:xfrm>
            <a:off x="777240" y="1298448"/>
            <a:ext cx="1280160" cy="228600"/>
          </a:xfrm>
          <a:prstGeom prst="rect">
            <a:avLst/>
          </a:prstGeom>
          <a:noFill/>
        </p:spPr>
        <p:txBody>
          <a:bodyPr wrap="square" lIns="0" tIns="0" rIns="0" bIns="0" anchor="t">
            <a:spAutoFit/>
          </a:bodyPr>
          <a:lstStyle/>
          <a:p>
            <a:pPr algn="l"/>
            <a:r>
              <a:rPr sz="900" b="1" i="0" spc="160">
                <a:solidFill>
                  <a:srgbClr val="B8862F"/>
                </a:solidFill>
                <a:latin typeface="Segoe UI"/>
              </a:rPr>
              <a:t>APPROACH</a:t>
            </a:r>
          </a:p>
        </p:txBody>
      </p:sp>
      <p:sp>
        <p:nvSpPr>
          <p:cNvPr id="5" name="TextBox 4"/>
          <p:cNvSpPr txBox="1"/>
          <p:nvPr/>
        </p:nvSpPr>
        <p:spPr>
          <a:xfrm>
            <a:off x="1828800" y="566928"/>
            <a:ext cx="7391095" cy="822960"/>
          </a:xfrm>
          <a:prstGeom prst="rect">
            <a:avLst/>
          </a:prstGeom>
          <a:noFill/>
        </p:spPr>
        <p:txBody>
          <a:bodyPr wrap="square" lIns="0" tIns="0" rIns="0" bIns="0" anchor="t">
            <a:spAutoFit/>
          </a:bodyPr>
          <a:lstStyle/>
          <a:p>
            <a:pPr algn="l">
              <a:lnSpc>
                <a:spcPct val="105000"/>
              </a:lnSpc>
            </a:pPr>
            <a:r>
              <a:rPr sz="2700" b="1" i="0">
                <a:solidFill>
                  <a:srgbClr val="1B1517"/>
                </a:solidFill>
                <a:latin typeface="Palatino Linotype"/>
              </a:rPr>
              <a:t>Built on a real, deployed stack.</a:t>
            </a:r>
          </a:p>
        </p:txBody>
      </p:sp>
      <p:sp>
        <p:nvSpPr>
          <p:cNvPr id="6" name="TextBox 5"/>
          <p:cNvSpPr txBox="1"/>
          <p:nvPr/>
        </p:nvSpPr>
        <p:spPr>
          <a:xfrm>
            <a:off x="9219895" y="713232"/>
            <a:ext cx="2194560" cy="274320"/>
          </a:xfrm>
          <a:prstGeom prst="rect">
            <a:avLst/>
          </a:prstGeom>
          <a:noFill/>
        </p:spPr>
        <p:txBody>
          <a:bodyPr wrap="square" lIns="0" tIns="0" rIns="0" bIns="0" anchor="t">
            <a:spAutoFit/>
          </a:bodyPr>
          <a:lstStyle/>
          <a:p>
            <a:pPr algn="r"/>
            <a:r>
              <a:rPr sz="900" b="1" i="0" spc="140">
                <a:solidFill>
                  <a:srgbClr val="6C6063"/>
                </a:solidFill>
                <a:latin typeface="Segoe UI"/>
              </a:rPr>
              <a:t>AS BUILT, NOT AS PLANNED</a:t>
            </a:r>
          </a:p>
        </p:txBody>
      </p:sp>
      <p:sp>
        <p:nvSpPr>
          <p:cNvPr id="7" name="Rectangle 6"/>
          <p:cNvSpPr/>
          <p:nvPr/>
        </p:nvSpPr>
        <p:spPr>
          <a:xfrm>
            <a:off x="1828800" y="1481328"/>
            <a:ext cx="9585655" cy="17780"/>
          </a:xfrm>
          <a:prstGeom prst="rect">
            <a:avLst/>
          </a:prstGeom>
          <a:solidFill>
            <a:srgbClr val="1B15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1828800" y="2011680"/>
            <a:ext cx="6357823" cy="914400"/>
          </a:xfrm>
          <a:prstGeom prst="rect">
            <a:avLst/>
          </a:prstGeom>
          <a:solidFill>
            <a:srgbClr val="FFFFFF"/>
          </a:solidFill>
          <a:ln w="9525">
            <a:solidFill>
              <a:srgbClr val="DF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1828800" y="2011680"/>
            <a:ext cx="50800" cy="914400"/>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2075688" y="2157984"/>
            <a:ext cx="1463040" cy="274320"/>
          </a:xfrm>
          <a:prstGeom prst="rect">
            <a:avLst/>
          </a:prstGeom>
          <a:noFill/>
        </p:spPr>
        <p:txBody>
          <a:bodyPr wrap="square" lIns="0" tIns="0" rIns="0" bIns="0" anchor="t">
            <a:spAutoFit/>
          </a:bodyPr>
          <a:lstStyle/>
          <a:p>
            <a:pPr algn="l"/>
            <a:r>
              <a:rPr sz="900" b="1" i="0" spc="140">
                <a:solidFill>
                  <a:srgbClr val="B8862F"/>
                </a:solidFill>
                <a:latin typeface="Segoe UI"/>
              </a:rPr>
              <a:t>PRESENTATION</a:t>
            </a:r>
          </a:p>
        </p:txBody>
      </p:sp>
      <p:sp>
        <p:nvSpPr>
          <p:cNvPr id="11" name="TextBox 10"/>
          <p:cNvSpPr txBox="1"/>
          <p:nvPr/>
        </p:nvSpPr>
        <p:spPr>
          <a:xfrm>
            <a:off x="3493008" y="2130552"/>
            <a:ext cx="4529023" cy="274320"/>
          </a:xfrm>
          <a:prstGeom prst="rect">
            <a:avLst/>
          </a:prstGeom>
          <a:noFill/>
        </p:spPr>
        <p:txBody>
          <a:bodyPr wrap="square" lIns="0" tIns="0" rIns="0" bIns="0" anchor="t">
            <a:spAutoFit/>
          </a:bodyPr>
          <a:lstStyle/>
          <a:p>
            <a:pPr algn="l"/>
            <a:r>
              <a:rPr sz="1250" b="0" i="0">
                <a:solidFill>
                  <a:srgbClr val="6E1023"/>
                </a:solidFill>
                <a:latin typeface="Consolas"/>
              </a:rPr>
              <a:t>React 18 · Tailwind CSS · Framer Motion · Axios</a:t>
            </a:r>
          </a:p>
        </p:txBody>
      </p:sp>
      <p:sp>
        <p:nvSpPr>
          <p:cNvPr id="12" name="TextBox 11"/>
          <p:cNvSpPr txBox="1"/>
          <p:nvPr/>
        </p:nvSpPr>
        <p:spPr>
          <a:xfrm>
            <a:off x="3493008" y="2468880"/>
            <a:ext cx="4529023" cy="365760"/>
          </a:xfrm>
          <a:prstGeom prst="rect">
            <a:avLst/>
          </a:prstGeom>
          <a:noFill/>
        </p:spPr>
        <p:txBody>
          <a:bodyPr wrap="square" lIns="0" tIns="0" rIns="0" bIns="0" anchor="t">
            <a:spAutoFit/>
          </a:bodyPr>
          <a:lstStyle/>
          <a:p>
            <a:pPr algn="l">
              <a:lnSpc>
                <a:spcPct val="130000"/>
              </a:lnSpc>
            </a:pPr>
            <a:r>
              <a:rPr sz="1100" b="0" i="0">
                <a:solidFill>
                  <a:srgbClr val="6C6063"/>
                </a:solidFill>
                <a:latin typeface="Segoe UI"/>
              </a:rPr>
              <a:t>One single-page app for desktop and mobile. Hosted on Vercel.</a:t>
            </a:r>
          </a:p>
        </p:txBody>
      </p:sp>
      <p:sp>
        <p:nvSpPr>
          <p:cNvPr id="13" name="Rectangle 12"/>
          <p:cNvSpPr/>
          <p:nvPr/>
        </p:nvSpPr>
        <p:spPr>
          <a:xfrm>
            <a:off x="1828800" y="3072384"/>
            <a:ext cx="6357823" cy="914400"/>
          </a:xfrm>
          <a:prstGeom prst="rect">
            <a:avLst/>
          </a:prstGeom>
          <a:solidFill>
            <a:srgbClr val="FFFFFF"/>
          </a:solidFill>
          <a:ln w="9525">
            <a:solidFill>
              <a:srgbClr val="DF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1828800" y="3072384"/>
            <a:ext cx="50800" cy="914400"/>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2075688" y="3218688"/>
            <a:ext cx="1463040" cy="274320"/>
          </a:xfrm>
          <a:prstGeom prst="rect">
            <a:avLst/>
          </a:prstGeom>
          <a:noFill/>
        </p:spPr>
        <p:txBody>
          <a:bodyPr wrap="square" lIns="0" tIns="0" rIns="0" bIns="0" anchor="t">
            <a:spAutoFit/>
          </a:bodyPr>
          <a:lstStyle/>
          <a:p>
            <a:pPr algn="l"/>
            <a:r>
              <a:rPr sz="900" b="1" i="0" spc="140">
                <a:solidFill>
                  <a:srgbClr val="B8862F"/>
                </a:solidFill>
                <a:latin typeface="Segoe UI"/>
              </a:rPr>
              <a:t>APPLICATION</a:t>
            </a:r>
          </a:p>
        </p:txBody>
      </p:sp>
      <p:sp>
        <p:nvSpPr>
          <p:cNvPr id="16" name="TextBox 15"/>
          <p:cNvSpPr txBox="1"/>
          <p:nvPr/>
        </p:nvSpPr>
        <p:spPr>
          <a:xfrm>
            <a:off x="3493008" y="3191256"/>
            <a:ext cx="4529023" cy="274320"/>
          </a:xfrm>
          <a:prstGeom prst="rect">
            <a:avLst/>
          </a:prstGeom>
          <a:noFill/>
        </p:spPr>
        <p:txBody>
          <a:bodyPr wrap="square" lIns="0" tIns="0" rIns="0" bIns="0" anchor="t">
            <a:spAutoFit/>
          </a:bodyPr>
          <a:lstStyle/>
          <a:p>
            <a:pPr algn="l"/>
            <a:r>
              <a:rPr sz="1250" b="0" i="0">
                <a:solidFill>
                  <a:srgbClr val="6E1023"/>
                </a:solidFill>
                <a:latin typeface="Consolas"/>
              </a:rPr>
              <a:t>FastAPI · Python 3.12 · uvicorn</a:t>
            </a:r>
          </a:p>
        </p:txBody>
      </p:sp>
      <p:sp>
        <p:nvSpPr>
          <p:cNvPr id="17" name="TextBox 16"/>
          <p:cNvSpPr txBox="1"/>
          <p:nvPr/>
        </p:nvSpPr>
        <p:spPr>
          <a:xfrm>
            <a:off x="3493008" y="3529584"/>
            <a:ext cx="4529023" cy="365760"/>
          </a:xfrm>
          <a:prstGeom prst="rect">
            <a:avLst/>
          </a:prstGeom>
          <a:noFill/>
        </p:spPr>
        <p:txBody>
          <a:bodyPr wrap="square" lIns="0" tIns="0" rIns="0" bIns="0" anchor="t">
            <a:spAutoFit/>
          </a:bodyPr>
          <a:lstStyle/>
          <a:p>
            <a:pPr algn="l">
              <a:lnSpc>
                <a:spcPct val="130000"/>
              </a:lnSpc>
            </a:pPr>
            <a:r>
              <a:rPr sz="1100" b="0" i="0">
                <a:solidFill>
                  <a:srgbClr val="6C6063"/>
                </a:solidFill>
                <a:latin typeface="Segoe UI"/>
              </a:rPr>
              <a:t>Authentication, validation, the state machine, QR signing, moderation. Hosted on Render.</a:t>
            </a:r>
          </a:p>
        </p:txBody>
      </p:sp>
      <p:sp>
        <p:nvSpPr>
          <p:cNvPr id="18" name="Rectangle 17"/>
          <p:cNvSpPr/>
          <p:nvPr/>
        </p:nvSpPr>
        <p:spPr>
          <a:xfrm>
            <a:off x="1828800" y="4133087"/>
            <a:ext cx="6357823" cy="914400"/>
          </a:xfrm>
          <a:prstGeom prst="rect">
            <a:avLst/>
          </a:prstGeom>
          <a:solidFill>
            <a:srgbClr val="FFFFFF"/>
          </a:solidFill>
          <a:ln w="9525">
            <a:solidFill>
              <a:srgbClr val="DF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1828800" y="4133087"/>
            <a:ext cx="50800" cy="914400"/>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2075688" y="4279391"/>
            <a:ext cx="1463040" cy="274320"/>
          </a:xfrm>
          <a:prstGeom prst="rect">
            <a:avLst/>
          </a:prstGeom>
          <a:noFill/>
        </p:spPr>
        <p:txBody>
          <a:bodyPr wrap="square" lIns="0" tIns="0" rIns="0" bIns="0" anchor="t">
            <a:spAutoFit/>
          </a:bodyPr>
          <a:lstStyle/>
          <a:p>
            <a:pPr algn="l"/>
            <a:r>
              <a:rPr sz="900" b="1" i="0" spc="140">
                <a:solidFill>
                  <a:srgbClr val="B8862F"/>
                </a:solidFill>
                <a:latin typeface="Segoe UI"/>
              </a:rPr>
              <a:t>DATA</a:t>
            </a:r>
          </a:p>
        </p:txBody>
      </p:sp>
      <p:sp>
        <p:nvSpPr>
          <p:cNvPr id="21" name="TextBox 20"/>
          <p:cNvSpPr txBox="1"/>
          <p:nvPr/>
        </p:nvSpPr>
        <p:spPr>
          <a:xfrm>
            <a:off x="3493008" y="4251959"/>
            <a:ext cx="4529023" cy="274320"/>
          </a:xfrm>
          <a:prstGeom prst="rect">
            <a:avLst/>
          </a:prstGeom>
          <a:noFill/>
        </p:spPr>
        <p:txBody>
          <a:bodyPr wrap="square" lIns="0" tIns="0" rIns="0" bIns="0" anchor="t">
            <a:spAutoFit/>
          </a:bodyPr>
          <a:lstStyle/>
          <a:p>
            <a:pPr algn="l"/>
            <a:r>
              <a:rPr sz="1250" b="0" i="0">
                <a:solidFill>
                  <a:srgbClr val="6E1023"/>
                </a:solidFill>
                <a:latin typeface="Consolas"/>
              </a:rPr>
              <a:t>MongoDB · Motor async driver · 11 collections</a:t>
            </a:r>
          </a:p>
        </p:txBody>
      </p:sp>
      <p:sp>
        <p:nvSpPr>
          <p:cNvPr id="22" name="TextBox 21"/>
          <p:cNvSpPr txBox="1"/>
          <p:nvPr/>
        </p:nvSpPr>
        <p:spPr>
          <a:xfrm>
            <a:off x="3493008" y="4590287"/>
            <a:ext cx="4529023" cy="365760"/>
          </a:xfrm>
          <a:prstGeom prst="rect">
            <a:avLst/>
          </a:prstGeom>
          <a:noFill/>
        </p:spPr>
        <p:txBody>
          <a:bodyPr wrap="square" lIns="0" tIns="0" rIns="0" bIns="0" anchor="t">
            <a:spAutoFit/>
          </a:bodyPr>
          <a:lstStyle/>
          <a:p>
            <a:pPr algn="l">
              <a:lnSpc>
                <a:spcPct val="130000"/>
              </a:lnSpc>
            </a:pPr>
            <a:r>
              <a:rPr sz="1100" b="0" i="0">
                <a:solidFill>
                  <a:srgbClr val="6C6063"/>
                </a:solidFill>
                <a:latin typeface="Segoe UI"/>
              </a:rPr>
              <a:t>Users, items, transactions, state logs, QR tokens, scan events, reports, audit.</a:t>
            </a:r>
          </a:p>
        </p:txBody>
      </p:sp>
      <p:sp>
        <p:nvSpPr>
          <p:cNvPr id="23" name="Rectangle 22"/>
          <p:cNvSpPr/>
          <p:nvPr/>
        </p:nvSpPr>
        <p:spPr>
          <a:xfrm>
            <a:off x="8442655" y="2011680"/>
            <a:ext cx="2971800" cy="3035808"/>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8716975" y="2377440"/>
            <a:ext cx="2423160" cy="1188720"/>
          </a:xfrm>
          <a:prstGeom prst="rect">
            <a:avLst/>
          </a:prstGeom>
          <a:noFill/>
        </p:spPr>
        <p:txBody>
          <a:bodyPr wrap="square" lIns="0" tIns="0" rIns="0" bIns="0" anchor="t">
            <a:spAutoFit/>
          </a:bodyPr>
          <a:lstStyle/>
          <a:p>
            <a:pPr algn="l">
              <a:lnSpc>
                <a:spcPct val="92000"/>
              </a:lnSpc>
            </a:pPr>
            <a:r>
              <a:rPr sz="5600" b="1" i="0">
                <a:solidFill>
                  <a:srgbClr val="FBF3F1"/>
                </a:solidFill>
                <a:latin typeface="Palatino Linotype"/>
              </a:rPr>
              <a:t>27/27</a:t>
            </a:r>
          </a:p>
        </p:txBody>
      </p:sp>
      <p:sp>
        <p:nvSpPr>
          <p:cNvPr id="25" name="TextBox 24"/>
          <p:cNvSpPr txBox="1"/>
          <p:nvPr/>
        </p:nvSpPr>
        <p:spPr>
          <a:xfrm>
            <a:off x="8716975" y="3566160"/>
            <a:ext cx="2423160" cy="1280160"/>
          </a:xfrm>
          <a:prstGeom prst="rect">
            <a:avLst/>
          </a:prstGeom>
          <a:noFill/>
        </p:spPr>
        <p:txBody>
          <a:bodyPr wrap="square" lIns="0" tIns="0" rIns="0" bIns="0" anchor="t">
            <a:spAutoFit/>
          </a:bodyPr>
          <a:lstStyle/>
          <a:p>
            <a:pPr algn="l">
              <a:lnSpc>
                <a:spcPct val="138000"/>
              </a:lnSpc>
            </a:pPr>
            <a:r>
              <a:rPr sz="1200" b="0" i="0">
                <a:solidFill>
                  <a:srgbClr val="F3D9D6"/>
                </a:solidFill>
                <a:latin typeface="Segoe UI"/>
              </a:rPr>
              <a:t>use cases fully implemented — each with a working endpoint, its database collections, and the matching screen, all wired together and live.</a:t>
            </a:r>
          </a:p>
        </p:txBody>
      </p:sp>
      <p:sp>
        <p:nvSpPr>
          <p:cNvPr id="26" name="TextBox 25"/>
          <p:cNvSpPr txBox="1"/>
          <p:nvPr/>
        </p:nvSpPr>
        <p:spPr>
          <a:xfrm>
            <a:off x="1828800" y="5230368"/>
            <a:ext cx="9585655" cy="457200"/>
          </a:xfrm>
          <a:prstGeom prst="rect">
            <a:avLst/>
          </a:prstGeom>
          <a:noFill/>
        </p:spPr>
        <p:txBody>
          <a:bodyPr wrap="square" lIns="0" tIns="0" rIns="0" bIns="0" anchor="t">
            <a:spAutoFit/>
          </a:bodyPr>
          <a:lstStyle/>
          <a:p>
            <a:pPr algn="l"/>
            <a:r>
              <a:rPr sz="1300" b="0" i="0">
                <a:solidFill>
                  <a:srgbClr val="2C2427"/>
                </a:solidFill>
                <a:latin typeface="Segoe UI"/>
              </a:rPr>
              <a:t>Security is not a diagram: bcrypt hashing · JWT sessions · HMAC-SHA256 handover tokens · TOTP two-factor on every admin action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77240" y="475488"/>
            <a:ext cx="914400" cy="1005840"/>
          </a:xfrm>
          <a:prstGeom prst="rect">
            <a:avLst/>
          </a:prstGeom>
          <a:noFill/>
        </p:spPr>
        <p:txBody>
          <a:bodyPr wrap="square" lIns="0" tIns="0" rIns="0" bIns="0" anchor="t">
            <a:spAutoFit/>
          </a:bodyPr>
          <a:lstStyle/>
          <a:p>
            <a:pPr algn="l">
              <a:lnSpc>
                <a:spcPct val="85000"/>
              </a:lnSpc>
            </a:pPr>
            <a:r>
              <a:rPr sz="5400" b="1" i="0">
                <a:solidFill>
                  <a:srgbClr val="6E1023"/>
                </a:solidFill>
                <a:latin typeface="Palatino Linotype"/>
              </a:rPr>
              <a:t>B</a:t>
            </a:r>
          </a:p>
        </p:txBody>
      </p:sp>
      <p:sp>
        <p:nvSpPr>
          <p:cNvPr id="4" name="TextBox 3"/>
          <p:cNvSpPr txBox="1"/>
          <p:nvPr/>
        </p:nvSpPr>
        <p:spPr>
          <a:xfrm>
            <a:off x="777240" y="1298448"/>
            <a:ext cx="1280160" cy="228600"/>
          </a:xfrm>
          <a:prstGeom prst="rect">
            <a:avLst/>
          </a:prstGeom>
          <a:noFill/>
        </p:spPr>
        <p:txBody>
          <a:bodyPr wrap="square" lIns="0" tIns="0" rIns="0" bIns="0" anchor="t">
            <a:spAutoFit/>
          </a:bodyPr>
          <a:lstStyle/>
          <a:p>
            <a:pPr algn="l"/>
            <a:r>
              <a:rPr sz="900" b="1" i="0" spc="160">
                <a:solidFill>
                  <a:srgbClr val="B8862F"/>
                </a:solidFill>
                <a:latin typeface="Segoe UI"/>
              </a:rPr>
              <a:t>BENEFIT</a:t>
            </a:r>
          </a:p>
        </p:txBody>
      </p:sp>
      <p:sp>
        <p:nvSpPr>
          <p:cNvPr id="5" name="TextBox 4"/>
          <p:cNvSpPr txBox="1"/>
          <p:nvPr/>
        </p:nvSpPr>
        <p:spPr>
          <a:xfrm>
            <a:off x="1828800" y="566928"/>
            <a:ext cx="7391095" cy="822960"/>
          </a:xfrm>
          <a:prstGeom prst="rect">
            <a:avLst/>
          </a:prstGeom>
          <a:noFill/>
        </p:spPr>
        <p:txBody>
          <a:bodyPr wrap="square" lIns="0" tIns="0" rIns="0" bIns="0" anchor="t">
            <a:spAutoFit/>
          </a:bodyPr>
          <a:lstStyle/>
          <a:p>
            <a:pPr algn="l">
              <a:lnSpc>
                <a:spcPct val="105000"/>
              </a:lnSpc>
            </a:pPr>
            <a:r>
              <a:rPr sz="2700" b="1" i="0">
                <a:solidFill>
                  <a:srgbClr val="1B1517"/>
                </a:solidFill>
                <a:latin typeface="Palatino Linotype"/>
              </a:rPr>
              <a:t>What the community gets.</a:t>
            </a:r>
          </a:p>
        </p:txBody>
      </p:sp>
      <p:sp>
        <p:nvSpPr>
          <p:cNvPr id="6" name="TextBox 5"/>
          <p:cNvSpPr txBox="1"/>
          <p:nvPr/>
        </p:nvSpPr>
        <p:spPr>
          <a:xfrm>
            <a:off x="9219895" y="713232"/>
            <a:ext cx="2194560" cy="274320"/>
          </a:xfrm>
          <a:prstGeom prst="rect">
            <a:avLst/>
          </a:prstGeom>
          <a:noFill/>
        </p:spPr>
        <p:txBody>
          <a:bodyPr wrap="square" lIns="0" tIns="0" rIns="0" bIns="0" anchor="t">
            <a:spAutoFit/>
          </a:bodyPr>
          <a:lstStyle/>
          <a:p>
            <a:pPr algn="r"/>
            <a:r>
              <a:rPr sz="900" b="1" i="0" spc="140">
                <a:solidFill>
                  <a:srgbClr val="6C6063"/>
                </a:solidFill>
                <a:latin typeface="Segoe UI"/>
              </a:rPr>
              <a:t>BORROWERS · LENDERS · THE UNIVERSITY</a:t>
            </a:r>
          </a:p>
        </p:txBody>
      </p:sp>
      <p:sp>
        <p:nvSpPr>
          <p:cNvPr id="7" name="Rectangle 6"/>
          <p:cNvSpPr/>
          <p:nvPr/>
        </p:nvSpPr>
        <p:spPr>
          <a:xfrm>
            <a:off x="1828800" y="1481328"/>
            <a:ext cx="9585655" cy="17780"/>
          </a:xfrm>
          <a:prstGeom prst="rect">
            <a:avLst/>
          </a:prstGeom>
          <a:solidFill>
            <a:srgbClr val="1B15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1828800" y="2057400"/>
            <a:ext cx="3024530" cy="508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1828800" y="2331720"/>
            <a:ext cx="3024530" cy="457200"/>
          </a:xfrm>
          <a:prstGeom prst="rect">
            <a:avLst/>
          </a:prstGeom>
          <a:noFill/>
        </p:spPr>
        <p:txBody>
          <a:bodyPr wrap="square" lIns="0" tIns="0" rIns="0" bIns="0" anchor="t">
            <a:spAutoFit/>
          </a:bodyPr>
          <a:lstStyle/>
          <a:p>
            <a:pPr algn="l">
              <a:lnSpc>
                <a:spcPct val="110000"/>
              </a:lnSpc>
            </a:pPr>
            <a:r>
              <a:rPr sz="1700" b="1" i="0">
                <a:solidFill>
                  <a:srgbClr val="1B1517"/>
                </a:solidFill>
                <a:latin typeface="Palatino Linotype"/>
              </a:rPr>
              <a:t>Borrowers stop buying</a:t>
            </a:r>
          </a:p>
        </p:txBody>
      </p:sp>
      <p:sp>
        <p:nvSpPr>
          <p:cNvPr id="10" name="TextBox 9"/>
          <p:cNvSpPr txBox="1"/>
          <p:nvPr/>
        </p:nvSpPr>
        <p:spPr>
          <a:xfrm>
            <a:off x="1828800" y="2926080"/>
            <a:ext cx="3024530" cy="1463040"/>
          </a:xfrm>
          <a:prstGeom prst="rect">
            <a:avLst/>
          </a:prstGeom>
          <a:noFill/>
        </p:spPr>
        <p:txBody>
          <a:bodyPr wrap="square" lIns="0" tIns="0" rIns="0" bIns="0" anchor="t">
            <a:spAutoFit/>
          </a:bodyPr>
          <a:lstStyle/>
          <a:p>
            <a:pPr algn="l">
              <a:lnSpc>
                <a:spcPct val="145000"/>
              </a:lnSpc>
            </a:pPr>
            <a:r>
              <a:rPr sz="1300" b="0" i="0">
                <a:solidFill>
                  <a:srgbClr val="2C2427"/>
                </a:solidFill>
                <a:latin typeface="Segoe UI"/>
              </a:rPr>
              <a:t>The RM50–RM150 a student spends each year stays in their pocket. Items are found by college and faculty — collection is a walk, not a trip.</a:t>
            </a:r>
          </a:p>
        </p:txBody>
      </p:sp>
      <p:sp>
        <p:nvSpPr>
          <p:cNvPr id="11" name="Rectangle 10"/>
          <p:cNvSpPr/>
          <p:nvPr/>
        </p:nvSpPr>
        <p:spPr>
          <a:xfrm>
            <a:off x="5109362" y="2057400"/>
            <a:ext cx="3024530" cy="508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5109362" y="2331720"/>
            <a:ext cx="3024530" cy="457200"/>
          </a:xfrm>
          <a:prstGeom prst="rect">
            <a:avLst/>
          </a:prstGeom>
          <a:noFill/>
        </p:spPr>
        <p:txBody>
          <a:bodyPr wrap="square" lIns="0" tIns="0" rIns="0" bIns="0" anchor="t">
            <a:spAutoFit/>
          </a:bodyPr>
          <a:lstStyle/>
          <a:p>
            <a:pPr algn="l">
              <a:lnSpc>
                <a:spcPct val="110000"/>
              </a:lnSpc>
            </a:pPr>
            <a:r>
              <a:rPr sz="1700" b="1" i="0">
                <a:solidFill>
                  <a:srgbClr val="1B1517"/>
                </a:solidFill>
                <a:latin typeface="Palatino Linotype"/>
              </a:rPr>
              <a:t>Lenders lend without fear</a:t>
            </a:r>
          </a:p>
        </p:txBody>
      </p:sp>
      <p:sp>
        <p:nvSpPr>
          <p:cNvPr id="13" name="TextBox 12"/>
          <p:cNvSpPr txBox="1"/>
          <p:nvPr/>
        </p:nvSpPr>
        <p:spPr>
          <a:xfrm>
            <a:off x="5109362" y="2926080"/>
            <a:ext cx="3024530" cy="1463040"/>
          </a:xfrm>
          <a:prstGeom prst="rect">
            <a:avLst/>
          </a:prstGeom>
          <a:noFill/>
        </p:spPr>
        <p:txBody>
          <a:bodyPr wrap="square" lIns="0" tIns="0" rIns="0" bIns="0" anchor="t">
            <a:spAutoFit/>
          </a:bodyPr>
          <a:lstStyle/>
          <a:p>
            <a:pPr algn="l">
              <a:lnSpc>
                <a:spcPct val="145000"/>
              </a:lnSpc>
            </a:pPr>
            <a:r>
              <a:rPr sz="1300" b="0" i="0">
                <a:solidFill>
                  <a:srgbClr val="2C2427"/>
                </a:solidFill>
                <a:latin typeface="Segoe UI"/>
              </a:rPr>
              <a:t>The counterpart is a verified UTM member with an earned Trust Score. If there is a dispute, there is cryptographic proof of both the handover and the return.</a:t>
            </a:r>
          </a:p>
        </p:txBody>
      </p:sp>
      <p:sp>
        <p:nvSpPr>
          <p:cNvPr id="14" name="Rectangle 13"/>
          <p:cNvSpPr/>
          <p:nvPr/>
        </p:nvSpPr>
        <p:spPr>
          <a:xfrm>
            <a:off x="8389924" y="2057400"/>
            <a:ext cx="3024530" cy="508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8389924" y="2331720"/>
            <a:ext cx="3024530" cy="457200"/>
          </a:xfrm>
          <a:prstGeom prst="rect">
            <a:avLst/>
          </a:prstGeom>
          <a:noFill/>
        </p:spPr>
        <p:txBody>
          <a:bodyPr wrap="square" lIns="0" tIns="0" rIns="0" bIns="0" anchor="t">
            <a:spAutoFit/>
          </a:bodyPr>
          <a:lstStyle/>
          <a:p>
            <a:pPr algn="l">
              <a:lnSpc>
                <a:spcPct val="110000"/>
              </a:lnSpc>
            </a:pPr>
            <a:r>
              <a:rPr sz="1700" b="1" i="0">
                <a:solidFill>
                  <a:srgbClr val="1B1517"/>
                </a:solidFill>
                <a:latin typeface="Palatino Linotype"/>
              </a:rPr>
              <a:t>The university keeps control</a:t>
            </a:r>
          </a:p>
        </p:txBody>
      </p:sp>
      <p:sp>
        <p:nvSpPr>
          <p:cNvPr id="16" name="TextBox 15"/>
          <p:cNvSpPr txBox="1"/>
          <p:nvPr/>
        </p:nvSpPr>
        <p:spPr>
          <a:xfrm>
            <a:off x="8389924" y="2926080"/>
            <a:ext cx="3024530" cy="1463040"/>
          </a:xfrm>
          <a:prstGeom prst="rect">
            <a:avLst/>
          </a:prstGeom>
          <a:noFill/>
        </p:spPr>
        <p:txBody>
          <a:bodyPr wrap="square" lIns="0" tIns="0" rIns="0" bIns="0" anchor="t">
            <a:spAutoFit/>
          </a:bodyPr>
          <a:lstStyle/>
          <a:p>
            <a:pPr algn="l">
              <a:lnSpc>
                <a:spcPct val="145000"/>
              </a:lnSpc>
            </a:pPr>
            <a:r>
              <a:rPr sz="1300" b="0" i="0">
                <a:solidFill>
                  <a:srgbClr val="2C2427"/>
                </a:solidFill>
                <a:latin typeface="Segoe UI"/>
              </a:rPr>
              <a:t>The email gate keeps non-affiliates out of campus trade. Moderation is two-factor gated and every decision is permanently audited.</a:t>
            </a:r>
          </a:p>
        </p:txBody>
      </p:sp>
      <p:sp>
        <p:nvSpPr>
          <p:cNvPr id="17" name="Rectangle 16"/>
          <p:cNvSpPr/>
          <p:nvPr/>
        </p:nvSpPr>
        <p:spPr>
          <a:xfrm>
            <a:off x="1828800" y="4617720"/>
            <a:ext cx="9585655" cy="1234440"/>
          </a:xfrm>
          <a:prstGeom prst="rect">
            <a:avLst/>
          </a:prstGeom>
          <a:solidFill>
            <a:srgbClr val="F8F5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ectangle 17"/>
          <p:cNvSpPr/>
          <p:nvPr/>
        </p:nvSpPr>
        <p:spPr>
          <a:xfrm>
            <a:off x="1828800" y="4617720"/>
            <a:ext cx="63500" cy="1234440"/>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2121408" y="4864608"/>
            <a:ext cx="9037015" cy="822960"/>
          </a:xfrm>
          <a:prstGeom prst="rect">
            <a:avLst/>
          </a:prstGeom>
          <a:noFill/>
        </p:spPr>
        <p:txBody>
          <a:bodyPr wrap="square" lIns="0" tIns="0" rIns="0" bIns="0" anchor="t">
            <a:spAutoFit/>
          </a:bodyPr>
          <a:lstStyle/>
          <a:p>
            <a:pPr algn="l"/>
            <a:r>
              <a:rPr sz="1500" b="1" i="0">
                <a:solidFill>
                  <a:srgbClr val="1B1517"/>
                </a:solidFill>
                <a:latin typeface="Palatino Linotype"/>
              </a:rPr>
              <a:t>Every item borrowed instead of bought is one fewer purchased, and one fewer discarded.</a:t>
            </a:r>
          </a:p>
          <a:p>
            <a:pPr algn="l">
              <a:lnSpc>
                <a:spcPct val="135000"/>
              </a:lnSpc>
              <a:spcBef>
                <a:spcPts val="600"/>
              </a:spcBef>
            </a:pPr>
            <a:r>
              <a:rPr sz="1250" b="0" i="0">
                <a:solidFill>
                  <a:srgbClr val="6C6063"/>
                </a:solidFill>
                <a:latin typeface="Segoe UI"/>
              </a:rPr>
              <a:t>The platform turns that into reportable data for UTM's Smart &amp; Green Campus agenda and UN SDG 12 — Responsible Consumption and Production.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77240" y="475488"/>
            <a:ext cx="914400" cy="1005840"/>
          </a:xfrm>
          <a:prstGeom prst="rect">
            <a:avLst/>
          </a:prstGeom>
          <a:noFill/>
        </p:spPr>
        <p:txBody>
          <a:bodyPr wrap="square" lIns="0" tIns="0" rIns="0" bIns="0" anchor="t">
            <a:spAutoFit/>
          </a:bodyPr>
          <a:lstStyle/>
          <a:p>
            <a:pPr algn="l">
              <a:lnSpc>
                <a:spcPct val="85000"/>
              </a:lnSpc>
            </a:pPr>
            <a:r>
              <a:rPr sz="5400" b="1" i="0">
                <a:solidFill>
                  <a:srgbClr val="6E1023"/>
                </a:solidFill>
                <a:latin typeface="Palatino Linotype"/>
              </a:rPr>
              <a:t>C</a:t>
            </a:r>
          </a:p>
        </p:txBody>
      </p:sp>
      <p:sp>
        <p:nvSpPr>
          <p:cNvPr id="4" name="TextBox 3"/>
          <p:cNvSpPr txBox="1"/>
          <p:nvPr/>
        </p:nvSpPr>
        <p:spPr>
          <a:xfrm>
            <a:off x="777240" y="1298448"/>
            <a:ext cx="1280160" cy="228600"/>
          </a:xfrm>
          <a:prstGeom prst="rect">
            <a:avLst/>
          </a:prstGeom>
          <a:noFill/>
        </p:spPr>
        <p:txBody>
          <a:bodyPr wrap="square" lIns="0" tIns="0" rIns="0" bIns="0" anchor="t">
            <a:spAutoFit/>
          </a:bodyPr>
          <a:lstStyle/>
          <a:p>
            <a:pPr algn="l"/>
            <a:r>
              <a:rPr sz="900" b="1" i="0" spc="160">
                <a:solidFill>
                  <a:srgbClr val="B8862F"/>
                </a:solidFill>
                <a:latin typeface="Segoe UI"/>
              </a:rPr>
              <a:t>COMPETITION</a:t>
            </a:r>
          </a:p>
        </p:txBody>
      </p:sp>
      <p:sp>
        <p:nvSpPr>
          <p:cNvPr id="5" name="TextBox 4"/>
          <p:cNvSpPr txBox="1"/>
          <p:nvPr/>
        </p:nvSpPr>
        <p:spPr>
          <a:xfrm>
            <a:off x="1828800" y="566928"/>
            <a:ext cx="7391095" cy="822960"/>
          </a:xfrm>
          <a:prstGeom prst="rect">
            <a:avLst/>
          </a:prstGeom>
          <a:noFill/>
        </p:spPr>
        <p:txBody>
          <a:bodyPr wrap="square" lIns="0" tIns="0" rIns="0" bIns="0" anchor="t">
            <a:spAutoFit/>
          </a:bodyPr>
          <a:lstStyle/>
          <a:p>
            <a:pPr algn="l">
              <a:lnSpc>
                <a:spcPct val="105000"/>
              </a:lnSpc>
            </a:pPr>
            <a:r>
              <a:rPr sz="2700" b="1" i="0">
                <a:solidFill>
                  <a:srgbClr val="1B1517"/>
                </a:solidFill>
                <a:latin typeface="Palatino Linotype"/>
              </a:rPr>
              <a:t>Nobody else can prove a handover happened.</a:t>
            </a:r>
          </a:p>
        </p:txBody>
      </p:sp>
      <p:sp>
        <p:nvSpPr>
          <p:cNvPr id="6" name="TextBox 5"/>
          <p:cNvSpPr txBox="1"/>
          <p:nvPr/>
        </p:nvSpPr>
        <p:spPr>
          <a:xfrm>
            <a:off x="9219895" y="713232"/>
            <a:ext cx="2194560" cy="274320"/>
          </a:xfrm>
          <a:prstGeom prst="rect">
            <a:avLst/>
          </a:prstGeom>
          <a:noFill/>
        </p:spPr>
        <p:txBody>
          <a:bodyPr wrap="square" lIns="0" tIns="0" rIns="0" bIns="0" anchor="t">
            <a:spAutoFit/>
          </a:bodyPr>
          <a:lstStyle/>
          <a:p>
            <a:pPr algn="r"/>
            <a:r>
              <a:rPr sz="900" b="1" i="0" spc="140">
                <a:solidFill>
                  <a:srgbClr val="6C6063"/>
                </a:solidFill>
                <a:latin typeface="Segoe UI"/>
              </a:rPr>
              <a:t>UNIQUENESS</a:t>
            </a:r>
          </a:p>
        </p:txBody>
      </p:sp>
      <p:sp>
        <p:nvSpPr>
          <p:cNvPr id="7" name="Rectangle 6"/>
          <p:cNvSpPr/>
          <p:nvPr/>
        </p:nvSpPr>
        <p:spPr>
          <a:xfrm>
            <a:off x="1828800" y="1481328"/>
            <a:ext cx="9585655" cy="17780"/>
          </a:xfrm>
          <a:prstGeom prst="rect">
            <a:avLst/>
          </a:prstGeom>
          <a:solidFill>
            <a:srgbClr val="1B15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graphicFrame>
        <p:nvGraphicFramePr>
          <p:cNvPr id="8" name="Table 7"/>
          <p:cNvGraphicFramePr>
            <a:graphicFrameLocks noGrp="1"/>
          </p:cNvGraphicFramePr>
          <p:nvPr/>
        </p:nvGraphicFramePr>
        <p:xfrm>
          <a:off x="1828800" y="1874519"/>
          <a:ext cx="9585652" cy="2395728"/>
        </p:xfrm>
        <a:graphic>
          <a:graphicData uri="http://schemas.openxmlformats.org/drawingml/2006/table">
            <a:tbl>
              <a:tblPr>
                <a:tableStyleId>{5C22544A-7EE6-4342-B048-85BDC9FD1C3A}</a:tableStyleId>
              </a:tblPr>
              <a:tblGrid>
                <a:gridCol w="3383280">
                  <a:extLst>
                    <a:ext uri="{9D8B030D-6E8A-4147-A177-3AD203B41FA5}">
                      <a16:colId xmlns:a16="http://schemas.microsoft.com/office/drawing/2014/main" val="20000"/>
                    </a:ext>
                  </a:extLst>
                </a:gridCol>
                <a:gridCol w="1550593">
                  <a:extLst>
                    <a:ext uri="{9D8B030D-6E8A-4147-A177-3AD203B41FA5}">
                      <a16:colId xmlns:a16="http://schemas.microsoft.com/office/drawing/2014/main" val="20001"/>
                    </a:ext>
                  </a:extLst>
                </a:gridCol>
                <a:gridCol w="1550593">
                  <a:extLst>
                    <a:ext uri="{9D8B030D-6E8A-4147-A177-3AD203B41FA5}">
                      <a16:colId xmlns:a16="http://schemas.microsoft.com/office/drawing/2014/main" val="20002"/>
                    </a:ext>
                  </a:extLst>
                </a:gridCol>
                <a:gridCol w="1550593">
                  <a:extLst>
                    <a:ext uri="{9D8B030D-6E8A-4147-A177-3AD203B41FA5}">
                      <a16:colId xmlns:a16="http://schemas.microsoft.com/office/drawing/2014/main" val="20003"/>
                    </a:ext>
                  </a:extLst>
                </a:gridCol>
                <a:gridCol w="1550593">
                  <a:extLst>
                    <a:ext uri="{9D8B030D-6E8A-4147-A177-3AD203B41FA5}">
                      <a16:colId xmlns:a16="http://schemas.microsoft.com/office/drawing/2014/main" val="20004"/>
                    </a:ext>
                  </a:extLst>
                </a:gridCol>
              </a:tblGrid>
              <a:tr h="566928">
                <a:tc>
                  <a:txBody>
                    <a:bodyPr/>
                    <a:lstStyle/>
                    <a:p>
                      <a:pPr algn="l"/>
                      <a:r>
                        <a:rPr sz="1050" b="1">
                          <a:solidFill>
                            <a:srgbClr val="6C6063"/>
                          </a:solidFill>
                          <a:latin typeface="Segoe UI"/>
                        </a:rPr>
                        <a:t>Capability</a:t>
                      </a:r>
                    </a:p>
                  </a:txBody>
                  <a:tcPr marL="73152" marR="73152" marT="18288" marB="18288" anchor="ctr">
                    <a:noFill/>
                  </a:tcPr>
                </a:tc>
                <a:tc>
                  <a:txBody>
                    <a:bodyPr/>
                    <a:lstStyle/>
                    <a:p>
                      <a:pPr algn="ctr"/>
                      <a:r>
                        <a:rPr sz="1050" b="1">
                          <a:solidFill>
                            <a:srgbClr val="6C6063"/>
                          </a:solidFill>
                          <a:latin typeface="Segoe UI"/>
                        </a:rPr>
                        <a:t>WhatsApp &amp;
Telegram groups</a:t>
                      </a:r>
                    </a:p>
                  </a:txBody>
                  <a:tcPr marL="73152" marR="73152" marT="18288" marB="18288" anchor="ctr">
                    <a:noFill/>
                  </a:tcPr>
                </a:tc>
                <a:tc>
                  <a:txBody>
                    <a:bodyPr/>
                    <a:lstStyle/>
                    <a:p>
                      <a:pPr algn="ctr"/>
                      <a:r>
                        <a:rPr sz="1050" b="1">
                          <a:solidFill>
                            <a:srgbClr val="6C6063"/>
                          </a:solidFill>
                          <a:latin typeface="Segoe UI"/>
                        </a:rPr>
                        <a:t>Marketplace
apps</a:t>
                      </a:r>
                    </a:p>
                  </a:txBody>
                  <a:tcPr marL="73152" marR="73152" marT="18288" marB="18288" anchor="ctr">
                    <a:noFill/>
                  </a:tcPr>
                </a:tc>
                <a:tc>
                  <a:txBody>
                    <a:bodyPr/>
                    <a:lstStyle/>
                    <a:p>
                      <a:pPr algn="ctr"/>
                      <a:r>
                        <a:rPr sz="1050" b="1">
                          <a:solidFill>
                            <a:srgbClr val="6C6063"/>
                          </a:solidFill>
                          <a:latin typeface="Segoe UI"/>
                        </a:rPr>
                        <a:t>Faculty / library
loan counter</a:t>
                      </a:r>
                    </a:p>
                  </a:txBody>
                  <a:tcPr marL="73152" marR="73152" marT="18288" marB="18288" anchor="ctr">
                    <a:noFill/>
                  </a:tcPr>
                </a:tc>
                <a:tc>
                  <a:txBody>
                    <a:bodyPr/>
                    <a:lstStyle/>
                    <a:p>
                      <a:pPr algn="ctr"/>
                      <a:r>
                        <a:rPr sz="1050" b="1" spc="120">
                          <a:solidFill>
                            <a:srgbClr val="6E1023"/>
                          </a:solidFill>
                          <a:latin typeface="Segoe UI"/>
                        </a:rPr>
                        <a:t>UTM BORROW</a:t>
                      </a:r>
                    </a:p>
                  </a:txBody>
                  <a:tcPr marL="73152" marR="73152" marT="18288" marB="18288" anchor="ctr">
                    <a:solidFill>
                      <a:srgbClr val="F8F5F5"/>
                    </a:solidFill>
                  </a:tcPr>
                </a:tc>
                <a:extLst>
                  <a:ext uri="{0D108BD9-81ED-4DB2-BD59-A6C34878D82A}">
                    <a16:rowId xmlns:a16="http://schemas.microsoft.com/office/drawing/2014/main" val="10000"/>
                  </a:ext>
                </a:extLst>
              </a:tr>
              <a:tr h="365760">
                <a:tc>
                  <a:txBody>
                    <a:bodyPr/>
                    <a:lstStyle/>
                    <a:p>
                      <a:pPr algn="l"/>
                      <a:r>
                        <a:rPr sz="1200" b="0">
                          <a:solidFill>
                            <a:srgbClr val="2C2427"/>
                          </a:solidFill>
                          <a:latin typeface="Segoe UI"/>
                        </a:rPr>
                        <a:t>Restricted to verified UTM members</a:t>
                      </a:r>
                    </a:p>
                  </a:txBody>
                  <a:tcPr marL="73152" marR="73152" marT="18288" marB="18288" anchor="ctr">
                    <a:noFill/>
                  </a:tcPr>
                </a:tc>
                <a:tc>
                  <a:txBody>
                    <a:bodyPr/>
                    <a:lstStyle/>
                    <a:p>
                      <a:pPr algn="ctr"/>
                      <a:r>
                        <a:rPr sz="1600" b="0">
                          <a:solidFill>
                            <a:srgbClr val="C4B9B9"/>
                          </a:solidFill>
                          <a:latin typeface="Segoe UI"/>
                        </a:rPr>
                        <a:t>—</a:t>
                      </a:r>
                    </a:p>
                  </a:txBody>
                  <a:tcPr marL="73152" marR="73152" marT="18288" marB="18288" anchor="ctr">
                    <a:noFill/>
                  </a:tcPr>
                </a:tc>
                <a:tc>
                  <a:txBody>
                    <a:bodyPr/>
                    <a:lstStyle/>
                    <a:p>
                      <a:pPr algn="ctr"/>
                      <a:r>
                        <a:rPr sz="1600" b="0">
                          <a:solidFill>
                            <a:srgbClr val="C4B9B9"/>
                          </a:solidFill>
                          <a:latin typeface="Segoe UI"/>
                        </a:rPr>
                        <a:t>—</a:t>
                      </a:r>
                    </a:p>
                  </a:txBody>
                  <a:tcPr marL="73152" marR="73152" marT="18288" marB="18288" anchor="ctr">
                    <a:noFill/>
                  </a:tcPr>
                </a:tc>
                <a:tc>
                  <a:txBody>
                    <a:bodyPr/>
                    <a:lstStyle/>
                    <a:p>
                      <a:pPr algn="ctr"/>
                      <a:r>
                        <a:rPr sz="1600" b="1">
                          <a:solidFill>
                            <a:srgbClr val="6E1023"/>
                          </a:solidFill>
                          <a:latin typeface="Segoe UI"/>
                        </a:rPr>
                        <a:t>●</a:t>
                      </a:r>
                    </a:p>
                  </a:txBody>
                  <a:tcPr marL="73152" marR="73152" marT="18288" marB="18288" anchor="ctr">
                    <a:noFill/>
                  </a:tcPr>
                </a:tc>
                <a:tc>
                  <a:txBody>
                    <a:bodyPr/>
                    <a:lstStyle/>
                    <a:p>
                      <a:pPr algn="ctr"/>
                      <a:r>
                        <a:rPr sz="1600" b="1">
                          <a:solidFill>
                            <a:srgbClr val="6E1023"/>
                          </a:solidFill>
                          <a:latin typeface="Segoe UI"/>
                        </a:rPr>
                        <a:t>●</a:t>
                      </a:r>
                    </a:p>
                  </a:txBody>
                  <a:tcPr marL="73152" marR="73152" marT="18288" marB="18288" anchor="ctr">
                    <a:solidFill>
                      <a:srgbClr val="F8F5F5"/>
                    </a:solidFill>
                  </a:tcPr>
                </a:tc>
                <a:extLst>
                  <a:ext uri="{0D108BD9-81ED-4DB2-BD59-A6C34878D82A}">
                    <a16:rowId xmlns:a16="http://schemas.microsoft.com/office/drawing/2014/main" val="10001"/>
                  </a:ext>
                </a:extLst>
              </a:tr>
              <a:tr h="365760">
                <a:tc>
                  <a:txBody>
                    <a:bodyPr/>
                    <a:lstStyle/>
                    <a:p>
                      <a:pPr algn="l"/>
                      <a:r>
                        <a:rPr sz="1200" b="0">
                          <a:solidFill>
                            <a:srgbClr val="2C2427"/>
                          </a:solidFill>
                          <a:latin typeface="Segoe UI"/>
                        </a:rPr>
                        <a:t>Reputation earned from completed loans</a:t>
                      </a:r>
                    </a:p>
                  </a:txBody>
                  <a:tcPr marL="73152" marR="73152" marT="18288" marB="18288" anchor="ctr">
                    <a:noFill/>
                  </a:tcPr>
                </a:tc>
                <a:tc>
                  <a:txBody>
                    <a:bodyPr/>
                    <a:lstStyle/>
                    <a:p>
                      <a:pPr algn="ctr"/>
                      <a:r>
                        <a:rPr sz="1600" b="0">
                          <a:solidFill>
                            <a:srgbClr val="C4B9B9"/>
                          </a:solidFill>
                          <a:latin typeface="Segoe UI"/>
                        </a:rPr>
                        <a:t>—</a:t>
                      </a:r>
                    </a:p>
                  </a:txBody>
                  <a:tcPr marL="73152" marR="73152" marT="18288" marB="18288" anchor="ctr">
                    <a:noFill/>
                  </a:tcPr>
                </a:tc>
                <a:tc>
                  <a:txBody>
                    <a:bodyPr/>
                    <a:lstStyle/>
                    <a:p>
                      <a:pPr algn="ctr"/>
                      <a:r>
                        <a:rPr sz="1600" b="0">
                          <a:solidFill>
                            <a:srgbClr val="6E1023"/>
                          </a:solidFill>
                          <a:latin typeface="Segoe UI"/>
                        </a:rPr>
                        <a:t>○</a:t>
                      </a:r>
                    </a:p>
                  </a:txBody>
                  <a:tcPr marL="73152" marR="73152" marT="18288" marB="18288" anchor="ctr">
                    <a:noFill/>
                  </a:tcPr>
                </a:tc>
                <a:tc>
                  <a:txBody>
                    <a:bodyPr/>
                    <a:lstStyle/>
                    <a:p>
                      <a:pPr algn="ctr"/>
                      <a:r>
                        <a:rPr sz="1600" b="0">
                          <a:solidFill>
                            <a:srgbClr val="C4B9B9"/>
                          </a:solidFill>
                          <a:latin typeface="Segoe UI"/>
                        </a:rPr>
                        <a:t>—</a:t>
                      </a:r>
                    </a:p>
                  </a:txBody>
                  <a:tcPr marL="73152" marR="73152" marT="18288" marB="18288" anchor="ctr">
                    <a:noFill/>
                  </a:tcPr>
                </a:tc>
                <a:tc>
                  <a:txBody>
                    <a:bodyPr/>
                    <a:lstStyle/>
                    <a:p>
                      <a:pPr algn="ctr"/>
                      <a:r>
                        <a:rPr sz="1600" b="1">
                          <a:solidFill>
                            <a:srgbClr val="6E1023"/>
                          </a:solidFill>
                          <a:latin typeface="Segoe UI"/>
                        </a:rPr>
                        <a:t>●</a:t>
                      </a:r>
                    </a:p>
                  </a:txBody>
                  <a:tcPr marL="73152" marR="73152" marT="18288" marB="18288" anchor="ctr">
                    <a:solidFill>
                      <a:srgbClr val="F8F5F5"/>
                    </a:solidFill>
                  </a:tcPr>
                </a:tc>
                <a:extLst>
                  <a:ext uri="{0D108BD9-81ED-4DB2-BD59-A6C34878D82A}">
                    <a16:rowId xmlns:a16="http://schemas.microsoft.com/office/drawing/2014/main" val="10002"/>
                  </a:ext>
                </a:extLst>
              </a:tr>
              <a:tr h="365760">
                <a:tc>
                  <a:txBody>
                    <a:bodyPr/>
                    <a:lstStyle/>
                    <a:p>
                      <a:pPr algn="l"/>
                      <a:r>
                        <a:rPr sz="1200" b="0">
                          <a:solidFill>
                            <a:srgbClr val="2C2427"/>
                          </a:solidFill>
                          <a:latin typeface="Segoe UI"/>
                        </a:rPr>
                        <a:t>Cryptographic proof of handover</a:t>
                      </a:r>
                    </a:p>
                  </a:txBody>
                  <a:tcPr marL="73152" marR="73152" marT="18288" marB="18288" anchor="ctr">
                    <a:noFill/>
                  </a:tcPr>
                </a:tc>
                <a:tc>
                  <a:txBody>
                    <a:bodyPr/>
                    <a:lstStyle/>
                    <a:p>
                      <a:pPr algn="ctr"/>
                      <a:r>
                        <a:rPr sz="1600" b="0">
                          <a:solidFill>
                            <a:srgbClr val="C4B9B9"/>
                          </a:solidFill>
                          <a:latin typeface="Segoe UI"/>
                        </a:rPr>
                        <a:t>—</a:t>
                      </a:r>
                    </a:p>
                  </a:txBody>
                  <a:tcPr marL="73152" marR="73152" marT="18288" marB="18288" anchor="ctr">
                    <a:noFill/>
                  </a:tcPr>
                </a:tc>
                <a:tc>
                  <a:txBody>
                    <a:bodyPr/>
                    <a:lstStyle/>
                    <a:p>
                      <a:pPr algn="ctr"/>
                      <a:r>
                        <a:rPr sz="1600" b="0">
                          <a:solidFill>
                            <a:srgbClr val="C4B9B9"/>
                          </a:solidFill>
                          <a:latin typeface="Segoe UI"/>
                        </a:rPr>
                        <a:t>—</a:t>
                      </a:r>
                    </a:p>
                  </a:txBody>
                  <a:tcPr marL="73152" marR="73152" marT="18288" marB="18288" anchor="ctr">
                    <a:noFill/>
                  </a:tcPr>
                </a:tc>
                <a:tc>
                  <a:txBody>
                    <a:bodyPr/>
                    <a:lstStyle/>
                    <a:p>
                      <a:pPr algn="ctr"/>
                      <a:r>
                        <a:rPr sz="1600" b="0">
                          <a:solidFill>
                            <a:srgbClr val="6E1023"/>
                          </a:solidFill>
                          <a:latin typeface="Segoe UI"/>
                        </a:rPr>
                        <a:t>○</a:t>
                      </a:r>
                    </a:p>
                  </a:txBody>
                  <a:tcPr marL="73152" marR="73152" marT="18288" marB="18288" anchor="ctr">
                    <a:noFill/>
                  </a:tcPr>
                </a:tc>
                <a:tc>
                  <a:txBody>
                    <a:bodyPr/>
                    <a:lstStyle/>
                    <a:p>
                      <a:pPr algn="ctr"/>
                      <a:r>
                        <a:rPr sz="1600" b="1">
                          <a:solidFill>
                            <a:srgbClr val="6E1023"/>
                          </a:solidFill>
                          <a:latin typeface="Segoe UI"/>
                        </a:rPr>
                        <a:t>●</a:t>
                      </a:r>
                    </a:p>
                  </a:txBody>
                  <a:tcPr marL="73152" marR="73152" marT="18288" marB="18288" anchor="ctr">
                    <a:solidFill>
                      <a:srgbClr val="F8F5F5"/>
                    </a:solidFill>
                  </a:tcPr>
                </a:tc>
                <a:extLst>
                  <a:ext uri="{0D108BD9-81ED-4DB2-BD59-A6C34878D82A}">
                    <a16:rowId xmlns:a16="http://schemas.microsoft.com/office/drawing/2014/main" val="10003"/>
                  </a:ext>
                </a:extLst>
              </a:tr>
              <a:tr h="365760">
                <a:tc>
                  <a:txBody>
                    <a:bodyPr/>
                    <a:lstStyle/>
                    <a:p>
                      <a:pPr algn="l"/>
                      <a:r>
                        <a:rPr sz="1200" b="0">
                          <a:solidFill>
                            <a:srgbClr val="2C2427"/>
                          </a:solidFill>
                          <a:latin typeface="Segoe UI"/>
                        </a:rPr>
                        <a:t>Cryptographic proof of return</a:t>
                      </a:r>
                    </a:p>
                  </a:txBody>
                  <a:tcPr marL="73152" marR="73152" marT="18288" marB="18288" anchor="ctr">
                    <a:noFill/>
                  </a:tcPr>
                </a:tc>
                <a:tc>
                  <a:txBody>
                    <a:bodyPr/>
                    <a:lstStyle/>
                    <a:p>
                      <a:pPr algn="ctr"/>
                      <a:r>
                        <a:rPr sz="1600" b="0">
                          <a:solidFill>
                            <a:srgbClr val="C4B9B9"/>
                          </a:solidFill>
                          <a:latin typeface="Segoe UI"/>
                        </a:rPr>
                        <a:t>—</a:t>
                      </a:r>
                    </a:p>
                  </a:txBody>
                  <a:tcPr marL="73152" marR="73152" marT="18288" marB="18288" anchor="ctr">
                    <a:noFill/>
                  </a:tcPr>
                </a:tc>
                <a:tc>
                  <a:txBody>
                    <a:bodyPr/>
                    <a:lstStyle/>
                    <a:p>
                      <a:pPr algn="ctr"/>
                      <a:r>
                        <a:rPr sz="1600" b="0">
                          <a:solidFill>
                            <a:srgbClr val="C4B9B9"/>
                          </a:solidFill>
                          <a:latin typeface="Segoe UI"/>
                        </a:rPr>
                        <a:t>—</a:t>
                      </a:r>
                    </a:p>
                  </a:txBody>
                  <a:tcPr marL="73152" marR="73152" marT="18288" marB="18288" anchor="ctr">
                    <a:noFill/>
                  </a:tcPr>
                </a:tc>
                <a:tc>
                  <a:txBody>
                    <a:bodyPr/>
                    <a:lstStyle/>
                    <a:p>
                      <a:pPr algn="ctr"/>
                      <a:r>
                        <a:rPr sz="1600" b="0">
                          <a:solidFill>
                            <a:srgbClr val="6E1023"/>
                          </a:solidFill>
                          <a:latin typeface="Segoe UI"/>
                        </a:rPr>
                        <a:t>○</a:t>
                      </a:r>
                    </a:p>
                  </a:txBody>
                  <a:tcPr marL="73152" marR="73152" marT="18288" marB="18288" anchor="ctr">
                    <a:noFill/>
                  </a:tcPr>
                </a:tc>
                <a:tc>
                  <a:txBody>
                    <a:bodyPr/>
                    <a:lstStyle/>
                    <a:p>
                      <a:pPr algn="ctr"/>
                      <a:r>
                        <a:rPr sz="1600" b="1">
                          <a:solidFill>
                            <a:srgbClr val="6E1023"/>
                          </a:solidFill>
                          <a:latin typeface="Segoe UI"/>
                        </a:rPr>
                        <a:t>●</a:t>
                      </a:r>
                    </a:p>
                  </a:txBody>
                  <a:tcPr marL="73152" marR="73152" marT="18288" marB="18288" anchor="ctr">
                    <a:solidFill>
                      <a:srgbClr val="F8F5F5"/>
                    </a:solidFill>
                  </a:tcPr>
                </a:tc>
                <a:extLst>
                  <a:ext uri="{0D108BD9-81ED-4DB2-BD59-A6C34878D82A}">
                    <a16:rowId xmlns:a16="http://schemas.microsoft.com/office/drawing/2014/main" val="10004"/>
                  </a:ext>
                </a:extLst>
              </a:tr>
              <a:tr h="365760">
                <a:tc>
                  <a:txBody>
                    <a:bodyPr/>
                    <a:lstStyle/>
                    <a:p>
                      <a:pPr algn="l"/>
                      <a:r>
                        <a:rPr sz="1200" b="0">
                          <a:solidFill>
                            <a:srgbClr val="2C2427"/>
                          </a:solidFill>
                          <a:latin typeface="Segoe UI"/>
                        </a:rPr>
                        <a:t>Student-owned items · no fee, no deposit</a:t>
                      </a:r>
                    </a:p>
                  </a:txBody>
                  <a:tcPr marL="73152" marR="73152" marT="18288" marB="18288" anchor="ctr">
                    <a:noFill/>
                  </a:tcPr>
                </a:tc>
                <a:tc>
                  <a:txBody>
                    <a:bodyPr/>
                    <a:lstStyle/>
                    <a:p>
                      <a:pPr algn="ctr"/>
                      <a:r>
                        <a:rPr sz="1600" b="1">
                          <a:solidFill>
                            <a:srgbClr val="6E1023"/>
                          </a:solidFill>
                          <a:latin typeface="Segoe UI"/>
                        </a:rPr>
                        <a:t>●</a:t>
                      </a:r>
                    </a:p>
                  </a:txBody>
                  <a:tcPr marL="73152" marR="73152" marT="18288" marB="18288" anchor="ctr">
                    <a:noFill/>
                  </a:tcPr>
                </a:tc>
                <a:tc>
                  <a:txBody>
                    <a:bodyPr/>
                    <a:lstStyle/>
                    <a:p>
                      <a:pPr algn="ctr"/>
                      <a:r>
                        <a:rPr sz="1600" b="0">
                          <a:solidFill>
                            <a:srgbClr val="C4B9B9"/>
                          </a:solidFill>
                          <a:latin typeface="Segoe UI"/>
                        </a:rPr>
                        <a:t>—</a:t>
                      </a:r>
                    </a:p>
                  </a:txBody>
                  <a:tcPr marL="73152" marR="73152" marT="18288" marB="18288" anchor="ctr">
                    <a:noFill/>
                  </a:tcPr>
                </a:tc>
                <a:tc>
                  <a:txBody>
                    <a:bodyPr/>
                    <a:lstStyle/>
                    <a:p>
                      <a:pPr algn="ctr"/>
                      <a:r>
                        <a:rPr sz="1600" b="0">
                          <a:solidFill>
                            <a:srgbClr val="C4B9B9"/>
                          </a:solidFill>
                          <a:latin typeface="Segoe UI"/>
                        </a:rPr>
                        <a:t>—</a:t>
                      </a:r>
                    </a:p>
                  </a:txBody>
                  <a:tcPr marL="73152" marR="73152" marT="18288" marB="18288" anchor="ctr">
                    <a:noFill/>
                  </a:tcPr>
                </a:tc>
                <a:tc>
                  <a:txBody>
                    <a:bodyPr/>
                    <a:lstStyle/>
                    <a:p>
                      <a:pPr algn="ctr"/>
                      <a:r>
                        <a:rPr sz="1600" b="1">
                          <a:solidFill>
                            <a:srgbClr val="6E1023"/>
                          </a:solidFill>
                          <a:latin typeface="Segoe UI"/>
                        </a:rPr>
                        <a:t>●</a:t>
                      </a:r>
                    </a:p>
                  </a:txBody>
                  <a:tcPr marL="73152" marR="73152" marT="18288" marB="18288" anchor="ctr">
                    <a:solidFill>
                      <a:srgbClr val="F8F5F5"/>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1828800" y="4407408"/>
            <a:ext cx="9585655" cy="274320"/>
          </a:xfrm>
          <a:prstGeom prst="rect">
            <a:avLst/>
          </a:prstGeom>
          <a:noFill/>
        </p:spPr>
        <p:txBody>
          <a:bodyPr wrap="square" lIns="0" tIns="0" rIns="0" bIns="0" anchor="t">
            <a:spAutoFit/>
          </a:bodyPr>
          <a:lstStyle/>
          <a:p>
            <a:pPr algn="l"/>
            <a:r>
              <a:rPr sz="1050" b="0" i="0">
                <a:solidFill>
                  <a:srgbClr val="6C6063"/>
                </a:solidFill>
                <a:latin typeface="Segoe UI"/>
              </a:rPr>
              <a:t>●  fully supported        ○  partial or informal        —  absent            Marketplace apps sell; loan counters lend only what the university already owns.</a:t>
            </a:r>
          </a:p>
        </p:txBody>
      </p:sp>
      <p:sp>
        <p:nvSpPr>
          <p:cNvPr id="10" name="Rectangle 9"/>
          <p:cNvSpPr/>
          <p:nvPr/>
        </p:nvSpPr>
        <p:spPr>
          <a:xfrm>
            <a:off x="1828800" y="4846320"/>
            <a:ext cx="9585655" cy="960120"/>
          </a:xfrm>
          <a:prstGeom prst="rect">
            <a:avLst/>
          </a:prstGeom>
          <a:solidFill>
            <a:srgbClr val="6E10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2121408" y="5047488"/>
            <a:ext cx="9037015" cy="594360"/>
          </a:xfrm>
          <a:prstGeom prst="rect">
            <a:avLst/>
          </a:prstGeom>
          <a:noFill/>
        </p:spPr>
        <p:txBody>
          <a:bodyPr wrap="square" lIns="0" tIns="0" rIns="0" bIns="0" anchor="t">
            <a:spAutoFit/>
          </a:bodyPr>
          <a:lstStyle/>
          <a:p>
            <a:r>
              <a:rPr sz="1500" b="0">
                <a:solidFill>
                  <a:srgbClr val="FBF3F1"/>
                </a:solidFill>
                <a:latin typeface="Palatino Linotype"/>
              </a:rPr>
              <a:t>Not one existing channel can prove that a physical handover actually happened.  </a:t>
            </a:r>
            <a:r>
              <a:rPr sz="1500" b="1">
                <a:solidFill>
                  <a:srgbClr val="F3C9A0"/>
                </a:solidFill>
                <a:latin typeface="Palatino Linotype"/>
              </a:rPr>
              <a:t>UTM Borrow can.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A0A1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762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94359" y="653795"/>
            <a:ext cx="7863840" cy="1737360"/>
          </a:xfrm>
          <a:prstGeom prst="rect">
            <a:avLst/>
          </a:prstGeom>
          <a:noFill/>
        </p:spPr>
        <p:txBody>
          <a:bodyPr wrap="square" lIns="0" tIns="0" rIns="0" bIns="0" anchor="t">
            <a:spAutoFit/>
          </a:bodyPr>
          <a:lstStyle/>
          <a:p>
            <a:pPr algn="l">
              <a:lnSpc>
                <a:spcPct val="100000"/>
              </a:lnSpc>
            </a:pPr>
            <a:r>
              <a:rPr sz="6000" b="1" i="0" dirty="0">
                <a:solidFill>
                  <a:srgbClr val="FBF3F1"/>
                </a:solidFill>
                <a:latin typeface="Palatino Linotype"/>
              </a:rPr>
              <a:t>Every handover,
signed.</a:t>
            </a:r>
          </a:p>
        </p:txBody>
      </p:sp>
      <p:sp>
        <p:nvSpPr>
          <p:cNvPr id="5" name="TextBox 4"/>
          <p:cNvSpPr txBox="1"/>
          <p:nvPr/>
        </p:nvSpPr>
        <p:spPr>
          <a:xfrm>
            <a:off x="594359" y="2612897"/>
            <a:ext cx="7498079" cy="640080"/>
          </a:xfrm>
          <a:prstGeom prst="rect">
            <a:avLst/>
          </a:prstGeom>
          <a:noFill/>
        </p:spPr>
        <p:txBody>
          <a:bodyPr wrap="square" lIns="0" tIns="0" rIns="0" bIns="0" anchor="t">
            <a:spAutoFit/>
          </a:bodyPr>
          <a:lstStyle/>
          <a:p>
            <a:pPr algn="l"/>
            <a:r>
              <a:rPr sz="1600" b="0" i="1" dirty="0">
                <a:solidFill>
                  <a:srgbClr val="F3D9D6"/>
                </a:solidFill>
                <a:latin typeface="Palatino Linotype"/>
              </a:rPr>
              <a:t>27 of 27 use cases · 3 subsystems · 9 modules · live and deployed</a:t>
            </a:r>
          </a:p>
        </p:txBody>
      </p:sp>
      <p:sp>
        <p:nvSpPr>
          <p:cNvPr id="6" name="Rectangle 5"/>
          <p:cNvSpPr/>
          <p:nvPr/>
        </p:nvSpPr>
        <p:spPr>
          <a:xfrm>
            <a:off x="777240" y="4754880"/>
            <a:ext cx="2011680" cy="38100"/>
          </a:xfrm>
          <a:prstGeom prst="rect">
            <a:avLst/>
          </a:prstGeom>
          <a:solidFill>
            <a:srgbClr val="B886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777240" y="5074920"/>
            <a:ext cx="7498079" cy="822960"/>
          </a:xfrm>
          <a:prstGeom prst="rect">
            <a:avLst/>
          </a:prstGeom>
          <a:noFill/>
        </p:spPr>
        <p:txBody>
          <a:bodyPr wrap="square" lIns="0" tIns="0" rIns="0" bIns="0" anchor="t">
            <a:spAutoFit/>
          </a:bodyPr>
          <a:lstStyle/>
          <a:p>
            <a:pPr algn="l"/>
            <a:r>
              <a:rPr sz="1500" b="0" i="0">
                <a:solidFill>
                  <a:srgbClr val="FBF3F1"/>
                </a:solidFill>
                <a:latin typeface="Consolas"/>
              </a:rPr>
              <a:t>utmborrow.alsakkaf.site</a:t>
            </a:r>
          </a:p>
          <a:p>
            <a:pPr algn="l">
              <a:spcBef>
                <a:spcPts val="400"/>
              </a:spcBef>
            </a:pPr>
            <a:r>
              <a:rPr sz="1300" b="0" i="0">
                <a:solidFill>
                  <a:srgbClr val="E3BFC0"/>
                </a:solidFill>
                <a:latin typeface="Consolas"/>
              </a:rPr>
              <a:t>github.com/Alsakkaf-dev/UTMBorrow</a:t>
            </a:r>
          </a:p>
        </p:txBody>
      </p:sp>
      <p:pic>
        <p:nvPicPr>
          <p:cNvPr id="8" name="Picture 7" descr="qr.png"/>
          <p:cNvPicPr>
            <a:picLocks noChangeAspect="1"/>
          </p:cNvPicPr>
          <p:nvPr/>
        </p:nvPicPr>
        <p:blipFill>
          <a:blip r:embed="rId3"/>
          <a:stretch>
            <a:fillRect/>
          </a:stretch>
        </p:blipFill>
        <p:spPr>
          <a:xfrm>
            <a:off x="9189720" y="2331720"/>
            <a:ext cx="2148840" cy="2148840"/>
          </a:xfrm>
          <a:prstGeom prst="rect">
            <a:avLst/>
          </a:prstGeom>
        </p:spPr>
      </p:pic>
      <p:sp>
        <p:nvSpPr>
          <p:cNvPr id="9" name="TextBox 8"/>
          <p:cNvSpPr txBox="1"/>
          <p:nvPr/>
        </p:nvSpPr>
        <p:spPr>
          <a:xfrm>
            <a:off x="9189720" y="4617720"/>
            <a:ext cx="2148840" cy="548640"/>
          </a:xfrm>
          <a:prstGeom prst="rect">
            <a:avLst/>
          </a:prstGeom>
          <a:noFill/>
        </p:spPr>
        <p:txBody>
          <a:bodyPr wrap="square" lIns="0" tIns="0" rIns="0" bIns="0" anchor="t">
            <a:spAutoFit/>
          </a:bodyPr>
          <a:lstStyle/>
          <a:p>
            <a:pPr algn="ctr"/>
            <a:r>
              <a:rPr sz="1100" b="0" i="0">
                <a:solidFill>
                  <a:srgbClr val="F3D9D6"/>
                </a:solidFill>
                <a:latin typeface="Segoe UI"/>
              </a:rPr>
              <a:t>Scan to open the live app</a:t>
            </a:r>
          </a:p>
        </p:txBody>
      </p:sp>
      <p:sp>
        <p:nvSpPr>
          <p:cNvPr id="10" name="TextBox 9"/>
          <p:cNvSpPr txBox="1"/>
          <p:nvPr/>
        </p:nvSpPr>
        <p:spPr>
          <a:xfrm>
            <a:off x="777240" y="6053328"/>
            <a:ext cx="10607040" cy="365760"/>
          </a:xfrm>
          <a:prstGeom prst="rect">
            <a:avLst/>
          </a:prstGeom>
          <a:noFill/>
        </p:spPr>
        <p:txBody>
          <a:bodyPr wrap="square" lIns="0" tIns="0" rIns="0" bIns="0" anchor="t">
            <a:spAutoFit/>
          </a:bodyPr>
          <a:lstStyle/>
          <a:p>
            <a:pPr algn="l"/>
            <a:r>
              <a:rPr sz="1100" b="0" i="0">
                <a:solidFill>
                  <a:srgbClr val="B08A8C"/>
                </a:solidFill>
                <a:latin typeface="Segoe UI"/>
              </a:rPr>
              <a:t>Group Alpha  ·  Faculty of Computing, Universiti Teknologi Malaysia  ·  Semester II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1871</Words>
  <Application>Microsoft Office PowerPoint</Application>
  <PresentationFormat>Widescreen</PresentationFormat>
  <Paragraphs>216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Consolas</vt:lpstr>
      <vt:lpstr>Palatino Linotype</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MOHAMMED MOHSEN MOHAMMED AL-SAKKAF</cp:lastModifiedBy>
  <cp:revision>2</cp:revision>
  <dcterms:created xsi:type="dcterms:W3CDTF">2013-01-27T09:14:16Z</dcterms:created>
  <dcterms:modified xsi:type="dcterms:W3CDTF">2026-07-10T08:46:12Z</dcterms:modified>
  <cp:category/>
</cp:coreProperties>
</file>