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81"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80" r:id="rId19"/>
    <p:sldId id="272" r:id="rId20"/>
    <p:sldId id="273" r:id="rId21"/>
    <p:sldId id="274" r:id="rId22"/>
    <p:sldId id="275" r:id="rId23"/>
    <p:sldId id="276" r:id="rId24"/>
    <p:sldId id="277" r:id="rId25"/>
    <p:sldId id="278" r:id="rId26"/>
    <p:sldId id="279"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2034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php.net/manual/en/language.types.callable.php" TargetMode="External"/><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https://www.php-fig.org/psr/psr-15/" TargetMode="External"/><Relationship Id="rId4" Type="http://schemas.openxmlformats.org/officeDocument/2006/relationships/hyperlink" Target="https://www.php-fig.org/psr/psr-7/"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59E0B"/>
          </a:solidFill>
          <a:ln w="12700">
            <a:solidFill>
              <a:srgbClr val="F59E0B"/>
            </a:solidFill>
            <a:prstDash val="solid"/>
          </a:ln>
        </p:spPr>
        <p:txBody>
          <a:bodyPr/>
          <a:lstStyle/>
          <a:p>
            <a:endParaRPr lang="en-MY"/>
          </a:p>
        </p:txBody>
      </p:sp>
      <p:sp>
        <p:nvSpPr>
          <p:cNvPr id="3" name="Text 1"/>
          <p:cNvSpPr/>
          <p:nvPr/>
        </p:nvSpPr>
        <p:spPr>
          <a:xfrm>
            <a:off x="822960" y="1463040"/>
            <a:ext cx="10972800" cy="457200"/>
          </a:xfrm>
          <a:prstGeom prst="rect">
            <a:avLst/>
          </a:prstGeom>
          <a:noFill/>
          <a:ln/>
        </p:spPr>
        <p:txBody>
          <a:bodyPr wrap="square" lIns="0" tIns="0" rIns="0" bIns="0" rtlCol="0" anchor="ctr"/>
          <a:lstStyle/>
          <a:p>
            <a:pPr marL="0" indent="0">
              <a:buNone/>
            </a:pPr>
            <a:r>
              <a:rPr lang="en-US" sz="1600" b="1" kern="0" spc="800" dirty="0">
                <a:solidFill>
                  <a:srgbClr val="F59E0B"/>
                </a:solidFill>
                <a:latin typeface="Calibri" pitchFamily="34" charset="0"/>
                <a:ea typeface="Calibri" pitchFamily="34" charset="-122"/>
                <a:cs typeface="Calibri" pitchFamily="34" charset="-120"/>
              </a:rPr>
              <a:t>CHAPTER 9</a:t>
            </a:r>
            <a:endParaRPr lang="en-US" sz="1600" dirty="0"/>
          </a:p>
        </p:txBody>
      </p:sp>
      <p:sp>
        <p:nvSpPr>
          <p:cNvPr id="4" name="Text 2"/>
          <p:cNvSpPr/>
          <p:nvPr/>
        </p:nvSpPr>
        <p:spPr>
          <a:xfrm>
            <a:off x="822960" y="1920240"/>
            <a:ext cx="10972800" cy="109728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Server-Side and PHP Slim</a:t>
            </a:r>
            <a:endParaRPr lang="en-US" sz="5600" dirty="0"/>
          </a:p>
        </p:txBody>
      </p:sp>
      <p:sp>
        <p:nvSpPr>
          <p:cNvPr id="5" name="Text 3"/>
          <p:cNvSpPr/>
          <p:nvPr/>
        </p:nvSpPr>
        <p:spPr>
          <a:xfrm>
            <a:off x="822960" y="3108960"/>
            <a:ext cx="10972800" cy="64008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Building RESTful APIs as the backbone of cross-platform applications</a:t>
            </a:r>
            <a:endParaRPr lang="en-US" sz="2200" dirty="0"/>
          </a:p>
        </p:txBody>
      </p:sp>
      <p:sp>
        <p:nvSpPr>
          <p:cNvPr id="6" name="Text 4"/>
          <p:cNvSpPr/>
          <p:nvPr/>
        </p:nvSpPr>
        <p:spPr>
          <a:xfrm>
            <a:off x="822960" y="5212080"/>
            <a:ext cx="10972800" cy="13716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SCSM2223 — Cross-Platform Application Development</a:t>
            </a:r>
            <a:endParaRPr lang="en-US" sz="1600" dirty="0"/>
          </a:p>
          <a:p>
            <a:pPr marL="0" indent="0">
              <a:buNone/>
            </a:pPr>
            <a:r>
              <a:rPr lang="en-US" sz="1400" dirty="0">
                <a:solidFill>
                  <a:srgbClr val="94A3B8"/>
                </a:solidFill>
                <a:latin typeface="Calibri" pitchFamily="34" charset="0"/>
                <a:ea typeface="Calibri" pitchFamily="34" charset="-122"/>
                <a:cs typeface="Calibri" pitchFamily="34" charset="-120"/>
              </a:rPr>
              <a:t>Faculty of Computing • Universiti Teknologi Malaysia</a:t>
            </a:r>
            <a:endParaRPr lang="en-US" sz="1600" dirty="0"/>
          </a:p>
          <a:p>
            <a:pPr marL="0" indent="0">
              <a:buNone/>
            </a:pPr>
            <a:r>
              <a:rPr lang="en-US" sz="1400" dirty="0">
                <a:solidFill>
                  <a:srgbClr val="94A3B8"/>
                </a:solidFill>
                <a:latin typeface="Calibri" pitchFamily="34" charset="0"/>
                <a:ea typeface="Calibri" pitchFamily="34" charset="-122"/>
                <a:cs typeface="Calibri" pitchFamily="34" charset="-120"/>
              </a:rPr>
              <a:t>Assoc. Prof. Dr Hishammuddin bin Asmuni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AT THE END OF THIS CHAPTER</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Learning Objectives</a:t>
            </a:r>
            <a:endParaRPr lang="en-US" sz="3200" dirty="0"/>
          </a:p>
        </p:txBody>
      </p:sp>
      <p:sp>
        <p:nvSpPr>
          <p:cNvPr id="4" name="Shape 2"/>
          <p:cNvSpPr/>
          <p:nvPr/>
        </p:nvSpPr>
        <p:spPr>
          <a:xfrm>
            <a:off x="548640" y="1371600"/>
            <a:ext cx="868680" cy="274320"/>
          </a:xfrm>
          <a:prstGeom prst="roundRect">
            <a:avLst>
              <a:gd name="adj" fmla="val 13333"/>
            </a:avLst>
          </a:prstGeom>
          <a:solidFill>
            <a:srgbClr val="065A82"/>
          </a:solidFill>
          <a:ln w="12700">
            <a:solidFill>
              <a:srgbClr val="065A82"/>
            </a:solidFill>
            <a:prstDash val="solid"/>
          </a:ln>
        </p:spPr>
        <p:txBody>
          <a:bodyPr/>
          <a:lstStyle/>
          <a:p>
            <a:endParaRPr lang="en-MY" sz="2400"/>
          </a:p>
        </p:txBody>
      </p:sp>
      <p:sp>
        <p:nvSpPr>
          <p:cNvPr id="5" name="Text 3"/>
          <p:cNvSpPr/>
          <p:nvPr/>
        </p:nvSpPr>
        <p:spPr>
          <a:xfrm>
            <a:off x="548640" y="1371600"/>
            <a:ext cx="868680" cy="2743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C1</a:t>
            </a:r>
            <a:endParaRPr lang="en-US" sz="2400" dirty="0"/>
          </a:p>
        </p:txBody>
      </p:sp>
      <p:sp>
        <p:nvSpPr>
          <p:cNvPr id="6" name="Text 4"/>
          <p:cNvSpPr/>
          <p:nvPr/>
        </p:nvSpPr>
        <p:spPr>
          <a:xfrm>
            <a:off x="1554480" y="1325880"/>
            <a:ext cx="10058400" cy="64008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Define the role of the server-side and explain RESTful API design principles.</a:t>
            </a:r>
            <a:endParaRPr lang="en-US" sz="2400" dirty="0"/>
          </a:p>
        </p:txBody>
      </p:sp>
      <p:sp>
        <p:nvSpPr>
          <p:cNvPr id="7" name="Shape 5"/>
          <p:cNvSpPr/>
          <p:nvPr/>
        </p:nvSpPr>
        <p:spPr>
          <a:xfrm>
            <a:off x="548640" y="2084832"/>
            <a:ext cx="868680" cy="274320"/>
          </a:xfrm>
          <a:prstGeom prst="roundRect">
            <a:avLst>
              <a:gd name="adj" fmla="val 13333"/>
            </a:avLst>
          </a:prstGeom>
          <a:solidFill>
            <a:srgbClr val="1C7293"/>
          </a:solidFill>
          <a:ln w="12700">
            <a:solidFill>
              <a:srgbClr val="1C7293"/>
            </a:solidFill>
            <a:prstDash val="solid"/>
          </a:ln>
        </p:spPr>
        <p:txBody>
          <a:bodyPr/>
          <a:lstStyle/>
          <a:p>
            <a:endParaRPr lang="en-MY" sz="2400"/>
          </a:p>
        </p:txBody>
      </p:sp>
      <p:sp>
        <p:nvSpPr>
          <p:cNvPr id="8" name="Text 6"/>
          <p:cNvSpPr/>
          <p:nvPr/>
        </p:nvSpPr>
        <p:spPr>
          <a:xfrm>
            <a:off x="548640" y="2084832"/>
            <a:ext cx="868680" cy="2743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C2</a:t>
            </a:r>
            <a:endParaRPr lang="en-US" sz="2400" dirty="0"/>
          </a:p>
        </p:txBody>
      </p:sp>
      <p:sp>
        <p:nvSpPr>
          <p:cNvPr id="9" name="Text 7"/>
          <p:cNvSpPr/>
          <p:nvPr/>
        </p:nvSpPr>
        <p:spPr>
          <a:xfrm>
            <a:off x="1554480" y="2039112"/>
            <a:ext cx="10058400" cy="64008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Differentiate HTTP methods and standard status codes used in REST APIs.</a:t>
            </a:r>
            <a:endParaRPr lang="en-US" sz="2400" dirty="0"/>
          </a:p>
        </p:txBody>
      </p:sp>
      <p:sp>
        <p:nvSpPr>
          <p:cNvPr id="10" name="Shape 8"/>
          <p:cNvSpPr/>
          <p:nvPr/>
        </p:nvSpPr>
        <p:spPr>
          <a:xfrm>
            <a:off x="548640" y="2798064"/>
            <a:ext cx="868680" cy="274320"/>
          </a:xfrm>
          <a:prstGeom prst="roundRect">
            <a:avLst>
              <a:gd name="adj" fmla="val 13333"/>
            </a:avLst>
          </a:prstGeom>
          <a:solidFill>
            <a:srgbClr val="1C7293"/>
          </a:solidFill>
          <a:ln w="12700">
            <a:solidFill>
              <a:srgbClr val="1C7293"/>
            </a:solidFill>
            <a:prstDash val="solid"/>
          </a:ln>
        </p:spPr>
        <p:txBody>
          <a:bodyPr/>
          <a:lstStyle/>
          <a:p>
            <a:endParaRPr lang="en-MY" sz="2400"/>
          </a:p>
        </p:txBody>
      </p:sp>
      <p:sp>
        <p:nvSpPr>
          <p:cNvPr id="11" name="Text 9"/>
          <p:cNvSpPr/>
          <p:nvPr/>
        </p:nvSpPr>
        <p:spPr>
          <a:xfrm>
            <a:off x="548640" y="2798064"/>
            <a:ext cx="868680" cy="2743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C2</a:t>
            </a:r>
            <a:endParaRPr lang="en-US" sz="2400" dirty="0"/>
          </a:p>
        </p:txBody>
      </p:sp>
      <p:sp>
        <p:nvSpPr>
          <p:cNvPr id="12" name="Text 10"/>
          <p:cNvSpPr/>
          <p:nvPr/>
        </p:nvSpPr>
        <p:spPr>
          <a:xfrm>
            <a:off x="1554480" y="2752344"/>
            <a:ext cx="10058400" cy="64008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Describe the architecture and request lifecycle of the PHP Slim 4 framework.</a:t>
            </a:r>
            <a:endParaRPr lang="en-US" sz="2400" dirty="0"/>
          </a:p>
        </p:txBody>
      </p:sp>
      <p:sp>
        <p:nvSpPr>
          <p:cNvPr id="13" name="Shape 11"/>
          <p:cNvSpPr/>
          <p:nvPr/>
        </p:nvSpPr>
        <p:spPr>
          <a:xfrm>
            <a:off x="548640" y="3511296"/>
            <a:ext cx="868680" cy="274320"/>
          </a:xfrm>
          <a:prstGeom prst="roundRect">
            <a:avLst>
              <a:gd name="adj" fmla="val 13333"/>
            </a:avLst>
          </a:prstGeom>
          <a:solidFill>
            <a:srgbClr val="10B981"/>
          </a:solidFill>
          <a:ln w="12700">
            <a:solidFill>
              <a:srgbClr val="10B981"/>
            </a:solidFill>
            <a:prstDash val="solid"/>
          </a:ln>
        </p:spPr>
        <p:txBody>
          <a:bodyPr/>
          <a:lstStyle/>
          <a:p>
            <a:endParaRPr lang="en-MY" sz="2400"/>
          </a:p>
        </p:txBody>
      </p:sp>
      <p:sp>
        <p:nvSpPr>
          <p:cNvPr id="14" name="Text 12"/>
          <p:cNvSpPr/>
          <p:nvPr/>
        </p:nvSpPr>
        <p:spPr>
          <a:xfrm>
            <a:off x="548640" y="3511296"/>
            <a:ext cx="868680" cy="2743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C3</a:t>
            </a:r>
            <a:endParaRPr lang="en-US" sz="2400" dirty="0"/>
          </a:p>
        </p:txBody>
      </p:sp>
      <p:sp>
        <p:nvSpPr>
          <p:cNvPr id="15" name="Text 13"/>
          <p:cNvSpPr/>
          <p:nvPr/>
        </p:nvSpPr>
        <p:spPr>
          <a:xfrm>
            <a:off x="1554480" y="3465576"/>
            <a:ext cx="10058400" cy="64008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Set up a Slim project with Composer on Laragon and define basic routes.</a:t>
            </a:r>
            <a:endParaRPr lang="en-US" sz="2400" dirty="0"/>
          </a:p>
        </p:txBody>
      </p:sp>
      <p:sp>
        <p:nvSpPr>
          <p:cNvPr id="16" name="Shape 14"/>
          <p:cNvSpPr/>
          <p:nvPr/>
        </p:nvSpPr>
        <p:spPr>
          <a:xfrm>
            <a:off x="548640" y="4224528"/>
            <a:ext cx="868680" cy="274320"/>
          </a:xfrm>
          <a:prstGeom prst="roundRect">
            <a:avLst>
              <a:gd name="adj" fmla="val 13333"/>
            </a:avLst>
          </a:prstGeom>
          <a:solidFill>
            <a:srgbClr val="10B981"/>
          </a:solidFill>
          <a:ln w="12700">
            <a:solidFill>
              <a:srgbClr val="10B981"/>
            </a:solidFill>
            <a:prstDash val="solid"/>
          </a:ln>
        </p:spPr>
        <p:txBody>
          <a:bodyPr/>
          <a:lstStyle/>
          <a:p>
            <a:endParaRPr lang="en-MY" sz="2400"/>
          </a:p>
        </p:txBody>
      </p:sp>
      <p:sp>
        <p:nvSpPr>
          <p:cNvPr id="17" name="Text 15"/>
          <p:cNvSpPr/>
          <p:nvPr/>
        </p:nvSpPr>
        <p:spPr>
          <a:xfrm>
            <a:off x="548640" y="4224528"/>
            <a:ext cx="868680" cy="2743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C3</a:t>
            </a:r>
            <a:endParaRPr lang="en-US" sz="2400" dirty="0"/>
          </a:p>
        </p:txBody>
      </p:sp>
      <p:sp>
        <p:nvSpPr>
          <p:cNvPr id="18" name="Text 16"/>
          <p:cNvSpPr/>
          <p:nvPr/>
        </p:nvSpPr>
        <p:spPr>
          <a:xfrm>
            <a:off x="1554480" y="4178808"/>
            <a:ext cx="10058400" cy="64008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Read JSON request bodies, return JSON responses, and use route parameters.</a:t>
            </a:r>
            <a:endParaRPr lang="en-US" sz="2400" dirty="0"/>
          </a:p>
        </p:txBody>
      </p:sp>
      <p:sp>
        <p:nvSpPr>
          <p:cNvPr id="19" name="Shape 17"/>
          <p:cNvSpPr/>
          <p:nvPr/>
        </p:nvSpPr>
        <p:spPr>
          <a:xfrm>
            <a:off x="548640" y="4937760"/>
            <a:ext cx="868680" cy="274320"/>
          </a:xfrm>
          <a:prstGeom prst="roundRect">
            <a:avLst>
              <a:gd name="adj" fmla="val 13333"/>
            </a:avLst>
          </a:prstGeom>
          <a:solidFill>
            <a:srgbClr val="10B981"/>
          </a:solidFill>
          <a:ln w="12700">
            <a:solidFill>
              <a:srgbClr val="10B981"/>
            </a:solidFill>
            <a:prstDash val="solid"/>
          </a:ln>
        </p:spPr>
        <p:txBody>
          <a:bodyPr/>
          <a:lstStyle/>
          <a:p>
            <a:endParaRPr lang="en-MY" sz="2400"/>
          </a:p>
        </p:txBody>
      </p:sp>
      <p:sp>
        <p:nvSpPr>
          <p:cNvPr id="20" name="Text 18"/>
          <p:cNvSpPr/>
          <p:nvPr/>
        </p:nvSpPr>
        <p:spPr>
          <a:xfrm>
            <a:off x="548640" y="4937760"/>
            <a:ext cx="868680" cy="2743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C3</a:t>
            </a:r>
            <a:endParaRPr lang="en-US" sz="2400" dirty="0"/>
          </a:p>
        </p:txBody>
      </p:sp>
      <p:sp>
        <p:nvSpPr>
          <p:cNvPr id="21" name="Text 19"/>
          <p:cNvSpPr/>
          <p:nvPr/>
        </p:nvSpPr>
        <p:spPr>
          <a:xfrm>
            <a:off x="1554480" y="4892040"/>
            <a:ext cx="10058400" cy="64008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Apply middleware for cross-cutting concerns (CORS, logging, JSON parsing).</a:t>
            </a:r>
            <a:endParaRPr lang="en-US" sz="2400" dirty="0"/>
          </a:p>
        </p:txBody>
      </p:sp>
      <p:sp>
        <p:nvSpPr>
          <p:cNvPr id="22" name="Text 20"/>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23" name="Text 21"/>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RECAP — WEB ARCHITECTURE</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Where the Server-Side Sits</a:t>
            </a:r>
            <a:endParaRPr lang="en-US" sz="3200" dirty="0"/>
          </a:p>
        </p:txBody>
      </p:sp>
      <p:sp>
        <p:nvSpPr>
          <p:cNvPr id="4" name="Shape 2"/>
          <p:cNvSpPr/>
          <p:nvPr/>
        </p:nvSpPr>
        <p:spPr>
          <a:xfrm>
            <a:off x="640080" y="2011680"/>
            <a:ext cx="3108960" cy="2286000"/>
          </a:xfrm>
          <a:prstGeom prst="rect">
            <a:avLst/>
          </a:prstGeom>
          <a:solidFill>
            <a:srgbClr val="FFFFFF"/>
          </a:solidFill>
          <a:ln w="25400">
            <a:solidFill>
              <a:srgbClr val="065A82"/>
            </a:solidFill>
            <a:prstDash val="solid"/>
          </a:ln>
        </p:spPr>
        <p:txBody>
          <a:bodyPr/>
          <a:lstStyle/>
          <a:p>
            <a:endParaRPr lang="en-MY" sz="2400"/>
          </a:p>
        </p:txBody>
      </p:sp>
      <p:sp>
        <p:nvSpPr>
          <p:cNvPr id="5" name="Shape 3"/>
          <p:cNvSpPr/>
          <p:nvPr/>
        </p:nvSpPr>
        <p:spPr>
          <a:xfrm>
            <a:off x="640080" y="2011680"/>
            <a:ext cx="3108960" cy="502920"/>
          </a:xfrm>
          <a:prstGeom prst="rect">
            <a:avLst/>
          </a:prstGeom>
          <a:solidFill>
            <a:srgbClr val="065A82"/>
          </a:solidFill>
          <a:ln w="12700">
            <a:solidFill>
              <a:srgbClr val="065A82"/>
            </a:solidFill>
            <a:prstDash val="solid"/>
          </a:ln>
        </p:spPr>
        <p:txBody>
          <a:bodyPr/>
          <a:lstStyle/>
          <a:p>
            <a:endParaRPr lang="en-MY" sz="2400"/>
          </a:p>
        </p:txBody>
      </p:sp>
      <p:sp>
        <p:nvSpPr>
          <p:cNvPr id="6" name="Text 4"/>
          <p:cNvSpPr/>
          <p:nvPr/>
        </p:nvSpPr>
        <p:spPr>
          <a:xfrm>
            <a:off x="640080" y="2011680"/>
            <a:ext cx="310896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Frontend</a:t>
            </a:r>
            <a:endParaRPr lang="en-US" sz="2400" dirty="0"/>
          </a:p>
        </p:txBody>
      </p:sp>
      <p:sp>
        <p:nvSpPr>
          <p:cNvPr id="7" name="Text 5"/>
          <p:cNvSpPr/>
          <p:nvPr/>
        </p:nvSpPr>
        <p:spPr>
          <a:xfrm>
            <a:off x="731520" y="2697480"/>
            <a:ext cx="2926080" cy="457200"/>
          </a:xfrm>
          <a:prstGeom prst="rect">
            <a:avLst/>
          </a:prstGeom>
          <a:noFill/>
          <a:ln/>
        </p:spPr>
        <p:txBody>
          <a:bodyPr wrap="square" lIns="0" tIns="0" rIns="0" bIns="0" rtlCol="0" anchor="ctr"/>
          <a:lstStyle/>
          <a:p>
            <a:pPr marL="0" indent="0" algn="ctr">
              <a:buNone/>
            </a:pPr>
            <a:r>
              <a:rPr lang="en-US" sz="2400" b="1" dirty="0">
                <a:solidFill>
                  <a:srgbClr val="1E293B"/>
                </a:solidFill>
                <a:latin typeface="Calibri" pitchFamily="34" charset="0"/>
                <a:ea typeface="Calibri" pitchFamily="34" charset="-122"/>
                <a:cs typeface="Calibri" pitchFamily="34" charset="-120"/>
              </a:rPr>
              <a:t>Vue 3 SPA</a:t>
            </a:r>
            <a:endParaRPr lang="en-US" sz="2400" dirty="0"/>
          </a:p>
        </p:txBody>
      </p:sp>
      <p:sp>
        <p:nvSpPr>
          <p:cNvPr id="8" name="Text 6"/>
          <p:cNvSpPr/>
          <p:nvPr/>
        </p:nvSpPr>
        <p:spPr>
          <a:xfrm>
            <a:off x="731520" y="3200400"/>
            <a:ext cx="2926080" cy="457200"/>
          </a:xfrm>
          <a:prstGeom prst="rect">
            <a:avLst/>
          </a:prstGeom>
          <a:noFill/>
          <a:ln/>
        </p:spPr>
        <p:txBody>
          <a:bodyPr wrap="square" lIns="0" tIns="0" rIns="0" bIns="0" rtlCol="0" anchor="ctr"/>
          <a:lstStyle/>
          <a:p>
            <a:pPr marL="0" indent="0" algn="ctr">
              <a:buNone/>
            </a:pPr>
            <a:r>
              <a:rPr lang="en-US" sz="2400" i="1" dirty="0">
                <a:solidFill>
                  <a:srgbClr val="64748B"/>
                </a:solidFill>
                <a:latin typeface="Calibri" pitchFamily="34" charset="0"/>
                <a:ea typeface="Calibri" pitchFamily="34" charset="-122"/>
                <a:cs typeface="Calibri" pitchFamily="34" charset="-120"/>
              </a:rPr>
              <a:t>Browser / Mobile</a:t>
            </a:r>
            <a:endParaRPr lang="en-US" sz="2400" dirty="0"/>
          </a:p>
        </p:txBody>
      </p:sp>
      <p:sp>
        <p:nvSpPr>
          <p:cNvPr id="9" name="Shape 7"/>
          <p:cNvSpPr/>
          <p:nvPr/>
        </p:nvSpPr>
        <p:spPr>
          <a:xfrm>
            <a:off x="4754880" y="2011680"/>
            <a:ext cx="3108960" cy="2286000"/>
          </a:xfrm>
          <a:prstGeom prst="rect">
            <a:avLst/>
          </a:prstGeom>
          <a:solidFill>
            <a:srgbClr val="FFFFFF"/>
          </a:solidFill>
          <a:ln w="25400">
            <a:solidFill>
              <a:srgbClr val="F59E0B"/>
            </a:solidFill>
            <a:prstDash val="solid"/>
          </a:ln>
        </p:spPr>
        <p:txBody>
          <a:bodyPr/>
          <a:lstStyle/>
          <a:p>
            <a:endParaRPr lang="en-MY" sz="2400"/>
          </a:p>
        </p:txBody>
      </p:sp>
      <p:sp>
        <p:nvSpPr>
          <p:cNvPr id="10" name="Shape 8"/>
          <p:cNvSpPr/>
          <p:nvPr/>
        </p:nvSpPr>
        <p:spPr>
          <a:xfrm>
            <a:off x="4754880" y="2011680"/>
            <a:ext cx="3108960" cy="502920"/>
          </a:xfrm>
          <a:prstGeom prst="rect">
            <a:avLst/>
          </a:prstGeom>
          <a:solidFill>
            <a:srgbClr val="F59E0B"/>
          </a:solidFill>
          <a:ln w="12700">
            <a:solidFill>
              <a:srgbClr val="F59E0B"/>
            </a:solidFill>
            <a:prstDash val="solid"/>
          </a:ln>
        </p:spPr>
        <p:txBody>
          <a:bodyPr/>
          <a:lstStyle/>
          <a:p>
            <a:endParaRPr lang="en-MY" sz="2400"/>
          </a:p>
        </p:txBody>
      </p:sp>
      <p:sp>
        <p:nvSpPr>
          <p:cNvPr id="11" name="Text 9"/>
          <p:cNvSpPr/>
          <p:nvPr/>
        </p:nvSpPr>
        <p:spPr>
          <a:xfrm>
            <a:off x="4754880" y="2011680"/>
            <a:ext cx="310896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Backend</a:t>
            </a:r>
            <a:endParaRPr lang="en-US" sz="2400" dirty="0"/>
          </a:p>
        </p:txBody>
      </p:sp>
      <p:sp>
        <p:nvSpPr>
          <p:cNvPr id="12" name="Text 10"/>
          <p:cNvSpPr/>
          <p:nvPr/>
        </p:nvSpPr>
        <p:spPr>
          <a:xfrm>
            <a:off x="4846320" y="2697480"/>
            <a:ext cx="2926080" cy="457200"/>
          </a:xfrm>
          <a:prstGeom prst="rect">
            <a:avLst/>
          </a:prstGeom>
          <a:noFill/>
          <a:ln/>
        </p:spPr>
        <p:txBody>
          <a:bodyPr wrap="square" lIns="0" tIns="0" rIns="0" bIns="0" rtlCol="0" anchor="ctr"/>
          <a:lstStyle/>
          <a:p>
            <a:pPr marL="0" indent="0" algn="ctr">
              <a:buNone/>
            </a:pPr>
            <a:r>
              <a:rPr lang="en-US" sz="2400" b="1" dirty="0">
                <a:solidFill>
                  <a:srgbClr val="1E293B"/>
                </a:solidFill>
                <a:latin typeface="Calibri" pitchFamily="34" charset="0"/>
                <a:ea typeface="Calibri" pitchFamily="34" charset="-122"/>
                <a:cs typeface="Calibri" pitchFamily="34" charset="-120"/>
              </a:rPr>
              <a:t>PHP Slim 4 API</a:t>
            </a:r>
            <a:endParaRPr lang="en-US" sz="2400" dirty="0"/>
          </a:p>
        </p:txBody>
      </p:sp>
      <p:sp>
        <p:nvSpPr>
          <p:cNvPr id="13" name="Text 11"/>
          <p:cNvSpPr/>
          <p:nvPr/>
        </p:nvSpPr>
        <p:spPr>
          <a:xfrm>
            <a:off x="4846320" y="3200400"/>
            <a:ext cx="2926080" cy="457200"/>
          </a:xfrm>
          <a:prstGeom prst="rect">
            <a:avLst/>
          </a:prstGeom>
          <a:noFill/>
          <a:ln/>
        </p:spPr>
        <p:txBody>
          <a:bodyPr wrap="square" lIns="0" tIns="0" rIns="0" bIns="0" rtlCol="0" anchor="ctr"/>
          <a:lstStyle/>
          <a:p>
            <a:pPr marL="0" indent="0" algn="ctr">
              <a:buNone/>
            </a:pPr>
            <a:r>
              <a:rPr lang="en-US" sz="2400" i="1" dirty="0">
                <a:solidFill>
                  <a:srgbClr val="64748B"/>
                </a:solidFill>
                <a:latin typeface="Calibri" pitchFamily="34" charset="0"/>
                <a:ea typeface="Calibri" pitchFamily="34" charset="-122"/>
                <a:cs typeface="Calibri" pitchFamily="34" charset="-120"/>
              </a:rPr>
              <a:t>This Chapter</a:t>
            </a:r>
            <a:endParaRPr lang="en-US" sz="2400" dirty="0"/>
          </a:p>
        </p:txBody>
      </p:sp>
      <p:sp>
        <p:nvSpPr>
          <p:cNvPr id="14" name="Shape 12"/>
          <p:cNvSpPr/>
          <p:nvPr/>
        </p:nvSpPr>
        <p:spPr>
          <a:xfrm>
            <a:off x="8869680" y="2011680"/>
            <a:ext cx="3108960" cy="2286000"/>
          </a:xfrm>
          <a:prstGeom prst="rect">
            <a:avLst/>
          </a:prstGeom>
          <a:solidFill>
            <a:srgbClr val="FFFFFF"/>
          </a:solidFill>
          <a:ln w="25400">
            <a:solidFill>
              <a:srgbClr val="1C7293"/>
            </a:solidFill>
            <a:prstDash val="solid"/>
          </a:ln>
        </p:spPr>
        <p:txBody>
          <a:bodyPr/>
          <a:lstStyle/>
          <a:p>
            <a:endParaRPr lang="en-MY" sz="2400"/>
          </a:p>
        </p:txBody>
      </p:sp>
      <p:sp>
        <p:nvSpPr>
          <p:cNvPr id="15" name="Shape 13"/>
          <p:cNvSpPr/>
          <p:nvPr/>
        </p:nvSpPr>
        <p:spPr>
          <a:xfrm>
            <a:off x="8869680" y="2011680"/>
            <a:ext cx="3108960" cy="502920"/>
          </a:xfrm>
          <a:prstGeom prst="rect">
            <a:avLst/>
          </a:prstGeom>
          <a:solidFill>
            <a:srgbClr val="1C7293"/>
          </a:solidFill>
          <a:ln w="12700">
            <a:solidFill>
              <a:srgbClr val="1C7293"/>
            </a:solidFill>
            <a:prstDash val="solid"/>
          </a:ln>
        </p:spPr>
        <p:txBody>
          <a:bodyPr/>
          <a:lstStyle/>
          <a:p>
            <a:endParaRPr lang="en-MY" sz="2400"/>
          </a:p>
        </p:txBody>
      </p:sp>
      <p:sp>
        <p:nvSpPr>
          <p:cNvPr id="16" name="Text 14"/>
          <p:cNvSpPr/>
          <p:nvPr/>
        </p:nvSpPr>
        <p:spPr>
          <a:xfrm>
            <a:off x="8869680" y="2011680"/>
            <a:ext cx="310896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Database</a:t>
            </a:r>
            <a:endParaRPr lang="en-US" sz="2400" dirty="0"/>
          </a:p>
        </p:txBody>
      </p:sp>
      <p:sp>
        <p:nvSpPr>
          <p:cNvPr id="17" name="Text 15"/>
          <p:cNvSpPr/>
          <p:nvPr/>
        </p:nvSpPr>
        <p:spPr>
          <a:xfrm>
            <a:off x="8961120" y="2697480"/>
            <a:ext cx="2926080" cy="457200"/>
          </a:xfrm>
          <a:prstGeom prst="rect">
            <a:avLst/>
          </a:prstGeom>
          <a:noFill/>
          <a:ln/>
        </p:spPr>
        <p:txBody>
          <a:bodyPr wrap="square" lIns="0" tIns="0" rIns="0" bIns="0" rtlCol="0" anchor="ctr"/>
          <a:lstStyle/>
          <a:p>
            <a:pPr marL="0" indent="0" algn="ctr">
              <a:buNone/>
            </a:pPr>
            <a:r>
              <a:rPr lang="en-US" sz="2400" b="1" dirty="0">
                <a:solidFill>
                  <a:srgbClr val="1E293B"/>
                </a:solidFill>
                <a:latin typeface="Calibri" pitchFamily="34" charset="0"/>
                <a:ea typeface="Calibri" pitchFamily="34" charset="-122"/>
                <a:cs typeface="Calibri" pitchFamily="34" charset="-120"/>
              </a:rPr>
              <a:t>MySQL via PDO</a:t>
            </a:r>
            <a:endParaRPr lang="en-US" sz="2400" dirty="0"/>
          </a:p>
        </p:txBody>
      </p:sp>
      <p:sp>
        <p:nvSpPr>
          <p:cNvPr id="18" name="Text 16"/>
          <p:cNvSpPr/>
          <p:nvPr/>
        </p:nvSpPr>
        <p:spPr>
          <a:xfrm>
            <a:off x="8961120" y="3200400"/>
            <a:ext cx="2926080" cy="457200"/>
          </a:xfrm>
          <a:prstGeom prst="rect">
            <a:avLst/>
          </a:prstGeom>
          <a:noFill/>
          <a:ln/>
        </p:spPr>
        <p:txBody>
          <a:bodyPr wrap="square" lIns="0" tIns="0" rIns="0" bIns="0" rtlCol="0" anchor="ctr"/>
          <a:lstStyle/>
          <a:p>
            <a:pPr marL="0" indent="0" algn="ctr">
              <a:buNone/>
            </a:pPr>
            <a:r>
              <a:rPr lang="en-US" sz="2400" i="1" dirty="0">
                <a:solidFill>
                  <a:srgbClr val="64748B"/>
                </a:solidFill>
                <a:latin typeface="Calibri" pitchFamily="34" charset="0"/>
                <a:ea typeface="Calibri" pitchFamily="34" charset="-122"/>
                <a:cs typeface="Calibri" pitchFamily="34" charset="-120"/>
              </a:rPr>
              <a:t>Chapter 10</a:t>
            </a:r>
            <a:endParaRPr lang="en-US" sz="2400" dirty="0"/>
          </a:p>
        </p:txBody>
      </p:sp>
      <p:sp>
        <p:nvSpPr>
          <p:cNvPr id="19" name="Shape 17"/>
          <p:cNvSpPr/>
          <p:nvPr/>
        </p:nvSpPr>
        <p:spPr>
          <a:xfrm>
            <a:off x="3794760" y="2926080"/>
            <a:ext cx="960120" cy="502920"/>
          </a:xfrm>
          <a:prstGeom prst="rightArrow">
            <a:avLst/>
          </a:prstGeom>
          <a:solidFill>
            <a:srgbClr val="64748B"/>
          </a:solidFill>
          <a:ln w="12700">
            <a:solidFill>
              <a:srgbClr val="64748B"/>
            </a:solidFill>
            <a:prstDash val="solid"/>
          </a:ln>
        </p:spPr>
        <p:txBody>
          <a:bodyPr/>
          <a:lstStyle/>
          <a:p>
            <a:endParaRPr lang="en-MY" sz="2400"/>
          </a:p>
        </p:txBody>
      </p:sp>
      <p:sp>
        <p:nvSpPr>
          <p:cNvPr id="20" name="Shape 18"/>
          <p:cNvSpPr/>
          <p:nvPr/>
        </p:nvSpPr>
        <p:spPr>
          <a:xfrm>
            <a:off x="7909560" y="2926080"/>
            <a:ext cx="960120" cy="502920"/>
          </a:xfrm>
          <a:prstGeom prst="rightArrow">
            <a:avLst/>
          </a:prstGeom>
          <a:solidFill>
            <a:srgbClr val="64748B"/>
          </a:solidFill>
          <a:ln w="12700">
            <a:solidFill>
              <a:srgbClr val="64748B"/>
            </a:solidFill>
            <a:prstDash val="solid"/>
          </a:ln>
        </p:spPr>
        <p:txBody>
          <a:bodyPr/>
          <a:lstStyle/>
          <a:p>
            <a:endParaRPr lang="en-MY" sz="2400"/>
          </a:p>
        </p:txBody>
      </p:sp>
      <p:sp>
        <p:nvSpPr>
          <p:cNvPr id="21" name="Text 19"/>
          <p:cNvSpPr/>
          <p:nvPr/>
        </p:nvSpPr>
        <p:spPr>
          <a:xfrm>
            <a:off x="640080" y="4754880"/>
            <a:ext cx="10972800" cy="457200"/>
          </a:xfrm>
          <a:prstGeom prst="rect">
            <a:avLst/>
          </a:prstGeom>
          <a:noFill/>
          <a:ln/>
        </p:spPr>
        <p:txBody>
          <a:bodyPr wrap="square" lIns="0" tIns="0" rIns="0" bIns="0" rtlCol="0" anchor="ctr"/>
          <a:lstStyle/>
          <a:p>
            <a:pPr marL="0" indent="0" algn="ctr">
              <a:buNone/>
            </a:pPr>
            <a:r>
              <a:rPr lang="en-US" sz="2400" i="1" dirty="0">
                <a:solidFill>
                  <a:srgbClr val="1E293B"/>
                </a:solidFill>
                <a:latin typeface="Calibri" pitchFamily="34" charset="0"/>
                <a:ea typeface="Calibri" pitchFamily="34" charset="-122"/>
                <a:cs typeface="Calibri" pitchFamily="34" charset="-120"/>
              </a:rPr>
              <a:t>HTTP requests with JSON bodies travel left → right; JSON responses travel right → left.</a:t>
            </a:r>
            <a:endParaRPr lang="en-US" sz="2400" dirty="0"/>
          </a:p>
        </p:txBody>
      </p:sp>
      <p:sp>
        <p:nvSpPr>
          <p:cNvPr id="22" name="Text 20"/>
          <p:cNvSpPr/>
          <p:nvPr/>
        </p:nvSpPr>
        <p:spPr>
          <a:xfrm>
            <a:off x="640080" y="5394960"/>
            <a:ext cx="10972800" cy="457200"/>
          </a:xfrm>
          <a:prstGeom prst="rect">
            <a:avLst/>
          </a:prstGeom>
          <a:noFill/>
          <a:ln/>
        </p:spPr>
        <p:txBody>
          <a:bodyPr wrap="square" lIns="0" tIns="0" rIns="0" bIns="0" rtlCol="0" anchor="ctr"/>
          <a:lstStyle/>
          <a:p>
            <a:pPr marL="0" indent="0" algn="ctr">
              <a:buNone/>
            </a:pPr>
            <a:r>
              <a:rPr lang="en-US" sz="2400" b="1" dirty="0">
                <a:solidFill>
                  <a:srgbClr val="F59E0B"/>
                </a:solidFill>
                <a:latin typeface="Calibri" pitchFamily="34" charset="0"/>
                <a:ea typeface="Calibri" pitchFamily="34" charset="-122"/>
                <a:cs typeface="Calibri" pitchFamily="34" charset="-120"/>
              </a:rPr>
              <a:t>In this chapter we focus on the BACKEND: receiving requests, executing logic, and returning JSON.</a:t>
            </a:r>
            <a:endParaRPr lang="en-US" sz="2400" dirty="0"/>
          </a:p>
        </p:txBody>
      </p:sp>
      <p:sp>
        <p:nvSpPr>
          <p:cNvPr id="23" name="Text 21"/>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24" name="Text 22"/>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4BE4E4-C569-2069-D84B-75050F71807B}"/>
              </a:ext>
            </a:extLst>
          </p:cNvPr>
          <p:cNvSpPr txBox="1"/>
          <p:nvPr/>
        </p:nvSpPr>
        <p:spPr>
          <a:xfrm>
            <a:off x="3047189" y="3244334"/>
            <a:ext cx="6094378" cy="369332"/>
          </a:xfrm>
          <a:prstGeom prst="rect">
            <a:avLst/>
          </a:prstGeom>
          <a:noFill/>
        </p:spPr>
        <p:txBody>
          <a:bodyPr wrap="square">
            <a:spAutoFit/>
          </a:bodyPr>
          <a:lstStyle/>
          <a:p>
            <a:endParaRPr lang="en-MY" dirty="0"/>
          </a:p>
        </p:txBody>
      </p:sp>
      <p:pic>
        <p:nvPicPr>
          <p:cNvPr id="5" name="Picture 4">
            <a:extLst>
              <a:ext uri="{FF2B5EF4-FFF2-40B4-BE49-F238E27FC236}">
                <a16:creationId xmlns:a16="http://schemas.microsoft.com/office/drawing/2014/main" id="{D8DDD875-B02E-206E-FB26-A77E1079D8B3}"/>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3984382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WHAT THE SERVER DOES</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Role of the Server-Side</a:t>
            </a:r>
            <a:endParaRPr lang="en-US" sz="3200" dirty="0"/>
          </a:p>
        </p:txBody>
      </p:sp>
      <p:sp>
        <p:nvSpPr>
          <p:cNvPr id="4" name="Shape 2"/>
          <p:cNvSpPr/>
          <p:nvPr/>
        </p:nvSpPr>
        <p:spPr>
          <a:xfrm>
            <a:off x="548640" y="1463040"/>
            <a:ext cx="3520440" cy="1920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5" name="Shape 3"/>
          <p:cNvSpPr/>
          <p:nvPr/>
        </p:nvSpPr>
        <p:spPr>
          <a:xfrm>
            <a:off x="777240" y="169164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6" name="Text 4"/>
          <p:cNvSpPr/>
          <p:nvPr/>
        </p:nvSpPr>
        <p:spPr>
          <a:xfrm>
            <a:off x="777240" y="169164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1417320" y="1691640"/>
            <a:ext cx="246888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Receive Requests</a:t>
            </a:r>
            <a:endParaRPr lang="en-US" sz="2400" dirty="0"/>
          </a:p>
        </p:txBody>
      </p:sp>
      <p:sp>
        <p:nvSpPr>
          <p:cNvPr id="8" name="Text 6"/>
          <p:cNvSpPr/>
          <p:nvPr/>
        </p:nvSpPr>
        <p:spPr>
          <a:xfrm>
            <a:off x="777240" y="2331720"/>
            <a:ext cx="3108960" cy="96012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Listens on HTTP, parses URL, headers, query, and body.</a:t>
            </a:r>
            <a:endParaRPr lang="en-US" sz="2400" dirty="0">
              <a:solidFill>
                <a:srgbClr val="0070C0"/>
              </a:solidFill>
            </a:endParaRPr>
          </a:p>
        </p:txBody>
      </p:sp>
      <p:sp>
        <p:nvSpPr>
          <p:cNvPr id="9" name="Shape 7"/>
          <p:cNvSpPr/>
          <p:nvPr/>
        </p:nvSpPr>
        <p:spPr>
          <a:xfrm>
            <a:off x="4297680" y="1463040"/>
            <a:ext cx="3520440" cy="1920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0" name="Shape 8"/>
          <p:cNvSpPr/>
          <p:nvPr/>
        </p:nvSpPr>
        <p:spPr>
          <a:xfrm>
            <a:off x="4526280" y="169164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11" name="Text 9"/>
          <p:cNvSpPr/>
          <p:nvPr/>
        </p:nvSpPr>
        <p:spPr>
          <a:xfrm>
            <a:off x="4526280" y="169164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5166360" y="1691640"/>
            <a:ext cx="246888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Apply Business Logic</a:t>
            </a:r>
            <a:endParaRPr lang="en-US" sz="2400" dirty="0"/>
          </a:p>
        </p:txBody>
      </p:sp>
      <p:sp>
        <p:nvSpPr>
          <p:cNvPr id="13" name="Text 11"/>
          <p:cNvSpPr/>
          <p:nvPr/>
        </p:nvSpPr>
        <p:spPr>
          <a:xfrm>
            <a:off x="4526280" y="2331720"/>
            <a:ext cx="3108960" cy="96012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Validates input, enforces rules, computes results.</a:t>
            </a:r>
            <a:endParaRPr lang="en-US" sz="2400" dirty="0">
              <a:solidFill>
                <a:srgbClr val="0070C0"/>
              </a:solidFill>
            </a:endParaRPr>
          </a:p>
        </p:txBody>
      </p:sp>
      <p:sp>
        <p:nvSpPr>
          <p:cNvPr id="14" name="Shape 12"/>
          <p:cNvSpPr/>
          <p:nvPr/>
        </p:nvSpPr>
        <p:spPr>
          <a:xfrm>
            <a:off x="8046720" y="1463040"/>
            <a:ext cx="3520440" cy="1920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5" name="Shape 13"/>
          <p:cNvSpPr/>
          <p:nvPr/>
        </p:nvSpPr>
        <p:spPr>
          <a:xfrm>
            <a:off x="8275320" y="169164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16" name="Text 14"/>
          <p:cNvSpPr/>
          <p:nvPr/>
        </p:nvSpPr>
        <p:spPr>
          <a:xfrm>
            <a:off x="8275320" y="169164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p:nvPr/>
        </p:nvSpPr>
        <p:spPr>
          <a:xfrm>
            <a:off x="8915400" y="1691640"/>
            <a:ext cx="246888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Talk to Data</a:t>
            </a:r>
            <a:endParaRPr lang="en-US" sz="2400" dirty="0"/>
          </a:p>
        </p:txBody>
      </p:sp>
      <p:sp>
        <p:nvSpPr>
          <p:cNvPr id="18" name="Text 16"/>
          <p:cNvSpPr/>
          <p:nvPr/>
        </p:nvSpPr>
        <p:spPr>
          <a:xfrm>
            <a:off x="8275320" y="2331720"/>
            <a:ext cx="3108960" cy="96012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Reads/writes to database, file system, or other APIs.</a:t>
            </a:r>
            <a:endParaRPr lang="en-US" sz="2400" dirty="0">
              <a:solidFill>
                <a:srgbClr val="0070C0"/>
              </a:solidFill>
            </a:endParaRPr>
          </a:p>
        </p:txBody>
      </p:sp>
      <p:sp>
        <p:nvSpPr>
          <p:cNvPr id="19" name="Shape 17"/>
          <p:cNvSpPr/>
          <p:nvPr/>
        </p:nvSpPr>
        <p:spPr>
          <a:xfrm>
            <a:off x="548640" y="3657600"/>
            <a:ext cx="3520440" cy="1920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0" name="Shape 18"/>
          <p:cNvSpPr/>
          <p:nvPr/>
        </p:nvSpPr>
        <p:spPr>
          <a:xfrm>
            <a:off x="777240" y="388620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21" name="Text 19"/>
          <p:cNvSpPr/>
          <p:nvPr/>
        </p:nvSpPr>
        <p:spPr>
          <a:xfrm>
            <a:off x="777240" y="388620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2" name="Text 20"/>
          <p:cNvSpPr/>
          <p:nvPr/>
        </p:nvSpPr>
        <p:spPr>
          <a:xfrm>
            <a:off x="1417320" y="3886200"/>
            <a:ext cx="246888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Authenticate &amp; Authorize</a:t>
            </a:r>
            <a:endParaRPr lang="en-US" sz="2400" dirty="0"/>
          </a:p>
        </p:txBody>
      </p:sp>
      <p:sp>
        <p:nvSpPr>
          <p:cNvPr id="23" name="Text 21"/>
          <p:cNvSpPr/>
          <p:nvPr/>
        </p:nvSpPr>
        <p:spPr>
          <a:xfrm>
            <a:off x="777240" y="4526280"/>
            <a:ext cx="3108960" cy="96012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Verifies who the user is and what they can do.</a:t>
            </a:r>
            <a:endParaRPr lang="en-US" sz="2400" dirty="0">
              <a:solidFill>
                <a:srgbClr val="0070C0"/>
              </a:solidFill>
            </a:endParaRPr>
          </a:p>
        </p:txBody>
      </p:sp>
      <p:sp>
        <p:nvSpPr>
          <p:cNvPr id="24" name="Shape 22"/>
          <p:cNvSpPr/>
          <p:nvPr/>
        </p:nvSpPr>
        <p:spPr>
          <a:xfrm>
            <a:off x="4297680" y="3657600"/>
            <a:ext cx="3520440" cy="1920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5" name="Shape 23"/>
          <p:cNvSpPr/>
          <p:nvPr/>
        </p:nvSpPr>
        <p:spPr>
          <a:xfrm>
            <a:off x="4526280" y="388620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26" name="Text 24"/>
          <p:cNvSpPr/>
          <p:nvPr/>
        </p:nvSpPr>
        <p:spPr>
          <a:xfrm>
            <a:off x="4526280" y="388620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27" name="Text 25"/>
          <p:cNvSpPr/>
          <p:nvPr/>
        </p:nvSpPr>
        <p:spPr>
          <a:xfrm>
            <a:off x="5166360" y="3886200"/>
            <a:ext cx="246888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Return a Response</a:t>
            </a:r>
            <a:endParaRPr lang="en-US" sz="2400" dirty="0"/>
          </a:p>
        </p:txBody>
      </p:sp>
      <p:sp>
        <p:nvSpPr>
          <p:cNvPr id="28" name="Text 26"/>
          <p:cNvSpPr/>
          <p:nvPr/>
        </p:nvSpPr>
        <p:spPr>
          <a:xfrm>
            <a:off x="4526280" y="4526280"/>
            <a:ext cx="3108960" cy="96012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Sends back JSON, status code, and useful headers.</a:t>
            </a:r>
            <a:endParaRPr lang="en-US" sz="2400" dirty="0">
              <a:solidFill>
                <a:srgbClr val="0070C0"/>
              </a:solidFill>
            </a:endParaRPr>
          </a:p>
        </p:txBody>
      </p:sp>
      <p:sp>
        <p:nvSpPr>
          <p:cNvPr id="29" name="Shape 27"/>
          <p:cNvSpPr/>
          <p:nvPr/>
        </p:nvSpPr>
        <p:spPr>
          <a:xfrm>
            <a:off x="8046720" y="3657600"/>
            <a:ext cx="3520440" cy="192024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30" name="Shape 28"/>
          <p:cNvSpPr/>
          <p:nvPr/>
        </p:nvSpPr>
        <p:spPr>
          <a:xfrm>
            <a:off x="8275320" y="388620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31" name="Text 29"/>
          <p:cNvSpPr/>
          <p:nvPr/>
        </p:nvSpPr>
        <p:spPr>
          <a:xfrm>
            <a:off x="8275320" y="388620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32" name="Text 30"/>
          <p:cNvSpPr/>
          <p:nvPr/>
        </p:nvSpPr>
        <p:spPr>
          <a:xfrm>
            <a:off x="8915400" y="3886200"/>
            <a:ext cx="246888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Cross-Cutting Concerns</a:t>
            </a:r>
            <a:endParaRPr lang="en-US" sz="2400" dirty="0"/>
          </a:p>
        </p:txBody>
      </p:sp>
      <p:sp>
        <p:nvSpPr>
          <p:cNvPr id="33" name="Text 31"/>
          <p:cNvSpPr/>
          <p:nvPr/>
        </p:nvSpPr>
        <p:spPr>
          <a:xfrm>
            <a:off x="8275320" y="4526280"/>
            <a:ext cx="3108960" cy="960120"/>
          </a:xfrm>
          <a:prstGeom prst="rect">
            <a:avLst/>
          </a:prstGeom>
          <a:noFill/>
          <a:ln/>
        </p:spPr>
        <p:txBody>
          <a:bodyPr wrap="square" lIns="0" tIns="0" rIns="0" bIns="0" rtlCol="0" anchor="ctr"/>
          <a:lstStyle/>
          <a:p>
            <a:pPr marL="0" indent="0">
              <a:buNone/>
            </a:pPr>
            <a:r>
              <a:rPr lang="en-US" sz="2400" dirty="0">
                <a:solidFill>
                  <a:srgbClr val="0070C0"/>
                </a:solidFill>
                <a:latin typeface="Calibri" pitchFamily="34" charset="0"/>
                <a:ea typeface="Calibri" pitchFamily="34" charset="-122"/>
                <a:cs typeface="Calibri" pitchFamily="34" charset="-120"/>
              </a:rPr>
              <a:t>Logging, error handling, CORS, rate limiting.</a:t>
            </a:r>
            <a:endParaRPr lang="en-US" sz="2400" dirty="0">
              <a:solidFill>
                <a:srgbClr val="0070C0"/>
              </a:solidFill>
            </a:endParaRPr>
          </a:p>
        </p:txBody>
      </p:sp>
      <p:sp>
        <p:nvSpPr>
          <p:cNvPr id="34" name="Text 32"/>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35" name="Text 33"/>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ARCHITECTURAL STYLE</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What is REST?</a:t>
            </a:r>
            <a:endParaRPr lang="en-US" sz="3200" dirty="0"/>
          </a:p>
        </p:txBody>
      </p:sp>
      <p:sp>
        <p:nvSpPr>
          <p:cNvPr id="4" name="Text 2"/>
          <p:cNvSpPr/>
          <p:nvPr/>
        </p:nvSpPr>
        <p:spPr>
          <a:xfrm>
            <a:off x="548640" y="828793"/>
            <a:ext cx="10972800" cy="548640"/>
          </a:xfrm>
          <a:prstGeom prst="rect">
            <a:avLst/>
          </a:prstGeom>
          <a:noFill/>
          <a:ln/>
        </p:spPr>
        <p:txBody>
          <a:bodyPr wrap="square" lIns="0" tIns="0" rIns="0" bIns="0" rtlCol="0" anchor="ctr"/>
          <a:lstStyle/>
          <a:p>
            <a:pPr marL="0" indent="0">
              <a:buNone/>
            </a:pPr>
            <a:r>
              <a:rPr lang="en-US" sz="2000" b="1" i="1" dirty="0">
                <a:solidFill>
                  <a:srgbClr val="1C7293"/>
                </a:solidFill>
                <a:latin typeface="Calibri" pitchFamily="34" charset="0"/>
                <a:ea typeface="Calibri" pitchFamily="34" charset="-122"/>
                <a:cs typeface="Calibri" pitchFamily="34" charset="-120"/>
              </a:rPr>
              <a:t>REpresentational State Transfer</a:t>
            </a:r>
            <a:endParaRPr lang="en-US" sz="2000" dirty="0"/>
          </a:p>
        </p:txBody>
      </p:sp>
      <p:sp>
        <p:nvSpPr>
          <p:cNvPr id="5" name="Text 3"/>
          <p:cNvSpPr/>
          <p:nvPr/>
        </p:nvSpPr>
        <p:spPr>
          <a:xfrm>
            <a:off x="548640" y="1257779"/>
            <a:ext cx="10972800" cy="45720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Coined by Roy Fielding (2000) — the dominant style for web APIs today.</a:t>
            </a:r>
            <a:endParaRPr lang="en-US" sz="2000" dirty="0"/>
          </a:p>
        </p:txBody>
      </p:sp>
      <p:sp>
        <p:nvSpPr>
          <p:cNvPr id="6" name="Shape 4"/>
          <p:cNvSpPr/>
          <p:nvPr/>
        </p:nvSpPr>
        <p:spPr>
          <a:xfrm>
            <a:off x="548640" y="1865766"/>
            <a:ext cx="5486400" cy="4486396"/>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000"/>
          </a:p>
        </p:txBody>
      </p:sp>
      <p:sp>
        <p:nvSpPr>
          <p:cNvPr id="7" name="Text 5"/>
          <p:cNvSpPr/>
          <p:nvPr/>
        </p:nvSpPr>
        <p:spPr>
          <a:xfrm>
            <a:off x="777240" y="2002926"/>
            <a:ext cx="5029200" cy="457200"/>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Core idea</a:t>
            </a:r>
            <a:endParaRPr lang="en-US" sz="2000" dirty="0"/>
          </a:p>
        </p:txBody>
      </p:sp>
      <p:sp>
        <p:nvSpPr>
          <p:cNvPr id="8" name="Text 6"/>
          <p:cNvSpPr/>
          <p:nvPr/>
        </p:nvSpPr>
        <p:spPr>
          <a:xfrm>
            <a:off x="777240" y="2505846"/>
            <a:ext cx="5029200" cy="2926080"/>
          </a:xfrm>
          <a:prstGeom prst="rect">
            <a:avLst/>
          </a:prstGeom>
          <a:noFill/>
          <a:ln/>
        </p:spPr>
        <p:txBody>
          <a:bodyPr wrap="square" lIns="0" tIns="0" rIns="0" bIns="0" rtlCol="0" anchor="ctr"/>
          <a:lstStyle/>
          <a:p>
            <a:pPr marL="0" indent="0">
              <a:buNone/>
            </a:pPr>
            <a:r>
              <a:rPr lang="en-US" sz="2000" dirty="0">
                <a:solidFill>
                  <a:srgbClr val="1E293B"/>
                </a:solidFill>
                <a:latin typeface="Calibri" pitchFamily="34" charset="0"/>
                <a:ea typeface="Calibri" pitchFamily="34" charset="-122"/>
                <a:cs typeface="Calibri" pitchFamily="34" charset="-120"/>
              </a:rPr>
              <a:t>Everything is a </a:t>
            </a:r>
            <a:r>
              <a:rPr lang="en-US" sz="2000" b="1" dirty="0">
                <a:solidFill>
                  <a:srgbClr val="F59E0B"/>
                </a:solidFill>
                <a:latin typeface="Calibri" pitchFamily="34" charset="0"/>
                <a:ea typeface="Calibri" pitchFamily="34" charset="-122"/>
                <a:cs typeface="Calibri" pitchFamily="34" charset="-120"/>
              </a:rPr>
              <a:t>resource</a:t>
            </a:r>
            <a:r>
              <a:rPr lang="en-US" sz="2000" dirty="0">
                <a:solidFill>
                  <a:srgbClr val="1E293B"/>
                </a:solidFill>
                <a:latin typeface="Calibri" pitchFamily="34" charset="0"/>
                <a:ea typeface="Calibri" pitchFamily="34" charset="-122"/>
                <a:cs typeface="Calibri" pitchFamily="34" charset="-120"/>
              </a:rPr>
              <a:t> (a noun, not an action).</a:t>
            </a:r>
            <a:endParaRPr lang="en-US" sz="2000" dirty="0"/>
          </a:p>
          <a:p>
            <a:pPr marL="0" indent="0">
              <a:buNone/>
            </a:pPr>
            <a:endParaRPr lang="en-US" sz="2000" dirty="0"/>
          </a:p>
          <a:p>
            <a:pPr marL="0" indent="0">
              <a:buNone/>
            </a:pPr>
            <a:r>
              <a:rPr lang="en-US" sz="2000" dirty="0">
                <a:solidFill>
                  <a:srgbClr val="1E293B"/>
                </a:solidFill>
                <a:latin typeface="Calibri" pitchFamily="34" charset="0"/>
                <a:ea typeface="Calibri" pitchFamily="34" charset="-122"/>
                <a:cs typeface="Calibri" pitchFamily="34" charset="-120"/>
              </a:rPr>
              <a:t>Each resource has a stable URI such as </a:t>
            </a:r>
            <a:r>
              <a:rPr lang="en-US" sz="2000" dirty="0">
                <a:solidFill>
                  <a:srgbClr val="F59E0B"/>
                </a:solidFill>
                <a:latin typeface="Consolas" pitchFamily="34" charset="0"/>
                <a:ea typeface="Consolas" pitchFamily="34" charset="-122"/>
                <a:cs typeface="Consolas" pitchFamily="34" charset="-120"/>
              </a:rPr>
              <a:t>/products/12</a:t>
            </a:r>
            <a:r>
              <a:rPr lang="en-US" sz="2000" dirty="0">
                <a:solidFill>
                  <a:srgbClr val="1E293B"/>
                </a:solidFill>
                <a:latin typeface="Calibri" pitchFamily="34" charset="0"/>
                <a:ea typeface="Calibri" pitchFamily="34" charset="-122"/>
                <a:cs typeface="Calibri" pitchFamily="34" charset="-120"/>
              </a:rPr>
              <a:t>.</a:t>
            </a:r>
            <a:endParaRPr lang="en-US" sz="2000" dirty="0"/>
          </a:p>
          <a:p>
            <a:pPr marL="0" indent="0">
              <a:buNone/>
            </a:pPr>
            <a:endParaRPr lang="en-US" sz="2000" dirty="0"/>
          </a:p>
          <a:p>
            <a:pPr marL="0" indent="0">
              <a:buNone/>
            </a:pPr>
            <a:r>
              <a:rPr lang="en-US" sz="2000" dirty="0">
                <a:solidFill>
                  <a:srgbClr val="1E293B"/>
                </a:solidFill>
                <a:latin typeface="Calibri" pitchFamily="34" charset="0"/>
                <a:ea typeface="Calibri" pitchFamily="34" charset="-122"/>
                <a:cs typeface="Calibri" pitchFamily="34" charset="-120"/>
              </a:rPr>
              <a:t>Clients use standard HTTP verbs to manipulate it: GET, POST, PUT, DELETE.</a:t>
            </a:r>
            <a:endParaRPr lang="en-US" sz="2000" dirty="0"/>
          </a:p>
          <a:p>
            <a:pPr marL="0" indent="0">
              <a:buNone/>
            </a:pPr>
            <a:endParaRPr lang="en-US" sz="2000" dirty="0"/>
          </a:p>
          <a:p>
            <a:pPr marL="0" indent="0">
              <a:buNone/>
            </a:pPr>
            <a:r>
              <a:rPr lang="en-US" sz="2000" dirty="0">
                <a:solidFill>
                  <a:srgbClr val="1E293B"/>
                </a:solidFill>
                <a:latin typeface="Calibri" pitchFamily="34" charset="0"/>
                <a:ea typeface="Calibri" pitchFamily="34" charset="-122"/>
                <a:cs typeface="Calibri" pitchFamily="34" charset="-120"/>
              </a:rPr>
              <a:t>The server returns a representation of the resource — typically JSON.</a:t>
            </a:r>
            <a:endParaRPr lang="en-US" sz="2000" dirty="0"/>
          </a:p>
        </p:txBody>
      </p:sp>
      <p:sp>
        <p:nvSpPr>
          <p:cNvPr id="9" name="Shape 7"/>
          <p:cNvSpPr/>
          <p:nvPr/>
        </p:nvSpPr>
        <p:spPr>
          <a:xfrm>
            <a:off x="6263640" y="1789890"/>
            <a:ext cx="5532120" cy="4562272"/>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000"/>
          </a:p>
        </p:txBody>
      </p:sp>
      <p:sp>
        <p:nvSpPr>
          <p:cNvPr id="10" name="Text 8"/>
          <p:cNvSpPr/>
          <p:nvPr/>
        </p:nvSpPr>
        <p:spPr>
          <a:xfrm>
            <a:off x="6492240" y="2002926"/>
            <a:ext cx="5029200" cy="457200"/>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Key constraints</a:t>
            </a:r>
            <a:endParaRPr lang="en-US" sz="2000" dirty="0"/>
          </a:p>
        </p:txBody>
      </p:sp>
      <p:sp>
        <p:nvSpPr>
          <p:cNvPr id="11" name="Text 9"/>
          <p:cNvSpPr/>
          <p:nvPr/>
        </p:nvSpPr>
        <p:spPr>
          <a:xfrm>
            <a:off x="6492240" y="2165372"/>
            <a:ext cx="5303520" cy="3846316"/>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Stateless</a:t>
            </a:r>
            <a:endParaRPr lang="en-US" sz="2000" dirty="0"/>
          </a:p>
          <a:p>
            <a:pPr marL="0" indent="0">
              <a:buNone/>
            </a:pPr>
            <a:r>
              <a:rPr lang="en-US" sz="2000" dirty="0">
                <a:solidFill>
                  <a:srgbClr val="64748B"/>
                </a:solidFill>
                <a:latin typeface="Calibri" pitchFamily="34" charset="0"/>
                <a:ea typeface="Calibri" pitchFamily="34" charset="-122"/>
                <a:cs typeface="Calibri" pitchFamily="34" charset="-120"/>
              </a:rPr>
              <a:t>Every request carries everything the server needs.</a:t>
            </a:r>
            <a:endParaRPr lang="en-US" sz="2000" dirty="0"/>
          </a:p>
          <a:p>
            <a:pPr marL="0" indent="0">
              <a:buNone/>
            </a:pPr>
            <a:r>
              <a:rPr lang="en-US" sz="2000" dirty="0">
                <a:solidFill>
                  <a:srgbClr val="1E293B"/>
                </a:solidFill>
                <a:latin typeface="Calibri" pitchFamily="34" charset="0"/>
                <a:ea typeface="Calibri" pitchFamily="34" charset="-122"/>
                <a:cs typeface="Calibri" pitchFamily="34" charset="-120"/>
              </a:rPr>
              <a:t> </a:t>
            </a:r>
            <a:endParaRPr lang="en-US" sz="2000" dirty="0"/>
          </a:p>
          <a:p>
            <a:pPr marL="0" indent="0">
              <a:buNone/>
            </a:pPr>
            <a:r>
              <a:rPr lang="en-US" sz="2000" b="1" dirty="0">
                <a:solidFill>
                  <a:srgbClr val="1E293B"/>
                </a:solidFill>
                <a:latin typeface="Calibri" pitchFamily="34" charset="0"/>
                <a:ea typeface="Calibri" pitchFamily="34" charset="-122"/>
                <a:cs typeface="Calibri" pitchFamily="34" charset="-120"/>
              </a:rPr>
              <a:t>Uniform interface</a:t>
            </a:r>
            <a:endParaRPr lang="en-US" sz="2000" dirty="0"/>
          </a:p>
          <a:p>
            <a:pPr marL="0" indent="0">
              <a:buNone/>
            </a:pPr>
            <a:r>
              <a:rPr lang="en-US" sz="2000" dirty="0">
                <a:solidFill>
                  <a:srgbClr val="64748B"/>
                </a:solidFill>
                <a:latin typeface="Calibri" pitchFamily="34" charset="0"/>
                <a:ea typeface="Calibri" pitchFamily="34" charset="-122"/>
                <a:cs typeface="Calibri" pitchFamily="34" charset="-120"/>
              </a:rPr>
              <a:t>Same set of HTTP verbs across every resource.</a:t>
            </a:r>
            <a:endParaRPr lang="en-US" sz="2000" dirty="0"/>
          </a:p>
          <a:p>
            <a:pPr marL="0" indent="0">
              <a:buNone/>
            </a:pPr>
            <a:r>
              <a:rPr lang="en-US" sz="2000" dirty="0">
                <a:solidFill>
                  <a:srgbClr val="1E293B"/>
                </a:solidFill>
                <a:latin typeface="Calibri" pitchFamily="34" charset="0"/>
                <a:ea typeface="Calibri" pitchFamily="34" charset="-122"/>
                <a:cs typeface="Calibri" pitchFamily="34" charset="-120"/>
              </a:rPr>
              <a:t> </a:t>
            </a:r>
            <a:endParaRPr lang="en-US" sz="2000" dirty="0"/>
          </a:p>
          <a:p>
            <a:pPr marL="0" indent="0">
              <a:buNone/>
            </a:pPr>
            <a:r>
              <a:rPr lang="en-US" sz="2000" b="1" dirty="0">
                <a:solidFill>
                  <a:srgbClr val="1E293B"/>
                </a:solidFill>
                <a:latin typeface="Calibri" pitchFamily="34" charset="0"/>
                <a:ea typeface="Calibri" pitchFamily="34" charset="-122"/>
                <a:cs typeface="Calibri" pitchFamily="34" charset="-120"/>
              </a:rPr>
              <a:t>Client–server separation</a:t>
            </a:r>
            <a:endParaRPr lang="en-US" sz="2000" dirty="0"/>
          </a:p>
          <a:p>
            <a:pPr marL="0" indent="0">
              <a:buNone/>
            </a:pPr>
            <a:r>
              <a:rPr lang="en-US" sz="2000" dirty="0">
                <a:solidFill>
                  <a:srgbClr val="64748B"/>
                </a:solidFill>
                <a:latin typeface="Calibri" pitchFamily="34" charset="0"/>
                <a:ea typeface="Calibri" pitchFamily="34" charset="-122"/>
                <a:cs typeface="Calibri" pitchFamily="34" charset="-120"/>
              </a:rPr>
              <a:t>Frontend and backend evolve independently.</a:t>
            </a:r>
            <a:endParaRPr lang="en-US" sz="2000" dirty="0"/>
          </a:p>
          <a:p>
            <a:pPr marL="0" indent="0">
              <a:buNone/>
            </a:pPr>
            <a:r>
              <a:rPr lang="en-US" sz="2000" dirty="0">
                <a:solidFill>
                  <a:srgbClr val="1E293B"/>
                </a:solidFill>
                <a:latin typeface="Calibri" pitchFamily="34" charset="0"/>
                <a:ea typeface="Calibri" pitchFamily="34" charset="-122"/>
                <a:cs typeface="Calibri" pitchFamily="34" charset="-120"/>
              </a:rPr>
              <a:t> </a:t>
            </a:r>
            <a:endParaRPr lang="en-US" sz="2000" dirty="0"/>
          </a:p>
          <a:p>
            <a:pPr marL="0" indent="0">
              <a:buNone/>
            </a:pPr>
            <a:r>
              <a:rPr lang="en-US" sz="2000" b="1" dirty="0">
                <a:solidFill>
                  <a:srgbClr val="1E293B"/>
                </a:solidFill>
                <a:latin typeface="Calibri" pitchFamily="34" charset="0"/>
                <a:ea typeface="Calibri" pitchFamily="34" charset="-122"/>
                <a:cs typeface="Calibri" pitchFamily="34" charset="-120"/>
              </a:rPr>
              <a:t>Cacheable</a:t>
            </a:r>
            <a:endParaRPr lang="en-US" sz="2000" dirty="0"/>
          </a:p>
          <a:p>
            <a:pPr marL="0" indent="0">
              <a:buNone/>
            </a:pPr>
            <a:r>
              <a:rPr lang="en-US" sz="2000" dirty="0">
                <a:solidFill>
                  <a:srgbClr val="64748B"/>
                </a:solidFill>
                <a:latin typeface="Calibri" pitchFamily="34" charset="0"/>
                <a:ea typeface="Calibri" pitchFamily="34" charset="-122"/>
                <a:cs typeface="Calibri" pitchFamily="34" charset="-120"/>
              </a:rPr>
              <a:t>Responses indicate whether they may be cached.</a:t>
            </a:r>
            <a:endParaRPr lang="en-US" sz="2000" dirty="0"/>
          </a:p>
        </p:txBody>
      </p:sp>
      <p:sp>
        <p:nvSpPr>
          <p:cNvPr id="12" name="Text 10"/>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13" name="Text 11"/>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VERBS THAT MATTER</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HTTP Methods Used in REST</a:t>
            </a:r>
            <a:endParaRPr lang="en-US" sz="3200" dirty="0"/>
          </a:p>
        </p:txBody>
      </p:sp>
      <p:sp>
        <p:nvSpPr>
          <p:cNvPr id="4" name="Text 2"/>
          <p:cNvSpPr/>
          <p:nvPr/>
        </p:nvSpPr>
        <p:spPr>
          <a:xfrm>
            <a:off x="548640" y="1325880"/>
            <a:ext cx="1371600" cy="365760"/>
          </a:xfrm>
          <a:prstGeom prst="rect">
            <a:avLst/>
          </a:prstGeom>
          <a:noFill/>
          <a:ln/>
        </p:spPr>
        <p:txBody>
          <a:bodyPr wrap="square" lIns="0" tIns="0" rIns="0" bIns="0" rtlCol="0" anchor="ctr"/>
          <a:lstStyle/>
          <a:p>
            <a:pPr marL="0" indent="0">
              <a:buNone/>
            </a:pPr>
            <a:r>
              <a:rPr lang="en-US" sz="2400" b="1" kern="0" spc="400" dirty="0">
                <a:solidFill>
                  <a:srgbClr val="64748B"/>
                </a:solidFill>
                <a:latin typeface="Calibri" pitchFamily="34" charset="0"/>
                <a:ea typeface="Calibri" pitchFamily="34" charset="-122"/>
                <a:cs typeface="Calibri" pitchFamily="34" charset="-120"/>
              </a:rPr>
              <a:t>VERB</a:t>
            </a:r>
            <a:endParaRPr lang="en-US" sz="2400" dirty="0"/>
          </a:p>
        </p:txBody>
      </p:sp>
      <p:sp>
        <p:nvSpPr>
          <p:cNvPr id="5" name="Text 3"/>
          <p:cNvSpPr/>
          <p:nvPr/>
        </p:nvSpPr>
        <p:spPr>
          <a:xfrm>
            <a:off x="2011680" y="1325880"/>
            <a:ext cx="3017520" cy="365760"/>
          </a:xfrm>
          <a:prstGeom prst="rect">
            <a:avLst/>
          </a:prstGeom>
          <a:noFill/>
          <a:ln/>
        </p:spPr>
        <p:txBody>
          <a:bodyPr wrap="square" lIns="0" tIns="0" rIns="0" bIns="0" rtlCol="0" anchor="ctr"/>
          <a:lstStyle/>
          <a:p>
            <a:pPr marL="0" indent="0">
              <a:buNone/>
            </a:pPr>
            <a:r>
              <a:rPr lang="en-US" sz="2400" b="1" kern="0" spc="400" dirty="0">
                <a:solidFill>
                  <a:srgbClr val="64748B"/>
                </a:solidFill>
                <a:latin typeface="Calibri" pitchFamily="34" charset="0"/>
                <a:ea typeface="Calibri" pitchFamily="34" charset="-122"/>
                <a:cs typeface="Calibri" pitchFamily="34" charset="-120"/>
              </a:rPr>
              <a:t>USE</a:t>
            </a:r>
            <a:endParaRPr lang="en-US" sz="2400" dirty="0"/>
          </a:p>
        </p:txBody>
      </p:sp>
      <p:sp>
        <p:nvSpPr>
          <p:cNvPr id="6" name="Text 4"/>
          <p:cNvSpPr/>
          <p:nvPr/>
        </p:nvSpPr>
        <p:spPr>
          <a:xfrm>
            <a:off x="5120640" y="1325880"/>
            <a:ext cx="3383280" cy="365760"/>
          </a:xfrm>
          <a:prstGeom prst="rect">
            <a:avLst/>
          </a:prstGeom>
          <a:noFill/>
          <a:ln/>
        </p:spPr>
        <p:txBody>
          <a:bodyPr wrap="square" lIns="0" tIns="0" rIns="0" bIns="0" rtlCol="0" anchor="ctr"/>
          <a:lstStyle/>
          <a:p>
            <a:pPr marL="0" indent="0">
              <a:buNone/>
            </a:pPr>
            <a:r>
              <a:rPr lang="en-US" sz="2400" b="1" kern="0" spc="400" dirty="0">
                <a:solidFill>
                  <a:srgbClr val="64748B"/>
                </a:solidFill>
                <a:latin typeface="Calibri" pitchFamily="34" charset="0"/>
                <a:ea typeface="Calibri" pitchFamily="34" charset="-122"/>
                <a:cs typeface="Calibri" pitchFamily="34" charset="-120"/>
              </a:rPr>
              <a:t>PROPERTIES</a:t>
            </a:r>
            <a:endParaRPr lang="en-US" sz="2400" dirty="0"/>
          </a:p>
        </p:txBody>
      </p:sp>
      <p:sp>
        <p:nvSpPr>
          <p:cNvPr id="7" name="Text 5"/>
          <p:cNvSpPr/>
          <p:nvPr/>
        </p:nvSpPr>
        <p:spPr>
          <a:xfrm>
            <a:off x="8595360" y="1325880"/>
            <a:ext cx="3200400" cy="365760"/>
          </a:xfrm>
          <a:prstGeom prst="rect">
            <a:avLst/>
          </a:prstGeom>
          <a:noFill/>
          <a:ln/>
        </p:spPr>
        <p:txBody>
          <a:bodyPr wrap="square" lIns="0" tIns="0" rIns="0" bIns="0" rtlCol="0" anchor="ctr"/>
          <a:lstStyle/>
          <a:p>
            <a:pPr marL="0" indent="0">
              <a:buNone/>
            </a:pPr>
            <a:r>
              <a:rPr lang="en-US" sz="2400" b="1" kern="0" spc="400" dirty="0">
                <a:solidFill>
                  <a:srgbClr val="64748B"/>
                </a:solidFill>
                <a:latin typeface="Calibri" pitchFamily="34" charset="0"/>
                <a:ea typeface="Calibri" pitchFamily="34" charset="-122"/>
                <a:cs typeface="Calibri" pitchFamily="34" charset="-120"/>
              </a:rPr>
              <a:t>EXAMPLE</a:t>
            </a:r>
            <a:endParaRPr lang="en-US" sz="2400" dirty="0"/>
          </a:p>
        </p:txBody>
      </p:sp>
      <p:sp>
        <p:nvSpPr>
          <p:cNvPr id="8" name="Shape 6"/>
          <p:cNvSpPr/>
          <p:nvPr/>
        </p:nvSpPr>
        <p:spPr>
          <a:xfrm>
            <a:off x="548640" y="1783080"/>
            <a:ext cx="1371600" cy="548640"/>
          </a:xfrm>
          <a:prstGeom prst="roundRect">
            <a:avLst>
              <a:gd name="adj" fmla="val 10000"/>
            </a:avLst>
          </a:prstGeom>
          <a:solidFill>
            <a:srgbClr val="065A82"/>
          </a:solidFill>
          <a:ln w="12700">
            <a:solidFill>
              <a:srgbClr val="065A82"/>
            </a:solidFill>
            <a:prstDash val="solid"/>
          </a:ln>
        </p:spPr>
        <p:txBody>
          <a:bodyPr/>
          <a:lstStyle/>
          <a:p>
            <a:endParaRPr lang="en-MY" sz="2400"/>
          </a:p>
        </p:txBody>
      </p:sp>
      <p:sp>
        <p:nvSpPr>
          <p:cNvPr id="9" name="Text 7"/>
          <p:cNvSpPr/>
          <p:nvPr/>
        </p:nvSpPr>
        <p:spPr>
          <a:xfrm>
            <a:off x="548640" y="1783080"/>
            <a:ext cx="137160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GET</a:t>
            </a:r>
            <a:endParaRPr lang="en-US" sz="2400" dirty="0"/>
          </a:p>
        </p:txBody>
      </p:sp>
      <p:sp>
        <p:nvSpPr>
          <p:cNvPr id="10" name="Text 8"/>
          <p:cNvSpPr/>
          <p:nvPr/>
        </p:nvSpPr>
        <p:spPr>
          <a:xfrm>
            <a:off x="2011680" y="1783080"/>
            <a:ext cx="3017520" cy="54864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Retrieve a resource</a:t>
            </a:r>
            <a:endParaRPr lang="en-US" sz="2400" dirty="0"/>
          </a:p>
        </p:txBody>
      </p:sp>
      <p:sp>
        <p:nvSpPr>
          <p:cNvPr id="11" name="Text 9"/>
          <p:cNvSpPr/>
          <p:nvPr/>
        </p:nvSpPr>
        <p:spPr>
          <a:xfrm>
            <a:off x="5120640" y="1783080"/>
            <a:ext cx="3383280" cy="54864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Safe • Idempotent</a:t>
            </a:r>
            <a:endParaRPr lang="en-US" sz="2400" dirty="0"/>
          </a:p>
        </p:txBody>
      </p:sp>
      <p:sp>
        <p:nvSpPr>
          <p:cNvPr id="12" name="Text 10"/>
          <p:cNvSpPr/>
          <p:nvPr/>
        </p:nvSpPr>
        <p:spPr>
          <a:xfrm>
            <a:off x="8595360" y="1783080"/>
            <a:ext cx="3200400" cy="548640"/>
          </a:xfrm>
          <a:prstGeom prst="rect">
            <a:avLst/>
          </a:prstGeom>
          <a:noFill/>
          <a:ln/>
        </p:spPr>
        <p:txBody>
          <a:bodyPr wrap="square" lIns="0" tIns="0" rIns="0" bIns="0" rtlCol="0" anchor="ctr"/>
          <a:lstStyle/>
          <a:p>
            <a:pPr marL="0" indent="0">
              <a:buNone/>
            </a:pPr>
            <a:r>
              <a:rPr lang="en-US" sz="2400" dirty="0">
                <a:solidFill>
                  <a:srgbClr val="F59E0B"/>
                </a:solidFill>
                <a:latin typeface="Consolas" pitchFamily="34" charset="0"/>
                <a:ea typeface="Consolas" pitchFamily="34" charset="-122"/>
                <a:cs typeface="Consolas" pitchFamily="34" charset="-120"/>
              </a:rPr>
              <a:t>GET /products</a:t>
            </a:r>
            <a:endParaRPr lang="en-US" sz="2400" dirty="0"/>
          </a:p>
        </p:txBody>
      </p:sp>
      <p:sp>
        <p:nvSpPr>
          <p:cNvPr id="13" name="Shape 11"/>
          <p:cNvSpPr/>
          <p:nvPr/>
        </p:nvSpPr>
        <p:spPr>
          <a:xfrm>
            <a:off x="548640" y="2697480"/>
            <a:ext cx="1371600" cy="548640"/>
          </a:xfrm>
          <a:prstGeom prst="roundRect">
            <a:avLst>
              <a:gd name="adj" fmla="val 10000"/>
            </a:avLst>
          </a:prstGeom>
          <a:solidFill>
            <a:srgbClr val="10B981"/>
          </a:solidFill>
          <a:ln w="12700">
            <a:solidFill>
              <a:srgbClr val="10B981"/>
            </a:solidFill>
            <a:prstDash val="solid"/>
          </a:ln>
        </p:spPr>
        <p:txBody>
          <a:bodyPr/>
          <a:lstStyle/>
          <a:p>
            <a:endParaRPr lang="en-MY" sz="2400"/>
          </a:p>
        </p:txBody>
      </p:sp>
      <p:sp>
        <p:nvSpPr>
          <p:cNvPr id="14" name="Text 12"/>
          <p:cNvSpPr/>
          <p:nvPr/>
        </p:nvSpPr>
        <p:spPr>
          <a:xfrm>
            <a:off x="548640" y="2697480"/>
            <a:ext cx="137160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POST</a:t>
            </a:r>
            <a:endParaRPr lang="en-US" sz="2400" dirty="0"/>
          </a:p>
        </p:txBody>
      </p:sp>
      <p:sp>
        <p:nvSpPr>
          <p:cNvPr id="15" name="Text 13"/>
          <p:cNvSpPr/>
          <p:nvPr/>
        </p:nvSpPr>
        <p:spPr>
          <a:xfrm>
            <a:off x="2011680" y="2697480"/>
            <a:ext cx="3017520" cy="54864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Create a new resource</a:t>
            </a:r>
            <a:endParaRPr lang="en-US" sz="2400" dirty="0"/>
          </a:p>
        </p:txBody>
      </p:sp>
      <p:sp>
        <p:nvSpPr>
          <p:cNvPr id="16" name="Text 14"/>
          <p:cNvSpPr/>
          <p:nvPr/>
        </p:nvSpPr>
        <p:spPr>
          <a:xfrm>
            <a:off x="5120640" y="2697480"/>
            <a:ext cx="3383280" cy="54864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Not safe • Not idempotent</a:t>
            </a:r>
            <a:endParaRPr lang="en-US" sz="2400" dirty="0"/>
          </a:p>
        </p:txBody>
      </p:sp>
      <p:sp>
        <p:nvSpPr>
          <p:cNvPr id="17" name="Text 15"/>
          <p:cNvSpPr/>
          <p:nvPr/>
        </p:nvSpPr>
        <p:spPr>
          <a:xfrm>
            <a:off x="8595360" y="2697480"/>
            <a:ext cx="3200400" cy="548640"/>
          </a:xfrm>
          <a:prstGeom prst="rect">
            <a:avLst/>
          </a:prstGeom>
          <a:noFill/>
          <a:ln/>
        </p:spPr>
        <p:txBody>
          <a:bodyPr wrap="square" lIns="0" tIns="0" rIns="0" bIns="0" rtlCol="0" anchor="ctr"/>
          <a:lstStyle/>
          <a:p>
            <a:pPr marL="0" indent="0">
              <a:buNone/>
            </a:pPr>
            <a:r>
              <a:rPr lang="en-US" sz="2400" dirty="0">
                <a:solidFill>
                  <a:srgbClr val="F59E0B"/>
                </a:solidFill>
                <a:latin typeface="Consolas" pitchFamily="34" charset="0"/>
                <a:ea typeface="Consolas" pitchFamily="34" charset="-122"/>
                <a:cs typeface="Consolas" pitchFamily="34" charset="-120"/>
              </a:rPr>
              <a:t>POST /products</a:t>
            </a:r>
            <a:endParaRPr lang="en-US" sz="2400" dirty="0"/>
          </a:p>
        </p:txBody>
      </p:sp>
      <p:sp>
        <p:nvSpPr>
          <p:cNvPr id="18" name="Shape 16"/>
          <p:cNvSpPr/>
          <p:nvPr/>
        </p:nvSpPr>
        <p:spPr>
          <a:xfrm>
            <a:off x="548640" y="3611880"/>
            <a:ext cx="1371600" cy="548640"/>
          </a:xfrm>
          <a:prstGeom prst="roundRect">
            <a:avLst>
              <a:gd name="adj" fmla="val 10000"/>
            </a:avLst>
          </a:prstGeom>
          <a:solidFill>
            <a:srgbClr val="F59E0B"/>
          </a:solidFill>
          <a:ln w="12700">
            <a:solidFill>
              <a:srgbClr val="F59E0B"/>
            </a:solidFill>
            <a:prstDash val="solid"/>
          </a:ln>
        </p:spPr>
        <p:txBody>
          <a:bodyPr/>
          <a:lstStyle/>
          <a:p>
            <a:endParaRPr lang="en-MY" sz="2400"/>
          </a:p>
        </p:txBody>
      </p:sp>
      <p:sp>
        <p:nvSpPr>
          <p:cNvPr id="19" name="Text 17"/>
          <p:cNvSpPr/>
          <p:nvPr/>
        </p:nvSpPr>
        <p:spPr>
          <a:xfrm>
            <a:off x="548640" y="3611880"/>
            <a:ext cx="137160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PUT</a:t>
            </a:r>
            <a:endParaRPr lang="en-US" sz="2400" dirty="0"/>
          </a:p>
        </p:txBody>
      </p:sp>
      <p:sp>
        <p:nvSpPr>
          <p:cNvPr id="20" name="Text 18"/>
          <p:cNvSpPr/>
          <p:nvPr/>
        </p:nvSpPr>
        <p:spPr>
          <a:xfrm>
            <a:off x="2011680" y="3611880"/>
            <a:ext cx="3017520" cy="54864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Replace a resource</a:t>
            </a:r>
            <a:endParaRPr lang="en-US" sz="2400" dirty="0"/>
          </a:p>
        </p:txBody>
      </p:sp>
      <p:sp>
        <p:nvSpPr>
          <p:cNvPr id="21" name="Text 19"/>
          <p:cNvSpPr/>
          <p:nvPr/>
        </p:nvSpPr>
        <p:spPr>
          <a:xfrm>
            <a:off x="5120640" y="3611880"/>
            <a:ext cx="3383280" cy="54864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Idempotent</a:t>
            </a:r>
            <a:endParaRPr lang="en-US" sz="2400" dirty="0"/>
          </a:p>
        </p:txBody>
      </p:sp>
      <p:sp>
        <p:nvSpPr>
          <p:cNvPr id="22" name="Text 20"/>
          <p:cNvSpPr/>
          <p:nvPr/>
        </p:nvSpPr>
        <p:spPr>
          <a:xfrm>
            <a:off x="8595360" y="3611880"/>
            <a:ext cx="3200400" cy="548640"/>
          </a:xfrm>
          <a:prstGeom prst="rect">
            <a:avLst/>
          </a:prstGeom>
          <a:noFill/>
          <a:ln/>
        </p:spPr>
        <p:txBody>
          <a:bodyPr wrap="square" lIns="0" tIns="0" rIns="0" bIns="0" rtlCol="0" anchor="ctr"/>
          <a:lstStyle/>
          <a:p>
            <a:pPr marL="0" indent="0">
              <a:buNone/>
            </a:pPr>
            <a:r>
              <a:rPr lang="en-US" sz="2400" dirty="0">
                <a:solidFill>
                  <a:srgbClr val="F59E0B"/>
                </a:solidFill>
                <a:latin typeface="Consolas" pitchFamily="34" charset="0"/>
                <a:ea typeface="Consolas" pitchFamily="34" charset="-122"/>
                <a:cs typeface="Consolas" pitchFamily="34" charset="-120"/>
              </a:rPr>
              <a:t>PUT /products/12</a:t>
            </a:r>
            <a:endParaRPr lang="en-US" sz="2400" dirty="0"/>
          </a:p>
        </p:txBody>
      </p:sp>
      <p:sp>
        <p:nvSpPr>
          <p:cNvPr id="23" name="Shape 21"/>
          <p:cNvSpPr/>
          <p:nvPr/>
        </p:nvSpPr>
        <p:spPr>
          <a:xfrm>
            <a:off x="548640" y="4526280"/>
            <a:ext cx="1371600" cy="548640"/>
          </a:xfrm>
          <a:prstGeom prst="roundRect">
            <a:avLst>
              <a:gd name="adj" fmla="val 10000"/>
            </a:avLst>
          </a:prstGeom>
          <a:solidFill>
            <a:srgbClr val="1C7293"/>
          </a:solidFill>
          <a:ln w="12700">
            <a:solidFill>
              <a:srgbClr val="1C7293"/>
            </a:solidFill>
            <a:prstDash val="solid"/>
          </a:ln>
        </p:spPr>
        <p:txBody>
          <a:bodyPr/>
          <a:lstStyle/>
          <a:p>
            <a:endParaRPr lang="en-MY" sz="2400"/>
          </a:p>
        </p:txBody>
      </p:sp>
      <p:sp>
        <p:nvSpPr>
          <p:cNvPr id="24" name="Text 22"/>
          <p:cNvSpPr/>
          <p:nvPr/>
        </p:nvSpPr>
        <p:spPr>
          <a:xfrm>
            <a:off x="548640" y="4526280"/>
            <a:ext cx="137160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PATCH</a:t>
            </a:r>
            <a:endParaRPr lang="en-US" sz="2400" dirty="0"/>
          </a:p>
        </p:txBody>
      </p:sp>
      <p:sp>
        <p:nvSpPr>
          <p:cNvPr id="25" name="Text 23"/>
          <p:cNvSpPr/>
          <p:nvPr/>
        </p:nvSpPr>
        <p:spPr>
          <a:xfrm>
            <a:off x="2011680" y="4526280"/>
            <a:ext cx="3017520" cy="54864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Partial update</a:t>
            </a:r>
            <a:endParaRPr lang="en-US" sz="2400" dirty="0"/>
          </a:p>
        </p:txBody>
      </p:sp>
      <p:sp>
        <p:nvSpPr>
          <p:cNvPr id="26" name="Text 24"/>
          <p:cNvSpPr/>
          <p:nvPr/>
        </p:nvSpPr>
        <p:spPr>
          <a:xfrm>
            <a:off x="5120640" y="4526280"/>
            <a:ext cx="3383280" cy="54864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Not idempotent (typically)</a:t>
            </a:r>
            <a:endParaRPr lang="en-US" sz="2400" dirty="0"/>
          </a:p>
        </p:txBody>
      </p:sp>
      <p:sp>
        <p:nvSpPr>
          <p:cNvPr id="27" name="Text 25"/>
          <p:cNvSpPr/>
          <p:nvPr/>
        </p:nvSpPr>
        <p:spPr>
          <a:xfrm>
            <a:off x="8595360" y="4526280"/>
            <a:ext cx="3200400" cy="548640"/>
          </a:xfrm>
          <a:prstGeom prst="rect">
            <a:avLst/>
          </a:prstGeom>
          <a:noFill/>
          <a:ln/>
        </p:spPr>
        <p:txBody>
          <a:bodyPr wrap="square" lIns="0" tIns="0" rIns="0" bIns="0" rtlCol="0" anchor="ctr"/>
          <a:lstStyle/>
          <a:p>
            <a:pPr marL="0" indent="0">
              <a:buNone/>
            </a:pPr>
            <a:r>
              <a:rPr lang="en-US" sz="2400" dirty="0">
                <a:solidFill>
                  <a:srgbClr val="F59E0B"/>
                </a:solidFill>
                <a:latin typeface="Consolas" pitchFamily="34" charset="0"/>
                <a:ea typeface="Consolas" pitchFamily="34" charset="-122"/>
                <a:cs typeface="Consolas" pitchFamily="34" charset="-120"/>
              </a:rPr>
              <a:t>PATCH /products/12</a:t>
            </a:r>
            <a:endParaRPr lang="en-US" sz="2400" dirty="0"/>
          </a:p>
        </p:txBody>
      </p:sp>
      <p:sp>
        <p:nvSpPr>
          <p:cNvPr id="28" name="Shape 26"/>
          <p:cNvSpPr/>
          <p:nvPr/>
        </p:nvSpPr>
        <p:spPr>
          <a:xfrm>
            <a:off x="548640" y="5440680"/>
            <a:ext cx="1371600" cy="548640"/>
          </a:xfrm>
          <a:prstGeom prst="roundRect">
            <a:avLst>
              <a:gd name="adj" fmla="val 10000"/>
            </a:avLst>
          </a:prstGeom>
          <a:solidFill>
            <a:srgbClr val="DC2626"/>
          </a:solidFill>
          <a:ln w="12700">
            <a:solidFill>
              <a:srgbClr val="DC2626"/>
            </a:solidFill>
            <a:prstDash val="solid"/>
          </a:ln>
        </p:spPr>
        <p:txBody>
          <a:bodyPr/>
          <a:lstStyle/>
          <a:p>
            <a:endParaRPr lang="en-MY" sz="2400"/>
          </a:p>
        </p:txBody>
      </p:sp>
      <p:sp>
        <p:nvSpPr>
          <p:cNvPr id="29" name="Text 27"/>
          <p:cNvSpPr/>
          <p:nvPr/>
        </p:nvSpPr>
        <p:spPr>
          <a:xfrm>
            <a:off x="548640" y="5440680"/>
            <a:ext cx="137160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DELETE</a:t>
            </a:r>
            <a:endParaRPr lang="en-US" sz="2400" dirty="0"/>
          </a:p>
        </p:txBody>
      </p:sp>
      <p:sp>
        <p:nvSpPr>
          <p:cNvPr id="30" name="Text 28"/>
          <p:cNvSpPr/>
          <p:nvPr/>
        </p:nvSpPr>
        <p:spPr>
          <a:xfrm>
            <a:off x="2011680" y="5440680"/>
            <a:ext cx="3017520" cy="54864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Remove a resource</a:t>
            </a:r>
            <a:endParaRPr lang="en-US" sz="2400" dirty="0"/>
          </a:p>
        </p:txBody>
      </p:sp>
      <p:sp>
        <p:nvSpPr>
          <p:cNvPr id="31" name="Text 29"/>
          <p:cNvSpPr/>
          <p:nvPr/>
        </p:nvSpPr>
        <p:spPr>
          <a:xfrm>
            <a:off x="5120640" y="5440680"/>
            <a:ext cx="3383280" cy="54864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Idempotent</a:t>
            </a:r>
            <a:endParaRPr lang="en-US" sz="2400" dirty="0"/>
          </a:p>
        </p:txBody>
      </p:sp>
      <p:sp>
        <p:nvSpPr>
          <p:cNvPr id="32" name="Text 30"/>
          <p:cNvSpPr/>
          <p:nvPr/>
        </p:nvSpPr>
        <p:spPr>
          <a:xfrm>
            <a:off x="8595360" y="5440680"/>
            <a:ext cx="3200400" cy="548640"/>
          </a:xfrm>
          <a:prstGeom prst="rect">
            <a:avLst/>
          </a:prstGeom>
          <a:noFill/>
          <a:ln/>
        </p:spPr>
        <p:txBody>
          <a:bodyPr wrap="square" lIns="0" tIns="0" rIns="0" bIns="0" rtlCol="0" anchor="ctr"/>
          <a:lstStyle/>
          <a:p>
            <a:pPr marL="0" indent="0">
              <a:buNone/>
            </a:pPr>
            <a:r>
              <a:rPr lang="en-US" sz="2400" dirty="0">
                <a:solidFill>
                  <a:srgbClr val="F59E0B"/>
                </a:solidFill>
                <a:latin typeface="Consolas" pitchFamily="34" charset="0"/>
                <a:ea typeface="Consolas" pitchFamily="34" charset="-122"/>
                <a:cs typeface="Consolas" pitchFamily="34" charset="-120"/>
              </a:rPr>
              <a:t>DELETE /products/12</a:t>
            </a:r>
            <a:endParaRPr lang="en-US" sz="2400" dirty="0"/>
          </a:p>
        </p:txBody>
      </p:sp>
      <p:sp>
        <p:nvSpPr>
          <p:cNvPr id="33" name="Text 31"/>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34" name="Text 32"/>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WHAT TO RETURN</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Common HTTP Status Codes</a:t>
            </a:r>
            <a:endParaRPr lang="en-US" sz="3200" dirty="0"/>
          </a:p>
        </p:txBody>
      </p:sp>
      <p:sp>
        <p:nvSpPr>
          <p:cNvPr id="4" name="Shape 2"/>
          <p:cNvSpPr/>
          <p:nvPr/>
        </p:nvSpPr>
        <p:spPr>
          <a:xfrm>
            <a:off x="548640" y="1280160"/>
            <a:ext cx="1463040" cy="411480"/>
          </a:xfrm>
          <a:prstGeom prst="rect">
            <a:avLst/>
          </a:prstGeom>
          <a:solidFill>
            <a:srgbClr val="10B981"/>
          </a:solidFill>
          <a:ln w="12700">
            <a:solidFill>
              <a:srgbClr val="10B981"/>
            </a:solidFill>
            <a:prstDash val="solid"/>
          </a:ln>
        </p:spPr>
        <p:txBody>
          <a:bodyPr/>
          <a:lstStyle/>
          <a:p>
            <a:endParaRPr lang="en-MY" sz="2000"/>
          </a:p>
        </p:txBody>
      </p:sp>
      <p:sp>
        <p:nvSpPr>
          <p:cNvPr id="5" name="Text 3"/>
          <p:cNvSpPr/>
          <p:nvPr/>
        </p:nvSpPr>
        <p:spPr>
          <a:xfrm>
            <a:off x="548640" y="1280160"/>
            <a:ext cx="146304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2xx</a:t>
            </a:r>
            <a:endParaRPr lang="en-US" sz="2000" dirty="0"/>
          </a:p>
        </p:txBody>
      </p:sp>
      <p:sp>
        <p:nvSpPr>
          <p:cNvPr id="6" name="Text 4"/>
          <p:cNvSpPr/>
          <p:nvPr/>
        </p:nvSpPr>
        <p:spPr>
          <a:xfrm>
            <a:off x="2103120" y="1280160"/>
            <a:ext cx="2743200" cy="41148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Success</a:t>
            </a:r>
            <a:endParaRPr lang="en-US" sz="2000" dirty="0"/>
          </a:p>
        </p:txBody>
      </p:sp>
      <p:sp>
        <p:nvSpPr>
          <p:cNvPr id="7" name="Text 5"/>
          <p:cNvSpPr/>
          <p:nvPr/>
        </p:nvSpPr>
        <p:spPr>
          <a:xfrm>
            <a:off x="822960" y="1783080"/>
            <a:ext cx="640080" cy="320040"/>
          </a:xfrm>
          <a:prstGeom prst="rect">
            <a:avLst/>
          </a:prstGeom>
          <a:noFill/>
          <a:ln/>
        </p:spPr>
        <p:txBody>
          <a:bodyPr wrap="square" lIns="0" tIns="0" rIns="0" bIns="0" rtlCol="0" anchor="ctr"/>
          <a:lstStyle/>
          <a:p>
            <a:pPr marL="0" indent="0">
              <a:buNone/>
            </a:pPr>
            <a:r>
              <a:rPr lang="en-US" sz="2000" b="1" dirty="0">
                <a:solidFill>
                  <a:srgbClr val="10B981"/>
                </a:solidFill>
                <a:latin typeface="Consolas" pitchFamily="34" charset="0"/>
                <a:ea typeface="Consolas" pitchFamily="34" charset="-122"/>
                <a:cs typeface="Consolas" pitchFamily="34" charset="-120"/>
              </a:rPr>
              <a:t>200</a:t>
            </a:r>
            <a:endParaRPr lang="en-US" sz="2000" dirty="0"/>
          </a:p>
        </p:txBody>
      </p:sp>
      <p:sp>
        <p:nvSpPr>
          <p:cNvPr id="8" name="Text 6"/>
          <p:cNvSpPr/>
          <p:nvPr/>
        </p:nvSpPr>
        <p:spPr>
          <a:xfrm>
            <a:off x="1554480" y="1783080"/>
            <a:ext cx="2103120" cy="3200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OK</a:t>
            </a:r>
            <a:endParaRPr lang="en-US" sz="2000" dirty="0"/>
          </a:p>
        </p:txBody>
      </p:sp>
      <p:sp>
        <p:nvSpPr>
          <p:cNvPr id="9" name="Text 7"/>
          <p:cNvSpPr/>
          <p:nvPr/>
        </p:nvSpPr>
        <p:spPr>
          <a:xfrm>
            <a:off x="3749040" y="1783080"/>
            <a:ext cx="7955280" cy="32004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GET / PUT / DELETE succeeded</a:t>
            </a:r>
            <a:endParaRPr lang="en-US" sz="2000" dirty="0"/>
          </a:p>
        </p:txBody>
      </p:sp>
      <p:sp>
        <p:nvSpPr>
          <p:cNvPr id="10" name="Text 8"/>
          <p:cNvSpPr/>
          <p:nvPr/>
        </p:nvSpPr>
        <p:spPr>
          <a:xfrm>
            <a:off x="822960" y="2148840"/>
            <a:ext cx="640080" cy="320040"/>
          </a:xfrm>
          <a:prstGeom prst="rect">
            <a:avLst/>
          </a:prstGeom>
          <a:noFill/>
          <a:ln/>
        </p:spPr>
        <p:txBody>
          <a:bodyPr wrap="square" lIns="0" tIns="0" rIns="0" bIns="0" rtlCol="0" anchor="ctr"/>
          <a:lstStyle/>
          <a:p>
            <a:pPr marL="0" indent="0">
              <a:buNone/>
            </a:pPr>
            <a:r>
              <a:rPr lang="en-US" sz="2000" b="1" dirty="0">
                <a:solidFill>
                  <a:srgbClr val="10B981"/>
                </a:solidFill>
                <a:latin typeface="Consolas" pitchFamily="34" charset="0"/>
                <a:ea typeface="Consolas" pitchFamily="34" charset="-122"/>
                <a:cs typeface="Consolas" pitchFamily="34" charset="-120"/>
              </a:rPr>
              <a:t>201</a:t>
            </a:r>
            <a:endParaRPr lang="en-US" sz="2000" dirty="0"/>
          </a:p>
        </p:txBody>
      </p:sp>
      <p:sp>
        <p:nvSpPr>
          <p:cNvPr id="11" name="Text 9"/>
          <p:cNvSpPr/>
          <p:nvPr/>
        </p:nvSpPr>
        <p:spPr>
          <a:xfrm>
            <a:off x="1554480" y="2148840"/>
            <a:ext cx="2103120" cy="3200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Created</a:t>
            </a:r>
            <a:endParaRPr lang="en-US" sz="2000" dirty="0"/>
          </a:p>
        </p:txBody>
      </p:sp>
      <p:sp>
        <p:nvSpPr>
          <p:cNvPr id="12" name="Text 10"/>
          <p:cNvSpPr/>
          <p:nvPr/>
        </p:nvSpPr>
        <p:spPr>
          <a:xfrm>
            <a:off x="3749040" y="2148840"/>
            <a:ext cx="7955280" cy="32004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POST created a new resource</a:t>
            </a:r>
            <a:endParaRPr lang="en-US" sz="2000" dirty="0"/>
          </a:p>
        </p:txBody>
      </p:sp>
      <p:sp>
        <p:nvSpPr>
          <p:cNvPr id="13" name="Text 11"/>
          <p:cNvSpPr/>
          <p:nvPr/>
        </p:nvSpPr>
        <p:spPr>
          <a:xfrm>
            <a:off x="822960" y="2514600"/>
            <a:ext cx="640080" cy="320040"/>
          </a:xfrm>
          <a:prstGeom prst="rect">
            <a:avLst/>
          </a:prstGeom>
          <a:noFill/>
          <a:ln/>
        </p:spPr>
        <p:txBody>
          <a:bodyPr wrap="square" lIns="0" tIns="0" rIns="0" bIns="0" rtlCol="0" anchor="ctr"/>
          <a:lstStyle/>
          <a:p>
            <a:pPr marL="0" indent="0">
              <a:buNone/>
            </a:pPr>
            <a:r>
              <a:rPr lang="en-US" sz="2000" b="1" dirty="0">
                <a:solidFill>
                  <a:srgbClr val="10B981"/>
                </a:solidFill>
                <a:latin typeface="Consolas" pitchFamily="34" charset="0"/>
                <a:ea typeface="Consolas" pitchFamily="34" charset="-122"/>
                <a:cs typeface="Consolas" pitchFamily="34" charset="-120"/>
              </a:rPr>
              <a:t>204</a:t>
            </a:r>
            <a:endParaRPr lang="en-US" sz="2000" dirty="0"/>
          </a:p>
        </p:txBody>
      </p:sp>
      <p:sp>
        <p:nvSpPr>
          <p:cNvPr id="14" name="Text 12"/>
          <p:cNvSpPr/>
          <p:nvPr/>
        </p:nvSpPr>
        <p:spPr>
          <a:xfrm>
            <a:off x="1554480" y="2514600"/>
            <a:ext cx="2103120" cy="3200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No Content</a:t>
            </a:r>
            <a:endParaRPr lang="en-US" sz="2000" dirty="0"/>
          </a:p>
        </p:txBody>
      </p:sp>
      <p:sp>
        <p:nvSpPr>
          <p:cNvPr id="15" name="Text 13"/>
          <p:cNvSpPr/>
          <p:nvPr/>
        </p:nvSpPr>
        <p:spPr>
          <a:xfrm>
            <a:off x="3749040" y="2514600"/>
            <a:ext cx="7955280" cy="32004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Success, but no body to return</a:t>
            </a:r>
            <a:endParaRPr lang="en-US" sz="2000" dirty="0"/>
          </a:p>
        </p:txBody>
      </p:sp>
      <p:sp>
        <p:nvSpPr>
          <p:cNvPr id="16" name="Shape 14"/>
          <p:cNvSpPr/>
          <p:nvPr/>
        </p:nvSpPr>
        <p:spPr>
          <a:xfrm>
            <a:off x="548640" y="2971800"/>
            <a:ext cx="1463040" cy="411480"/>
          </a:xfrm>
          <a:prstGeom prst="rect">
            <a:avLst/>
          </a:prstGeom>
          <a:solidFill>
            <a:srgbClr val="F59E0B"/>
          </a:solidFill>
          <a:ln w="12700">
            <a:solidFill>
              <a:srgbClr val="F59E0B"/>
            </a:solidFill>
            <a:prstDash val="solid"/>
          </a:ln>
        </p:spPr>
        <p:txBody>
          <a:bodyPr/>
          <a:lstStyle/>
          <a:p>
            <a:endParaRPr lang="en-MY" sz="2000"/>
          </a:p>
        </p:txBody>
      </p:sp>
      <p:sp>
        <p:nvSpPr>
          <p:cNvPr id="17" name="Text 15"/>
          <p:cNvSpPr/>
          <p:nvPr/>
        </p:nvSpPr>
        <p:spPr>
          <a:xfrm>
            <a:off x="548640" y="2971800"/>
            <a:ext cx="146304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4xx</a:t>
            </a:r>
            <a:endParaRPr lang="en-US" sz="2000" dirty="0"/>
          </a:p>
        </p:txBody>
      </p:sp>
      <p:sp>
        <p:nvSpPr>
          <p:cNvPr id="18" name="Text 16"/>
          <p:cNvSpPr/>
          <p:nvPr/>
        </p:nvSpPr>
        <p:spPr>
          <a:xfrm>
            <a:off x="2103120" y="2971800"/>
            <a:ext cx="2743200" cy="41148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Client error</a:t>
            </a:r>
            <a:endParaRPr lang="en-US" sz="2000" dirty="0"/>
          </a:p>
        </p:txBody>
      </p:sp>
      <p:sp>
        <p:nvSpPr>
          <p:cNvPr id="19" name="Text 17"/>
          <p:cNvSpPr/>
          <p:nvPr/>
        </p:nvSpPr>
        <p:spPr>
          <a:xfrm>
            <a:off x="822960" y="3474720"/>
            <a:ext cx="640080" cy="320040"/>
          </a:xfrm>
          <a:prstGeom prst="rect">
            <a:avLst/>
          </a:prstGeom>
          <a:noFill/>
          <a:ln/>
        </p:spPr>
        <p:txBody>
          <a:bodyPr wrap="square" lIns="0" tIns="0" rIns="0" bIns="0" rtlCol="0" anchor="ctr"/>
          <a:lstStyle/>
          <a:p>
            <a:pPr marL="0" indent="0">
              <a:buNone/>
            </a:pPr>
            <a:r>
              <a:rPr lang="en-US" sz="2000" b="1" dirty="0">
                <a:solidFill>
                  <a:srgbClr val="F59E0B"/>
                </a:solidFill>
                <a:latin typeface="Consolas" pitchFamily="34" charset="0"/>
                <a:ea typeface="Consolas" pitchFamily="34" charset="-122"/>
                <a:cs typeface="Consolas" pitchFamily="34" charset="-120"/>
              </a:rPr>
              <a:t>400</a:t>
            </a:r>
            <a:endParaRPr lang="en-US" sz="2000" dirty="0"/>
          </a:p>
        </p:txBody>
      </p:sp>
      <p:sp>
        <p:nvSpPr>
          <p:cNvPr id="20" name="Text 18"/>
          <p:cNvSpPr/>
          <p:nvPr/>
        </p:nvSpPr>
        <p:spPr>
          <a:xfrm>
            <a:off x="1554480" y="3474720"/>
            <a:ext cx="2103120" cy="3200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Bad Request</a:t>
            </a:r>
            <a:endParaRPr lang="en-US" sz="2000" dirty="0"/>
          </a:p>
        </p:txBody>
      </p:sp>
      <p:sp>
        <p:nvSpPr>
          <p:cNvPr id="21" name="Text 19"/>
          <p:cNvSpPr/>
          <p:nvPr/>
        </p:nvSpPr>
        <p:spPr>
          <a:xfrm>
            <a:off x="3749040" y="3474720"/>
            <a:ext cx="7955280" cy="32004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Validation failed / malformed JSON</a:t>
            </a:r>
            <a:endParaRPr lang="en-US" sz="2000" dirty="0"/>
          </a:p>
        </p:txBody>
      </p:sp>
      <p:sp>
        <p:nvSpPr>
          <p:cNvPr id="22" name="Text 20"/>
          <p:cNvSpPr/>
          <p:nvPr/>
        </p:nvSpPr>
        <p:spPr>
          <a:xfrm>
            <a:off x="822960" y="3840480"/>
            <a:ext cx="640080" cy="320040"/>
          </a:xfrm>
          <a:prstGeom prst="rect">
            <a:avLst/>
          </a:prstGeom>
          <a:noFill/>
          <a:ln/>
        </p:spPr>
        <p:txBody>
          <a:bodyPr wrap="square" lIns="0" tIns="0" rIns="0" bIns="0" rtlCol="0" anchor="ctr"/>
          <a:lstStyle/>
          <a:p>
            <a:pPr marL="0" indent="0">
              <a:buNone/>
            </a:pPr>
            <a:r>
              <a:rPr lang="en-US" sz="2000" b="1" dirty="0">
                <a:solidFill>
                  <a:srgbClr val="F59E0B"/>
                </a:solidFill>
                <a:latin typeface="Consolas" pitchFamily="34" charset="0"/>
                <a:ea typeface="Consolas" pitchFamily="34" charset="-122"/>
                <a:cs typeface="Consolas" pitchFamily="34" charset="-120"/>
              </a:rPr>
              <a:t>401</a:t>
            </a:r>
            <a:endParaRPr lang="en-US" sz="2000" dirty="0"/>
          </a:p>
        </p:txBody>
      </p:sp>
      <p:sp>
        <p:nvSpPr>
          <p:cNvPr id="23" name="Text 21"/>
          <p:cNvSpPr/>
          <p:nvPr/>
        </p:nvSpPr>
        <p:spPr>
          <a:xfrm>
            <a:off x="1554480" y="3840480"/>
            <a:ext cx="2103120" cy="3200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Unauthorized</a:t>
            </a:r>
            <a:endParaRPr lang="en-US" sz="2000" dirty="0"/>
          </a:p>
        </p:txBody>
      </p:sp>
      <p:sp>
        <p:nvSpPr>
          <p:cNvPr id="24" name="Text 22"/>
          <p:cNvSpPr/>
          <p:nvPr/>
        </p:nvSpPr>
        <p:spPr>
          <a:xfrm>
            <a:off x="3749040" y="3840480"/>
            <a:ext cx="7955280" cy="32004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Missing / invalid token</a:t>
            </a:r>
            <a:endParaRPr lang="en-US" sz="2000" dirty="0"/>
          </a:p>
        </p:txBody>
      </p:sp>
      <p:sp>
        <p:nvSpPr>
          <p:cNvPr id="25" name="Text 23"/>
          <p:cNvSpPr/>
          <p:nvPr/>
        </p:nvSpPr>
        <p:spPr>
          <a:xfrm>
            <a:off x="822960" y="4206240"/>
            <a:ext cx="640080" cy="320040"/>
          </a:xfrm>
          <a:prstGeom prst="rect">
            <a:avLst/>
          </a:prstGeom>
          <a:noFill/>
          <a:ln/>
        </p:spPr>
        <p:txBody>
          <a:bodyPr wrap="square" lIns="0" tIns="0" rIns="0" bIns="0" rtlCol="0" anchor="ctr"/>
          <a:lstStyle/>
          <a:p>
            <a:pPr marL="0" indent="0">
              <a:buNone/>
            </a:pPr>
            <a:r>
              <a:rPr lang="en-US" sz="2000" b="1" dirty="0">
                <a:solidFill>
                  <a:srgbClr val="F59E0B"/>
                </a:solidFill>
                <a:latin typeface="Consolas" pitchFamily="34" charset="0"/>
                <a:ea typeface="Consolas" pitchFamily="34" charset="-122"/>
                <a:cs typeface="Consolas" pitchFamily="34" charset="-120"/>
              </a:rPr>
              <a:t>403</a:t>
            </a:r>
            <a:endParaRPr lang="en-US" sz="2000" dirty="0"/>
          </a:p>
        </p:txBody>
      </p:sp>
      <p:sp>
        <p:nvSpPr>
          <p:cNvPr id="26" name="Text 24"/>
          <p:cNvSpPr/>
          <p:nvPr/>
        </p:nvSpPr>
        <p:spPr>
          <a:xfrm>
            <a:off x="1554480" y="4206240"/>
            <a:ext cx="2103120" cy="3200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Forbidden</a:t>
            </a:r>
            <a:endParaRPr lang="en-US" sz="2000" dirty="0"/>
          </a:p>
        </p:txBody>
      </p:sp>
      <p:sp>
        <p:nvSpPr>
          <p:cNvPr id="27" name="Text 25"/>
          <p:cNvSpPr/>
          <p:nvPr/>
        </p:nvSpPr>
        <p:spPr>
          <a:xfrm>
            <a:off x="3749040" y="4206240"/>
            <a:ext cx="7955280" cy="32004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Authenticated but not allowed</a:t>
            </a:r>
            <a:endParaRPr lang="en-US" sz="2000" dirty="0"/>
          </a:p>
        </p:txBody>
      </p:sp>
      <p:sp>
        <p:nvSpPr>
          <p:cNvPr id="28" name="Text 26"/>
          <p:cNvSpPr/>
          <p:nvPr/>
        </p:nvSpPr>
        <p:spPr>
          <a:xfrm>
            <a:off x="822960" y="4572000"/>
            <a:ext cx="640080" cy="320040"/>
          </a:xfrm>
          <a:prstGeom prst="rect">
            <a:avLst/>
          </a:prstGeom>
          <a:noFill/>
          <a:ln/>
        </p:spPr>
        <p:txBody>
          <a:bodyPr wrap="square" lIns="0" tIns="0" rIns="0" bIns="0" rtlCol="0" anchor="ctr"/>
          <a:lstStyle/>
          <a:p>
            <a:pPr marL="0" indent="0">
              <a:buNone/>
            </a:pPr>
            <a:r>
              <a:rPr lang="en-US" sz="2000" b="1" dirty="0">
                <a:solidFill>
                  <a:srgbClr val="F59E0B"/>
                </a:solidFill>
                <a:latin typeface="Consolas" pitchFamily="34" charset="0"/>
                <a:ea typeface="Consolas" pitchFamily="34" charset="-122"/>
                <a:cs typeface="Consolas" pitchFamily="34" charset="-120"/>
              </a:rPr>
              <a:t>404</a:t>
            </a:r>
            <a:endParaRPr lang="en-US" sz="2000" dirty="0"/>
          </a:p>
        </p:txBody>
      </p:sp>
      <p:sp>
        <p:nvSpPr>
          <p:cNvPr id="29" name="Text 27"/>
          <p:cNvSpPr/>
          <p:nvPr/>
        </p:nvSpPr>
        <p:spPr>
          <a:xfrm>
            <a:off x="1554480" y="4572000"/>
            <a:ext cx="2103120" cy="3200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Not Found</a:t>
            </a:r>
            <a:endParaRPr lang="en-US" sz="2000" dirty="0"/>
          </a:p>
        </p:txBody>
      </p:sp>
      <p:sp>
        <p:nvSpPr>
          <p:cNvPr id="30" name="Text 28"/>
          <p:cNvSpPr/>
          <p:nvPr/>
        </p:nvSpPr>
        <p:spPr>
          <a:xfrm>
            <a:off x="3749040" y="4572000"/>
            <a:ext cx="7955280" cy="32004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Resource doesn't exist</a:t>
            </a:r>
            <a:endParaRPr lang="en-US" sz="2000" dirty="0"/>
          </a:p>
        </p:txBody>
      </p:sp>
      <p:sp>
        <p:nvSpPr>
          <p:cNvPr id="31" name="Shape 29"/>
          <p:cNvSpPr/>
          <p:nvPr/>
        </p:nvSpPr>
        <p:spPr>
          <a:xfrm>
            <a:off x="548640" y="5029200"/>
            <a:ext cx="1463040" cy="411480"/>
          </a:xfrm>
          <a:prstGeom prst="rect">
            <a:avLst/>
          </a:prstGeom>
          <a:solidFill>
            <a:srgbClr val="DC2626"/>
          </a:solidFill>
          <a:ln w="12700">
            <a:solidFill>
              <a:srgbClr val="DC2626"/>
            </a:solidFill>
            <a:prstDash val="solid"/>
          </a:ln>
        </p:spPr>
        <p:txBody>
          <a:bodyPr/>
          <a:lstStyle/>
          <a:p>
            <a:endParaRPr lang="en-MY" sz="2000"/>
          </a:p>
        </p:txBody>
      </p:sp>
      <p:sp>
        <p:nvSpPr>
          <p:cNvPr id="32" name="Text 30"/>
          <p:cNvSpPr/>
          <p:nvPr/>
        </p:nvSpPr>
        <p:spPr>
          <a:xfrm>
            <a:off x="548640" y="5029200"/>
            <a:ext cx="146304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5xx</a:t>
            </a:r>
            <a:endParaRPr lang="en-US" sz="2000" dirty="0"/>
          </a:p>
        </p:txBody>
      </p:sp>
      <p:sp>
        <p:nvSpPr>
          <p:cNvPr id="33" name="Text 31"/>
          <p:cNvSpPr/>
          <p:nvPr/>
        </p:nvSpPr>
        <p:spPr>
          <a:xfrm>
            <a:off x="2103120" y="5029200"/>
            <a:ext cx="2743200" cy="41148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Server error</a:t>
            </a:r>
            <a:endParaRPr lang="en-US" sz="2000" dirty="0"/>
          </a:p>
        </p:txBody>
      </p:sp>
      <p:sp>
        <p:nvSpPr>
          <p:cNvPr id="34" name="Text 32"/>
          <p:cNvSpPr/>
          <p:nvPr/>
        </p:nvSpPr>
        <p:spPr>
          <a:xfrm>
            <a:off x="822960" y="5532120"/>
            <a:ext cx="640080" cy="320040"/>
          </a:xfrm>
          <a:prstGeom prst="rect">
            <a:avLst/>
          </a:prstGeom>
          <a:noFill/>
          <a:ln/>
        </p:spPr>
        <p:txBody>
          <a:bodyPr wrap="square" lIns="0" tIns="0" rIns="0" bIns="0" rtlCol="0" anchor="ctr"/>
          <a:lstStyle/>
          <a:p>
            <a:pPr marL="0" indent="0">
              <a:buNone/>
            </a:pPr>
            <a:r>
              <a:rPr lang="en-US" sz="2000" b="1" dirty="0">
                <a:solidFill>
                  <a:srgbClr val="DC2626"/>
                </a:solidFill>
                <a:latin typeface="Consolas" pitchFamily="34" charset="0"/>
                <a:ea typeface="Consolas" pitchFamily="34" charset="-122"/>
                <a:cs typeface="Consolas" pitchFamily="34" charset="-120"/>
              </a:rPr>
              <a:t>500</a:t>
            </a:r>
            <a:endParaRPr lang="en-US" sz="2000" dirty="0"/>
          </a:p>
        </p:txBody>
      </p:sp>
      <p:sp>
        <p:nvSpPr>
          <p:cNvPr id="35" name="Text 33"/>
          <p:cNvSpPr/>
          <p:nvPr/>
        </p:nvSpPr>
        <p:spPr>
          <a:xfrm>
            <a:off x="1554480" y="5532120"/>
            <a:ext cx="2103120" cy="3200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Internal Server Error</a:t>
            </a:r>
            <a:endParaRPr lang="en-US" sz="2000" dirty="0"/>
          </a:p>
        </p:txBody>
      </p:sp>
      <p:sp>
        <p:nvSpPr>
          <p:cNvPr id="36" name="Text 34"/>
          <p:cNvSpPr/>
          <p:nvPr/>
        </p:nvSpPr>
        <p:spPr>
          <a:xfrm>
            <a:off x="3749040" y="5532120"/>
            <a:ext cx="7955280" cy="32004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Unhandled exception in server code</a:t>
            </a:r>
            <a:endParaRPr lang="en-US" sz="2000" dirty="0"/>
          </a:p>
        </p:txBody>
      </p:sp>
      <p:sp>
        <p:nvSpPr>
          <p:cNvPr id="37" name="Text 35"/>
          <p:cNvSpPr/>
          <p:nvPr/>
        </p:nvSpPr>
        <p:spPr>
          <a:xfrm>
            <a:off x="822960" y="5897880"/>
            <a:ext cx="640080" cy="320040"/>
          </a:xfrm>
          <a:prstGeom prst="rect">
            <a:avLst/>
          </a:prstGeom>
          <a:noFill/>
          <a:ln/>
        </p:spPr>
        <p:txBody>
          <a:bodyPr wrap="square" lIns="0" tIns="0" rIns="0" bIns="0" rtlCol="0" anchor="ctr"/>
          <a:lstStyle/>
          <a:p>
            <a:pPr marL="0" indent="0">
              <a:buNone/>
            </a:pPr>
            <a:r>
              <a:rPr lang="en-US" sz="2000" b="1" dirty="0">
                <a:solidFill>
                  <a:srgbClr val="DC2626"/>
                </a:solidFill>
                <a:latin typeface="Consolas" pitchFamily="34" charset="0"/>
                <a:ea typeface="Consolas" pitchFamily="34" charset="-122"/>
                <a:cs typeface="Consolas" pitchFamily="34" charset="-120"/>
              </a:rPr>
              <a:t>503</a:t>
            </a:r>
            <a:endParaRPr lang="en-US" sz="2000" dirty="0"/>
          </a:p>
        </p:txBody>
      </p:sp>
      <p:sp>
        <p:nvSpPr>
          <p:cNvPr id="38" name="Text 36"/>
          <p:cNvSpPr/>
          <p:nvPr/>
        </p:nvSpPr>
        <p:spPr>
          <a:xfrm>
            <a:off x="1554480" y="5897880"/>
            <a:ext cx="2103120" cy="3200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Service Unavailable</a:t>
            </a:r>
            <a:endParaRPr lang="en-US" sz="2000" dirty="0"/>
          </a:p>
        </p:txBody>
      </p:sp>
      <p:sp>
        <p:nvSpPr>
          <p:cNvPr id="39" name="Text 37"/>
          <p:cNvSpPr/>
          <p:nvPr/>
        </p:nvSpPr>
        <p:spPr>
          <a:xfrm>
            <a:off x="3749040" y="5897880"/>
            <a:ext cx="7955280" cy="32004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Backend temporarily down</a:t>
            </a:r>
            <a:endParaRPr lang="en-US" sz="2000" dirty="0"/>
          </a:p>
        </p:txBody>
      </p:sp>
      <p:sp>
        <p:nvSpPr>
          <p:cNvPr id="40" name="Text 38"/>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41" name="Text 39"/>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RESOURCE NAMING</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RESTful URI Patterns</a:t>
            </a:r>
            <a:endParaRPr lang="en-US" sz="3200" dirty="0"/>
          </a:p>
        </p:txBody>
      </p:sp>
      <p:sp>
        <p:nvSpPr>
          <p:cNvPr id="4" name="Text 2"/>
          <p:cNvSpPr/>
          <p:nvPr/>
        </p:nvSpPr>
        <p:spPr>
          <a:xfrm>
            <a:off x="548640" y="1188720"/>
            <a:ext cx="10972800" cy="45720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Use plural nouns. Express hierarchy with nesting. Avoid verbs in URIs.</a:t>
            </a:r>
            <a:endParaRPr lang="en-US" sz="2400" dirty="0"/>
          </a:p>
        </p:txBody>
      </p:sp>
      <p:sp>
        <p:nvSpPr>
          <p:cNvPr id="5" name="Shape 3"/>
          <p:cNvSpPr/>
          <p:nvPr/>
        </p:nvSpPr>
        <p:spPr>
          <a:xfrm>
            <a:off x="548640" y="1828800"/>
            <a:ext cx="5486400" cy="457200"/>
          </a:xfrm>
          <a:prstGeom prst="rect">
            <a:avLst/>
          </a:prstGeom>
          <a:solidFill>
            <a:srgbClr val="10B981"/>
          </a:solidFill>
          <a:ln w="12700">
            <a:solidFill>
              <a:srgbClr val="10B981"/>
            </a:solidFill>
            <a:prstDash val="solid"/>
          </a:ln>
        </p:spPr>
        <p:txBody>
          <a:bodyPr/>
          <a:lstStyle/>
          <a:p>
            <a:endParaRPr lang="en-MY" sz="2400"/>
          </a:p>
        </p:txBody>
      </p:sp>
      <p:sp>
        <p:nvSpPr>
          <p:cNvPr id="6" name="Text 4"/>
          <p:cNvSpPr/>
          <p:nvPr/>
        </p:nvSpPr>
        <p:spPr>
          <a:xfrm>
            <a:off x="548640" y="1828800"/>
            <a:ext cx="54864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GOOD</a:t>
            </a:r>
            <a:endParaRPr lang="en-US" sz="2400" dirty="0"/>
          </a:p>
        </p:txBody>
      </p:sp>
      <p:sp>
        <p:nvSpPr>
          <p:cNvPr id="7" name="Shape 5"/>
          <p:cNvSpPr/>
          <p:nvPr/>
        </p:nvSpPr>
        <p:spPr>
          <a:xfrm>
            <a:off x="6309360" y="1828800"/>
            <a:ext cx="5486400" cy="457200"/>
          </a:xfrm>
          <a:prstGeom prst="rect">
            <a:avLst/>
          </a:prstGeom>
          <a:solidFill>
            <a:srgbClr val="DC2626"/>
          </a:solidFill>
          <a:ln w="12700">
            <a:solidFill>
              <a:srgbClr val="DC2626"/>
            </a:solidFill>
            <a:prstDash val="solid"/>
          </a:ln>
        </p:spPr>
        <p:txBody>
          <a:bodyPr/>
          <a:lstStyle/>
          <a:p>
            <a:endParaRPr lang="en-MY" sz="2400"/>
          </a:p>
        </p:txBody>
      </p:sp>
      <p:sp>
        <p:nvSpPr>
          <p:cNvPr id="8" name="Text 6"/>
          <p:cNvSpPr/>
          <p:nvPr/>
        </p:nvSpPr>
        <p:spPr>
          <a:xfrm>
            <a:off x="6309360" y="1828800"/>
            <a:ext cx="54864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BAD</a:t>
            </a:r>
            <a:endParaRPr lang="en-US" sz="2400" dirty="0"/>
          </a:p>
        </p:txBody>
      </p:sp>
      <p:sp>
        <p:nvSpPr>
          <p:cNvPr id="9" name="Shape 7"/>
          <p:cNvSpPr/>
          <p:nvPr/>
        </p:nvSpPr>
        <p:spPr>
          <a:xfrm>
            <a:off x="548640" y="2377440"/>
            <a:ext cx="5486400" cy="457200"/>
          </a:xfrm>
          <a:prstGeom prst="rect">
            <a:avLst/>
          </a:prstGeom>
          <a:solidFill>
            <a:srgbClr val="F8FAFC"/>
          </a:solidFill>
          <a:ln w="12700">
            <a:solidFill>
              <a:srgbClr val="E2E8F0"/>
            </a:solidFill>
            <a:prstDash val="solid"/>
          </a:ln>
        </p:spPr>
        <p:txBody>
          <a:bodyPr/>
          <a:lstStyle/>
          <a:p>
            <a:endParaRPr lang="en-MY" sz="2400"/>
          </a:p>
        </p:txBody>
      </p:sp>
      <p:sp>
        <p:nvSpPr>
          <p:cNvPr id="10" name="Shape 8"/>
          <p:cNvSpPr/>
          <p:nvPr/>
        </p:nvSpPr>
        <p:spPr>
          <a:xfrm>
            <a:off x="6309360" y="2377440"/>
            <a:ext cx="5486400" cy="457200"/>
          </a:xfrm>
          <a:prstGeom prst="rect">
            <a:avLst/>
          </a:prstGeom>
          <a:solidFill>
            <a:srgbClr val="F8FAFC"/>
          </a:solidFill>
          <a:ln w="12700">
            <a:solidFill>
              <a:srgbClr val="E2E8F0"/>
            </a:solidFill>
            <a:prstDash val="solid"/>
          </a:ln>
        </p:spPr>
        <p:txBody>
          <a:bodyPr/>
          <a:lstStyle/>
          <a:p>
            <a:endParaRPr lang="en-MY" sz="2400"/>
          </a:p>
        </p:txBody>
      </p:sp>
      <p:sp>
        <p:nvSpPr>
          <p:cNvPr id="11" name="Text 9"/>
          <p:cNvSpPr/>
          <p:nvPr/>
        </p:nvSpPr>
        <p:spPr>
          <a:xfrm>
            <a:off x="640080" y="2377440"/>
            <a:ext cx="5303520" cy="457200"/>
          </a:xfrm>
          <a:prstGeom prst="rect">
            <a:avLst/>
          </a:prstGeom>
          <a:noFill/>
          <a:ln/>
        </p:spPr>
        <p:txBody>
          <a:bodyPr wrap="square" lIns="0" tIns="0" rIns="0" bIns="0" rtlCol="0" anchor="ctr"/>
          <a:lstStyle/>
          <a:p>
            <a:pPr marL="0" indent="0">
              <a:buNone/>
            </a:pPr>
            <a:r>
              <a:rPr lang="en-US" sz="2400" dirty="0">
                <a:solidFill>
                  <a:srgbClr val="10B981"/>
                </a:solidFill>
                <a:latin typeface="Consolas" pitchFamily="34" charset="0"/>
                <a:ea typeface="Consolas" pitchFamily="34" charset="-122"/>
                <a:cs typeface="Consolas" pitchFamily="34" charset="-120"/>
              </a:rPr>
              <a:t>GET    /products</a:t>
            </a:r>
            <a:endParaRPr lang="en-US" sz="2400" dirty="0"/>
          </a:p>
        </p:txBody>
      </p:sp>
      <p:sp>
        <p:nvSpPr>
          <p:cNvPr id="12" name="Text 10"/>
          <p:cNvSpPr/>
          <p:nvPr/>
        </p:nvSpPr>
        <p:spPr>
          <a:xfrm>
            <a:off x="6400800" y="2377440"/>
            <a:ext cx="5303520" cy="457200"/>
          </a:xfrm>
          <a:prstGeom prst="rect">
            <a:avLst/>
          </a:prstGeom>
          <a:noFill/>
          <a:ln/>
        </p:spPr>
        <p:txBody>
          <a:bodyPr wrap="square" lIns="0" tIns="0" rIns="0" bIns="0" rtlCol="0" anchor="ctr"/>
          <a:lstStyle/>
          <a:p>
            <a:pPr marL="0" indent="0">
              <a:buNone/>
            </a:pPr>
            <a:r>
              <a:rPr lang="en-US" sz="2400" dirty="0">
                <a:solidFill>
                  <a:srgbClr val="DC2626"/>
                </a:solidFill>
                <a:latin typeface="Consolas" pitchFamily="34" charset="0"/>
                <a:ea typeface="Consolas" pitchFamily="34" charset="-122"/>
                <a:cs typeface="Consolas" pitchFamily="34" charset="-120"/>
              </a:rPr>
              <a:t>GET    /getAllProducts</a:t>
            </a:r>
            <a:endParaRPr lang="en-US" sz="2400" dirty="0"/>
          </a:p>
        </p:txBody>
      </p:sp>
      <p:sp>
        <p:nvSpPr>
          <p:cNvPr id="13" name="Shape 11"/>
          <p:cNvSpPr/>
          <p:nvPr/>
        </p:nvSpPr>
        <p:spPr>
          <a:xfrm>
            <a:off x="548640" y="2880360"/>
            <a:ext cx="5486400" cy="457200"/>
          </a:xfrm>
          <a:prstGeom prst="rect">
            <a:avLst/>
          </a:prstGeom>
          <a:solidFill>
            <a:srgbClr val="FFFFFF"/>
          </a:solidFill>
          <a:ln w="12700">
            <a:solidFill>
              <a:srgbClr val="E2E8F0"/>
            </a:solidFill>
            <a:prstDash val="solid"/>
          </a:ln>
        </p:spPr>
        <p:txBody>
          <a:bodyPr/>
          <a:lstStyle/>
          <a:p>
            <a:endParaRPr lang="en-MY" sz="2400"/>
          </a:p>
        </p:txBody>
      </p:sp>
      <p:sp>
        <p:nvSpPr>
          <p:cNvPr id="14" name="Shape 12"/>
          <p:cNvSpPr/>
          <p:nvPr/>
        </p:nvSpPr>
        <p:spPr>
          <a:xfrm>
            <a:off x="6309360" y="2880360"/>
            <a:ext cx="5486400" cy="457200"/>
          </a:xfrm>
          <a:prstGeom prst="rect">
            <a:avLst/>
          </a:prstGeom>
          <a:solidFill>
            <a:srgbClr val="FFFFFF"/>
          </a:solidFill>
          <a:ln w="12700">
            <a:solidFill>
              <a:srgbClr val="E2E8F0"/>
            </a:solidFill>
            <a:prstDash val="solid"/>
          </a:ln>
        </p:spPr>
        <p:txBody>
          <a:bodyPr/>
          <a:lstStyle/>
          <a:p>
            <a:endParaRPr lang="en-MY" sz="2400"/>
          </a:p>
        </p:txBody>
      </p:sp>
      <p:sp>
        <p:nvSpPr>
          <p:cNvPr id="15" name="Text 13"/>
          <p:cNvSpPr/>
          <p:nvPr/>
        </p:nvSpPr>
        <p:spPr>
          <a:xfrm>
            <a:off x="640080" y="2880360"/>
            <a:ext cx="5303520" cy="457200"/>
          </a:xfrm>
          <a:prstGeom prst="rect">
            <a:avLst/>
          </a:prstGeom>
          <a:noFill/>
          <a:ln/>
        </p:spPr>
        <p:txBody>
          <a:bodyPr wrap="square" lIns="0" tIns="0" rIns="0" bIns="0" rtlCol="0" anchor="ctr"/>
          <a:lstStyle/>
          <a:p>
            <a:pPr marL="0" indent="0">
              <a:buNone/>
            </a:pPr>
            <a:r>
              <a:rPr lang="en-US" sz="2400" dirty="0">
                <a:solidFill>
                  <a:srgbClr val="10B981"/>
                </a:solidFill>
                <a:latin typeface="Consolas" pitchFamily="34" charset="0"/>
                <a:ea typeface="Consolas" pitchFamily="34" charset="-122"/>
                <a:cs typeface="Consolas" pitchFamily="34" charset="-120"/>
              </a:rPr>
              <a:t>GET    /products/12</a:t>
            </a:r>
            <a:endParaRPr lang="en-US" sz="2400" dirty="0"/>
          </a:p>
        </p:txBody>
      </p:sp>
      <p:sp>
        <p:nvSpPr>
          <p:cNvPr id="16" name="Text 14"/>
          <p:cNvSpPr/>
          <p:nvPr/>
        </p:nvSpPr>
        <p:spPr>
          <a:xfrm>
            <a:off x="6400800" y="2880360"/>
            <a:ext cx="5303520" cy="457200"/>
          </a:xfrm>
          <a:prstGeom prst="rect">
            <a:avLst/>
          </a:prstGeom>
          <a:noFill/>
          <a:ln/>
        </p:spPr>
        <p:txBody>
          <a:bodyPr wrap="square" lIns="0" tIns="0" rIns="0" bIns="0" rtlCol="0" anchor="ctr"/>
          <a:lstStyle/>
          <a:p>
            <a:pPr marL="0" indent="0">
              <a:buNone/>
            </a:pPr>
            <a:r>
              <a:rPr lang="en-US" sz="2400" dirty="0">
                <a:solidFill>
                  <a:srgbClr val="DC2626"/>
                </a:solidFill>
                <a:latin typeface="Consolas" pitchFamily="34" charset="0"/>
                <a:ea typeface="Consolas" pitchFamily="34" charset="-122"/>
                <a:cs typeface="Consolas" pitchFamily="34" charset="-120"/>
              </a:rPr>
              <a:t>GET    /productById?id=12</a:t>
            </a:r>
            <a:endParaRPr lang="en-US" sz="2400" dirty="0"/>
          </a:p>
        </p:txBody>
      </p:sp>
      <p:sp>
        <p:nvSpPr>
          <p:cNvPr id="17" name="Shape 15"/>
          <p:cNvSpPr/>
          <p:nvPr/>
        </p:nvSpPr>
        <p:spPr>
          <a:xfrm>
            <a:off x="548640" y="3383280"/>
            <a:ext cx="5486400" cy="457200"/>
          </a:xfrm>
          <a:prstGeom prst="rect">
            <a:avLst/>
          </a:prstGeom>
          <a:solidFill>
            <a:srgbClr val="F8FAFC"/>
          </a:solidFill>
          <a:ln w="12700">
            <a:solidFill>
              <a:srgbClr val="E2E8F0"/>
            </a:solidFill>
            <a:prstDash val="solid"/>
          </a:ln>
        </p:spPr>
        <p:txBody>
          <a:bodyPr/>
          <a:lstStyle/>
          <a:p>
            <a:endParaRPr lang="en-MY" sz="2400"/>
          </a:p>
        </p:txBody>
      </p:sp>
      <p:sp>
        <p:nvSpPr>
          <p:cNvPr id="18" name="Shape 16"/>
          <p:cNvSpPr/>
          <p:nvPr/>
        </p:nvSpPr>
        <p:spPr>
          <a:xfrm>
            <a:off x="6309360" y="3383280"/>
            <a:ext cx="5486400" cy="457200"/>
          </a:xfrm>
          <a:prstGeom prst="rect">
            <a:avLst/>
          </a:prstGeom>
          <a:solidFill>
            <a:srgbClr val="F8FAFC"/>
          </a:solidFill>
          <a:ln w="12700">
            <a:solidFill>
              <a:srgbClr val="E2E8F0"/>
            </a:solidFill>
            <a:prstDash val="solid"/>
          </a:ln>
        </p:spPr>
        <p:txBody>
          <a:bodyPr/>
          <a:lstStyle/>
          <a:p>
            <a:endParaRPr lang="en-MY" sz="2400"/>
          </a:p>
        </p:txBody>
      </p:sp>
      <p:sp>
        <p:nvSpPr>
          <p:cNvPr id="19" name="Text 17"/>
          <p:cNvSpPr/>
          <p:nvPr/>
        </p:nvSpPr>
        <p:spPr>
          <a:xfrm>
            <a:off x="640080" y="3383280"/>
            <a:ext cx="5303520" cy="457200"/>
          </a:xfrm>
          <a:prstGeom prst="rect">
            <a:avLst/>
          </a:prstGeom>
          <a:noFill/>
          <a:ln/>
        </p:spPr>
        <p:txBody>
          <a:bodyPr wrap="square" lIns="0" tIns="0" rIns="0" bIns="0" rtlCol="0" anchor="ctr"/>
          <a:lstStyle/>
          <a:p>
            <a:pPr marL="0" indent="0">
              <a:buNone/>
            </a:pPr>
            <a:r>
              <a:rPr lang="en-US" sz="2400" dirty="0">
                <a:solidFill>
                  <a:srgbClr val="10B981"/>
                </a:solidFill>
                <a:latin typeface="Consolas" pitchFamily="34" charset="0"/>
                <a:ea typeface="Consolas" pitchFamily="34" charset="-122"/>
                <a:cs typeface="Consolas" pitchFamily="34" charset="-120"/>
              </a:rPr>
              <a:t>POST   /products</a:t>
            </a:r>
            <a:endParaRPr lang="en-US" sz="2400" dirty="0"/>
          </a:p>
        </p:txBody>
      </p:sp>
      <p:sp>
        <p:nvSpPr>
          <p:cNvPr id="20" name="Text 18"/>
          <p:cNvSpPr/>
          <p:nvPr/>
        </p:nvSpPr>
        <p:spPr>
          <a:xfrm>
            <a:off x="6400800" y="3383280"/>
            <a:ext cx="5303520" cy="457200"/>
          </a:xfrm>
          <a:prstGeom prst="rect">
            <a:avLst/>
          </a:prstGeom>
          <a:noFill/>
          <a:ln/>
        </p:spPr>
        <p:txBody>
          <a:bodyPr wrap="square" lIns="0" tIns="0" rIns="0" bIns="0" rtlCol="0" anchor="ctr"/>
          <a:lstStyle/>
          <a:p>
            <a:pPr marL="0" indent="0">
              <a:buNone/>
            </a:pPr>
            <a:r>
              <a:rPr lang="en-US" sz="2400" dirty="0">
                <a:solidFill>
                  <a:srgbClr val="DC2626"/>
                </a:solidFill>
                <a:latin typeface="Consolas" pitchFamily="34" charset="0"/>
                <a:ea typeface="Consolas" pitchFamily="34" charset="-122"/>
                <a:cs typeface="Consolas" pitchFamily="34" charset="-120"/>
              </a:rPr>
              <a:t>POST   /createProduct</a:t>
            </a:r>
            <a:endParaRPr lang="en-US" sz="2400" dirty="0"/>
          </a:p>
        </p:txBody>
      </p:sp>
      <p:sp>
        <p:nvSpPr>
          <p:cNvPr id="21" name="Shape 19"/>
          <p:cNvSpPr/>
          <p:nvPr/>
        </p:nvSpPr>
        <p:spPr>
          <a:xfrm>
            <a:off x="548640" y="3886200"/>
            <a:ext cx="5486400" cy="457200"/>
          </a:xfrm>
          <a:prstGeom prst="rect">
            <a:avLst/>
          </a:prstGeom>
          <a:solidFill>
            <a:srgbClr val="FFFFFF"/>
          </a:solidFill>
          <a:ln w="12700">
            <a:solidFill>
              <a:srgbClr val="E2E8F0"/>
            </a:solidFill>
            <a:prstDash val="solid"/>
          </a:ln>
        </p:spPr>
        <p:txBody>
          <a:bodyPr/>
          <a:lstStyle/>
          <a:p>
            <a:endParaRPr lang="en-MY" sz="2400"/>
          </a:p>
        </p:txBody>
      </p:sp>
      <p:sp>
        <p:nvSpPr>
          <p:cNvPr id="22" name="Shape 20"/>
          <p:cNvSpPr/>
          <p:nvPr/>
        </p:nvSpPr>
        <p:spPr>
          <a:xfrm>
            <a:off x="6309360" y="3886200"/>
            <a:ext cx="5486400" cy="457200"/>
          </a:xfrm>
          <a:prstGeom prst="rect">
            <a:avLst/>
          </a:prstGeom>
          <a:solidFill>
            <a:srgbClr val="FFFFFF"/>
          </a:solidFill>
          <a:ln w="12700">
            <a:solidFill>
              <a:srgbClr val="E2E8F0"/>
            </a:solidFill>
            <a:prstDash val="solid"/>
          </a:ln>
        </p:spPr>
        <p:txBody>
          <a:bodyPr/>
          <a:lstStyle/>
          <a:p>
            <a:endParaRPr lang="en-MY" sz="2400"/>
          </a:p>
        </p:txBody>
      </p:sp>
      <p:sp>
        <p:nvSpPr>
          <p:cNvPr id="23" name="Text 21"/>
          <p:cNvSpPr/>
          <p:nvPr/>
        </p:nvSpPr>
        <p:spPr>
          <a:xfrm>
            <a:off x="640080" y="3886200"/>
            <a:ext cx="5303520" cy="457200"/>
          </a:xfrm>
          <a:prstGeom prst="rect">
            <a:avLst/>
          </a:prstGeom>
          <a:noFill/>
          <a:ln/>
        </p:spPr>
        <p:txBody>
          <a:bodyPr wrap="square" lIns="0" tIns="0" rIns="0" bIns="0" rtlCol="0" anchor="ctr"/>
          <a:lstStyle/>
          <a:p>
            <a:pPr marL="0" indent="0">
              <a:buNone/>
            </a:pPr>
            <a:r>
              <a:rPr lang="en-US" sz="2400" dirty="0">
                <a:solidFill>
                  <a:srgbClr val="10B981"/>
                </a:solidFill>
                <a:latin typeface="Consolas" pitchFamily="34" charset="0"/>
                <a:ea typeface="Consolas" pitchFamily="34" charset="-122"/>
                <a:cs typeface="Consolas" pitchFamily="34" charset="-120"/>
              </a:rPr>
              <a:t>PUT    /products/12</a:t>
            </a:r>
            <a:endParaRPr lang="en-US" sz="2400" dirty="0"/>
          </a:p>
        </p:txBody>
      </p:sp>
      <p:sp>
        <p:nvSpPr>
          <p:cNvPr id="24" name="Text 22"/>
          <p:cNvSpPr/>
          <p:nvPr/>
        </p:nvSpPr>
        <p:spPr>
          <a:xfrm>
            <a:off x="6400800" y="3886200"/>
            <a:ext cx="5303520" cy="457200"/>
          </a:xfrm>
          <a:prstGeom prst="rect">
            <a:avLst/>
          </a:prstGeom>
          <a:noFill/>
          <a:ln/>
        </p:spPr>
        <p:txBody>
          <a:bodyPr wrap="square" lIns="0" tIns="0" rIns="0" bIns="0" rtlCol="0" anchor="ctr"/>
          <a:lstStyle/>
          <a:p>
            <a:pPr marL="0" indent="0">
              <a:buNone/>
            </a:pPr>
            <a:r>
              <a:rPr lang="en-US" sz="2400" dirty="0">
                <a:solidFill>
                  <a:srgbClr val="DC2626"/>
                </a:solidFill>
                <a:latin typeface="Consolas" pitchFamily="34" charset="0"/>
                <a:ea typeface="Consolas" pitchFamily="34" charset="-122"/>
                <a:cs typeface="Consolas" pitchFamily="34" charset="-120"/>
              </a:rPr>
              <a:t>POST   /updateProduct/12</a:t>
            </a:r>
            <a:endParaRPr lang="en-US" sz="2400" dirty="0"/>
          </a:p>
        </p:txBody>
      </p:sp>
      <p:sp>
        <p:nvSpPr>
          <p:cNvPr id="25" name="Shape 23"/>
          <p:cNvSpPr/>
          <p:nvPr/>
        </p:nvSpPr>
        <p:spPr>
          <a:xfrm>
            <a:off x="548640" y="4389120"/>
            <a:ext cx="5486400" cy="457200"/>
          </a:xfrm>
          <a:prstGeom prst="rect">
            <a:avLst/>
          </a:prstGeom>
          <a:solidFill>
            <a:srgbClr val="F8FAFC"/>
          </a:solidFill>
          <a:ln w="12700">
            <a:solidFill>
              <a:srgbClr val="E2E8F0"/>
            </a:solidFill>
            <a:prstDash val="solid"/>
          </a:ln>
        </p:spPr>
        <p:txBody>
          <a:bodyPr/>
          <a:lstStyle/>
          <a:p>
            <a:endParaRPr lang="en-MY" sz="2400"/>
          </a:p>
        </p:txBody>
      </p:sp>
      <p:sp>
        <p:nvSpPr>
          <p:cNvPr id="26" name="Shape 24"/>
          <p:cNvSpPr/>
          <p:nvPr/>
        </p:nvSpPr>
        <p:spPr>
          <a:xfrm>
            <a:off x="6309360" y="4389120"/>
            <a:ext cx="5486400" cy="457200"/>
          </a:xfrm>
          <a:prstGeom prst="rect">
            <a:avLst/>
          </a:prstGeom>
          <a:solidFill>
            <a:srgbClr val="F8FAFC"/>
          </a:solidFill>
          <a:ln w="12700">
            <a:solidFill>
              <a:srgbClr val="E2E8F0"/>
            </a:solidFill>
            <a:prstDash val="solid"/>
          </a:ln>
        </p:spPr>
        <p:txBody>
          <a:bodyPr/>
          <a:lstStyle/>
          <a:p>
            <a:endParaRPr lang="en-MY" sz="2400"/>
          </a:p>
        </p:txBody>
      </p:sp>
      <p:sp>
        <p:nvSpPr>
          <p:cNvPr id="27" name="Text 25"/>
          <p:cNvSpPr/>
          <p:nvPr/>
        </p:nvSpPr>
        <p:spPr>
          <a:xfrm>
            <a:off x="640080" y="4389120"/>
            <a:ext cx="5303520" cy="457200"/>
          </a:xfrm>
          <a:prstGeom prst="rect">
            <a:avLst/>
          </a:prstGeom>
          <a:noFill/>
          <a:ln/>
        </p:spPr>
        <p:txBody>
          <a:bodyPr wrap="square" lIns="0" tIns="0" rIns="0" bIns="0" rtlCol="0" anchor="ctr"/>
          <a:lstStyle/>
          <a:p>
            <a:pPr marL="0" indent="0">
              <a:buNone/>
            </a:pPr>
            <a:r>
              <a:rPr lang="en-US" sz="2400" dirty="0">
                <a:solidFill>
                  <a:srgbClr val="10B981"/>
                </a:solidFill>
                <a:latin typeface="Consolas" pitchFamily="34" charset="0"/>
                <a:ea typeface="Consolas" pitchFamily="34" charset="-122"/>
                <a:cs typeface="Consolas" pitchFamily="34" charset="-120"/>
              </a:rPr>
              <a:t>DELETE /products/12</a:t>
            </a:r>
            <a:endParaRPr lang="en-US" sz="2400" dirty="0"/>
          </a:p>
        </p:txBody>
      </p:sp>
      <p:sp>
        <p:nvSpPr>
          <p:cNvPr id="28" name="Text 26"/>
          <p:cNvSpPr/>
          <p:nvPr/>
        </p:nvSpPr>
        <p:spPr>
          <a:xfrm>
            <a:off x="6400800" y="4389120"/>
            <a:ext cx="5303520" cy="457200"/>
          </a:xfrm>
          <a:prstGeom prst="rect">
            <a:avLst/>
          </a:prstGeom>
          <a:noFill/>
          <a:ln/>
        </p:spPr>
        <p:txBody>
          <a:bodyPr wrap="square" lIns="0" tIns="0" rIns="0" bIns="0" rtlCol="0" anchor="ctr"/>
          <a:lstStyle/>
          <a:p>
            <a:pPr marL="0" indent="0">
              <a:buNone/>
            </a:pPr>
            <a:r>
              <a:rPr lang="en-US" sz="2400" dirty="0">
                <a:solidFill>
                  <a:srgbClr val="DC2626"/>
                </a:solidFill>
                <a:latin typeface="Consolas" pitchFamily="34" charset="0"/>
                <a:ea typeface="Consolas" pitchFamily="34" charset="-122"/>
                <a:cs typeface="Consolas" pitchFamily="34" charset="-120"/>
              </a:rPr>
              <a:t>GET    /deleteProduct/12</a:t>
            </a:r>
            <a:endParaRPr lang="en-US" sz="2400" dirty="0"/>
          </a:p>
        </p:txBody>
      </p:sp>
      <p:sp>
        <p:nvSpPr>
          <p:cNvPr id="29" name="Shape 27"/>
          <p:cNvSpPr/>
          <p:nvPr/>
        </p:nvSpPr>
        <p:spPr>
          <a:xfrm>
            <a:off x="548640" y="4892040"/>
            <a:ext cx="5486400" cy="457200"/>
          </a:xfrm>
          <a:prstGeom prst="rect">
            <a:avLst/>
          </a:prstGeom>
          <a:solidFill>
            <a:srgbClr val="FFFFFF"/>
          </a:solidFill>
          <a:ln w="12700">
            <a:solidFill>
              <a:srgbClr val="E2E8F0"/>
            </a:solidFill>
            <a:prstDash val="solid"/>
          </a:ln>
        </p:spPr>
        <p:txBody>
          <a:bodyPr/>
          <a:lstStyle/>
          <a:p>
            <a:endParaRPr lang="en-MY" sz="2400"/>
          </a:p>
        </p:txBody>
      </p:sp>
      <p:sp>
        <p:nvSpPr>
          <p:cNvPr id="30" name="Shape 28"/>
          <p:cNvSpPr/>
          <p:nvPr/>
        </p:nvSpPr>
        <p:spPr>
          <a:xfrm>
            <a:off x="6309360" y="4892040"/>
            <a:ext cx="5486400" cy="457200"/>
          </a:xfrm>
          <a:prstGeom prst="rect">
            <a:avLst/>
          </a:prstGeom>
          <a:solidFill>
            <a:srgbClr val="FFFFFF"/>
          </a:solidFill>
          <a:ln w="12700">
            <a:solidFill>
              <a:srgbClr val="E2E8F0"/>
            </a:solidFill>
            <a:prstDash val="solid"/>
          </a:ln>
        </p:spPr>
        <p:txBody>
          <a:bodyPr/>
          <a:lstStyle/>
          <a:p>
            <a:endParaRPr lang="en-MY" sz="2400"/>
          </a:p>
        </p:txBody>
      </p:sp>
      <p:sp>
        <p:nvSpPr>
          <p:cNvPr id="31" name="Text 29"/>
          <p:cNvSpPr/>
          <p:nvPr/>
        </p:nvSpPr>
        <p:spPr>
          <a:xfrm>
            <a:off x="640080" y="4892040"/>
            <a:ext cx="5303520" cy="457200"/>
          </a:xfrm>
          <a:prstGeom prst="rect">
            <a:avLst/>
          </a:prstGeom>
          <a:noFill/>
          <a:ln/>
        </p:spPr>
        <p:txBody>
          <a:bodyPr wrap="square" lIns="0" tIns="0" rIns="0" bIns="0" rtlCol="0" anchor="ctr"/>
          <a:lstStyle/>
          <a:p>
            <a:pPr marL="0" indent="0">
              <a:buNone/>
            </a:pPr>
            <a:r>
              <a:rPr lang="en-US" sz="2400" dirty="0">
                <a:solidFill>
                  <a:srgbClr val="10B981"/>
                </a:solidFill>
                <a:latin typeface="Consolas" pitchFamily="34" charset="0"/>
                <a:ea typeface="Consolas" pitchFamily="34" charset="-122"/>
                <a:cs typeface="Consolas" pitchFamily="34" charset="-120"/>
              </a:rPr>
              <a:t>GET    /vendors/3/menu-items</a:t>
            </a:r>
            <a:endParaRPr lang="en-US" sz="2400" dirty="0"/>
          </a:p>
        </p:txBody>
      </p:sp>
      <p:sp>
        <p:nvSpPr>
          <p:cNvPr id="32" name="Text 30"/>
          <p:cNvSpPr/>
          <p:nvPr/>
        </p:nvSpPr>
        <p:spPr>
          <a:xfrm>
            <a:off x="6400800" y="4892040"/>
            <a:ext cx="5303520" cy="457200"/>
          </a:xfrm>
          <a:prstGeom prst="rect">
            <a:avLst/>
          </a:prstGeom>
          <a:noFill/>
          <a:ln/>
        </p:spPr>
        <p:txBody>
          <a:bodyPr wrap="square" lIns="0" tIns="0" rIns="0" bIns="0" rtlCol="0" anchor="ctr"/>
          <a:lstStyle/>
          <a:p>
            <a:pPr marL="0" indent="0">
              <a:buNone/>
            </a:pPr>
            <a:r>
              <a:rPr lang="en-US" sz="2400" dirty="0">
                <a:solidFill>
                  <a:srgbClr val="DC2626"/>
                </a:solidFill>
                <a:latin typeface="Consolas" pitchFamily="34" charset="0"/>
                <a:ea typeface="Consolas" pitchFamily="34" charset="-122"/>
                <a:cs typeface="Consolas" pitchFamily="34" charset="-120"/>
              </a:rPr>
              <a:t>GET    /listMenuFor?vendor=3</a:t>
            </a:r>
            <a:endParaRPr lang="en-US" sz="2400" dirty="0"/>
          </a:p>
        </p:txBody>
      </p:sp>
      <p:sp>
        <p:nvSpPr>
          <p:cNvPr id="33" name="Text 31"/>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34" name="Text 32"/>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OVER THE WIRE</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Anatomy of an HTTP Request &amp; Response</a:t>
            </a:r>
            <a:endParaRPr lang="en-US" sz="3200" dirty="0"/>
          </a:p>
        </p:txBody>
      </p:sp>
      <p:sp>
        <p:nvSpPr>
          <p:cNvPr id="4" name="Text 2"/>
          <p:cNvSpPr/>
          <p:nvPr/>
        </p:nvSpPr>
        <p:spPr>
          <a:xfrm>
            <a:off x="548640" y="1280160"/>
            <a:ext cx="5486400" cy="36576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REQUEST  →</a:t>
            </a:r>
            <a:endParaRPr lang="en-US" sz="2400" dirty="0"/>
          </a:p>
        </p:txBody>
      </p:sp>
      <p:sp>
        <p:nvSpPr>
          <p:cNvPr id="5" name="Shape 3"/>
          <p:cNvSpPr/>
          <p:nvPr/>
        </p:nvSpPr>
        <p:spPr>
          <a:xfrm>
            <a:off x="548640" y="1691640"/>
            <a:ext cx="5486400" cy="3840480"/>
          </a:xfrm>
          <a:prstGeom prst="rect">
            <a:avLst/>
          </a:prstGeom>
          <a:solidFill>
            <a:srgbClr val="1E293B"/>
          </a:solidFill>
          <a:ln w="12700">
            <a:solidFill>
              <a:srgbClr val="1E293B"/>
            </a:solidFill>
            <a:prstDash val="solid"/>
          </a:ln>
        </p:spPr>
        <p:txBody>
          <a:bodyPr/>
          <a:lstStyle/>
          <a:p>
            <a:endParaRPr lang="en-MY" sz="2400"/>
          </a:p>
        </p:txBody>
      </p:sp>
      <p:sp>
        <p:nvSpPr>
          <p:cNvPr id="6" name="Text 4"/>
          <p:cNvSpPr/>
          <p:nvPr/>
        </p:nvSpPr>
        <p:spPr>
          <a:xfrm>
            <a:off x="713232" y="1801368"/>
            <a:ext cx="5157216" cy="3621024"/>
          </a:xfrm>
          <a:prstGeom prst="rect">
            <a:avLst/>
          </a:prstGeom>
          <a:noFill/>
          <a:ln/>
        </p:spPr>
        <p:txBody>
          <a:bodyPr wrap="square" lIns="0" tIns="0" rIns="0" bIns="0" rtlCol="0" anchor="t"/>
          <a:lstStyle/>
          <a:p>
            <a:pPr marL="0" indent="0" algn="l">
              <a:buNone/>
            </a:pPr>
            <a:r>
              <a:rPr lang="en-US" sz="2400" dirty="0">
                <a:solidFill>
                  <a:srgbClr val="E2E8F0"/>
                </a:solidFill>
                <a:latin typeface="Consolas" pitchFamily="34" charset="0"/>
                <a:ea typeface="Consolas" pitchFamily="34" charset="-122"/>
                <a:cs typeface="Consolas" pitchFamily="34" charset="-120"/>
              </a:rPr>
              <a:t>POST /api/products HTTP/1.1</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Host: localhost:8000</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Authorization: Bearer eyJhbGc...</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Content-Type: application/json</a:t>
            </a:r>
            <a:endParaRPr lang="en-US" sz="2400" dirty="0"/>
          </a:p>
          <a:p>
            <a:pPr marL="0" indent="0" algn="l">
              <a:buNone/>
            </a:pP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"name":  "Notebook",</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"price": 12.50</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a:t>
            </a:r>
            <a:endParaRPr lang="en-US" sz="2400" dirty="0"/>
          </a:p>
        </p:txBody>
      </p:sp>
      <p:sp>
        <p:nvSpPr>
          <p:cNvPr id="7" name="Text 5"/>
          <p:cNvSpPr/>
          <p:nvPr/>
        </p:nvSpPr>
        <p:spPr>
          <a:xfrm>
            <a:off x="6309360" y="1280160"/>
            <a:ext cx="5486400" cy="365760"/>
          </a:xfrm>
          <a:prstGeom prst="rect">
            <a:avLst/>
          </a:prstGeom>
          <a:noFill/>
          <a:ln/>
        </p:spPr>
        <p:txBody>
          <a:bodyPr wrap="square" lIns="0" tIns="0" rIns="0" bIns="0" rtlCol="0" anchor="ctr"/>
          <a:lstStyle/>
          <a:p>
            <a:pPr marL="0" indent="0" algn="r">
              <a:buNone/>
            </a:pPr>
            <a:r>
              <a:rPr lang="en-US" sz="2400" b="1" dirty="0">
                <a:solidFill>
                  <a:srgbClr val="1C7293"/>
                </a:solidFill>
                <a:latin typeface="Calibri" pitchFamily="34" charset="0"/>
                <a:ea typeface="Calibri" pitchFamily="34" charset="-122"/>
                <a:cs typeface="Calibri" pitchFamily="34" charset="-120"/>
              </a:rPr>
              <a:t>←  RESPONSE</a:t>
            </a:r>
            <a:endParaRPr lang="en-US" sz="2400" dirty="0"/>
          </a:p>
        </p:txBody>
      </p:sp>
      <p:sp>
        <p:nvSpPr>
          <p:cNvPr id="8" name="Shape 6"/>
          <p:cNvSpPr/>
          <p:nvPr/>
        </p:nvSpPr>
        <p:spPr>
          <a:xfrm>
            <a:off x="6309360" y="1691640"/>
            <a:ext cx="5486400" cy="3840480"/>
          </a:xfrm>
          <a:prstGeom prst="rect">
            <a:avLst/>
          </a:prstGeom>
          <a:solidFill>
            <a:srgbClr val="1E293B"/>
          </a:solidFill>
          <a:ln w="12700">
            <a:solidFill>
              <a:srgbClr val="1E293B"/>
            </a:solidFill>
            <a:prstDash val="solid"/>
          </a:ln>
        </p:spPr>
        <p:txBody>
          <a:bodyPr/>
          <a:lstStyle/>
          <a:p>
            <a:endParaRPr lang="en-MY" sz="2400"/>
          </a:p>
        </p:txBody>
      </p:sp>
      <p:sp>
        <p:nvSpPr>
          <p:cNvPr id="9" name="Text 7"/>
          <p:cNvSpPr/>
          <p:nvPr/>
        </p:nvSpPr>
        <p:spPr>
          <a:xfrm>
            <a:off x="6473952" y="1801368"/>
            <a:ext cx="5157216" cy="3621024"/>
          </a:xfrm>
          <a:prstGeom prst="rect">
            <a:avLst/>
          </a:prstGeom>
          <a:noFill/>
          <a:ln/>
        </p:spPr>
        <p:txBody>
          <a:bodyPr wrap="square" lIns="0" tIns="0" rIns="0" bIns="0" rtlCol="0" anchor="t"/>
          <a:lstStyle/>
          <a:p>
            <a:pPr marL="0" indent="0" algn="l">
              <a:buNone/>
            </a:pPr>
            <a:r>
              <a:rPr lang="en-US" sz="2400" dirty="0">
                <a:solidFill>
                  <a:srgbClr val="E2E8F0"/>
                </a:solidFill>
                <a:latin typeface="Consolas" pitchFamily="34" charset="0"/>
                <a:ea typeface="Consolas" pitchFamily="34" charset="-122"/>
                <a:cs typeface="Consolas" pitchFamily="34" charset="-120"/>
              </a:rPr>
              <a:t>HTTP/1.1 201 Created</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Content-Type: application/json</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Location: /api/products/15</a:t>
            </a:r>
            <a:endParaRPr lang="en-US" sz="2400" dirty="0"/>
          </a:p>
          <a:p>
            <a:pPr marL="0" indent="0" algn="l">
              <a:buNone/>
            </a:pP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"id":      15,</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"name":    "Notebook",</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"price":   12.50,</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"message": "Product created"</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a:t>
            </a:r>
            <a:endParaRPr lang="en-US" sz="2400" dirty="0"/>
          </a:p>
        </p:txBody>
      </p:sp>
      <p:sp>
        <p:nvSpPr>
          <p:cNvPr id="10" name="Text 8"/>
          <p:cNvSpPr/>
          <p:nvPr/>
        </p:nvSpPr>
        <p:spPr>
          <a:xfrm>
            <a:off x="548640" y="5715000"/>
            <a:ext cx="11247120" cy="365760"/>
          </a:xfrm>
          <a:prstGeom prst="rect">
            <a:avLst/>
          </a:prstGeom>
          <a:noFill/>
          <a:ln/>
        </p:spPr>
        <p:txBody>
          <a:bodyPr wrap="square" lIns="0" tIns="0" rIns="0" bIns="0" rtlCol="0" anchor="ctr"/>
          <a:lstStyle/>
          <a:p>
            <a:pPr marL="0" indent="0" algn="ctr">
              <a:buNone/>
            </a:pPr>
            <a:r>
              <a:rPr lang="en-US" sz="2400" b="1" dirty="0">
                <a:solidFill>
                  <a:srgbClr val="F59E0B"/>
                </a:solidFill>
                <a:latin typeface="Calibri" pitchFamily="34" charset="0"/>
                <a:ea typeface="Calibri" pitchFamily="34" charset="-122"/>
                <a:cs typeface="Calibri" pitchFamily="34" charset="-120"/>
              </a:rPr>
              <a:t>Three things to inspect on every call: STATUS CODE, HEADERS, and BODY.</a:t>
            </a:r>
            <a:endParaRPr lang="en-US" sz="2400" dirty="0"/>
          </a:p>
        </p:txBody>
      </p:sp>
      <p:sp>
        <p:nvSpPr>
          <p:cNvPr id="11" name="Text 9"/>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12" name="Text 10"/>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PAYLOAD FORMAT</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JSON — JavaScript Object Notation</a:t>
            </a:r>
            <a:endParaRPr lang="en-US" sz="3200" dirty="0"/>
          </a:p>
        </p:txBody>
      </p:sp>
      <p:sp>
        <p:nvSpPr>
          <p:cNvPr id="4" name="Shape 2"/>
          <p:cNvSpPr/>
          <p:nvPr/>
        </p:nvSpPr>
        <p:spPr>
          <a:xfrm>
            <a:off x="548640" y="1280160"/>
            <a:ext cx="5486400" cy="47548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5" name="Text 3"/>
          <p:cNvSpPr/>
          <p:nvPr/>
        </p:nvSpPr>
        <p:spPr>
          <a:xfrm>
            <a:off x="777240" y="1463040"/>
            <a:ext cx="5029200" cy="45720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Why JSON?</a:t>
            </a:r>
            <a:endParaRPr lang="en-US" sz="2400" dirty="0"/>
          </a:p>
        </p:txBody>
      </p:sp>
      <p:sp>
        <p:nvSpPr>
          <p:cNvPr id="6" name="Text 4"/>
          <p:cNvSpPr/>
          <p:nvPr/>
        </p:nvSpPr>
        <p:spPr>
          <a:xfrm>
            <a:off x="777240" y="2011680"/>
            <a:ext cx="5120640" cy="3840480"/>
          </a:xfrm>
          <a:prstGeom prst="rect">
            <a:avLst/>
          </a:prstGeom>
          <a:noFill/>
          <a:ln/>
        </p:spPr>
        <p:txBody>
          <a:bodyPr wrap="square" lIns="0" tIns="0" rIns="0" bIns="0" rtlCol="0" anchor="ctr"/>
          <a:lstStyle/>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Lightweight — text only, no schema overhead.</a:t>
            </a:r>
            <a:endParaRPr lang="en-US" sz="2400" dirty="0"/>
          </a:p>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Language independent — parsed by every language.</a:t>
            </a:r>
            <a:endParaRPr lang="en-US" sz="2400" dirty="0"/>
          </a:p>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Maps cleanly to JS objects, PHP assoc arrays, and Vue reactive state.</a:t>
            </a:r>
            <a:endParaRPr lang="en-US" sz="2400" dirty="0"/>
          </a:p>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Native browser support via JSON.parse / JSON.stringify.</a:t>
            </a:r>
            <a:endParaRPr lang="en-US" sz="2400" dirty="0"/>
          </a:p>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Standard Content-Type: application/json.</a:t>
            </a:r>
            <a:endParaRPr lang="en-US" sz="2400" dirty="0"/>
          </a:p>
        </p:txBody>
      </p:sp>
      <p:sp>
        <p:nvSpPr>
          <p:cNvPr id="7" name="Shape 5"/>
          <p:cNvSpPr/>
          <p:nvPr/>
        </p:nvSpPr>
        <p:spPr>
          <a:xfrm>
            <a:off x="6263640" y="1280160"/>
            <a:ext cx="5532120" cy="4754880"/>
          </a:xfrm>
          <a:prstGeom prst="rect">
            <a:avLst/>
          </a:prstGeom>
          <a:solidFill>
            <a:srgbClr val="1E293B"/>
          </a:solidFill>
          <a:ln w="12700">
            <a:solidFill>
              <a:srgbClr val="1E293B"/>
            </a:solidFill>
            <a:prstDash val="solid"/>
          </a:ln>
        </p:spPr>
        <p:txBody>
          <a:bodyPr/>
          <a:lstStyle/>
          <a:p>
            <a:endParaRPr lang="en-MY" sz="2400"/>
          </a:p>
        </p:txBody>
      </p:sp>
      <p:sp>
        <p:nvSpPr>
          <p:cNvPr id="8" name="Text 6"/>
          <p:cNvSpPr/>
          <p:nvPr/>
        </p:nvSpPr>
        <p:spPr>
          <a:xfrm>
            <a:off x="6428232" y="1389888"/>
            <a:ext cx="5202936" cy="4535424"/>
          </a:xfrm>
          <a:prstGeom prst="rect">
            <a:avLst/>
          </a:prstGeom>
          <a:noFill/>
          <a:ln/>
        </p:spPr>
        <p:txBody>
          <a:bodyPr wrap="square" lIns="0" tIns="0" rIns="0" bIns="0" rtlCol="0" anchor="t"/>
          <a:lstStyle/>
          <a:p>
            <a:pPr marL="0" indent="0" algn="l">
              <a:buNone/>
            </a:pPr>
            <a:r>
              <a:rPr lang="en-US" sz="2400" dirty="0">
                <a:solidFill>
                  <a:srgbClr val="E2E8F0"/>
                </a:solidFill>
                <a:latin typeface="Consolas" pitchFamily="34" charset="0"/>
                <a:ea typeface="Consolas" pitchFamily="34" charset="-122"/>
                <a:cs typeface="Consolas" pitchFamily="34" charset="-120"/>
              </a:rPr>
              <a:t>{</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"id":       12,</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"name":     "Hashim",</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"isActive": true,</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"roles":    ["admin", "editor"],</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"address":  {</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"city":  "Skudai",</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"zip":   "81310"</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  }</a:t>
            </a:r>
            <a:endParaRPr lang="en-US" sz="2400" dirty="0"/>
          </a:p>
          <a:p>
            <a:pPr marL="0" indent="0" algn="l">
              <a:buNone/>
            </a:pPr>
            <a:r>
              <a:rPr lang="en-US" sz="2400" dirty="0">
                <a:solidFill>
                  <a:srgbClr val="E2E8F0"/>
                </a:solidFill>
                <a:latin typeface="Consolas" pitchFamily="34" charset="0"/>
                <a:ea typeface="Consolas" pitchFamily="34" charset="-122"/>
                <a:cs typeface="Consolas" pitchFamily="34" charset="-120"/>
              </a:rPr>
              <a:t>}</a:t>
            </a:r>
            <a:endParaRPr lang="en-US" sz="2400" dirty="0"/>
          </a:p>
        </p:txBody>
      </p:sp>
      <p:sp>
        <p:nvSpPr>
          <p:cNvPr id="9" name="Text 7"/>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10" name="Text 8"/>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FRAMEWORK INTRO</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What is the PHP Slim Framework?</a:t>
            </a:r>
            <a:endParaRPr lang="en-US" sz="3200" dirty="0"/>
          </a:p>
        </p:txBody>
      </p:sp>
      <p:sp>
        <p:nvSpPr>
          <p:cNvPr id="4" name="Shape 2"/>
          <p:cNvSpPr/>
          <p:nvPr/>
        </p:nvSpPr>
        <p:spPr>
          <a:xfrm>
            <a:off x="548640" y="1280160"/>
            <a:ext cx="11247120" cy="12801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5" name="Text 3"/>
          <p:cNvSpPr/>
          <p:nvPr/>
        </p:nvSpPr>
        <p:spPr>
          <a:xfrm>
            <a:off x="777240" y="1417320"/>
            <a:ext cx="10789920" cy="914400"/>
          </a:xfrm>
          <a:prstGeom prst="rect">
            <a:avLst/>
          </a:prstGeom>
          <a:noFill/>
          <a:ln/>
        </p:spPr>
        <p:txBody>
          <a:bodyPr wrap="square" lIns="0" tIns="0" rIns="0" bIns="0" rtlCol="0" anchor="ctr"/>
          <a:lstStyle/>
          <a:p>
            <a:pPr marL="0" indent="0">
              <a:buNone/>
            </a:pPr>
            <a:r>
              <a:rPr lang="en-US" sz="2400" i="1" dirty="0">
                <a:solidFill>
                  <a:srgbClr val="1E293B"/>
                </a:solidFill>
                <a:latin typeface="Calibri" pitchFamily="34" charset="0"/>
                <a:ea typeface="Calibri" pitchFamily="34" charset="-122"/>
                <a:cs typeface="Calibri" pitchFamily="34" charset="-120"/>
              </a:rPr>
              <a:t>"Slim is a PHP micro framework that helps you quickly write simple yet powerful web applications and APIs."</a:t>
            </a:r>
            <a:endParaRPr lang="en-US" sz="2400" dirty="0"/>
          </a:p>
        </p:txBody>
      </p:sp>
      <p:sp>
        <p:nvSpPr>
          <p:cNvPr id="6" name="Text 4"/>
          <p:cNvSpPr/>
          <p:nvPr/>
        </p:nvSpPr>
        <p:spPr>
          <a:xfrm>
            <a:off x="777240" y="2194560"/>
            <a:ext cx="10789920" cy="32004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 slimframework.com</a:t>
            </a:r>
            <a:endParaRPr lang="en-US" sz="2400" dirty="0"/>
          </a:p>
        </p:txBody>
      </p:sp>
      <p:sp>
        <p:nvSpPr>
          <p:cNvPr id="7" name="Shape 5"/>
          <p:cNvSpPr/>
          <p:nvPr/>
        </p:nvSpPr>
        <p:spPr>
          <a:xfrm>
            <a:off x="548640" y="2926080"/>
            <a:ext cx="2697480" cy="31089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8" name="Shape 6"/>
          <p:cNvSpPr/>
          <p:nvPr/>
        </p:nvSpPr>
        <p:spPr>
          <a:xfrm>
            <a:off x="731520" y="3108960"/>
            <a:ext cx="548640" cy="548640"/>
          </a:xfrm>
          <a:prstGeom prst="ellipse">
            <a:avLst/>
          </a:prstGeom>
          <a:solidFill>
            <a:srgbClr val="065A82"/>
          </a:solidFill>
          <a:ln w="12700">
            <a:solidFill>
              <a:srgbClr val="065A82"/>
            </a:solidFill>
            <a:prstDash val="solid"/>
          </a:ln>
        </p:spPr>
        <p:txBody>
          <a:bodyPr/>
          <a:lstStyle/>
          <a:p>
            <a:endParaRPr lang="en-MY" sz="2400"/>
          </a:p>
        </p:txBody>
      </p:sp>
      <p:sp>
        <p:nvSpPr>
          <p:cNvPr id="9" name="Text 7"/>
          <p:cNvSpPr/>
          <p:nvPr/>
        </p:nvSpPr>
        <p:spPr>
          <a:xfrm>
            <a:off x="731520" y="310896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0" name="Text 8"/>
          <p:cNvSpPr/>
          <p:nvPr/>
        </p:nvSpPr>
        <p:spPr>
          <a:xfrm>
            <a:off x="731520" y="3749040"/>
            <a:ext cx="237744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Micro</a:t>
            </a:r>
            <a:endParaRPr lang="en-US" sz="2400" dirty="0"/>
          </a:p>
        </p:txBody>
      </p:sp>
      <p:sp>
        <p:nvSpPr>
          <p:cNvPr id="11" name="Text 9"/>
          <p:cNvSpPr/>
          <p:nvPr/>
        </p:nvSpPr>
        <p:spPr>
          <a:xfrm>
            <a:off x="731520" y="4251960"/>
            <a:ext cx="2377440" cy="169164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Tiny core, ~few KB. Bring only what you need.</a:t>
            </a:r>
            <a:endParaRPr lang="en-US" sz="2400" dirty="0"/>
          </a:p>
        </p:txBody>
      </p:sp>
      <p:sp>
        <p:nvSpPr>
          <p:cNvPr id="12" name="Shape 10"/>
          <p:cNvSpPr/>
          <p:nvPr/>
        </p:nvSpPr>
        <p:spPr>
          <a:xfrm>
            <a:off x="3383280" y="2926080"/>
            <a:ext cx="2697480" cy="31089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3" name="Shape 11"/>
          <p:cNvSpPr/>
          <p:nvPr/>
        </p:nvSpPr>
        <p:spPr>
          <a:xfrm>
            <a:off x="3566160" y="3108960"/>
            <a:ext cx="548640" cy="548640"/>
          </a:xfrm>
          <a:prstGeom prst="ellipse">
            <a:avLst/>
          </a:prstGeom>
          <a:solidFill>
            <a:srgbClr val="065A82"/>
          </a:solidFill>
          <a:ln w="12700">
            <a:solidFill>
              <a:srgbClr val="065A82"/>
            </a:solidFill>
            <a:prstDash val="solid"/>
          </a:ln>
        </p:spPr>
        <p:txBody>
          <a:bodyPr/>
          <a:lstStyle/>
          <a:p>
            <a:endParaRPr lang="en-MY" sz="2400"/>
          </a:p>
        </p:txBody>
      </p:sp>
      <p:sp>
        <p:nvSpPr>
          <p:cNvPr id="14" name="Text 12"/>
          <p:cNvSpPr/>
          <p:nvPr/>
        </p:nvSpPr>
        <p:spPr>
          <a:xfrm>
            <a:off x="3566160" y="310896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5" name="Text 13"/>
          <p:cNvSpPr/>
          <p:nvPr/>
        </p:nvSpPr>
        <p:spPr>
          <a:xfrm>
            <a:off x="3566160" y="3749040"/>
            <a:ext cx="237744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PSR-7 / PSR-15</a:t>
            </a:r>
            <a:endParaRPr lang="en-US" sz="2400" dirty="0"/>
          </a:p>
        </p:txBody>
      </p:sp>
      <p:sp>
        <p:nvSpPr>
          <p:cNvPr id="16" name="Text 14"/>
          <p:cNvSpPr/>
          <p:nvPr/>
        </p:nvSpPr>
        <p:spPr>
          <a:xfrm>
            <a:off x="3566160" y="4251960"/>
            <a:ext cx="2377440" cy="169164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Standard request/response and middleware contracts.</a:t>
            </a:r>
            <a:endParaRPr lang="en-US" sz="2400" dirty="0"/>
          </a:p>
        </p:txBody>
      </p:sp>
      <p:sp>
        <p:nvSpPr>
          <p:cNvPr id="17" name="Shape 15"/>
          <p:cNvSpPr/>
          <p:nvPr/>
        </p:nvSpPr>
        <p:spPr>
          <a:xfrm>
            <a:off x="6217920" y="2926080"/>
            <a:ext cx="2697480" cy="31089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8" name="Shape 16"/>
          <p:cNvSpPr/>
          <p:nvPr/>
        </p:nvSpPr>
        <p:spPr>
          <a:xfrm>
            <a:off x="6400800" y="3108960"/>
            <a:ext cx="548640" cy="548640"/>
          </a:xfrm>
          <a:prstGeom prst="ellipse">
            <a:avLst/>
          </a:prstGeom>
          <a:solidFill>
            <a:srgbClr val="065A82"/>
          </a:solidFill>
          <a:ln w="12700">
            <a:solidFill>
              <a:srgbClr val="065A82"/>
            </a:solidFill>
            <a:prstDash val="solid"/>
          </a:ln>
        </p:spPr>
        <p:txBody>
          <a:bodyPr/>
          <a:lstStyle/>
          <a:p>
            <a:endParaRPr lang="en-MY" sz="2400"/>
          </a:p>
        </p:txBody>
      </p:sp>
      <p:sp>
        <p:nvSpPr>
          <p:cNvPr id="19" name="Text 17"/>
          <p:cNvSpPr/>
          <p:nvPr/>
        </p:nvSpPr>
        <p:spPr>
          <a:xfrm>
            <a:off x="6400800" y="310896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0" name="Text 18"/>
          <p:cNvSpPr/>
          <p:nvPr/>
        </p:nvSpPr>
        <p:spPr>
          <a:xfrm>
            <a:off x="6400800" y="3749040"/>
            <a:ext cx="237744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Routing-first</a:t>
            </a:r>
            <a:endParaRPr lang="en-US" sz="2400" dirty="0"/>
          </a:p>
        </p:txBody>
      </p:sp>
      <p:sp>
        <p:nvSpPr>
          <p:cNvPr id="21" name="Text 19"/>
          <p:cNvSpPr/>
          <p:nvPr/>
        </p:nvSpPr>
        <p:spPr>
          <a:xfrm>
            <a:off x="6400800" y="4251960"/>
            <a:ext cx="2377440" cy="169164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Powerful route patterns with parameters and groups.</a:t>
            </a:r>
            <a:endParaRPr lang="en-US" sz="2400" dirty="0"/>
          </a:p>
        </p:txBody>
      </p:sp>
      <p:sp>
        <p:nvSpPr>
          <p:cNvPr id="22" name="Shape 20"/>
          <p:cNvSpPr/>
          <p:nvPr/>
        </p:nvSpPr>
        <p:spPr>
          <a:xfrm>
            <a:off x="9052560" y="2926080"/>
            <a:ext cx="2697480" cy="31089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3" name="Shape 21"/>
          <p:cNvSpPr/>
          <p:nvPr/>
        </p:nvSpPr>
        <p:spPr>
          <a:xfrm>
            <a:off x="9235440" y="3108960"/>
            <a:ext cx="548640" cy="548640"/>
          </a:xfrm>
          <a:prstGeom prst="ellipse">
            <a:avLst/>
          </a:prstGeom>
          <a:solidFill>
            <a:srgbClr val="065A82"/>
          </a:solidFill>
          <a:ln w="12700">
            <a:solidFill>
              <a:srgbClr val="065A82"/>
            </a:solidFill>
            <a:prstDash val="solid"/>
          </a:ln>
        </p:spPr>
        <p:txBody>
          <a:bodyPr/>
          <a:lstStyle/>
          <a:p>
            <a:endParaRPr lang="en-MY" sz="2400"/>
          </a:p>
        </p:txBody>
      </p:sp>
      <p:sp>
        <p:nvSpPr>
          <p:cNvPr id="24" name="Text 22"/>
          <p:cNvSpPr/>
          <p:nvPr/>
        </p:nvSpPr>
        <p:spPr>
          <a:xfrm>
            <a:off x="9235440" y="310896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5" name="Text 23"/>
          <p:cNvSpPr/>
          <p:nvPr/>
        </p:nvSpPr>
        <p:spPr>
          <a:xfrm>
            <a:off x="9235440" y="3749040"/>
            <a:ext cx="237744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Plays well with others</a:t>
            </a:r>
            <a:endParaRPr lang="en-US" sz="2400" dirty="0"/>
          </a:p>
        </p:txBody>
      </p:sp>
      <p:sp>
        <p:nvSpPr>
          <p:cNvPr id="26" name="Text 24"/>
          <p:cNvSpPr/>
          <p:nvPr/>
        </p:nvSpPr>
        <p:spPr>
          <a:xfrm>
            <a:off x="9235440" y="4251960"/>
            <a:ext cx="2377440" cy="169164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Add Eloquent, Twig, JWT — your choice.</a:t>
            </a:r>
            <a:endParaRPr lang="en-US" sz="2400" dirty="0"/>
          </a:p>
        </p:txBody>
      </p:sp>
      <p:sp>
        <p:nvSpPr>
          <p:cNvPr id="27" name="Text 25"/>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28" name="Text 26"/>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WHY SLIM FOR THIS COURSE</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Slim vs Alternatives</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2089085769"/>
              </p:ext>
            </p:extLst>
          </p:nvPr>
        </p:nvGraphicFramePr>
        <p:xfrm>
          <a:off x="548640" y="1325880"/>
          <a:ext cx="11247120" cy="3977640"/>
        </p:xfrm>
        <a:graphic>
          <a:graphicData uri="http://schemas.openxmlformats.org/drawingml/2006/table">
            <a:tbl>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502920">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ASPECT</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Raw PHP</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Slim 4 (this course)</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Laravel / Symfony</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02920">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Footprint</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Tiny</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Small (a few MB)</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Large (full framework)</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Routing</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Manual switch on URL</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Built-in router</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Built-in router</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Middleware</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Custom</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PSR-15 standard</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Pipeline</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Learning curve</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Low entry, scales badly</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Low entry, scales well</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Steep but feature-rich</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Best for</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Tiny scripts</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REST APIs / micro-services</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400" dirty="0">
                          <a:solidFill>
                            <a:srgbClr val="1E293B"/>
                          </a:solidFill>
                          <a:latin typeface="Calibri" pitchFamily="34" charset="0"/>
                          <a:ea typeface="Calibri" pitchFamily="34" charset="-122"/>
                          <a:cs typeface="Calibri" pitchFamily="34" charset="-120"/>
                        </a:rPr>
                        <a:t>Full web apps + admin panels</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548640" y="5669280"/>
            <a:ext cx="11247120" cy="457200"/>
          </a:xfrm>
          <a:prstGeom prst="rect">
            <a:avLst/>
          </a:prstGeom>
          <a:noFill/>
          <a:ln/>
        </p:spPr>
        <p:txBody>
          <a:bodyPr wrap="square" lIns="0" tIns="0" rIns="0" bIns="0" rtlCol="0" anchor="ctr"/>
          <a:lstStyle/>
          <a:p>
            <a:pPr marL="0" indent="0" algn="ctr">
              <a:buNone/>
            </a:pPr>
            <a:r>
              <a:rPr lang="en-US" sz="1500" b="1" i="1" dirty="0">
                <a:solidFill>
                  <a:srgbClr val="F59E0B"/>
                </a:solidFill>
                <a:latin typeface="Calibri" pitchFamily="34" charset="0"/>
                <a:ea typeface="Calibri" pitchFamily="34" charset="-122"/>
                <a:cs typeface="Calibri" pitchFamily="34" charset="-120"/>
              </a:rPr>
              <a:t>Slim hits the sweet spot for our course: REST API focus, manageable scope for a 4-person team in 7 weeks.</a:t>
            </a:r>
            <a:endParaRPr lang="en-US" sz="15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7" name="Text 4"/>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REQUEST LIFECYCLE</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How a Slim Request Flows</a:t>
            </a:r>
            <a:endParaRPr lang="en-US" sz="3200" dirty="0"/>
          </a:p>
        </p:txBody>
      </p:sp>
      <p:sp>
        <p:nvSpPr>
          <p:cNvPr id="4" name="Shape 2"/>
          <p:cNvSpPr/>
          <p:nvPr/>
        </p:nvSpPr>
        <p:spPr>
          <a:xfrm>
            <a:off x="640080" y="137160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5" name="Text 3"/>
          <p:cNvSpPr/>
          <p:nvPr/>
        </p:nvSpPr>
        <p:spPr>
          <a:xfrm>
            <a:off x="640080" y="137160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6" name="Text 4"/>
          <p:cNvSpPr/>
          <p:nvPr/>
        </p:nvSpPr>
        <p:spPr>
          <a:xfrm>
            <a:off x="1325880" y="1371600"/>
            <a:ext cx="6858000" cy="50292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Browser sends request</a:t>
            </a:r>
            <a:endParaRPr lang="en-US" sz="2400" dirty="0"/>
          </a:p>
        </p:txBody>
      </p:sp>
      <p:sp>
        <p:nvSpPr>
          <p:cNvPr id="7" name="Shape 5"/>
          <p:cNvSpPr/>
          <p:nvPr/>
        </p:nvSpPr>
        <p:spPr>
          <a:xfrm>
            <a:off x="886968" y="1874520"/>
            <a:ext cx="0" cy="91440"/>
          </a:xfrm>
          <a:prstGeom prst="line">
            <a:avLst/>
          </a:prstGeom>
          <a:noFill/>
          <a:ln w="25400">
            <a:solidFill>
              <a:srgbClr val="065A82"/>
            </a:solidFill>
            <a:prstDash val="solid"/>
          </a:ln>
        </p:spPr>
        <p:txBody>
          <a:bodyPr/>
          <a:lstStyle/>
          <a:p>
            <a:endParaRPr lang="en-MY" sz="2400"/>
          </a:p>
        </p:txBody>
      </p:sp>
      <p:sp>
        <p:nvSpPr>
          <p:cNvPr id="8" name="Shape 6"/>
          <p:cNvSpPr/>
          <p:nvPr/>
        </p:nvSpPr>
        <p:spPr>
          <a:xfrm>
            <a:off x="640080" y="196596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9" name="Text 7"/>
          <p:cNvSpPr/>
          <p:nvPr/>
        </p:nvSpPr>
        <p:spPr>
          <a:xfrm>
            <a:off x="640080" y="196596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0" name="Text 8"/>
          <p:cNvSpPr/>
          <p:nvPr/>
        </p:nvSpPr>
        <p:spPr>
          <a:xfrm>
            <a:off x="1325880" y="1965960"/>
            <a:ext cx="6858000" cy="50292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Web server (Apache/Nginx) hits public/index.php</a:t>
            </a:r>
            <a:endParaRPr lang="en-US" sz="2400" dirty="0"/>
          </a:p>
        </p:txBody>
      </p:sp>
      <p:sp>
        <p:nvSpPr>
          <p:cNvPr id="11" name="Shape 9"/>
          <p:cNvSpPr/>
          <p:nvPr/>
        </p:nvSpPr>
        <p:spPr>
          <a:xfrm>
            <a:off x="886968" y="2468880"/>
            <a:ext cx="0" cy="91440"/>
          </a:xfrm>
          <a:prstGeom prst="line">
            <a:avLst/>
          </a:prstGeom>
          <a:noFill/>
          <a:ln w="25400">
            <a:solidFill>
              <a:srgbClr val="065A82"/>
            </a:solidFill>
            <a:prstDash val="solid"/>
          </a:ln>
        </p:spPr>
        <p:txBody>
          <a:bodyPr/>
          <a:lstStyle/>
          <a:p>
            <a:endParaRPr lang="en-MY" sz="2400"/>
          </a:p>
        </p:txBody>
      </p:sp>
      <p:sp>
        <p:nvSpPr>
          <p:cNvPr id="12" name="Shape 10"/>
          <p:cNvSpPr/>
          <p:nvPr/>
        </p:nvSpPr>
        <p:spPr>
          <a:xfrm>
            <a:off x="640080" y="256032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13" name="Text 11"/>
          <p:cNvSpPr/>
          <p:nvPr/>
        </p:nvSpPr>
        <p:spPr>
          <a:xfrm>
            <a:off x="640080" y="256032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4" name="Text 12"/>
          <p:cNvSpPr/>
          <p:nvPr/>
        </p:nvSpPr>
        <p:spPr>
          <a:xfrm>
            <a:off x="1325880" y="2560320"/>
            <a:ext cx="6858000" cy="50292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Slim app parses request → PSR-7 object</a:t>
            </a:r>
            <a:endParaRPr lang="en-US" sz="2400" dirty="0"/>
          </a:p>
        </p:txBody>
      </p:sp>
      <p:sp>
        <p:nvSpPr>
          <p:cNvPr id="15" name="Shape 13"/>
          <p:cNvSpPr/>
          <p:nvPr/>
        </p:nvSpPr>
        <p:spPr>
          <a:xfrm>
            <a:off x="886968" y="3063240"/>
            <a:ext cx="0" cy="91440"/>
          </a:xfrm>
          <a:prstGeom prst="line">
            <a:avLst/>
          </a:prstGeom>
          <a:noFill/>
          <a:ln w="25400">
            <a:solidFill>
              <a:srgbClr val="065A82"/>
            </a:solidFill>
            <a:prstDash val="solid"/>
          </a:ln>
        </p:spPr>
        <p:txBody>
          <a:bodyPr/>
          <a:lstStyle/>
          <a:p>
            <a:endParaRPr lang="en-MY" sz="2400"/>
          </a:p>
        </p:txBody>
      </p:sp>
      <p:sp>
        <p:nvSpPr>
          <p:cNvPr id="16" name="Shape 14"/>
          <p:cNvSpPr/>
          <p:nvPr/>
        </p:nvSpPr>
        <p:spPr>
          <a:xfrm>
            <a:off x="640080" y="315468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17" name="Text 15"/>
          <p:cNvSpPr/>
          <p:nvPr/>
        </p:nvSpPr>
        <p:spPr>
          <a:xfrm>
            <a:off x="640080" y="31546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8" name="Text 16"/>
          <p:cNvSpPr/>
          <p:nvPr/>
        </p:nvSpPr>
        <p:spPr>
          <a:xfrm>
            <a:off x="1325880" y="3154680"/>
            <a:ext cx="6858000" cy="50292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Middleware stack runs (auth, CORS, logging…)</a:t>
            </a:r>
            <a:endParaRPr lang="en-US" sz="2400" dirty="0"/>
          </a:p>
        </p:txBody>
      </p:sp>
      <p:sp>
        <p:nvSpPr>
          <p:cNvPr id="19" name="Shape 17"/>
          <p:cNvSpPr/>
          <p:nvPr/>
        </p:nvSpPr>
        <p:spPr>
          <a:xfrm>
            <a:off x="886968" y="3657600"/>
            <a:ext cx="0" cy="91440"/>
          </a:xfrm>
          <a:prstGeom prst="line">
            <a:avLst/>
          </a:prstGeom>
          <a:noFill/>
          <a:ln w="25400">
            <a:solidFill>
              <a:srgbClr val="065A82"/>
            </a:solidFill>
            <a:prstDash val="solid"/>
          </a:ln>
        </p:spPr>
        <p:txBody>
          <a:bodyPr/>
          <a:lstStyle/>
          <a:p>
            <a:endParaRPr lang="en-MY" sz="2400"/>
          </a:p>
        </p:txBody>
      </p:sp>
      <p:sp>
        <p:nvSpPr>
          <p:cNvPr id="20" name="Shape 18"/>
          <p:cNvSpPr/>
          <p:nvPr/>
        </p:nvSpPr>
        <p:spPr>
          <a:xfrm>
            <a:off x="640080" y="374904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21" name="Text 19"/>
          <p:cNvSpPr/>
          <p:nvPr/>
        </p:nvSpPr>
        <p:spPr>
          <a:xfrm>
            <a:off x="640080" y="374904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22" name="Text 20"/>
          <p:cNvSpPr/>
          <p:nvPr/>
        </p:nvSpPr>
        <p:spPr>
          <a:xfrm>
            <a:off x="1325880" y="3749040"/>
            <a:ext cx="6858000" cy="50292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Router dispatches to matching handler</a:t>
            </a:r>
            <a:endParaRPr lang="en-US" sz="2400" dirty="0"/>
          </a:p>
        </p:txBody>
      </p:sp>
      <p:sp>
        <p:nvSpPr>
          <p:cNvPr id="23" name="Shape 21"/>
          <p:cNvSpPr/>
          <p:nvPr/>
        </p:nvSpPr>
        <p:spPr>
          <a:xfrm>
            <a:off x="886968" y="4251960"/>
            <a:ext cx="0" cy="91440"/>
          </a:xfrm>
          <a:prstGeom prst="line">
            <a:avLst/>
          </a:prstGeom>
          <a:noFill/>
          <a:ln w="25400">
            <a:solidFill>
              <a:srgbClr val="065A82"/>
            </a:solidFill>
            <a:prstDash val="solid"/>
          </a:ln>
        </p:spPr>
        <p:txBody>
          <a:bodyPr/>
          <a:lstStyle/>
          <a:p>
            <a:endParaRPr lang="en-MY" sz="2400"/>
          </a:p>
        </p:txBody>
      </p:sp>
      <p:sp>
        <p:nvSpPr>
          <p:cNvPr id="24" name="Shape 22"/>
          <p:cNvSpPr/>
          <p:nvPr/>
        </p:nvSpPr>
        <p:spPr>
          <a:xfrm>
            <a:off x="640080" y="434340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25" name="Text 23"/>
          <p:cNvSpPr/>
          <p:nvPr/>
        </p:nvSpPr>
        <p:spPr>
          <a:xfrm>
            <a:off x="640080" y="434340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26" name="Text 24"/>
          <p:cNvSpPr/>
          <p:nvPr/>
        </p:nvSpPr>
        <p:spPr>
          <a:xfrm>
            <a:off x="1325880" y="4343400"/>
            <a:ext cx="6858000" cy="50292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Handler builds PSR-7 response</a:t>
            </a:r>
            <a:endParaRPr lang="en-US" sz="2400" dirty="0"/>
          </a:p>
        </p:txBody>
      </p:sp>
      <p:sp>
        <p:nvSpPr>
          <p:cNvPr id="27" name="Shape 25"/>
          <p:cNvSpPr/>
          <p:nvPr/>
        </p:nvSpPr>
        <p:spPr>
          <a:xfrm>
            <a:off x="886968" y="4846320"/>
            <a:ext cx="0" cy="91440"/>
          </a:xfrm>
          <a:prstGeom prst="line">
            <a:avLst/>
          </a:prstGeom>
          <a:noFill/>
          <a:ln w="25400">
            <a:solidFill>
              <a:srgbClr val="065A82"/>
            </a:solidFill>
            <a:prstDash val="solid"/>
          </a:ln>
        </p:spPr>
        <p:txBody>
          <a:bodyPr/>
          <a:lstStyle/>
          <a:p>
            <a:endParaRPr lang="en-MY" sz="2400"/>
          </a:p>
        </p:txBody>
      </p:sp>
      <p:sp>
        <p:nvSpPr>
          <p:cNvPr id="28" name="Shape 26"/>
          <p:cNvSpPr/>
          <p:nvPr/>
        </p:nvSpPr>
        <p:spPr>
          <a:xfrm>
            <a:off x="640080" y="493776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29" name="Text 27"/>
          <p:cNvSpPr/>
          <p:nvPr/>
        </p:nvSpPr>
        <p:spPr>
          <a:xfrm>
            <a:off x="640080" y="493776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7</a:t>
            </a:r>
            <a:endParaRPr lang="en-US" sz="2400" dirty="0"/>
          </a:p>
        </p:txBody>
      </p:sp>
      <p:sp>
        <p:nvSpPr>
          <p:cNvPr id="30" name="Text 28"/>
          <p:cNvSpPr/>
          <p:nvPr/>
        </p:nvSpPr>
        <p:spPr>
          <a:xfrm>
            <a:off x="1325880" y="4937760"/>
            <a:ext cx="6858000" cy="50292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Middleware unwraps in reverse</a:t>
            </a:r>
            <a:endParaRPr lang="en-US" sz="2400" dirty="0"/>
          </a:p>
        </p:txBody>
      </p:sp>
      <p:sp>
        <p:nvSpPr>
          <p:cNvPr id="31" name="Shape 29"/>
          <p:cNvSpPr/>
          <p:nvPr/>
        </p:nvSpPr>
        <p:spPr>
          <a:xfrm>
            <a:off x="886968" y="5440680"/>
            <a:ext cx="0" cy="91440"/>
          </a:xfrm>
          <a:prstGeom prst="line">
            <a:avLst/>
          </a:prstGeom>
          <a:noFill/>
          <a:ln w="25400">
            <a:solidFill>
              <a:srgbClr val="065A82"/>
            </a:solidFill>
            <a:prstDash val="solid"/>
          </a:ln>
        </p:spPr>
        <p:txBody>
          <a:bodyPr/>
          <a:lstStyle/>
          <a:p>
            <a:endParaRPr lang="en-MY" sz="2400"/>
          </a:p>
        </p:txBody>
      </p:sp>
      <p:sp>
        <p:nvSpPr>
          <p:cNvPr id="32" name="Shape 30"/>
          <p:cNvSpPr/>
          <p:nvPr/>
        </p:nvSpPr>
        <p:spPr>
          <a:xfrm>
            <a:off x="640080" y="5532120"/>
            <a:ext cx="502920" cy="502920"/>
          </a:xfrm>
          <a:prstGeom prst="ellipse">
            <a:avLst/>
          </a:prstGeom>
          <a:solidFill>
            <a:srgbClr val="065A82"/>
          </a:solidFill>
          <a:ln w="12700">
            <a:solidFill>
              <a:srgbClr val="065A82"/>
            </a:solidFill>
            <a:prstDash val="solid"/>
          </a:ln>
        </p:spPr>
        <p:txBody>
          <a:bodyPr/>
          <a:lstStyle/>
          <a:p>
            <a:endParaRPr lang="en-MY" sz="2400"/>
          </a:p>
        </p:txBody>
      </p:sp>
      <p:sp>
        <p:nvSpPr>
          <p:cNvPr id="33" name="Text 31"/>
          <p:cNvSpPr/>
          <p:nvPr/>
        </p:nvSpPr>
        <p:spPr>
          <a:xfrm>
            <a:off x="640080" y="553212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8</a:t>
            </a:r>
            <a:endParaRPr lang="en-US" sz="2400" dirty="0"/>
          </a:p>
        </p:txBody>
      </p:sp>
      <p:sp>
        <p:nvSpPr>
          <p:cNvPr id="34" name="Text 32"/>
          <p:cNvSpPr/>
          <p:nvPr/>
        </p:nvSpPr>
        <p:spPr>
          <a:xfrm>
            <a:off x="1325880" y="5532120"/>
            <a:ext cx="6858000" cy="502920"/>
          </a:xfrm>
          <a:prstGeom prst="rect">
            <a:avLst/>
          </a:prstGeom>
          <a:noFill/>
          <a:ln/>
        </p:spPr>
        <p:txBody>
          <a:bodyPr wrap="square" lIns="0" tIns="0" rIns="0" bIns="0" rtlCol="0" anchor="ctr"/>
          <a:lstStyle/>
          <a:p>
            <a:pPr marL="0" indent="0">
              <a:buNone/>
            </a:pPr>
            <a:r>
              <a:rPr lang="en-US" sz="2400" dirty="0">
                <a:solidFill>
                  <a:srgbClr val="1E293B"/>
                </a:solidFill>
                <a:latin typeface="Calibri" pitchFamily="34" charset="0"/>
                <a:ea typeface="Calibri" pitchFamily="34" charset="-122"/>
                <a:cs typeface="Calibri" pitchFamily="34" charset="-120"/>
              </a:rPr>
              <a:t>Web server returns response to browser</a:t>
            </a:r>
            <a:endParaRPr lang="en-US" sz="2400" dirty="0"/>
          </a:p>
        </p:txBody>
      </p:sp>
      <p:sp>
        <p:nvSpPr>
          <p:cNvPr id="35" name="Shape 33"/>
          <p:cNvSpPr/>
          <p:nvPr/>
        </p:nvSpPr>
        <p:spPr>
          <a:xfrm>
            <a:off x="8503920" y="1371600"/>
            <a:ext cx="3291840" cy="45720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36" name="Text 34"/>
          <p:cNvSpPr/>
          <p:nvPr/>
        </p:nvSpPr>
        <p:spPr>
          <a:xfrm>
            <a:off x="8686800" y="1508760"/>
            <a:ext cx="3108960" cy="36576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Mental model:</a:t>
            </a:r>
            <a:endParaRPr lang="en-US" sz="2400" dirty="0"/>
          </a:p>
        </p:txBody>
      </p:sp>
      <p:sp>
        <p:nvSpPr>
          <p:cNvPr id="37" name="Text 35"/>
          <p:cNvSpPr/>
          <p:nvPr/>
        </p:nvSpPr>
        <p:spPr>
          <a:xfrm>
            <a:off x="8686800" y="1920240"/>
            <a:ext cx="3017520" cy="1463040"/>
          </a:xfrm>
          <a:prstGeom prst="rect">
            <a:avLst/>
          </a:prstGeom>
          <a:noFill/>
          <a:ln/>
        </p:spPr>
        <p:txBody>
          <a:bodyPr wrap="square" lIns="0" tIns="0" rIns="0" bIns="0" rtlCol="0" anchor="ctr"/>
          <a:lstStyle/>
          <a:p>
            <a:pPr marL="0" indent="0">
              <a:buNone/>
            </a:pPr>
            <a:r>
              <a:rPr lang="en-US" sz="2400" b="1" dirty="0">
                <a:solidFill>
                  <a:srgbClr val="065A82"/>
                </a:solidFill>
                <a:latin typeface="Consolas" pitchFamily="34" charset="0"/>
                <a:ea typeface="Consolas" pitchFamily="34" charset="-122"/>
                <a:cs typeface="Consolas" pitchFamily="34" charset="-120"/>
              </a:rPr>
              <a:t>Request → </a:t>
            </a:r>
            <a:r>
              <a:rPr lang="en-US" sz="2400" b="1" dirty="0">
                <a:solidFill>
                  <a:srgbClr val="1E293B"/>
                </a:solidFill>
                <a:latin typeface="Consolas" pitchFamily="34" charset="0"/>
                <a:ea typeface="Consolas" pitchFamily="34" charset="-122"/>
                <a:cs typeface="Consolas" pitchFamily="34" charset="-120"/>
              </a:rPr>
              <a:t>M1 → M2 → </a:t>
            </a:r>
            <a:r>
              <a:rPr lang="en-US" sz="2400" b="1" dirty="0">
                <a:solidFill>
                  <a:srgbClr val="F59E0B"/>
                </a:solidFill>
                <a:latin typeface="Consolas" pitchFamily="34" charset="0"/>
                <a:ea typeface="Consolas" pitchFamily="34" charset="-122"/>
                <a:cs typeface="Consolas" pitchFamily="34" charset="-120"/>
              </a:rPr>
              <a:t>Route Handler</a:t>
            </a:r>
            <a:endParaRPr lang="en-US" sz="2400" dirty="0"/>
          </a:p>
          <a:p>
            <a:pPr marL="0" indent="0">
              <a:buNone/>
            </a:pPr>
            <a:r>
              <a:rPr lang="en-US" sz="2400" b="1" dirty="0">
                <a:solidFill>
                  <a:srgbClr val="1C7293"/>
                </a:solidFill>
                <a:latin typeface="Consolas" pitchFamily="34" charset="0"/>
                <a:ea typeface="Consolas" pitchFamily="34" charset="-122"/>
                <a:cs typeface="Consolas" pitchFamily="34" charset="-120"/>
              </a:rPr>
              <a:t>Response ← </a:t>
            </a:r>
            <a:r>
              <a:rPr lang="en-US" sz="2400" b="1" dirty="0">
                <a:solidFill>
                  <a:srgbClr val="1E293B"/>
                </a:solidFill>
                <a:latin typeface="Consolas" pitchFamily="34" charset="0"/>
                <a:ea typeface="Consolas" pitchFamily="34" charset="-122"/>
                <a:cs typeface="Consolas" pitchFamily="34" charset="-120"/>
              </a:rPr>
              <a:t>M2 ← M1</a:t>
            </a:r>
            <a:endParaRPr lang="en-US" sz="2400" dirty="0"/>
          </a:p>
        </p:txBody>
      </p:sp>
      <p:sp>
        <p:nvSpPr>
          <p:cNvPr id="38" name="Text 36"/>
          <p:cNvSpPr/>
          <p:nvPr/>
        </p:nvSpPr>
        <p:spPr>
          <a:xfrm>
            <a:off x="8686800" y="3383280"/>
            <a:ext cx="3017520" cy="2468880"/>
          </a:xfrm>
          <a:prstGeom prst="rect">
            <a:avLst/>
          </a:prstGeom>
          <a:noFill/>
          <a:ln/>
        </p:spPr>
        <p:txBody>
          <a:bodyPr wrap="square" lIns="0" tIns="0" rIns="0" bIns="0" rtlCol="0" anchor="ctr"/>
          <a:lstStyle/>
          <a:p>
            <a:pPr marL="0" indent="0">
              <a:buNone/>
            </a:pPr>
            <a:r>
              <a:rPr lang="en-US" sz="2400" i="1" dirty="0">
                <a:solidFill>
                  <a:srgbClr val="64748B"/>
                </a:solidFill>
                <a:latin typeface="Calibri" pitchFamily="34" charset="0"/>
                <a:ea typeface="Calibri" pitchFamily="34" charset="-122"/>
                <a:cs typeface="Calibri" pitchFamily="34" charset="-120"/>
              </a:rPr>
              <a:t>Middleware wraps the handler like an onion — each layer can read the request, mutate the response, or short-circuit (e.g., reject unauthenticated calls).</a:t>
            </a:r>
            <a:endParaRPr lang="en-US" sz="2400" dirty="0"/>
          </a:p>
        </p:txBody>
      </p:sp>
      <p:sp>
        <p:nvSpPr>
          <p:cNvPr id="39" name="Text 37"/>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40" name="Text 38"/>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PROJECT SETUP</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Installing Slim with Composer</a:t>
            </a:r>
            <a:endParaRPr lang="en-US" sz="3200" dirty="0"/>
          </a:p>
        </p:txBody>
      </p:sp>
      <p:sp>
        <p:nvSpPr>
          <p:cNvPr id="4" name="Text 2"/>
          <p:cNvSpPr/>
          <p:nvPr/>
        </p:nvSpPr>
        <p:spPr>
          <a:xfrm>
            <a:off x="548640" y="960120"/>
            <a:ext cx="11247120" cy="457200"/>
          </a:xfrm>
          <a:prstGeom prst="rect">
            <a:avLst/>
          </a:prstGeom>
          <a:noFill/>
          <a:ln/>
        </p:spPr>
        <p:txBody>
          <a:bodyPr wrap="square" lIns="0" tIns="0" rIns="0" bIns="0" rtlCol="0" anchor="ctr"/>
          <a:lstStyle/>
          <a:p>
            <a:pPr marL="0" indent="0">
              <a:buNone/>
            </a:pPr>
            <a:r>
              <a:rPr lang="en-US" sz="2000" i="1" dirty="0">
                <a:solidFill>
                  <a:srgbClr val="64748B"/>
                </a:solidFill>
                <a:latin typeface="Calibri" pitchFamily="34" charset="0"/>
                <a:ea typeface="Calibri" pitchFamily="34" charset="-122"/>
                <a:cs typeface="Calibri" pitchFamily="34" charset="-120"/>
              </a:rPr>
              <a:t>Use Laragon's built-in Composer (or install via getcomposer.org). All commands are run from the project root.</a:t>
            </a:r>
            <a:endParaRPr lang="en-US" sz="2000" dirty="0"/>
          </a:p>
        </p:txBody>
      </p:sp>
      <p:sp>
        <p:nvSpPr>
          <p:cNvPr id="5" name="Shape 3"/>
          <p:cNvSpPr/>
          <p:nvPr/>
        </p:nvSpPr>
        <p:spPr>
          <a:xfrm>
            <a:off x="548640" y="1554480"/>
            <a:ext cx="11082528" cy="4983480"/>
          </a:xfrm>
          <a:prstGeom prst="rect">
            <a:avLst/>
          </a:prstGeom>
          <a:solidFill>
            <a:srgbClr val="1E293B"/>
          </a:solidFill>
          <a:ln w="12700">
            <a:solidFill>
              <a:srgbClr val="1E293B"/>
            </a:solidFill>
            <a:prstDash val="solid"/>
          </a:ln>
        </p:spPr>
        <p:txBody>
          <a:bodyPr/>
          <a:lstStyle/>
          <a:p>
            <a:endParaRPr lang="en-MY" sz="2000"/>
          </a:p>
        </p:txBody>
      </p:sp>
      <p:sp>
        <p:nvSpPr>
          <p:cNvPr id="6" name="Text 4"/>
          <p:cNvSpPr/>
          <p:nvPr/>
        </p:nvSpPr>
        <p:spPr>
          <a:xfrm>
            <a:off x="713232" y="1664208"/>
            <a:ext cx="10917936" cy="4078224"/>
          </a:xfrm>
          <a:prstGeom prst="rect">
            <a:avLst/>
          </a:prstGeom>
          <a:noFill/>
          <a:ln/>
        </p:spPr>
        <p:txBody>
          <a:bodyPr wrap="square" lIns="0" tIns="0" rIns="0" bIns="0" rtlCol="0" anchor="t"/>
          <a:lstStyle/>
          <a:p>
            <a:pPr marL="0" indent="0" algn="l">
              <a:buNone/>
            </a:pPr>
            <a:r>
              <a:rPr lang="en-US" sz="2000" dirty="0">
                <a:solidFill>
                  <a:srgbClr val="E2E8F0"/>
                </a:solidFill>
                <a:latin typeface="Consolas" pitchFamily="34" charset="0"/>
                <a:ea typeface="Consolas" pitchFamily="34" charset="-122"/>
                <a:cs typeface="Consolas" pitchFamily="34" charset="-120"/>
              </a:rPr>
              <a:t># 1. Create the project folder inside laragon\www</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cd C:\laragon\www</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mkdir books-api &amp;&amp; cd books-api</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2. Initialise Composer</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composer init --name="utm/books-api" --no-interaction</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3. Install Slim 4 + the official PSR-7 implementation</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composer require slim/slim:"4.*" slim/psr7</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4. (Optional but recommended) PHP-DI for dependency injection</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composer require php-di/php-di</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5. Verify</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composer show | findstr slim</a:t>
            </a:r>
            <a:endParaRPr lang="en-US" sz="2000" dirty="0"/>
          </a:p>
        </p:txBody>
      </p:sp>
      <p:sp>
        <p:nvSpPr>
          <p:cNvPr id="7" name="Text 5"/>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8" name="Text 6"/>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FOLDER LAYOUT</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Recommended Slim Project Structure</a:t>
            </a:r>
            <a:endParaRPr lang="en-US" sz="3200" dirty="0"/>
          </a:p>
        </p:txBody>
      </p:sp>
      <p:sp>
        <p:nvSpPr>
          <p:cNvPr id="4" name="Shape 2"/>
          <p:cNvSpPr/>
          <p:nvPr/>
        </p:nvSpPr>
        <p:spPr>
          <a:xfrm>
            <a:off x="548640" y="1114785"/>
            <a:ext cx="11247120" cy="5257800"/>
          </a:xfrm>
          <a:prstGeom prst="rect">
            <a:avLst/>
          </a:prstGeom>
          <a:solidFill>
            <a:srgbClr val="1E293B"/>
          </a:solidFill>
          <a:ln w="12700">
            <a:solidFill>
              <a:srgbClr val="1E293B"/>
            </a:solidFill>
            <a:prstDash val="solid"/>
          </a:ln>
        </p:spPr>
        <p:txBody>
          <a:bodyPr/>
          <a:lstStyle/>
          <a:p>
            <a:endParaRPr lang="en-MY" sz="2000"/>
          </a:p>
        </p:txBody>
      </p:sp>
      <p:sp>
        <p:nvSpPr>
          <p:cNvPr id="5" name="Text 3"/>
          <p:cNvSpPr/>
          <p:nvPr/>
        </p:nvSpPr>
        <p:spPr>
          <a:xfrm>
            <a:off x="713232" y="1389888"/>
            <a:ext cx="10917936" cy="4535424"/>
          </a:xfrm>
          <a:prstGeom prst="rect">
            <a:avLst/>
          </a:prstGeom>
          <a:noFill/>
          <a:ln/>
        </p:spPr>
        <p:txBody>
          <a:bodyPr wrap="square" lIns="0" tIns="0" rIns="0" bIns="0" rtlCol="0" anchor="t"/>
          <a:lstStyle/>
          <a:p>
            <a:pPr marL="0" indent="0" algn="l">
              <a:buNone/>
            </a:pPr>
            <a:r>
              <a:rPr lang="en-US" sz="2000" dirty="0">
                <a:solidFill>
                  <a:srgbClr val="E2E8F0"/>
                </a:solidFill>
                <a:latin typeface="Consolas" pitchFamily="34" charset="0"/>
                <a:ea typeface="Consolas" pitchFamily="34" charset="-122"/>
                <a:cs typeface="Consolas" pitchFamily="34" charset="-120"/>
              </a:rPr>
              <a:t>books-api/</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public/</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 index.php          ← entry point (Apache/Nginx points here)</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 .htaccess          ← rewrite rules for clean URLs</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src/</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 routes.php         ← all route definitions</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 Controllers/</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   └── BookController.php</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 Middleware/</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   └── JsonBodyParser.php</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 Data/</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 books.php      ← seed data (Chapter 9, no DB yet)</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vendor/                ← installed by Composer (don't edit)</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composer.json</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README.md</a:t>
            </a:r>
            <a:endParaRPr lang="en-US" sz="2000" dirty="0"/>
          </a:p>
        </p:txBody>
      </p:sp>
      <p:sp>
        <p:nvSpPr>
          <p:cNvPr id="6" name="Text 4"/>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7" name="Text 5"/>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FIRST APP</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Hello World in Slim 4</a:t>
            </a:r>
            <a:endParaRPr lang="en-US" sz="3200" dirty="0"/>
          </a:p>
        </p:txBody>
      </p:sp>
      <p:sp>
        <p:nvSpPr>
          <p:cNvPr id="4" name="Shape 2"/>
          <p:cNvSpPr/>
          <p:nvPr/>
        </p:nvSpPr>
        <p:spPr>
          <a:xfrm>
            <a:off x="70794" y="821920"/>
            <a:ext cx="8397732" cy="5617719"/>
          </a:xfrm>
          <a:prstGeom prst="rect">
            <a:avLst/>
          </a:prstGeom>
          <a:solidFill>
            <a:srgbClr val="1E293B"/>
          </a:solidFill>
          <a:ln w="12700">
            <a:solidFill>
              <a:srgbClr val="1E293B"/>
            </a:solidFill>
            <a:prstDash val="solid"/>
          </a:ln>
        </p:spPr>
        <p:txBody>
          <a:bodyPr/>
          <a:lstStyle/>
          <a:p>
            <a:endParaRPr lang="en-MY" sz="2000"/>
          </a:p>
        </p:txBody>
      </p:sp>
      <p:sp>
        <p:nvSpPr>
          <p:cNvPr id="5" name="Text 3"/>
          <p:cNvSpPr/>
          <p:nvPr/>
        </p:nvSpPr>
        <p:spPr>
          <a:xfrm>
            <a:off x="284154" y="843160"/>
            <a:ext cx="8076216" cy="5694799"/>
          </a:xfrm>
          <a:prstGeom prst="rect">
            <a:avLst/>
          </a:prstGeom>
          <a:noFill/>
          <a:ln/>
        </p:spPr>
        <p:txBody>
          <a:bodyPr wrap="square" lIns="0" tIns="0" rIns="0" bIns="0" rtlCol="0" anchor="t"/>
          <a:lstStyle/>
          <a:p>
            <a:pPr marL="0" indent="0" algn="l">
              <a:buNone/>
            </a:pPr>
            <a:r>
              <a:rPr lang="en-US" sz="2000" dirty="0">
                <a:solidFill>
                  <a:srgbClr val="E2E8F0"/>
                </a:solidFill>
                <a:latin typeface="Consolas" pitchFamily="34" charset="0"/>
                <a:ea typeface="Consolas" pitchFamily="34" charset="-122"/>
                <a:cs typeface="Consolas" pitchFamily="34" charset="-120"/>
              </a:rPr>
              <a:t>&lt;?php  // public/index.php</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use Psr\Http\Message\ResponseInterface as Response;</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use Psr\Http\Message\ServerRequestInterface as Request;</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use Slim\Factory\AppFactory;</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require __DIR__ . '/../vendor/autoload.php';</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$app = AppFactory::create();</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$app-&gt;addRoutingMiddleware();</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$app-&gt;addErrorMiddleware(true, true, true);</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$app-&gt;get('/', function (Request $req, Response $res) {</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$res-&gt;getBody()-&gt;write('Hello, Slim!');</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return $res;</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$app-&gt;run();</a:t>
            </a:r>
            <a:endParaRPr lang="en-US" sz="2000" dirty="0"/>
          </a:p>
        </p:txBody>
      </p:sp>
      <p:sp>
        <p:nvSpPr>
          <p:cNvPr id="6" name="Shape 4"/>
          <p:cNvSpPr/>
          <p:nvPr/>
        </p:nvSpPr>
        <p:spPr>
          <a:xfrm>
            <a:off x="8563896" y="733428"/>
            <a:ext cx="3526829" cy="5538925"/>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000"/>
          </a:p>
        </p:txBody>
      </p:sp>
      <p:sp>
        <p:nvSpPr>
          <p:cNvPr id="7" name="Text 5"/>
          <p:cNvSpPr/>
          <p:nvPr/>
        </p:nvSpPr>
        <p:spPr>
          <a:xfrm>
            <a:off x="8672052" y="870589"/>
            <a:ext cx="3235794" cy="365760"/>
          </a:xfrm>
          <a:prstGeom prst="rect">
            <a:avLst/>
          </a:prstGeom>
          <a:noFill/>
          <a:ln/>
        </p:spPr>
        <p:txBody>
          <a:bodyPr wrap="square" lIns="0" tIns="0" rIns="0" bIns="0" rtlCol="0" anchor="ctr"/>
          <a:lstStyle/>
          <a:p>
            <a:pPr marL="0" indent="0">
              <a:buNone/>
            </a:pPr>
            <a:r>
              <a:rPr lang="en-US" sz="2000" b="1" dirty="0">
                <a:solidFill>
                  <a:srgbClr val="065A82"/>
                </a:solidFill>
                <a:latin typeface="Calibri" pitchFamily="34" charset="0"/>
                <a:ea typeface="Calibri" pitchFamily="34" charset="-122"/>
                <a:cs typeface="Calibri" pitchFamily="34" charset="-120"/>
              </a:rPr>
              <a:t>Reading the code</a:t>
            </a:r>
            <a:endParaRPr lang="en-US" sz="2000" dirty="0"/>
          </a:p>
        </p:txBody>
      </p:sp>
      <p:sp>
        <p:nvSpPr>
          <p:cNvPr id="8" name="Text 6"/>
          <p:cNvSpPr/>
          <p:nvPr/>
        </p:nvSpPr>
        <p:spPr>
          <a:xfrm>
            <a:off x="8672052" y="1236349"/>
            <a:ext cx="3327234" cy="5036003"/>
          </a:xfrm>
          <a:prstGeom prst="rect">
            <a:avLst/>
          </a:prstGeom>
          <a:noFill/>
          <a:ln/>
        </p:spPr>
        <p:txBody>
          <a:bodyPr wrap="square" lIns="0" tIns="0" rIns="0" bIns="0" rtlCol="0" anchor="ctr"/>
          <a:lstStyle/>
          <a:p>
            <a:pPr marL="0" indent="0">
              <a:buNone/>
            </a:pPr>
            <a:r>
              <a:rPr lang="en-US" sz="2000" dirty="0">
                <a:solidFill>
                  <a:srgbClr val="F59E0B"/>
                </a:solidFill>
                <a:latin typeface="Consolas" pitchFamily="34" charset="0"/>
                <a:ea typeface="Consolas" pitchFamily="34" charset="-122"/>
                <a:cs typeface="Consolas" pitchFamily="34" charset="-120"/>
              </a:rPr>
              <a:t>AppFactory::create()</a:t>
            </a:r>
            <a:endParaRPr lang="en-US" sz="2000" dirty="0"/>
          </a:p>
          <a:p>
            <a:pPr marL="0" indent="0">
              <a:buNone/>
            </a:pPr>
            <a:r>
              <a:rPr lang="en-US" sz="2000" dirty="0">
                <a:solidFill>
                  <a:srgbClr val="64748B"/>
                </a:solidFill>
                <a:latin typeface="Calibri" pitchFamily="34" charset="0"/>
                <a:ea typeface="Calibri" pitchFamily="34" charset="-122"/>
                <a:cs typeface="Calibri" pitchFamily="34" charset="-120"/>
              </a:rPr>
              <a:t>Builds the Slim app.</a:t>
            </a:r>
            <a:endParaRPr lang="en-US" sz="2000" dirty="0"/>
          </a:p>
          <a:p>
            <a:pPr marL="0" indent="0">
              <a:buNone/>
            </a:pPr>
            <a:r>
              <a:rPr lang="en-US" sz="2000" dirty="0">
                <a:solidFill>
                  <a:srgbClr val="1E293B"/>
                </a:solidFill>
                <a:latin typeface="Calibri" pitchFamily="34" charset="0"/>
                <a:ea typeface="Calibri" pitchFamily="34" charset="-122"/>
                <a:cs typeface="Calibri" pitchFamily="34" charset="-120"/>
              </a:rPr>
              <a:t> </a:t>
            </a:r>
            <a:endParaRPr lang="en-US" sz="2000" dirty="0"/>
          </a:p>
          <a:p>
            <a:pPr marL="0" indent="0">
              <a:buNone/>
            </a:pPr>
            <a:r>
              <a:rPr lang="en-US" sz="2000" dirty="0">
                <a:solidFill>
                  <a:srgbClr val="F59E0B"/>
                </a:solidFill>
                <a:latin typeface="Consolas" pitchFamily="34" charset="0"/>
                <a:ea typeface="Consolas" pitchFamily="34" charset="-122"/>
                <a:cs typeface="Consolas" pitchFamily="34" charset="-120"/>
              </a:rPr>
              <a:t>addRoutingMiddleware()</a:t>
            </a:r>
            <a:endParaRPr lang="en-US" sz="2000" dirty="0"/>
          </a:p>
          <a:p>
            <a:pPr marL="0" indent="0">
              <a:buNone/>
            </a:pPr>
            <a:r>
              <a:rPr lang="en-US" sz="2000" dirty="0">
                <a:solidFill>
                  <a:srgbClr val="64748B"/>
                </a:solidFill>
                <a:latin typeface="Calibri" pitchFamily="34" charset="0"/>
                <a:ea typeface="Calibri" pitchFamily="34" charset="-122"/>
                <a:cs typeface="Calibri" pitchFamily="34" charset="-120"/>
              </a:rPr>
              <a:t>Enables route dispatch.</a:t>
            </a:r>
            <a:endParaRPr lang="en-US" sz="2000" dirty="0"/>
          </a:p>
          <a:p>
            <a:pPr marL="0" indent="0">
              <a:buNone/>
            </a:pPr>
            <a:r>
              <a:rPr lang="en-US" sz="2000" dirty="0">
                <a:solidFill>
                  <a:srgbClr val="1E293B"/>
                </a:solidFill>
                <a:latin typeface="Calibri" pitchFamily="34" charset="0"/>
                <a:ea typeface="Calibri" pitchFamily="34" charset="-122"/>
                <a:cs typeface="Calibri" pitchFamily="34" charset="-120"/>
              </a:rPr>
              <a:t> </a:t>
            </a:r>
            <a:endParaRPr lang="en-US" sz="2000" dirty="0"/>
          </a:p>
          <a:p>
            <a:pPr marL="0" indent="0">
              <a:buNone/>
            </a:pPr>
            <a:r>
              <a:rPr lang="en-US" sz="2000" dirty="0">
                <a:solidFill>
                  <a:srgbClr val="F59E0B"/>
                </a:solidFill>
                <a:latin typeface="Consolas" pitchFamily="34" charset="0"/>
                <a:ea typeface="Consolas" pitchFamily="34" charset="-122"/>
                <a:cs typeface="Consolas" pitchFamily="34" charset="-120"/>
              </a:rPr>
              <a:t>addErrorMiddleware(...)</a:t>
            </a:r>
            <a:endParaRPr lang="en-US" sz="2000" dirty="0"/>
          </a:p>
          <a:p>
            <a:pPr marL="0" indent="0">
              <a:buNone/>
            </a:pPr>
            <a:r>
              <a:rPr lang="en-US" sz="2000" dirty="0">
                <a:solidFill>
                  <a:srgbClr val="64748B"/>
                </a:solidFill>
                <a:latin typeface="Calibri" pitchFamily="34" charset="0"/>
                <a:ea typeface="Calibri" pitchFamily="34" charset="-122"/>
                <a:cs typeface="Calibri" pitchFamily="34" charset="-120"/>
              </a:rPr>
              <a:t>Catches exceptions, returns proper errors.</a:t>
            </a:r>
            <a:endParaRPr lang="en-US" sz="2000" dirty="0"/>
          </a:p>
          <a:p>
            <a:pPr marL="0" indent="0">
              <a:buNone/>
            </a:pPr>
            <a:r>
              <a:rPr lang="en-US" sz="2000" dirty="0">
                <a:solidFill>
                  <a:srgbClr val="1E293B"/>
                </a:solidFill>
                <a:latin typeface="Calibri" pitchFamily="34" charset="0"/>
                <a:ea typeface="Calibri" pitchFamily="34" charset="-122"/>
                <a:cs typeface="Calibri" pitchFamily="34" charset="-120"/>
              </a:rPr>
              <a:t> </a:t>
            </a:r>
            <a:endParaRPr lang="en-US" sz="2000" dirty="0"/>
          </a:p>
          <a:p>
            <a:pPr marL="0" indent="0">
              <a:buNone/>
            </a:pPr>
            <a:r>
              <a:rPr lang="en-US" sz="2000" dirty="0">
                <a:solidFill>
                  <a:srgbClr val="F59E0B"/>
                </a:solidFill>
                <a:latin typeface="Consolas" pitchFamily="34" charset="0"/>
                <a:ea typeface="Consolas" pitchFamily="34" charset="-122"/>
                <a:cs typeface="Consolas" pitchFamily="34" charset="-120"/>
              </a:rPr>
              <a:t>$app-&gt;get('/', ...)</a:t>
            </a:r>
            <a:endParaRPr lang="en-US" sz="2000" dirty="0"/>
          </a:p>
          <a:p>
            <a:pPr marL="0" indent="0">
              <a:buNone/>
            </a:pPr>
            <a:r>
              <a:rPr lang="en-US" sz="2000" dirty="0">
                <a:solidFill>
                  <a:srgbClr val="64748B"/>
                </a:solidFill>
                <a:latin typeface="Calibri" pitchFamily="34" charset="0"/>
                <a:ea typeface="Calibri" pitchFamily="34" charset="-122"/>
                <a:cs typeface="Calibri" pitchFamily="34" charset="-120"/>
              </a:rPr>
              <a:t>Defines a GET route at the root path.</a:t>
            </a:r>
            <a:endParaRPr lang="en-US" sz="2000" dirty="0"/>
          </a:p>
          <a:p>
            <a:pPr marL="0" indent="0">
              <a:buNone/>
            </a:pPr>
            <a:r>
              <a:rPr lang="en-US" sz="2000" dirty="0">
                <a:solidFill>
                  <a:srgbClr val="1E293B"/>
                </a:solidFill>
                <a:latin typeface="Calibri" pitchFamily="34" charset="0"/>
                <a:ea typeface="Calibri" pitchFamily="34" charset="-122"/>
                <a:cs typeface="Calibri" pitchFamily="34" charset="-120"/>
              </a:rPr>
              <a:t> </a:t>
            </a:r>
            <a:endParaRPr lang="en-US" sz="2000" dirty="0"/>
          </a:p>
          <a:p>
            <a:pPr marL="0" indent="0">
              <a:buNone/>
            </a:pPr>
            <a:r>
              <a:rPr lang="en-US" sz="2000" dirty="0">
                <a:solidFill>
                  <a:srgbClr val="F59E0B"/>
                </a:solidFill>
                <a:latin typeface="Consolas" pitchFamily="34" charset="0"/>
                <a:ea typeface="Consolas" pitchFamily="34" charset="-122"/>
                <a:cs typeface="Consolas" pitchFamily="34" charset="-120"/>
              </a:rPr>
              <a:t>$app-&gt;run()</a:t>
            </a:r>
            <a:endParaRPr lang="en-US" sz="2000" dirty="0"/>
          </a:p>
          <a:p>
            <a:pPr marL="0" indent="0">
              <a:buNone/>
            </a:pPr>
            <a:r>
              <a:rPr lang="en-US" sz="2000" dirty="0">
                <a:solidFill>
                  <a:srgbClr val="64748B"/>
                </a:solidFill>
                <a:latin typeface="Calibri" pitchFamily="34" charset="0"/>
                <a:ea typeface="Calibri" pitchFamily="34" charset="-122"/>
                <a:cs typeface="Calibri" pitchFamily="34" charset="-120"/>
              </a:rPr>
              <a:t>Starts the request lifecycle.</a:t>
            </a:r>
            <a:endParaRPr lang="en-US" sz="2000" dirty="0"/>
          </a:p>
        </p:txBody>
      </p:sp>
      <p:sp>
        <p:nvSpPr>
          <p:cNvPr id="9" name="Text 7"/>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10" name="Text 8"/>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implistic overview of how middleware works.">
            <a:extLst>
              <a:ext uri="{FF2B5EF4-FFF2-40B4-BE49-F238E27FC236}">
                <a16:creationId xmlns:a16="http://schemas.microsoft.com/office/drawing/2014/main" id="{055A4C43-F0F3-1949-B9BD-156923FAABB5}"/>
              </a:ext>
            </a:extLst>
          </p:cNvPr>
          <p:cNvPicPr>
            <a:picLocks noChangeAspect="1"/>
          </p:cNvPicPr>
          <p:nvPr/>
        </p:nvPicPr>
        <p:blipFill>
          <a:blip r:embed="rId2"/>
          <a:stretch>
            <a:fillRect/>
          </a:stretch>
        </p:blipFill>
        <p:spPr>
          <a:xfrm>
            <a:off x="7256206" y="253179"/>
            <a:ext cx="3372466" cy="3372466"/>
          </a:xfrm>
          <a:prstGeom prst="rect">
            <a:avLst/>
          </a:prstGeom>
        </p:spPr>
      </p:pic>
      <p:sp>
        <p:nvSpPr>
          <p:cNvPr id="8" name="TextBox 7">
            <a:extLst>
              <a:ext uri="{FF2B5EF4-FFF2-40B4-BE49-F238E27FC236}">
                <a16:creationId xmlns:a16="http://schemas.microsoft.com/office/drawing/2014/main" id="{8E9A5CDC-1AE9-4476-C930-76B01C63767B}"/>
              </a:ext>
            </a:extLst>
          </p:cNvPr>
          <p:cNvSpPr txBox="1"/>
          <p:nvPr/>
        </p:nvSpPr>
        <p:spPr>
          <a:xfrm>
            <a:off x="147484" y="803213"/>
            <a:ext cx="6577780" cy="2862322"/>
          </a:xfrm>
          <a:prstGeom prst="rect">
            <a:avLst/>
          </a:prstGeom>
          <a:noFill/>
        </p:spPr>
        <p:txBody>
          <a:bodyPr wrap="square">
            <a:spAutoFit/>
          </a:bodyPr>
          <a:lstStyle/>
          <a:p>
            <a:pPr algn="just">
              <a:buNone/>
            </a:pPr>
            <a:r>
              <a:rPr lang="en-US" sz="2000" b="0" i="0" dirty="0">
                <a:solidFill>
                  <a:srgbClr val="000D25"/>
                </a:solidFill>
                <a:effectLst/>
                <a:latin typeface="Whitney SSm"/>
              </a:rPr>
              <a:t>In a Slim application, each route invokes a </a:t>
            </a:r>
            <a:r>
              <a:rPr lang="en-US" sz="2000" b="0" i="0" u="sng" dirty="0">
                <a:solidFill>
                  <a:srgbClr val="1866EE"/>
                </a:solidFill>
                <a:effectLst/>
                <a:latin typeface="Whitney SSm"/>
                <a:hlinkClick r:id="rId3"/>
              </a:rPr>
              <a:t>callback</a:t>
            </a:r>
            <a:r>
              <a:rPr lang="en-US" sz="2000" b="0" i="0" dirty="0">
                <a:solidFill>
                  <a:srgbClr val="000D25"/>
                </a:solidFill>
                <a:effectLst/>
                <a:latin typeface="Whitney SSm"/>
              </a:rPr>
              <a:t> function that returns an HTTP response object. The code above begins by bringing in all the </a:t>
            </a:r>
            <a:r>
              <a:rPr lang="en-US" sz="2000" b="0" i="0" u="sng" dirty="0">
                <a:solidFill>
                  <a:srgbClr val="1866EE"/>
                </a:solidFill>
                <a:effectLst/>
                <a:latin typeface="Whitney SSm"/>
                <a:hlinkClick r:id="rId4"/>
              </a:rPr>
              <a:t>PSR-7</a:t>
            </a:r>
            <a:r>
              <a:rPr lang="en-US" sz="2000" b="0" i="0" dirty="0">
                <a:solidFill>
                  <a:srgbClr val="000D25"/>
                </a:solidFill>
                <a:effectLst/>
                <a:latin typeface="Whitney SSm"/>
              </a:rPr>
              <a:t> components that the app needs. It then instantiates the app and attaches two middleware classes to it. </a:t>
            </a:r>
          </a:p>
          <a:p>
            <a:pPr algn="just">
              <a:buNone/>
            </a:pPr>
            <a:r>
              <a:rPr lang="en-US" sz="2000" b="0" i="0" dirty="0">
                <a:solidFill>
                  <a:srgbClr val="000D25"/>
                </a:solidFill>
                <a:effectLst/>
                <a:latin typeface="Whitney SSm"/>
              </a:rPr>
              <a:t>The Slim middleware architecture is derived from the </a:t>
            </a:r>
            <a:r>
              <a:rPr lang="en-US" sz="2000" b="0" i="0" u="sng" dirty="0">
                <a:solidFill>
                  <a:srgbClr val="1866EE"/>
                </a:solidFill>
                <a:effectLst/>
                <a:latin typeface="Whitney SSm"/>
                <a:hlinkClick r:id="rId5"/>
              </a:rPr>
              <a:t>PSR-15</a:t>
            </a:r>
            <a:r>
              <a:rPr lang="en-US" sz="2000" b="0" i="0" dirty="0">
                <a:solidFill>
                  <a:srgbClr val="000D25"/>
                </a:solidFill>
                <a:effectLst/>
                <a:latin typeface="Whitney SSm"/>
              </a:rPr>
              <a:t> middleware interface. This is a series of concentric layers that encircle the core application, such that the last middleware added will be the first to be executed.</a:t>
            </a:r>
          </a:p>
        </p:txBody>
      </p:sp>
      <p:sp>
        <p:nvSpPr>
          <p:cNvPr id="10" name="TextBox 9">
            <a:extLst>
              <a:ext uri="{FF2B5EF4-FFF2-40B4-BE49-F238E27FC236}">
                <a16:creationId xmlns:a16="http://schemas.microsoft.com/office/drawing/2014/main" id="{DE13DD58-51C5-F53E-955A-8CBC812EE130}"/>
              </a:ext>
            </a:extLst>
          </p:cNvPr>
          <p:cNvSpPr txBox="1"/>
          <p:nvPr/>
        </p:nvSpPr>
        <p:spPr>
          <a:xfrm>
            <a:off x="147484" y="3718679"/>
            <a:ext cx="11602064" cy="2862322"/>
          </a:xfrm>
          <a:prstGeom prst="rect">
            <a:avLst/>
          </a:prstGeom>
          <a:noFill/>
        </p:spPr>
        <p:txBody>
          <a:bodyPr wrap="square">
            <a:spAutoFit/>
          </a:bodyPr>
          <a:lstStyle/>
          <a:p>
            <a:pPr algn="just">
              <a:buNone/>
            </a:pPr>
            <a:r>
              <a:rPr lang="en-US" sz="2000" b="0" i="0" dirty="0">
                <a:solidFill>
                  <a:srgbClr val="000D25"/>
                </a:solidFill>
                <a:effectLst/>
                <a:latin typeface="Whitney SSm"/>
              </a:rPr>
              <a:t>This concentric architecture means that when the Slim application is started, the request object passes through a series of middleware classes, or layers, working from the outside inward. The request enters the outermost middleware, then moves on to the next outermost middleware, continuing until it reaches the application.</a:t>
            </a:r>
          </a:p>
          <a:p>
            <a:pPr algn="l">
              <a:buNone/>
            </a:pPr>
            <a:r>
              <a:rPr lang="en-US" sz="2000" b="0" i="0" dirty="0">
                <a:solidFill>
                  <a:srgbClr val="000D25"/>
                </a:solidFill>
                <a:effectLst/>
                <a:latin typeface="Whitney SSm"/>
              </a:rPr>
              <a:t>For this reason, to catch any errors in the application, you call </a:t>
            </a:r>
            <a:r>
              <a:rPr lang="en-US" sz="2000" b="0" i="0" dirty="0">
                <a:solidFill>
                  <a:srgbClr val="000D25"/>
                </a:solidFill>
                <a:effectLst/>
                <a:latin typeface="Courier New" panose="02070309020205020404" pitchFamily="49" charset="0"/>
              </a:rPr>
              <a:t>$app-&gt;</a:t>
            </a:r>
            <a:r>
              <a:rPr lang="en-US" sz="2000" b="0" i="0" dirty="0" err="1">
                <a:solidFill>
                  <a:srgbClr val="000D25"/>
                </a:solidFill>
                <a:effectLst/>
                <a:latin typeface="Courier New" panose="02070309020205020404" pitchFamily="49" charset="0"/>
              </a:rPr>
              <a:t>addErrorMiddleware</a:t>
            </a:r>
            <a:r>
              <a:rPr lang="en-US" sz="2000" b="0" i="0" dirty="0">
                <a:solidFill>
                  <a:srgbClr val="000D25"/>
                </a:solidFill>
                <a:effectLst/>
                <a:latin typeface="Courier New" panose="02070309020205020404" pitchFamily="49" charset="0"/>
              </a:rPr>
              <a:t>(true, true, true)</a:t>
            </a:r>
            <a:r>
              <a:rPr lang="en-US" sz="2000" b="1" i="0" dirty="0">
                <a:solidFill>
                  <a:srgbClr val="000D25"/>
                </a:solidFill>
                <a:effectLst/>
                <a:latin typeface="Whitney SSm"/>
              </a:rPr>
              <a:t> </a:t>
            </a:r>
            <a:r>
              <a:rPr lang="en-US" sz="2000" b="0" i="0" dirty="0">
                <a:solidFill>
                  <a:srgbClr val="000D25"/>
                </a:solidFill>
                <a:effectLst/>
                <a:latin typeface="Whitney SSm"/>
              </a:rPr>
              <a:t>last, otherwise any errors thrown from the other </a:t>
            </a:r>
            <a:r>
              <a:rPr lang="en-US" sz="2000" b="0" i="0" dirty="0" err="1">
                <a:solidFill>
                  <a:srgbClr val="000D25"/>
                </a:solidFill>
                <a:effectLst/>
                <a:latin typeface="Whitney SSm"/>
              </a:rPr>
              <a:t>middlewares</a:t>
            </a:r>
            <a:r>
              <a:rPr lang="en-US" sz="2000" b="0" i="0" dirty="0">
                <a:solidFill>
                  <a:srgbClr val="000D25"/>
                </a:solidFill>
                <a:effectLst/>
                <a:latin typeface="Whitney SSm"/>
              </a:rPr>
              <a:t> will not be caught.</a:t>
            </a:r>
          </a:p>
          <a:p>
            <a:pPr algn="just">
              <a:buNone/>
            </a:pPr>
            <a:r>
              <a:rPr lang="en-US" sz="2000" b="0" i="0" dirty="0">
                <a:solidFill>
                  <a:srgbClr val="000D25"/>
                </a:solidFill>
                <a:effectLst/>
                <a:latin typeface="Whitney SSm"/>
              </a:rPr>
              <a:t>Once the request object reaches the Slim application, the relevant route is dispatched, resulting in a response object exiting the concentric layers from the inside out. When the object passes the outermost middleware, it is turned into a raw HTTP response and then returned to the client.</a:t>
            </a:r>
          </a:p>
        </p:txBody>
      </p:sp>
    </p:spTree>
    <p:extLst>
      <p:ext uri="{BB962C8B-B14F-4D97-AF65-F5344CB8AC3E}">
        <p14:creationId xmlns:p14="http://schemas.microsoft.com/office/powerpoint/2010/main" val="607151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ROUTING IN SLIM</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Route Patterns You'll Use Daily</a:t>
            </a:r>
            <a:endParaRPr lang="en-US" sz="3200" dirty="0"/>
          </a:p>
        </p:txBody>
      </p:sp>
      <p:sp>
        <p:nvSpPr>
          <p:cNvPr id="4" name="Shape 2"/>
          <p:cNvSpPr/>
          <p:nvPr/>
        </p:nvSpPr>
        <p:spPr>
          <a:xfrm>
            <a:off x="186813" y="845574"/>
            <a:ext cx="11608947" cy="5847834"/>
          </a:xfrm>
          <a:prstGeom prst="rect">
            <a:avLst/>
          </a:prstGeom>
          <a:solidFill>
            <a:srgbClr val="1E293B"/>
          </a:solidFill>
          <a:ln w="12700">
            <a:solidFill>
              <a:srgbClr val="1E293B"/>
            </a:solidFill>
            <a:prstDash val="solid"/>
          </a:ln>
        </p:spPr>
        <p:txBody>
          <a:bodyPr/>
          <a:lstStyle/>
          <a:p>
            <a:endParaRPr lang="en-MY" dirty="0"/>
          </a:p>
        </p:txBody>
      </p:sp>
      <p:sp>
        <p:nvSpPr>
          <p:cNvPr id="5" name="Text 3"/>
          <p:cNvSpPr/>
          <p:nvPr/>
        </p:nvSpPr>
        <p:spPr>
          <a:xfrm>
            <a:off x="361995" y="975360"/>
            <a:ext cx="11269173" cy="5577934"/>
          </a:xfrm>
          <a:prstGeom prst="rect">
            <a:avLst/>
          </a:prstGeom>
          <a:noFill/>
          <a:ln/>
        </p:spPr>
        <p:txBody>
          <a:bodyPr wrap="square" lIns="0" tIns="0" rIns="0" bIns="0" rtlCol="0" anchor="t"/>
          <a:lstStyle/>
          <a:p>
            <a:pPr marL="0" indent="0" algn="l">
              <a:buNone/>
            </a:pPr>
            <a:r>
              <a:rPr lang="en-US" dirty="0">
                <a:solidFill>
                  <a:srgbClr val="E2E8F0"/>
                </a:solidFill>
                <a:latin typeface="Consolas" pitchFamily="34" charset="0"/>
                <a:ea typeface="Consolas" pitchFamily="34" charset="-122"/>
                <a:cs typeface="Consolas" pitchFamily="34" charset="-120"/>
              </a:rPr>
              <a:t>// Static path</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$app-&gt;get('/about', fn(Request $r, Response $s) =&gt; $s-&gt;getBody()-&gt;write('about') ?: $s);</a:t>
            </a:r>
            <a:endParaRPr lang="en-US" dirty="0"/>
          </a:p>
          <a:p>
            <a:pPr marL="0" indent="0" algn="l">
              <a:buNone/>
            </a:pP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Path parameter (id is captured)</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$app-&gt;get('/books/{id}', function (Request $r, Response $s, array $args) {</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$id = (int)$args['id'];</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$s-&gt;getBody()-&gt;write(json_encode(['id' =&gt; $id]));</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return $s-&gt;withHeader('Content-Type', 'application/json');</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t>
            </a:r>
            <a:endParaRPr lang="en-US" dirty="0"/>
          </a:p>
          <a:p>
            <a:pPr marL="0" indent="0" algn="l">
              <a:buNone/>
            </a:pP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Multiple verbs on the same path</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$app-&gt;post('/books',          BookController::class . ':create');</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$app-&gt;put('/books/{id}',      BookController::class . ':update');</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$app-&gt;delete('/books/{id}',   BookController::class . ':delete');</a:t>
            </a:r>
            <a:endParaRPr lang="en-US" dirty="0"/>
          </a:p>
          <a:p>
            <a:pPr marL="0" indent="0" algn="l">
              <a:buNone/>
            </a:pP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Route group with shared prefix</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$app-&gt;group('/api', function ($g) {</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$g-&gt;get('/books',         BookController::class . ':index');</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$g-&gt;get('/books/{id}',    BookController::class . ':show');</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t>
            </a:r>
            <a:endParaRPr lang="en-US" dirty="0"/>
          </a:p>
        </p:txBody>
      </p:sp>
      <p:sp>
        <p:nvSpPr>
          <p:cNvPr id="6" name="Text 4"/>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7" name="Text 5"/>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REQUEST OBJECT</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Reading Inputs from the Request</a:t>
            </a:r>
            <a:endParaRPr lang="en-US" sz="3200" dirty="0"/>
          </a:p>
        </p:txBody>
      </p:sp>
      <p:sp>
        <p:nvSpPr>
          <p:cNvPr id="4" name="Shape 2"/>
          <p:cNvSpPr/>
          <p:nvPr/>
        </p:nvSpPr>
        <p:spPr>
          <a:xfrm>
            <a:off x="147484" y="845573"/>
            <a:ext cx="12044516" cy="5906827"/>
          </a:xfrm>
          <a:prstGeom prst="rect">
            <a:avLst/>
          </a:prstGeom>
          <a:solidFill>
            <a:srgbClr val="1E293B"/>
          </a:solidFill>
          <a:ln w="12700">
            <a:solidFill>
              <a:srgbClr val="1E293B"/>
            </a:solidFill>
            <a:prstDash val="solid"/>
          </a:ln>
        </p:spPr>
        <p:txBody>
          <a:bodyPr/>
          <a:lstStyle/>
          <a:p>
            <a:endParaRPr lang="en-MY" sz="2000"/>
          </a:p>
        </p:txBody>
      </p:sp>
      <p:sp>
        <p:nvSpPr>
          <p:cNvPr id="5" name="Text 3"/>
          <p:cNvSpPr/>
          <p:nvPr/>
        </p:nvSpPr>
        <p:spPr>
          <a:xfrm>
            <a:off x="323817" y="978082"/>
            <a:ext cx="11691994" cy="5634204"/>
          </a:xfrm>
          <a:prstGeom prst="rect">
            <a:avLst/>
          </a:prstGeom>
          <a:noFill/>
          <a:ln/>
        </p:spPr>
        <p:txBody>
          <a:bodyPr wrap="square" lIns="0" tIns="0" rIns="0" bIns="0" rtlCol="0" anchor="t"/>
          <a:lstStyle/>
          <a:p>
            <a:pPr marL="0" indent="0" algn="l">
              <a:buNone/>
            </a:pPr>
            <a:r>
              <a:rPr lang="en-US" sz="2000" dirty="0">
                <a:solidFill>
                  <a:srgbClr val="E2E8F0"/>
                </a:solidFill>
                <a:latin typeface="Consolas" pitchFamily="34" charset="0"/>
                <a:ea typeface="Consolas" pitchFamily="34" charset="-122"/>
                <a:cs typeface="Consolas" pitchFamily="34" charset="-120"/>
              </a:rPr>
              <a:t>// 1. Path parameters — third callback argument</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$app-&gt;get('/books/{id}', function (Request $r, Response $s, array $args) {</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$id = (int)$args['id'];   // /books/12 → 12</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return $s;</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2. Query string — ?q=harry&amp;limit=10</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$app-&gt;get('/books', function (Request $r, Response $s) {</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$params = $r-&gt;getQueryParams();</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$q      = $params['q']     ?? '';</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$limit  = (int)($params['limit'] ?? 20);</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3. JSON body for POST/PUT</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$app-&gt;post('/books', function (Request $r, Response $s) {</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$data = json_decode((string)$r-&gt;getBody(), true);  // assoc array</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$title = $data['title'] ?? null;</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t>
            </a:r>
            <a:endParaRPr lang="en-US" sz="2000" dirty="0"/>
          </a:p>
          <a:p>
            <a:pPr marL="0" indent="0" algn="l">
              <a:buNone/>
            </a:pP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 4. Headers</a:t>
            </a:r>
            <a:endParaRPr lang="en-US" sz="2000" dirty="0"/>
          </a:p>
          <a:p>
            <a:pPr marL="0" indent="0" algn="l">
              <a:buNone/>
            </a:pPr>
            <a:r>
              <a:rPr lang="en-US" sz="2000" dirty="0">
                <a:solidFill>
                  <a:srgbClr val="E2E8F0"/>
                </a:solidFill>
                <a:latin typeface="Consolas" pitchFamily="34" charset="0"/>
                <a:ea typeface="Consolas" pitchFamily="34" charset="-122"/>
                <a:cs typeface="Consolas" pitchFamily="34" charset="-120"/>
              </a:rPr>
              <a:t>$auth = $r-&gt;getHeaderLine('Authorization');   // 'Bearer eyJhbGc...'</a:t>
            </a:r>
            <a:endParaRPr lang="en-US" sz="2000" dirty="0"/>
          </a:p>
        </p:txBody>
      </p:sp>
      <p:sp>
        <p:nvSpPr>
          <p:cNvPr id="6" name="Text 4"/>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7" name="Text 5"/>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RESPONSE OBJECT</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Building a JSON Response</a:t>
            </a:r>
            <a:endParaRPr lang="en-US" sz="3200" dirty="0"/>
          </a:p>
        </p:txBody>
      </p:sp>
      <p:sp>
        <p:nvSpPr>
          <p:cNvPr id="4" name="Shape 2"/>
          <p:cNvSpPr/>
          <p:nvPr/>
        </p:nvSpPr>
        <p:spPr>
          <a:xfrm>
            <a:off x="589940" y="865239"/>
            <a:ext cx="10943304" cy="5672721"/>
          </a:xfrm>
          <a:prstGeom prst="rect">
            <a:avLst/>
          </a:prstGeom>
          <a:solidFill>
            <a:srgbClr val="1E293B"/>
          </a:solidFill>
          <a:ln w="12700">
            <a:solidFill>
              <a:srgbClr val="1E293B"/>
            </a:solidFill>
            <a:prstDash val="solid"/>
          </a:ln>
        </p:spPr>
        <p:txBody>
          <a:bodyPr/>
          <a:lstStyle/>
          <a:p>
            <a:endParaRPr lang="en-MY"/>
          </a:p>
        </p:txBody>
      </p:sp>
      <p:sp>
        <p:nvSpPr>
          <p:cNvPr id="5" name="Text 3"/>
          <p:cNvSpPr/>
          <p:nvPr/>
        </p:nvSpPr>
        <p:spPr>
          <a:xfrm>
            <a:off x="768000" y="994117"/>
            <a:ext cx="10623012" cy="5410903"/>
          </a:xfrm>
          <a:prstGeom prst="rect">
            <a:avLst/>
          </a:prstGeom>
          <a:noFill/>
          <a:ln/>
        </p:spPr>
        <p:txBody>
          <a:bodyPr wrap="square" lIns="0" tIns="0" rIns="0" bIns="0" rtlCol="0" anchor="t"/>
          <a:lstStyle/>
          <a:p>
            <a:pPr marL="0" indent="0" algn="l">
              <a:buNone/>
            </a:pPr>
            <a:r>
              <a:rPr lang="en-US" dirty="0">
                <a:solidFill>
                  <a:srgbClr val="E2E8F0"/>
                </a:solidFill>
                <a:latin typeface="Consolas" pitchFamily="34" charset="0"/>
                <a:ea typeface="Consolas" pitchFamily="34" charset="-122"/>
                <a:cs typeface="Consolas" pitchFamily="34" charset="-120"/>
              </a:rPr>
              <a:t>// Convention: always return JSON + correct status code.</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function jsonResponse(Response $res, $data, int $status = 200): Response {</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$res-&gt;getBody()-&gt;write(json_encode($data));</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return $res</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-&gt;withHeader('Content-Type', 'application/json')</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-&gt;withStatus($status);</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t>
            </a:r>
            <a:endParaRPr lang="en-US" dirty="0"/>
          </a:p>
          <a:p>
            <a:pPr marL="0" indent="0" algn="l">
              <a:buNone/>
            </a:pP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$app-&gt;post('/books', function (Request $r, Response $s) {</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$data = json_decode((string)$r-&gt;getBody(), true);</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if (empty($data['title'])) {</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return jsonResponse($s, ['error' =&gt; 'title is required'], 400);</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$book = ['id' =&gt; 99, 'title' =&gt; $data['title']];</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return jsonResponse($s, $book, 201)</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-&gt;withHeader('Location', '/api/books/' . $book['id']);</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a:t>
            </a:r>
            <a:endParaRPr lang="en-US" dirty="0"/>
          </a:p>
          <a:p>
            <a:pPr marL="0" indent="0" algn="l">
              <a:buNone/>
            </a:pP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Tip: Slim's PSR-7 response object is IMMUTABLE.</a:t>
            </a:r>
            <a:endParaRPr lang="en-US" dirty="0"/>
          </a:p>
          <a:p>
            <a:pPr marL="0" indent="0" algn="l">
              <a:buNone/>
            </a:pPr>
            <a:r>
              <a:rPr lang="en-US" dirty="0">
                <a:solidFill>
                  <a:srgbClr val="E2E8F0"/>
                </a:solidFill>
                <a:latin typeface="Consolas" pitchFamily="34" charset="0"/>
                <a:ea typeface="Consolas" pitchFamily="34" charset="-122"/>
                <a:cs typeface="Consolas" pitchFamily="34" charset="-120"/>
              </a:rPr>
              <a:t>// withHeader / withStatus return a NEW object — always return it.</a:t>
            </a:r>
            <a:endParaRPr lang="en-US" dirty="0"/>
          </a:p>
        </p:txBody>
      </p:sp>
      <p:sp>
        <p:nvSpPr>
          <p:cNvPr id="6" name="Text 4"/>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7" name="Text 5"/>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MIDDLEWARE</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Middleware: Cross-Cutting Logic</a:t>
            </a:r>
            <a:endParaRPr lang="en-US" sz="3200" dirty="0"/>
          </a:p>
        </p:txBody>
      </p:sp>
      <p:sp>
        <p:nvSpPr>
          <p:cNvPr id="4" name="Shape 2"/>
          <p:cNvSpPr/>
          <p:nvPr/>
        </p:nvSpPr>
        <p:spPr>
          <a:xfrm>
            <a:off x="253671" y="1280160"/>
            <a:ext cx="3657600" cy="475488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5" name="Text 3"/>
          <p:cNvSpPr/>
          <p:nvPr/>
        </p:nvSpPr>
        <p:spPr>
          <a:xfrm>
            <a:off x="482271" y="1463040"/>
            <a:ext cx="3200400" cy="365760"/>
          </a:xfrm>
          <a:prstGeom prst="rect">
            <a:avLst/>
          </a:prstGeom>
          <a:noFill/>
          <a:ln/>
        </p:spPr>
        <p:txBody>
          <a:bodyPr wrap="square" lIns="0" tIns="0" rIns="0" bIns="0" rtlCol="0" anchor="ctr"/>
          <a:lstStyle/>
          <a:p>
            <a:pPr marL="0" indent="0">
              <a:buNone/>
            </a:pPr>
            <a:r>
              <a:rPr lang="en-US" sz="2400" b="1" dirty="0">
                <a:solidFill>
                  <a:srgbClr val="065A82"/>
                </a:solidFill>
                <a:latin typeface="Calibri" pitchFamily="34" charset="0"/>
                <a:ea typeface="Calibri" pitchFamily="34" charset="-122"/>
                <a:cs typeface="Calibri" pitchFamily="34" charset="-120"/>
              </a:rPr>
              <a:t>Common uses</a:t>
            </a:r>
            <a:endParaRPr lang="en-US" sz="2400" dirty="0"/>
          </a:p>
        </p:txBody>
      </p:sp>
      <p:sp>
        <p:nvSpPr>
          <p:cNvPr id="6" name="Text 4"/>
          <p:cNvSpPr/>
          <p:nvPr/>
        </p:nvSpPr>
        <p:spPr>
          <a:xfrm>
            <a:off x="482271" y="1874520"/>
            <a:ext cx="3291840" cy="4023360"/>
          </a:xfrm>
          <a:prstGeom prst="rect">
            <a:avLst/>
          </a:prstGeom>
          <a:noFill/>
          <a:ln/>
        </p:spPr>
        <p:txBody>
          <a:bodyPr wrap="square" lIns="0" tIns="0" rIns="0" bIns="0" rtlCol="0" anchor="ctr"/>
          <a:lstStyle/>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JSON body parsing</a:t>
            </a:r>
            <a:endParaRPr lang="en-US" sz="2400" dirty="0"/>
          </a:p>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CORS headers</a:t>
            </a:r>
            <a:endParaRPr lang="en-US" sz="2400" dirty="0"/>
          </a:p>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Authentication (JWT)</a:t>
            </a:r>
            <a:endParaRPr lang="en-US" sz="2400" dirty="0"/>
          </a:p>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Logging / timing</a:t>
            </a:r>
            <a:endParaRPr lang="en-US" sz="2400" dirty="0"/>
          </a:p>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Rate limiting</a:t>
            </a:r>
            <a:endParaRPr lang="en-US" sz="2400" dirty="0"/>
          </a:p>
          <a:p>
            <a:pPr marL="342900" indent="-342900">
              <a:spcAft>
                <a:spcPts val="400"/>
              </a:spcAft>
              <a:buSzPct val="100000"/>
              <a:buChar char="•"/>
            </a:pPr>
            <a:r>
              <a:rPr lang="en-US" sz="2400" dirty="0">
                <a:solidFill>
                  <a:srgbClr val="1E293B"/>
                </a:solidFill>
                <a:latin typeface="Calibri" pitchFamily="34" charset="0"/>
                <a:ea typeface="Calibri" pitchFamily="34" charset="-122"/>
                <a:cs typeface="Calibri" pitchFamily="34" charset="-120"/>
              </a:rPr>
              <a:t>Error formatting</a:t>
            </a:r>
            <a:endParaRPr lang="en-US" sz="2400" dirty="0"/>
          </a:p>
        </p:txBody>
      </p:sp>
      <p:sp>
        <p:nvSpPr>
          <p:cNvPr id="7" name="Shape 5"/>
          <p:cNvSpPr/>
          <p:nvPr/>
        </p:nvSpPr>
        <p:spPr>
          <a:xfrm>
            <a:off x="3682671" y="1108095"/>
            <a:ext cx="8509329" cy="5212080"/>
          </a:xfrm>
          <a:prstGeom prst="rect">
            <a:avLst/>
          </a:prstGeom>
          <a:solidFill>
            <a:srgbClr val="1E293B"/>
          </a:solidFill>
          <a:ln w="12700">
            <a:solidFill>
              <a:srgbClr val="1E293B"/>
            </a:solidFill>
            <a:prstDash val="solid"/>
          </a:ln>
        </p:spPr>
        <p:txBody>
          <a:bodyPr/>
          <a:lstStyle/>
          <a:p>
            <a:endParaRPr lang="en-MY" sz="1600"/>
          </a:p>
        </p:txBody>
      </p:sp>
      <p:sp>
        <p:nvSpPr>
          <p:cNvPr id="8" name="Text 6"/>
          <p:cNvSpPr/>
          <p:nvPr/>
        </p:nvSpPr>
        <p:spPr>
          <a:xfrm>
            <a:off x="3880900" y="1238925"/>
            <a:ext cx="8128788" cy="4971522"/>
          </a:xfrm>
          <a:prstGeom prst="rect">
            <a:avLst/>
          </a:prstGeom>
          <a:noFill/>
          <a:ln/>
        </p:spPr>
        <p:txBody>
          <a:bodyPr wrap="square" lIns="0" tIns="0" rIns="0" bIns="0" rtlCol="0" anchor="t"/>
          <a:lstStyle/>
          <a:p>
            <a:pPr marL="0" indent="0" algn="l">
              <a:buNone/>
            </a:pPr>
            <a:r>
              <a:rPr lang="en-US" sz="1600" dirty="0">
                <a:solidFill>
                  <a:srgbClr val="E2E8F0"/>
                </a:solidFill>
                <a:latin typeface="Consolas" pitchFamily="34" charset="0"/>
                <a:ea typeface="Consolas" pitchFamily="34" charset="-122"/>
                <a:cs typeface="Consolas" pitchFamily="34" charset="-120"/>
              </a:rPr>
              <a:t>// Custom middleware — parses JSON bodies into the request</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$app-&gt;add(function (Request $req, $handler)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if (str_starts_with($req-&gt;getHeaderLine('Content-Type'), 'application/json'))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$body = (string)$req-&gt;getBody();</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$req = $req-&gt;withParsedBody(json_decode($body, true) ??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return $handler-&gt;handle($req);  // pass on to next layer</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t>
            </a:r>
            <a:endParaRPr lang="en-US" sz="1600" dirty="0"/>
          </a:p>
          <a:p>
            <a:pPr marL="0" indent="0" algn="l">
              <a:buNone/>
            </a:pP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CORS — let a Vue dev server on :5173 call our API</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$app-&gt;add(function (Request $req, $handler)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$res = $handler-&gt;handle($req);</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return $res</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-&gt;withHeader('Access-Control-Allow-Origin',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-&gt;withHeader('Access-Control-Allow-Headers', 'Content-Type, Authorization')</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-&gt;withHeader('Access-Control-Allow-Methods', 'GET, POST, PUT, DELETE, OPTIONS');</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t>
            </a:r>
            <a:endParaRPr lang="en-US" sz="1600" dirty="0"/>
          </a:p>
        </p:txBody>
      </p:sp>
      <p:sp>
        <p:nvSpPr>
          <p:cNvPr id="9" name="Text 7"/>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10" name="Text 8"/>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PUTTING IT ALL TOGETHER</a:t>
            </a:r>
            <a:endParaRPr lang="en-US" sz="1200" dirty="0"/>
          </a:p>
        </p:txBody>
      </p:sp>
      <p:sp>
        <p:nvSpPr>
          <p:cNvPr id="3" name="Text 1"/>
          <p:cNvSpPr/>
          <p:nvPr/>
        </p:nvSpPr>
        <p:spPr>
          <a:xfrm>
            <a:off x="3456039" y="-4916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Worked Example — BookController</a:t>
            </a:r>
            <a:endParaRPr lang="en-US" sz="3200" dirty="0"/>
          </a:p>
        </p:txBody>
      </p:sp>
      <p:sp>
        <p:nvSpPr>
          <p:cNvPr id="4" name="Shape 2"/>
          <p:cNvSpPr/>
          <p:nvPr/>
        </p:nvSpPr>
        <p:spPr>
          <a:xfrm>
            <a:off x="884903" y="488072"/>
            <a:ext cx="10530351" cy="6099048"/>
          </a:xfrm>
          <a:prstGeom prst="rect">
            <a:avLst/>
          </a:prstGeom>
          <a:solidFill>
            <a:srgbClr val="1E293B"/>
          </a:solidFill>
          <a:ln w="12700">
            <a:solidFill>
              <a:srgbClr val="1E293B"/>
            </a:solidFill>
            <a:prstDash val="solid"/>
          </a:ln>
        </p:spPr>
        <p:txBody>
          <a:bodyPr/>
          <a:lstStyle/>
          <a:p>
            <a:endParaRPr lang="en-MY" sz="1600"/>
          </a:p>
        </p:txBody>
      </p:sp>
      <p:sp>
        <p:nvSpPr>
          <p:cNvPr id="5" name="Text 3"/>
          <p:cNvSpPr/>
          <p:nvPr/>
        </p:nvSpPr>
        <p:spPr>
          <a:xfrm>
            <a:off x="1019509" y="636627"/>
            <a:ext cx="10222146" cy="5817554"/>
          </a:xfrm>
          <a:prstGeom prst="rect">
            <a:avLst/>
          </a:prstGeom>
          <a:noFill/>
          <a:ln/>
        </p:spPr>
        <p:txBody>
          <a:bodyPr wrap="square" lIns="0" tIns="0" rIns="0" bIns="0" rtlCol="0" anchor="t"/>
          <a:lstStyle/>
          <a:p>
            <a:pPr marL="0" indent="0" algn="l">
              <a:buNone/>
            </a:pPr>
            <a:r>
              <a:rPr lang="en-US" sz="1600" dirty="0">
                <a:solidFill>
                  <a:srgbClr val="E2E8F0"/>
                </a:solidFill>
                <a:latin typeface="Consolas" pitchFamily="34" charset="0"/>
                <a:ea typeface="Consolas" pitchFamily="34" charset="-122"/>
                <a:cs typeface="Consolas" pitchFamily="34" charset="-120"/>
              </a:rPr>
              <a:t>&lt;?php  // src/Controllers/BookController.php</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namespace App\Controllers;</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use Psr\Http\Message\ResponseInterface as Response;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use Psr\Http\Message\ServerRequestInterface as Request;</a:t>
            </a:r>
            <a:endParaRPr lang="en-US" sz="1600" dirty="0"/>
          </a:p>
          <a:p>
            <a:pPr marL="0" indent="0" algn="l">
              <a:buNone/>
            </a:pP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class BookController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private static array $books =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['id'=&gt;1,'title'=&gt;'Clean Code',         'author'=&gt;'Robert C. Martin'],</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['id'=&gt;2,'title'=&gt;'Eloquent JavaScript','author'=&gt;'Marijn Haverbeke'],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public function index(Request $r, Response $s): Response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return $this-&gt;json($s, self::$books);</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public function show(Request $r, Response $s, array $args): Response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$id = (int)$args['id'];</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$found = array_values(array_filter(self::$books, fn($b)=&gt;$b['id']===$id))[0] ?? null;</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return $found ? $this-&gt;json($s, $found)</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 $this-&gt;json($s, ['error'=&gt;'not found'], 404);</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private function json(Response $s, $d, int $code=200): Response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$s-&gt;getBody()-&gt;write(json_encode($d));</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return $s-&gt;withHeader('Content-Type','application/json')-&gt;withStatus($code);</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  }</a:t>
            </a:r>
            <a:endParaRPr lang="en-US" sz="1600" dirty="0"/>
          </a:p>
          <a:p>
            <a:pPr marL="0" indent="0" algn="l">
              <a:buNone/>
            </a:pPr>
            <a:r>
              <a:rPr lang="en-US" sz="1600" dirty="0">
                <a:solidFill>
                  <a:srgbClr val="E2E8F0"/>
                </a:solidFill>
                <a:latin typeface="Consolas" pitchFamily="34" charset="0"/>
                <a:ea typeface="Consolas" pitchFamily="34" charset="-122"/>
                <a:cs typeface="Consolas" pitchFamily="34" charset="-120"/>
              </a:rPr>
              <a:t>}</a:t>
            </a:r>
            <a:endParaRPr lang="en-US" sz="1600" dirty="0"/>
          </a:p>
        </p:txBody>
      </p:sp>
      <p:sp>
        <p:nvSpPr>
          <p:cNvPr id="6" name="Text 4"/>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7" name="Text 5"/>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WATCH OUT</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Common Pitfalls &amp; Best Practices</a:t>
            </a:r>
            <a:endParaRPr lang="en-US" sz="3200" dirty="0"/>
          </a:p>
        </p:txBody>
      </p:sp>
      <p:sp>
        <p:nvSpPr>
          <p:cNvPr id="4" name="Shape 2"/>
          <p:cNvSpPr/>
          <p:nvPr/>
        </p:nvSpPr>
        <p:spPr>
          <a:xfrm>
            <a:off x="548640" y="137160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5" name="Shape 3"/>
          <p:cNvSpPr/>
          <p:nvPr/>
        </p:nvSpPr>
        <p:spPr>
          <a:xfrm>
            <a:off x="777240" y="1645920"/>
            <a:ext cx="502920" cy="502920"/>
          </a:xfrm>
          <a:prstGeom prst="ellipse">
            <a:avLst/>
          </a:prstGeom>
          <a:solidFill>
            <a:srgbClr val="DC2626"/>
          </a:solidFill>
          <a:ln w="12700">
            <a:solidFill>
              <a:srgbClr val="DC2626"/>
            </a:solidFill>
            <a:prstDash val="solid"/>
          </a:ln>
        </p:spPr>
        <p:txBody>
          <a:bodyPr/>
          <a:lstStyle/>
          <a:p>
            <a:endParaRPr lang="en-MY" sz="2400"/>
          </a:p>
        </p:txBody>
      </p:sp>
      <p:sp>
        <p:nvSpPr>
          <p:cNvPr id="6" name="Text 4"/>
          <p:cNvSpPr/>
          <p:nvPr/>
        </p:nvSpPr>
        <p:spPr>
          <a:xfrm>
            <a:off x="777240" y="164592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1417320" y="155448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Forgetting to RETURN the response</a:t>
            </a:r>
            <a:endParaRPr lang="en-US" sz="2400" dirty="0"/>
          </a:p>
        </p:txBody>
      </p:sp>
      <p:sp>
        <p:nvSpPr>
          <p:cNvPr id="8" name="Text 6"/>
          <p:cNvSpPr/>
          <p:nvPr/>
        </p:nvSpPr>
        <p:spPr>
          <a:xfrm>
            <a:off x="1268358" y="2011680"/>
            <a:ext cx="4980532"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withHeader/withStatus are immutable — always return the new object.</a:t>
            </a:r>
            <a:endParaRPr lang="en-US" sz="2400" dirty="0"/>
          </a:p>
        </p:txBody>
      </p:sp>
      <p:sp>
        <p:nvSpPr>
          <p:cNvPr id="9" name="Shape 7"/>
          <p:cNvSpPr/>
          <p:nvPr/>
        </p:nvSpPr>
        <p:spPr>
          <a:xfrm>
            <a:off x="6309360" y="137160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0" name="Shape 8"/>
          <p:cNvSpPr/>
          <p:nvPr/>
        </p:nvSpPr>
        <p:spPr>
          <a:xfrm>
            <a:off x="6537960" y="1645920"/>
            <a:ext cx="502920" cy="502920"/>
          </a:xfrm>
          <a:prstGeom prst="ellipse">
            <a:avLst/>
          </a:prstGeom>
          <a:solidFill>
            <a:srgbClr val="DC2626"/>
          </a:solidFill>
          <a:ln w="12700">
            <a:solidFill>
              <a:srgbClr val="DC2626"/>
            </a:solidFill>
            <a:prstDash val="solid"/>
          </a:ln>
        </p:spPr>
        <p:txBody>
          <a:bodyPr/>
          <a:lstStyle/>
          <a:p>
            <a:endParaRPr lang="en-MY" sz="2400"/>
          </a:p>
        </p:txBody>
      </p:sp>
      <p:sp>
        <p:nvSpPr>
          <p:cNvPr id="11" name="Text 9"/>
          <p:cNvSpPr/>
          <p:nvPr/>
        </p:nvSpPr>
        <p:spPr>
          <a:xfrm>
            <a:off x="6537960" y="164592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7178040" y="155448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Wrong Content-Type</a:t>
            </a:r>
            <a:endParaRPr lang="en-US" sz="2400" dirty="0"/>
          </a:p>
        </p:txBody>
      </p:sp>
      <p:sp>
        <p:nvSpPr>
          <p:cNvPr id="13" name="Text 11"/>
          <p:cNvSpPr/>
          <p:nvPr/>
        </p:nvSpPr>
        <p:spPr>
          <a:xfrm>
            <a:off x="7178040" y="2011680"/>
            <a:ext cx="457200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Use application/json on every JSON response.</a:t>
            </a:r>
            <a:endParaRPr lang="en-US" sz="2400" dirty="0"/>
          </a:p>
        </p:txBody>
      </p:sp>
      <p:sp>
        <p:nvSpPr>
          <p:cNvPr id="14" name="Shape 12"/>
          <p:cNvSpPr/>
          <p:nvPr/>
        </p:nvSpPr>
        <p:spPr>
          <a:xfrm>
            <a:off x="548640" y="292608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15" name="Shape 13"/>
          <p:cNvSpPr/>
          <p:nvPr/>
        </p:nvSpPr>
        <p:spPr>
          <a:xfrm>
            <a:off x="777240" y="3200400"/>
            <a:ext cx="502920" cy="502920"/>
          </a:xfrm>
          <a:prstGeom prst="ellipse">
            <a:avLst/>
          </a:prstGeom>
          <a:solidFill>
            <a:srgbClr val="DC2626"/>
          </a:solidFill>
          <a:ln w="12700">
            <a:solidFill>
              <a:srgbClr val="DC2626"/>
            </a:solidFill>
            <a:prstDash val="solid"/>
          </a:ln>
        </p:spPr>
        <p:txBody>
          <a:bodyPr/>
          <a:lstStyle/>
          <a:p>
            <a:endParaRPr lang="en-MY" sz="2400"/>
          </a:p>
        </p:txBody>
      </p:sp>
      <p:sp>
        <p:nvSpPr>
          <p:cNvPr id="16" name="Text 14"/>
          <p:cNvSpPr/>
          <p:nvPr/>
        </p:nvSpPr>
        <p:spPr>
          <a:xfrm>
            <a:off x="777240" y="320040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1417320" y="310896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Stringifying twice</a:t>
            </a:r>
            <a:endParaRPr lang="en-US" sz="2400" dirty="0"/>
          </a:p>
        </p:txBody>
      </p:sp>
      <p:sp>
        <p:nvSpPr>
          <p:cNvPr id="18" name="Text 16"/>
          <p:cNvSpPr/>
          <p:nvPr/>
        </p:nvSpPr>
        <p:spPr>
          <a:xfrm>
            <a:off x="1417320" y="3566160"/>
            <a:ext cx="457200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json_encode($data) once; don't wrap with another json_encode.</a:t>
            </a:r>
            <a:endParaRPr lang="en-US" sz="2400" dirty="0"/>
          </a:p>
        </p:txBody>
      </p:sp>
      <p:sp>
        <p:nvSpPr>
          <p:cNvPr id="19" name="Shape 17"/>
          <p:cNvSpPr/>
          <p:nvPr/>
        </p:nvSpPr>
        <p:spPr>
          <a:xfrm>
            <a:off x="6309360" y="292608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0" name="Shape 18"/>
          <p:cNvSpPr/>
          <p:nvPr/>
        </p:nvSpPr>
        <p:spPr>
          <a:xfrm>
            <a:off x="6537960" y="3200400"/>
            <a:ext cx="502920" cy="502920"/>
          </a:xfrm>
          <a:prstGeom prst="ellipse">
            <a:avLst/>
          </a:prstGeom>
          <a:solidFill>
            <a:srgbClr val="10B981"/>
          </a:solidFill>
          <a:ln w="12700">
            <a:solidFill>
              <a:srgbClr val="10B981"/>
            </a:solidFill>
            <a:prstDash val="solid"/>
          </a:ln>
        </p:spPr>
        <p:txBody>
          <a:bodyPr/>
          <a:lstStyle/>
          <a:p>
            <a:endParaRPr lang="en-MY" sz="2400"/>
          </a:p>
        </p:txBody>
      </p:sp>
      <p:sp>
        <p:nvSpPr>
          <p:cNvPr id="21" name="Text 19"/>
          <p:cNvSpPr/>
          <p:nvPr/>
        </p:nvSpPr>
        <p:spPr>
          <a:xfrm>
            <a:off x="6537960" y="320040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7178040" y="310896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Always validate inputs</a:t>
            </a:r>
            <a:endParaRPr lang="en-US" sz="2400" dirty="0"/>
          </a:p>
        </p:txBody>
      </p:sp>
      <p:sp>
        <p:nvSpPr>
          <p:cNvPr id="23" name="Text 21"/>
          <p:cNvSpPr/>
          <p:nvPr/>
        </p:nvSpPr>
        <p:spPr>
          <a:xfrm>
            <a:off x="7178040" y="3566160"/>
            <a:ext cx="457200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Treat anything from the client as hostile until proven otherwise.</a:t>
            </a:r>
            <a:endParaRPr lang="en-US" sz="2400" dirty="0"/>
          </a:p>
        </p:txBody>
      </p:sp>
      <p:sp>
        <p:nvSpPr>
          <p:cNvPr id="24" name="Shape 22"/>
          <p:cNvSpPr/>
          <p:nvPr/>
        </p:nvSpPr>
        <p:spPr>
          <a:xfrm>
            <a:off x="548640" y="448056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25" name="Shape 23"/>
          <p:cNvSpPr/>
          <p:nvPr/>
        </p:nvSpPr>
        <p:spPr>
          <a:xfrm>
            <a:off x="777240" y="4754880"/>
            <a:ext cx="502920" cy="502920"/>
          </a:xfrm>
          <a:prstGeom prst="ellipse">
            <a:avLst/>
          </a:prstGeom>
          <a:solidFill>
            <a:srgbClr val="10B981"/>
          </a:solidFill>
          <a:ln w="12700">
            <a:solidFill>
              <a:srgbClr val="10B981"/>
            </a:solidFill>
            <a:prstDash val="solid"/>
          </a:ln>
        </p:spPr>
        <p:txBody>
          <a:bodyPr/>
          <a:lstStyle/>
          <a:p>
            <a:endParaRPr lang="en-MY" sz="2400"/>
          </a:p>
        </p:txBody>
      </p:sp>
      <p:sp>
        <p:nvSpPr>
          <p:cNvPr id="26" name="Text 24"/>
          <p:cNvSpPr/>
          <p:nvPr/>
        </p:nvSpPr>
        <p:spPr>
          <a:xfrm>
            <a:off x="777240" y="47548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7" name="Text 25"/>
          <p:cNvSpPr/>
          <p:nvPr/>
        </p:nvSpPr>
        <p:spPr>
          <a:xfrm>
            <a:off x="1417320" y="466344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Use route groups</a:t>
            </a:r>
            <a:endParaRPr lang="en-US" sz="2400" dirty="0"/>
          </a:p>
        </p:txBody>
      </p:sp>
      <p:sp>
        <p:nvSpPr>
          <p:cNvPr id="28" name="Text 26"/>
          <p:cNvSpPr/>
          <p:nvPr/>
        </p:nvSpPr>
        <p:spPr>
          <a:xfrm>
            <a:off x="1417320" y="5120640"/>
            <a:ext cx="457200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Group /api routes once, apply auth middleware to the group.</a:t>
            </a:r>
            <a:endParaRPr lang="en-US" sz="2400" dirty="0"/>
          </a:p>
        </p:txBody>
      </p:sp>
      <p:sp>
        <p:nvSpPr>
          <p:cNvPr id="29" name="Shape 27"/>
          <p:cNvSpPr/>
          <p:nvPr/>
        </p:nvSpPr>
        <p:spPr>
          <a:xfrm>
            <a:off x="6309360" y="4480560"/>
            <a:ext cx="5532120" cy="137160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400"/>
          </a:p>
        </p:txBody>
      </p:sp>
      <p:sp>
        <p:nvSpPr>
          <p:cNvPr id="30" name="Shape 28"/>
          <p:cNvSpPr/>
          <p:nvPr/>
        </p:nvSpPr>
        <p:spPr>
          <a:xfrm>
            <a:off x="6537960" y="4754880"/>
            <a:ext cx="502920" cy="502920"/>
          </a:xfrm>
          <a:prstGeom prst="ellipse">
            <a:avLst/>
          </a:prstGeom>
          <a:solidFill>
            <a:srgbClr val="10B981"/>
          </a:solidFill>
          <a:ln w="12700">
            <a:solidFill>
              <a:srgbClr val="10B981"/>
            </a:solidFill>
            <a:prstDash val="solid"/>
          </a:ln>
        </p:spPr>
        <p:txBody>
          <a:bodyPr/>
          <a:lstStyle/>
          <a:p>
            <a:endParaRPr lang="en-MY" sz="2400"/>
          </a:p>
        </p:txBody>
      </p:sp>
      <p:sp>
        <p:nvSpPr>
          <p:cNvPr id="31" name="Text 29"/>
          <p:cNvSpPr/>
          <p:nvPr/>
        </p:nvSpPr>
        <p:spPr>
          <a:xfrm>
            <a:off x="6537960" y="475488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32" name="Text 30"/>
          <p:cNvSpPr/>
          <p:nvPr/>
        </p:nvSpPr>
        <p:spPr>
          <a:xfrm>
            <a:off x="7178040" y="4663440"/>
            <a:ext cx="4572000" cy="45720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Return correct status codes</a:t>
            </a:r>
            <a:endParaRPr lang="en-US" sz="2400" dirty="0"/>
          </a:p>
        </p:txBody>
      </p:sp>
      <p:sp>
        <p:nvSpPr>
          <p:cNvPr id="33" name="Text 31"/>
          <p:cNvSpPr/>
          <p:nvPr/>
        </p:nvSpPr>
        <p:spPr>
          <a:xfrm>
            <a:off x="7178040" y="5120640"/>
            <a:ext cx="4572000" cy="640080"/>
          </a:xfrm>
          <a:prstGeom prst="rect">
            <a:avLst/>
          </a:prstGeom>
          <a:noFill/>
          <a:ln/>
        </p:spPr>
        <p:txBody>
          <a:bodyPr wrap="square" lIns="0" tIns="0" rIns="0" bIns="0" rtlCol="0" anchor="ctr"/>
          <a:lstStyle/>
          <a:p>
            <a:pPr marL="0" indent="0">
              <a:buNone/>
            </a:pPr>
            <a:r>
              <a:rPr lang="en-US" sz="2400" dirty="0">
                <a:solidFill>
                  <a:srgbClr val="64748B"/>
                </a:solidFill>
                <a:latin typeface="Calibri" pitchFamily="34" charset="0"/>
                <a:ea typeface="Calibri" pitchFamily="34" charset="-122"/>
                <a:cs typeface="Calibri" pitchFamily="34" charset="-120"/>
              </a:rPr>
              <a:t>201 on create, 204 on delete, 400 / 401 / 404 / 500 where appropriate.</a:t>
            </a:r>
            <a:endParaRPr lang="en-US" sz="2400" dirty="0"/>
          </a:p>
        </p:txBody>
      </p:sp>
      <p:sp>
        <p:nvSpPr>
          <p:cNvPr id="34" name="Text 32"/>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35" name="Text 33"/>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164592"/>
            <a:ext cx="11247120" cy="274320"/>
          </a:xfrm>
          <a:prstGeom prst="rect">
            <a:avLst/>
          </a:prstGeom>
          <a:noFill/>
          <a:ln/>
        </p:spPr>
        <p:txBody>
          <a:bodyPr wrap="square" lIns="0" tIns="0" rIns="0" bIns="0" rtlCol="0" anchor="ctr"/>
          <a:lstStyle/>
          <a:p>
            <a:pPr marL="0" indent="0" algn="l">
              <a:buNone/>
            </a:pPr>
            <a:r>
              <a:rPr lang="en-US" sz="1200" b="1" kern="0" spc="400" dirty="0">
                <a:solidFill>
                  <a:srgbClr val="F59E0B"/>
                </a:solidFill>
                <a:latin typeface="Calibri" pitchFamily="34" charset="0"/>
                <a:ea typeface="Calibri" pitchFamily="34" charset="-122"/>
                <a:cs typeface="Calibri" pitchFamily="34" charset="-120"/>
              </a:rPr>
              <a:t>WHAT YOU NOW KNOW</a:t>
            </a:r>
            <a:endParaRPr lang="en-US" sz="120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Summary — Chapter 9</a:t>
            </a:r>
            <a:endParaRPr lang="en-US" sz="3200" dirty="0"/>
          </a:p>
        </p:txBody>
      </p:sp>
      <p:sp>
        <p:nvSpPr>
          <p:cNvPr id="4" name="Shape 2"/>
          <p:cNvSpPr/>
          <p:nvPr/>
        </p:nvSpPr>
        <p:spPr>
          <a:xfrm>
            <a:off x="548640" y="1417320"/>
            <a:ext cx="11247120" cy="8229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5" name="Shape 3"/>
          <p:cNvSpPr/>
          <p:nvPr/>
        </p:nvSpPr>
        <p:spPr>
          <a:xfrm>
            <a:off x="548640" y="1417320"/>
            <a:ext cx="164592" cy="822960"/>
          </a:xfrm>
          <a:prstGeom prst="rect">
            <a:avLst/>
          </a:prstGeom>
          <a:solidFill>
            <a:srgbClr val="F59E0B"/>
          </a:solidFill>
          <a:ln w="12700">
            <a:solidFill>
              <a:srgbClr val="F59E0B"/>
            </a:solidFill>
            <a:prstDash val="solid"/>
          </a:ln>
        </p:spPr>
        <p:txBody>
          <a:bodyPr/>
          <a:lstStyle/>
          <a:p>
            <a:endParaRPr lang="en-MY" sz="2800"/>
          </a:p>
        </p:txBody>
      </p:sp>
      <p:sp>
        <p:nvSpPr>
          <p:cNvPr id="6" name="Text 4"/>
          <p:cNvSpPr/>
          <p:nvPr/>
        </p:nvSpPr>
        <p:spPr>
          <a:xfrm>
            <a:off x="868680" y="1417320"/>
            <a:ext cx="2286000" cy="8229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Server-side</a:t>
            </a:r>
            <a:endParaRPr lang="en-US" sz="2800" dirty="0"/>
          </a:p>
        </p:txBody>
      </p:sp>
      <p:sp>
        <p:nvSpPr>
          <p:cNvPr id="7" name="Text 5"/>
          <p:cNvSpPr/>
          <p:nvPr/>
        </p:nvSpPr>
        <p:spPr>
          <a:xfrm>
            <a:off x="3200400" y="1417320"/>
            <a:ext cx="8503920" cy="822960"/>
          </a:xfrm>
          <a:prstGeom prst="rect">
            <a:avLst/>
          </a:prstGeom>
          <a:noFill/>
          <a:ln/>
        </p:spPr>
        <p:txBody>
          <a:bodyPr wrap="square" lIns="0" tIns="0" rIns="0" bIns="0" rtlCol="0" anchor="ctr"/>
          <a:lstStyle/>
          <a:p>
            <a:pPr marL="0" indent="0">
              <a:buNone/>
            </a:pPr>
            <a:r>
              <a:rPr lang="en-US" sz="2800" dirty="0">
                <a:solidFill>
                  <a:srgbClr val="1E293B"/>
                </a:solidFill>
                <a:latin typeface="Calibri" pitchFamily="34" charset="0"/>
                <a:ea typeface="Calibri" pitchFamily="34" charset="-122"/>
                <a:cs typeface="Calibri" pitchFamily="34" charset="-120"/>
              </a:rPr>
              <a:t>Validates input, enforces logic, talks to data, returns JSON.</a:t>
            </a:r>
            <a:endParaRPr lang="en-US" sz="2800" dirty="0"/>
          </a:p>
        </p:txBody>
      </p:sp>
      <p:sp>
        <p:nvSpPr>
          <p:cNvPr id="8" name="Shape 6"/>
          <p:cNvSpPr/>
          <p:nvPr/>
        </p:nvSpPr>
        <p:spPr>
          <a:xfrm>
            <a:off x="548640" y="2377440"/>
            <a:ext cx="11247120" cy="8229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9" name="Shape 7"/>
          <p:cNvSpPr/>
          <p:nvPr/>
        </p:nvSpPr>
        <p:spPr>
          <a:xfrm>
            <a:off x="548640" y="2377440"/>
            <a:ext cx="164592" cy="822960"/>
          </a:xfrm>
          <a:prstGeom prst="rect">
            <a:avLst/>
          </a:prstGeom>
          <a:solidFill>
            <a:srgbClr val="F59E0B"/>
          </a:solidFill>
          <a:ln w="12700">
            <a:solidFill>
              <a:srgbClr val="F59E0B"/>
            </a:solidFill>
            <a:prstDash val="solid"/>
          </a:ln>
        </p:spPr>
        <p:txBody>
          <a:bodyPr/>
          <a:lstStyle/>
          <a:p>
            <a:endParaRPr lang="en-MY" sz="2800"/>
          </a:p>
        </p:txBody>
      </p:sp>
      <p:sp>
        <p:nvSpPr>
          <p:cNvPr id="10" name="Text 8"/>
          <p:cNvSpPr/>
          <p:nvPr/>
        </p:nvSpPr>
        <p:spPr>
          <a:xfrm>
            <a:off x="868680" y="2377440"/>
            <a:ext cx="2286000" cy="8229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REST</a:t>
            </a:r>
            <a:endParaRPr lang="en-US" sz="2800" dirty="0"/>
          </a:p>
        </p:txBody>
      </p:sp>
      <p:sp>
        <p:nvSpPr>
          <p:cNvPr id="11" name="Text 9"/>
          <p:cNvSpPr/>
          <p:nvPr/>
        </p:nvSpPr>
        <p:spPr>
          <a:xfrm>
            <a:off x="3200400" y="2377440"/>
            <a:ext cx="8503920" cy="822960"/>
          </a:xfrm>
          <a:prstGeom prst="rect">
            <a:avLst/>
          </a:prstGeom>
          <a:noFill/>
          <a:ln/>
        </p:spPr>
        <p:txBody>
          <a:bodyPr wrap="square" lIns="0" tIns="0" rIns="0" bIns="0" rtlCol="0" anchor="ctr"/>
          <a:lstStyle/>
          <a:p>
            <a:pPr marL="0" indent="0">
              <a:buNone/>
            </a:pPr>
            <a:r>
              <a:rPr lang="en-US" sz="2800" dirty="0">
                <a:solidFill>
                  <a:srgbClr val="1E293B"/>
                </a:solidFill>
                <a:latin typeface="Calibri" pitchFamily="34" charset="0"/>
                <a:ea typeface="Calibri" pitchFamily="34" charset="-122"/>
                <a:cs typeface="Calibri" pitchFamily="34" charset="-120"/>
              </a:rPr>
              <a:t>Resources are nouns; HTTP verbs act on them; statelessness wins.</a:t>
            </a:r>
            <a:endParaRPr lang="en-US" sz="2800" dirty="0"/>
          </a:p>
        </p:txBody>
      </p:sp>
      <p:sp>
        <p:nvSpPr>
          <p:cNvPr id="12" name="Shape 10"/>
          <p:cNvSpPr/>
          <p:nvPr/>
        </p:nvSpPr>
        <p:spPr>
          <a:xfrm>
            <a:off x="548640" y="3337560"/>
            <a:ext cx="11247120" cy="8229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13" name="Shape 11"/>
          <p:cNvSpPr/>
          <p:nvPr/>
        </p:nvSpPr>
        <p:spPr>
          <a:xfrm>
            <a:off x="548640" y="3337560"/>
            <a:ext cx="164592" cy="822960"/>
          </a:xfrm>
          <a:prstGeom prst="rect">
            <a:avLst/>
          </a:prstGeom>
          <a:solidFill>
            <a:srgbClr val="F59E0B"/>
          </a:solidFill>
          <a:ln w="12700">
            <a:solidFill>
              <a:srgbClr val="F59E0B"/>
            </a:solidFill>
            <a:prstDash val="solid"/>
          </a:ln>
        </p:spPr>
        <p:txBody>
          <a:bodyPr/>
          <a:lstStyle/>
          <a:p>
            <a:endParaRPr lang="en-MY" sz="2800"/>
          </a:p>
        </p:txBody>
      </p:sp>
      <p:sp>
        <p:nvSpPr>
          <p:cNvPr id="14" name="Text 12"/>
          <p:cNvSpPr/>
          <p:nvPr/>
        </p:nvSpPr>
        <p:spPr>
          <a:xfrm>
            <a:off x="868680" y="3337560"/>
            <a:ext cx="2286000" cy="8229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HTTP</a:t>
            </a:r>
            <a:endParaRPr lang="en-US" sz="2800" dirty="0"/>
          </a:p>
        </p:txBody>
      </p:sp>
      <p:sp>
        <p:nvSpPr>
          <p:cNvPr id="15" name="Text 13"/>
          <p:cNvSpPr/>
          <p:nvPr/>
        </p:nvSpPr>
        <p:spPr>
          <a:xfrm>
            <a:off x="3200400" y="3337560"/>
            <a:ext cx="8503920" cy="822960"/>
          </a:xfrm>
          <a:prstGeom prst="rect">
            <a:avLst/>
          </a:prstGeom>
          <a:noFill/>
          <a:ln/>
        </p:spPr>
        <p:txBody>
          <a:bodyPr wrap="square" lIns="0" tIns="0" rIns="0" bIns="0" rtlCol="0" anchor="ctr"/>
          <a:lstStyle/>
          <a:p>
            <a:pPr marL="0" indent="0">
              <a:buNone/>
            </a:pPr>
            <a:r>
              <a:rPr lang="en-US" sz="2800" dirty="0">
                <a:solidFill>
                  <a:srgbClr val="1E293B"/>
                </a:solidFill>
                <a:latin typeface="Calibri" pitchFamily="34" charset="0"/>
                <a:ea typeface="Calibri" pitchFamily="34" charset="-122"/>
                <a:cs typeface="Calibri" pitchFamily="34" charset="-120"/>
              </a:rPr>
              <a:t>Know the verbs (GET/POST/PUT/PATCH/DELETE) and the codes (2xx/4xx/5xx).</a:t>
            </a:r>
            <a:endParaRPr lang="en-US" sz="2800" dirty="0"/>
          </a:p>
        </p:txBody>
      </p:sp>
      <p:sp>
        <p:nvSpPr>
          <p:cNvPr id="16" name="Shape 14"/>
          <p:cNvSpPr/>
          <p:nvPr/>
        </p:nvSpPr>
        <p:spPr>
          <a:xfrm>
            <a:off x="548640" y="4297680"/>
            <a:ext cx="11247120" cy="8229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17" name="Shape 15"/>
          <p:cNvSpPr/>
          <p:nvPr/>
        </p:nvSpPr>
        <p:spPr>
          <a:xfrm>
            <a:off x="548640" y="4297680"/>
            <a:ext cx="164592" cy="822960"/>
          </a:xfrm>
          <a:prstGeom prst="rect">
            <a:avLst/>
          </a:prstGeom>
          <a:solidFill>
            <a:srgbClr val="F59E0B"/>
          </a:solidFill>
          <a:ln w="12700">
            <a:solidFill>
              <a:srgbClr val="F59E0B"/>
            </a:solidFill>
            <a:prstDash val="solid"/>
          </a:ln>
        </p:spPr>
        <p:txBody>
          <a:bodyPr/>
          <a:lstStyle/>
          <a:p>
            <a:endParaRPr lang="en-MY" sz="2800"/>
          </a:p>
        </p:txBody>
      </p:sp>
      <p:sp>
        <p:nvSpPr>
          <p:cNvPr id="18" name="Text 16"/>
          <p:cNvSpPr/>
          <p:nvPr/>
        </p:nvSpPr>
        <p:spPr>
          <a:xfrm>
            <a:off x="868680" y="4297680"/>
            <a:ext cx="2286000" cy="8229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Slim 4</a:t>
            </a:r>
            <a:endParaRPr lang="en-US" sz="2800" dirty="0"/>
          </a:p>
        </p:txBody>
      </p:sp>
      <p:sp>
        <p:nvSpPr>
          <p:cNvPr id="19" name="Text 17"/>
          <p:cNvSpPr/>
          <p:nvPr/>
        </p:nvSpPr>
        <p:spPr>
          <a:xfrm>
            <a:off x="3200400" y="4297680"/>
            <a:ext cx="8503920" cy="822960"/>
          </a:xfrm>
          <a:prstGeom prst="rect">
            <a:avLst/>
          </a:prstGeom>
          <a:noFill/>
          <a:ln/>
        </p:spPr>
        <p:txBody>
          <a:bodyPr wrap="square" lIns="0" tIns="0" rIns="0" bIns="0" rtlCol="0" anchor="ctr"/>
          <a:lstStyle/>
          <a:p>
            <a:pPr marL="0" indent="0">
              <a:buNone/>
            </a:pPr>
            <a:r>
              <a:rPr lang="en-US" sz="2800" dirty="0">
                <a:solidFill>
                  <a:srgbClr val="1E293B"/>
                </a:solidFill>
                <a:latin typeface="Calibri" pitchFamily="34" charset="0"/>
                <a:ea typeface="Calibri" pitchFamily="34" charset="-122"/>
                <a:cs typeface="Calibri" pitchFamily="34" charset="-120"/>
              </a:rPr>
              <a:t>Micro framework on PSR-7/15; routes + handlers + middleware.</a:t>
            </a:r>
            <a:endParaRPr lang="en-US" sz="2800" dirty="0"/>
          </a:p>
        </p:txBody>
      </p:sp>
      <p:sp>
        <p:nvSpPr>
          <p:cNvPr id="20" name="Shape 18"/>
          <p:cNvSpPr/>
          <p:nvPr/>
        </p:nvSpPr>
        <p:spPr>
          <a:xfrm>
            <a:off x="548640" y="5257800"/>
            <a:ext cx="11247120" cy="822960"/>
          </a:xfrm>
          <a:prstGeom prst="rect">
            <a:avLst/>
          </a:prstGeom>
          <a:solidFill>
            <a:srgbClr val="FFFFFF"/>
          </a:solidFill>
          <a:ln w="12700">
            <a:solidFill>
              <a:srgbClr val="E2E8F0"/>
            </a:solidFill>
            <a:prstDash val="solid"/>
          </a:ln>
          <a:effectLst>
            <a:outerShdw blurRad="101600" dist="25400" dir="5400000" algn="bl" rotWithShape="0">
              <a:srgbClr val="000000">
                <a:alpha val="7000"/>
              </a:srgbClr>
            </a:outerShdw>
          </a:effectLst>
        </p:spPr>
        <p:txBody>
          <a:bodyPr/>
          <a:lstStyle/>
          <a:p>
            <a:endParaRPr lang="en-MY" sz="2800"/>
          </a:p>
        </p:txBody>
      </p:sp>
      <p:sp>
        <p:nvSpPr>
          <p:cNvPr id="21" name="Shape 19"/>
          <p:cNvSpPr/>
          <p:nvPr/>
        </p:nvSpPr>
        <p:spPr>
          <a:xfrm>
            <a:off x="548640" y="5257800"/>
            <a:ext cx="164592" cy="822960"/>
          </a:xfrm>
          <a:prstGeom prst="rect">
            <a:avLst/>
          </a:prstGeom>
          <a:solidFill>
            <a:srgbClr val="F59E0B"/>
          </a:solidFill>
          <a:ln w="12700">
            <a:solidFill>
              <a:srgbClr val="F59E0B"/>
            </a:solidFill>
            <a:prstDash val="solid"/>
          </a:ln>
        </p:spPr>
        <p:txBody>
          <a:bodyPr/>
          <a:lstStyle/>
          <a:p>
            <a:endParaRPr lang="en-MY" sz="2800"/>
          </a:p>
        </p:txBody>
      </p:sp>
      <p:sp>
        <p:nvSpPr>
          <p:cNvPr id="22" name="Text 20"/>
          <p:cNvSpPr/>
          <p:nvPr/>
        </p:nvSpPr>
        <p:spPr>
          <a:xfrm>
            <a:off x="868680" y="5257800"/>
            <a:ext cx="2286000" cy="8229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Practice</a:t>
            </a:r>
            <a:endParaRPr lang="en-US" sz="2800" dirty="0"/>
          </a:p>
        </p:txBody>
      </p:sp>
      <p:sp>
        <p:nvSpPr>
          <p:cNvPr id="23" name="Text 21"/>
          <p:cNvSpPr/>
          <p:nvPr/>
        </p:nvSpPr>
        <p:spPr>
          <a:xfrm>
            <a:off x="3200400" y="5257800"/>
            <a:ext cx="8503920" cy="822960"/>
          </a:xfrm>
          <a:prstGeom prst="rect">
            <a:avLst/>
          </a:prstGeom>
          <a:noFill/>
          <a:ln/>
        </p:spPr>
        <p:txBody>
          <a:bodyPr wrap="square" lIns="0" tIns="0" rIns="0" bIns="0" rtlCol="0" anchor="ctr"/>
          <a:lstStyle/>
          <a:p>
            <a:pPr marL="0" indent="0">
              <a:buNone/>
            </a:pPr>
            <a:r>
              <a:rPr lang="en-US" sz="2800" dirty="0">
                <a:solidFill>
                  <a:srgbClr val="1E293B"/>
                </a:solidFill>
                <a:latin typeface="Calibri" pitchFamily="34" charset="0"/>
                <a:ea typeface="Calibri" pitchFamily="34" charset="-122"/>
                <a:cs typeface="Calibri" pitchFamily="34" charset="-120"/>
              </a:rPr>
              <a:t>You can scaffold, define routes, parse JSON, and return responses.</a:t>
            </a:r>
            <a:endParaRPr lang="en-US" sz="2800" dirty="0"/>
          </a:p>
        </p:txBody>
      </p:sp>
      <p:sp>
        <p:nvSpPr>
          <p:cNvPr id="24" name="Text 22"/>
          <p:cNvSpPr/>
          <p:nvPr/>
        </p:nvSpPr>
        <p:spPr>
          <a:xfrm>
            <a:off x="457200" y="6537960"/>
            <a:ext cx="73152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SCSM2223 • Chapter 9 • Server-Side and PHP Slim</a:t>
            </a:r>
            <a:endParaRPr lang="en-US" sz="900" dirty="0"/>
          </a:p>
        </p:txBody>
      </p:sp>
      <p:sp>
        <p:nvSpPr>
          <p:cNvPr id="25" name="Text 23"/>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59E0B"/>
          </a:solidFill>
          <a:ln w="12700">
            <a:solidFill>
              <a:srgbClr val="F59E0B"/>
            </a:solidFill>
            <a:prstDash val="solid"/>
          </a:ln>
        </p:spPr>
        <p:txBody>
          <a:bodyPr/>
          <a:lstStyle/>
          <a:p>
            <a:endParaRPr lang="en-MY"/>
          </a:p>
        </p:txBody>
      </p:sp>
      <p:sp>
        <p:nvSpPr>
          <p:cNvPr id="3" name="Text 1"/>
          <p:cNvSpPr/>
          <p:nvPr/>
        </p:nvSpPr>
        <p:spPr>
          <a:xfrm>
            <a:off x="822960" y="1280160"/>
            <a:ext cx="10972800" cy="548640"/>
          </a:xfrm>
          <a:prstGeom prst="rect">
            <a:avLst/>
          </a:prstGeom>
          <a:noFill/>
          <a:ln/>
        </p:spPr>
        <p:txBody>
          <a:bodyPr wrap="square" lIns="0" tIns="0" rIns="0" bIns="0" rtlCol="0" anchor="ctr"/>
          <a:lstStyle/>
          <a:p>
            <a:pPr marL="0" indent="0">
              <a:buNone/>
            </a:pPr>
            <a:r>
              <a:rPr lang="en-US" sz="1800" b="1" kern="0" spc="600" dirty="0">
                <a:solidFill>
                  <a:srgbClr val="F59E0B"/>
                </a:solidFill>
                <a:latin typeface="Calibri" pitchFamily="34" charset="0"/>
                <a:ea typeface="Calibri" pitchFamily="34" charset="-122"/>
                <a:cs typeface="Calibri" pitchFamily="34" charset="-120"/>
              </a:rPr>
              <a:t>Next Up</a:t>
            </a:r>
            <a:endParaRPr lang="en-US" sz="1800" dirty="0"/>
          </a:p>
        </p:txBody>
      </p:sp>
      <p:sp>
        <p:nvSpPr>
          <p:cNvPr id="4" name="Text 2"/>
          <p:cNvSpPr/>
          <p:nvPr/>
        </p:nvSpPr>
        <p:spPr>
          <a:xfrm>
            <a:off x="822960" y="1828800"/>
            <a:ext cx="10972800" cy="109728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Lab Hands-On — Build a Books REST API</a:t>
            </a:r>
            <a:endParaRPr lang="en-US" sz="4400" dirty="0"/>
          </a:p>
        </p:txBody>
      </p:sp>
      <p:sp>
        <p:nvSpPr>
          <p:cNvPr id="5" name="Text 3"/>
          <p:cNvSpPr/>
          <p:nvPr/>
        </p:nvSpPr>
        <p:spPr>
          <a:xfrm>
            <a:off x="822960" y="3108960"/>
            <a:ext cx="10972800" cy="73152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Five GET / POST / PUT / DELETE endpoints in PHP Slim 4 — running on Laragon, tested with curl/Postman.</a:t>
            </a:r>
            <a:endParaRPr lang="en-US" sz="1800" dirty="0"/>
          </a:p>
        </p:txBody>
      </p:sp>
      <p:sp>
        <p:nvSpPr>
          <p:cNvPr id="6" name="Shape 4"/>
          <p:cNvSpPr/>
          <p:nvPr/>
        </p:nvSpPr>
        <p:spPr>
          <a:xfrm>
            <a:off x="822960" y="4297680"/>
            <a:ext cx="274320" cy="274320"/>
          </a:xfrm>
          <a:prstGeom prst="ellipse">
            <a:avLst/>
          </a:prstGeom>
          <a:solidFill>
            <a:srgbClr val="F59E0B"/>
          </a:solidFill>
          <a:ln w="12700">
            <a:solidFill>
              <a:srgbClr val="F59E0B"/>
            </a:solidFill>
            <a:prstDash val="solid"/>
          </a:ln>
        </p:spPr>
        <p:txBody>
          <a:bodyPr/>
          <a:lstStyle/>
          <a:p>
            <a:endParaRPr lang="en-MY"/>
          </a:p>
        </p:txBody>
      </p:sp>
      <p:sp>
        <p:nvSpPr>
          <p:cNvPr id="7" name="Text 5"/>
          <p:cNvSpPr/>
          <p:nvPr/>
        </p:nvSpPr>
        <p:spPr>
          <a:xfrm>
            <a:off x="1280160" y="4251960"/>
            <a:ext cx="1005840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Set up Laragon + Composer</a:t>
            </a:r>
            <a:endParaRPr lang="en-US" sz="1600" dirty="0"/>
          </a:p>
        </p:txBody>
      </p:sp>
      <p:sp>
        <p:nvSpPr>
          <p:cNvPr id="8" name="Shape 6"/>
          <p:cNvSpPr/>
          <p:nvPr/>
        </p:nvSpPr>
        <p:spPr>
          <a:xfrm>
            <a:off x="822960" y="4709160"/>
            <a:ext cx="274320" cy="274320"/>
          </a:xfrm>
          <a:prstGeom prst="ellipse">
            <a:avLst/>
          </a:prstGeom>
          <a:solidFill>
            <a:srgbClr val="F59E0B"/>
          </a:solidFill>
          <a:ln w="12700">
            <a:solidFill>
              <a:srgbClr val="F59E0B"/>
            </a:solidFill>
            <a:prstDash val="solid"/>
          </a:ln>
        </p:spPr>
        <p:txBody>
          <a:bodyPr/>
          <a:lstStyle/>
          <a:p>
            <a:endParaRPr lang="en-MY"/>
          </a:p>
        </p:txBody>
      </p:sp>
      <p:sp>
        <p:nvSpPr>
          <p:cNvPr id="9" name="Text 7"/>
          <p:cNvSpPr/>
          <p:nvPr/>
        </p:nvSpPr>
        <p:spPr>
          <a:xfrm>
            <a:off x="1280160" y="4663440"/>
            <a:ext cx="1005840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Scaffold Slim 4 project</a:t>
            </a:r>
            <a:endParaRPr lang="en-US" sz="1600" dirty="0"/>
          </a:p>
        </p:txBody>
      </p:sp>
      <p:sp>
        <p:nvSpPr>
          <p:cNvPr id="10" name="Shape 8"/>
          <p:cNvSpPr/>
          <p:nvPr/>
        </p:nvSpPr>
        <p:spPr>
          <a:xfrm>
            <a:off x="822960" y="5120640"/>
            <a:ext cx="274320" cy="274320"/>
          </a:xfrm>
          <a:prstGeom prst="ellipse">
            <a:avLst/>
          </a:prstGeom>
          <a:solidFill>
            <a:srgbClr val="F59E0B"/>
          </a:solidFill>
          <a:ln w="12700">
            <a:solidFill>
              <a:srgbClr val="F59E0B"/>
            </a:solidFill>
            <a:prstDash val="solid"/>
          </a:ln>
        </p:spPr>
        <p:txBody>
          <a:bodyPr/>
          <a:lstStyle/>
          <a:p>
            <a:endParaRPr lang="en-MY"/>
          </a:p>
        </p:txBody>
      </p:sp>
      <p:sp>
        <p:nvSpPr>
          <p:cNvPr id="11" name="Text 9"/>
          <p:cNvSpPr/>
          <p:nvPr/>
        </p:nvSpPr>
        <p:spPr>
          <a:xfrm>
            <a:off x="1280160" y="5074920"/>
            <a:ext cx="1005840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Define five RESTful routes</a:t>
            </a:r>
            <a:endParaRPr lang="en-US" sz="1600" dirty="0"/>
          </a:p>
        </p:txBody>
      </p:sp>
      <p:sp>
        <p:nvSpPr>
          <p:cNvPr id="12" name="Shape 10"/>
          <p:cNvSpPr/>
          <p:nvPr/>
        </p:nvSpPr>
        <p:spPr>
          <a:xfrm>
            <a:off x="822960" y="5532120"/>
            <a:ext cx="274320" cy="274320"/>
          </a:xfrm>
          <a:prstGeom prst="ellipse">
            <a:avLst/>
          </a:prstGeom>
          <a:solidFill>
            <a:srgbClr val="F59E0B"/>
          </a:solidFill>
          <a:ln w="12700">
            <a:solidFill>
              <a:srgbClr val="F59E0B"/>
            </a:solidFill>
            <a:prstDash val="solid"/>
          </a:ln>
        </p:spPr>
        <p:txBody>
          <a:bodyPr/>
          <a:lstStyle/>
          <a:p>
            <a:endParaRPr lang="en-MY"/>
          </a:p>
        </p:txBody>
      </p:sp>
      <p:sp>
        <p:nvSpPr>
          <p:cNvPr id="13" name="Text 11"/>
          <p:cNvSpPr/>
          <p:nvPr/>
        </p:nvSpPr>
        <p:spPr>
          <a:xfrm>
            <a:off x="1280160" y="5486400"/>
            <a:ext cx="1005840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Test each with Postman / curl</a:t>
            </a:r>
            <a:endParaRPr lang="en-US" sz="1600" dirty="0"/>
          </a:p>
        </p:txBody>
      </p:sp>
      <p:sp>
        <p:nvSpPr>
          <p:cNvPr id="14" name="Shape 12"/>
          <p:cNvSpPr/>
          <p:nvPr/>
        </p:nvSpPr>
        <p:spPr>
          <a:xfrm>
            <a:off x="822960" y="5943600"/>
            <a:ext cx="274320" cy="274320"/>
          </a:xfrm>
          <a:prstGeom prst="ellipse">
            <a:avLst/>
          </a:prstGeom>
          <a:solidFill>
            <a:srgbClr val="F59E0B"/>
          </a:solidFill>
          <a:ln w="12700">
            <a:solidFill>
              <a:srgbClr val="F59E0B"/>
            </a:solidFill>
            <a:prstDash val="solid"/>
          </a:ln>
        </p:spPr>
        <p:txBody>
          <a:bodyPr/>
          <a:lstStyle/>
          <a:p>
            <a:endParaRPr lang="en-MY"/>
          </a:p>
        </p:txBody>
      </p:sp>
      <p:sp>
        <p:nvSpPr>
          <p:cNvPr id="15" name="Text 13"/>
          <p:cNvSpPr/>
          <p:nvPr/>
        </p:nvSpPr>
        <p:spPr>
          <a:xfrm>
            <a:off x="1280160" y="5897880"/>
            <a:ext cx="1005840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Bonus: add a custom middleware</a:t>
            </a:r>
            <a:endParaRPr lang="en-US" sz="1600" dirty="0"/>
          </a:p>
        </p:txBody>
      </p:sp>
      <p:sp>
        <p:nvSpPr>
          <p:cNvPr id="16" name="Text 14"/>
          <p:cNvSpPr/>
          <p:nvPr/>
        </p:nvSpPr>
        <p:spPr>
          <a:xfrm>
            <a:off x="10789920" y="6537960"/>
            <a:ext cx="91440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TotalTime>
  <Words>3394</Words>
  <Application>Microsoft Office PowerPoint</Application>
  <PresentationFormat>Widescreen</PresentationFormat>
  <Paragraphs>564</Paragraphs>
  <Slides>26</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Consolas</vt:lpstr>
      <vt:lpstr>Courier New</vt:lpstr>
      <vt:lpstr>Whitney SSm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UTM — Faculty of Computing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 Server-Side and PHP Slim</dc:title>
  <dc:subject>PptxGenJS Presentation</dc:subject>
  <dc:creator>SCSM2223</dc:creator>
  <cp:lastModifiedBy>HISHAMMUDDIN BIN ASMUNI @ HASMUNI</cp:lastModifiedBy>
  <cp:revision>3</cp:revision>
  <dcterms:created xsi:type="dcterms:W3CDTF">2026-05-06T07:34:41Z</dcterms:created>
  <dcterms:modified xsi:type="dcterms:W3CDTF">2026-05-25T05:55:49Z</dcterms:modified>
</cp:coreProperties>
</file>