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17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API with JWT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for stateless RESTful services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— Cross-Platform Application Development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Computing • Universiti Teknologi Malaysia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Assoc. Prof. Dr Hishammuddin bin Asmuni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THIS CHAPTER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325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authentication and authorization are, and how they differ.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039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session-based from token-based authentication and explain when to use each.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1" name="Text 9"/>
          <p:cNvSpPr/>
          <p:nvPr/>
        </p:nvSpPr>
        <p:spPr>
          <a:xfrm>
            <a:off x="548640" y="27980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2752344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of a JWT (header, payload, signature) and the role of the signing key.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4" name="Text 12"/>
          <p:cNvSpPr/>
          <p:nvPr/>
        </p:nvSpPr>
        <p:spPr>
          <a:xfrm>
            <a:off x="548640" y="35112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46557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 with password_hash and verify them with password_verify.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17880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and verify JWTs in PHP using the firebase/php-jwt library.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000"/>
          </a:p>
        </p:txBody>
      </p:sp>
      <p:sp>
        <p:nvSpPr>
          <p:cNvPr id="20" name="Text 18"/>
          <p:cNvSpPr/>
          <p:nvPr/>
        </p:nvSpPr>
        <p:spPr>
          <a:xfrm>
            <a:off x="548640" y="49377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4892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AuthMiddleware that protects selected routes in a Slim API.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CHAPTER 10 → CHAPTER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— Today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API with PDO + MySQL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Prepared statements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Repository pattern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Anyone can hit any endpoint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way to identify the caller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protection on POST/PUT/DELETE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532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5321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0" name="Text 8"/>
          <p:cNvSpPr/>
          <p:nvPr/>
        </p:nvSpPr>
        <p:spPr>
          <a:xfrm>
            <a:off x="6263640" y="1280160"/>
            <a:ext cx="5532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 — Goal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5120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Users can register and log in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Passwords stored as hashes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Server issues a signed JWT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Clients send token on every call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Middleware verifies the token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Stateless — no server-side session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THAT SOUND ALIKE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 Authorization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AuthN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identity of the caller.</a:t>
            </a:r>
            <a:endParaRPr lang="en-US" sz="2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factors: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something you know (password)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something you have (phone, key)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something you are (biometric)</a:t>
            </a:r>
            <a:endParaRPr lang="en-US" sz="2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verified user identity.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532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9" name="Text 7"/>
          <p:cNvSpPr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AuthZ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allowed to do?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an authenticated user may perform an action.</a:t>
            </a:r>
            <a:endParaRPr lang="en-US" sz="2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ROLES (admin, editor, member) or POLICIES (RBAC, ABAC).</a:t>
            </a:r>
            <a:endParaRPr lang="en-US" sz="2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any user can read books</a:t>
            </a:r>
            <a:endParaRPr lang="en-US" sz="2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only admins can delete books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vs Token-based Authentication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853054"/>
              </p:ext>
            </p:extLst>
          </p:nvPr>
        </p:nvGraphicFramePr>
        <p:xfrm>
          <a:off x="548640" y="1325880"/>
          <a:ext cx="11247120" cy="3916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Session-based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Token-based (JWT)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holds session in memory / Redis / DB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 — token holds the data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 (sticky session)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Authorization: Bearer &lt;token&gt;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shared session store across servers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server can validate independently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/ SPA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Workable but cookie-heavy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fit for fetch / Axios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(delete server entry)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denylist or short TTL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server-rendered pages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APIs, mobile apps, microservices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69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uses JWT — it suits our Vue + Slim REST architecture.</a:t>
            </a:r>
            <a:endParaRPr lang="en-US" sz="2800" dirty="0"/>
          </a:p>
        </p:txBody>
      </p:sp>
      <p:sp>
        <p:nvSpPr>
          <p:cNvPr id="4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ITSELF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JSON Web Token?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URL-safe, digitally-signed JSON object that proves a claim about a user.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2471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713232" y="1892808"/>
            <a:ext cx="109179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eyJhbGciOiJIUzI1NiIsInR5cCI6IkpXVCJ9.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eyJzdWIiOjQyLCJlbWFpbCI6ImhpbGFuZ0BleGFtcGxlLmNvbSIsImlhdCI6MTcxNzAwMDAwMCwi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ZXhwIjoxNzE3MDAzNjAwLCJyb2xlIjoiYWRtaW4ifQ.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S9-2pFJOYpvlcK9b0Q-EItDsqOqSkmwdGdqZ7N8a4Vc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base64url-encoded JSON describing the algorithm and token type.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7240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"alg": "HS256", "typ": "JWT" }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97680" y="3520440"/>
            <a:ext cx="36576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52628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26280" y="4114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base64url-encoded JSON of the claims (sub, iat, exp, role…).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2628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"sub": 42, "role": "admin", "exp": 1717003600 }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046720" y="3520440"/>
            <a:ext cx="3749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827532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75320" y="4114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of base64(header) + "." + base64(payload), keyed with the server secret.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75320" y="52120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token has NOT been tampered with.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JWT, Decoded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 →  base64url decode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0642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51572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"alg": "HS256",   // signing algorithm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"typ": "JWT"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777452" y="11795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 →  base64url decode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7451" y="1600200"/>
            <a:ext cx="6304301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9" name="Text 7"/>
          <p:cNvSpPr/>
          <p:nvPr/>
        </p:nvSpPr>
        <p:spPr>
          <a:xfrm>
            <a:off x="6096001" y="1709928"/>
            <a:ext cx="5752288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"sub":   42,           // subject (user id)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"hilang@example.com",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"role":  "admin",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"iat":   1717000000,   // issued at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"exp":   1717003600   // expires (1 hour later)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— verify with the same secret + algorithm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50642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12" name="Text 10"/>
          <p:cNvSpPr/>
          <p:nvPr/>
        </p:nvSpPr>
        <p:spPr>
          <a:xfrm>
            <a:off x="713232" y="4727448"/>
            <a:ext cx="51572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HMACSHA256(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base64UrlEncode(header) + "." + base64UrlEncode(payload),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YOUR_SERVER_SECRET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63640" y="5074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Anyone can READ the payload — never put passwords or secrets in there.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ALGORITHMS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vs RS256 — Pick 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 (HMAC + SHA-256)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— same secret to sign and verify.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One secret string in your .env.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issuer and verifier must hold it.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monolithic apps where the same backend issues AND verifies.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use in this course.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5532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9" name="Text 7"/>
          <p:cNvSpPr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 (RSA + SHA-256)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9224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— private key signs, public key verifies.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keeps the private key.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public key can verify.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one server issues tokens that many other services verify (microservices, OIDC).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setup; not needed in this course.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417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241260" y="1417320"/>
            <a:ext cx="764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email + password.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" y="1965960"/>
            <a:ext cx="0" cy="11887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9" name="Shape 7"/>
          <p:cNvSpPr/>
          <p:nvPr/>
        </p:nvSpPr>
        <p:spPr>
          <a:xfrm>
            <a:off x="640080" y="208483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1305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credentials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41260" y="2130552"/>
            <a:ext cx="764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uses password_verify on the stored hash.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7260" y="2679192"/>
            <a:ext cx="0" cy="11887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4" name="Shape 12"/>
          <p:cNvSpPr/>
          <p:nvPr/>
        </p:nvSpPr>
        <p:spPr>
          <a:xfrm>
            <a:off x="640080" y="2798064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5" name="Text 13"/>
          <p:cNvSpPr/>
          <p:nvPr/>
        </p:nvSpPr>
        <p:spPr>
          <a:xfrm>
            <a:off x="640080" y="27980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28437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token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41260" y="2843784"/>
            <a:ext cx="764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signs a JWT with sub, exp, role, then returns it.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7260" y="3392424"/>
            <a:ext cx="0" cy="11887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9" name="Shape 17"/>
          <p:cNvSpPr/>
          <p:nvPr/>
        </p:nvSpPr>
        <p:spPr>
          <a:xfrm>
            <a:off x="640080" y="3511296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0" name="Text 18"/>
          <p:cNvSpPr/>
          <p:nvPr/>
        </p:nvSpPr>
        <p:spPr>
          <a:xfrm>
            <a:off x="640080" y="35112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17320" y="355701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stores token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241260" y="3557016"/>
            <a:ext cx="764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 or in localStorage / cookie.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37260" y="4105656"/>
            <a:ext cx="0" cy="11887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4" name="Shape 22"/>
          <p:cNvSpPr/>
          <p:nvPr/>
        </p:nvSpPr>
        <p:spPr>
          <a:xfrm>
            <a:off x="640080" y="422452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5" name="Text 23"/>
          <p:cNvSpPr/>
          <p:nvPr/>
        </p:nvSpPr>
        <p:spPr>
          <a:xfrm>
            <a:off x="640080" y="42245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417320" y="4270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 every call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241260" y="4270248"/>
            <a:ext cx="764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 header.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37260" y="4818888"/>
            <a:ext cx="0" cy="11887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30" name="Text 28"/>
          <p:cNvSpPr/>
          <p:nvPr/>
        </p:nvSpPr>
        <p:spPr>
          <a:xfrm>
            <a:off x="640080" y="4937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417320" y="4983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verifies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241260" y="4983480"/>
            <a:ext cx="764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Decodes, checks signature + expiry, exposes user info.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37260" y="5532120"/>
            <a:ext cx="0" cy="118872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34" name="Shape 32"/>
          <p:cNvSpPr/>
          <p:nvPr/>
        </p:nvSpPr>
        <p:spPr>
          <a:xfrm>
            <a:off x="640080" y="565099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35" name="Text 33"/>
          <p:cNvSpPr/>
          <p:nvPr/>
        </p:nvSpPr>
        <p:spPr>
          <a:xfrm>
            <a:off x="640080" y="5650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417320" y="5696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expires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241260" y="5696712"/>
            <a:ext cx="7645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logs in again or uses a refresh token.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STORE SAFELY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Passwords with password_hash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store plain passwords. Hash on registration; verify on login.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1691639"/>
            <a:ext cx="11247120" cy="4728615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713232" y="1801368"/>
            <a:ext cx="10917936" cy="461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Registration — store the hash, never the password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$hash = password_hash($plainPassword, PASSWORD_DEFAULT);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looks like: $2y$12$Bd0nFv5Jj78A4oLtYV4VYeR.OJwK0c7M2kPSc5w...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 — verify what the user sent against the stored hash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(password_verify($plainPassword, $row['password_hash']))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success — issue a JWT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401 Unauthorized — credentials invalid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Bonus: rehash if PHP's default cost has increased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(password_needs_rehash($row['password_hash'], PASSWORD_DEFAULT))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$newHash = password_hash($plainPassword, PASSWORD_DEFAULT);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store $newHash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ISSUE A TOKEN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Endpoint — Issuing a JWT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1247120" cy="5577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 sz="1400"/>
          </a:p>
        </p:txBody>
      </p:sp>
      <p:sp>
        <p:nvSpPr>
          <p:cNvPr id="5" name="Text 3"/>
          <p:cNvSpPr/>
          <p:nvPr/>
        </p:nvSpPr>
        <p:spPr>
          <a:xfrm>
            <a:off x="713232" y="1084619"/>
            <a:ext cx="10917936" cy="5320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Firebase\JWT\JWT;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$app-&gt;post('/auth/login', function (Request $r, Response $s) use ($pdo)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$body = (array)$r-&gt;getParsedBody();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 = $pdo-&gt;prepare('SELECT * FROM users WHERE email = :e');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$stmt-&gt;execute([':e' =&gt; $body['email'] ?? '']);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$user = $stmt-&gt;fetch();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(!$user || !password_verify($body['password'] ?? '', $user['password_hash']))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$s-&gt;getBody()-&gt;write(json_encode(['error' =&gt; 'Invalid credentials']));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$s-&gt;withStatus(401)-&gt;withHeader('Content-Type','application/json');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$now = time();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$payload = [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'iss'  =&gt; 'books-api',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'sub'  =&gt; (int)$user['id'],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'role' =&gt; $user['role'],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'iat'  =&gt; $now,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'exp'  =&gt; $now + 3600,        // 1-hour TTL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$token = JWT::encode($payload, $_ENV['JWT_SECRET'], 'HS256');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$s-&gt;getBody()-&gt;write(json_encode(['token' =&gt; $token]));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$s-&gt;withHeader('Content-Type','application/json');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VERIFY ON EVERY CALL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 — Verifying a JWT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65762"/>
            <a:ext cx="11247120" cy="567219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 sz="1600"/>
          </a:p>
        </p:txBody>
      </p:sp>
      <p:sp>
        <p:nvSpPr>
          <p:cNvPr id="5" name="Text 3"/>
          <p:cNvSpPr/>
          <p:nvPr/>
        </p:nvSpPr>
        <p:spPr>
          <a:xfrm>
            <a:off x="713232" y="994616"/>
            <a:ext cx="10917936" cy="541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Firebase\JWT\JWT;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Firebase\JWT\Key;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AuthMiddleware implements MiddlewareInterface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process($request, $handler): ResponseInterface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$auth = $request-&gt;getHeaderLine('Authorization');     // 'Bearer eyJ…'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(!preg_match('/^Bearer\s+(.+)$/', $auth, $m))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$this-&gt;unauthorised('Missing token');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$decoded = JWT::decode($m[1], new Key($_ENV['JWT_SECRET'], 'HS256'));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(\Throwable $e) {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$this-&gt;unauthorised('Invalid or expired token');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Attach the decoded user info onto the request for handlers to use.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$request = $request-&gt;withAttribute('auth', (array)$decoded);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$handler-&gt;handle($request);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function unauthorised(string $msg): ResponseInterface { /* 401 JSON */ }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APPLY TO ROUTES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Selected Routes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56034"/>
            <a:ext cx="11247120" cy="568192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713232" y="985337"/>
            <a:ext cx="10917936" cy="5419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$auth = new AuthMiddleware();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Public routes — anyone can call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$app-&gt;post('/auth/register', [AuthController::class, 'register']);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$app-&gt;post('/auth/login',    [AuthController::class, 'login']);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$app-&gt;get('/api/books',      [BookController::class, 'index']);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$app-&gt;get('/api/books/{id}', [BookController::class, 'show']);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Protected routes — must present a valid JWT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$app-&gt;group('/api/books', function ($g) use ($controller)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$g-&gt;post  ('',      [$controller, 'create']);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$g-&gt;put   ('/{id}', [$controller, 'update']);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$g-&gt;delete('/{id}', [$controller, 'delete']);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})-&gt;add($auth);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 any handler that runs after $auth, you can read: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$req-&gt;getAttribute('auth')['sub']   ← user id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$req-&gt;getAttribute('auth')['role']  ← role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CONCERN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the Browser Store the Token?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73611"/>
              </p:ext>
            </p:extLst>
          </p:nvPr>
        </p:nvGraphicFramePr>
        <p:xfrm>
          <a:off x="548640" y="1325880"/>
          <a:ext cx="11247120" cy="38404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In-memory (JS variable)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Survives no XSS attacks because it lives only in script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on every refresh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localStorage / sessionStorage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read with fetch / Axios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 to XSS — any injected script can steal it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 (HttpOnly + Secure + SameSite)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be read by JS; XSS-safe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CSRF protection on state-changing routes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 course choice: localStorage during development, with strong XSS hygiene (Vue auto-escapes by default).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Tokens — When the Access Token Expires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access token + longer-lived refresh token. The refresh token is exchanged for a fresh access token without forcing the user to log in again.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7" name="Text 5"/>
          <p:cNvSpPr/>
          <p:nvPr/>
        </p:nvSpPr>
        <p:spPr>
          <a:xfrm>
            <a:off x="868680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TTL (e.g. 15 min). Sent in Authorization header on every API call.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29718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TTL (days/weeks). Stored as HttpOnly cookie or in mobile secure storage.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5" name="Text 13"/>
          <p:cNvSpPr/>
          <p:nvPr/>
        </p:nvSpPr>
        <p:spPr>
          <a:xfrm>
            <a:off x="868680" y="3931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83280" y="39319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refresh issues a new pair; the old refresh token is revoked.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40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400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83280" y="489204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denylist (e.g. by jti claim) to log users out before expiry.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 the lab — but a great extension task.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DO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JWT Pitfalls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173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secret in source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JWT_SECRET from .env; never commit it.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10" name="Shape 8"/>
          <p:cNvSpPr/>
          <p:nvPr/>
        </p:nvSpPr>
        <p:spPr>
          <a:xfrm>
            <a:off x="6537960" y="164592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11" name="Text 9"/>
          <p:cNvSpPr/>
          <p:nvPr/>
        </p:nvSpPr>
        <p:spPr>
          <a:xfrm>
            <a:off x="6537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7804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alg=none accepted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17804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pin the algorithm in JWT::decode (e.g. HS256).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15" name="Shape 13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16" name="Text 14"/>
          <p:cNvSpPr/>
          <p:nvPr/>
        </p:nvSpPr>
        <p:spPr>
          <a:xfrm>
            <a:off x="7772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173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 claim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that never expire are tickets to forever-compromise.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20" name="Shape 18"/>
          <p:cNvSpPr/>
          <p:nvPr/>
        </p:nvSpPr>
        <p:spPr>
          <a:xfrm>
            <a:off x="6537960" y="320040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21" name="Text 19"/>
          <p:cNvSpPr/>
          <p:nvPr/>
        </p:nvSpPr>
        <p:spPr>
          <a:xfrm>
            <a:off x="65379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17804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payload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78040" y="3566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decode it. No passwords, no PII.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25" name="Shape 23"/>
          <p:cNvSpPr/>
          <p:nvPr/>
        </p:nvSpPr>
        <p:spPr>
          <a:xfrm>
            <a:off x="777240" y="47548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26" name="Text 24"/>
          <p:cNvSpPr/>
          <p:nvPr/>
        </p:nvSpPr>
        <p:spPr>
          <a:xfrm>
            <a:off x="7772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41732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access TTL + refresh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41732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blast radius if a token leaks.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6309360" y="4480560"/>
            <a:ext cx="5532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30" name="Shape 28"/>
          <p:cNvSpPr/>
          <p:nvPr/>
        </p:nvSpPr>
        <p:spPr>
          <a:xfrm>
            <a:off x="6537960" y="475488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31" name="Text 29"/>
          <p:cNvSpPr/>
          <p:nvPr/>
        </p:nvSpPr>
        <p:spPr>
          <a:xfrm>
            <a:off x="6537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7804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17804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tokens travel in plain text otherwise.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Chapter 11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6" name="Text 4"/>
          <p:cNvSpPr/>
          <p:nvPr/>
        </p:nvSpPr>
        <p:spPr>
          <a:xfrm>
            <a:off x="868680" y="14173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vs AuthZ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898648" y="1417320"/>
            <a:ext cx="8805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vs permission — two distinct concerns.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898648" y="2377440"/>
            <a:ext cx="8805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JWTs replace server sessions for REST APIs.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98648" y="3337560"/>
            <a:ext cx="8805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= base64(header).base64(payload).signature.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18" name="Text 16"/>
          <p:cNvSpPr/>
          <p:nvPr/>
        </p:nvSpPr>
        <p:spPr>
          <a:xfrm>
            <a:off x="868680" y="42976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898648" y="4297680"/>
            <a:ext cx="8805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password_hash on register, password_verify on login.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247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MY" sz="280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6459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 sz="280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898648" y="5257800"/>
            <a:ext cx="8805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token in middleware; route handlers stay clean.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SCSM2223 • Chapter 11 • Securing the API with JWT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Hands-On — JWT for the Books API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registration, login, and JWT-protected endpoints to the Chapter 10 Books API.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28016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users table and seed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4398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1280160" y="43982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firebase/php-jwt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77316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1280160" y="4727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/auth/register with password_hash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5102352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1280160" y="5056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 → issues a JWT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543153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3"/>
          <p:cNvSpPr/>
          <p:nvPr/>
        </p:nvSpPr>
        <p:spPr>
          <a:xfrm>
            <a:off x="1280160" y="53858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 verifies tokens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57607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128016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POST/PUT/DELETE on /api/books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6089904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1280160" y="60441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full flow end-to-end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2364</Words>
  <Application>Microsoft Office PowerPoint</Application>
  <PresentationFormat>Widescreen</PresentationFormat>
  <Paragraphs>361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UTM — Faculty of Computing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 — Securing the API with JWT</dc:title>
  <dc:subject>PptxGenJS Presentation</dc:subject>
  <dc:creator>SCSM2223</dc:creator>
  <cp:lastModifiedBy>HISHAMMUDDIN BIN ASMUNI @ HASMUNI</cp:lastModifiedBy>
  <cp:revision>3</cp:revision>
  <dcterms:created xsi:type="dcterms:W3CDTF">2026-05-06T12:34:13Z</dcterms:created>
  <dcterms:modified xsi:type="dcterms:W3CDTF">2026-06-08T06:06:37Z</dcterms:modified>
</cp:coreProperties>
</file>