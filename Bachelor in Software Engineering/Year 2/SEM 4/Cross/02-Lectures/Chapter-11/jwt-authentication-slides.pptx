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922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6858000" y="-365760"/>
            <a:ext cx="3200400" cy="3200400"/>
          </a:xfrm>
          <a:prstGeom prst="ellipse">
            <a:avLst/>
          </a:prstGeom>
          <a:solidFill>
            <a:srgbClr val="1A2F5E">
              <a:alpha val="70000"/>
            </a:srgbClr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62850">
              <a:alpha val="70000"/>
            </a:srgbClr>
          </a:solidFill>
          <a:ln w="12700">
            <a:solidFill>
              <a:srgbClr val="1628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029200" y="5486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·  BOOKS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Books REST API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Framework  ·  Firebase JWT  ·  PHP 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JWT?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 — a compact, self-contained way to transmit trusted information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3246120"/>
          </a:xfrm>
          <a:prstGeom prst="rect">
            <a:avLst/>
          </a:prstGeom>
          <a:solidFill>
            <a:srgbClr val="1E3A6E"/>
          </a:solidFill>
          <a:ln w="25400">
            <a:solidFill>
              <a:srgbClr val="E91E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88920" cy="38404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260604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2386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"alg": "HS256",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"typ": "JWT"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511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token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234440"/>
            <a:ext cx="2788920" cy="3246120"/>
          </a:xfrm>
          <a:prstGeom prst="rect">
            <a:avLst/>
          </a:prstGeom>
          <a:solidFill>
            <a:srgbClr val="1E3A6E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3218688" y="1234440"/>
            <a:ext cx="278892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310128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673352"/>
            <a:ext cx="260604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3419856" y="1764792"/>
            <a:ext cx="2386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"iss": "books-api",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3,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"admin",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"iat": 1700000000,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"exp": 1700003600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3511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— user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234440"/>
            <a:ext cx="2788920" cy="3246120"/>
          </a:xfrm>
          <a:prstGeom prst="rect">
            <a:avLst/>
          </a:prstGeom>
          <a:solidFill>
            <a:srgbClr val="1E3A6E"/>
          </a:solidFill>
          <a:ln w="254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6163056" y="1234440"/>
            <a:ext cx="278892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254496" y="1234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4496" y="1673352"/>
            <a:ext cx="260604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6364224" y="1764792"/>
            <a:ext cx="2386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HMAC-SHA256(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base64(header) +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"." +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base64(payload),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SECRET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3511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proof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64792" y="1554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99432" y="1554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eyJhbGciOiJIUzI1NiIsInR5cCI6IkpXVCJ9  .  eyJpc3MiOiJib29rcy1hcGkiLCJzdWIiOjMsInJvbGUiOiJhZG1pbiJ9  .  SflKxwRJSMeKKF2QT4fwpM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Configuration  —  JwtService.php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384048" y="1005840"/>
            <a:ext cx="480974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App\Auth;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Firebase\JWT\JWT;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Firebase\JWT\Key;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JwtService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$secret;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$algo = 'HS256';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   $ttl;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$issuer;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$this-&gt;secret = $_ENV['JWT_SECRET'];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$this-&gt;ttl    = (int)($_ENV['JWT_TTL'] ?? 3600);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$this-&gt;issuer = $_ENV['JWT_ISSUER'] ?? 'books-api';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0" y="960120"/>
            <a:ext cx="3337560" cy="868680"/>
          </a:xfrm>
          <a:prstGeom prst="rect">
            <a:avLst/>
          </a:prstGeom>
          <a:solidFill>
            <a:srgbClr val="1E3A6E"/>
          </a:solidFill>
          <a:ln w="12700">
            <a:solidFill>
              <a:srgbClr val="E91E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73152" cy="8686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650992" y="1024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JWT_SECRET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50992" y="12893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signing key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0992" y="15179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committed to Git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0" y="1956816"/>
            <a:ext cx="3337560" cy="868680"/>
          </a:xfrm>
          <a:prstGeom prst="rect">
            <a:avLst/>
          </a:prstGeom>
          <a:solidFill>
            <a:srgbClr val="1E3A6E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5486400" y="1956816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650992" y="2020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JWT_TTL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50992" y="22860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  (1 hour)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50992" y="25146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lifetime in seconds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0" y="2953512"/>
            <a:ext cx="3337560" cy="868680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5486400" y="2953512"/>
            <a:ext cx="73152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5650992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JWT_ISSUER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50992" y="328269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"books-api"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50992" y="35112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token creator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3950208"/>
            <a:ext cx="3337560" cy="868680"/>
          </a:xfrm>
          <a:prstGeom prst="rect">
            <a:avLst/>
          </a:prstGeom>
          <a:solidFill>
            <a:srgbClr val="1E3A6E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5486400" y="3950208"/>
            <a:ext cx="73152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5650992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Algorithm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50992" y="42793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HS256 (HMAC-SHA256)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50992" y="45079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— one shared secret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Token Issuance  (Login)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55648" y="1152144"/>
            <a:ext cx="256032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2011680" y="96012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011680" y="960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152144"/>
            <a:ext cx="256032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3749040" y="96012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3749040" y="960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30368" y="1152144"/>
            <a:ext cx="256032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5486400" y="96012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486400" y="960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JwtService::issue()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67728" y="1152144"/>
            <a:ext cx="256032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7223760" y="96012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7223760" y="960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508760"/>
            <a:ext cx="4114800" cy="3291840"/>
          </a:xfrm>
          <a:prstGeom prst="rect">
            <a:avLst/>
          </a:prstGeom>
          <a:solidFill>
            <a:srgbClr val="1E3A6E"/>
          </a:solidFill>
          <a:ln w="12700">
            <a:solidFill>
              <a:srgbClr val="7C4D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 Claims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 Claims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1965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"books-api"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07208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— who created the token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450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61872" y="24505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07208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— user ID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352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29352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1700000000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07208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Issued-At timestamp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3419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61872" y="3419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1700003600  (+1 hr)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07208" y="3419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timestamp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39044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61872" y="3904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 | "member"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07208" y="3904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(extra claim)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389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61872" y="4389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"user@example.com"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807208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(extra claim)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1508760"/>
            <a:ext cx="4206240" cy="3291840"/>
          </a:xfrm>
          <a:prstGeom prst="rect">
            <a:avLst/>
          </a:prstGeom>
          <a:solidFill>
            <a:srgbClr val="1E3A6E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Shape 39"/>
          <p:cNvSpPr/>
          <p:nvPr/>
        </p:nvSpPr>
        <p:spPr>
          <a:xfrm>
            <a:off x="4617720" y="1508760"/>
            <a:ext cx="420624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4617720" y="15087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JSON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1920240"/>
            <a:ext cx="40233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18888" y="2011680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"token_type":   "Bearer",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"expires_in":   3600,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"access_token": "eyJhbGci..."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stores this token and includes 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Authorization header for protected requests.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Client Sends the Token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74520" y="9784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42032" y="9784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eyJhbGciOiJIUzI1NiIsInR5cCI6IkpXVCJ9.eyJpc3MiOiJib29rcy1hcGkiLCJzdWIiOjMsInJvbGUiOiJhZG1pbiJ9.xxxx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206240" cy="3017520"/>
          </a:xfrm>
          <a:prstGeom prst="rect">
            <a:avLst/>
          </a:prstGeom>
          <a:solidFill>
            <a:srgbClr val="0F2818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20624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274320" y="1783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 (No Token Required)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/api/books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/api/books/{id}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/auth/register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/auth/login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4206240" cy="3017520"/>
          </a:xfrm>
          <a:prstGeom prst="rect">
            <a:avLst/>
          </a:prstGeom>
          <a:solidFill>
            <a:srgbClr val="2A0D14"/>
          </a:solidFill>
          <a:ln w="12700">
            <a:solidFill>
              <a:srgbClr val="E91E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4663440" y="1783080"/>
            <a:ext cx="4206240" cy="38404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PROTECTED  (Bearer Token)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/api/books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/api/books/{id}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/api/books/{id}  + admin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/auth/me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AuthMiddleware Verification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38912" cy="43891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332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token from header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82296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$hdr = $req-&gt;getHeaderLine('Authorization');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(!preg_match('/^Bearer\s+(.+)$/i', $hdr, $m))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$this-&gt;fail('Missing or malformed token'); // 401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3591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 &amp; expiry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82296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932688" y="2834640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$payload = $this-&gt;jwt-&gt;verify($m[1]);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(\Throwable $e)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$this-&gt;fail('Invalid or expired token'); // 401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38912" cy="43891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274320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6850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payload to request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82296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932688" y="4160520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 = $req-&gt;withAttribute('auth', $payload);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$h-&gt;handle($req); // pass to controller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2A0A0A"/>
          </a:solidFill>
          <a:ln w="12700">
            <a:solidFill>
              <a:srgbClr val="EF53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Invalid / expired token  →  401 Unauthorized  +  WWW-Authenticate: Bearer  header returned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—  Using the Payload in Controllers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database call needed — identity lives inside the token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572768"/>
          </a:xfrm>
          <a:prstGeom prst="rect">
            <a:avLst/>
          </a:prstGeom>
          <a:solidFill>
            <a:srgbClr val="1E3A6E"/>
          </a:solidFill>
          <a:ln w="12700">
            <a:solidFill>
              <a:srgbClr val="E91E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BookController::delete()  —  Admin role check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$auth = (array)$req-&gt;getAttribute('auth', []);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(($auth['role'] ?? 'member') !== 'admin')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$this-&gt;json($res, ['error' =&gt; 'Admins only'], 403); // Forbidden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1572768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859536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AuthController::me()  —  Fetch profile from token sub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841248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75488" y="3328416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$auth = (array)$req-&gt;getAttribute('auth', []);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 = $this-&gt;users-&gt;findById((int)($auth['sub'] ?? 0));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$u ? $this-&gt;json($res, $u) : $this-&gt;json($res, ['error' =&gt; 'Not found'], 404);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vs Public Routes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/api/books/{id}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/api/books/{id}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/api/books/{id}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9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=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749808"/>
          </a:xfrm>
          <a:prstGeom prst="rect">
            <a:avLst/>
          </a:prstGeom>
          <a:solidFill>
            <a:srgbClr val="1E3A6E"/>
          </a:solidFill>
          <a:ln w="12700">
            <a:solidFill>
              <a:srgbClr val="E91E6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64008" cy="7498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HS256 — Symmetric signing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secret for both signing and verification. Ideal for a single-server API where key distribution complexity is unnecessary.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046720" cy="0"/>
          </a:xfrm>
          <a:prstGeom prst="line">
            <a:avLst/>
          </a:prstGeom>
          <a:noFill/>
          <a:ln w="635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749808"/>
          </a:xfrm>
          <a:prstGeom prst="rect">
            <a:avLst/>
          </a:prstGeom>
          <a:solidFill>
            <a:srgbClr val="1E3A6E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6400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Stateless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table or server-side storage needed. Any request can be validated purely from the token — scales horizontally.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046720" cy="0"/>
          </a:xfrm>
          <a:prstGeom prst="line">
            <a:avLst/>
          </a:prstGeom>
          <a:noFill/>
          <a:ln w="635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749808"/>
          </a:xfrm>
          <a:prstGeom prst="rect">
            <a:avLst/>
          </a:prstGeom>
          <a:solidFill>
            <a:srgbClr val="1E3A6E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274320" y="2578608"/>
            <a:ext cx="64008" cy="7498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TTL configured via .env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535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lifetime adjustable per environment (dev/staging/prod) without touching source code. Default: 3600 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046720" cy="0"/>
          </a:xfrm>
          <a:prstGeom prst="line">
            <a:avLst/>
          </a:prstGeom>
          <a:noFill/>
          <a:ln w="635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8595360" cy="749808"/>
          </a:xfrm>
          <a:prstGeom prst="rect">
            <a:avLst/>
          </a:prstGeom>
          <a:solidFill>
            <a:srgbClr val="1E3A6E"/>
          </a:solidFill>
          <a:ln w="12700">
            <a:solidFill>
              <a:srgbClr val="7C4D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64008" cy="7498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withAttribute('auth', payload)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764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Slim's clean pattern for passing verified data downstream. No global state, no superglobals, fully testable.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046720" cy="0"/>
          </a:xfrm>
          <a:prstGeom prst="line">
            <a:avLst/>
          </a:prstGeom>
          <a:noFill/>
          <a:ln w="635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1E3A6E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274320" y="4224528"/>
            <a:ext cx="64008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457200" y="4279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Role stored inside the token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99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member enforced in controllers from the payload. Zero extra database calls per request for authorization.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046720" cy="0"/>
          </a:xfrm>
          <a:prstGeom prst="line">
            <a:avLst/>
          </a:prstGeom>
          <a:noFill/>
          <a:ln w="6350">
            <a:solidFill>
              <a:srgbClr val="2A408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JWT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291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201168" y="141732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01168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 / Vue)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520" y="1746504"/>
            <a:ext cx="1481328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874520" y="150876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{email, password}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UserRepository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257800" y="14173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::issue()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93208" y="1746504"/>
            <a:ext cx="164592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6858000" y="141732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858000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82496" y="1746504"/>
            <a:ext cx="1837944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5093208" y="1746504"/>
            <a:ext cx="164592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675120" y="1746504"/>
            <a:ext cx="18288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274320" y="2532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Request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88036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201168" y="288036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Bearer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82496" y="3209544"/>
            <a:ext cx="329184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2011680" y="288036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2011680" y="28803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jwt-&gt;verify()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84448" y="3209544"/>
            <a:ext cx="182880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3767328" y="2880360"/>
            <a:ext cx="1481328" cy="658368"/>
          </a:xfrm>
          <a:prstGeom prst="roundRect">
            <a:avLst>
              <a:gd name="adj" fmla="val 13889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3767328" y="288036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withAttribute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48656" y="3209544"/>
            <a:ext cx="192024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5440680" y="2880360"/>
            <a:ext cx="1664208" cy="658368"/>
          </a:xfrm>
          <a:prstGeom prst="roundRect">
            <a:avLst>
              <a:gd name="adj" fmla="val 1388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5440680" y="288036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AuthController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04888" y="3209544"/>
            <a:ext cx="210312" cy="0"/>
          </a:xfrm>
          <a:prstGeom prst="line">
            <a:avLst/>
          </a:prstGeom>
          <a:noFill/>
          <a:ln w="190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7315200" y="288036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7315200" y="28803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3703320"/>
            <a:ext cx="1572768" cy="320040"/>
          </a:xfrm>
          <a:prstGeom prst="rect">
            <a:avLst/>
          </a:prstGeom>
          <a:solidFill>
            <a:srgbClr val="2A0A0A"/>
          </a:solidFill>
          <a:ln w="12700">
            <a:solidFill>
              <a:srgbClr val="EF53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2057400" y="372160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token → 401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98064" y="3538728"/>
            <a:ext cx="0" cy="164592"/>
          </a:xfrm>
          <a:prstGeom prst="line">
            <a:avLst/>
          </a:prstGeom>
          <a:noFill/>
          <a:ln w="12700">
            <a:solidFill>
              <a:srgbClr val="EF5350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66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61527E-EB5D-7245-187C-E9A58ABDF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4" y="841381"/>
            <a:ext cx="8305918" cy="3883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C55228-3916-4FA8-3482-C235DCD35B11}"/>
              </a:ext>
            </a:extLst>
          </p:cNvPr>
          <p:cNvSpPr txBox="1"/>
          <p:nvPr/>
        </p:nvSpPr>
        <p:spPr>
          <a:xfrm>
            <a:off x="3026228" y="526692"/>
            <a:ext cx="4572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POST /auth/register</a:t>
            </a:r>
            <a:endParaRPr lang="en-MY" b="0" dirty="0">
              <a:solidFill>
                <a:srgbClr val="11182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96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F8FAFFF-D7B6-9FA4-AE52-A236E0FF2060}"/>
              </a:ext>
            </a:extLst>
          </p:cNvPr>
          <p:cNvGrpSpPr/>
          <p:nvPr/>
        </p:nvGrpSpPr>
        <p:grpSpPr>
          <a:xfrm>
            <a:off x="0" y="909730"/>
            <a:ext cx="9144000" cy="2998756"/>
            <a:chOff x="0" y="554133"/>
            <a:chExt cx="9144000" cy="29987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96FEB0-5793-1F43-639F-FA88E44AB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54133"/>
              <a:ext cx="9144000" cy="34862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B06C73-6DCB-F3AE-E558-A3CCDEE3A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02719"/>
              <a:ext cx="8977086" cy="265017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CC47AC2-5947-8E13-BBCD-366E3D75A259}"/>
              </a:ext>
            </a:extLst>
          </p:cNvPr>
          <p:cNvSpPr txBox="1"/>
          <p:nvPr/>
        </p:nvSpPr>
        <p:spPr>
          <a:xfrm>
            <a:off x="2496457" y="260391"/>
            <a:ext cx="4572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 POST /auth/login</a:t>
            </a:r>
            <a:endParaRPr lang="en-MY" b="0" dirty="0">
              <a:solidFill>
                <a:srgbClr val="11182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727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9F59-C13B-6B97-79A8-7147E590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34314BC-8536-D2E7-3AF3-6B2A9385A95C}"/>
              </a:ext>
            </a:extLst>
          </p:cNvPr>
          <p:cNvGrpSpPr/>
          <p:nvPr/>
        </p:nvGrpSpPr>
        <p:grpSpPr>
          <a:xfrm>
            <a:off x="-7257" y="1258074"/>
            <a:ext cx="9151257" cy="1929288"/>
            <a:chOff x="-7257" y="1258074"/>
            <a:chExt cx="9151257" cy="19292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6895EB7-33CF-9563-903D-B61386998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258074"/>
              <a:ext cx="9144000" cy="34862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9730A5-37EF-690C-D401-31408A2EA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7257" y="1607454"/>
              <a:ext cx="8977086" cy="157990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D0A7F14-A492-B665-58C8-3AB2E2F66614}"/>
              </a:ext>
            </a:extLst>
          </p:cNvPr>
          <p:cNvSpPr txBox="1"/>
          <p:nvPr/>
        </p:nvSpPr>
        <p:spPr>
          <a:xfrm>
            <a:off x="2636157" y="499077"/>
            <a:ext cx="457562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GET /</a:t>
            </a:r>
            <a:r>
              <a:rPr lang="en-MY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/books (public)</a:t>
            </a:r>
            <a:endParaRPr lang="en-MY" b="0" dirty="0">
              <a:solidFill>
                <a:srgbClr val="11182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96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D084-C591-8F16-7C19-27FDF241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D576897-014F-3259-C133-A75D1B88486E}"/>
              </a:ext>
            </a:extLst>
          </p:cNvPr>
          <p:cNvGrpSpPr/>
          <p:nvPr/>
        </p:nvGrpSpPr>
        <p:grpSpPr>
          <a:xfrm>
            <a:off x="0" y="554133"/>
            <a:ext cx="9144000" cy="4429528"/>
            <a:chOff x="0" y="554133"/>
            <a:chExt cx="9144000" cy="44295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E182DDE-3A35-CB2E-CC64-9558B3276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54133"/>
              <a:ext cx="9144000" cy="34862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2A260-5EAC-0F9A-4418-A501EDB5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85284"/>
              <a:ext cx="8984343" cy="409837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C4BA595-1AE4-92D8-8C9F-1316734A7436}"/>
              </a:ext>
            </a:extLst>
          </p:cNvPr>
          <p:cNvSpPr txBox="1"/>
          <p:nvPr/>
        </p:nvSpPr>
        <p:spPr>
          <a:xfrm>
            <a:off x="2583543" y="159839"/>
            <a:ext cx="4572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POST /</a:t>
            </a:r>
            <a:r>
              <a:rPr lang="en-MY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/books (protected)</a:t>
            </a:r>
            <a:endParaRPr lang="en-MY" b="0" dirty="0">
              <a:solidFill>
                <a:srgbClr val="11182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20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7BD550-16BC-74BD-3C97-7E1E6377E9C8}"/>
              </a:ext>
            </a:extLst>
          </p:cNvPr>
          <p:cNvGrpSpPr/>
          <p:nvPr/>
        </p:nvGrpSpPr>
        <p:grpSpPr>
          <a:xfrm>
            <a:off x="417287" y="1075767"/>
            <a:ext cx="8178799" cy="3290444"/>
            <a:chOff x="417287" y="770970"/>
            <a:chExt cx="8178799" cy="329044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50F1098-B89E-2C81-E7FC-00597C9A8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287" y="1096599"/>
              <a:ext cx="8178799" cy="296481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CEA00A4-39AA-2D63-2083-FD01D64E3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287" y="770970"/>
              <a:ext cx="8178798" cy="31409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0E39BEB-8621-B270-C3C3-084E20FD1FAE}"/>
              </a:ext>
            </a:extLst>
          </p:cNvPr>
          <p:cNvSpPr txBox="1"/>
          <p:nvPr/>
        </p:nvSpPr>
        <p:spPr>
          <a:xfrm>
            <a:off x="2220685" y="518255"/>
            <a:ext cx="5239657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 DELETE /</a:t>
            </a:r>
            <a:r>
              <a:rPr lang="en-MY" b="0" dirty="0" err="1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MY" b="0" dirty="0">
                <a:solidFill>
                  <a:srgbClr val="AA8500"/>
                </a:solidFill>
                <a:effectLst/>
                <a:latin typeface="Consolas" panose="020B0609020204030204" pitchFamily="49" charset="0"/>
              </a:rPr>
              <a:t>/books/{id} (admin only)</a:t>
            </a:r>
            <a:endParaRPr lang="en-MY" b="0" dirty="0">
              <a:solidFill>
                <a:srgbClr val="11182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411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1093</Words>
  <Application>Microsoft Office PowerPoint</Application>
  <PresentationFormat>On-screen Show (16:9)</PresentationFormat>
  <Paragraphs>226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JWT Authentication in Books REST API</dc:title>
  <dc:subject>PptxGenJS Presentation</dc:subject>
  <dc:creator>Chapter 11</dc:creator>
  <cp:lastModifiedBy>HISHAMMUDDIN BIN ASMUNI @ HASMUNI</cp:lastModifiedBy>
  <cp:revision>3</cp:revision>
  <dcterms:created xsi:type="dcterms:W3CDTF">2026-06-08T03:48:43Z</dcterms:created>
  <dcterms:modified xsi:type="dcterms:W3CDTF">2026-06-08T06:06:46Z</dcterms:modified>
</cp:coreProperties>
</file>