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7" d="100"/>
          <a:sy n="67" d="100"/>
        </p:scale>
        <p:origin x="132" y="9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154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59E0B"/>
          </a:solidFill>
          <a:ln w="12700">
            <a:solidFill>
              <a:srgbClr val="F59E0B"/>
            </a:solidFill>
            <a:prstDash val="solid"/>
          </a:ln>
        </p:spPr>
        <p:txBody>
          <a:bodyPr/>
          <a:lstStyle/>
          <a:p>
            <a:endParaRPr lang="en-MY"/>
          </a:p>
        </p:txBody>
      </p:sp>
      <p:sp>
        <p:nvSpPr>
          <p:cNvPr id="3" name="Text 1"/>
          <p:cNvSpPr/>
          <p:nvPr/>
        </p:nvSpPr>
        <p:spPr>
          <a:xfrm>
            <a:off x="822960" y="1463040"/>
            <a:ext cx="10972800" cy="457200"/>
          </a:xfrm>
          <a:prstGeom prst="rect">
            <a:avLst/>
          </a:prstGeom>
          <a:noFill/>
          <a:ln/>
        </p:spPr>
        <p:txBody>
          <a:bodyPr wrap="square" lIns="0" tIns="0" rIns="0" bIns="0" rtlCol="0" anchor="ctr"/>
          <a:lstStyle/>
          <a:p>
            <a:pPr marL="0" indent="0">
              <a:buNone/>
            </a:pPr>
            <a:r>
              <a:rPr lang="en-US" sz="1600" b="1" kern="0" spc="800" dirty="0">
                <a:solidFill>
                  <a:srgbClr val="F59E0B"/>
                </a:solidFill>
                <a:latin typeface="Calibri" pitchFamily="34" charset="0"/>
                <a:ea typeface="Calibri" pitchFamily="34" charset="-122"/>
                <a:cs typeface="Calibri" pitchFamily="34" charset="-120"/>
              </a:rPr>
              <a:t>CHAPTER 12</a:t>
            </a:r>
            <a:endParaRPr lang="en-US" sz="1600" dirty="0"/>
          </a:p>
        </p:txBody>
      </p:sp>
      <p:sp>
        <p:nvSpPr>
          <p:cNvPr id="4" name="Text 2"/>
          <p:cNvSpPr/>
          <p:nvPr/>
        </p:nvSpPr>
        <p:spPr>
          <a:xfrm>
            <a:off x="822960" y="1920240"/>
            <a:ext cx="1097280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Backend Security &amp;</a:t>
            </a:r>
            <a:endParaRPr lang="en-US" sz="5000" dirty="0"/>
          </a:p>
        </p:txBody>
      </p:sp>
      <p:sp>
        <p:nvSpPr>
          <p:cNvPr id="5" name="Text 3"/>
          <p:cNvSpPr/>
          <p:nvPr/>
        </p:nvSpPr>
        <p:spPr>
          <a:xfrm>
            <a:off x="822960" y="2743200"/>
            <a:ext cx="1097280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Best Practices</a:t>
            </a:r>
            <a:endParaRPr lang="en-US" sz="5000" dirty="0"/>
          </a:p>
        </p:txBody>
      </p:sp>
      <p:sp>
        <p:nvSpPr>
          <p:cNvPr id="6" name="Text 4"/>
          <p:cNvSpPr/>
          <p:nvPr/>
        </p:nvSpPr>
        <p:spPr>
          <a:xfrm>
            <a:off x="822960" y="3749040"/>
            <a:ext cx="10972800" cy="64008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Defense in depth — from input validation to secure deployment.</a:t>
            </a:r>
            <a:endParaRPr lang="en-US" sz="2000" dirty="0"/>
          </a:p>
        </p:txBody>
      </p:sp>
      <p:sp>
        <p:nvSpPr>
          <p:cNvPr id="7" name="Text 5"/>
          <p:cNvSpPr/>
          <p:nvPr/>
        </p:nvSpPr>
        <p:spPr>
          <a:xfrm>
            <a:off x="822960" y="5212080"/>
            <a:ext cx="10972800" cy="13716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SCSM2223 — Cross-Platform Application Development</a:t>
            </a:r>
            <a:endParaRPr lang="en-US" sz="1600" dirty="0"/>
          </a:p>
          <a:p>
            <a:pPr marL="0" indent="0">
              <a:buNone/>
            </a:pPr>
            <a:r>
              <a:rPr lang="en-US" sz="1400" dirty="0">
                <a:solidFill>
                  <a:srgbClr val="94A3B8"/>
                </a:solidFill>
                <a:latin typeface="Calibri" pitchFamily="34" charset="0"/>
                <a:ea typeface="Calibri" pitchFamily="34" charset="-122"/>
                <a:cs typeface="Calibri" pitchFamily="34" charset="-120"/>
              </a:rPr>
              <a:t>Faculty of Computing • Universiti Teknologi Malaysia</a:t>
            </a:r>
            <a:endParaRPr lang="en-US" sz="1600" dirty="0"/>
          </a:p>
          <a:p>
            <a:pPr marL="0" indent="0">
              <a:buNone/>
            </a:pPr>
            <a:r>
              <a:rPr lang="en-US" sz="1400" dirty="0">
                <a:solidFill>
                  <a:srgbClr val="94A3B8"/>
                </a:solidFill>
                <a:latin typeface="Calibri" pitchFamily="34" charset="0"/>
                <a:ea typeface="Calibri" pitchFamily="34" charset="-122"/>
                <a:cs typeface="Calibri" pitchFamily="34" charset="-120"/>
              </a:rPr>
              <a:t>Assoc. Prof. Dr Hishammuddin bin Asmuni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AT THE END OF THIS CHAPTER</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Learning Objectives</a:t>
            </a:r>
            <a:endParaRPr lang="en-US" sz="3200" dirty="0"/>
          </a:p>
        </p:txBody>
      </p:sp>
      <p:sp>
        <p:nvSpPr>
          <p:cNvPr id="4" name="Shape 2"/>
          <p:cNvSpPr/>
          <p:nvPr/>
        </p:nvSpPr>
        <p:spPr>
          <a:xfrm>
            <a:off x="548640" y="1371600"/>
            <a:ext cx="868680" cy="274320"/>
          </a:xfrm>
          <a:prstGeom prst="roundRect">
            <a:avLst>
              <a:gd name="adj" fmla="val 13333"/>
            </a:avLst>
          </a:prstGeom>
          <a:solidFill>
            <a:srgbClr val="065A82"/>
          </a:solidFill>
          <a:ln w="12700">
            <a:solidFill>
              <a:srgbClr val="065A82"/>
            </a:solidFill>
            <a:prstDash val="solid"/>
          </a:ln>
        </p:spPr>
        <p:txBody>
          <a:bodyPr/>
          <a:lstStyle/>
          <a:p>
            <a:endParaRPr lang="en-MY" sz="2000"/>
          </a:p>
        </p:txBody>
      </p:sp>
      <p:sp>
        <p:nvSpPr>
          <p:cNvPr id="5" name="Text 3"/>
          <p:cNvSpPr/>
          <p:nvPr/>
        </p:nvSpPr>
        <p:spPr>
          <a:xfrm>
            <a:off x="548640" y="1371600"/>
            <a:ext cx="86868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C1</a:t>
            </a:r>
            <a:endParaRPr lang="en-US" sz="2000" dirty="0"/>
          </a:p>
        </p:txBody>
      </p:sp>
      <p:sp>
        <p:nvSpPr>
          <p:cNvPr id="6" name="Text 4"/>
          <p:cNvSpPr/>
          <p:nvPr/>
        </p:nvSpPr>
        <p:spPr>
          <a:xfrm>
            <a:off x="1554480" y="1325880"/>
            <a:ext cx="10058400" cy="640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Describe SQL injection, XSS, and data tampering, and explain how each works.</a:t>
            </a:r>
            <a:endParaRPr lang="en-US" sz="2000" dirty="0"/>
          </a:p>
        </p:txBody>
      </p:sp>
      <p:sp>
        <p:nvSpPr>
          <p:cNvPr id="7" name="Shape 5"/>
          <p:cNvSpPr/>
          <p:nvPr/>
        </p:nvSpPr>
        <p:spPr>
          <a:xfrm>
            <a:off x="548640" y="2084832"/>
            <a:ext cx="868680" cy="274320"/>
          </a:xfrm>
          <a:prstGeom prst="roundRect">
            <a:avLst>
              <a:gd name="adj" fmla="val 13333"/>
            </a:avLst>
          </a:prstGeom>
          <a:solidFill>
            <a:srgbClr val="1C7293"/>
          </a:solidFill>
          <a:ln w="12700">
            <a:solidFill>
              <a:srgbClr val="1C7293"/>
            </a:solidFill>
            <a:prstDash val="solid"/>
          </a:ln>
        </p:spPr>
        <p:txBody>
          <a:bodyPr/>
          <a:lstStyle/>
          <a:p>
            <a:endParaRPr lang="en-MY" sz="2000"/>
          </a:p>
        </p:txBody>
      </p:sp>
      <p:sp>
        <p:nvSpPr>
          <p:cNvPr id="8" name="Text 6"/>
          <p:cNvSpPr/>
          <p:nvPr/>
        </p:nvSpPr>
        <p:spPr>
          <a:xfrm>
            <a:off x="548640" y="2084832"/>
            <a:ext cx="86868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C2</a:t>
            </a:r>
            <a:endParaRPr lang="en-US" sz="2000" dirty="0"/>
          </a:p>
        </p:txBody>
      </p:sp>
      <p:sp>
        <p:nvSpPr>
          <p:cNvPr id="9" name="Text 7"/>
          <p:cNvSpPr/>
          <p:nvPr/>
        </p:nvSpPr>
        <p:spPr>
          <a:xfrm>
            <a:off x="1554480" y="2039112"/>
            <a:ext cx="10058400" cy="640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Differentiate stored, reflected, and DOM-based XSS, and CSRF vs IDOR vulnerabilities.</a:t>
            </a:r>
            <a:endParaRPr lang="en-US" sz="2000" dirty="0"/>
          </a:p>
        </p:txBody>
      </p:sp>
      <p:sp>
        <p:nvSpPr>
          <p:cNvPr id="10" name="Shape 8"/>
          <p:cNvSpPr/>
          <p:nvPr/>
        </p:nvSpPr>
        <p:spPr>
          <a:xfrm>
            <a:off x="548640" y="2798064"/>
            <a:ext cx="868680" cy="274320"/>
          </a:xfrm>
          <a:prstGeom prst="roundRect">
            <a:avLst>
              <a:gd name="adj" fmla="val 13333"/>
            </a:avLst>
          </a:prstGeom>
          <a:solidFill>
            <a:srgbClr val="1C7293"/>
          </a:solidFill>
          <a:ln w="12700">
            <a:solidFill>
              <a:srgbClr val="1C7293"/>
            </a:solidFill>
            <a:prstDash val="solid"/>
          </a:ln>
        </p:spPr>
        <p:txBody>
          <a:bodyPr/>
          <a:lstStyle/>
          <a:p>
            <a:endParaRPr lang="en-MY" sz="2000"/>
          </a:p>
        </p:txBody>
      </p:sp>
      <p:sp>
        <p:nvSpPr>
          <p:cNvPr id="11" name="Text 9"/>
          <p:cNvSpPr/>
          <p:nvPr/>
        </p:nvSpPr>
        <p:spPr>
          <a:xfrm>
            <a:off x="548640" y="2798064"/>
            <a:ext cx="86868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C2</a:t>
            </a:r>
            <a:endParaRPr lang="en-US" sz="2000" dirty="0"/>
          </a:p>
        </p:txBody>
      </p:sp>
      <p:sp>
        <p:nvSpPr>
          <p:cNvPr id="12" name="Text 10"/>
          <p:cNvSpPr/>
          <p:nvPr/>
        </p:nvSpPr>
        <p:spPr>
          <a:xfrm>
            <a:off x="1554480" y="2752344"/>
            <a:ext cx="10058400" cy="640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Explain the principle of defense in depth and why no single control is sufficient.</a:t>
            </a:r>
            <a:endParaRPr lang="en-US" sz="2000" dirty="0"/>
          </a:p>
        </p:txBody>
      </p:sp>
      <p:sp>
        <p:nvSpPr>
          <p:cNvPr id="13" name="Shape 11"/>
          <p:cNvSpPr/>
          <p:nvPr/>
        </p:nvSpPr>
        <p:spPr>
          <a:xfrm>
            <a:off x="548640" y="3511296"/>
            <a:ext cx="868680" cy="274320"/>
          </a:xfrm>
          <a:prstGeom prst="roundRect">
            <a:avLst>
              <a:gd name="adj" fmla="val 13333"/>
            </a:avLst>
          </a:prstGeom>
          <a:solidFill>
            <a:srgbClr val="10B981"/>
          </a:solidFill>
          <a:ln w="12700">
            <a:solidFill>
              <a:srgbClr val="10B981"/>
            </a:solidFill>
            <a:prstDash val="solid"/>
          </a:ln>
        </p:spPr>
        <p:txBody>
          <a:bodyPr/>
          <a:lstStyle/>
          <a:p>
            <a:endParaRPr lang="en-MY" sz="2000"/>
          </a:p>
        </p:txBody>
      </p:sp>
      <p:sp>
        <p:nvSpPr>
          <p:cNvPr id="14" name="Text 12"/>
          <p:cNvSpPr/>
          <p:nvPr/>
        </p:nvSpPr>
        <p:spPr>
          <a:xfrm>
            <a:off x="548640" y="3511296"/>
            <a:ext cx="86868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C3</a:t>
            </a:r>
            <a:endParaRPr lang="en-US" sz="2000" dirty="0"/>
          </a:p>
        </p:txBody>
      </p:sp>
      <p:sp>
        <p:nvSpPr>
          <p:cNvPr id="15" name="Text 13"/>
          <p:cNvSpPr/>
          <p:nvPr/>
        </p:nvSpPr>
        <p:spPr>
          <a:xfrm>
            <a:off x="1554480" y="3465576"/>
            <a:ext cx="10058400" cy="640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Apply input validation and output encoding to defend against injection attacks.</a:t>
            </a:r>
            <a:endParaRPr lang="en-US" sz="2000" dirty="0"/>
          </a:p>
        </p:txBody>
      </p:sp>
      <p:sp>
        <p:nvSpPr>
          <p:cNvPr id="16" name="Shape 14"/>
          <p:cNvSpPr/>
          <p:nvPr/>
        </p:nvSpPr>
        <p:spPr>
          <a:xfrm>
            <a:off x="548640" y="4224528"/>
            <a:ext cx="868680" cy="274320"/>
          </a:xfrm>
          <a:prstGeom prst="roundRect">
            <a:avLst>
              <a:gd name="adj" fmla="val 13333"/>
            </a:avLst>
          </a:prstGeom>
          <a:solidFill>
            <a:srgbClr val="10B981"/>
          </a:solidFill>
          <a:ln w="12700">
            <a:solidFill>
              <a:srgbClr val="10B981"/>
            </a:solidFill>
            <a:prstDash val="solid"/>
          </a:ln>
        </p:spPr>
        <p:txBody>
          <a:bodyPr/>
          <a:lstStyle/>
          <a:p>
            <a:endParaRPr lang="en-MY" sz="2000"/>
          </a:p>
        </p:txBody>
      </p:sp>
      <p:sp>
        <p:nvSpPr>
          <p:cNvPr id="17" name="Text 15"/>
          <p:cNvSpPr/>
          <p:nvPr/>
        </p:nvSpPr>
        <p:spPr>
          <a:xfrm>
            <a:off x="548640" y="4224528"/>
            <a:ext cx="86868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C3</a:t>
            </a:r>
            <a:endParaRPr lang="en-US" sz="2000" dirty="0"/>
          </a:p>
        </p:txBody>
      </p:sp>
      <p:sp>
        <p:nvSpPr>
          <p:cNvPr id="18" name="Text 16"/>
          <p:cNvSpPr/>
          <p:nvPr/>
        </p:nvSpPr>
        <p:spPr>
          <a:xfrm>
            <a:off x="1554480" y="4178808"/>
            <a:ext cx="10058400" cy="640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Configure security HTTP headers and a CORS policy for a Slim REST API.</a:t>
            </a:r>
            <a:endParaRPr lang="en-US" sz="2000" dirty="0"/>
          </a:p>
        </p:txBody>
      </p:sp>
      <p:sp>
        <p:nvSpPr>
          <p:cNvPr id="19" name="Shape 17"/>
          <p:cNvSpPr/>
          <p:nvPr/>
        </p:nvSpPr>
        <p:spPr>
          <a:xfrm>
            <a:off x="548640" y="4937760"/>
            <a:ext cx="868680" cy="274320"/>
          </a:xfrm>
          <a:prstGeom prst="roundRect">
            <a:avLst>
              <a:gd name="adj" fmla="val 13333"/>
            </a:avLst>
          </a:prstGeom>
          <a:solidFill>
            <a:srgbClr val="10B981"/>
          </a:solidFill>
          <a:ln w="12700">
            <a:solidFill>
              <a:srgbClr val="10B981"/>
            </a:solidFill>
            <a:prstDash val="solid"/>
          </a:ln>
        </p:spPr>
        <p:txBody>
          <a:bodyPr/>
          <a:lstStyle/>
          <a:p>
            <a:endParaRPr lang="en-MY" sz="2000"/>
          </a:p>
        </p:txBody>
      </p:sp>
      <p:sp>
        <p:nvSpPr>
          <p:cNvPr id="20" name="Text 18"/>
          <p:cNvSpPr/>
          <p:nvPr/>
        </p:nvSpPr>
        <p:spPr>
          <a:xfrm>
            <a:off x="548640" y="4937760"/>
            <a:ext cx="86868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C3</a:t>
            </a:r>
            <a:endParaRPr lang="en-US" sz="2000" dirty="0"/>
          </a:p>
        </p:txBody>
      </p:sp>
      <p:sp>
        <p:nvSpPr>
          <p:cNvPr id="21" name="Text 19"/>
          <p:cNvSpPr/>
          <p:nvPr/>
        </p:nvSpPr>
        <p:spPr>
          <a:xfrm>
            <a:off x="1554480" y="4892040"/>
            <a:ext cx="10058400" cy="640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Implement rate limiting and resource-ownership checks (IDOR protection).</a:t>
            </a:r>
            <a:endParaRPr lang="en-US" sz="2000" dirty="0"/>
          </a:p>
        </p:txBody>
      </p:sp>
      <p:sp>
        <p:nvSpPr>
          <p:cNvPr id="22"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23" name="Text 21"/>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FROM CHAPTER 11 → CHAPTER 12</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Where We Are</a:t>
            </a:r>
            <a:endParaRPr lang="en-US" sz="3200" dirty="0"/>
          </a:p>
        </p:txBody>
      </p:sp>
      <p:sp>
        <p:nvSpPr>
          <p:cNvPr id="4" name="Shape 2"/>
          <p:cNvSpPr/>
          <p:nvPr/>
        </p:nvSpPr>
        <p:spPr>
          <a:xfrm>
            <a:off x="548640" y="1280160"/>
            <a:ext cx="5486400" cy="4754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548640" y="1280160"/>
            <a:ext cx="5486400" cy="502920"/>
          </a:xfrm>
          <a:prstGeom prst="rect">
            <a:avLst/>
          </a:prstGeom>
          <a:solidFill>
            <a:srgbClr val="64748B"/>
          </a:solidFill>
          <a:ln w="12700">
            <a:solidFill>
              <a:srgbClr val="64748B"/>
            </a:solidFill>
            <a:prstDash val="solid"/>
          </a:ln>
        </p:spPr>
        <p:txBody>
          <a:bodyPr/>
          <a:lstStyle/>
          <a:p>
            <a:endParaRPr lang="en-MY" sz="2400"/>
          </a:p>
        </p:txBody>
      </p:sp>
      <p:sp>
        <p:nvSpPr>
          <p:cNvPr id="6" name="Text 4"/>
          <p:cNvSpPr/>
          <p:nvPr/>
        </p:nvSpPr>
        <p:spPr>
          <a:xfrm>
            <a:off x="548640" y="1280160"/>
            <a:ext cx="54864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CHAPTER 11 — Today</a:t>
            </a:r>
            <a:endParaRPr lang="en-US" sz="2400" dirty="0"/>
          </a:p>
        </p:txBody>
      </p:sp>
      <p:sp>
        <p:nvSpPr>
          <p:cNvPr id="7" name="Text 5"/>
          <p:cNvSpPr/>
          <p:nvPr/>
        </p:nvSpPr>
        <p:spPr>
          <a:xfrm>
            <a:off x="777240" y="2011680"/>
            <a:ext cx="5120640" cy="3840480"/>
          </a:xfrm>
          <a:prstGeom prst="rect">
            <a:avLst/>
          </a:prstGeom>
          <a:noFill/>
          <a:ln/>
        </p:spPr>
        <p:txBody>
          <a:bodyPr wrap="square" lIns="0" tIns="0" rIns="0" bIns="0" rtlCol="0" anchor="ctr"/>
          <a:lstStyle/>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JWT authentication</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Role-based authorization</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Prepared statements (Ch 10)</a:t>
            </a:r>
            <a:endParaRPr lang="en-US" sz="2400" dirty="0"/>
          </a:p>
          <a:p>
            <a:pPr marL="0" indent="0">
              <a:spcAft>
                <a:spcPts val="600"/>
              </a:spcAft>
              <a:buNone/>
            </a:pPr>
            <a:r>
              <a:rPr lang="en-US" sz="2400" b="1" dirty="0">
                <a:solidFill>
                  <a:srgbClr val="DC2626"/>
                </a:solidFill>
                <a:latin typeface="Calibri" pitchFamily="34" charset="0"/>
                <a:ea typeface="Calibri" pitchFamily="34" charset="-122"/>
                <a:cs typeface="Calibri" pitchFamily="34" charset="-120"/>
              </a:rPr>
              <a:t>✗  No rate limiting</a:t>
            </a:r>
            <a:endParaRPr lang="en-US" sz="2400" dirty="0"/>
          </a:p>
          <a:p>
            <a:pPr marL="0" indent="0">
              <a:spcAft>
                <a:spcPts val="600"/>
              </a:spcAft>
              <a:buNone/>
            </a:pPr>
            <a:r>
              <a:rPr lang="en-US" sz="2400" b="1" dirty="0">
                <a:solidFill>
                  <a:srgbClr val="DC2626"/>
                </a:solidFill>
                <a:latin typeface="Calibri" pitchFamily="34" charset="0"/>
                <a:ea typeface="Calibri" pitchFamily="34" charset="-122"/>
                <a:cs typeface="Calibri" pitchFamily="34" charset="-120"/>
              </a:rPr>
              <a:t>✗  Light input validation</a:t>
            </a:r>
            <a:endParaRPr lang="en-US" sz="2400" dirty="0"/>
          </a:p>
          <a:p>
            <a:pPr marL="0" indent="0">
              <a:spcAft>
                <a:spcPts val="600"/>
              </a:spcAft>
              <a:buNone/>
            </a:pPr>
            <a:r>
              <a:rPr lang="en-US" sz="2400" b="1" dirty="0">
                <a:solidFill>
                  <a:srgbClr val="DC2626"/>
                </a:solidFill>
                <a:latin typeface="Calibri" pitchFamily="34" charset="0"/>
                <a:ea typeface="Calibri" pitchFamily="34" charset="-122"/>
                <a:cs typeface="Calibri" pitchFamily="34" charset="-120"/>
              </a:rPr>
              <a:t>✗  No security headers</a:t>
            </a:r>
            <a:endParaRPr lang="en-US" sz="2400" dirty="0"/>
          </a:p>
        </p:txBody>
      </p:sp>
      <p:sp>
        <p:nvSpPr>
          <p:cNvPr id="8" name="Shape 6"/>
          <p:cNvSpPr/>
          <p:nvPr/>
        </p:nvSpPr>
        <p:spPr>
          <a:xfrm>
            <a:off x="6263640" y="128016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9" name="Shape 7"/>
          <p:cNvSpPr/>
          <p:nvPr/>
        </p:nvSpPr>
        <p:spPr>
          <a:xfrm>
            <a:off x="6263640" y="1280160"/>
            <a:ext cx="5532120" cy="502920"/>
          </a:xfrm>
          <a:prstGeom prst="rect">
            <a:avLst/>
          </a:prstGeom>
          <a:solidFill>
            <a:srgbClr val="10B981"/>
          </a:solidFill>
          <a:ln w="12700">
            <a:solidFill>
              <a:srgbClr val="10B981"/>
            </a:solidFill>
            <a:prstDash val="solid"/>
          </a:ln>
        </p:spPr>
        <p:txBody>
          <a:bodyPr/>
          <a:lstStyle/>
          <a:p>
            <a:endParaRPr lang="en-MY" sz="2400"/>
          </a:p>
        </p:txBody>
      </p:sp>
      <p:sp>
        <p:nvSpPr>
          <p:cNvPr id="10" name="Text 8"/>
          <p:cNvSpPr/>
          <p:nvPr/>
        </p:nvSpPr>
        <p:spPr>
          <a:xfrm>
            <a:off x="6263640" y="1280160"/>
            <a:ext cx="55321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CHAPTER 12 — Goal</a:t>
            </a:r>
            <a:endParaRPr lang="en-US" sz="2400" dirty="0"/>
          </a:p>
        </p:txBody>
      </p:sp>
      <p:sp>
        <p:nvSpPr>
          <p:cNvPr id="11" name="Text 9"/>
          <p:cNvSpPr/>
          <p:nvPr/>
        </p:nvSpPr>
        <p:spPr>
          <a:xfrm>
            <a:off x="6492240" y="2011680"/>
            <a:ext cx="5120640" cy="3840480"/>
          </a:xfrm>
          <a:prstGeom prst="rect">
            <a:avLst/>
          </a:prstGeom>
          <a:noFill/>
          <a:ln/>
        </p:spPr>
        <p:txBody>
          <a:bodyPr wrap="square" lIns="0" tIns="0" rIns="0" bIns="0" rtlCol="0" anchor="ctr"/>
          <a:lstStyle/>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Strict server-side validation</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Output encoding to stop XSS</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Security HTTP headers</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Rate limiting on /auth/login</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IDOR protection (ownership)</a:t>
            </a:r>
            <a:endParaRPr lang="en-US" sz="2400" dirty="0"/>
          </a:p>
          <a:p>
            <a:pPr marL="0" indent="0">
              <a:spcAft>
                <a:spcPts val="600"/>
              </a:spcAft>
              <a:buNone/>
            </a:pPr>
            <a:r>
              <a:rPr lang="en-US" sz="2400" dirty="0">
                <a:solidFill>
                  <a:srgbClr val="1E293B"/>
                </a:solidFill>
                <a:latin typeface="Calibri" pitchFamily="34" charset="0"/>
                <a:ea typeface="Calibri" pitchFamily="34" charset="-122"/>
                <a:cs typeface="Calibri" pitchFamily="34" charset="-120"/>
              </a:rPr>
              <a:t>✓  Layered, defense-in-depth API</a:t>
            </a:r>
            <a:endParaRPr lang="en-US" sz="2400" dirty="0"/>
          </a:p>
        </p:txBody>
      </p:sp>
      <p:sp>
        <p:nvSpPr>
          <p:cNvPr id="12" name="Text 1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13" name="Text 11"/>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THE THREAT LANDSCAPE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OWASP Top 10 — The Usual Suspects</a:t>
            </a:r>
            <a:endParaRPr lang="en-US" sz="3200" dirty="0"/>
          </a:p>
        </p:txBody>
      </p:sp>
      <p:sp>
        <p:nvSpPr>
          <p:cNvPr id="4" name="Shape 2"/>
          <p:cNvSpPr/>
          <p:nvPr/>
        </p:nvSpPr>
        <p:spPr>
          <a:xfrm>
            <a:off x="548640" y="1371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548640" y="1371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6" name="Text 4"/>
          <p:cNvSpPr/>
          <p:nvPr/>
        </p:nvSpPr>
        <p:spPr>
          <a:xfrm>
            <a:off x="548640" y="1371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A01</a:t>
            </a:r>
            <a:endParaRPr lang="en-US" sz="2400" dirty="0"/>
          </a:p>
        </p:txBody>
      </p:sp>
      <p:sp>
        <p:nvSpPr>
          <p:cNvPr id="7" name="Text 5"/>
          <p:cNvSpPr/>
          <p:nvPr/>
        </p:nvSpPr>
        <p:spPr>
          <a:xfrm>
            <a:off x="1417320" y="1463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Broken Access Control</a:t>
            </a:r>
            <a:endParaRPr lang="en-US" sz="2400" dirty="0"/>
          </a:p>
        </p:txBody>
      </p:sp>
      <p:sp>
        <p:nvSpPr>
          <p:cNvPr id="8" name="Text 6"/>
          <p:cNvSpPr/>
          <p:nvPr/>
        </p:nvSpPr>
        <p:spPr>
          <a:xfrm>
            <a:off x="1417320" y="1874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IDOR, role checks (today)</a:t>
            </a:r>
            <a:endParaRPr lang="en-US" sz="2400" dirty="0"/>
          </a:p>
        </p:txBody>
      </p:sp>
      <p:sp>
        <p:nvSpPr>
          <p:cNvPr id="9" name="Shape 7"/>
          <p:cNvSpPr/>
          <p:nvPr/>
        </p:nvSpPr>
        <p:spPr>
          <a:xfrm>
            <a:off x="6309360" y="1371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0" name="Shape 8"/>
          <p:cNvSpPr/>
          <p:nvPr/>
        </p:nvSpPr>
        <p:spPr>
          <a:xfrm>
            <a:off x="6309360" y="1371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11" name="Text 9"/>
          <p:cNvSpPr/>
          <p:nvPr/>
        </p:nvSpPr>
        <p:spPr>
          <a:xfrm>
            <a:off x="6309360" y="1371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A02</a:t>
            </a:r>
            <a:endParaRPr lang="en-US" sz="2400" dirty="0"/>
          </a:p>
        </p:txBody>
      </p:sp>
      <p:sp>
        <p:nvSpPr>
          <p:cNvPr id="12" name="Text 10"/>
          <p:cNvSpPr/>
          <p:nvPr/>
        </p:nvSpPr>
        <p:spPr>
          <a:xfrm>
            <a:off x="7178040" y="1463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Cryptographic Failures</a:t>
            </a:r>
            <a:endParaRPr lang="en-US" sz="2400" dirty="0"/>
          </a:p>
        </p:txBody>
      </p:sp>
      <p:sp>
        <p:nvSpPr>
          <p:cNvPr id="13" name="Text 11"/>
          <p:cNvSpPr/>
          <p:nvPr/>
        </p:nvSpPr>
        <p:spPr>
          <a:xfrm>
            <a:off x="7178040" y="1874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Hash passwords, HTTPS only</a:t>
            </a:r>
            <a:endParaRPr lang="en-US" sz="2400" dirty="0"/>
          </a:p>
        </p:txBody>
      </p:sp>
      <p:sp>
        <p:nvSpPr>
          <p:cNvPr id="14" name="Shape 12"/>
          <p:cNvSpPr/>
          <p:nvPr/>
        </p:nvSpPr>
        <p:spPr>
          <a:xfrm>
            <a:off x="548640" y="2514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5" name="Shape 13"/>
          <p:cNvSpPr/>
          <p:nvPr/>
        </p:nvSpPr>
        <p:spPr>
          <a:xfrm>
            <a:off x="548640" y="2514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16" name="Text 14"/>
          <p:cNvSpPr/>
          <p:nvPr/>
        </p:nvSpPr>
        <p:spPr>
          <a:xfrm>
            <a:off x="548640" y="2514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A03</a:t>
            </a:r>
            <a:endParaRPr lang="en-US" sz="2400" dirty="0"/>
          </a:p>
        </p:txBody>
      </p:sp>
      <p:sp>
        <p:nvSpPr>
          <p:cNvPr id="17" name="Text 15"/>
          <p:cNvSpPr/>
          <p:nvPr/>
        </p:nvSpPr>
        <p:spPr>
          <a:xfrm>
            <a:off x="1417320" y="2606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Injection</a:t>
            </a:r>
            <a:endParaRPr lang="en-US" sz="2400" dirty="0"/>
          </a:p>
        </p:txBody>
      </p:sp>
      <p:sp>
        <p:nvSpPr>
          <p:cNvPr id="18" name="Text 16"/>
          <p:cNvSpPr/>
          <p:nvPr/>
        </p:nvSpPr>
        <p:spPr>
          <a:xfrm>
            <a:off x="1417320" y="3017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SQL injection (Ch10) + NoSQL/CMD</a:t>
            </a:r>
            <a:endParaRPr lang="en-US" sz="2400" dirty="0"/>
          </a:p>
        </p:txBody>
      </p:sp>
      <p:sp>
        <p:nvSpPr>
          <p:cNvPr id="19" name="Shape 17"/>
          <p:cNvSpPr/>
          <p:nvPr/>
        </p:nvSpPr>
        <p:spPr>
          <a:xfrm>
            <a:off x="6309360" y="2514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0" name="Shape 18"/>
          <p:cNvSpPr/>
          <p:nvPr/>
        </p:nvSpPr>
        <p:spPr>
          <a:xfrm>
            <a:off x="6309360" y="2514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21" name="Text 19"/>
          <p:cNvSpPr/>
          <p:nvPr/>
        </p:nvSpPr>
        <p:spPr>
          <a:xfrm>
            <a:off x="6309360" y="2514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A04</a:t>
            </a:r>
            <a:endParaRPr lang="en-US" sz="2400" dirty="0"/>
          </a:p>
        </p:txBody>
      </p:sp>
      <p:sp>
        <p:nvSpPr>
          <p:cNvPr id="22" name="Text 20"/>
          <p:cNvSpPr/>
          <p:nvPr/>
        </p:nvSpPr>
        <p:spPr>
          <a:xfrm>
            <a:off x="7178040" y="2606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Insecure Design</a:t>
            </a:r>
            <a:endParaRPr lang="en-US" sz="2400" dirty="0"/>
          </a:p>
        </p:txBody>
      </p:sp>
      <p:sp>
        <p:nvSpPr>
          <p:cNvPr id="23" name="Text 21"/>
          <p:cNvSpPr/>
          <p:nvPr/>
        </p:nvSpPr>
        <p:spPr>
          <a:xfrm>
            <a:off x="7178040" y="3017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Threat-model before coding</a:t>
            </a:r>
            <a:endParaRPr lang="en-US" sz="2400" dirty="0"/>
          </a:p>
        </p:txBody>
      </p:sp>
      <p:sp>
        <p:nvSpPr>
          <p:cNvPr id="24" name="Shape 22"/>
          <p:cNvSpPr/>
          <p:nvPr/>
        </p:nvSpPr>
        <p:spPr>
          <a:xfrm>
            <a:off x="548640" y="3657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5" name="Shape 23"/>
          <p:cNvSpPr/>
          <p:nvPr/>
        </p:nvSpPr>
        <p:spPr>
          <a:xfrm>
            <a:off x="548640" y="3657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26" name="Text 24"/>
          <p:cNvSpPr/>
          <p:nvPr/>
        </p:nvSpPr>
        <p:spPr>
          <a:xfrm>
            <a:off x="548640" y="3657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A05</a:t>
            </a:r>
            <a:endParaRPr lang="en-US" sz="2400" dirty="0"/>
          </a:p>
        </p:txBody>
      </p:sp>
      <p:sp>
        <p:nvSpPr>
          <p:cNvPr id="27" name="Text 25"/>
          <p:cNvSpPr/>
          <p:nvPr/>
        </p:nvSpPr>
        <p:spPr>
          <a:xfrm>
            <a:off x="1417320" y="3749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Security Misconfiguration</a:t>
            </a:r>
            <a:endParaRPr lang="en-US" sz="2400" dirty="0"/>
          </a:p>
        </p:txBody>
      </p:sp>
      <p:sp>
        <p:nvSpPr>
          <p:cNvPr id="28" name="Text 26"/>
          <p:cNvSpPr/>
          <p:nvPr/>
        </p:nvSpPr>
        <p:spPr>
          <a:xfrm>
            <a:off x="1417320" y="4160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Default creds, verbose errors</a:t>
            </a:r>
            <a:endParaRPr lang="en-US" sz="2400" dirty="0"/>
          </a:p>
        </p:txBody>
      </p:sp>
      <p:sp>
        <p:nvSpPr>
          <p:cNvPr id="29" name="Shape 27"/>
          <p:cNvSpPr/>
          <p:nvPr/>
        </p:nvSpPr>
        <p:spPr>
          <a:xfrm>
            <a:off x="6309360" y="3657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0" name="Shape 28"/>
          <p:cNvSpPr/>
          <p:nvPr/>
        </p:nvSpPr>
        <p:spPr>
          <a:xfrm>
            <a:off x="6309360" y="3657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31" name="Text 29"/>
          <p:cNvSpPr/>
          <p:nvPr/>
        </p:nvSpPr>
        <p:spPr>
          <a:xfrm>
            <a:off x="6309360" y="3657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A07</a:t>
            </a:r>
            <a:endParaRPr lang="en-US" sz="2400" dirty="0"/>
          </a:p>
        </p:txBody>
      </p:sp>
      <p:sp>
        <p:nvSpPr>
          <p:cNvPr id="32" name="Text 30"/>
          <p:cNvSpPr/>
          <p:nvPr/>
        </p:nvSpPr>
        <p:spPr>
          <a:xfrm>
            <a:off x="7178040" y="3749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Auth Failures</a:t>
            </a:r>
            <a:endParaRPr lang="en-US" sz="2400" dirty="0"/>
          </a:p>
        </p:txBody>
      </p:sp>
      <p:sp>
        <p:nvSpPr>
          <p:cNvPr id="33" name="Text 31"/>
          <p:cNvSpPr/>
          <p:nvPr/>
        </p:nvSpPr>
        <p:spPr>
          <a:xfrm>
            <a:off x="7178040" y="4160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Weak JWT secret, no rate limit</a:t>
            </a:r>
            <a:endParaRPr lang="en-US" sz="2400" dirty="0"/>
          </a:p>
        </p:txBody>
      </p:sp>
      <p:sp>
        <p:nvSpPr>
          <p:cNvPr id="34" name="Shape 32"/>
          <p:cNvSpPr/>
          <p:nvPr/>
        </p:nvSpPr>
        <p:spPr>
          <a:xfrm>
            <a:off x="548640" y="4800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5" name="Shape 33"/>
          <p:cNvSpPr/>
          <p:nvPr/>
        </p:nvSpPr>
        <p:spPr>
          <a:xfrm>
            <a:off x="548640" y="4800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36" name="Text 34"/>
          <p:cNvSpPr/>
          <p:nvPr/>
        </p:nvSpPr>
        <p:spPr>
          <a:xfrm>
            <a:off x="548640" y="4800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A08</a:t>
            </a:r>
            <a:endParaRPr lang="en-US" sz="2400" dirty="0"/>
          </a:p>
        </p:txBody>
      </p:sp>
      <p:sp>
        <p:nvSpPr>
          <p:cNvPr id="37" name="Text 35"/>
          <p:cNvSpPr/>
          <p:nvPr/>
        </p:nvSpPr>
        <p:spPr>
          <a:xfrm>
            <a:off x="1417320" y="4892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Software/Data Integrity</a:t>
            </a:r>
            <a:endParaRPr lang="en-US" sz="2400" dirty="0"/>
          </a:p>
        </p:txBody>
      </p:sp>
      <p:sp>
        <p:nvSpPr>
          <p:cNvPr id="38" name="Text 36"/>
          <p:cNvSpPr/>
          <p:nvPr/>
        </p:nvSpPr>
        <p:spPr>
          <a:xfrm>
            <a:off x="1417320" y="5303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Unsigned tokens, tampering</a:t>
            </a:r>
            <a:endParaRPr lang="en-US" sz="2400" dirty="0"/>
          </a:p>
        </p:txBody>
      </p:sp>
      <p:sp>
        <p:nvSpPr>
          <p:cNvPr id="39" name="Shape 37"/>
          <p:cNvSpPr/>
          <p:nvPr/>
        </p:nvSpPr>
        <p:spPr>
          <a:xfrm>
            <a:off x="6309360" y="4800600"/>
            <a:ext cx="5532120" cy="96012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40" name="Shape 38"/>
          <p:cNvSpPr/>
          <p:nvPr/>
        </p:nvSpPr>
        <p:spPr>
          <a:xfrm>
            <a:off x="6309360" y="4800600"/>
            <a:ext cx="731520" cy="960120"/>
          </a:xfrm>
          <a:prstGeom prst="rect">
            <a:avLst/>
          </a:prstGeom>
          <a:solidFill>
            <a:srgbClr val="DC2626"/>
          </a:solidFill>
          <a:ln w="12700">
            <a:solidFill>
              <a:srgbClr val="DC2626"/>
            </a:solidFill>
            <a:prstDash val="solid"/>
          </a:ln>
        </p:spPr>
        <p:txBody>
          <a:bodyPr/>
          <a:lstStyle/>
          <a:p>
            <a:endParaRPr lang="en-MY" sz="2400"/>
          </a:p>
        </p:txBody>
      </p:sp>
      <p:sp>
        <p:nvSpPr>
          <p:cNvPr id="41" name="Text 39"/>
          <p:cNvSpPr/>
          <p:nvPr/>
        </p:nvSpPr>
        <p:spPr>
          <a:xfrm>
            <a:off x="6309360" y="4800600"/>
            <a:ext cx="731520" cy="9601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A09</a:t>
            </a:r>
            <a:endParaRPr lang="en-US" sz="2400" dirty="0"/>
          </a:p>
        </p:txBody>
      </p:sp>
      <p:sp>
        <p:nvSpPr>
          <p:cNvPr id="42" name="Text 40"/>
          <p:cNvSpPr/>
          <p:nvPr/>
        </p:nvSpPr>
        <p:spPr>
          <a:xfrm>
            <a:off x="7178040" y="4892040"/>
            <a:ext cx="45720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Logging &amp; Monitoring</a:t>
            </a:r>
            <a:endParaRPr lang="en-US" sz="2400" dirty="0"/>
          </a:p>
        </p:txBody>
      </p:sp>
      <p:sp>
        <p:nvSpPr>
          <p:cNvPr id="43" name="Text 41"/>
          <p:cNvSpPr/>
          <p:nvPr/>
        </p:nvSpPr>
        <p:spPr>
          <a:xfrm>
            <a:off x="7178040" y="5303520"/>
            <a:ext cx="4572000" cy="4114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No alerts on brute force</a:t>
            </a:r>
            <a:endParaRPr lang="en-US" sz="2400" dirty="0"/>
          </a:p>
        </p:txBody>
      </p:sp>
      <p:sp>
        <p:nvSpPr>
          <p:cNvPr id="44" name="Text 4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45" name="Text 43"/>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INJECTION — A REMINDER</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SQL Injection — Defenses Recap</a:t>
            </a:r>
            <a:endParaRPr lang="en-US" sz="3200" dirty="0"/>
          </a:p>
        </p:txBody>
      </p:sp>
      <p:sp>
        <p:nvSpPr>
          <p:cNvPr id="4" name="Text 2"/>
          <p:cNvSpPr/>
          <p:nvPr/>
        </p:nvSpPr>
        <p:spPr>
          <a:xfrm>
            <a:off x="548640" y="1188720"/>
            <a:ext cx="10972800" cy="457200"/>
          </a:xfrm>
          <a:prstGeom prst="rect">
            <a:avLst/>
          </a:prstGeom>
          <a:noFill/>
          <a:ln/>
        </p:spPr>
        <p:txBody>
          <a:bodyPr wrap="square" lIns="0" tIns="0" rIns="0" bIns="0" rtlCol="0" anchor="ctr"/>
          <a:lstStyle/>
          <a:p>
            <a:pPr marL="0" indent="0">
              <a:buNone/>
            </a:pPr>
            <a:r>
              <a:rPr lang="en-US" sz="2000" i="1" dirty="0">
                <a:solidFill>
                  <a:srgbClr val="64748B"/>
                </a:solidFill>
                <a:latin typeface="Calibri" pitchFamily="34" charset="0"/>
                <a:ea typeface="Calibri" pitchFamily="34" charset="-122"/>
                <a:cs typeface="Calibri" pitchFamily="34" charset="-120"/>
              </a:rPr>
              <a:t>Already covered in Chapter 10. Repeating because it's the #1 backend killer.</a:t>
            </a:r>
            <a:endParaRPr lang="en-US" sz="2000" dirty="0"/>
          </a:p>
        </p:txBody>
      </p:sp>
      <p:sp>
        <p:nvSpPr>
          <p:cNvPr id="5" name="Shape 3"/>
          <p:cNvSpPr/>
          <p:nvPr/>
        </p:nvSpPr>
        <p:spPr>
          <a:xfrm>
            <a:off x="548640" y="1783080"/>
            <a:ext cx="3657600" cy="4297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6" name="Shape 4"/>
          <p:cNvSpPr/>
          <p:nvPr/>
        </p:nvSpPr>
        <p:spPr>
          <a:xfrm>
            <a:off x="548640" y="1783080"/>
            <a:ext cx="3657600" cy="457200"/>
          </a:xfrm>
          <a:prstGeom prst="rect">
            <a:avLst/>
          </a:prstGeom>
          <a:solidFill>
            <a:srgbClr val="10B981"/>
          </a:solidFill>
          <a:ln w="12700">
            <a:solidFill>
              <a:srgbClr val="10B981"/>
            </a:solidFill>
            <a:prstDash val="solid"/>
          </a:ln>
        </p:spPr>
        <p:txBody>
          <a:bodyPr/>
          <a:lstStyle/>
          <a:p>
            <a:endParaRPr lang="en-MY" sz="2000"/>
          </a:p>
        </p:txBody>
      </p:sp>
      <p:sp>
        <p:nvSpPr>
          <p:cNvPr id="7" name="Text 5"/>
          <p:cNvSpPr/>
          <p:nvPr/>
        </p:nvSpPr>
        <p:spPr>
          <a:xfrm>
            <a:off x="548640" y="1783080"/>
            <a:ext cx="36576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ALWAYS</a:t>
            </a:r>
            <a:endParaRPr lang="en-US" sz="2000" dirty="0"/>
          </a:p>
        </p:txBody>
      </p:sp>
      <p:sp>
        <p:nvSpPr>
          <p:cNvPr id="8" name="Text 6"/>
          <p:cNvSpPr/>
          <p:nvPr/>
        </p:nvSpPr>
        <p:spPr>
          <a:xfrm>
            <a:off x="731520" y="2331720"/>
            <a:ext cx="3383280" cy="365760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Use prepared statements with placeholders</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Bind values, never concatenate</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Set PDO::ATTR_EMULATE_PREPARES = false</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Use the principle of least privilege on the DB user</a:t>
            </a:r>
            <a:endParaRPr lang="en-US" sz="2000" dirty="0"/>
          </a:p>
        </p:txBody>
      </p:sp>
      <p:sp>
        <p:nvSpPr>
          <p:cNvPr id="9" name="Shape 7"/>
          <p:cNvSpPr/>
          <p:nvPr/>
        </p:nvSpPr>
        <p:spPr>
          <a:xfrm>
            <a:off x="4389120" y="1783080"/>
            <a:ext cx="3657600" cy="4297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10" name="Shape 8"/>
          <p:cNvSpPr/>
          <p:nvPr/>
        </p:nvSpPr>
        <p:spPr>
          <a:xfrm>
            <a:off x="4389120" y="1783080"/>
            <a:ext cx="3657600" cy="457200"/>
          </a:xfrm>
          <a:prstGeom prst="rect">
            <a:avLst/>
          </a:prstGeom>
          <a:solidFill>
            <a:srgbClr val="F59E0B"/>
          </a:solidFill>
          <a:ln w="12700">
            <a:solidFill>
              <a:srgbClr val="F59E0B"/>
            </a:solidFill>
            <a:prstDash val="solid"/>
          </a:ln>
        </p:spPr>
        <p:txBody>
          <a:bodyPr/>
          <a:lstStyle/>
          <a:p>
            <a:endParaRPr lang="en-MY" sz="2000"/>
          </a:p>
        </p:txBody>
      </p:sp>
      <p:sp>
        <p:nvSpPr>
          <p:cNvPr id="11" name="Text 9"/>
          <p:cNvSpPr/>
          <p:nvPr/>
        </p:nvSpPr>
        <p:spPr>
          <a:xfrm>
            <a:off x="4389120" y="1783080"/>
            <a:ext cx="36576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SOMETIMES</a:t>
            </a:r>
            <a:endParaRPr lang="en-US" sz="2000" dirty="0"/>
          </a:p>
        </p:txBody>
      </p:sp>
      <p:sp>
        <p:nvSpPr>
          <p:cNvPr id="12" name="Text 10"/>
          <p:cNvSpPr/>
          <p:nvPr/>
        </p:nvSpPr>
        <p:spPr>
          <a:xfrm>
            <a:off x="4572000" y="2331720"/>
            <a:ext cx="3383280" cy="365760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Whitelist column / table identifiers when used dynamically</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Validate length / shape of free-text input</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Use stored procedures only when they buy you something</a:t>
            </a:r>
            <a:endParaRPr lang="en-US" sz="2000" dirty="0"/>
          </a:p>
        </p:txBody>
      </p:sp>
      <p:sp>
        <p:nvSpPr>
          <p:cNvPr id="13" name="Shape 11"/>
          <p:cNvSpPr/>
          <p:nvPr/>
        </p:nvSpPr>
        <p:spPr>
          <a:xfrm>
            <a:off x="8229600" y="1783080"/>
            <a:ext cx="3657600" cy="4297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14" name="Shape 12"/>
          <p:cNvSpPr/>
          <p:nvPr/>
        </p:nvSpPr>
        <p:spPr>
          <a:xfrm>
            <a:off x="8229600" y="1783080"/>
            <a:ext cx="3657600" cy="457200"/>
          </a:xfrm>
          <a:prstGeom prst="rect">
            <a:avLst/>
          </a:prstGeom>
          <a:solidFill>
            <a:srgbClr val="DC2626"/>
          </a:solidFill>
          <a:ln w="12700">
            <a:solidFill>
              <a:srgbClr val="DC2626"/>
            </a:solidFill>
            <a:prstDash val="solid"/>
          </a:ln>
        </p:spPr>
        <p:txBody>
          <a:bodyPr/>
          <a:lstStyle/>
          <a:p>
            <a:endParaRPr lang="en-MY" sz="2000"/>
          </a:p>
        </p:txBody>
      </p:sp>
      <p:sp>
        <p:nvSpPr>
          <p:cNvPr id="15" name="Text 13"/>
          <p:cNvSpPr/>
          <p:nvPr/>
        </p:nvSpPr>
        <p:spPr>
          <a:xfrm>
            <a:off x="8229600" y="1783080"/>
            <a:ext cx="36576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NEVER</a:t>
            </a:r>
            <a:endParaRPr lang="en-US" sz="2000" dirty="0"/>
          </a:p>
        </p:txBody>
      </p:sp>
      <p:sp>
        <p:nvSpPr>
          <p:cNvPr id="16" name="Text 14"/>
          <p:cNvSpPr/>
          <p:nvPr/>
        </p:nvSpPr>
        <p:spPr>
          <a:xfrm>
            <a:off x="8412480" y="2331720"/>
            <a:ext cx="3383280" cy="365760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String-concatenate user input into SQL</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Trust addslashes() / mysql_real_escape_string()</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Run the app as the MySQL root user</a:t>
            </a:r>
            <a:endParaRPr lang="en-US" sz="2000" dirty="0"/>
          </a:p>
          <a:p>
            <a:pPr marL="342900" indent="-342900">
              <a:spcAft>
                <a:spcPts val="600"/>
              </a:spcAft>
              <a:buSzPct val="100000"/>
              <a:buChar char="•"/>
            </a:pPr>
            <a:r>
              <a:rPr lang="en-US" sz="2000" dirty="0">
                <a:solidFill>
                  <a:srgbClr val="1E293B"/>
                </a:solidFill>
                <a:latin typeface="Calibri" pitchFamily="34" charset="0"/>
                <a:ea typeface="Calibri" pitchFamily="34" charset="-122"/>
                <a:cs typeface="Calibri" pitchFamily="34" charset="-120"/>
              </a:rPr>
              <a:t>Reveal raw PDO error messages to clients</a:t>
            </a:r>
            <a:endParaRPr lang="en-US" sz="2000" dirty="0"/>
          </a:p>
        </p:txBody>
      </p:sp>
      <p:sp>
        <p:nvSpPr>
          <p:cNvPr id="17" name="Text 1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18" name="Text 1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CROSS-SITE SCRIPTING</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Three Flavours of XSS</a:t>
            </a:r>
            <a:endParaRPr lang="en-US" sz="3200" dirty="0"/>
          </a:p>
        </p:txBody>
      </p:sp>
      <p:sp>
        <p:nvSpPr>
          <p:cNvPr id="4" name="Shape 2"/>
          <p:cNvSpPr/>
          <p:nvPr/>
        </p:nvSpPr>
        <p:spPr>
          <a:xfrm>
            <a:off x="548640" y="1371600"/>
            <a:ext cx="11247120" cy="1325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5" name="Shape 3"/>
          <p:cNvSpPr/>
          <p:nvPr/>
        </p:nvSpPr>
        <p:spPr>
          <a:xfrm>
            <a:off x="548640" y="1371600"/>
            <a:ext cx="164592" cy="1325880"/>
          </a:xfrm>
          <a:prstGeom prst="rect">
            <a:avLst/>
          </a:prstGeom>
          <a:solidFill>
            <a:srgbClr val="DC2626"/>
          </a:solidFill>
          <a:ln w="12700">
            <a:solidFill>
              <a:srgbClr val="DC2626"/>
            </a:solidFill>
            <a:prstDash val="solid"/>
          </a:ln>
        </p:spPr>
        <p:txBody>
          <a:bodyPr/>
          <a:lstStyle/>
          <a:p>
            <a:endParaRPr lang="en-MY" sz="2800"/>
          </a:p>
        </p:txBody>
      </p:sp>
      <p:sp>
        <p:nvSpPr>
          <p:cNvPr id="6" name="Text 4"/>
          <p:cNvSpPr/>
          <p:nvPr/>
        </p:nvSpPr>
        <p:spPr>
          <a:xfrm>
            <a:off x="868680" y="1508760"/>
            <a:ext cx="36576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Stored (Persistent)</a:t>
            </a:r>
            <a:endParaRPr lang="en-US" sz="2800" dirty="0"/>
          </a:p>
        </p:txBody>
      </p:sp>
      <p:sp>
        <p:nvSpPr>
          <p:cNvPr id="7" name="Text 5"/>
          <p:cNvSpPr/>
          <p:nvPr/>
        </p:nvSpPr>
        <p:spPr>
          <a:xfrm>
            <a:off x="868680" y="1965960"/>
            <a:ext cx="10607040" cy="777240"/>
          </a:xfrm>
          <a:prstGeom prst="rect">
            <a:avLst/>
          </a:prstGeom>
          <a:noFill/>
          <a:ln/>
        </p:spPr>
        <p:txBody>
          <a:bodyPr wrap="square" lIns="0" tIns="0" rIns="0" bIns="0" rtlCol="0" anchor="ctr"/>
          <a:lstStyle/>
          <a:p>
            <a:pPr marL="0" indent="0">
              <a:buNone/>
            </a:pPr>
            <a:r>
              <a:rPr lang="en-US" sz="2800" dirty="0">
                <a:solidFill>
                  <a:srgbClr val="0070C0"/>
                </a:solidFill>
                <a:latin typeface="Calibri" pitchFamily="34" charset="0"/>
                <a:ea typeface="Calibri" pitchFamily="34" charset="-122"/>
                <a:cs typeface="Calibri" pitchFamily="34" charset="-120"/>
              </a:rPr>
              <a:t>Malicious script saved in your DB and rendered to other users.</a:t>
            </a:r>
            <a:endParaRPr lang="en-US" sz="2800" dirty="0">
              <a:solidFill>
                <a:srgbClr val="0070C0"/>
              </a:solidFill>
            </a:endParaRPr>
          </a:p>
          <a:p>
            <a:pPr marL="0" indent="0">
              <a:buNone/>
            </a:pPr>
            <a:r>
              <a:rPr lang="en-US" sz="2800" dirty="0">
                <a:solidFill>
                  <a:srgbClr val="0070C0"/>
                </a:solidFill>
                <a:latin typeface="Calibri" pitchFamily="34" charset="0"/>
                <a:ea typeface="Calibri" pitchFamily="34" charset="-122"/>
                <a:cs typeface="Calibri" pitchFamily="34" charset="-120"/>
              </a:rPr>
              <a:t>Classic example: a comment field with &lt;script&gt; in it.</a:t>
            </a:r>
            <a:endParaRPr lang="en-US" sz="2800" dirty="0">
              <a:solidFill>
                <a:srgbClr val="0070C0"/>
              </a:solidFill>
            </a:endParaRPr>
          </a:p>
        </p:txBody>
      </p:sp>
      <p:sp>
        <p:nvSpPr>
          <p:cNvPr id="8" name="Shape 6"/>
          <p:cNvSpPr/>
          <p:nvPr/>
        </p:nvSpPr>
        <p:spPr>
          <a:xfrm>
            <a:off x="548640" y="2880360"/>
            <a:ext cx="11247120" cy="1325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9" name="Shape 7"/>
          <p:cNvSpPr/>
          <p:nvPr/>
        </p:nvSpPr>
        <p:spPr>
          <a:xfrm>
            <a:off x="548640" y="2880360"/>
            <a:ext cx="164592" cy="1325880"/>
          </a:xfrm>
          <a:prstGeom prst="rect">
            <a:avLst/>
          </a:prstGeom>
          <a:solidFill>
            <a:srgbClr val="F59E0B"/>
          </a:solidFill>
          <a:ln w="12700">
            <a:solidFill>
              <a:srgbClr val="F59E0B"/>
            </a:solidFill>
            <a:prstDash val="solid"/>
          </a:ln>
        </p:spPr>
        <p:txBody>
          <a:bodyPr/>
          <a:lstStyle/>
          <a:p>
            <a:endParaRPr lang="en-MY" sz="2800"/>
          </a:p>
        </p:txBody>
      </p:sp>
      <p:sp>
        <p:nvSpPr>
          <p:cNvPr id="10" name="Text 8"/>
          <p:cNvSpPr/>
          <p:nvPr/>
        </p:nvSpPr>
        <p:spPr>
          <a:xfrm>
            <a:off x="868680" y="3017520"/>
            <a:ext cx="36576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Reflected</a:t>
            </a:r>
            <a:endParaRPr lang="en-US" sz="2800" dirty="0"/>
          </a:p>
        </p:txBody>
      </p:sp>
      <p:sp>
        <p:nvSpPr>
          <p:cNvPr id="11" name="Text 9"/>
          <p:cNvSpPr/>
          <p:nvPr/>
        </p:nvSpPr>
        <p:spPr>
          <a:xfrm>
            <a:off x="868680" y="3474720"/>
            <a:ext cx="10607040" cy="777240"/>
          </a:xfrm>
          <a:prstGeom prst="rect">
            <a:avLst/>
          </a:prstGeom>
          <a:noFill/>
          <a:ln/>
        </p:spPr>
        <p:txBody>
          <a:bodyPr wrap="square" lIns="0" tIns="0" rIns="0" bIns="0" rtlCol="0" anchor="ctr"/>
          <a:lstStyle/>
          <a:p>
            <a:pPr marL="0" indent="0">
              <a:buNone/>
            </a:pPr>
            <a:r>
              <a:rPr lang="en-US" sz="2800" dirty="0">
                <a:solidFill>
                  <a:srgbClr val="0070C0"/>
                </a:solidFill>
                <a:latin typeface="Calibri" pitchFamily="34" charset="0"/>
                <a:ea typeface="Calibri" pitchFamily="34" charset="-122"/>
                <a:cs typeface="Calibri" pitchFamily="34" charset="-120"/>
              </a:rPr>
              <a:t>Script in a URL or form is bounced straight back unsafely.</a:t>
            </a:r>
            <a:endParaRPr lang="en-US" sz="2800" dirty="0">
              <a:solidFill>
                <a:srgbClr val="0070C0"/>
              </a:solidFill>
            </a:endParaRPr>
          </a:p>
          <a:p>
            <a:pPr marL="0" indent="0">
              <a:buNone/>
            </a:pPr>
            <a:r>
              <a:rPr lang="en-US" sz="2800" dirty="0">
                <a:solidFill>
                  <a:srgbClr val="0070C0"/>
                </a:solidFill>
                <a:latin typeface="Calibri" pitchFamily="34" charset="0"/>
                <a:ea typeface="Calibri" pitchFamily="34" charset="-122"/>
                <a:cs typeface="Calibri" pitchFamily="34" charset="-120"/>
              </a:rPr>
              <a:t>Example: search.php?q=&lt;script&gt;… echoed without escaping.</a:t>
            </a:r>
            <a:endParaRPr lang="en-US" sz="2800" dirty="0">
              <a:solidFill>
                <a:srgbClr val="0070C0"/>
              </a:solidFill>
            </a:endParaRPr>
          </a:p>
        </p:txBody>
      </p:sp>
      <p:sp>
        <p:nvSpPr>
          <p:cNvPr id="12" name="Shape 10"/>
          <p:cNvSpPr/>
          <p:nvPr/>
        </p:nvSpPr>
        <p:spPr>
          <a:xfrm>
            <a:off x="548640" y="4389120"/>
            <a:ext cx="11247120" cy="1325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13" name="Shape 11"/>
          <p:cNvSpPr/>
          <p:nvPr/>
        </p:nvSpPr>
        <p:spPr>
          <a:xfrm>
            <a:off x="548640" y="4389120"/>
            <a:ext cx="164592" cy="1325880"/>
          </a:xfrm>
          <a:prstGeom prst="rect">
            <a:avLst/>
          </a:prstGeom>
          <a:solidFill>
            <a:srgbClr val="1C7293"/>
          </a:solidFill>
          <a:ln w="12700">
            <a:solidFill>
              <a:srgbClr val="1C7293"/>
            </a:solidFill>
            <a:prstDash val="solid"/>
          </a:ln>
        </p:spPr>
        <p:txBody>
          <a:bodyPr/>
          <a:lstStyle/>
          <a:p>
            <a:endParaRPr lang="en-MY" sz="2800"/>
          </a:p>
        </p:txBody>
      </p:sp>
      <p:sp>
        <p:nvSpPr>
          <p:cNvPr id="14" name="Text 12"/>
          <p:cNvSpPr/>
          <p:nvPr/>
        </p:nvSpPr>
        <p:spPr>
          <a:xfrm>
            <a:off x="868680" y="4526280"/>
            <a:ext cx="36576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DOM-based</a:t>
            </a:r>
            <a:endParaRPr lang="en-US" sz="2800" dirty="0"/>
          </a:p>
        </p:txBody>
      </p:sp>
      <p:sp>
        <p:nvSpPr>
          <p:cNvPr id="15" name="Text 13"/>
          <p:cNvSpPr/>
          <p:nvPr/>
        </p:nvSpPr>
        <p:spPr>
          <a:xfrm>
            <a:off x="868680" y="4983480"/>
            <a:ext cx="10607040" cy="777240"/>
          </a:xfrm>
          <a:prstGeom prst="rect">
            <a:avLst/>
          </a:prstGeom>
          <a:noFill/>
          <a:ln/>
        </p:spPr>
        <p:txBody>
          <a:bodyPr wrap="square" lIns="0" tIns="0" rIns="0" bIns="0" rtlCol="0" anchor="ctr"/>
          <a:lstStyle/>
          <a:p>
            <a:pPr marL="0" indent="0">
              <a:buNone/>
            </a:pPr>
            <a:r>
              <a:rPr lang="en-US" sz="2800" dirty="0">
                <a:solidFill>
                  <a:srgbClr val="0070C0"/>
                </a:solidFill>
                <a:latin typeface="Calibri" pitchFamily="34" charset="0"/>
                <a:ea typeface="Calibri" pitchFamily="34" charset="-122"/>
                <a:cs typeface="Calibri" pitchFamily="34" charset="-120"/>
              </a:rPr>
              <a:t>All on the client. JS reads location.hash and writes it to innerHTML without sanitising.</a:t>
            </a:r>
            <a:endParaRPr lang="en-US" sz="2800" dirty="0">
              <a:solidFill>
                <a:srgbClr val="0070C0"/>
              </a:solidFill>
            </a:endParaRPr>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17" name="Text 1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XSS DEFENSES</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Stop XSS at the OUTPUT, Not the Input</a:t>
            </a:r>
            <a:endParaRPr lang="en-US" sz="3200" dirty="0"/>
          </a:p>
        </p:txBody>
      </p:sp>
      <p:sp>
        <p:nvSpPr>
          <p:cNvPr id="4" name="Text 2"/>
          <p:cNvSpPr/>
          <p:nvPr/>
        </p:nvSpPr>
        <p:spPr>
          <a:xfrm>
            <a:off x="548640" y="1188720"/>
            <a:ext cx="10972800" cy="457200"/>
          </a:xfrm>
          <a:prstGeom prst="rect">
            <a:avLst/>
          </a:prstGeom>
          <a:noFill/>
          <a:ln/>
        </p:spPr>
        <p:txBody>
          <a:bodyPr wrap="square" lIns="0" tIns="0" rIns="0" bIns="0" rtlCol="0" anchor="ctr"/>
          <a:lstStyle/>
          <a:p>
            <a:pPr marL="0" indent="0">
              <a:buNone/>
            </a:pPr>
            <a:r>
              <a:rPr lang="en-US" i="1" dirty="0">
                <a:solidFill>
                  <a:srgbClr val="64748B"/>
                </a:solidFill>
                <a:latin typeface="Calibri" pitchFamily="34" charset="0"/>
                <a:ea typeface="Calibri" pitchFamily="34" charset="-122"/>
                <a:cs typeface="Calibri" pitchFamily="34" charset="-120"/>
              </a:rPr>
              <a:t>Sanitising on the way IN drops legitimate data and still misses cases. Always escape on the way OUT.</a:t>
            </a:r>
            <a:endParaRPr lang="en-US" dirty="0"/>
          </a:p>
        </p:txBody>
      </p:sp>
      <p:sp>
        <p:nvSpPr>
          <p:cNvPr id="5" name="Shape 3"/>
          <p:cNvSpPr/>
          <p:nvPr/>
        </p:nvSpPr>
        <p:spPr>
          <a:xfrm>
            <a:off x="548640" y="1783079"/>
            <a:ext cx="11247120" cy="4645855"/>
          </a:xfrm>
          <a:prstGeom prst="rect">
            <a:avLst/>
          </a:prstGeom>
          <a:solidFill>
            <a:srgbClr val="1E293B"/>
          </a:solidFill>
          <a:ln w="12700">
            <a:solidFill>
              <a:srgbClr val="1E293B"/>
            </a:solidFill>
            <a:prstDash val="solid"/>
          </a:ln>
        </p:spPr>
        <p:txBody>
          <a:bodyPr/>
          <a:lstStyle/>
          <a:p>
            <a:endParaRPr lang="en-MY"/>
          </a:p>
        </p:txBody>
      </p:sp>
      <p:sp>
        <p:nvSpPr>
          <p:cNvPr id="6" name="Text 4"/>
          <p:cNvSpPr/>
          <p:nvPr/>
        </p:nvSpPr>
        <p:spPr>
          <a:xfrm>
            <a:off x="713232" y="1892808"/>
            <a:ext cx="10917936" cy="4078224"/>
          </a:xfrm>
          <a:prstGeom prst="rect">
            <a:avLst/>
          </a:prstGeom>
          <a:noFill/>
          <a:ln/>
        </p:spPr>
        <p:txBody>
          <a:bodyPr wrap="square" lIns="0" tIns="0" rIns="0" bIns="0" rtlCol="0" anchor="t"/>
          <a:lstStyle/>
          <a:p>
            <a:pPr marL="0" indent="0" algn="l">
              <a:buNone/>
            </a:pPr>
            <a:r>
              <a:rPr lang="en-US" dirty="0">
                <a:solidFill>
                  <a:srgbClr val="E2E8F0"/>
                </a:solidFill>
                <a:latin typeface="Consolas" pitchFamily="34" charset="0"/>
                <a:ea typeface="Consolas" pitchFamily="34" charset="-122"/>
                <a:cs typeface="Consolas" pitchFamily="34" charset="-120"/>
              </a:rPr>
              <a:t>// PHP — escape any user data rendered into HTML</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echo htmlspecialchars($comment, ENT_QUOTES | ENT_SUBSTITUTE, 'UTF-8');</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Vue — automatically escapes when you use {{ … }} interpolation</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&lt;p&gt;{{ comment }}&lt;/p&gt;            // SAFE — escaped</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&lt;p v-html="comment"&gt;&lt;/p&gt;      // DANGEROUS — only with sanitised HTML</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JSON responses are inherently safe IF parsed via JSON.parse;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problems begin when JSON values are interpolated into the DOM.</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Cookies storing tokens?  Mark them HttpOnly + Secure + SameSite=Lax/Strict</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header('Set-Cookie: refresh=…; HttpOnly; Secure; SameSite=Lax; Path=/');</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Add a Content-Security-Policy to limit what the browser will load</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header("Content-Security-Policy: default-src 'self'; script-src 'self'");</a:t>
            </a:r>
            <a:endParaRPr lang="en-US" dirty="0"/>
          </a:p>
        </p:txBody>
      </p:sp>
      <p:sp>
        <p:nvSpPr>
          <p:cNvPr id="7"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8" name="Text 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INTEGRITY MATTERS</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Data Tampering</a:t>
            </a:r>
            <a:endParaRPr lang="en-US" sz="3200" dirty="0"/>
          </a:p>
        </p:txBody>
      </p:sp>
      <p:sp>
        <p:nvSpPr>
          <p:cNvPr id="4" name="Text 2"/>
          <p:cNvSpPr/>
          <p:nvPr/>
        </p:nvSpPr>
        <p:spPr>
          <a:xfrm>
            <a:off x="548640" y="1188720"/>
            <a:ext cx="10972800" cy="457200"/>
          </a:xfrm>
          <a:prstGeom prst="rect">
            <a:avLst/>
          </a:prstGeom>
          <a:noFill/>
          <a:ln/>
        </p:spPr>
        <p:txBody>
          <a:bodyPr wrap="square" lIns="0" tIns="0" rIns="0" bIns="0" rtlCol="0" anchor="ctr"/>
          <a:lstStyle/>
          <a:p>
            <a:pPr marL="0" indent="0">
              <a:buNone/>
            </a:pPr>
            <a:r>
              <a:rPr lang="en-US" sz="2000" i="1" dirty="0">
                <a:solidFill>
                  <a:srgbClr val="1E293B"/>
                </a:solidFill>
                <a:latin typeface="Calibri" pitchFamily="34" charset="0"/>
                <a:ea typeface="Calibri" pitchFamily="34" charset="-122"/>
                <a:cs typeface="Calibri" pitchFamily="34" charset="-120"/>
              </a:rPr>
              <a:t>Anyone between client and server (or with the client) can mutate the request. Trust nothing on the wire.</a:t>
            </a:r>
            <a:endParaRPr lang="en-US" sz="2000" dirty="0"/>
          </a:p>
        </p:txBody>
      </p:sp>
      <p:sp>
        <p:nvSpPr>
          <p:cNvPr id="5" name="Shape 3"/>
          <p:cNvSpPr/>
          <p:nvPr/>
        </p:nvSpPr>
        <p:spPr>
          <a:xfrm>
            <a:off x="548640" y="1828800"/>
            <a:ext cx="11247120" cy="868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6" name="Shape 4"/>
          <p:cNvSpPr/>
          <p:nvPr/>
        </p:nvSpPr>
        <p:spPr>
          <a:xfrm>
            <a:off x="548640" y="1828800"/>
            <a:ext cx="164592" cy="868680"/>
          </a:xfrm>
          <a:prstGeom prst="rect">
            <a:avLst/>
          </a:prstGeom>
          <a:solidFill>
            <a:srgbClr val="F59E0B"/>
          </a:solidFill>
          <a:ln w="12700">
            <a:solidFill>
              <a:srgbClr val="F59E0B"/>
            </a:solidFill>
            <a:prstDash val="solid"/>
          </a:ln>
        </p:spPr>
        <p:txBody>
          <a:bodyPr/>
          <a:lstStyle/>
          <a:p>
            <a:endParaRPr lang="en-MY" sz="2000"/>
          </a:p>
        </p:txBody>
      </p:sp>
      <p:sp>
        <p:nvSpPr>
          <p:cNvPr id="7" name="Text 5"/>
          <p:cNvSpPr/>
          <p:nvPr/>
        </p:nvSpPr>
        <p:spPr>
          <a:xfrm>
            <a:off x="868680" y="1828800"/>
            <a:ext cx="2743200" cy="86868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Request tampering</a:t>
            </a:r>
            <a:endParaRPr lang="en-US" sz="2000" dirty="0"/>
          </a:p>
        </p:txBody>
      </p:sp>
      <p:sp>
        <p:nvSpPr>
          <p:cNvPr id="8" name="Text 6"/>
          <p:cNvSpPr/>
          <p:nvPr/>
        </p:nvSpPr>
        <p:spPr>
          <a:xfrm>
            <a:off x="3657600" y="1828800"/>
            <a:ext cx="8046720" cy="8686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Adversary modifies headers, body, or query before they reach you.</a:t>
            </a:r>
            <a:endParaRPr lang="en-US" sz="2000" dirty="0"/>
          </a:p>
        </p:txBody>
      </p:sp>
      <p:sp>
        <p:nvSpPr>
          <p:cNvPr id="9" name="Shape 7"/>
          <p:cNvSpPr/>
          <p:nvPr/>
        </p:nvSpPr>
        <p:spPr>
          <a:xfrm>
            <a:off x="548640" y="2834640"/>
            <a:ext cx="11247120" cy="868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10" name="Shape 8"/>
          <p:cNvSpPr/>
          <p:nvPr/>
        </p:nvSpPr>
        <p:spPr>
          <a:xfrm>
            <a:off x="548640" y="2834640"/>
            <a:ext cx="164592" cy="868680"/>
          </a:xfrm>
          <a:prstGeom prst="rect">
            <a:avLst/>
          </a:prstGeom>
          <a:solidFill>
            <a:srgbClr val="F59E0B"/>
          </a:solidFill>
          <a:ln w="12700">
            <a:solidFill>
              <a:srgbClr val="F59E0B"/>
            </a:solidFill>
            <a:prstDash val="solid"/>
          </a:ln>
        </p:spPr>
        <p:txBody>
          <a:bodyPr/>
          <a:lstStyle/>
          <a:p>
            <a:endParaRPr lang="en-MY" sz="2000"/>
          </a:p>
        </p:txBody>
      </p:sp>
      <p:sp>
        <p:nvSpPr>
          <p:cNvPr id="11" name="Text 9"/>
          <p:cNvSpPr/>
          <p:nvPr/>
        </p:nvSpPr>
        <p:spPr>
          <a:xfrm>
            <a:off x="868680" y="2834640"/>
            <a:ext cx="2743200" cy="86868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Parameter tampering</a:t>
            </a:r>
            <a:endParaRPr lang="en-US" sz="2000" dirty="0"/>
          </a:p>
        </p:txBody>
      </p:sp>
      <p:sp>
        <p:nvSpPr>
          <p:cNvPr id="12" name="Text 10"/>
          <p:cNvSpPr/>
          <p:nvPr/>
        </p:nvSpPr>
        <p:spPr>
          <a:xfrm>
            <a:off x="3657600" y="2834640"/>
            <a:ext cx="8046720" cy="8686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Hidden fields, prices, or flags in forms are altered (e.g. price=0).</a:t>
            </a:r>
            <a:endParaRPr lang="en-US" sz="2000" dirty="0"/>
          </a:p>
        </p:txBody>
      </p:sp>
      <p:sp>
        <p:nvSpPr>
          <p:cNvPr id="13" name="Shape 11"/>
          <p:cNvSpPr/>
          <p:nvPr/>
        </p:nvSpPr>
        <p:spPr>
          <a:xfrm>
            <a:off x="548640" y="3840480"/>
            <a:ext cx="11247120" cy="868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14" name="Shape 12"/>
          <p:cNvSpPr/>
          <p:nvPr/>
        </p:nvSpPr>
        <p:spPr>
          <a:xfrm>
            <a:off x="548640" y="3840480"/>
            <a:ext cx="164592" cy="868680"/>
          </a:xfrm>
          <a:prstGeom prst="rect">
            <a:avLst/>
          </a:prstGeom>
          <a:solidFill>
            <a:srgbClr val="F59E0B"/>
          </a:solidFill>
          <a:ln w="12700">
            <a:solidFill>
              <a:srgbClr val="F59E0B"/>
            </a:solidFill>
            <a:prstDash val="solid"/>
          </a:ln>
        </p:spPr>
        <p:txBody>
          <a:bodyPr/>
          <a:lstStyle/>
          <a:p>
            <a:endParaRPr lang="en-MY" sz="2000"/>
          </a:p>
        </p:txBody>
      </p:sp>
      <p:sp>
        <p:nvSpPr>
          <p:cNvPr id="15" name="Text 13"/>
          <p:cNvSpPr/>
          <p:nvPr/>
        </p:nvSpPr>
        <p:spPr>
          <a:xfrm>
            <a:off x="868680" y="3840480"/>
            <a:ext cx="2743200" cy="86868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JWT tampering</a:t>
            </a:r>
            <a:endParaRPr lang="en-US" sz="2000" dirty="0"/>
          </a:p>
        </p:txBody>
      </p:sp>
      <p:sp>
        <p:nvSpPr>
          <p:cNvPr id="16" name="Text 14"/>
          <p:cNvSpPr/>
          <p:nvPr/>
        </p:nvSpPr>
        <p:spPr>
          <a:xfrm>
            <a:off x="3657600" y="3840480"/>
            <a:ext cx="8046720" cy="8686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Payload edited; signature break is detected by JWT::decode (Ch 11).</a:t>
            </a:r>
            <a:endParaRPr lang="en-US" sz="2000" dirty="0"/>
          </a:p>
        </p:txBody>
      </p:sp>
      <p:sp>
        <p:nvSpPr>
          <p:cNvPr id="17" name="Shape 15"/>
          <p:cNvSpPr/>
          <p:nvPr/>
        </p:nvSpPr>
        <p:spPr>
          <a:xfrm>
            <a:off x="548640" y="4846320"/>
            <a:ext cx="11247120" cy="868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18" name="Shape 16"/>
          <p:cNvSpPr/>
          <p:nvPr/>
        </p:nvSpPr>
        <p:spPr>
          <a:xfrm>
            <a:off x="548640" y="4846320"/>
            <a:ext cx="164592" cy="868680"/>
          </a:xfrm>
          <a:prstGeom prst="rect">
            <a:avLst/>
          </a:prstGeom>
          <a:solidFill>
            <a:srgbClr val="F59E0B"/>
          </a:solidFill>
          <a:ln w="12700">
            <a:solidFill>
              <a:srgbClr val="F59E0B"/>
            </a:solidFill>
            <a:prstDash val="solid"/>
          </a:ln>
        </p:spPr>
        <p:txBody>
          <a:bodyPr/>
          <a:lstStyle/>
          <a:p>
            <a:endParaRPr lang="en-MY" sz="2000"/>
          </a:p>
        </p:txBody>
      </p:sp>
      <p:sp>
        <p:nvSpPr>
          <p:cNvPr id="19" name="Text 17"/>
          <p:cNvSpPr/>
          <p:nvPr/>
        </p:nvSpPr>
        <p:spPr>
          <a:xfrm>
            <a:off x="868680" y="4846320"/>
            <a:ext cx="2743200" cy="86868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Replay attacks</a:t>
            </a:r>
            <a:endParaRPr lang="en-US" sz="2000" dirty="0"/>
          </a:p>
        </p:txBody>
      </p:sp>
      <p:sp>
        <p:nvSpPr>
          <p:cNvPr id="20" name="Text 18"/>
          <p:cNvSpPr/>
          <p:nvPr/>
        </p:nvSpPr>
        <p:spPr>
          <a:xfrm>
            <a:off x="3657600" y="4846320"/>
            <a:ext cx="8046720" cy="8686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An old, valid request is re-sent (use exp claim and short TTLs).</a:t>
            </a:r>
            <a:endParaRPr lang="en-US" sz="2000" dirty="0"/>
          </a:p>
        </p:txBody>
      </p:sp>
      <p:sp>
        <p:nvSpPr>
          <p:cNvPr id="21" name="Text 19"/>
          <p:cNvSpPr/>
          <p:nvPr/>
        </p:nvSpPr>
        <p:spPr>
          <a:xfrm>
            <a:off x="548640" y="6080760"/>
            <a:ext cx="11247120" cy="365760"/>
          </a:xfrm>
          <a:prstGeom prst="rect">
            <a:avLst/>
          </a:prstGeom>
          <a:noFill/>
          <a:ln/>
        </p:spPr>
        <p:txBody>
          <a:bodyPr wrap="square" lIns="0" tIns="0" rIns="0" bIns="0" rtlCol="0" anchor="ctr"/>
          <a:lstStyle/>
          <a:p>
            <a:pPr marL="0" indent="0" algn="ctr">
              <a:buNone/>
            </a:pPr>
            <a:r>
              <a:rPr lang="en-US" sz="2000" i="1" dirty="0">
                <a:solidFill>
                  <a:srgbClr val="F59E0B"/>
                </a:solidFill>
                <a:latin typeface="Calibri" pitchFamily="34" charset="0"/>
                <a:ea typeface="Calibri" pitchFamily="34" charset="-122"/>
                <a:cs typeface="Calibri" pitchFamily="34" charset="-120"/>
              </a:rPr>
              <a:t>Defenses: HTTPS everywhere, server-side re-validation, signed tokens, idempotency keys.</a:t>
            </a:r>
            <a:endParaRPr lang="en-US" sz="2000" dirty="0"/>
          </a:p>
        </p:txBody>
      </p:sp>
      <p:sp>
        <p:nvSpPr>
          <p:cNvPr id="22"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23" name="Text 21"/>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DEFENSE LAYER 1</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Server-Side Input Validation</a:t>
            </a:r>
            <a:endParaRPr lang="en-US" sz="3200" dirty="0"/>
          </a:p>
        </p:txBody>
      </p:sp>
      <p:sp>
        <p:nvSpPr>
          <p:cNvPr id="4" name="Text 2"/>
          <p:cNvSpPr/>
          <p:nvPr/>
        </p:nvSpPr>
        <p:spPr>
          <a:xfrm>
            <a:off x="487680" y="811706"/>
            <a:ext cx="10972800" cy="457200"/>
          </a:xfrm>
          <a:prstGeom prst="rect">
            <a:avLst/>
          </a:prstGeom>
          <a:noFill/>
          <a:ln/>
        </p:spPr>
        <p:txBody>
          <a:bodyPr wrap="square" lIns="0" tIns="0" rIns="0" bIns="0" rtlCol="0" anchor="ctr"/>
          <a:lstStyle/>
          <a:p>
            <a:pPr marL="0" indent="0">
              <a:buNone/>
            </a:pPr>
            <a:r>
              <a:rPr lang="en-US" sz="2400" i="1" dirty="0">
                <a:solidFill>
                  <a:srgbClr val="1E293B"/>
                </a:solidFill>
                <a:latin typeface="Calibri" pitchFamily="34" charset="0"/>
                <a:ea typeface="Calibri" pitchFamily="34" charset="-122"/>
                <a:cs typeface="Calibri" pitchFamily="34" charset="-120"/>
              </a:rPr>
              <a:t>Client-side validation is for UX. Server-side validation is for safety. Always re-check.</a:t>
            </a:r>
            <a:endParaRPr lang="en-US" sz="2400" dirty="0"/>
          </a:p>
        </p:txBody>
      </p:sp>
      <p:sp>
        <p:nvSpPr>
          <p:cNvPr id="5" name="Shape 3"/>
          <p:cNvSpPr/>
          <p:nvPr/>
        </p:nvSpPr>
        <p:spPr>
          <a:xfrm>
            <a:off x="548640" y="1287897"/>
            <a:ext cx="11247120" cy="5010912"/>
          </a:xfrm>
          <a:prstGeom prst="rect">
            <a:avLst/>
          </a:prstGeom>
          <a:solidFill>
            <a:srgbClr val="1E293B"/>
          </a:solidFill>
          <a:ln w="12700">
            <a:solidFill>
              <a:srgbClr val="1E293B"/>
            </a:solidFill>
            <a:prstDash val="solid"/>
          </a:ln>
        </p:spPr>
        <p:txBody>
          <a:bodyPr/>
          <a:lstStyle/>
          <a:p>
            <a:endParaRPr lang="en-MY"/>
          </a:p>
        </p:txBody>
      </p:sp>
      <p:sp>
        <p:nvSpPr>
          <p:cNvPr id="6" name="Text 4"/>
          <p:cNvSpPr/>
          <p:nvPr/>
        </p:nvSpPr>
        <p:spPr>
          <a:xfrm>
            <a:off x="713232" y="1508057"/>
            <a:ext cx="10917936" cy="4462975"/>
          </a:xfrm>
          <a:prstGeom prst="rect">
            <a:avLst/>
          </a:prstGeom>
          <a:noFill/>
          <a:ln/>
        </p:spPr>
        <p:txBody>
          <a:bodyPr wrap="square" lIns="0" tIns="0" rIns="0" bIns="0" rtlCol="0" anchor="t"/>
          <a:lstStyle/>
          <a:p>
            <a:pPr marL="0" indent="0" algn="l">
              <a:buNone/>
            </a:pPr>
            <a:r>
              <a:rPr lang="en-US" sz="1400" dirty="0">
                <a:solidFill>
                  <a:srgbClr val="E2E8F0"/>
                </a:solidFill>
                <a:latin typeface="Consolas" pitchFamily="34" charset="0"/>
                <a:ea typeface="Consolas" pitchFamily="34" charset="-122"/>
                <a:cs typeface="Consolas" pitchFamily="34" charset="-120"/>
              </a:rPr>
              <a:t>// WHITELIST &gt; blacklist. Define what you ACCEPT, reject the rest.</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function validateBook(array $b): array {</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$errors = [];</a:t>
            </a:r>
            <a:endParaRPr lang="en-US" sz="1400" dirty="0"/>
          </a:p>
          <a:p>
            <a:pPr marL="0" indent="0" algn="l">
              <a:buNone/>
            </a:pP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if (empty($b['title'])  || mb_strlen($b['title']) &gt; 200)</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$errors['title']  = 'title is required (max 200 chars)';</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if (empty($b['author']) || mb_strlen($b['author']) &gt; 150)</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$errors['author'] = 'author is required (max 150 chars)';</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if (!isset($b['year']) || !is_numeric($b['year'])</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 (int)$b['year'] &lt; 1000 || (int)$b['year'] &gt; (int)date('Y'))</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$errors['year']   = 'year must be between 1000 and the current year';</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if (isset($b['email']) &amp;&amp; !filter_var($b['email'], FILTER_VALIDATE_EMAIL))</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$errors['email']  = 'invalid email';</a:t>
            </a:r>
            <a:endParaRPr lang="en-US" sz="1400" dirty="0"/>
          </a:p>
          <a:p>
            <a:pPr marL="0" indent="0" algn="l">
              <a:buNone/>
            </a:pP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return $errors;</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lgn="l">
              <a:buNone/>
            </a:pP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 Use the right tool: PHP's filter_var() handles common shapes safely.</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$url = filter_var($input, FILTER_VALIDATE_URL,  FILTER_FLAG_PATH_REQUIRED);</a:t>
            </a:r>
            <a:endParaRPr lang="en-US" sz="1400" dirty="0"/>
          </a:p>
          <a:p>
            <a:pPr marL="0" indent="0" algn="l">
              <a:buNone/>
            </a:pPr>
            <a:r>
              <a:rPr lang="en-US" sz="1400" dirty="0">
                <a:solidFill>
                  <a:srgbClr val="E2E8F0"/>
                </a:solidFill>
                <a:latin typeface="Consolas" pitchFamily="34" charset="0"/>
                <a:ea typeface="Consolas" pitchFamily="34" charset="-122"/>
                <a:cs typeface="Consolas" pitchFamily="34" charset="-120"/>
              </a:rPr>
              <a:t>$ip  = filter_var($input, FILTER_VALIDATE_IP);</a:t>
            </a:r>
            <a:endParaRPr lang="en-US" sz="1400" dirty="0"/>
          </a:p>
        </p:txBody>
      </p:sp>
      <p:sp>
        <p:nvSpPr>
          <p:cNvPr id="7"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8" name="Text 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BROKEN ACCESS CONTROL</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IDOR — Insecure Direct Object References</a:t>
            </a:r>
            <a:endParaRPr lang="en-US" sz="3200" dirty="0"/>
          </a:p>
        </p:txBody>
      </p:sp>
      <p:sp>
        <p:nvSpPr>
          <p:cNvPr id="4" name="Text 2"/>
          <p:cNvSpPr/>
          <p:nvPr/>
        </p:nvSpPr>
        <p:spPr>
          <a:xfrm>
            <a:off x="2367593" y="1060616"/>
            <a:ext cx="7043694" cy="667688"/>
          </a:xfrm>
          <a:prstGeom prst="rect">
            <a:avLst/>
          </a:prstGeom>
          <a:noFill/>
          <a:ln/>
        </p:spPr>
        <p:txBody>
          <a:bodyPr wrap="square" lIns="0" tIns="0" rIns="0" bIns="0" rtlCol="0" anchor="ctr"/>
          <a:lstStyle/>
          <a:p>
            <a:pPr marL="0" indent="0">
              <a:buNone/>
            </a:pPr>
            <a:r>
              <a:rPr lang="en-US" sz="2400" i="1" dirty="0">
                <a:solidFill>
                  <a:schemeClr val="accent1"/>
                </a:solidFill>
                <a:latin typeface="Calibri" pitchFamily="34" charset="0"/>
                <a:ea typeface="Calibri" pitchFamily="34" charset="-122"/>
                <a:cs typeface="Calibri" pitchFamily="34" charset="-120"/>
              </a:rPr>
              <a:t>Authenticating</a:t>
            </a:r>
            <a:r>
              <a:rPr lang="en-US" sz="2400" i="1" dirty="0">
                <a:solidFill>
                  <a:srgbClr val="1E293B"/>
                </a:solidFill>
                <a:latin typeface="Calibri" pitchFamily="34" charset="0"/>
                <a:ea typeface="Calibri" pitchFamily="34" charset="-122"/>
                <a:cs typeface="Calibri" pitchFamily="34" charset="-120"/>
              </a:rPr>
              <a:t> a user is not enough. You must also </a:t>
            </a:r>
            <a:r>
              <a:rPr lang="en-US" sz="2400" i="1" dirty="0">
                <a:solidFill>
                  <a:srgbClr val="FF0000"/>
                </a:solidFill>
                <a:latin typeface="Calibri" pitchFamily="34" charset="0"/>
                <a:ea typeface="Calibri" pitchFamily="34" charset="-122"/>
                <a:cs typeface="Calibri" pitchFamily="34" charset="-120"/>
              </a:rPr>
              <a:t>AUTHORISE</a:t>
            </a:r>
            <a:r>
              <a:rPr lang="en-US" sz="2400" i="1" dirty="0">
                <a:solidFill>
                  <a:srgbClr val="1E293B"/>
                </a:solidFill>
                <a:latin typeface="Calibri" pitchFamily="34" charset="0"/>
                <a:ea typeface="Calibri" pitchFamily="34" charset="-122"/>
                <a:cs typeface="Calibri" pitchFamily="34" charset="-120"/>
              </a:rPr>
              <a:t> that this user may act on this resource.</a:t>
            </a:r>
            <a:endParaRPr lang="en-US" sz="2400" dirty="0"/>
          </a:p>
        </p:txBody>
      </p:sp>
      <p:sp>
        <p:nvSpPr>
          <p:cNvPr id="5" name="Shape 3"/>
          <p:cNvSpPr/>
          <p:nvPr/>
        </p:nvSpPr>
        <p:spPr>
          <a:xfrm>
            <a:off x="98474" y="1828800"/>
            <a:ext cx="5936566" cy="457200"/>
          </a:xfrm>
          <a:prstGeom prst="rect">
            <a:avLst/>
          </a:prstGeom>
          <a:solidFill>
            <a:srgbClr val="DC2626"/>
          </a:solidFill>
          <a:ln w="12700">
            <a:solidFill>
              <a:srgbClr val="DC2626"/>
            </a:solidFill>
            <a:prstDash val="solid"/>
          </a:ln>
        </p:spPr>
        <p:txBody>
          <a:bodyPr/>
          <a:lstStyle/>
          <a:p>
            <a:endParaRPr lang="en-MY" sz="1600"/>
          </a:p>
        </p:txBody>
      </p:sp>
      <p:sp>
        <p:nvSpPr>
          <p:cNvPr id="6" name="Text 4"/>
          <p:cNvSpPr/>
          <p:nvPr/>
        </p:nvSpPr>
        <p:spPr>
          <a:xfrm>
            <a:off x="98474" y="1828800"/>
            <a:ext cx="5936566"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VULNERABLE</a:t>
            </a:r>
            <a:endParaRPr lang="en-US" sz="1600" dirty="0"/>
          </a:p>
        </p:txBody>
      </p:sp>
      <p:sp>
        <p:nvSpPr>
          <p:cNvPr id="7" name="Shape 5"/>
          <p:cNvSpPr/>
          <p:nvPr/>
        </p:nvSpPr>
        <p:spPr>
          <a:xfrm>
            <a:off x="98474" y="2331720"/>
            <a:ext cx="5936566" cy="3657600"/>
          </a:xfrm>
          <a:prstGeom prst="rect">
            <a:avLst/>
          </a:prstGeom>
          <a:solidFill>
            <a:srgbClr val="1E293B"/>
          </a:solidFill>
          <a:ln w="12700">
            <a:solidFill>
              <a:srgbClr val="1E293B"/>
            </a:solidFill>
            <a:prstDash val="solid"/>
          </a:ln>
        </p:spPr>
        <p:txBody>
          <a:bodyPr/>
          <a:lstStyle/>
          <a:p>
            <a:endParaRPr lang="en-MY" sz="1600"/>
          </a:p>
        </p:txBody>
      </p:sp>
      <p:sp>
        <p:nvSpPr>
          <p:cNvPr id="8" name="Text 6"/>
          <p:cNvSpPr/>
          <p:nvPr/>
        </p:nvSpPr>
        <p:spPr>
          <a:xfrm>
            <a:off x="290076" y="2441448"/>
            <a:ext cx="5580372" cy="3438144"/>
          </a:xfrm>
          <a:prstGeom prst="rect">
            <a:avLst/>
          </a:prstGeom>
          <a:noFill/>
          <a:ln/>
        </p:spPr>
        <p:txBody>
          <a:bodyPr wrap="square" lIns="0" tIns="0" rIns="0" bIns="0" rtlCol="0" anchor="t"/>
          <a:lstStyle/>
          <a:p>
            <a:pPr marL="0" indent="0" algn="l">
              <a:buNone/>
            </a:pPr>
            <a:r>
              <a:rPr lang="en-US" sz="1600" dirty="0">
                <a:solidFill>
                  <a:srgbClr val="E2E8F0"/>
                </a:solidFill>
                <a:latin typeface="Consolas" pitchFamily="34" charset="0"/>
                <a:ea typeface="Consolas" pitchFamily="34" charset="-122"/>
                <a:cs typeface="Consolas" pitchFamily="34" charset="-120"/>
              </a:rPr>
              <a:t>// Any authenticated user can update any book — even one they did not create.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$app-&gt;put('/api/books/{id}', function ($r, $s, $args) use ($repo)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$repo-&gt;update((int)$args['id'], $r-&gt;getParsedBody());</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$s;</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})-&gt;add($auth);</a:t>
            </a:r>
            <a:endParaRPr lang="en-US" sz="1600" dirty="0"/>
          </a:p>
        </p:txBody>
      </p:sp>
      <p:sp>
        <p:nvSpPr>
          <p:cNvPr id="9" name="Shape 7"/>
          <p:cNvSpPr/>
          <p:nvPr/>
        </p:nvSpPr>
        <p:spPr>
          <a:xfrm>
            <a:off x="6309360" y="1828800"/>
            <a:ext cx="5592564" cy="512152"/>
          </a:xfrm>
          <a:prstGeom prst="rect">
            <a:avLst/>
          </a:prstGeom>
          <a:solidFill>
            <a:srgbClr val="10B981"/>
          </a:solidFill>
          <a:ln w="12700">
            <a:solidFill>
              <a:srgbClr val="10B981"/>
            </a:solidFill>
            <a:prstDash val="solid"/>
          </a:ln>
        </p:spPr>
        <p:txBody>
          <a:bodyPr/>
          <a:lstStyle/>
          <a:p>
            <a:endParaRPr lang="en-MY" sz="1600"/>
          </a:p>
        </p:txBody>
      </p:sp>
      <p:sp>
        <p:nvSpPr>
          <p:cNvPr id="10" name="Text 8"/>
          <p:cNvSpPr/>
          <p:nvPr/>
        </p:nvSpPr>
        <p:spPr>
          <a:xfrm>
            <a:off x="6309360" y="1828800"/>
            <a:ext cx="5592564" cy="5121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PROTECTED</a:t>
            </a:r>
            <a:endParaRPr lang="en-US" sz="1600" dirty="0"/>
          </a:p>
        </p:txBody>
      </p:sp>
      <p:sp>
        <p:nvSpPr>
          <p:cNvPr id="11" name="Shape 9"/>
          <p:cNvSpPr/>
          <p:nvPr/>
        </p:nvSpPr>
        <p:spPr>
          <a:xfrm>
            <a:off x="6309360" y="2331719"/>
            <a:ext cx="5592564" cy="4097215"/>
          </a:xfrm>
          <a:prstGeom prst="rect">
            <a:avLst/>
          </a:prstGeom>
          <a:solidFill>
            <a:srgbClr val="1E293B"/>
          </a:solidFill>
          <a:ln w="12700">
            <a:solidFill>
              <a:srgbClr val="1E293B"/>
            </a:solidFill>
            <a:prstDash val="solid"/>
          </a:ln>
        </p:spPr>
        <p:txBody>
          <a:bodyPr/>
          <a:lstStyle/>
          <a:p>
            <a:endParaRPr lang="en-MY" sz="1600"/>
          </a:p>
        </p:txBody>
      </p:sp>
      <p:sp>
        <p:nvSpPr>
          <p:cNvPr id="12" name="Text 10"/>
          <p:cNvSpPr/>
          <p:nvPr/>
        </p:nvSpPr>
        <p:spPr>
          <a:xfrm>
            <a:off x="6473952" y="2441448"/>
            <a:ext cx="5257010" cy="3851382"/>
          </a:xfrm>
          <a:prstGeom prst="rect">
            <a:avLst/>
          </a:prstGeom>
          <a:noFill/>
          <a:ln/>
        </p:spPr>
        <p:txBody>
          <a:bodyPr wrap="square" lIns="0" tIns="0" rIns="0" bIns="0" rtlCol="0" anchor="t"/>
          <a:lstStyle/>
          <a:p>
            <a:pPr marL="0" indent="0" algn="l">
              <a:buNone/>
            </a:pPr>
            <a:r>
              <a:rPr lang="en-US" sz="1600" dirty="0">
                <a:solidFill>
                  <a:srgbClr val="E2E8F0"/>
                </a:solidFill>
                <a:latin typeface="Consolas" pitchFamily="34" charset="0"/>
                <a:ea typeface="Consolas" pitchFamily="34" charset="-122"/>
                <a:cs typeface="Consolas" pitchFamily="34" charset="-120"/>
              </a:rPr>
              <a:t>$book = $repo-&gt;find((int)$args['id']);</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if (!$book) return $this-&gt;json($s, ['error'=&gt;'not found'], 404);</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$auth = $r-&gt;getAttribute('auth');</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if ((int)$book['created_by'] !== (int)$auth['sub']</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&amp;&amp; $auth['role'] !== 'admin')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$this-&gt;json($s, ['error'=&gt;'forbidden'], 403);</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$repo-&gt;update((int)$args['id'], $r-&gt;getParsedBody());</a:t>
            </a:r>
            <a:endParaRPr lang="en-US" sz="1600" dirty="0"/>
          </a:p>
        </p:txBody>
      </p:sp>
      <p:sp>
        <p:nvSpPr>
          <p:cNvPr id="13" name="Text 11"/>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14" name="Text 12"/>
          <p:cNvSpPr/>
          <p:nvPr/>
        </p:nvSpPr>
        <p:spPr>
          <a:xfrm>
            <a:off x="10789920" y="6537960"/>
            <a:ext cx="932094" cy="256076"/>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COOKIE-BASED AUTH ONLY</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CSRF — Cross-Site Request Forgery</a:t>
            </a:r>
            <a:endParaRPr lang="en-US" sz="3200" dirty="0"/>
          </a:p>
        </p:txBody>
      </p:sp>
      <p:sp>
        <p:nvSpPr>
          <p:cNvPr id="4" name="Text 2"/>
          <p:cNvSpPr/>
          <p:nvPr/>
        </p:nvSpPr>
        <p:spPr>
          <a:xfrm>
            <a:off x="351691" y="963633"/>
            <a:ext cx="11247121" cy="1228071"/>
          </a:xfrm>
          <a:prstGeom prst="rect">
            <a:avLst/>
          </a:prstGeom>
          <a:noFill/>
          <a:ln/>
        </p:spPr>
        <p:txBody>
          <a:bodyPr wrap="square" lIns="0" tIns="0" rIns="0" bIns="0" rtlCol="0" anchor="ctr"/>
          <a:lstStyle/>
          <a:p>
            <a:pPr marL="0" indent="0">
              <a:buNone/>
            </a:pPr>
            <a:r>
              <a:rPr lang="en-US" sz="2400" i="1" dirty="0">
                <a:solidFill>
                  <a:srgbClr val="1E293B"/>
                </a:solidFill>
                <a:latin typeface="Calibri" pitchFamily="34" charset="0"/>
                <a:ea typeface="Calibri" pitchFamily="34" charset="-122"/>
                <a:cs typeface="Calibri" pitchFamily="34" charset="-120"/>
              </a:rPr>
              <a:t>CSRF tricks the browser into sending an authenticated request the user did not intend. It only matters when the credential is sent automatically (cookie). Bearer tokens stored in JS are NOT vulnerable.</a:t>
            </a:r>
            <a:endParaRPr lang="en-US" sz="2400" dirty="0"/>
          </a:p>
        </p:txBody>
      </p:sp>
      <p:sp>
        <p:nvSpPr>
          <p:cNvPr id="5" name="Shape 3"/>
          <p:cNvSpPr/>
          <p:nvPr/>
        </p:nvSpPr>
        <p:spPr>
          <a:xfrm>
            <a:off x="351692" y="2286000"/>
            <a:ext cx="5957668" cy="2271932"/>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6" name="Text 4"/>
          <p:cNvSpPr/>
          <p:nvPr/>
        </p:nvSpPr>
        <p:spPr>
          <a:xfrm>
            <a:off x="545965" y="2468879"/>
            <a:ext cx="5613009" cy="491229"/>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SameSite cookies</a:t>
            </a:r>
            <a:endParaRPr lang="en-US" sz="2400" dirty="0"/>
          </a:p>
        </p:txBody>
      </p:sp>
      <p:sp>
        <p:nvSpPr>
          <p:cNvPr id="7" name="Text 5"/>
          <p:cNvSpPr/>
          <p:nvPr/>
        </p:nvSpPr>
        <p:spPr>
          <a:xfrm>
            <a:off x="545965" y="2926080"/>
            <a:ext cx="5613009" cy="1350878"/>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Set Lax or Strict on session/refresh cookies. Modern browsers default to Lax.</a:t>
            </a:r>
            <a:endParaRPr lang="en-US" sz="2400" dirty="0"/>
          </a:p>
        </p:txBody>
      </p:sp>
      <p:sp>
        <p:nvSpPr>
          <p:cNvPr id="8" name="Shape 6"/>
          <p:cNvSpPr/>
          <p:nvPr/>
        </p:nvSpPr>
        <p:spPr>
          <a:xfrm>
            <a:off x="6112412" y="2286000"/>
            <a:ext cx="5957668" cy="2271932"/>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9" name="Text 7"/>
          <p:cNvSpPr/>
          <p:nvPr/>
        </p:nvSpPr>
        <p:spPr>
          <a:xfrm>
            <a:off x="6306685" y="2468879"/>
            <a:ext cx="5613009" cy="491229"/>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CSRF token</a:t>
            </a:r>
            <a:endParaRPr lang="en-US" sz="2400" dirty="0"/>
          </a:p>
        </p:txBody>
      </p:sp>
      <p:sp>
        <p:nvSpPr>
          <p:cNvPr id="10" name="Text 8"/>
          <p:cNvSpPr/>
          <p:nvPr/>
        </p:nvSpPr>
        <p:spPr>
          <a:xfrm>
            <a:off x="6306685" y="2926080"/>
            <a:ext cx="5613009" cy="1350878"/>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Server issues a one-time token; client must send it back on state-changing requests.</a:t>
            </a:r>
            <a:endParaRPr lang="en-US" sz="2400" dirty="0"/>
          </a:p>
        </p:txBody>
      </p:sp>
      <p:sp>
        <p:nvSpPr>
          <p:cNvPr id="11" name="Shape 9"/>
          <p:cNvSpPr/>
          <p:nvPr/>
        </p:nvSpPr>
        <p:spPr>
          <a:xfrm>
            <a:off x="351692" y="4114800"/>
            <a:ext cx="5957668" cy="2271932"/>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2" name="Text 10"/>
          <p:cNvSpPr/>
          <p:nvPr/>
        </p:nvSpPr>
        <p:spPr>
          <a:xfrm>
            <a:off x="545965" y="4297679"/>
            <a:ext cx="5613009" cy="491229"/>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Custom header</a:t>
            </a:r>
            <a:endParaRPr lang="en-US" sz="2400" dirty="0"/>
          </a:p>
        </p:txBody>
      </p:sp>
      <p:sp>
        <p:nvSpPr>
          <p:cNvPr id="13" name="Text 11"/>
          <p:cNvSpPr/>
          <p:nvPr/>
        </p:nvSpPr>
        <p:spPr>
          <a:xfrm>
            <a:off x="545965" y="4754880"/>
            <a:ext cx="5613009" cy="1350878"/>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Browsers don't auto-send custom headers cross-origin (e.g. X-Requested-With).</a:t>
            </a:r>
            <a:endParaRPr lang="en-US" sz="2400" dirty="0"/>
          </a:p>
        </p:txBody>
      </p:sp>
      <p:sp>
        <p:nvSpPr>
          <p:cNvPr id="14" name="Shape 12"/>
          <p:cNvSpPr/>
          <p:nvPr/>
        </p:nvSpPr>
        <p:spPr>
          <a:xfrm>
            <a:off x="6112412" y="4114800"/>
            <a:ext cx="5957668" cy="2271932"/>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5" name="Text 13"/>
          <p:cNvSpPr/>
          <p:nvPr/>
        </p:nvSpPr>
        <p:spPr>
          <a:xfrm>
            <a:off x="6306685" y="4297679"/>
            <a:ext cx="5613009" cy="491229"/>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Re-auth for sensitive ops</a:t>
            </a:r>
            <a:endParaRPr lang="en-US" sz="2400" dirty="0"/>
          </a:p>
        </p:txBody>
      </p:sp>
      <p:sp>
        <p:nvSpPr>
          <p:cNvPr id="16" name="Text 14"/>
          <p:cNvSpPr/>
          <p:nvPr/>
        </p:nvSpPr>
        <p:spPr>
          <a:xfrm>
            <a:off x="6306685" y="4754880"/>
            <a:ext cx="5613009" cy="1350878"/>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Re-prompt password before account email change, transfer, etc.</a:t>
            </a:r>
            <a:endParaRPr lang="en-US" sz="2400" dirty="0"/>
          </a:p>
        </p:txBody>
      </p:sp>
      <p:sp>
        <p:nvSpPr>
          <p:cNvPr id="17" name="Text 1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18" name="Text 1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CORS — DON'T LEAVE IT OPEN</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Configuring CORS Properly</a:t>
            </a:r>
            <a:endParaRPr lang="en-US" sz="3200" dirty="0"/>
          </a:p>
        </p:txBody>
      </p:sp>
      <p:sp>
        <p:nvSpPr>
          <p:cNvPr id="4" name="Shape 2"/>
          <p:cNvSpPr/>
          <p:nvPr/>
        </p:nvSpPr>
        <p:spPr>
          <a:xfrm>
            <a:off x="900330" y="960120"/>
            <a:ext cx="9917723" cy="5577840"/>
          </a:xfrm>
          <a:prstGeom prst="rect">
            <a:avLst/>
          </a:prstGeom>
          <a:solidFill>
            <a:srgbClr val="1E293B"/>
          </a:solidFill>
          <a:ln w="12700">
            <a:solidFill>
              <a:srgbClr val="1E293B"/>
            </a:solidFill>
            <a:prstDash val="solid"/>
          </a:ln>
        </p:spPr>
        <p:txBody>
          <a:bodyPr/>
          <a:lstStyle/>
          <a:p>
            <a:endParaRPr lang="en-MY" sz="1600"/>
          </a:p>
        </p:txBody>
      </p:sp>
      <p:sp>
        <p:nvSpPr>
          <p:cNvPr id="5" name="Text 3"/>
          <p:cNvSpPr/>
          <p:nvPr/>
        </p:nvSpPr>
        <p:spPr>
          <a:xfrm>
            <a:off x="1064922" y="1084619"/>
            <a:ext cx="9627448" cy="5320401"/>
          </a:xfrm>
          <a:prstGeom prst="rect">
            <a:avLst/>
          </a:prstGeom>
          <a:noFill/>
          <a:ln/>
        </p:spPr>
        <p:txBody>
          <a:bodyPr wrap="square" lIns="0" tIns="0" rIns="0" bIns="0" rtlCol="0" anchor="t"/>
          <a:lstStyle/>
          <a:p>
            <a:pPr marL="0" indent="0" algn="l">
              <a:buNone/>
            </a:pPr>
            <a:r>
              <a:rPr lang="en-US" sz="1600" dirty="0">
                <a:solidFill>
                  <a:srgbClr val="E2E8F0"/>
                </a:solidFill>
                <a:latin typeface="Consolas" pitchFamily="34" charset="0"/>
                <a:ea typeface="Consolas" pitchFamily="34" charset="-122"/>
                <a:cs typeface="Consolas" pitchFamily="34" charset="-120"/>
              </a:rPr>
              <a:t>// 'Allow-Origin: *' is fine for a public read-only API.</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For anything that uses credentials or modifies state, list</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EXACTLY which origins are allowed.</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$allowed =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'https://books-frontend.utm.my',</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'http://localhost:5173',          // Vite dev server</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$origin = $request-&gt;getHeaderLine('Origin');</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if (in_array($origin, $allowed, true))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$response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-&gt;withHeader('Access-Control-Allow-Origin', $origin)</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-&gt;withHeader('Access-Control-Allow-Credentials', 'true')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-&gt;withHeader('Vary', 'Origin');</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Quirks worth remembering:</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 You CANNOT combine Access-Control-Allow-Origin: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with Access-Control-Allow-Credentials: true.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 Pre-flight OPTIONS requests must return 204 quickly.</a:t>
            </a:r>
            <a:endParaRPr lang="en-US" sz="1600" dirty="0"/>
          </a:p>
        </p:txBody>
      </p:sp>
      <p:sp>
        <p:nvSpPr>
          <p:cNvPr id="6" name="Text 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7" name="Text 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DEFENSE LAYER 2</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Security HTTP Headers — Quick Wins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983153906"/>
              </p:ext>
            </p:extLst>
          </p:nvPr>
        </p:nvGraphicFramePr>
        <p:xfrm>
          <a:off x="267289" y="1325880"/>
          <a:ext cx="11643360" cy="3657600"/>
        </p:xfrm>
        <a:graphic>
          <a:graphicData uri="http://schemas.openxmlformats.org/drawingml/2006/table">
            <a:tbl>
              <a:tblPr/>
              <a:tblGrid>
                <a:gridCol w="2679647">
                  <a:extLst>
                    <a:ext uri="{9D8B030D-6E8A-4147-A177-3AD203B41FA5}">
                      <a16:colId xmlns:a16="http://schemas.microsoft.com/office/drawing/2014/main" val="20000"/>
                    </a:ext>
                  </a:extLst>
                </a:gridCol>
                <a:gridCol w="4194232">
                  <a:extLst>
                    <a:ext uri="{9D8B030D-6E8A-4147-A177-3AD203B41FA5}">
                      <a16:colId xmlns:a16="http://schemas.microsoft.com/office/drawing/2014/main" val="20001"/>
                    </a:ext>
                  </a:extLst>
                </a:gridCol>
                <a:gridCol w="4769481">
                  <a:extLst>
                    <a:ext uri="{9D8B030D-6E8A-4147-A177-3AD203B41FA5}">
                      <a16:colId xmlns:a16="http://schemas.microsoft.com/office/drawing/2014/main" val="20002"/>
                    </a:ext>
                  </a:extLst>
                </a:gridCol>
              </a:tblGrid>
              <a:tr h="50292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HEADER</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What it does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0292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X-Content-Type-Options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nosniff</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Browser must respect declared MIME types.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X-Frame-Options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DENY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Stops your site from being framed (clickjacking).</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Referrer-Policy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no-referrer-when-downgrade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Limits what's leaked in Referer header.</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Strict-Transport-Security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max-age=63072000; includeSubDomains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HTTPS-only for two years (deploy with HTTPS only!).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Content-Security-Policy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default-src 'self'</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Controls which scripts/styles/images may load.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Permissions-Policy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camera=(), microphone=()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Disables sensors / APIs your site doesn't use.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548640" y="5760720"/>
            <a:ext cx="11247120" cy="365760"/>
          </a:xfrm>
          <a:prstGeom prst="rect">
            <a:avLst/>
          </a:prstGeom>
          <a:noFill/>
          <a:ln/>
        </p:spPr>
        <p:txBody>
          <a:bodyPr wrap="square" lIns="0" tIns="0" rIns="0" bIns="0" rtlCol="0" anchor="ctr"/>
          <a:lstStyle/>
          <a:p>
            <a:pPr marL="0" indent="0" algn="ctr">
              <a:buNone/>
            </a:pPr>
            <a:r>
              <a:rPr lang="en-US" sz="2800" i="1" dirty="0">
                <a:solidFill>
                  <a:srgbClr val="F59E0B"/>
                </a:solidFill>
                <a:latin typeface="Calibri" pitchFamily="34" charset="0"/>
                <a:ea typeface="Calibri" pitchFamily="34" charset="-122"/>
                <a:cs typeface="Calibri" pitchFamily="34" charset="-120"/>
              </a:rPr>
              <a:t>These take ten lines of middleware and stop a surprising amount of mischief.</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7" name="Text 4"/>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DEFENSE LAYER 3</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Rate Limiting — Slow Down Brute Force</a:t>
            </a:r>
            <a:endParaRPr lang="en-US" sz="3200" dirty="0"/>
          </a:p>
        </p:txBody>
      </p:sp>
      <p:sp>
        <p:nvSpPr>
          <p:cNvPr id="4" name="Text 2"/>
          <p:cNvSpPr/>
          <p:nvPr/>
        </p:nvSpPr>
        <p:spPr>
          <a:xfrm>
            <a:off x="548640" y="1014984"/>
            <a:ext cx="10972800" cy="548640"/>
          </a:xfrm>
          <a:prstGeom prst="rect">
            <a:avLst/>
          </a:prstGeom>
          <a:noFill/>
          <a:ln/>
        </p:spPr>
        <p:txBody>
          <a:bodyPr wrap="square" lIns="0" tIns="0" rIns="0" bIns="0" rtlCol="0" anchor="ctr"/>
          <a:lstStyle/>
          <a:p>
            <a:pPr marL="0" indent="0">
              <a:buNone/>
            </a:pPr>
            <a:r>
              <a:rPr lang="en-US" sz="2800" i="1" dirty="0">
                <a:solidFill>
                  <a:srgbClr val="1E293B"/>
                </a:solidFill>
                <a:latin typeface="Calibri" pitchFamily="34" charset="0"/>
                <a:ea typeface="Calibri" pitchFamily="34" charset="-122"/>
                <a:cs typeface="Calibri" pitchFamily="34" charset="-120"/>
              </a:rPr>
              <a:t>A login endpoint without rate limiting is an offline password cracker. Every account on the system is at risk.</a:t>
            </a:r>
            <a:endParaRPr lang="en-US" sz="2800" dirty="0"/>
          </a:p>
        </p:txBody>
      </p:sp>
      <p:sp>
        <p:nvSpPr>
          <p:cNvPr id="5" name="Shape 3"/>
          <p:cNvSpPr/>
          <p:nvPr/>
        </p:nvSpPr>
        <p:spPr>
          <a:xfrm>
            <a:off x="548640" y="1783079"/>
            <a:ext cx="11247120" cy="4645855"/>
          </a:xfrm>
          <a:prstGeom prst="rect">
            <a:avLst/>
          </a:prstGeom>
          <a:solidFill>
            <a:srgbClr val="1E293B"/>
          </a:solidFill>
          <a:ln w="12700">
            <a:solidFill>
              <a:srgbClr val="1E293B"/>
            </a:solidFill>
            <a:prstDash val="solid"/>
          </a:ln>
        </p:spPr>
        <p:txBody>
          <a:bodyPr/>
          <a:lstStyle/>
          <a:p>
            <a:endParaRPr lang="en-MY" sz="1600"/>
          </a:p>
        </p:txBody>
      </p:sp>
      <p:sp>
        <p:nvSpPr>
          <p:cNvPr id="6" name="Text 4"/>
          <p:cNvSpPr/>
          <p:nvPr/>
        </p:nvSpPr>
        <p:spPr>
          <a:xfrm>
            <a:off x="713232" y="1892808"/>
            <a:ext cx="10917936" cy="4408620"/>
          </a:xfrm>
          <a:prstGeom prst="rect">
            <a:avLst/>
          </a:prstGeom>
          <a:noFill/>
          <a:ln/>
        </p:spPr>
        <p:txBody>
          <a:bodyPr wrap="square" lIns="0" tIns="0" rIns="0" bIns="0" rtlCol="0" anchor="t"/>
          <a:lstStyle/>
          <a:p>
            <a:pPr marL="0" indent="0" algn="l">
              <a:buNone/>
            </a:pPr>
            <a:r>
              <a:rPr lang="en-US" sz="1600" dirty="0">
                <a:solidFill>
                  <a:srgbClr val="E2E8F0"/>
                </a:solidFill>
                <a:latin typeface="Consolas" pitchFamily="34" charset="0"/>
                <a:ea typeface="Consolas" pitchFamily="34" charset="-122"/>
                <a:cs typeface="Consolas" pitchFamily="34" charset="-120"/>
              </a:rPr>
              <a:t>// Tiny in-process limiter — fine for a course project.</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In production, back this with Redis or your CDN's edge.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$bucket = [];                           // [ip =&gt; [count, windowStart]]</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$LIMIT  = 5;                            // 5 attempts</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$WINDOW = 60;                           // per 60 seconds</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$ip = $request-&gt;getServerParams()['REMOTE_ADDR'];</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[$count, $start] = $bucket[$ip] ?? [0, time()];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if (time() - $start &gt; $WINDOW) { $count = 0; $start = time();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if (++$count &gt; $LIMIT)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$response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-&gt;withStatus(429)</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-&gt;withHeader('Retry-After', (string)max(1, $start + $WINDOW - time()));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$bucket[$ip] = [$count, $start];</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Apply specifically to /auth/login:  $app-&gt;post(…, …)-&gt;add($limiter);</a:t>
            </a:r>
            <a:endParaRPr lang="en-US" sz="1600" dirty="0"/>
          </a:p>
        </p:txBody>
      </p:sp>
      <p:sp>
        <p:nvSpPr>
          <p:cNvPr id="7"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8" name="Text 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OPERATIONAL HYGIENE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Secrets — Keep Them Out of Code</a:t>
            </a:r>
            <a:endParaRPr lang="en-US" sz="3200" dirty="0"/>
          </a:p>
        </p:txBody>
      </p:sp>
      <p:sp>
        <p:nvSpPr>
          <p:cNvPr id="4" name="Shape 2"/>
          <p:cNvSpPr/>
          <p:nvPr/>
        </p:nvSpPr>
        <p:spPr>
          <a:xfrm>
            <a:off x="457200" y="1371600"/>
            <a:ext cx="562356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768927" y="1645920"/>
            <a:ext cx="511233" cy="502920"/>
          </a:xfrm>
          <a:prstGeom prst="ellipse">
            <a:avLst/>
          </a:prstGeom>
          <a:solidFill>
            <a:srgbClr val="10B981"/>
          </a:solidFill>
          <a:ln w="12700">
            <a:solidFill>
              <a:srgbClr val="10B981"/>
            </a:solidFill>
            <a:prstDash val="solid"/>
          </a:ln>
        </p:spPr>
        <p:txBody>
          <a:bodyPr/>
          <a:lstStyle/>
          <a:p>
            <a:endParaRPr lang="en-MY" sz="2400"/>
          </a:p>
        </p:txBody>
      </p:sp>
      <p:sp>
        <p:nvSpPr>
          <p:cNvPr id="6" name="Text 4"/>
          <p:cNvSpPr/>
          <p:nvPr/>
        </p:nvSpPr>
        <p:spPr>
          <a:xfrm>
            <a:off x="768927" y="1645920"/>
            <a:ext cx="511233"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1341750" y="1554480"/>
            <a:ext cx="464757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.env (git-ignored) for dev secrets</a:t>
            </a:r>
            <a:endParaRPr lang="en-US" sz="2400" dirty="0"/>
          </a:p>
        </p:txBody>
      </p:sp>
      <p:sp>
        <p:nvSpPr>
          <p:cNvPr id="8" name="Text 6"/>
          <p:cNvSpPr/>
          <p:nvPr/>
        </p:nvSpPr>
        <p:spPr>
          <a:xfrm>
            <a:off x="1341750" y="2011680"/>
            <a:ext cx="464757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DB_PASS, JWT_SECRET, API keys live here.</a:t>
            </a:r>
            <a:endParaRPr lang="en-US" sz="2400" dirty="0"/>
          </a:p>
        </p:txBody>
      </p:sp>
      <p:sp>
        <p:nvSpPr>
          <p:cNvPr id="9" name="Shape 7"/>
          <p:cNvSpPr/>
          <p:nvPr/>
        </p:nvSpPr>
        <p:spPr>
          <a:xfrm>
            <a:off x="6217920" y="1371600"/>
            <a:ext cx="562356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0" name="Shape 8"/>
          <p:cNvSpPr/>
          <p:nvPr/>
        </p:nvSpPr>
        <p:spPr>
          <a:xfrm>
            <a:off x="6529647" y="1645920"/>
            <a:ext cx="511233" cy="502920"/>
          </a:xfrm>
          <a:prstGeom prst="ellipse">
            <a:avLst/>
          </a:prstGeom>
          <a:solidFill>
            <a:srgbClr val="10B981"/>
          </a:solidFill>
          <a:ln w="12700">
            <a:solidFill>
              <a:srgbClr val="10B981"/>
            </a:solidFill>
            <a:prstDash val="solid"/>
          </a:ln>
        </p:spPr>
        <p:txBody>
          <a:bodyPr/>
          <a:lstStyle/>
          <a:p>
            <a:endParaRPr lang="en-MY" sz="2400"/>
          </a:p>
        </p:txBody>
      </p:sp>
      <p:sp>
        <p:nvSpPr>
          <p:cNvPr id="11" name="Text 9"/>
          <p:cNvSpPr/>
          <p:nvPr/>
        </p:nvSpPr>
        <p:spPr>
          <a:xfrm>
            <a:off x="6529647" y="1645920"/>
            <a:ext cx="511233"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7102470" y="1554480"/>
            <a:ext cx="464757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.env.example checked in</a:t>
            </a:r>
            <a:endParaRPr lang="en-US" sz="2400" dirty="0"/>
          </a:p>
        </p:txBody>
      </p:sp>
      <p:sp>
        <p:nvSpPr>
          <p:cNvPr id="13" name="Text 11"/>
          <p:cNvSpPr/>
          <p:nvPr/>
        </p:nvSpPr>
        <p:spPr>
          <a:xfrm>
            <a:off x="7102470" y="2011680"/>
            <a:ext cx="464757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Documents which vars exist; never has real values.</a:t>
            </a:r>
            <a:endParaRPr lang="en-US" sz="2400" dirty="0"/>
          </a:p>
        </p:txBody>
      </p:sp>
      <p:sp>
        <p:nvSpPr>
          <p:cNvPr id="14" name="Shape 12"/>
          <p:cNvSpPr/>
          <p:nvPr/>
        </p:nvSpPr>
        <p:spPr>
          <a:xfrm>
            <a:off x="457200" y="2926080"/>
            <a:ext cx="562356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5" name="Shape 13"/>
          <p:cNvSpPr/>
          <p:nvPr/>
        </p:nvSpPr>
        <p:spPr>
          <a:xfrm>
            <a:off x="768927" y="3200400"/>
            <a:ext cx="511233" cy="502920"/>
          </a:xfrm>
          <a:prstGeom prst="ellipse">
            <a:avLst/>
          </a:prstGeom>
          <a:solidFill>
            <a:srgbClr val="10B981"/>
          </a:solidFill>
          <a:ln w="12700">
            <a:solidFill>
              <a:srgbClr val="10B981"/>
            </a:solidFill>
            <a:prstDash val="solid"/>
          </a:ln>
        </p:spPr>
        <p:txBody>
          <a:bodyPr/>
          <a:lstStyle/>
          <a:p>
            <a:endParaRPr lang="en-MY" sz="2400"/>
          </a:p>
        </p:txBody>
      </p:sp>
      <p:sp>
        <p:nvSpPr>
          <p:cNvPr id="16" name="Text 14"/>
          <p:cNvSpPr/>
          <p:nvPr/>
        </p:nvSpPr>
        <p:spPr>
          <a:xfrm>
            <a:off x="768927" y="3200400"/>
            <a:ext cx="511233"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1341750" y="3108960"/>
            <a:ext cx="464757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Production: real env vars / vault</a:t>
            </a:r>
            <a:endParaRPr lang="en-US" sz="2400" dirty="0"/>
          </a:p>
        </p:txBody>
      </p:sp>
      <p:sp>
        <p:nvSpPr>
          <p:cNvPr id="18" name="Text 16"/>
          <p:cNvSpPr/>
          <p:nvPr/>
        </p:nvSpPr>
        <p:spPr>
          <a:xfrm>
            <a:off x="1341750" y="3566160"/>
            <a:ext cx="464757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Cloud platforms inject env at runtime.</a:t>
            </a:r>
            <a:endParaRPr lang="en-US" sz="2400" dirty="0"/>
          </a:p>
        </p:txBody>
      </p:sp>
      <p:sp>
        <p:nvSpPr>
          <p:cNvPr id="19" name="Shape 17"/>
          <p:cNvSpPr/>
          <p:nvPr/>
        </p:nvSpPr>
        <p:spPr>
          <a:xfrm>
            <a:off x="6217920" y="2926080"/>
            <a:ext cx="562356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0" name="Shape 18"/>
          <p:cNvSpPr/>
          <p:nvPr/>
        </p:nvSpPr>
        <p:spPr>
          <a:xfrm>
            <a:off x="6529647" y="3200400"/>
            <a:ext cx="511233" cy="502920"/>
          </a:xfrm>
          <a:prstGeom prst="ellipse">
            <a:avLst/>
          </a:prstGeom>
          <a:solidFill>
            <a:srgbClr val="DC2626"/>
          </a:solidFill>
          <a:ln w="12700">
            <a:solidFill>
              <a:srgbClr val="DC2626"/>
            </a:solidFill>
            <a:prstDash val="solid"/>
          </a:ln>
        </p:spPr>
        <p:txBody>
          <a:bodyPr/>
          <a:lstStyle/>
          <a:p>
            <a:endParaRPr lang="en-MY" sz="2400"/>
          </a:p>
        </p:txBody>
      </p:sp>
      <p:sp>
        <p:nvSpPr>
          <p:cNvPr id="21" name="Text 19"/>
          <p:cNvSpPr/>
          <p:nvPr/>
        </p:nvSpPr>
        <p:spPr>
          <a:xfrm>
            <a:off x="6529647" y="3200400"/>
            <a:ext cx="511233"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7102470" y="3108960"/>
            <a:ext cx="464757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Hard-coded API keys in source</a:t>
            </a:r>
            <a:endParaRPr lang="en-US" sz="2400" dirty="0"/>
          </a:p>
        </p:txBody>
      </p:sp>
      <p:sp>
        <p:nvSpPr>
          <p:cNvPr id="23" name="Text 21"/>
          <p:cNvSpPr/>
          <p:nvPr/>
        </p:nvSpPr>
        <p:spPr>
          <a:xfrm>
            <a:off x="7102471" y="3566160"/>
            <a:ext cx="374778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Even "temporary" — they always leak.</a:t>
            </a:r>
            <a:endParaRPr lang="en-US" sz="2400" dirty="0"/>
          </a:p>
        </p:txBody>
      </p:sp>
      <p:sp>
        <p:nvSpPr>
          <p:cNvPr id="24" name="Shape 22"/>
          <p:cNvSpPr/>
          <p:nvPr/>
        </p:nvSpPr>
        <p:spPr>
          <a:xfrm>
            <a:off x="457200" y="4480560"/>
            <a:ext cx="562356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5" name="Shape 23"/>
          <p:cNvSpPr/>
          <p:nvPr/>
        </p:nvSpPr>
        <p:spPr>
          <a:xfrm>
            <a:off x="768927" y="4754880"/>
            <a:ext cx="511233" cy="502920"/>
          </a:xfrm>
          <a:prstGeom prst="ellipse">
            <a:avLst/>
          </a:prstGeom>
          <a:solidFill>
            <a:srgbClr val="DC2626"/>
          </a:solidFill>
          <a:ln w="12700">
            <a:solidFill>
              <a:srgbClr val="DC2626"/>
            </a:solidFill>
            <a:prstDash val="solid"/>
          </a:ln>
        </p:spPr>
        <p:txBody>
          <a:bodyPr/>
          <a:lstStyle/>
          <a:p>
            <a:endParaRPr lang="en-MY" sz="2400"/>
          </a:p>
        </p:txBody>
      </p:sp>
      <p:sp>
        <p:nvSpPr>
          <p:cNvPr id="26" name="Text 24"/>
          <p:cNvSpPr/>
          <p:nvPr/>
        </p:nvSpPr>
        <p:spPr>
          <a:xfrm>
            <a:off x="768927" y="4754880"/>
            <a:ext cx="511233"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1341750" y="4663440"/>
            <a:ext cx="464757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Keys committed in git history</a:t>
            </a:r>
            <a:endParaRPr lang="en-US" sz="2400" dirty="0"/>
          </a:p>
        </p:txBody>
      </p:sp>
      <p:sp>
        <p:nvSpPr>
          <p:cNvPr id="28" name="Text 26"/>
          <p:cNvSpPr/>
          <p:nvPr/>
        </p:nvSpPr>
        <p:spPr>
          <a:xfrm>
            <a:off x="1341750" y="5120640"/>
            <a:ext cx="464757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git log preserves them forever; rotate immediately.</a:t>
            </a:r>
            <a:endParaRPr lang="en-US" sz="2400" dirty="0"/>
          </a:p>
        </p:txBody>
      </p:sp>
      <p:sp>
        <p:nvSpPr>
          <p:cNvPr id="29" name="Shape 27"/>
          <p:cNvSpPr/>
          <p:nvPr/>
        </p:nvSpPr>
        <p:spPr>
          <a:xfrm>
            <a:off x="6217920" y="4480560"/>
            <a:ext cx="562356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0" name="Shape 28"/>
          <p:cNvSpPr/>
          <p:nvPr/>
        </p:nvSpPr>
        <p:spPr>
          <a:xfrm>
            <a:off x="6529647" y="4754880"/>
            <a:ext cx="511233" cy="502920"/>
          </a:xfrm>
          <a:prstGeom prst="ellipse">
            <a:avLst/>
          </a:prstGeom>
          <a:solidFill>
            <a:srgbClr val="DC2626"/>
          </a:solidFill>
          <a:ln w="12700">
            <a:solidFill>
              <a:srgbClr val="DC2626"/>
            </a:solidFill>
            <a:prstDash val="solid"/>
          </a:ln>
        </p:spPr>
        <p:txBody>
          <a:bodyPr/>
          <a:lstStyle/>
          <a:p>
            <a:endParaRPr lang="en-MY" sz="2400"/>
          </a:p>
        </p:txBody>
      </p:sp>
      <p:sp>
        <p:nvSpPr>
          <p:cNvPr id="31" name="Text 29"/>
          <p:cNvSpPr/>
          <p:nvPr/>
        </p:nvSpPr>
        <p:spPr>
          <a:xfrm>
            <a:off x="6529647" y="4754880"/>
            <a:ext cx="511233"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2" name="Text 30"/>
          <p:cNvSpPr/>
          <p:nvPr/>
        </p:nvSpPr>
        <p:spPr>
          <a:xfrm>
            <a:off x="7102470" y="4663440"/>
            <a:ext cx="464757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Secrets in client-side code or tokens</a:t>
            </a:r>
            <a:endParaRPr lang="en-US" sz="2400" dirty="0"/>
          </a:p>
        </p:txBody>
      </p:sp>
      <p:sp>
        <p:nvSpPr>
          <p:cNvPr id="33" name="Text 31"/>
          <p:cNvSpPr/>
          <p:nvPr/>
        </p:nvSpPr>
        <p:spPr>
          <a:xfrm>
            <a:off x="7102470" y="5120640"/>
            <a:ext cx="464757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Anything shipped to the browser is public.</a:t>
            </a:r>
            <a:endParaRPr lang="en-US" sz="2400" dirty="0"/>
          </a:p>
        </p:txBody>
      </p:sp>
      <p:sp>
        <p:nvSpPr>
          <p:cNvPr id="34" name="Text 3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35" name="Text 33"/>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DETECT &amp; RESPOND</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Logging &amp; Monitoring</a:t>
            </a:r>
            <a:endParaRPr lang="en-US" sz="3200" dirty="0"/>
          </a:p>
        </p:txBody>
      </p:sp>
      <p:sp>
        <p:nvSpPr>
          <p:cNvPr id="4" name="Text 2"/>
          <p:cNvSpPr/>
          <p:nvPr/>
        </p:nvSpPr>
        <p:spPr>
          <a:xfrm>
            <a:off x="548640" y="896112"/>
            <a:ext cx="9172135" cy="795528"/>
          </a:xfrm>
          <a:prstGeom prst="rect">
            <a:avLst/>
          </a:prstGeom>
          <a:noFill/>
          <a:ln/>
        </p:spPr>
        <p:txBody>
          <a:bodyPr wrap="square" lIns="0" tIns="0" rIns="0" bIns="0" rtlCol="0" anchor="ctr"/>
          <a:lstStyle/>
          <a:p>
            <a:pPr marL="0" indent="0">
              <a:buNone/>
            </a:pPr>
            <a:r>
              <a:rPr lang="en-US" sz="2800" i="1" dirty="0">
                <a:solidFill>
                  <a:srgbClr val="1E293B"/>
                </a:solidFill>
                <a:latin typeface="Calibri" pitchFamily="34" charset="0"/>
                <a:ea typeface="Calibri" pitchFamily="34" charset="-122"/>
                <a:cs typeface="Calibri" pitchFamily="34" charset="-120"/>
              </a:rPr>
              <a:t>If you can't see it, you can't stop it. Log enough to investigate, never enough to leak.</a:t>
            </a:r>
            <a:endParaRPr lang="en-US" sz="2800" dirty="0"/>
          </a:p>
        </p:txBody>
      </p:sp>
      <p:sp>
        <p:nvSpPr>
          <p:cNvPr id="5" name="Shape 3"/>
          <p:cNvSpPr/>
          <p:nvPr/>
        </p:nvSpPr>
        <p:spPr>
          <a:xfrm>
            <a:off x="548640" y="1783080"/>
            <a:ext cx="5486400" cy="4297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6" name="Text 4"/>
          <p:cNvSpPr/>
          <p:nvPr/>
        </p:nvSpPr>
        <p:spPr>
          <a:xfrm>
            <a:off x="777240" y="1920240"/>
            <a:ext cx="5029200" cy="365760"/>
          </a:xfrm>
          <a:prstGeom prst="rect">
            <a:avLst/>
          </a:prstGeom>
          <a:noFill/>
          <a:ln/>
        </p:spPr>
        <p:txBody>
          <a:bodyPr wrap="square" lIns="0" tIns="0" rIns="0" bIns="0" rtlCol="0" anchor="ctr"/>
          <a:lstStyle/>
          <a:p>
            <a:pPr marL="0" indent="0">
              <a:buNone/>
            </a:pPr>
            <a:r>
              <a:rPr lang="en-US" sz="2400" b="1" dirty="0">
                <a:solidFill>
                  <a:srgbClr val="10B981"/>
                </a:solidFill>
                <a:latin typeface="Calibri" pitchFamily="34" charset="0"/>
                <a:ea typeface="Calibri" pitchFamily="34" charset="-122"/>
                <a:cs typeface="Calibri" pitchFamily="34" charset="-120"/>
              </a:rPr>
              <a:t>DO log</a:t>
            </a:r>
            <a:endParaRPr lang="en-US" sz="2400" dirty="0"/>
          </a:p>
        </p:txBody>
      </p:sp>
      <p:sp>
        <p:nvSpPr>
          <p:cNvPr id="7" name="Text 5"/>
          <p:cNvSpPr/>
          <p:nvPr/>
        </p:nvSpPr>
        <p:spPr>
          <a:xfrm>
            <a:off x="777240" y="2331720"/>
            <a:ext cx="5120640" cy="3657600"/>
          </a:xfrm>
          <a:prstGeom prst="rect">
            <a:avLst/>
          </a:prstGeom>
          <a:noFill/>
          <a:ln/>
        </p:spPr>
        <p:txBody>
          <a:bodyPr wrap="square" lIns="0" tIns="0" rIns="0" bIns="0" rtlCol="0" anchor="ctr"/>
          <a:lstStyle/>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Authentication events (login OK / fail, logout)</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Authorization failures (403 returned)</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Rate-limit hits and 5xx errors</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Schema-changing admin actions</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Slow queries / database errors</a:t>
            </a:r>
            <a:endParaRPr lang="en-US" sz="2400" dirty="0"/>
          </a:p>
        </p:txBody>
      </p:sp>
      <p:sp>
        <p:nvSpPr>
          <p:cNvPr id="8" name="Shape 6"/>
          <p:cNvSpPr/>
          <p:nvPr/>
        </p:nvSpPr>
        <p:spPr>
          <a:xfrm>
            <a:off x="6263640" y="1783080"/>
            <a:ext cx="5532120" cy="42976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9" name="Text 7"/>
          <p:cNvSpPr/>
          <p:nvPr/>
        </p:nvSpPr>
        <p:spPr>
          <a:xfrm>
            <a:off x="6492240" y="1920240"/>
            <a:ext cx="5029200" cy="365760"/>
          </a:xfrm>
          <a:prstGeom prst="rect">
            <a:avLst/>
          </a:prstGeom>
          <a:noFill/>
          <a:ln/>
        </p:spPr>
        <p:txBody>
          <a:bodyPr wrap="square" lIns="0" tIns="0" rIns="0" bIns="0" rtlCol="0" anchor="ctr"/>
          <a:lstStyle/>
          <a:p>
            <a:pPr marL="0" indent="0">
              <a:buNone/>
            </a:pPr>
            <a:r>
              <a:rPr lang="en-US" sz="2400" b="1" dirty="0">
                <a:solidFill>
                  <a:srgbClr val="DC2626"/>
                </a:solidFill>
                <a:latin typeface="Calibri" pitchFamily="34" charset="0"/>
                <a:ea typeface="Calibri" pitchFamily="34" charset="-122"/>
                <a:cs typeface="Calibri" pitchFamily="34" charset="-120"/>
              </a:rPr>
              <a:t>DON'T log</a:t>
            </a:r>
            <a:endParaRPr lang="en-US" sz="2400" dirty="0"/>
          </a:p>
        </p:txBody>
      </p:sp>
      <p:sp>
        <p:nvSpPr>
          <p:cNvPr id="10" name="Text 8"/>
          <p:cNvSpPr/>
          <p:nvPr/>
        </p:nvSpPr>
        <p:spPr>
          <a:xfrm>
            <a:off x="6492240" y="2331720"/>
            <a:ext cx="5120640" cy="3657600"/>
          </a:xfrm>
          <a:prstGeom prst="rect">
            <a:avLst/>
          </a:prstGeom>
          <a:noFill/>
          <a:ln/>
        </p:spPr>
        <p:txBody>
          <a:bodyPr wrap="square" lIns="0" tIns="0" rIns="0" bIns="0" rtlCol="0" anchor="ctr"/>
          <a:lstStyle/>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Plaintext passwords (even hashed — risky in logs)</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Full JWTs or API keys</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Credit card / national ID numbers</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Personal email bodies / chat content</a:t>
            </a:r>
            <a:endParaRPr lang="en-US" sz="2400" dirty="0"/>
          </a:p>
          <a:p>
            <a:pPr marL="342900" indent="-342900">
              <a:spcAft>
                <a:spcPts val="600"/>
              </a:spcAft>
              <a:buSzPct val="100000"/>
              <a:buChar char="•"/>
            </a:pPr>
            <a:r>
              <a:rPr lang="en-US" sz="2400" dirty="0">
                <a:solidFill>
                  <a:srgbClr val="1E293B"/>
                </a:solidFill>
                <a:latin typeface="Calibri" pitchFamily="34" charset="0"/>
                <a:ea typeface="Calibri" pitchFamily="34" charset="-122"/>
                <a:cs typeface="Calibri" pitchFamily="34" charset="-120"/>
              </a:rPr>
              <a:t>Anything you wouldn't paste in a public ticket</a:t>
            </a:r>
            <a:endParaRPr lang="en-US" sz="2400" dirty="0"/>
          </a:p>
        </p:txBody>
      </p:sp>
      <p:sp>
        <p:nvSpPr>
          <p:cNvPr id="11" name="Text 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12" name="Text 10"/>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BIG PICTURE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Defense in Depth</a:t>
            </a:r>
            <a:endParaRPr lang="en-US" sz="3200" dirty="0"/>
          </a:p>
        </p:txBody>
      </p:sp>
      <p:sp>
        <p:nvSpPr>
          <p:cNvPr id="4" name="Text 2"/>
          <p:cNvSpPr/>
          <p:nvPr/>
        </p:nvSpPr>
        <p:spPr>
          <a:xfrm>
            <a:off x="548640" y="960120"/>
            <a:ext cx="11247120" cy="685800"/>
          </a:xfrm>
          <a:prstGeom prst="rect">
            <a:avLst/>
          </a:prstGeom>
          <a:noFill/>
          <a:ln/>
        </p:spPr>
        <p:txBody>
          <a:bodyPr wrap="square" lIns="0" tIns="0" rIns="0" bIns="0" rtlCol="0" anchor="ctr"/>
          <a:lstStyle/>
          <a:p>
            <a:pPr marL="0" indent="0">
              <a:buNone/>
            </a:pPr>
            <a:r>
              <a:rPr lang="en-US" sz="2800" i="1" dirty="0">
                <a:solidFill>
                  <a:srgbClr val="64748B"/>
                </a:solidFill>
                <a:latin typeface="Calibri" pitchFamily="34" charset="0"/>
                <a:ea typeface="Calibri" pitchFamily="34" charset="-122"/>
                <a:cs typeface="Calibri" pitchFamily="34" charset="-120"/>
              </a:rPr>
              <a:t>Multiple, overlapping controls. Any one can fail; the others stop the attacker.</a:t>
            </a:r>
            <a:endParaRPr lang="en-US" sz="2800" dirty="0"/>
          </a:p>
        </p:txBody>
      </p:sp>
      <p:sp>
        <p:nvSpPr>
          <p:cNvPr id="5" name="Shape 3"/>
          <p:cNvSpPr/>
          <p:nvPr/>
        </p:nvSpPr>
        <p:spPr>
          <a:xfrm>
            <a:off x="548640" y="1783080"/>
            <a:ext cx="11247120" cy="777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6" name="Shape 4"/>
          <p:cNvSpPr/>
          <p:nvPr/>
        </p:nvSpPr>
        <p:spPr>
          <a:xfrm>
            <a:off x="548640" y="1783080"/>
            <a:ext cx="164592" cy="777240"/>
          </a:xfrm>
          <a:prstGeom prst="rect">
            <a:avLst/>
          </a:prstGeom>
          <a:solidFill>
            <a:srgbClr val="F59E0B"/>
          </a:solidFill>
          <a:ln w="12700">
            <a:solidFill>
              <a:srgbClr val="F59E0B"/>
            </a:solidFill>
            <a:prstDash val="solid"/>
          </a:ln>
        </p:spPr>
        <p:txBody>
          <a:bodyPr/>
          <a:lstStyle/>
          <a:p>
            <a:endParaRPr lang="en-MY" sz="2800"/>
          </a:p>
        </p:txBody>
      </p:sp>
      <p:sp>
        <p:nvSpPr>
          <p:cNvPr id="7" name="Text 5"/>
          <p:cNvSpPr/>
          <p:nvPr/>
        </p:nvSpPr>
        <p:spPr>
          <a:xfrm>
            <a:off x="868680" y="1783080"/>
            <a:ext cx="2286000" cy="77724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Network</a:t>
            </a:r>
            <a:endParaRPr lang="en-US" sz="2800" dirty="0"/>
          </a:p>
        </p:txBody>
      </p:sp>
      <p:sp>
        <p:nvSpPr>
          <p:cNvPr id="8" name="Text 6"/>
          <p:cNvSpPr/>
          <p:nvPr/>
        </p:nvSpPr>
        <p:spPr>
          <a:xfrm>
            <a:off x="3200400" y="1783080"/>
            <a:ext cx="8503920" cy="77724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HTTPS, firewall, no public DB ports.</a:t>
            </a:r>
            <a:endParaRPr lang="en-US" sz="2800" dirty="0"/>
          </a:p>
        </p:txBody>
      </p:sp>
      <p:sp>
        <p:nvSpPr>
          <p:cNvPr id="9" name="Shape 7"/>
          <p:cNvSpPr/>
          <p:nvPr/>
        </p:nvSpPr>
        <p:spPr>
          <a:xfrm>
            <a:off x="548640" y="2651760"/>
            <a:ext cx="11247120" cy="777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10" name="Shape 8"/>
          <p:cNvSpPr/>
          <p:nvPr/>
        </p:nvSpPr>
        <p:spPr>
          <a:xfrm>
            <a:off x="548640" y="2651760"/>
            <a:ext cx="164592" cy="777240"/>
          </a:xfrm>
          <a:prstGeom prst="rect">
            <a:avLst/>
          </a:prstGeom>
          <a:solidFill>
            <a:srgbClr val="F59E0B"/>
          </a:solidFill>
          <a:ln w="12700">
            <a:solidFill>
              <a:srgbClr val="F59E0B"/>
            </a:solidFill>
            <a:prstDash val="solid"/>
          </a:ln>
        </p:spPr>
        <p:txBody>
          <a:bodyPr/>
          <a:lstStyle/>
          <a:p>
            <a:endParaRPr lang="en-MY" sz="2800"/>
          </a:p>
        </p:txBody>
      </p:sp>
      <p:sp>
        <p:nvSpPr>
          <p:cNvPr id="11" name="Text 9"/>
          <p:cNvSpPr/>
          <p:nvPr/>
        </p:nvSpPr>
        <p:spPr>
          <a:xfrm>
            <a:off x="868680" y="2651760"/>
            <a:ext cx="2286000" cy="77724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Edge</a:t>
            </a:r>
            <a:endParaRPr lang="en-US" sz="2800" dirty="0"/>
          </a:p>
        </p:txBody>
      </p:sp>
      <p:sp>
        <p:nvSpPr>
          <p:cNvPr id="12" name="Text 10"/>
          <p:cNvSpPr/>
          <p:nvPr/>
        </p:nvSpPr>
        <p:spPr>
          <a:xfrm>
            <a:off x="3200400" y="2651760"/>
            <a:ext cx="8503920" cy="77724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WAF, rate limiting, bot protection.</a:t>
            </a:r>
            <a:endParaRPr lang="en-US" sz="2800" dirty="0"/>
          </a:p>
        </p:txBody>
      </p:sp>
      <p:sp>
        <p:nvSpPr>
          <p:cNvPr id="13" name="Shape 11"/>
          <p:cNvSpPr/>
          <p:nvPr/>
        </p:nvSpPr>
        <p:spPr>
          <a:xfrm>
            <a:off x="548640" y="3520440"/>
            <a:ext cx="11247120" cy="777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14" name="Shape 12"/>
          <p:cNvSpPr/>
          <p:nvPr/>
        </p:nvSpPr>
        <p:spPr>
          <a:xfrm>
            <a:off x="548640" y="3520440"/>
            <a:ext cx="164592" cy="777240"/>
          </a:xfrm>
          <a:prstGeom prst="rect">
            <a:avLst/>
          </a:prstGeom>
          <a:solidFill>
            <a:srgbClr val="F59E0B"/>
          </a:solidFill>
          <a:ln w="12700">
            <a:solidFill>
              <a:srgbClr val="F59E0B"/>
            </a:solidFill>
            <a:prstDash val="solid"/>
          </a:ln>
        </p:spPr>
        <p:txBody>
          <a:bodyPr/>
          <a:lstStyle/>
          <a:p>
            <a:endParaRPr lang="en-MY" sz="2800"/>
          </a:p>
        </p:txBody>
      </p:sp>
      <p:sp>
        <p:nvSpPr>
          <p:cNvPr id="15" name="Text 13"/>
          <p:cNvSpPr/>
          <p:nvPr/>
        </p:nvSpPr>
        <p:spPr>
          <a:xfrm>
            <a:off x="868680" y="3520440"/>
            <a:ext cx="2286000" cy="77724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App</a:t>
            </a:r>
            <a:endParaRPr lang="en-US" sz="2800" dirty="0"/>
          </a:p>
        </p:txBody>
      </p:sp>
      <p:sp>
        <p:nvSpPr>
          <p:cNvPr id="16" name="Text 14"/>
          <p:cNvSpPr/>
          <p:nvPr/>
        </p:nvSpPr>
        <p:spPr>
          <a:xfrm>
            <a:off x="3200400" y="3520440"/>
            <a:ext cx="8503920" cy="77724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Validation, escaping, prepared SQL, JWT, role checks.</a:t>
            </a:r>
            <a:endParaRPr lang="en-US" sz="2800" dirty="0"/>
          </a:p>
        </p:txBody>
      </p:sp>
      <p:sp>
        <p:nvSpPr>
          <p:cNvPr id="17" name="Shape 15"/>
          <p:cNvSpPr/>
          <p:nvPr/>
        </p:nvSpPr>
        <p:spPr>
          <a:xfrm>
            <a:off x="548640" y="4389120"/>
            <a:ext cx="11247120" cy="777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18" name="Shape 16"/>
          <p:cNvSpPr/>
          <p:nvPr/>
        </p:nvSpPr>
        <p:spPr>
          <a:xfrm>
            <a:off x="548640" y="4389120"/>
            <a:ext cx="164592" cy="777240"/>
          </a:xfrm>
          <a:prstGeom prst="rect">
            <a:avLst/>
          </a:prstGeom>
          <a:solidFill>
            <a:srgbClr val="F59E0B"/>
          </a:solidFill>
          <a:ln w="12700">
            <a:solidFill>
              <a:srgbClr val="F59E0B"/>
            </a:solidFill>
            <a:prstDash val="solid"/>
          </a:ln>
        </p:spPr>
        <p:txBody>
          <a:bodyPr/>
          <a:lstStyle/>
          <a:p>
            <a:endParaRPr lang="en-MY" sz="2800"/>
          </a:p>
        </p:txBody>
      </p:sp>
      <p:sp>
        <p:nvSpPr>
          <p:cNvPr id="19" name="Text 17"/>
          <p:cNvSpPr/>
          <p:nvPr/>
        </p:nvSpPr>
        <p:spPr>
          <a:xfrm>
            <a:off x="868680" y="4389120"/>
            <a:ext cx="2286000" cy="77724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Data</a:t>
            </a:r>
            <a:endParaRPr lang="en-US" sz="2800" dirty="0"/>
          </a:p>
        </p:txBody>
      </p:sp>
      <p:sp>
        <p:nvSpPr>
          <p:cNvPr id="20" name="Text 18"/>
          <p:cNvSpPr/>
          <p:nvPr/>
        </p:nvSpPr>
        <p:spPr>
          <a:xfrm>
            <a:off x="3200400" y="4389120"/>
            <a:ext cx="8503920" cy="77724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Hashed passwords, encrypted secrets, least-privileged DB user.</a:t>
            </a:r>
            <a:endParaRPr lang="en-US" sz="2800" dirty="0"/>
          </a:p>
        </p:txBody>
      </p:sp>
      <p:sp>
        <p:nvSpPr>
          <p:cNvPr id="21" name="Shape 19"/>
          <p:cNvSpPr/>
          <p:nvPr/>
        </p:nvSpPr>
        <p:spPr>
          <a:xfrm>
            <a:off x="548640" y="5257800"/>
            <a:ext cx="11247120" cy="777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22" name="Shape 20"/>
          <p:cNvSpPr/>
          <p:nvPr/>
        </p:nvSpPr>
        <p:spPr>
          <a:xfrm>
            <a:off x="548640" y="5257800"/>
            <a:ext cx="164592" cy="777240"/>
          </a:xfrm>
          <a:prstGeom prst="rect">
            <a:avLst/>
          </a:prstGeom>
          <a:solidFill>
            <a:srgbClr val="F59E0B"/>
          </a:solidFill>
          <a:ln w="12700">
            <a:solidFill>
              <a:srgbClr val="F59E0B"/>
            </a:solidFill>
            <a:prstDash val="solid"/>
          </a:ln>
        </p:spPr>
        <p:txBody>
          <a:bodyPr/>
          <a:lstStyle/>
          <a:p>
            <a:endParaRPr lang="en-MY" sz="2800"/>
          </a:p>
        </p:txBody>
      </p:sp>
      <p:sp>
        <p:nvSpPr>
          <p:cNvPr id="23" name="Text 21"/>
          <p:cNvSpPr/>
          <p:nvPr/>
        </p:nvSpPr>
        <p:spPr>
          <a:xfrm>
            <a:off x="868680" y="5257800"/>
            <a:ext cx="2286000" cy="77724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Operations</a:t>
            </a:r>
            <a:endParaRPr lang="en-US" sz="2800" dirty="0"/>
          </a:p>
        </p:txBody>
      </p:sp>
      <p:sp>
        <p:nvSpPr>
          <p:cNvPr id="24" name="Text 22"/>
          <p:cNvSpPr/>
          <p:nvPr/>
        </p:nvSpPr>
        <p:spPr>
          <a:xfrm>
            <a:off x="3200400" y="5257800"/>
            <a:ext cx="8503920" cy="77724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Logging, monitoring, alerts, regular updates.</a:t>
            </a:r>
            <a:endParaRPr lang="en-US" sz="2800" dirty="0"/>
          </a:p>
        </p:txBody>
      </p:sp>
      <p:sp>
        <p:nvSpPr>
          <p:cNvPr id="25" name="Text 2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26" name="Text 24"/>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DON'T DO THESE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Common Security Pitfalls</a:t>
            </a:r>
            <a:endParaRPr lang="en-US" sz="3200" dirty="0"/>
          </a:p>
        </p:txBody>
      </p:sp>
      <p:sp>
        <p:nvSpPr>
          <p:cNvPr id="4" name="Shape 2"/>
          <p:cNvSpPr/>
          <p:nvPr/>
        </p:nvSpPr>
        <p:spPr>
          <a:xfrm>
            <a:off x="548640" y="137160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777240" y="164592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6" name="Text 4"/>
          <p:cNvSpPr/>
          <p:nvPr/>
        </p:nvSpPr>
        <p:spPr>
          <a:xfrm>
            <a:off x="777240" y="164592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1417320" y="155448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Trusting client-side checks</a:t>
            </a:r>
            <a:endParaRPr lang="en-US" sz="2400" dirty="0"/>
          </a:p>
        </p:txBody>
      </p:sp>
      <p:sp>
        <p:nvSpPr>
          <p:cNvPr id="8" name="Text 6"/>
          <p:cNvSpPr/>
          <p:nvPr/>
        </p:nvSpPr>
        <p:spPr>
          <a:xfrm>
            <a:off x="1417320" y="2011680"/>
            <a:ext cx="4572000" cy="64008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JS validation is for UX only. Always re-validate on the server.</a:t>
            </a:r>
            <a:endParaRPr lang="en-US" sz="2400" dirty="0">
              <a:solidFill>
                <a:srgbClr val="0070C0"/>
              </a:solidFill>
            </a:endParaRPr>
          </a:p>
        </p:txBody>
      </p:sp>
      <p:sp>
        <p:nvSpPr>
          <p:cNvPr id="9" name="Shape 7"/>
          <p:cNvSpPr/>
          <p:nvPr/>
        </p:nvSpPr>
        <p:spPr>
          <a:xfrm>
            <a:off x="6309360" y="137160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0" name="Shape 8"/>
          <p:cNvSpPr/>
          <p:nvPr/>
        </p:nvSpPr>
        <p:spPr>
          <a:xfrm>
            <a:off x="6537960" y="164592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11" name="Text 9"/>
          <p:cNvSpPr/>
          <p:nvPr/>
        </p:nvSpPr>
        <p:spPr>
          <a:xfrm>
            <a:off x="6537960" y="164592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7178040" y="155448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Returning raw error messages</a:t>
            </a:r>
            <a:endParaRPr lang="en-US" sz="2400" dirty="0"/>
          </a:p>
        </p:txBody>
      </p:sp>
      <p:sp>
        <p:nvSpPr>
          <p:cNvPr id="13" name="Text 11"/>
          <p:cNvSpPr/>
          <p:nvPr/>
        </p:nvSpPr>
        <p:spPr>
          <a:xfrm>
            <a:off x="7178040" y="2011680"/>
            <a:ext cx="4572000" cy="64008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Stack traces and SQL errors are gold for attackers.</a:t>
            </a:r>
            <a:endParaRPr lang="en-US" sz="2400" dirty="0">
              <a:solidFill>
                <a:srgbClr val="0070C0"/>
              </a:solidFill>
            </a:endParaRPr>
          </a:p>
        </p:txBody>
      </p:sp>
      <p:sp>
        <p:nvSpPr>
          <p:cNvPr id="14" name="Shape 12"/>
          <p:cNvSpPr/>
          <p:nvPr/>
        </p:nvSpPr>
        <p:spPr>
          <a:xfrm>
            <a:off x="548640" y="292608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5" name="Shape 13"/>
          <p:cNvSpPr/>
          <p:nvPr/>
        </p:nvSpPr>
        <p:spPr>
          <a:xfrm>
            <a:off x="777240" y="320040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16" name="Text 14"/>
          <p:cNvSpPr/>
          <p:nvPr/>
        </p:nvSpPr>
        <p:spPr>
          <a:xfrm>
            <a:off x="777240" y="32004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1417320" y="310896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Wildcard CORS with credentials</a:t>
            </a:r>
            <a:endParaRPr lang="en-US" sz="2400" dirty="0"/>
          </a:p>
        </p:txBody>
      </p:sp>
      <p:sp>
        <p:nvSpPr>
          <p:cNvPr id="18" name="Text 16"/>
          <p:cNvSpPr/>
          <p:nvPr/>
        </p:nvSpPr>
        <p:spPr>
          <a:xfrm>
            <a:off x="1417320" y="3566160"/>
            <a:ext cx="4572000" cy="64008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Browsers reject this combination — fix the origins list.</a:t>
            </a:r>
            <a:endParaRPr lang="en-US" sz="2400" dirty="0">
              <a:solidFill>
                <a:srgbClr val="0070C0"/>
              </a:solidFill>
            </a:endParaRPr>
          </a:p>
        </p:txBody>
      </p:sp>
      <p:sp>
        <p:nvSpPr>
          <p:cNvPr id="19" name="Shape 17"/>
          <p:cNvSpPr/>
          <p:nvPr/>
        </p:nvSpPr>
        <p:spPr>
          <a:xfrm>
            <a:off x="6309360" y="292608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0" name="Shape 18"/>
          <p:cNvSpPr/>
          <p:nvPr/>
        </p:nvSpPr>
        <p:spPr>
          <a:xfrm>
            <a:off x="6537960" y="320040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21" name="Text 19"/>
          <p:cNvSpPr/>
          <p:nvPr/>
        </p:nvSpPr>
        <p:spPr>
          <a:xfrm>
            <a:off x="6537960" y="32004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7178040" y="310896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Long-lived bearer tokens</a:t>
            </a:r>
            <a:endParaRPr lang="en-US" sz="2400" dirty="0"/>
          </a:p>
        </p:txBody>
      </p:sp>
      <p:sp>
        <p:nvSpPr>
          <p:cNvPr id="23" name="Text 21"/>
          <p:cNvSpPr/>
          <p:nvPr/>
        </p:nvSpPr>
        <p:spPr>
          <a:xfrm>
            <a:off x="7178040" y="3566160"/>
            <a:ext cx="4572000" cy="64008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Keep TTL short. Use refresh tokens for usability.</a:t>
            </a:r>
            <a:endParaRPr lang="en-US" sz="2400" dirty="0">
              <a:solidFill>
                <a:srgbClr val="0070C0"/>
              </a:solidFill>
            </a:endParaRPr>
          </a:p>
        </p:txBody>
      </p:sp>
      <p:sp>
        <p:nvSpPr>
          <p:cNvPr id="24" name="Shape 22"/>
          <p:cNvSpPr/>
          <p:nvPr/>
        </p:nvSpPr>
        <p:spPr>
          <a:xfrm>
            <a:off x="548640" y="448056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5" name="Shape 23"/>
          <p:cNvSpPr/>
          <p:nvPr/>
        </p:nvSpPr>
        <p:spPr>
          <a:xfrm>
            <a:off x="777240" y="4754880"/>
            <a:ext cx="502920" cy="502920"/>
          </a:xfrm>
          <a:prstGeom prst="ellipse">
            <a:avLst/>
          </a:prstGeom>
          <a:solidFill>
            <a:srgbClr val="10B981"/>
          </a:solidFill>
          <a:ln w="12700">
            <a:solidFill>
              <a:srgbClr val="10B981"/>
            </a:solidFill>
            <a:prstDash val="solid"/>
          </a:ln>
        </p:spPr>
        <p:txBody>
          <a:bodyPr/>
          <a:lstStyle/>
          <a:p>
            <a:endParaRPr lang="en-MY" sz="2400"/>
          </a:p>
        </p:txBody>
      </p:sp>
      <p:sp>
        <p:nvSpPr>
          <p:cNvPr id="26" name="Text 24"/>
          <p:cNvSpPr/>
          <p:nvPr/>
        </p:nvSpPr>
        <p:spPr>
          <a:xfrm>
            <a:off x="777240" y="47548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1417320" y="466344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Whitelist, don't blacklist</a:t>
            </a:r>
            <a:endParaRPr lang="en-US" sz="2400" dirty="0"/>
          </a:p>
        </p:txBody>
      </p:sp>
      <p:sp>
        <p:nvSpPr>
          <p:cNvPr id="28" name="Text 26"/>
          <p:cNvSpPr/>
          <p:nvPr/>
        </p:nvSpPr>
        <p:spPr>
          <a:xfrm>
            <a:off x="1417320" y="5120640"/>
            <a:ext cx="4572000" cy="64008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Define what's allowed; reject the rest.</a:t>
            </a:r>
            <a:endParaRPr lang="en-US" sz="2400" dirty="0">
              <a:solidFill>
                <a:srgbClr val="0070C0"/>
              </a:solidFill>
            </a:endParaRPr>
          </a:p>
        </p:txBody>
      </p:sp>
      <p:sp>
        <p:nvSpPr>
          <p:cNvPr id="29" name="Shape 27"/>
          <p:cNvSpPr/>
          <p:nvPr/>
        </p:nvSpPr>
        <p:spPr>
          <a:xfrm>
            <a:off x="6309360" y="448056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0" name="Shape 28"/>
          <p:cNvSpPr/>
          <p:nvPr/>
        </p:nvSpPr>
        <p:spPr>
          <a:xfrm>
            <a:off x="6537960" y="4754880"/>
            <a:ext cx="502920" cy="502920"/>
          </a:xfrm>
          <a:prstGeom prst="ellipse">
            <a:avLst/>
          </a:prstGeom>
          <a:solidFill>
            <a:srgbClr val="10B981"/>
          </a:solidFill>
          <a:ln w="12700">
            <a:solidFill>
              <a:srgbClr val="10B981"/>
            </a:solidFill>
            <a:prstDash val="solid"/>
          </a:ln>
        </p:spPr>
        <p:txBody>
          <a:bodyPr/>
          <a:lstStyle/>
          <a:p>
            <a:endParaRPr lang="en-MY" sz="2400"/>
          </a:p>
        </p:txBody>
      </p:sp>
      <p:sp>
        <p:nvSpPr>
          <p:cNvPr id="31" name="Text 29"/>
          <p:cNvSpPr/>
          <p:nvPr/>
        </p:nvSpPr>
        <p:spPr>
          <a:xfrm>
            <a:off x="6537960" y="47548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2" name="Text 30"/>
          <p:cNvSpPr/>
          <p:nvPr/>
        </p:nvSpPr>
        <p:spPr>
          <a:xfrm>
            <a:off x="7178040" y="466344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Patch dependencies regularly</a:t>
            </a:r>
            <a:endParaRPr lang="en-US" sz="2400" dirty="0"/>
          </a:p>
        </p:txBody>
      </p:sp>
      <p:sp>
        <p:nvSpPr>
          <p:cNvPr id="33" name="Text 31"/>
          <p:cNvSpPr/>
          <p:nvPr/>
        </p:nvSpPr>
        <p:spPr>
          <a:xfrm>
            <a:off x="7178040" y="5120640"/>
            <a:ext cx="4572000" cy="64008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Composer audit / npm audit; subscribe to GitHub advisories.</a:t>
            </a:r>
            <a:endParaRPr lang="en-US" sz="2400" dirty="0">
              <a:solidFill>
                <a:srgbClr val="0070C0"/>
              </a:solidFill>
            </a:endParaRPr>
          </a:p>
        </p:txBody>
      </p:sp>
      <p:sp>
        <p:nvSpPr>
          <p:cNvPr id="34" name="Text 3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35" name="Text 33"/>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WHAT YOU NOW KNOW</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065A82"/>
                </a:solidFill>
                <a:latin typeface="Calibri" pitchFamily="34" charset="0"/>
                <a:ea typeface="Calibri" pitchFamily="34" charset="-122"/>
                <a:cs typeface="Calibri" pitchFamily="34" charset="-120"/>
              </a:rPr>
              <a:t>Summary — Chapter 12</a:t>
            </a:r>
            <a:endParaRPr lang="en-US" sz="3200" dirty="0"/>
          </a:p>
        </p:txBody>
      </p:sp>
      <p:sp>
        <p:nvSpPr>
          <p:cNvPr id="4" name="Shape 2"/>
          <p:cNvSpPr/>
          <p:nvPr/>
        </p:nvSpPr>
        <p:spPr>
          <a:xfrm>
            <a:off x="548640" y="14173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548640" y="14173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6" name="Text 4"/>
          <p:cNvSpPr/>
          <p:nvPr/>
        </p:nvSpPr>
        <p:spPr>
          <a:xfrm>
            <a:off x="868680" y="14173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Threats</a:t>
            </a:r>
            <a:endParaRPr lang="en-US" sz="2400" dirty="0"/>
          </a:p>
        </p:txBody>
      </p:sp>
      <p:sp>
        <p:nvSpPr>
          <p:cNvPr id="7" name="Text 5"/>
          <p:cNvSpPr/>
          <p:nvPr/>
        </p:nvSpPr>
        <p:spPr>
          <a:xfrm>
            <a:off x="3017520" y="14173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SQLi, XSS, IDOR, CSRF, tampering — every API faces all of them.</a:t>
            </a:r>
            <a:endParaRPr lang="en-US" sz="2400" dirty="0"/>
          </a:p>
        </p:txBody>
      </p:sp>
      <p:sp>
        <p:nvSpPr>
          <p:cNvPr id="8" name="Shape 6"/>
          <p:cNvSpPr/>
          <p:nvPr/>
        </p:nvSpPr>
        <p:spPr>
          <a:xfrm>
            <a:off x="548640" y="21031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9" name="Shape 7"/>
          <p:cNvSpPr/>
          <p:nvPr/>
        </p:nvSpPr>
        <p:spPr>
          <a:xfrm>
            <a:off x="548640" y="21031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10" name="Text 8"/>
          <p:cNvSpPr/>
          <p:nvPr/>
        </p:nvSpPr>
        <p:spPr>
          <a:xfrm>
            <a:off x="868680" y="21031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Validate</a:t>
            </a:r>
            <a:endParaRPr lang="en-US" sz="2400" dirty="0"/>
          </a:p>
        </p:txBody>
      </p:sp>
      <p:sp>
        <p:nvSpPr>
          <p:cNvPr id="11" name="Text 9"/>
          <p:cNvSpPr/>
          <p:nvPr/>
        </p:nvSpPr>
        <p:spPr>
          <a:xfrm>
            <a:off x="3017520" y="21031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Whitelist on the server. Client-side validation is just for UX.</a:t>
            </a:r>
            <a:endParaRPr lang="en-US" sz="2400" dirty="0"/>
          </a:p>
        </p:txBody>
      </p:sp>
      <p:sp>
        <p:nvSpPr>
          <p:cNvPr id="12" name="Shape 10"/>
          <p:cNvSpPr/>
          <p:nvPr/>
        </p:nvSpPr>
        <p:spPr>
          <a:xfrm>
            <a:off x="548640" y="27889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3" name="Shape 11"/>
          <p:cNvSpPr/>
          <p:nvPr/>
        </p:nvSpPr>
        <p:spPr>
          <a:xfrm>
            <a:off x="548640" y="27889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14" name="Text 12"/>
          <p:cNvSpPr/>
          <p:nvPr/>
        </p:nvSpPr>
        <p:spPr>
          <a:xfrm>
            <a:off x="868680" y="27889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Encode</a:t>
            </a:r>
            <a:endParaRPr lang="en-US" sz="2400" dirty="0"/>
          </a:p>
        </p:txBody>
      </p:sp>
      <p:sp>
        <p:nvSpPr>
          <p:cNvPr id="15" name="Text 13"/>
          <p:cNvSpPr/>
          <p:nvPr/>
        </p:nvSpPr>
        <p:spPr>
          <a:xfrm>
            <a:off x="3017520" y="27889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Escape on output (Vue mustache, htmlspecialchars) to neutralise XSS.</a:t>
            </a:r>
            <a:endParaRPr lang="en-US" sz="2400" dirty="0"/>
          </a:p>
        </p:txBody>
      </p:sp>
      <p:sp>
        <p:nvSpPr>
          <p:cNvPr id="16" name="Shape 14"/>
          <p:cNvSpPr/>
          <p:nvPr/>
        </p:nvSpPr>
        <p:spPr>
          <a:xfrm>
            <a:off x="548640" y="34747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7" name="Shape 15"/>
          <p:cNvSpPr/>
          <p:nvPr/>
        </p:nvSpPr>
        <p:spPr>
          <a:xfrm>
            <a:off x="548640" y="34747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18" name="Text 16"/>
          <p:cNvSpPr/>
          <p:nvPr/>
        </p:nvSpPr>
        <p:spPr>
          <a:xfrm>
            <a:off x="868680" y="34747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Authorise</a:t>
            </a:r>
            <a:endParaRPr lang="en-US" sz="2400" dirty="0"/>
          </a:p>
        </p:txBody>
      </p:sp>
      <p:sp>
        <p:nvSpPr>
          <p:cNvPr id="19" name="Text 17"/>
          <p:cNvSpPr/>
          <p:nvPr/>
        </p:nvSpPr>
        <p:spPr>
          <a:xfrm>
            <a:off x="3017520" y="34747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After AuthN, check ownership/role for every state-changing action.</a:t>
            </a:r>
            <a:endParaRPr lang="en-US" sz="2400" dirty="0"/>
          </a:p>
        </p:txBody>
      </p:sp>
      <p:sp>
        <p:nvSpPr>
          <p:cNvPr id="20" name="Shape 18"/>
          <p:cNvSpPr/>
          <p:nvPr/>
        </p:nvSpPr>
        <p:spPr>
          <a:xfrm>
            <a:off x="548640" y="41605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1" name="Shape 19"/>
          <p:cNvSpPr/>
          <p:nvPr/>
        </p:nvSpPr>
        <p:spPr>
          <a:xfrm>
            <a:off x="548640" y="41605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22" name="Text 20"/>
          <p:cNvSpPr/>
          <p:nvPr/>
        </p:nvSpPr>
        <p:spPr>
          <a:xfrm>
            <a:off x="868680" y="41605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Headers</a:t>
            </a:r>
            <a:endParaRPr lang="en-US" sz="2400" dirty="0"/>
          </a:p>
        </p:txBody>
      </p:sp>
      <p:sp>
        <p:nvSpPr>
          <p:cNvPr id="23" name="Text 21"/>
          <p:cNvSpPr/>
          <p:nvPr/>
        </p:nvSpPr>
        <p:spPr>
          <a:xfrm>
            <a:off x="3017520" y="41605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Send X-Frame-Options, X-Content-Type-Options, CSP, HSTS by default.</a:t>
            </a:r>
            <a:endParaRPr lang="en-US" sz="2400" dirty="0"/>
          </a:p>
        </p:txBody>
      </p:sp>
      <p:sp>
        <p:nvSpPr>
          <p:cNvPr id="24" name="Shape 22"/>
          <p:cNvSpPr/>
          <p:nvPr/>
        </p:nvSpPr>
        <p:spPr>
          <a:xfrm>
            <a:off x="548640" y="48463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5" name="Shape 23"/>
          <p:cNvSpPr/>
          <p:nvPr/>
        </p:nvSpPr>
        <p:spPr>
          <a:xfrm>
            <a:off x="548640" y="48463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26" name="Text 24"/>
          <p:cNvSpPr/>
          <p:nvPr/>
        </p:nvSpPr>
        <p:spPr>
          <a:xfrm>
            <a:off x="868680" y="48463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Rate limit</a:t>
            </a:r>
            <a:endParaRPr lang="en-US" sz="2400" dirty="0"/>
          </a:p>
        </p:txBody>
      </p:sp>
      <p:sp>
        <p:nvSpPr>
          <p:cNvPr id="27" name="Text 25"/>
          <p:cNvSpPr/>
          <p:nvPr/>
        </p:nvSpPr>
        <p:spPr>
          <a:xfrm>
            <a:off x="3017520" y="48463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Slow brute force on /auth/login and other sensitive endpoints.</a:t>
            </a:r>
            <a:endParaRPr lang="en-US" sz="2400" dirty="0"/>
          </a:p>
        </p:txBody>
      </p:sp>
      <p:sp>
        <p:nvSpPr>
          <p:cNvPr id="28" name="Shape 26"/>
          <p:cNvSpPr/>
          <p:nvPr/>
        </p:nvSpPr>
        <p:spPr>
          <a:xfrm>
            <a:off x="548640" y="5532120"/>
            <a:ext cx="11247120" cy="5943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9" name="Shape 27"/>
          <p:cNvSpPr/>
          <p:nvPr/>
        </p:nvSpPr>
        <p:spPr>
          <a:xfrm>
            <a:off x="548640" y="5532120"/>
            <a:ext cx="164592" cy="594360"/>
          </a:xfrm>
          <a:prstGeom prst="rect">
            <a:avLst/>
          </a:prstGeom>
          <a:solidFill>
            <a:srgbClr val="F59E0B"/>
          </a:solidFill>
          <a:ln w="12700">
            <a:solidFill>
              <a:srgbClr val="F59E0B"/>
            </a:solidFill>
            <a:prstDash val="solid"/>
          </a:ln>
        </p:spPr>
        <p:txBody>
          <a:bodyPr/>
          <a:lstStyle/>
          <a:p>
            <a:endParaRPr lang="en-MY" sz="2400"/>
          </a:p>
        </p:txBody>
      </p:sp>
      <p:sp>
        <p:nvSpPr>
          <p:cNvPr id="30" name="Text 28"/>
          <p:cNvSpPr/>
          <p:nvPr/>
        </p:nvSpPr>
        <p:spPr>
          <a:xfrm>
            <a:off x="868680" y="5532120"/>
            <a:ext cx="2103120" cy="5943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Layered</a:t>
            </a:r>
            <a:endParaRPr lang="en-US" sz="2400" dirty="0"/>
          </a:p>
        </p:txBody>
      </p:sp>
      <p:sp>
        <p:nvSpPr>
          <p:cNvPr id="31" name="Text 29"/>
          <p:cNvSpPr/>
          <p:nvPr/>
        </p:nvSpPr>
        <p:spPr>
          <a:xfrm>
            <a:off x="3017520" y="5532120"/>
            <a:ext cx="8686800" cy="59436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Defense in depth — no single control is enough.</a:t>
            </a:r>
            <a:endParaRPr lang="en-US" sz="2400" dirty="0"/>
          </a:p>
        </p:txBody>
      </p:sp>
      <p:sp>
        <p:nvSpPr>
          <p:cNvPr id="32" name="Text 3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SCSM2223 • Chapter 12 • Backend Security and Best Practices</a:t>
            </a:r>
            <a:endParaRPr lang="en-US" sz="900" dirty="0"/>
          </a:p>
        </p:txBody>
      </p:sp>
      <p:sp>
        <p:nvSpPr>
          <p:cNvPr id="33" name="Text 31"/>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59E0B"/>
          </a:solidFill>
          <a:ln w="12700">
            <a:solidFill>
              <a:srgbClr val="F59E0B"/>
            </a:solidFill>
            <a:prstDash val="solid"/>
          </a:ln>
        </p:spPr>
        <p:txBody>
          <a:bodyPr/>
          <a:lstStyle/>
          <a:p>
            <a:endParaRPr lang="en-MY"/>
          </a:p>
        </p:txBody>
      </p:sp>
      <p:sp>
        <p:nvSpPr>
          <p:cNvPr id="3" name="Text 1"/>
          <p:cNvSpPr/>
          <p:nvPr/>
        </p:nvSpPr>
        <p:spPr>
          <a:xfrm>
            <a:off x="822960" y="1280160"/>
            <a:ext cx="10972800" cy="548640"/>
          </a:xfrm>
          <a:prstGeom prst="rect">
            <a:avLst/>
          </a:prstGeom>
          <a:noFill/>
          <a:ln/>
        </p:spPr>
        <p:txBody>
          <a:bodyPr wrap="square" lIns="0" tIns="0" rIns="0" bIns="0" rtlCol="0" anchor="ctr"/>
          <a:lstStyle/>
          <a:p>
            <a:pPr marL="0" indent="0">
              <a:buNone/>
            </a:pPr>
            <a:r>
              <a:rPr lang="en-US" sz="1800" b="1" kern="0" spc="600" dirty="0">
                <a:solidFill>
                  <a:srgbClr val="F59E0B"/>
                </a:solidFill>
                <a:latin typeface="Calibri" pitchFamily="34" charset="0"/>
                <a:ea typeface="Calibri" pitchFamily="34" charset="-122"/>
                <a:cs typeface="Calibri" pitchFamily="34" charset="-120"/>
              </a:rPr>
              <a:t>Next Up</a:t>
            </a:r>
            <a:endParaRPr lang="en-US" sz="1800" dirty="0"/>
          </a:p>
        </p:txBody>
      </p:sp>
      <p:sp>
        <p:nvSpPr>
          <p:cNvPr id="4" name="Text 2"/>
          <p:cNvSpPr/>
          <p:nvPr/>
        </p:nvSpPr>
        <p:spPr>
          <a:xfrm>
            <a:off x="822960" y="1828800"/>
            <a:ext cx="10972800" cy="109728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Lab Hands-On — Harden the Books API</a:t>
            </a:r>
            <a:endParaRPr lang="en-US" sz="3800" dirty="0"/>
          </a:p>
        </p:txBody>
      </p:sp>
      <p:sp>
        <p:nvSpPr>
          <p:cNvPr id="5" name="Text 3"/>
          <p:cNvSpPr/>
          <p:nvPr/>
        </p:nvSpPr>
        <p:spPr>
          <a:xfrm>
            <a:off x="822960" y="3108960"/>
            <a:ext cx="10972800" cy="914400"/>
          </a:xfrm>
          <a:prstGeom prst="rect">
            <a:avLst/>
          </a:prstGeom>
          <a:noFill/>
          <a:ln/>
        </p:spPr>
        <p:txBody>
          <a:bodyPr wrap="square" lIns="0" tIns="0" rIns="0" bIns="0" rtlCol="0" anchor="ctr"/>
          <a:lstStyle/>
          <a:p>
            <a:pPr marL="0" indent="0">
              <a:buNone/>
            </a:pPr>
            <a:r>
              <a:rPr lang="en-US" sz="2400" dirty="0">
                <a:solidFill>
                  <a:srgbClr val="CADCFC"/>
                </a:solidFill>
                <a:latin typeface="Calibri" pitchFamily="34" charset="0"/>
                <a:ea typeface="Calibri" pitchFamily="34" charset="-122"/>
                <a:cs typeface="Calibri" pitchFamily="34" charset="-120"/>
              </a:rPr>
              <a:t>Take the Chapter 11 API and add real security: input validation, output encoding, security headers, rate limiting, and IDOR protection.</a:t>
            </a:r>
            <a:endParaRPr lang="en-US" sz="2400" dirty="0"/>
          </a:p>
        </p:txBody>
      </p:sp>
      <p:sp>
        <p:nvSpPr>
          <p:cNvPr id="6" name="Shape 4"/>
          <p:cNvSpPr/>
          <p:nvPr/>
        </p:nvSpPr>
        <p:spPr>
          <a:xfrm>
            <a:off x="822960" y="4206240"/>
            <a:ext cx="274320" cy="274320"/>
          </a:xfrm>
          <a:prstGeom prst="ellipse">
            <a:avLst/>
          </a:prstGeom>
          <a:solidFill>
            <a:srgbClr val="F59E0B"/>
          </a:solidFill>
          <a:ln w="12700">
            <a:solidFill>
              <a:srgbClr val="F59E0B"/>
            </a:solidFill>
            <a:prstDash val="solid"/>
          </a:ln>
        </p:spPr>
        <p:txBody>
          <a:bodyPr/>
          <a:lstStyle/>
          <a:p>
            <a:endParaRPr lang="en-MY" sz="2400"/>
          </a:p>
        </p:txBody>
      </p:sp>
      <p:sp>
        <p:nvSpPr>
          <p:cNvPr id="7" name="Text 5"/>
          <p:cNvSpPr/>
          <p:nvPr/>
        </p:nvSpPr>
        <p:spPr>
          <a:xfrm>
            <a:off x="1280160" y="4160520"/>
            <a:ext cx="10058400" cy="36576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Tighten input validation (Validator helper)</a:t>
            </a:r>
            <a:endParaRPr lang="en-US" sz="2400" dirty="0"/>
          </a:p>
        </p:txBody>
      </p:sp>
      <p:sp>
        <p:nvSpPr>
          <p:cNvPr id="8" name="Shape 6"/>
          <p:cNvSpPr/>
          <p:nvPr/>
        </p:nvSpPr>
        <p:spPr>
          <a:xfrm>
            <a:off x="822960" y="4572000"/>
            <a:ext cx="274320" cy="274320"/>
          </a:xfrm>
          <a:prstGeom prst="ellipse">
            <a:avLst/>
          </a:prstGeom>
          <a:solidFill>
            <a:srgbClr val="F59E0B"/>
          </a:solidFill>
          <a:ln w="12700">
            <a:solidFill>
              <a:srgbClr val="F59E0B"/>
            </a:solidFill>
            <a:prstDash val="solid"/>
          </a:ln>
        </p:spPr>
        <p:txBody>
          <a:bodyPr/>
          <a:lstStyle/>
          <a:p>
            <a:endParaRPr lang="en-MY" sz="2400"/>
          </a:p>
        </p:txBody>
      </p:sp>
      <p:sp>
        <p:nvSpPr>
          <p:cNvPr id="9" name="Text 7"/>
          <p:cNvSpPr/>
          <p:nvPr/>
        </p:nvSpPr>
        <p:spPr>
          <a:xfrm>
            <a:off x="1280160" y="4526280"/>
            <a:ext cx="10058400" cy="36576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Encode JSON output safely (XSS for /search renderers)</a:t>
            </a:r>
            <a:endParaRPr lang="en-US" sz="2400" dirty="0"/>
          </a:p>
        </p:txBody>
      </p:sp>
      <p:sp>
        <p:nvSpPr>
          <p:cNvPr id="10" name="Shape 8"/>
          <p:cNvSpPr/>
          <p:nvPr/>
        </p:nvSpPr>
        <p:spPr>
          <a:xfrm>
            <a:off x="822960" y="4937760"/>
            <a:ext cx="274320" cy="274320"/>
          </a:xfrm>
          <a:prstGeom prst="ellipse">
            <a:avLst/>
          </a:prstGeom>
          <a:solidFill>
            <a:srgbClr val="F59E0B"/>
          </a:solidFill>
          <a:ln w="12700">
            <a:solidFill>
              <a:srgbClr val="F59E0B"/>
            </a:solidFill>
            <a:prstDash val="solid"/>
          </a:ln>
        </p:spPr>
        <p:txBody>
          <a:bodyPr/>
          <a:lstStyle/>
          <a:p>
            <a:endParaRPr lang="en-MY" sz="2400"/>
          </a:p>
        </p:txBody>
      </p:sp>
      <p:sp>
        <p:nvSpPr>
          <p:cNvPr id="11" name="Text 9"/>
          <p:cNvSpPr/>
          <p:nvPr/>
        </p:nvSpPr>
        <p:spPr>
          <a:xfrm>
            <a:off x="1280160" y="4892040"/>
            <a:ext cx="10058400" cy="36576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Add Security-headers middleware</a:t>
            </a:r>
            <a:endParaRPr lang="en-US" sz="2400" dirty="0"/>
          </a:p>
        </p:txBody>
      </p:sp>
      <p:sp>
        <p:nvSpPr>
          <p:cNvPr id="12" name="Shape 10"/>
          <p:cNvSpPr/>
          <p:nvPr/>
        </p:nvSpPr>
        <p:spPr>
          <a:xfrm>
            <a:off x="822960" y="5303520"/>
            <a:ext cx="274320" cy="274320"/>
          </a:xfrm>
          <a:prstGeom prst="ellipse">
            <a:avLst/>
          </a:prstGeom>
          <a:solidFill>
            <a:srgbClr val="F59E0B"/>
          </a:solidFill>
          <a:ln w="12700">
            <a:solidFill>
              <a:srgbClr val="F59E0B"/>
            </a:solidFill>
            <a:prstDash val="solid"/>
          </a:ln>
        </p:spPr>
        <p:txBody>
          <a:bodyPr/>
          <a:lstStyle/>
          <a:p>
            <a:endParaRPr lang="en-MY" sz="2400"/>
          </a:p>
        </p:txBody>
      </p:sp>
      <p:sp>
        <p:nvSpPr>
          <p:cNvPr id="13" name="Text 11"/>
          <p:cNvSpPr/>
          <p:nvPr/>
        </p:nvSpPr>
        <p:spPr>
          <a:xfrm>
            <a:off x="1280160" y="5257800"/>
            <a:ext cx="10058400" cy="36576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Add /auth/login rate-limit middleware (429)</a:t>
            </a:r>
            <a:endParaRPr lang="en-US" sz="2400" dirty="0"/>
          </a:p>
        </p:txBody>
      </p:sp>
      <p:sp>
        <p:nvSpPr>
          <p:cNvPr id="14" name="Shape 12"/>
          <p:cNvSpPr/>
          <p:nvPr/>
        </p:nvSpPr>
        <p:spPr>
          <a:xfrm>
            <a:off x="822960" y="5669280"/>
            <a:ext cx="274320" cy="274320"/>
          </a:xfrm>
          <a:prstGeom prst="ellipse">
            <a:avLst/>
          </a:prstGeom>
          <a:solidFill>
            <a:srgbClr val="F59E0B"/>
          </a:solidFill>
          <a:ln w="12700">
            <a:solidFill>
              <a:srgbClr val="F59E0B"/>
            </a:solidFill>
            <a:prstDash val="solid"/>
          </a:ln>
        </p:spPr>
        <p:txBody>
          <a:bodyPr/>
          <a:lstStyle/>
          <a:p>
            <a:endParaRPr lang="en-MY" sz="2400"/>
          </a:p>
        </p:txBody>
      </p:sp>
      <p:sp>
        <p:nvSpPr>
          <p:cNvPr id="15" name="Text 13"/>
          <p:cNvSpPr/>
          <p:nvPr/>
        </p:nvSpPr>
        <p:spPr>
          <a:xfrm>
            <a:off x="1280160" y="5623560"/>
            <a:ext cx="10058400" cy="36576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Add ownership column on books → IDOR test</a:t>
            </a:r>
            <a:endParaRPr lang="en-US" sz="2400" dirty="0"/>
          </a:p>
        </p:txBody>
      </p:sp>
      <p:sp>
        <p:nvSpPr>
          <p:cNvPr id="16" name="Shape 14"/>
          <p:cNvSpPr/>
          <p:nvPr/>
        </p:nvSpPr>
        <p:spPr>
          <a:xfrm>
            <a:off x="822960" y="6035040"/>
            <a:ext cx="274320" cy="274320"/>
          </a:xfrm>
          <a:prstGeom prst="ellipse">
            <a:avLst/>
          </a:prstGeom>
          <a:solidFill>
            <a:srgbClr val="F59E0B"/>
          </a:solidFill>
          <a:ln w="12700">
            <a:solidFill>
              <a:srgbClr val="F59E0B"/>
            </a:solidFill>
            <a:prstDash val="solid"/>
          </a:ln>
        </p:spPr>
        <p:txBody>
          <a:bodyPr/>
          <a:lstStyle/>
          <a:p>
            <a:endParaRPr lang="en-MY" sz="2400"/>
          </a:p>
        </p:txBody>
      </p:sp>
      <p:sp>
        <p:nvSpPr>
          <p:cNvPr id="17" name="Text 15"/>
          <p:cNvSpPr/>
          <p:nvPr/>
        </p:nvSpPr>
        <p:spPr>
          <a:xfrm>
            <a:off x="1280160" y="5989320"/>
            <a:ext cx="10058400" cy="36576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Lock down CORS to a known list of origins</a:t>
            </a:r>
            <a:endParaRPr lang="en-US" sz="2400" dirty="0"/>
          </a:p>
        </p:txBody>
      </p:sp>
      <p:sp>
        <p:nvSpPr>
          <p:cNvPr id="18" name="Text 1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2400" dirty="0">
                <a:solidFill>
                  <a:srgbClr val="64748B"/>
                </a:solidFill>
                <a:latin typeface="Calibri" pitchFamily="34" charset="0"/>
                <a:ea typeface="Calibri" pitchFamily="34" charset="-122"/>
                <a:cs typeface="Calibri" pitchFamily="34" charset="-120"/>
              </a:rPr>
              <a:t>20</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630</TotalTime>
  <Words>2597</Words>
  <Application>Microsoft Office PowerPoint</Application>
  <PresentationFormat>Widescreen</PresentationFormat>
  <Paragraphs>391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 Backend Security and Best Practices</dc:title>
  <dc:subject>PptxGenJS Presentation</dc:subject>
  <dc:creator>SCSM2223</dc:creator>
  <cp:lastModifiedBy>HISHAMMUDDIN BIN ASMUNI @ HASMUNI</cp:lastModifiedBy>
  <cp:revision>3</cp:revision>
  <dcterms:created xsi:type="dcterms:W3CDTF">2026-05-07T08:07:46Z</dcterms:created>
  <dcterms:modified xsi:type="dcterms:W3CDTF">2026-06-10T00:15:04Z</dcterms:modified>
</cp:coreProperties>
</file>