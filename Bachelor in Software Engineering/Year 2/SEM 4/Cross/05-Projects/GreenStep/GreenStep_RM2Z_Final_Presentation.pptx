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554480"/>
            <a:ext cx="4206240" cy="4206240"/>
          </a:xfrm>
          <a:prstGeom prst="ellipse">
            <a:avLst/>
          </a:prstGeom>
          <a:noFill/>
          <a:ln w="1778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914400"/>
            <a:ext cx="2743200" cy="2743200"/>
          </a:xfrm>
          <a:prstGeom prst="ellipse">
            <a:avLst/>
          </a:prstGeom>
          <a:noFill/>
          <a:ln w="15240">
            <a:solidFill>
              <a:srgbClr val="1661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-320040"/>
            <a:ext cx="1554480" cy="1554480"/>
          </a:xfrm>
          <a:prstGeom prst="ellipse">
            <a:avLst/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0638129" y="135331"/>
            <a:ext cx="486461" cy="460857"/>
          </a:xfrm>
          <a:custGeom>
            <a:avLst/>
            <a:gdLst/>
            <a:ahLst/>
            <a:cxnLst/>
            <a:rect l="l" t="t" r="r" b="b"/>
            <a:pathLst>
              <a:path w="486461" h="460857">
                <a:moveTo>
                  <a:pt x="0" y="460857"/>
                </a:moveTo>
                <a:lnTo>
                  <a:pt x="486461" y="0"/>
                </a:lnTo>
                <a:lnTo>
                  <a:pt x="473659" y="262433"/>
                </a:lnTo>
                <a:lnTo>
                  <a:pt x="243231" y="460857"/>
                </a:lnTo>
                <a:lnTo>
                  <a:pt x="0" y="460857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0689336" y="173736"/>
            <a:ext cx="384048" cy="384048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0" y="5212080"/>
            <a:ext cx="2743200" cy="2743200"/>
          </a:xfrm>
          <a:prstGeom prst="ellipse">
            <a:avLst/>
          </a:prstGeom>
          <a:noFill/>
          <a:ln w="15240">
            <a:solidFill>
              <a:srgbClr val="1457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035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80">
                <a:solidFill>
                  <a:srgbClr val="4ADE80"/>
                </a:solidFill>
                <a:latin typeface="Calibri"/>
              </a:rPr>
              <a:t>UNIVERSITI TEKNOLOGI MALAYSIA · FACULTY OF COMPUTING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66928"/>
            <a:ext cx="2542032" cy="384048"/>
          </a:xfrm>
          <a:prstGeom prst="roundRect">
            <a:avLst>
              <a:gd name="adj" fmla="val 50000"/>
            </a:avLst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57784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4ADE80"/>
                </a:solidFill>
                <a:latin typeface="Calibri"/>
              </a:rPr>
              <a:t>PR3 FINAL DEMO · PR4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1783080"/>
            <a:ext cx="932688" cy="932688"/>
          </a:xfrm>
          <a:prstGeom prst="ellipse">
            <a:avLst/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82267" y="2061394"/>
            <a:ext cx="396953" cy="376059"/>
          </a:xfrm>
          <a:custGeom>
            <a:avLst/>
            <a:gdLst/>
            <a:ahLst/>
            <a:cxnLst/>
            <a:rect l="l" t="t" r="r" b="b"/>
            <a:pathLst>
              <a:path w="396953" h="376059">
                <a:moveTo>
                  <a:pt x="0" y="376059"/>
                </a:moveTo>
                <a:lnTo>
                  <a:pt x="396953" y="0"/>
                </a:lnTo>
                <a:lnTo>
                  <a:pt x="386506" y="214145"/>
                </a:lnTo>
                <a:lnTo>
                  <a:pt x="198477" y="376059"/>
                </a:lnTo>
                <a:lnTo>
                  <a:pt x="0" y="376059"/>
                </a:lnTo>
                <a:close/>
              </a:path>
            </a:pathLst>
          </a:cu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1224052" y="2092732"/>
            <a:ext cx="313383" cy="31338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29968" y="1591056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5800" b="1" i="0" lang="en-US">
                <a:solidFill>
                  <a:srgbClr val="FFFFFF"/>
                </a:solidFill>
                <a:latin typeface="Calibri"/>
              </a:rPr>
              <a:t>GreenStep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29077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1" lang="en-US">
                <a:solidFill>
                  <a:srgbClr val="4ADE80"/>
                </a:solidFill>
                <a:latin typeface="Calibri"/>
              </a:rPr>
              <a:t>Small daily steps. Measurable climate impact.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3467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0" i="0" lang="en-US">
                <a:solidFill>
                  <a:srgbClr val="C7F0D8"/>
                </a:solidFill>
                <a:latin typeface="Calibri"/>
              </a:rPr>
              <a:t>Personal Carbon Footprint &amp; Eco-Lifestyle Tracker — a cross-platform Vue 3 + PHP Slim 4 system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3895344"/>
            <a:ext cx="79095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886200"/>
            <a:ext cx="7909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Vue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88236" y="3895344"/>
            <a:ext cx="79095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88236" y="3886200"/>
            <a:ext cx="7909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Pinia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25496" y="3895344"/>
            <a:ext cx="1271016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25496" y="3886200"/>
            <a:ext cx="1271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PHP Slim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42816" y="3895344"/>
            <a:ext cx="1367028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3886200"/>
            <a:ext cx="136702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MySQL + PDO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56148" y="3895344"/>
            <a:ext cx="1078992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6148" y="3886200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JWT 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1444" y="3895344"/>
            <a:ext cx="1175004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1444" y="3886200"/>
            <a:ext cx="117500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4ADE80"/>
                </a:solidFill>
                <a:latin typeface="Calibri"/>
              </a:rPr>
              <a:t>Capacitor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7" y="4736592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214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P3 · GreenStep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820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820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RM2Z · Section 02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60730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8426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LECTURER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426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Dr. Hishammuddin B. Asmuni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7336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450324" y="5010912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160">
                <a:solidFill>
                  <a:srgbClr val="4ADE80"/>
                </a:solidFill>
                <a:latin typeface="Calibri"/>
              </a:rPr>
              <a:t>FINAL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50324" y="5303520"/>
            <a:ext cx="24003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1550" b="1" i="0" lang="en-US">
                <a:solidFill>
                  <a:srgbClr val="FFFFFF"/>
                </a:solidFill>
                <a:latin typeface="Calibri"/>
              </a:rPr>
              <a:t>02 July 2026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39428" y="4992624"/>
            <a:ext cx="0" cy="969264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TEAM PROFILE &amp;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Four leads, one integrated 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6824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6579" y="1811975"/>
            <a:ext cx="131673" cy="28968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2540" y="2048987"/>
            <a:ext cx="19751" cy="1975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164592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Zeng Liting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95681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A5E9"/>
                </a:solidFill>
                <a:latin typeface="Calibri"/>
              </a:rPr>
              <a:t>Frontend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A24CS4073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386584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30428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Vue 3 SPA scaffold, Router &amp; Pinia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688336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6060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7 screen-by-screen views, mobile-first CSS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90088"/>
            <a:ext cx="64008" cy="6400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290779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Connected every page to the REST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1481328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6824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21230" y="1825142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47564" y="1843247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21230" y="1923897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47564" y="1942002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21230" y="2022652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47564" y="2040757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164592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Mohammed Mohsen Alsakkaf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1956816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Backend &amp; API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A23CS4026</a:t>
            </a:r>
          </a:p>
        </p:txBody>
      </p:sp>
      <p:sp>
        <p:nvSpPr>
          <p:cNvPr id="29" name="Oval 28"/>
          <p:cNvSpPr/>
          <p:nvPr/>
        </p:nvSpPr>
        <p:spPr>
          <a:xfrm>
            <a:off x="4626864" y="2386584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230428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PHP Slim 4 API · 7 controllers · 20 routes</a:t>
            </a:r>
          </a:p>
        </p:txBody>
      </p:sp>
      <p:sp>
        <p:nvSpPr>
          <p:cNvPr id="31" name="Oval 30"/>
          <p:cNvSpPr/>
          <p:nvPr/>
        </p:nvSpPr>
        <p:spPr>
          <a:xfrm>
            <a:off x="4626864" y="2688336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91456" y="2606040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JWT middleware, CO2 + badge engines</a:t>
            </a:r>
          </a:p>
        </p:txBody>
      </p:sp>
      <p:sp>
        <p:nvSpPr>
          <p:cNvPr id="33" name="Oval 32"/>
          <p:cNvSpPr/>
          <p:nvPr/>
        </p:nvSpPr>
        <p:spPr>
          <a:xfrm>
            <a:off x="4626864" y="2990088"/>
            <a:ext cx="64008" cy="64008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6" y="2907792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JSON envelopes, error handling, API docs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3529584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8096" y="373075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909" y="3903024"/>
            <a:ext cx="237012" cy="1645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909" y="4021531"/>
            <a:ext cx="237012" cy="724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3909" y="3866814"/>
            <a:ext cx="237012" cy="724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3909" y="3866814"/>
            <a:ext cx="237012" cy="72420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44752" y="3694176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Rawan Mohamed Salih Magzob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4005072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7C3AED"/>
                </a:solidFill>
                <a:latin typeface="Calibri"/>
              </a:rPr>
              <a:t>Database &amp; Security Lead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A24CS4066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" y="4434840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4352544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Authoritative MySQL schema &amp; ER model</a:t>
            </a:r>
          </a:p>
        </p:txBody>
      </p:sp>
      <p:sp>
        <p:nvSpPr>
          <p:cNvPr id="45" name="Oval 44"/>
          <p:cNvSpPr/>
          <p:nvPr/>
        </p:nvSpPr>
        <p:spPr>
          <a:xfrm>
            <a:off x="822960" y="4736592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465429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Hardened PDO layer, prepared statements</a:t>
            </a:r>
          </a:p>
        </p:txBody>
      </p:sp>
      <p:sp>
        <p:nvSpPr>
          <p:cNvPr id="47" name="Oval 46"/>
          <p:cNvSpPr/>
          <p:nvPr/>
        </p:nvSpPr>
        <p:spPr>
          <a:xfrm>
            <a:off x="822960" y="5038344"/>
            <a:ext cx="64008" cy="640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" y="49560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JWT/role policy, SECURITY threat model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70832" y="3529584"/>
            <a:ext cx="3529584" cy="1847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0" y="373075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4793650" y="3860231"/>
            <a:ext cx="105339" cy="243596"/>
          </a:xfrm>
          <a:custGeom>
            <a:avLst/>
            <a:gdLst/>
            <a:ahLst/>
            <a:cxnLst/>
            <a:rect l="l" t="t" r="r" b="b"/>
            <a:pathLst>
              <a:path w="105339" h="243596">
                <a:moveTo>
                  <a:pt x="52670" y="0"/>
                </a:moveTo>
                <a:lnTo>
                  <a:pt x="105339" y="144841"/>
                </a:lnTo>
                <a:lnTo>
                  <a:pt x="85588" y="243596"/>
                </a:lnTo>
                <a:lnTo>
                  <a:pt x="19751" y="243596"/>
                </a:lnTo>
                <a:lnTo>
                  <a:pt x="0" y="1448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23277" y="3939235"/>
            <a:ext cx="46085" cy="46085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8656" y="3694176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Zineb Ennabili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48656" y="4005072"/>
            <a:ext cx="2523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59E0B"/>
                </a:solidFill>
                <a:latin typeface="Calibri"/>
              </a:rPr>
              <a:t>DevOps, Mobile &amp; Integration</a:t>
            </a:r>
            <a:r>
              <a:rPr sz="1000" b="0" i="0" lang="en-US">
                <a:solidFill>
                  <a:srgbClr val="6B7C72"/>
                </a:solidFill>
                <a:latin typeface="Calibri"/>
              </a:rPr>
              <a:t>  ·  A24CS4057</a:t>
            </a:r>
          </a:p>
        </p:txBody>
      </p:sp>
      <p:sp>
        <p:nvSpPr>
          <p:cNvPr id="55" name="Oval 54"/>
          <p:cNvSpPr/>
          <p:nvPr/>
        </p:nvSpPr>
        <p:spPr>
          <a:xfrm>
            <a:off x="4626864" y="443484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91456" y="4352544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Deployment lead · Render / Netlify / Cloud SQL</a:t>
            </a:r>
          </a:p>
        </p:txBody>
      </p:sp>
      <p:sp>
        <p:nvSpPr>
          <p:cNvPr id="57" name="Oval 56"/>
          <p:cNvSpPr/>
          <p:nvPr/>
        </p:nvSpPr>
        <p:spPr>
          <a:xfrm>
            <a:off x="4626864" y="473659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91456" y="4654296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Capacitor Android wrap, env config</a:t>
            </a:r>
          </a:p>
        </p:txBody>
      </p:sp>
      <p:sp>
        <p:nvSpPr>
          <p:cNvPr id="59" name="Oval 58"/>
          <p:cNvSpPr/>
          <p:nvPr/>
        </p:nvSpPr>
        <p:spPr>
          <a:xfrm>
            <a:off x="4626864" y="50383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91456" y="4956048"/>
            <a:ext cx="2926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Integration testing, bug-fix sweep, demo orchestration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01583" y="1481328"/>
            <a:ext cx="3520440" cy="3895344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39327" y="171907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91118" y="1826971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91118" y="2018995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59" y="1920240"/>
            <a:ext cx="49377" cy="49377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8515807" y="1876348"/>
            <a:ext cx="0" cy="148133"/>
          </a:xfrm>
          <a:prstGeom prst="line">
            <a:avLst/>
          </a:prstGeom>
          <a:ln w="27940">
            <a:solidFill>
              <a:srgbClr val="4ADE8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8515807" y="1942185"/>
            <a:ext cx="85039" cy="5487"/>
          </a:xfrm>
          <a:prstGeom prst="line">
            <a:avLst/>
          </a:prstGeom>
          <a:ln w="27940">
            <a:solidFill>
              <a:srgbClr val="4ADE80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906256" y="168249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 lang="en-US">
                <a:solidFill>
                  <a:srgbClr val="FFFFFF"/>
                </a:solidFill>
                <a:latin typeface="Calibri"/>
              </a:rPr>
              <a:t>GitHub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06256" y="1938528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C7F0D8"/>
                </a:solidFill>
                <a:latin typeface="Calibri"/>
              </a:rPr>
              <a:t>github.com/ennabilizineb/GreenStep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327" y="2432304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60">
                <a:solidFill>
                  <a:srgbClr val="4ADE80"/>
                </a:solidFill>
                <a:latin typeface="Calibri"/>
              </a:rPr>
              <a:t>69 COMMITS · 4 CONTRIBUTORS · CLEAN HISTORY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7" y="28163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Mohammed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18904" y="2852928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518904" y="2852928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521440" y="27980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9327" y="3236976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Zineb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18904" y="3273552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518904" y="3273552"/>
            <a:ext cx="1251065" cy="201168"/>
          </a:xfrm>
          <a:prstGeom prst="roundRect">
            <a:avLst>
              <a:gd name="adj" fmla="val 40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521440" y="32186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39327" y="36576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Zeng Liting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518904" y="3694176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518904" y="3694176"/>
            <a:ext cx="536170" cy="201168"/>
          </a:xfrm>
          <a:prstGeom prst="roundRect">
            <a:avLst>
              <a:gd name="adj" fmla="val 40000"/>
            </a:avLst>
          </a:prstGeom>
          <a:solidFill>
            <a:srgbClr val="C7F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521440" y="36393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7" y="407822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Rawan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518904" y="4114800"/>
            <a:ext cx="1965960" cy="201168"/>
          </a:xfrm>
          <a:prstGeom prst="roundRect">
            <a:avLst>
              <a:gd name="adj" fmla="val 4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9518904" y="4114800"/>
            <a:ext cx="357447" cy="201168"/>
          </a:xfrm>
          <a:prstGeom prst="roundRect">
            <a:avLst>
              <a:gd name="adj" fmla="val 40000"/>
            </a:avLst>
          </a:prstGeom>
          <a:solidFill>
            <a:srgbClr val="8FD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521440" y="40599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339327" y="4553712"/>
            <a:ext cx="3044953" cy="0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339327" y="466344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Branching: 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work merged to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main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; release deliverables isolated on the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PR3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 branch.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PROJECT OVERVIEW ·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Existing carbon apps miss the middle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0" i="0" lang="en-US">
                <a:solidFill>
                  <a:srgbClr val="44574E"/>
                </a:solidFill>
                <a:latin typeface="Calibri"/>
              </a:rPr>
              <a:t>A substantial share of global emissions traces back to everyday choices in </a:t>
            </a:r>
            <a:r>
              <a:rPr sz="1350" b="1" i="0" lang="en-US">
                <a:solidFill>
                  <a:srgbClr val="0E1B14"/>
                </a:solidFill>
                <a:latin typeface="Calibri"/>
              </a:rPr>
              <a:t>transport, diet and energy</a:t>
            </a:r>
            <a:r>
              <a:rPr sz="1350" b="0" i="0" lang="en-US">
                <a:solidFill>
                  <a:srgbClr val="44574E"/>
                </a:solidFill>
                <a:latin typeface="Calibri"/>
              </a:rPr>
              <a:t>. Yet people rarely get immediate, quantifiable feedback — so habits never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48840"/>
            <a:ext cx="539496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4048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04376" y="2518257"/>
            <a:ext cx="204095" cy="340157"/>
          </a:xfrm>
          <a:custGeom>
            <a:avLst/>
            <a:gdLst/>
            <a:ahLst/>
            <a:cxnLst/>
            <a:rect l="l" t="t" r="r" b="b"/>
            <a:pathLst>
              <a:path w="204095" h="340157">
                <a:moveTo>
                  <a:pt x="129260" y="0"/>
                </a:moveTo>
                <a:lnTo>
                  <a:pt x="0" y="190488"/>
                </a:lnTo>
                <a:lnTo>
                  <a:pt x="88441" y="190488"/>
                </a:lnTo>
                <a:lnTo>
                  <a:pt x="47622" y="340157"/>
                </a:lnTo>
                <a:lnTo>
                  <a:pt x="204095" y="136063"/>
                </a:lnTo>
                <a:lnTo>
                  <a:pt x="108851" y="136063"/>
                </a:lnTo>
                <a:lnTo>
                  <a:pt x="15647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2423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0E1B14"/>
                </a:solidFill>
                <a:latin typeface="Calibri"/>
              </a:rPr>
              <a:t>Oversimplification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825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80">
                <a:solidFill>
                  <a:srgbClr val="F59E0B"/>
                </a:solidFill>
                <a:latin typeface="Calibri"/>
              </a:rPr>
              <a:t>Failure mode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1729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 lang="en-US">
                <a:solidFill>
                  <a:srgbClr val="44574E"/>
                </a:solidFill>
                <a:latin typeface="Calibri"/>
              </a:rPr>
              <a:t>Static “green tips” (“turn off the lights”). No tracking, no calculation, no feedback loop — nothing to motivate a habit.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148840"/>
            <a:ext cx="5394960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2404872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ar 9 15"/>
          <p:cNvSpPr/>
          <p:nvPr/>
        </p:nvSpPr>
        <p:spPr>
          <a:xfrm>
            <a:off x="6626035" y="2538667"/>
            <a:ext cx="299337" cy="2993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1483" y="2644115"/>
            <a:ext cx="88440" cy="88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42316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0E1B14"/>
                </a:solidFill>
                <a:latin typeface="Calibri"/>
              </a:rPr>
              <a:t>Overcomplication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825496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80">
                <a:solidFill>
                  <a:srgbClr val="7C3AED"/>
                </a:solidFill>
                <a:latin typeface="Calibri"/>
              </a:rPr>
              <a:t>Failure mode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2968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 lang="en-US">
                <a:solidFill>
                  <a:srgbClr val="44574E"/>
                </a:solidFill>
                <a:latin typeface="Calibri"/>
              </a:rPr>
              <a:t>Scientific calculators demand full life-cycle assessments — utility bills, exact distances, receipts. Cognitive overload → burnout → abandonment.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6052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" y="4398264"/>
            <a:ext cx="493776" cy="493776"/>
          </a:xfrm>
          <a:prstGeom prst="ellipse">
            <a:avLst/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0287" y="4529015"/>
            <a:ext cx="232272" cy="232272"/>
          </a:xfrm>
          <a:prstGeom prst="ellipse">
            <a:avLst/>
          </a:prstGeom>
          <a:noFill/>
          <a:ln w="2794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121" y="4589849"/>
            <a:ext cx="110605" cy="110605"/>
          </a:xfrm>
          <a:prstGeom prst="ellipse">
            <a:avLst/>
          </a:prstGeom>
          <a:noFill/>
          <a:ln w="2159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9833" y="4628561"/>
            <a:ext cx="33181" cy="33181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36192" y="4306824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60">
                <a:solidFill>
                  <a:srgbClr val="4ADE80"/>
                </a:solidFill>
                <a:latin typeface="Calibri"/>
              </a:rPr>
              <a:t>THE GAP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52928" y="4343400"/>
            <a:ext cx="0" cy="594359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08960" y="4306824"/>
            <a:ext cx="82296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 lang="en-US">
                <a:solidFill>
                  <a:srgbClr val="FFFFFF"/>
                </a:solidFill>
                <a:latin typeface="Calibri"/>
              </a:rPr>
              <a:t>No app combines </a:t>
            </a:r>
            <a:r>
              <a:rPr sz="1450" b="1" i="0" lang="en-US">
                <a:solidFill>
                  <a:srgbClr val="4ADE80"/>
                </a:solidFill>
                <a:latin typeface="Calibri"/>
              </a:rPr>
              <a:t>low-friction daily logging</a:t>
            </a:r>
            <a:r>
              <a:rPr sz="1450" b="0" i="0" lang="en-US">
                <a:solidFill>
                  <a:srgbClr val="FFFFFF"/>
                </a:solidFill>
                <a:latin typeface="Calibri"/>
              </a:rPr>
              <a:t> with </a:t>
            </a:r>
            <a:r>
              <a:rPr sz="1450" b="1" i="0" lang="en-US">
                <a:solidFill>
                  <a:srgbClr val="4ADE80"/>
                </a:solidFill>
                <a:latin typeface="Calibri"/>
              </a:rPr>
              <a:t>empirical, scientifically-grounded CO₂ calculations.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32180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0" i="1" lang="en-US">
                <a:solidFill>
                  <a:srgbClr val="6B7C72"/>
                </a:solidFill>
                <a:latin typeface="Calibri"/>
              </a:rPr>
              <a:t>“Individuals lack immediate, quantifiable feedback on the carbon implications of their daily actions.”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OUR SOLUTION · GREENSTEP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Turn accountability into a 60-second daily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64240" cy="877824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2763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43953" y="1773058"/>
            <a:ext cx="233501" cy="221211"/>
          </a:xfrm>
          <a:custGeom>
            <a:avLst/>
            <a:gdLst/>
            <a:ahLst/>
            <a:cxnLst/>
            <a:rect l="l" t="t" r="r" b="b"/>
            <a:pathLst>
              <a:path w="233501" h="221211">
                <a:moveTo>
                  <a:pt x="0" y="221211"/>
                </a:moveTo>
                <a:lnTo>
                  <a:pt x="233501" y="0"/>
                </a:lnTo>
                <a:lnTo>
                  <a:pt x="227356" y="125967"/>
                </a:lnTo>
                <a:lnTo>
                  <a:pt x="116751" y="221211"/>
                </a:lnTo>
                <a:lnTo>
                  <a:pt x="0" y="22121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68532" y="1791492"/>
            <a:ext cx="184343" cy="18434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81328" y="151790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Log transport, meals, electricity and recycling with single-tap inputs. </a:t>
            </a:r>
            <a:r>
              <a:rPr sz="1300" b="0" i="0" lang="en-US">
                <a:solidFill>
                  <a:srgbClr val="44574E"/>
                </a:solidFill>
                <a:latin typeface="Calibri"/>
              </a:rPr>
              <a:t>A PHP Slim 4 engine computes the footprint server-side against database-driven DEFRA / IPCC emission factors, then drives streaks, badges and community challenges.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lock Arc 13"/>
          <p:cNvSpPr/>
          <p:nvPr/>
        </p:nvSpPr>
        <p:spPr>
          <a:xfrm>
            <a:off x="971751" y="2900623"/>
            <a:ext cx="141329" cy="141329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6389" y="3011228"/>
            <a:ext cx="172053" cy="153619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5803D"/>
                </a:solidFill>
                <a:latin typeface="Calibri"/>
              </a:rPr>
              <a:t>OBJECTIVE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Multi-Role Secure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RBAC for User · Leader · Admin, all behind stateless JWT + bcrypt.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02636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022092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61373" y="2912912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85952" y="2929810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161373" y="3005084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85952" y="3021982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61373" y="3097255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85952" y="3114153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3804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1533A"/>
                </a:solidFill>
                <a:latin typeface="Calibri"/>
              </a:rPr>
              <a:t>OBJECTIVE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3804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Server-Side Calc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3804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Slim 4 REST API computes CO₂ from DB-driven factors via PDO.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8344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57800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52384" y="2900623"/>
            <a:ext cx="122895" cy="270369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04614" y="3121834"/>
            <a:ext cx="18434" cy="184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9512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0EA5E9"/>
                </a:solidFill>
                <a:latin typeface="Calibri"/>
              </a:rPr>
              <a:t>OBJECTIVE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9512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Low-Friction Cross-Platform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9512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Vue 3 SPA, mobile-first, wrapped as an Android APK with Capacitor.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74052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3508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26644" y="3048097"/>
            <a:ext cx="46085" cy="10446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94237" y="2980505"/>
            <a:ext cx="46085" cy="172053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61829" y="3023518"/>
            <a:ext cx="46085" cy="129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829421" y="2925202"/>
            <a:ext cx="46085" cy="2273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5220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1FA34D"/>
                </a:solidFill>
                <a:latin typeface="Calibri"/>
              </a:rPr>
              <a:t>OBJECTIVE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5220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Interactive Visualization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5220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Weekly &amp; monthly trends rendered from live JSON dashboards.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09760" y="2542032"/>
            <a:ext cx="2112264" cy="2432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729216" y="277977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33017" y="2894478"/>
            <a:ext cx="30723" cy="10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06754" y="2894478"/>
            <a:ext cx="30723" cy="1044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14583" y="2980505"/>
            <a:ext cx="141329" cy="14132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45307" y="3011228"/>
            <a:ext cx="79881" cy="79881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10928" y="3456432"/>
            <a:ext cx="1709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90">
                <a:solidFill>
                  <a:srgbClr val="F59E0B"/>
                </a:solidFill>
                <a:latin typeface="Calibri"/>
              </a:rPr>
              <a:t>OBJECTIVE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10928" y="3694176"/>
            <a:ext cx="17099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Gamification &amp; Retention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10928" y="4242816"/>
            <a:ext cx="170992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30" b="0" i="0" lang="en-US">
                <a:solidFill>
                  <a:srgbClr val="44574E"/>
                </a:solidFill>
                <a:latin typeface="Calibri"/>
              </a:rPr>
              <a:t>Automated streaks, JSON-criteria badges, collective challenges.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517550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15803D"/>
                </a:solidFill>
                <a:latin typeface="Calibri"/>
              </a:rPr>
              <a:t>Scope delivered:  </a:t>
            </a:r>
            <a:r>
              <a:rPr sz="1150" b="0" i="0" lang="en-US">
                <a:solidFill>
                  <a:srgbClr val="44574E"/>
                </a:solidFill>
                <a:latin typeface="Calibri"/>
              </a:rPr>
              <a:t>Auth · Daily Log (full CRUD) · Dashboard · Challenges (CRUD) · Badges · Daily Tips · Admin factor &amp; tip control  —  3 roles, 10 tables, 20 endpoints.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TARGET USERS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use-case diagram — three actors, one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481328"/>
            <a:ext cx="3886200" cy="4572000"/>
          </a:xfrm>
          <a:prstGeom prst="roundRect">
            <a:avLst>
              <a:gd name="adj" fmla="val 3000"/>
            </a:avLst>
          </a:prstGeom>
          <a:solidFill>
            <a:srgbClr val="F0FAF3"/>
          </a:solidFill>
          <a:ln w="2032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1572768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GreenStep System</a:t>
            </a:r>
          </a:p>
        </p:txBody>
      </p:sp>
      <p:sp>
        <p:nvSpPr>
          <p:cNvPr id="9" name="Oval 8"/>
          <p:cNvSpPr/>
          <p:nvPr/>
        </p:nvSpPr>
        <p:spPr>
          <a:xfrm>
            <a:off x="4663440" y="1984248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65960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Register / Login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0" y="2560320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54203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Log Daily Activity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13639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11810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View Dashboard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3712464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694176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Join Challenge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4288536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70248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Earn Badges &amp; Tips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4937760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919472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Challenges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551383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FA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549554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Eco-Tips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4727448"/>
            <a:ext cx="2880360" cy="18288"/>
          </a:xfrm>
          <a:prstGeom prst="rect">
            <a:avLst/>
          </a:prstGeom>
          <a:solidFill>
            <a:srgbClr val="CD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754880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B45309"/>
                </a:solidFill>
                <a:latin typeface="Calibri"/>
              </a:rPr>
              <a:t>— elevated / role-gated —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5513832"/>
            <a:ext cx="288036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495544"/>
            <a:ext cx="288036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Manage Emission Factors</a:t>
            </a:r>
          </a:p>
        </p:txBody>
      </p:sp>
      <p:sp>
        <p:nvSpPr>
          <p:cNvPr id="27" name="Oval 26"/>
          <p:cNvSpPr/>
          <p:nvPr/>
        </p:nvSpPr>
        <p:spPr>
          <a:xfrm>
            <a:off x="1768906" y="1920240"/>
            <a:ext cx="211226" cy="211226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874519" y="2131466"/>
            <a:ext cx="0" cy="32644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82495" y="2227478"/>
            <a:ext cx="384048" cy="0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720900" y="2457907"/>
            <a:ext cx="153619" cy="24963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74519" y="2457907"/>
            <a:ext cx="153620" cy="249631"/>
          </a:xfrm>
          <a:prstGeom prst="line">
            <a:avLst/>
          </a:prstGeom>
          <a:ln w="30480">
            <a:solidFill>
              <a:srgbClr val="15803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51560" y="27267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User
(Individual)</a:t>
            </a:r>
          </a:p>
        </p:txBody>
      </p:sp>
      <p:sp>
        <p:nvSpPr>
          <p:cNvPr id="33" name="Oval 32"/>
          <p:cNvSpPr/>
          <p:nvPr/>
        </p:nvSpPr>
        <p:spPr>
          <a:xfrm>
            <a:off x="1768906" y="3977639"/>
            <a:ext cx="211226" cy="21122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874519" y="4188866"/>
            <a:ext cx="0" cy="32644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682495" y="4284878"/>
            <a:ext cx="384048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720900" y="4515307"/>
            <a:ext cx="153619" cy="24963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74519" y="4515307"/>
            <a:ext cx="153620" cy="249631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51560" y="478414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Community
Leader</a:t>
            </a:r>
          </a:p>
        </p:txBody>
      </p:sp>
      <p:sp>
        <p:nvSpPr>
          <p:cNvPr id="39" name="Oval 38"/>
          <p:cNvSpPr/>
          <p:nvPr/>
        </p:nvSpPr>
        <p:spPr>
          <a:xfrm>
            <a:off x="9907066" y="2121408"/>
            <a:ext cx="211226" cy="211226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10012680" y="2332634"/>
            <a:ext cx="0" cy="32644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820655" y="2428646"/>
            <a:ext cx="384049" cy="0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9859060" y="2659075"/>
            <a:ext cx="153620" cy="24963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12680" y="2659075"/>
            <a:ext cx="153619" cy="249631"/>
          </a:xfrm>
          <a:prstGeom prst="line">
            <a:avLst/>
          </a:prstGeom>
          <a:ln w="3048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89719" y="292790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Platform
Administrator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2103120" y="2212848"/>
            <a:ext cx="2560320" cy="73152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103120" y="2286000"/>
            <a:ext cx="2560320" cy="502920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103120" y="2286000"/>
            <a:ext cx="2560320" cy="1078992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103120" y="2286000"/>
            <a:ext cx="2560320" cy="1655064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103120" y="2286000"/>
            <a:ext cx="2560320" cy="2231136"/>
          </a:xfrm>
          <a:prstGeom prst="line">
            <a:avLst/>
          </a:prstGeom>
          <a:ln w="1397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103120" y="3941064"/>
            <a:ext cx="2560320" cy="402336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03120" y="4343400"/>
            <a:ext cx="2560320" cy="822960"/>
          </a:xfrm>
          <a:prstGeom prst="line">
            <a:avLst/>
          </a:prstGeom>
          <a:ln w="1651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103120" y="3364992"/>
            <a:ext cx="2560320" cy="978408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7543800" y="2505456"/>
            <a:ext cx="2240280" cy="3236976"/>
          </a:xfrm>
          <a:prstGeom prst="line">
            <a:avLst/>
          </a:prstGeom>
          <a:ln w="1651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7543800" y="2505456"/>
            <a:ext cx="2240280" cy="3236976"/>
          </a:xfrm>
          <a:prstGeom prst="line">
            <a:avLst/>
          </a:prstGeom>
          <a:ln w="1651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7543800" y="2212848"/>
            <a:ext cx="2240280" cy="292608"/>
          </a:xfrm>
          <a:prstGeom prst="line">
            <a:avLst/>
          </a:prstGeom>
          <a:ln w="1270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549640" y="35844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ROLE SCOPE (inherits downward)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49640" y="3858768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677656" y="399592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77656" y="3977639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U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9719" y="39227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User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19" y="4133087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Logs activities, views dashboard, earns badges, joins challenges.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549640" y="4645152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677656" y="4782312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77656" y="4764024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89719" y="470916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Leader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9719" y="4919472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All User rights + create / update / delete community challenges.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5431536"/>
            <a:ext cx="310896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77656" y="556869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77656" y="5550408"/>
            <a:ext cx="4023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19" y="549554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Admin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19" y="5705856"/>
            <a:ext cx="239572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All rights + curate tips &amp; alter the scientific emission factors.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 decoupled, full-pipeline cross-platform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544" y="1735531"/>
            <a:ext cx="109728" cy="24140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0178" y="1933041"/>
            <a:ext cx="16459" cy="1645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35024" y="15910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0EA5E9"/>
                </a:solidFill>
                <a:latin typeface="Calibri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1847088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Vue 3 SPA · Composition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1696212"/>
            <a:ext cx="1155801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1687068"/>
            <a:ext cx="11558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Vue Router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4337" y="1696212"/>
            <a:ext cx="780897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4337" y="1687068"/>
            <a:ext cx="780897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Pinia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4963" y="1696212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4963" y="1687068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Vite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331720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247802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2596896"/>
            <a:ext cx="219456" cy="21945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030" y="2596896"/>
            <a:ext cx="98755" cy="21945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74166" y="2706624"/>
            <a:ext cx="208483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35024" y="2441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1FA34D"/>
                </a:solidFill>
                <a:latin typeface="Calibri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2697480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Single codebase → native Android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78808" y="2546604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8" y="2537460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Capacitor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9395" y="2546604"/>
            <a:ext cx="108082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9395" y="2537460"/>
            <a:ext cx="10808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Android APK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9944" y="2546604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2537460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iOS-ready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3182112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808" y="332841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74166" y="3447288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6112" y="3462375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4166" y="3529584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96112" y="3544671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4166" y="3611880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96112" y="3626967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35024" y="32918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15803D"/>
                </a:solidFill>
                <a:latin typeface="Calibri"/>
              </a:rPr>
              <a:t>APPLICATION /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024" y="3547872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PHP 8.1 · Slim 4 RESTful micro-framework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78808" y="3396996"/>
            <a:ext cx="1230782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78808" y="3387852"/>
            <a:ext cx="123078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7 Controllers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19318" y="3396996"/>
            <a:ext cx="1305763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19318" y="3387852"/>
            <a:ext cx="130576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JWT Middleware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34809" y="33969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4809" y="33878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PDO · JSON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4032504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49808" y="417880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79652" y="4322368"/>
            <a:ext cx="19751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9652" y="4421124"/>
            <a:ext cx="197510" cy="60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79652" y="4292193"/>
            <a:ext cx="197510" cy="60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79652" y="4292193"/>
            <a:ext cx="197510" cy="60350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35024" y="414223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7C3AED"/>
                </a:solidFill>
                <a:latin typeface="Calibri"/>
              </a:rPr>
              <a:t>DATA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35024" y="439826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MySQL 8 relational store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78808" y="4247388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78808" y="4238244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10 tables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219395" y="4247388"/>
            <a:ext cx="1155801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9395" y="4238244"/>
            <a:ext cx="115580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PDO prepared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84924" y="42473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84924" y="423824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FK cascade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4882896"/>
            <a:ext cx="7818120" cy="7406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49808" y="50292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1598" y="5137099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598" y="5329123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05840" y="5230368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26287" y="5186476"/>
            <a:ext cx="0" cy="148133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6287" y="5252313"/>
            <a:ext cx="85039" cy="5487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335024" y="49926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80">
                <a:solidFill>
                  <a:srgbClr val="F59E0B"/>
                </a:solidFill>
                <a:latin typeface="Calibri"/>
              </a:rPr>
              <a:t>DEVOPS / DELIVERY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35024" y="5248656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Local Laragon → cloud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178808" y="5097780"/>
            <a:ext cx="705916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8808" y="5088636"/>
            <a:ext cx="7059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GitHub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994452" y="5097780"/>
            <a:ext cx="1455724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994452" y="5088636"/>
            <a:ext cx="14557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Render · Netlify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559905" y="5097780"/>
            <a:ext cx="930859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59905" y="5088636"/>
            <a:ext cx="9308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80" b="1" i="0" lang="en-US">
                <a:solidFill>
                  <a:srgbClr val="15803D"/>
                </a:solidFill>
                <a:latin typeface="Calibri"/>
              </a:rPr>
              <a:t>Cloud SQL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686800" y="1481328"/>
            <a:ext cx="2935224" cy="4507992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2832" y="1700784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120">
                <a:solidFill>
                  <a:srgbClr val="4ADE80"/>
                </a:solidFill>
                <a:latin typeface="Calibri"/>
              </a:rPr>
              <a:t>WHY THIS STACK</a:t>
            </a:r>
          </a:p>
        </p:txBody>
      </p:sp>
      <p:sp>
        <p:nvSpPr>
          <p:cNvPr id="79" name="Oval 78"/>
          <p:cNvSpPr/>
          <p:nvPr/>
        </p:nvSpPr>
        <p:spPr>
          <a:xfrm>
            <a:off x="8942832" y="2185415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80576" y="210312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Decoupled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0576" y="2340864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Frontend is pure presentation; the API is a headless, stateless engine.</a:t>
            </a:r>
          </a:p>
        </p:txBody>
      </p:sp>
      <p:sp>
        <p:nvSpPr>
          <p:cNvPr id="82" name="Oval 81"/>
          <p:cNvSpPr/>
          <p:nvPr/>
        </p:nvSpPr>
        <p:spPr>
          <a:xfrm>
            <a:off x="8942832" y="3136391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80576" y="3054096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Authoritative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0576" y="3291840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All CO₂ maths run server-side — clients never compute footprints.</a:t>
            </a:r>
          </a:p>
        </p:txBody>
      </p:sp>
      <p:sp>
        <p:nvSpPr>
          <p:cNvPr id="85" name="Oval 84"/>
          <p:cNvSpPr/>
          <p:nvPr/>
        </p:nvSpPr>
        <p:spPr>
          <a:xfrm>
            <a:off x="8942832" y="408736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0576" y="400507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0576" y="4242816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One Vue codebase ships to web and Android via Capacitor.</a:t>
            </a:r>
          </a:p>
        </p:txBody>
      </p:sp>
      <p:sp>
        <p:nvSpPr>
          <p:cNvPr id="88" name="Oval 87"/>
          <p:cNvSpPr/>
          <p:nvPr/>
        </p:nvSpPr>
        <p:spPr>
          <a:xfrm>
            <a:off x="8942832" y="5038344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80576" y="4956048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Free-tier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80576" y="5193792"/>
            <a:ext cx="2185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Render + Netlify + Cloud SQL = a public URL at zero hosting cost.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DEVOPS · VERSION CONTROL &amp;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One repository, four contributors, clean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48640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00784"/>
            <a:ext cx="530352" cy="530352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2460" y="1825947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2460" y="2048694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83381" y="1934138"/>
            <a:ext cx="57278" cy="572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91099" y="1883225"/>
            <a:ext cx="0" cy="17183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91099" y="1959595"/>
            <a:ext cx="98646" cy="636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1328" y="164592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github.com/ennabilizineb/GreenStep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38528"/>
            <a:ext cx="43891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Monorepo — Backend/ (Slim 4) + Frontend/ (Vue 3) + SQL, README &amp; SECURITY docs.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679191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 spc="100">
                <a:solidFill>
                  <a:srgbClr val="15803D"/>
                </a:solidFill>
                <a:latin typeface="Calibri"/>
              </a:rPr>
              <a:t>BRANCH STRATEGY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291839"/>
            <a:ext cx="5120640" cy="0"/>
          </a:xfrm>
          <a:prstGeom prst="line">
            <a:avLst/>
          </a:prstGeom>
          <a:ln w="38100">
            <a:solidFill>
              <a:srgbClr val="1FA34D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7665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682495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8833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9417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0001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14416" y="3218687"/>
            <a:ext cx="146304" cy="146304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392424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onsolas"/>
              </a:rPr>
              <a:t>main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767328" y="3291839"/>
            <a:ext cx="502920" cy="548640"/>
          </a:xfrm>
          <a:prstGeom prst="line">
            <a:avLst/>
          </a:prstGeom>
          <a:ln w="30480">
            <a:solidFill>
              <a:srgbClr val="F59E0B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270248" y="3840479"/>
            <a:ext cx="1051560" cy="0"/>
          </a:xfrm>
          <a:prstGeom prst="line">
            <a:avLst/>
          </a:prstGeom>
          <a:ln w="30480">
            <a:solidFill>
              <a:srgbClr val="F59E0B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19709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145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48656" y="376732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V="1">
            <a:off x="5321808" y="3291839"/>
            <a:ext cx="365760" cy="548640"/>
          </a:xfrm>
          <a:prstGeom prst="line">
            <a:avLst/>
          </a:prstGeom>
          <a:ln w="30480">
            <a:solidFill>
              <a:srgbClr val="F59E0B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270248" y="3941063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B45309"/>
                </a:solidFill>
                <a:latin typeface="Consolas"/>
              </a:rPr>
              <a:t>PR3  (release deliverables)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All members commit directly, merge into </a:t>
            </a:r>
            <a:r>
              <a:rPr sz="1050" b="1" i="0" lang="en-US">
                <a:solidFill>
                  <a:srgbClr val="0E1B14"/>
                </a:solidFill>
                <a:latin typeface="Consolas"/>
              </a:rPr>
              <a:t>main</a:t>
            </a:r>
            <a:r>
              <a:rPr sz="1050" b="0" i="0" lang="en-US">
                <a:solidFill>
                  <a:srgbClr val="44574E"/>
                </a:solidFill>
                <a:latin typeface="Calibri"/>
              </a:rPr>
              <a:t>; PR3 slides, README &amp; Deployment docs are staged on a dedicated </a:t>
            </a:r>
            <a:r>
              <a:rPr sz="1050" b="1" i="0" lang="en-US">
                <a:solidFill>
                  <a:srgbClr val="0E1B14"/>
                </a:solidFill>
                <a:latin typeface="Consolas"/>
              </a:rPr>
              <a:t>PR3</a:t>
            </a:r>
            <a:r>
              <a:rPr sz="1050" b="0" i="0" lang="en-US">
                <a:solidFill>
                  <a:srgbClr val="44574E"/>
                </a:solidFill>
                <a:latin typeface="Calibri"/>
              </a:rPr>
              <a:t> branch.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481328"/>
            <a:ext cx="5330952" cy="4526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682496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15803D"/>
                </a:solidFill>
                <a:latin typeface="Calibri"/>
              </a:rPr>
              <a:t>CONTRIBUTION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938528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6B7C72"/>
                </a:solidFill>
                <a:latin typeface="Calibri"/>
              </a:rPr>
              <a:t>69 commits by verified author e-mail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23408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Mohammed — Backend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23960" y="2377440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23960" y="2377440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66576" y="23317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8163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Zineb — DevOps/Integration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2852928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23960" y="2852928"/>
            <a:ext cx="1646751" cy="219456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66576" y="28072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0" y="32918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Zeng Liting — Frontend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3328416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823960" y="3328416"/>
            <a:ext cx="705750" cy="219456"/>
          </a:xfrm>
          <a:prstGeom prst="roundRect">
            <a:avLst>
              <a:gd name="adj" fmla="val 4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66576" y="328269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37673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</a:pPr>
            <a:r>
              <a:rPr sz="1030" b="1" i="0" lang="en-US">
                <a:solidFill>
                  <a:srgbClr val="0E1B14"/>
                </a:solidFill>
                <a:latin typeface="Calibri"/>
              </a:rPr>
              <a:t>Rawan — Database/Security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23960" y="3803904"/>
            <a:ext cx="2587752" cy="219456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23960" y="3803904"/>
            <a:ext cx="470500" cy="219456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66576" y="37581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6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83680" y="4279392"/>
            <a:ext cx="4782312" cy="0"/>
          </a:xfrm>
          <a:prstGeom prst="line">
            <a:avLst/>
          </a:prstGeom>
          <a:ln w="12700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0" y="4389120"/>
            <a:ext cx="4782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 spc="60">
                <a:solidFill>
                  <a:srgbClr val="6B7C72"/>
                </a:solidFill>
                <a:latin typeface="Calibri"/>
              </a:rPr>
              <a:t>REPRESENTATIVE COMMITS</a:t>
            </a:r>
          </a:p>
        </p:txBody>
      </p:sp>
      <p:sp>
        <p:nvSpPr>
          <p:cNvPr id="54" name="Oval 53"/>
          <p:cNvSpPr/>
          <p:nvPr/>
        </p:nvSpPr>
        <p:spPr>
          <a:xfrm>
            <a:off x="6620256" y="470916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21424" y="461772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Backend: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Implement badge evaluation &amp; collective challenge progress</a:t>
            </a:r>
          </a:p>
        </p:txBody>
      </p:sp>
      <p:sp>
        <p:nvSpPr>
          <p:cNvPr id="56" name="Oval 55"/>
          <p:cNvSpPr/>
          <p:nvPr/>
        </p:nvSpPr>
        <p:spPr>
          <a:xfrm>
            <a:off x="6620256" y="507492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1424" y="498348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DevOps: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logout() missing! · Redirecting issues fixed! · Daily Log bug-fix</a:t>
            </a:r>
          </a:p>
        </p:txBody>
      </p:sp>
      <p:sp>
        <p:nvSpPr>
          <p:cNvPr id="58" name="Oval 57"/>
          <p:cNvSpPr/>
          <p:nvPr/>
        </p:nvSpPr>
        <p:spPr>
          <a:xfrm>
            <a:off x="6620256" y="544068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21424" y="534924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Frontend: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Connect dashboard &amp; challenges pages to backend API</a:t>
            </a:r>
          </a:p>
        </p:txBody>
      </p:sp>
      <p:sp>
        <p:nvSpPr>
          <p:cNvPr id="60" name="Oval 59"/>
          <p:cNvSpPr/>
          <p:nvPr/>
        </p:nvSpPr>
        <p:spPr>
          <a:xfrm>
            <a:off x="6620256" y="5806440"/>
            <a:ext cx="109728" cy="109728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21424" y="5715000"/>
            <a:ext cx="4544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15803D"/>
                </a:solidFill>
                <a:latin typeface="Consolas"/>
              </a:rPr>
              <a:t>Database:  </a:t>
            </a:r>
            <a:r>
              <a:rPr sz="960" b="0" i="0" lang="en-US">
                <a:solidFill>
                  <a:srgbClr val="44574E"/>
                </a:solidFill>
                <a:latin typeface="Consolas"/>
              </a:rPr>
              <a:t>update database schema and seed data · SECURITY.md threat 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DEVOPS · CI/CD &amp;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From a Laragon laptop to a public cloud URL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6644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1434254" y="2003413"/>
            <a:ext cx="68032" cy="108851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34254" y="2112264"/>
            <a:ext cx="68032" cy="108850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97529" y="2003413"/>
            <a:ext cx="68032" cy="108851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597529" y="2112264"/>
            <a:ext cx="68032" cy="108850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Develop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VS Code · Laragon
PHP 8.1 · Node 20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6946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720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0672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94944" y="1962595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94944" y="2200704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24203" y="2078248"/>
            <a:ext cx="61228" cy="612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725558" y="2023823"/>
            <a:ext cx="0" cy="18368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25558" y="2105460"/>
            <a:ext cx="105448" cy="6804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0720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693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Git push → GitHub
main / PR3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974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4748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7004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Gear 9 27"/>
          <p:cNvSpPr/>
          <p:nvPr/>
        </p:nvSpPr>
        <p:spPr>
          <a:xfrm>
            <a:off x="5880799" y="1962595"/>
            <a:ext cx="299337" cy="299337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86247" y="2068043"/>
            <a:ext cx="88440" cy="88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4748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Vite build (SPA)
Composer install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50024" y="2386584"/>
            <a:ext cx="201168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87768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8728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8216322" y="1962595"/>
            <a:ext cx="108851" cy="251716"/>
          </a:xfrm>
          <a:custGeom>
            <a:avLst/>
            <a:gdLst/>
            <a:ahLst/>
            <a:cxnLst/>
            <a:rect l="l" t="t" r="r" b="b"/>
            <a:pathLst>
              <a:path w="108851" h="251716">
                <a:moveTo>
                  <a:pt x="54426" y="0"/>
                </a:moveTo>
                <a:lnTo>
                  <a:pt x="108851" y="149669"/>
                </a:lnTo>
                <a:lnTo>
                  <a:pt x="88441" y="251716"/>
                </a:lnTo>
                <a:lnTo>
                  <a:pt x="20410" y="251716"/>
                </a:lnTo>
                <a:lnTo>
                  <a:pt x="0" y="1496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46937" y="2044232"/>
            <a:ext cx="47621" cy="47621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7768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97496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Netlify · Render
Cloud SQL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90303" y="2386584"/>
            <a:ext cx="201169" cy="0"/>
          </a:xfrm>
          <a:prstGeom prst="line">
            <a:avLst/>
          </a:prstGeom>
          <a:ln w="2794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528047" y="1627632"/>
            <a:ext cx="1965960" cy="15179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27563" y="182880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442996" y="1962595"/>
            <a:ext cx="136062" cy="299337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00823" y="2207507"/>
            <a:ext cx="20409" cy="204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8047" y="24688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37775" y="2724912"/>
            <a:ext cx="17465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Capacitor
Android APK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3529584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4672" y="3749039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3544" y="3867911"/>
            <a:ext cx="219456" cy="21945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83894" y="3867911"/>
            <a:ext cx="98755" cy="21945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29030" y="3977639"/>
            <a:ext cx="208483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389888" y="37673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 lang="en-US">
                <a:solidFill>
                  <a:srgbClr val="0E1B14"/>
                </a:solidFill>
                <a:latin typeface="Calibri"/>
              </a:rPr>
              <a:t>Deployment Architecture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" y="4343400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" y="4297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Frontend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50008" y="4297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A5E9"/>
                </a:solidFill>
                <a:latin typeface="Calibri"/>
              </a:rPr>
              <a:t>Netlify / Vercel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" y="451713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Static Vue 3 build, auto-rebuild on push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4672" y="4764024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6" y="47183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Backend API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50008" y="47183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Render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" y="493776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PHP Slim 4 service over HTTPS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" y="5184648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" y="5138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Database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50008" y="51389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7C3AED"/>
                </a:solidFill>
                <a:latin typeface="Calibri"/>
              </a:rPr>
              <a:t>Google Cloud SQL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2416" y="535838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Managed MySQL 8 via PDO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" y="5605272"/>
            <a:ext cx="109728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42416" y="55595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0E1B14"/>
                </a:solidFill>
                <a:latin typeface="Calibri"/>
              </a:rPr>
              <a:t>Mobile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0008" y="55595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59E0B"/>
                </a:solidFill>
                <a:latin typeface="Calibri"/>
              </a:rPr>
              <a:t>Capacitor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" y="577900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Vue build wrapped as Android APK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3529584"/>
            <a:ext cx="5330952" cy="246888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58368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80">
                <a:solidFill>
                  <a:srgbClr val="4ADE80"/>
                </a:solidFill>
                <a:latin typeface="Calibri"/>
              </a:rPr>
              <a:t>TOOLCHAIN &amp; STATUS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83680" y="4133087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83680" y="41239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Laragon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611465" y="4133087"/>
            <a:ext cx="98389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11465" y="4123944"/>
            <a:ext cx="9838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Composer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23376" y="4133087"/>
            <a:ext cx="11521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23376" y="4123944"/>
            <a:ext cx="11521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npm / Vite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003536" y="4133087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03536" y="41239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Postman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583680" y="4590288"/>
            <a:ext cx="98389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83680" y="4581144"/>
            <a:ext cx="9838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HeidiSQL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695590" y="4590288"/>
            <a:ext cx="815644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95590" y="4581144"/>
            <a:ext cx="81564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GitHub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39251" y="4590288"/>
            <a:ext cx="89976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39251" y="4581144"/>
            <a:ext cx="89976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VS Code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67036" y="4590288"/>
            <a:ext cx="1068019" cy="347472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67036" y="4581144"/>
            <a:ext cx="10680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Capacitor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583680" y="5102352"/>
            <a:ext cx="4782312" cy="0"/>
          </a:xfrm>
          <a:prstGeom prst="line">
            <a:avLst/>
          </a:prstGeom>
          <a:ln w="12700">
            <a:solidFill>
              <a:srgbClr val="1C6745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583680" y="521208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50" b="1" i="0" lang="en-US">
                <a:solidFill>
                  <a:srgbClr val="4ADE80"/>
                </a:solidFill>
                <a:latin typeface="Calibri"/>
              </a:rPr>
              <a:t>CI signal:  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Vue lint (oxlint + ESLint) and </a:t>
            </a:r>
            <a:r>
              <a:rPr sz="1050" b="1" i="0" lang="en-US">
                <a:solidFill>
                  <a:srgbClr val="FFFFFF"/>
                </a:solidFill>
                <a:latin typeface="Consolas"/>
              </a:rPr>
              <a:t>composer validate</a:t>
            </a:r>
            <a:r>
              <a:rPr sz="1050" b="0" i="0" lang="en-US">
                <a:solidFill>
                  <a:srgbClr val="C7F0D8"/>
                </a:solidFill>
                <a:latin typeface="Calibri"/>
              </a:rPr>
              <a:t> gate every build; Postman collection verifies all 20 endpoints before the demo.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Three decoupled tiers communicating over REST +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2331720" cy="4160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524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0992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20">
                <a:solidFill>
                  <a:srgbClr val="15803D"/>
                </a:solidFill>
                <a:latin typeface="Calibri"/>
              </a:rPr>
              <a:t>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03604" y="210312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74779" y="2274295"/>
            <a:ext cx="316016" cy="316016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61684" y="2274295"/>
            <a:ext cx="142207" cy="316016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582680" y="2432304"/>
            <a:ext cx="300215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88036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Web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03604" y="338328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53783" y="3538654"/>
            <a:ext cx="158008" cy="347618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20937" y="3823069"/>
            <a:ext cx="23701" cy="2370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16052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Android APK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34840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44574E"/>
                </a:solidFill>
                <a:latin typeface="Calibri"/>
              </a:rPr>
              <a:t>Capacitor wrap of the same Vue 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5212080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202936"/>
            <a:ext cx="16916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Netlify  ·  HTTPS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1600200"/>
            <a:ext cx="4434840" cy="41605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A34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39" y="1709928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40">
                <a:solidFill>
                  <a:srgbClr val="15803D"/>
                </a:solidFill>
                <a:latin typeface="Calibri"/>
              </a:rPr>
              <a:t>APPLICATION TIER — PHP Slim 4 REST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2057400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88536" y="22219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40326" y="2329891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40326" y="2521915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44567" y="2423160"/>
            <a:ext cx="49377" cy="4937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4465015" y="2379268"/>
            <a:ext cx="0" cy="148133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465015" y="2445105"/>
            <a:ext cx="85039" cy="5487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73752" y="2176272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Routes / Api.php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3752" y="2441448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20 RESTful routes → controllers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60520" y="2962656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288536" y="31272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07407" y="3235147"/>
            <a:ext cx="219456" cy="244145"/>
          </a:xfrm>
          <a:custGeom>
            <a:avLst/>
            <a:gdLst/>
            <a:ahLst/>
            <a:cxnLst/>
            <a:rect l="l" t="t" r="r" b="b"/>
            <a:pathLst>
              <a:path w="219456" h="244145">
                <a:moveTo>
                  <a:pt x="109729" y="0"/>
                </a:moveTo>
                <a:lnTo>
                  <a:pt x="219456" y="43891"/>
                </a:lnTo>
                <a:lnTo>
                  <a:pt x="197511" y="175565"/>
                </a:lnTo>
                <a:lnTo>
                  <a:pt x="109729" y="244145"/>
                </a:lnTo>
                <a:lnTo>
                  <a:pt x="21946" y="175565"/>
                </a:lnTo>
                <a:lnTo>
                  <a:pt x="0" y="438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3081528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Middleware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73752" y="3346704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JWT verify + role gate · CORS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3867912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288536" y="403250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12894" y="4151376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434839" y="4166463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12894" y="4233672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434839" y="4248759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412894" y="4315968"/>
            <a:ext cx="208483" cy="548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34839" y="4331055"/>
            <a:ext cx="19202" cy="1920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73752" y="3986784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Controllers (7)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3752" y="4251960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Auth · Log · Challenge · Badge · Tip · Admin · ActivityType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60520" y="4773168"/>
            <a:ext cx="4069079" cy="786384"/>
          </a:xfrm>
          <a:prstGeom prst="roundRect">
            <a:avLst>
              <a:gd name="adj" fmla="val 6000"/>
            </a:avLst>
          </a:prstGeom>
          <a:solidFill>
            <a:srgbClr val="F6FBF7"/>
          </a:solidFill>
          <a:ln w="1016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88536" y="4937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Gear 9 48"/>
          <p:cNvSpPr/>
          <p:nvPr/>
        </p:nvSpPr>
        <p:spPr>
          <a:xfrm>
            <a:off x="4396435" y="5045659"/>
            <a:ext cx="241401" cy="241401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81474" y="5130698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73752" y="4892040"/>
            <a:ext cx="3337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Support / Engines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73752" y="5157216"/>
            <a:ext cx="3337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BadgeEvaluator · ChallengeProgress · JSON envelope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1600200"/>
            <a:ext cx="2971800" cy="416052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41080" y="17099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 spc="120">
                <a:solidFill>
                  <a:srgbClr val="4ADE80"/>
                </a:solidFill>
                <a:latin typeface="Calibri"/>
              </a:rPr>
              <a:t>DATA TIER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742932" y="2075688"/>
            <a:ext cx="768096" cy="768096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61071" y="2316870"/>
            <a:ext cx="331817" cy="2304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961071" y="2482778"/>
            <a:ext cx="331817" cy="101388"/>
          </a:xfrm>
          <a:prstGeom prst="ellipse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961071" y="2266175"/>
            <a:ext cx="331817" cy="101388"/>
          </a:xfrm>
          <a:prstGeom prst="ellipse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61071" y="2266175"/>
            <a:ext cx="331817" cy="101388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1080" y="297180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MySQL 8 · Cloud SQL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69680" y="328269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10 related tables · InnoDB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97111" y="37033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97111" y="3694176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Role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0195559" y="370332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5559" y="369417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User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97111" y="40873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97111" y="407822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Activity_Type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5559" y="408736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95559" y="407822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Activity_Log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97111" y="44714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97111" y="4462272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Challenge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195559" y="447141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95559" y="446227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Badge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489204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30" b="0" i="0" lang="en-US">
                <a:solidFill>
                  <a:srgbClr val="C7F0D8"/>
                </a:solidFill>
                <a:latin typeface="Calibri"/>
              </a:rPr>
              <a:t>PDO · prepared statements · FK cascade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898648" y="3154680"/>
            <a:ext cx="1078991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2898648" y="3611880"/>
            <a:ext cx="1078991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880360" y="2679191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HTTPS · JSON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36484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JWT in header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8412480" y="3429000"/>
            <a:ext cx="228600" cy="0"/>
          </a:xfrm>
          <a:prstGeom prst="line">
            <a:avLst/>
          </a:prstGeom>
          <a:ln w="3048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8412480" y="3886200"/>
            <a:ext cx="22860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8321040" y="2971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PDO / SQL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SEQUENCE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— logging a daily activity,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0896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Vue 3 Frontend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6052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8932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Slim 4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4088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15400" y="155448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1545336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MySQL (PDO)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66960" y="2011680"/>
            <a:ext cx="0" cy="3749040"/>
          </a:xfrm>
          <a:prstGeom prst="line">
            <a:avLst/>
          </a:prstGeom>
          <a:ln w="1270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54480" y="2286000"/>
            <a:ext cx="2606040" cy="0"/>
          </a:xfrm>
          <a:prstGeom prst="line">
            <a:avLst/>
          </a:prstGeom>
          <a:ln w="20320">
            <a:solidFill>
              <a:srgbClr val="15803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201168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Fill Daily Log form (type, amount)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96511" y="2286000"/>
            <a:ext cx="128016" cy="2743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160520" y="2697480"/>
            <a:ext cx="2880360" cy="0"/>
          </a:xfrm>
          <a:prstGeom prst="line">
            <a:avLst/>
          </a:prstGeom>
          <a:ln w="2032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60520" y="242316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POST /api/logs  + Bearer JWT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76872" y="2697480"/>
            <a:ext cx="128016" cy="1874519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5472" y="28072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B45309"/>
                </a:solidFill>
                <a:latin typeface="Calibri"/>
              </a:rPr>
              <a:t>JwtAuthMiddleware verifies token → user_id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6872" y="3063240"/>
            <a:ext cx="128016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7040880" y="3611880"/>
            <a:ext cx="2926080" cy="0"/>
          </a:xfrm>
          <a:prstGeom prst="line">
            <a:avLst/>
          </a:prstGeom>
          <a:ln w="20320">
            <a:solidFill>
              <a:srgbClr val="7C3AE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40880" y="33375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SELECT activity_type (validate)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02952" y="3611880"/>
            <a:ext cx="128016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7040880" y="3977639"/>
            <a:ext cx="292608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040880" y="370332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factor row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4389120"/>
            <a:ext cx="2926080" cy="0"/>
          </a:xfrm>
          <a:prstGeom prst="line">
            <a:avLst/>
          </a:prstGeom>
          <a:ln w="20320">
            <a:solidFill>
              <a:srgbClr val="7C3AE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40880" y="411480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INSERT INTO Activity_Log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02952" y="4389120"/>
            <a:ext cx="128016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>
            <a:off x="7040880" y="4754880"/>
            <a:ext cx="2926080" cy="0"/>
          </a:xfrm>
          <a:prstGeom prst="line">
            <a:avLst/>
          </a:prstGeom>
          <a:ln w="2032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040880" y="448056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new activity_log_id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4160520" y="5074920"/>
            <a:ext cx="2880360" cy="0"/>
          </a:xfrm>
          <a:prstGeom prst="line">
            <a:avLst/>
          </a:prstGeom>
          <a:ln w="20320">
            <a:solidFill>
              <a:srgbClr val="11533A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60520" y="4800600"/>
            <a:ext cx="2880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6B7C72"/>
                </a:solidFill>
                <a:latin typeface="Calibri"/>
              </a:rPr>
              <a:t>201 Created { id }  — JSON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1554480" y="5440680"/>
            <a:ext cx="2606040" cy="0"/>
          </a:xfrm>
          <a:prstGeom prst="line">
            <a:avLst/>
          </a:prstGeom>
          <a:ln w="20320">
            <a:solidFill>
              <a:srgbClr val="15803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554480" y="5166360"/>
            <a:ext cx="26060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“Saved ✓” → redirect to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888736"/>
            <a:ext cx="11064240" cy="438912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97880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CO₂ is computed server-side later on </a:t>
            </a:r>
            <a:r>
              <a:rPr sz="1050" b="1" i="0" lang="en-US">
                <a:solidFill>
                  <a:srgbClr val="15803D"/>
                </a:solidFill>
                <a:latin typeface="Consolas"/>
              </a:rPr>
              <a:t>GET /api/dashboard</a:t>
            </a:r>
            <a:r>
              <a:rPr sz="1050" b="0" i="0" lang="en-US">
                <a:solidFill>
                  <a:srgbClr val="0E1B14"/>
                </a:solidFill>
                <a:latin typeface="Calibri"/>
              </a:rPr>
              <a:t>  as  amount × kg_co2_per_unit  — the client never calculates the footprint.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ACTIVITY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UML — user authentication &amp; session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585216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User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585216"/>
            <a:ext cx="201168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4575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System action</a:t>
            </a:r>
          </a:p>
        </p:txBody>
      </p:sp>
      <p:sp>
        <p:nvSpPr>
          <p:cNvPr id="11" name="Diamond 10"/>
          <p:cNvSpPr/>
          <p:nvPr/>
        </p:nvSpPr>
        <p:spPr>
          <a:xfrm>
            <a:off x="10424159" y="566928"/>
            <a:ext cx="201168" cy="201168"/>
          </a:xfrm>
          <a:prstGeom prst="diamond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80191" y="54864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80" b="0" i="0" lang="en-US">
                <a:solidFill>
                  <a:srgbClr val="44574E"/>
                </a:solidFill>
                <a:latin typeface="Calibri"/>
              </a:rPr>
              <a:t>Decision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1993392"/>
            <a:ext cx="310896" cy="310896"/>
          </a:xfrm>
          <a:prstGeom prst="ellipse">
            <a:avLst/>
          </a:prstGeom>
          <a:solidFill>
            <a:srgbClr val="0E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71600" y="1874519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6464" y="1874519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Open GreenStep</a:t>
            </a:r>
          </a:p>
        </p:txBody>
      </p:sp>
      <p:sp>
        <p:nvSpPr>
          <p:cNvPr id="16" name="Diamond 15"/>
          <p:cNvSpPr/>
          <p:nvPr/>
        </p:nvSpPr>
        <p:spPr>
          <a:xfrm>
            <a:off x="3310128" y="1664208"/>
            <a:ext cx="1828800" cy="969264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9856" y="1664208"/>
            <a:ext cx="16093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JWT token in
localStorage?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680" y="1874519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1874519"/>
            <a:ext cx="16733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Verify token
&amp; expiry</a:t>
            </a:r>
          </a:p>
        </p:txBody>
      </p:sp>
      <p:sp>
        <p:nvSpPr>
          <p:cNvPr id="20" name="Diamond 19"/>
          <p:cNvSpPr/>
          <p:nvPr/>
        </p:nvSpPr>
        <p:spPr>
          <a:xfrm>
            <a:off x="7424927" y="1664208"/>
            <a:ext cx="1783080" cy="969264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5" y="1664208"/>
            <a:ext cx="156362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Valid &amp;
not expired?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874519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874519"/>
            <a:ext cx="17190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Load Dashboard</a:t>
            </a:r>
          </a:p>
        </p:txBody>
      </p:sp>
      <p:sp>
        <p:nvSpPr>
          <p:cNvPr id="24" name="Oval 23"/>
          <p:cNvSpPr/>
          <p:nvPr/>
        </p:nvSpPr>
        <p:spPr>
          <a:xfrm>
            <a:off x="10287000" y="274320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1B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60152" y="2816352"/>
            <a:ext cx="219456" cy="219456"/>
          </a:xfrm>
          <a:prstGeom prst="ellipse">
            <a:avLst/>
          </a:prstGeom>
          <a:solidFill>
            <a:srgbClr val="0E1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71600" y="4160520"/>
            <a:ext cx="173736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6464" y="4160520"/>
            <a:ext cx="1627631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Show Login page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160520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38144" y="416052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1B14"/>
                </a:solidFill>
                <a:latin typeface="Calibri"/>
              </a:rPr>
              <a:t>Enter email +
password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68112" y="41605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22976" y="4160520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POST /api/auth/login</a:t>
            </a:r>
          </a:p>
        </p:txBody>
      </p:sp>
      <p:sp>
        <p:nvSpPr>
          <p:cNvPr id="32" name="Diamond 31"/>
          <p:cNvSpPr/>
          <p:nvPr/>
        </p:nvSpPr>
        <p:spPr>
          <a:xfrm>
            <a:off x="7424927" y="3968496"/>
            <a:ext cx="1783080" cy="960120"/>
          </a:xfrm>
          <a:prstGeom prst="diamond">
            <a:avLst/>
          </a:prstGeom>
          <a:solidFill>
            <a:srgbClr val="FEF3C7"/>
          </a:solidFill>
          <a:ln w="2032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655" y="3968496"/>
            <a:ext cx="15636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</a:pPr>
            <a:r>
              <a:rPr sz="960" b="1" i="0" lang="en-US">
                <a:solidFill>
                  <a:srgbClr val="B45309"/>
                </a:solidFill>
                <a:latin typeface="Calibri"/>
              </a:rPr>
              <a:t>Credentials
valid?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4160520"/>
            <a:ext cx="18288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18904" y="4160520"/>
            <a:ext cx="171907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40" b="1" i="0" lang="en-US">
                <a:solidFill>
                  <a:srgbClr val="0E1B14"/>
                </a:solidFill>
                <a:latin typeface="Calibri"/>
              </a:rPr>
              <a:t>Issue JWT (HS256)
+ store session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68112" y="5532120"/>
            <a:ext cx="1783080" cy="566928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2032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22976" y="5532120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960" b="1" i="0" lang="en-US">
                <a:solidFill>
                  <a:srgbClr val="0E1B14"/>
                </a:solidFill>
                <a:latin typeface="Calibri"/>
              </a:rPr>
              <a:t>Show 'Invalid
credentials'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225296" y="2148840"/>
            <a:ext cx="146304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108960" y="2148840"/>
            <a:ext cx="201168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138928" y="2148840"/>
            <a:ext cx="301752" cy="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47488" y="1865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00900" y="2148840"/>
            <a:ext cx="224027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08007" y="2148840"/>
            <a:ext cx="256033" cy="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162287" y="1865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0469880" y="2148840"/>
            <a:ext cx="822960" cy="594360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224528" y="2633472"/>
            <a:ext cx="0" cy="74980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2240280" y="3383280"/>
            <a:ext cx="1984248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240280" y="3383280"/>
            <a:ext cx="0" cy="77724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240280" y="4160520"/>
            <a:ext cx="0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270248" y="2743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240280" y="4114800"/>
            <a:ext cx="0" cy="4572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316467" y="2633472"/>
            <a:ext cx="0" cy="97840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2249424" y="3611880"/>
            <a:ext cx="6067043" cy="0"/>
          </a:xfrm>
          <a:prstGeom prst="line">
            <a:avLst/>
          </a:prstGeom>
          <a:ln w="17780">
            <a:solidFill>
              <a:srgbClr val="B45309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62188" y="2743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108960" y="4443984"/>
            <a:ext cx="274320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12080" y="4443984"/>
            <a:ext cx="256032" cy="0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246620" y="4443984"/>
            <a:ext cx="178307" cy="4572"/>
          </a:xfrm>
          <a:prstGeom prst="line">
            <a:avLst/>
          </a:prstGeom>
          <a:ln w="2032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208007" y="4443984"/>
            <a:ext cx="256033" cy="4572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162287" y="416052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yes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0378440" y="3108960"/>
            <a:ext cx="0" cy="1618488"/>
          </a:xfrm>
          <a:prstGeom prst="line">
            <a:avLst/>
          </a:prstGeom>
          <a:ln w="2032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10469880" y="36576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→ Dashboard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316467" y="4928616"/>
            <a:ext cx="0" cy="886968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7251192" y="5815584"/>
            <a:ext cx="1065275" cy="0"/>
          </a:xfrm>
          <a:prstGeom prst="line">
            <a:avLst/>
          </a:prstGeom>
          <a:ln w="20320">
            <a:solidFill>
              <a:srgbClr val="B45309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362188" y="50292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B45309"/>
                </a:solidFill>
                <a:latin typeface="Calibri"/>
              </a:rPr>
              <a:t>no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2240280" y="5815584"/>
            <a:ext cx="3227832" cy="0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2240280" y="4727448"/>
            <a:ext cx="0" cy="1088136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240280" y="4727448"/>
            <a:ext cx="0" cy="21031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DEPLOYMENT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Nodes, hosting environments &amp; network protocols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417320"/>
            <a:ext cx="2834640" cy="1207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1417320"/>
            <a:ext cx="2834640" cy="384048"/>
          </a:xfrm>
          <a:prstGeom prst="roundRect">
            <a:avLst>
              <a:gd name="adj" fmla="val 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356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«repository»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476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16325" y="2068519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16325" y="2283585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33075" y="2172980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043976" y="2123822"/>
            <a:ext cx="0" cy="165908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043976" y="2197559"/>
            <a:ext cx="95244" cy="614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49824" y="192024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606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Source of truth · push to main / PR3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1752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017520"/>
            <a:ext cx="2743200" cy="384048"/>
          </a:xfrm>
          <a:prstGeom prst="roundRect">
            <a:avLst>
              <a:gd name="adj" fmla="val 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03580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«device»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4392" y="3668719"/>
            <a:ext cx="122895" cy="270369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6622" y="3889930"/>
            <a:ext cx="18434" cy="184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53312" y="352043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Client 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206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Web browser (SPA)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48055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Android APK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75487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via Capacitor runtime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02919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User interface layer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80" y="301752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11880" y="3017520"/>
            <a:ext cx="2697480" cy="384048"/>
          </a:xfrm>
          <a:prstGeom prst="roundRect">
            <a:avLst>
              <a:gd name="adj" fmla="val 0"/>
            </a:avLst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30358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«static host»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94760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FA34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27896" y="3681008"/>
            <a:ext cx="245790" cy="24579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995489" y="3681008"/>
            <a:ext cx="110605" cy="24579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934041" y="3803904"/>
            <a:ext cx="2335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398264" y="35204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Netlify / Vercel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3048" y="4206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Compiled Vue 3 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13048" y="44805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Static asset CDN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13048" y="475487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HTTPS 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13048" y="50291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Auto-rebuild on push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65392" y="3017520"/>
            <a:ext cx="26974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65392" y="3017520"/>
            <a:ext cx="2697480" cy="384048"/>
          </a:xfrm>
          <a:prstGeom prst="roundRect">
            <a:avLst>
              <a:gd name="adj" fmla="val 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0358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«app server»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48272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87553" y="3681008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12132" y="3697906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887553" y="3773180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12132" y="3790078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887553" y="3865351"/>
            <a:ext cx="233501" cy="61447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12132" y="3882249"/>
            <a:ext cx="21506" cy="2150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51775" y="35204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Render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59" y="420624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PHP 8.1 · Slim 4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59" y="44805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:8080 · REST / JSON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59" y="475487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JWT middleware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59" y="502919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Stateless compute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60" y="3017520"/>
            <a:ext cx="2121408" cy="274320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09760" y="3017520"/>
            <a:ext cx="2121408" cy="38404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09760" y="3035808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FFFFFF"/>
                </a:solidFill>
                <a:latin typeface="Calibri"/>
              </a:rPr>
              <a:t>«db server»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92640" y="35478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838066" y="3708660"/>
            <a:ext cx="221211" cy="1536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838066" y="3819265"/>
            <a:ext cx="221211" cy="67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838066" y="3674863"/>
            <a:ext cx="221211" cy="67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38066" y="3674863"/>
            <a:ext cx="221211" cy="67592"/>
          </a:xfrm>
          <a:prstGeom prst="ellipse">
            <a:avLst/>
          </a:prstGeom>
          <a:noFill/>
          <a:ln w="1270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96144" y="3520439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Cloud SQL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10928" y="4206240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MySQL 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10928" y="448055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Port 3306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10928" y="475487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PDO connection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10928" y="5029199"/>
            <a:ext cx="1755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</a:pPr>
            <a:r>
              <a:rPr sz="960" b="0" i="0" lang="en-US">
                <a:solidFill>
                  <a:srgbClr val="C7F0D8"/>
                </a:solidFill>
                <a:latin typeface="Calibri"/>
              </a:rPr>
              <a:t>10 tables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4956048" y="2624328"/>
            <a:ext cx="484632" cy="39319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720840" y="2624328"/>
            <a:ext cx="1097280" cy="393192"/>
          </a:xfrm>
          <a:prstGeom prst="line">
            <a:avLst/>
          </a:prstGeom>
          <a:ln w="17780">
            <a:solidFill>
              <a:srgbClr val="6B7C72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297680" y="2670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6B7C72"/>
                </a:solidFill>
                <a:latin typeface="Calibri"/>
              </a:rPr>
              <a:t>deploy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0" y="267004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6B7C72"/>
                </a:solidFill>
                <a:latin typeface="Calibri"/>
              </a:rPr>
              <a:t>deploy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310128" y="4114800"/>
            <a:ext cx="301752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3035808" y="41148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HTTPS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309360" y="4389120"/>
            <a:ext cx="256032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025896" y="41148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15803D"/>
                </a:solidFill>
                <a:latin typeface="Calibri"/>
              </a:rPr>
              <a:t>HTTPS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262872" y="4389120"/>
            <a:ext cx="246888" cy="0"/>
          </a:xfrm>
          <a:prstGeom prst="line">
            <a:avLst/>
          </a:prstGeom>
          <a:ln w="27940">
            <a:solidFill>
              <a:srgbClr val="11533A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070848" y="41148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50" b="1" i="0" lang="en-US">
                <a:solidFill>
                  <a:srgbClr val="15803D"/>
                </a:solidFill>
                <a:latin typeface="Calibri"/>
              </a:rPr>
              <a:t>PDO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" y="598932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7240" y="6007608"/>
            <a:ext cx="109728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15803D"/>
                </a:solidFill>
                <a:latin typeface="Calibri"/>
              </a:rPr>
              <a:t>Free-tier public deployment: </a:t>
            </a:r>
            <a:r>
              <a:rPr sz="1050" b="0" i="0" lang="en-US">
                <a:solidFill>
                  <a:srgbClr val="0E1B14"/>
                </a:solidFill>
                <a:latin typeface="Calibri"/>
              </a:rPr>
              <a:t>the browser/APK loads the Vue SPA from Netlify, which calls the Slim API on Render over HTTPS; the API reaches MySQL on Cloud SQL via PDO. GitHub drives every deploy.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DATABASE · ENTITY-RELATIONSHIP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10 normalized tables, full referential integrity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74320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743200"/>
            <a:ext cx="1783080" cy="329184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74320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0" name="Oval 9"/>
          <p:cNvSpPr/>
          <p:nvPr/>
        </p:nvSpPr>
        <p:spPr>
          <a:xfrm>
            <a:off x="694944" y="320040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10896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role_id 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334670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80" y="2395728"/>
            <a:ext cx="178308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2395728"/>
            <a:ext cx="178308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39572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6" name="Oval 15"/>
          <p:cNvSpPr/>
          <p:nvPr/>
        </p:nvSpPr>
        <p:spPr>
          <a:xfrm>
            <a:off x="282549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76148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user_id 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7208" y="299923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role_id FK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236976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email ·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4747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password_hash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395728"/>
            <a:ext cx="196596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2395728"/>
            <a:ext cx="196596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395728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Activity_Log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276148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activity_log_id PK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2999232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23697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activity_type_id FK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347472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amount · logged_on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0" y="2395728"/>
            <a:ext cx="192024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2395728"/>
            <a:ext cx="192024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239572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Activity_Type</a:t>
            </a:r>
          </a:p>
        </p:txBody>
      </p:sp>
      <p:sp>
        <p:nvSpPr>
          <p:cNvPr id="32" name="Oval 31"/>
          <p:cNvSpPr/>
          <p:nvPr/>
        </p:nvSpPr>
        <p:spPr>
          <a:xfrm>
            <a:off x="7763256" y="285292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09560" y="27614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activity_type_id PK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967" y="29992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category_id FK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7" y="323697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unit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4967" y="34747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kg_co2_per_unit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2788920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2788920"/>
            <a:ext cx="178308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21240" y="27889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40" name="Oval 39"/>
          <p:cNvSpPr/>
          <p:nvPr/>
        </p:nvSpPr>
        <p:spPr>
          <a:xfrm>
            <a:off x="10049256" y="32461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5560" y="3154679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category_id PK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7" y="33924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1207008"/>
            <a:ext cx="178308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97480" y="1207008"/>
            <a:ext cx="178308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97480" y="1207008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Badge</a:t>
            </a:r>
          </a:p>
        </p:txBody>
      </p:sp>
      <p:sp>
        <p:nvSpPr>
          <p:cNvPr id="46" name="Oval 45"/>
          <p:cNvSpPr/>
          <p:nvPr/>
        </p:nvSpPr>
        <p:spPr>
          <a:xfrm>
            <a:off x="2825496" y="166420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1572768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badge_id PK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7208" y="1810512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criteria_json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74920" y="1188720"/>
            <a:ext cx="196596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F59E0B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74920" y="1188720"/>
            <a:ext cx="1965960" cy="3291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118872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User_Badge</a:t>
            </a:r>
          </a:p>
        </p:txBody>
      </p:sp>
      <p:sp>
        <p:nvSpPr>
          <p:cNvPr id="52" name="Oval 51"/>
          <p:cNvSpPr/>
          <p:nvPr/>
        </p:nvSpPr>
        <p:spPr>
          <a:xfrm>
            <a:off x="5202936" y="1645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9240" y="155448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badge_id PK,FK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4648" y="179222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PK,FK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84648" y="2029967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awarded_on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697480" y="4617720"/>
            <a:ext cx="1783080" cy="10607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1533A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97480" y="4617720"/>
            <a:ext cx="1783080" cy="329184"/>
          </a:xfrm>
          <a:prstGeom prst="rect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97480" y="4617720"/>
            <a:ext cx="1783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59" name="Oval 58"/>
          <p:cNvSpPr/>
          <p:nvPr/>
        </p:nvSpPr>
        <p:spPr>
          <a:xfrm>
            <a:off x="2825496" y="507492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971800" y="4983480"/>
            <a:ext cx="14173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challenge_id PK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7208" y="5221224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name · target_co2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07208" y="5458968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start · end_date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74920" y="4663440"/>
            <a:ext cx="1965960" cy="822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15803D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74920" y="4663440"/>
            <a:ext cx="196596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74920" y="4663440"/>
            <a:ext cx="19659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Challenge_Member</a:t>
            </a:r>
          </a:p>
        </p:txBody>
      </p:sp>
      <p:sp>
        <p:nvSpPr>
          <p:cNvPr id="66" name="Oval 65"/>
          <p:cNvSpPr/>
          <p:nvPr/>
        </p:nvSpPr>
        <p:spPr>
          <a:xfrm>
            <a:off x="5202936" y="512064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49240" y="502920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challenge_id PK,FK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84648" y="5266944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user_id PK,FK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35240" y="4709160"/>
            <a:ext cx="1920240" cy="12984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7780">
            <a:solidFill>
              <a:srgbClr val="0EA5E9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35240" y="4709160"/>
            <a:ext cx="1920240" cy="329184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35240" y="4709160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FFFFFF"/>
                </a:solidFill>
                <a:latin typeface="Calibri"/>
              </a:rPr>
              <a:t>Tip</a:t>
            </a:r>
          </a:p>
        </p:txBody>
      </p:sp>
      <p:sp>
        <p:nvSpPr>
          <p:cNvPr id="72" name="Oval 71"/>
          <p:cNvSpPr/>
          <p:nvPr/>
        </p:nvSpPr>
        <p:spPr>
          <a:xfrm>
            <a:off x="7763256" y="51663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09560" y="5074920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0E1B14"/>
                </a:solidFill>
                <a:latin typeface="Consolas"/>
              </a:rPr>
              <a:t>tip_id PK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4967" y="531266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category_id FK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44967" y="555040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1" i="0" lang="en-US">
                <a:solidFill>
                  <a:srgbClr val="7C3AED"/>
                </a:solidFill>
                <a:latin typeface="Consolas"/>
              </a:rPr>
              <a:t>added_by FK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44967" y="57881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9" b="0" i="0" lang="en-US">
                <a:solidFill>
                  <a:srgbClr val="44574E"/>
                </a:solidFill>
                <a:latin typeface="Consolas"/>
              </a:rPr>
              <a:t>title · body</a:t>
            </a:r>
          </a:p>
        </p:txBody>
      </p:sp>
      <p:cxnSp>
        <p:nvCxnSpPr>
          <p:cNvPr id="77" name="Connector 76"/>
          <p:cNvCxnSpPr/>
          <p:nvPr/>
        </p:nvCxnSpPr>
        <p:spPr>
          <a:xfrm flipV="1">
            <a:off x="2350008" y="3044952"/>
            <a:ext cx="347472" cy="109728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157984" y="289864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480560" y="3044952"/>
            <a:ext cx="594360" cy="0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411979" y="28437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7040879" y="3044952"/>
            <a:ext cx="594361" cy="0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972299" y="284378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3" name="Connector 82"/>
          <p:cNvCxnSpPr/>
          <p:nvPr/>
        </p:nvCxnSpPr>
        <p:spPr>
          <a:xfrm flipH="1" flipV="1">
            <a:off x="9555480" y="3044952"/>
            <a:ext cx="365760" cy="155448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372599" y="292150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3589020" y="2249424"/>
            <a:ext cx="2011680" cy="14630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480560" y="1618488"/>
            <a:ext cx="594360" cy="10058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931920" y="18288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589020" y="3694176"/>
            <a:ext cx="2103120" cy="969264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480560" y="5074920"/>
            <a:ext cx="594360" cy="73152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977639" y="4572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44574E"/>
                </a:solidFill>
                <a:latin typeface="Calibri"/>
              </a:rPr>
              <a:t>1—∞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8961120" y="3611879"/>
            <a:ext cx="1851660" cy="1097281"/>
          </a:xfrm>
          <a:prstGeom prst="line">
            <a:avLst/>
          </a:prstGeom>
          <a:ln w="16510">
            <a:solidFill>
              <a:srgbClr val="44574E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63340" y="3694176"/>
            <a:ext cx="4366260" cy="1014984"/>
          </a:xfrm>
          <a:prstGeom prst="line">
            <a:avLst/>
          </a:prstGeom>
          <a:ln w="15240">
            <a:solidFill>
              <a:srgbClr val="44574E"/>
            </a:solidFill>
            <a:prstDash val="dash"/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595360" y="429768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760" b="1" i="0" lang="en-US">
                <a:solidFill>
                  <a:srgbClr val="6B7C72"/>
                </a:solidFill>
                <a:latin typeface="Calibri"/>
              </a:rPr>
              <a:t>added_by</a:t>
            </a:r>
          </a:p>
        </p:txBody>
      </p:sp>
      <p:sp>
        <p:nvSpPr>
          <p:cNvPr id="94" name="Oval 93"/>
          <p:cNvSpPr/>
          <p:nvPr/>
        </p:nvSpPr>
        <p:spPr>
          <a:xfrm>
            <a:off x="585216" y="6172200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8096" y="608990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>
                <a:solidFill>
                  <a:srgbClr val="B45309"/>
                </a:solidFill>
                <a:latin typeface="Consolas"/>
              </a:rPr>
              <a:t>PK 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Primary key      </a:t>
            </a:r>
            <a:r>
              <a:rPr sz="950" b="1" i="0" lang="en-US">
                <a:solidFill>
                  <a:srgbClr val="7C3AED"/>
                </a:solidFill>
                <a:latin typeface="Consolas"/>
              </a:rPr>
              <a:t>FK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 Foreign key      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1—∞ 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one-to-many      All FKs use ON DELETE CASCADE / RESTRICT for referential integrity.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BACKEND ENGINE · REST API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20 endpoints · 7 controllers · stateless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813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40">
                <a:solidFill>
                  <a:srgbClr val="15803D"/>
                </a:solidFill>
                <a:latin typeface="Calibri"/>
              </a:rPr>
              <a:t>API SURFACE — grouped by access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0025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84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9659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Public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24942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/health · /auth/register · /auth/login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" y="2862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8437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282549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Authenticated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6736" y="310896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logs CRUD · dashboard · activity-types · tips · badges · challenges ·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66160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37216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03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36850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Community Leader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6" y="396849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challenges: create · update · delete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25696"/>
            <a:ext cx="5486400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458114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62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6736" y="45445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Administrator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482803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30" b="0" i="0" lang="en-US">
                <a:solidFill>
                  <a:srgbClr val="44574E"/>
                </a:solidFill>
                <a:latin typeface="Consolas"/>
              </a:rPr>
              <a:t>tips: create · factors: list &amp;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30351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Inheritance: 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Leader ⊇ User ⊇ Public   ·   Admin ⊇ all.  Wrong role → </a:t>
            </a:r>
            <a:r>
              <a:rPr sz="1000" b="1" i="0" lang="en-US">
                <a:solidFill>
                  <a:srgbClr val="E11D48"/>
                </a:solidFill>
                <a:latin typeface="Consolas"/>
              </a:rPr>
              <a:t>403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; missing/expired token → </a:t>
            </a:r>
            <a:r>
              <a:rPr sz="1000" b="1" i="0" lang="en-US">
                <a:solidFill>
                  <a:srgbClr val="E11D48"/>
                </a:solidFill>
                <a:latin typeface="Consolas"/>
              </a:rPr>
              <a:t>401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1481328"/>
            <a:ext cx="5285232" cy="1993392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19672" y="164226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675120" y="164226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30568" y="164226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157825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Database.php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1889150"/>
            <a:ext cx="4956048" cy="1420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// hardened PDO — structural SQLi defence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C792EA"/>
                </a:solidFill>
                <a:latin typeface="Consolas"/>
              </a:rPr>
              <a:t>new 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PDO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($dsn,$user,$pass,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PDO::ATTR_ERRMODE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 =&gt;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      PDO::ERRMODE_EXCEPTION,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PDO::ATTR_EMULATE_PREPARES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 =&gt; </a:t>
            </a:r>
            <a:r>
              <a:rPr sz="1150" b="0" i="0" lang="en-US">
                <a:solidFill>
                  <a:srgbClr val="F78C6C"/>
                </a:solidFill>
                <a:latin typeface="Consolas"/>
              </a:rPr>
              <a:t>false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]);  </a:t>
            </a:r>
            <a:r>
              <a:rPr sz="1150" b="0" i="0" lang="en-US">
                <a:solidFill>
                  <a:srgbClr val="6E8C7E"/>
                </a:solidFill>
                <a:latin typeface="Consolas"/>
              </a:rPr>
              <a:t>// params can never become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3584448"/>
            <a:ext cx="5285232" cy="1371600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19672" y="3745382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75120" y="3745382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30568" y="3745382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600" y="3681374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AuthController.php — issueToken()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9672" y="3992270"/>
            <a:ext cx="4956048" cy="7991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$payload = [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'sub'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=&gt;$id,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'role'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=&gt;$role,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  'iat'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=&gt;$now,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'exp'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=&gt;$now+$ttl ];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82AAFF"/>
                </a:solidFill>
                <a:latin typeface="Consolas"/>
              </a:rPr>
              <a:t>JWT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::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encode($payload,$secret,</a:t>
            </a:r>
            <a:r>
              <a:rPr sz="1150" b="0" i="0" lang="en-US">
                <a:solidFill>
                  <a:srgbClr val="C3E88D"/>
                </a:solidFill>
                <a:latin typeface="Consolas"/>
              </a:rPr>
              <a:t>'HS256'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);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55080" y="5074920"/>
            <a:ext cx="198059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64808" y="519379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065776"/>
            <a:ext cx="16696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bcrypt password_hash()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45398" y="5074920"/>
            <a:ext cx="1525219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55126" y="5193792"/>
            <a:ext cx="91440" cy="91440"/>
          </a:xfrm>
          <a:prstGeom prst="ellipse">
            <a:avLst/>
          </a:prstGeom>
          <a:solidFill>
            <a:srgbClr val="1FA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19718" y="5065776"/>
            <a:ext cx="121432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time-safe verify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5495544"/>
            <a:ext cx="1677009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64808" y="5614416"/>
            <a:ext cx="91440" cy="91440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486400"/>
            <a:ext cx="136611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HS256 JWT · 1h TTL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41817" y="5495544"/>
            <a:ext cx="1904695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251545" y="561441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6137" y="5486400"/>
            <a:ext cx="159379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user-enumeration safe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5916168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64808" y="603504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29400" y="5907024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FK cascade integrity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93608" y="5916168"/>
            <a:ext cx="1980590" cy="32918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03336" y="6035040"/>
            <a:ext cx="91440" cy="9144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28" y="5907024"/>
            <a:ext cx="166969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30" b="1" i="0" lang="en-US">
                <a:solidFill>
                  <a:srgbClr val="0E1B14"/>
                </a:solidFill>
                <a:latin typeface="Calibri"/>
              </a:rPr>
              <a:t>uniform JSON envelopes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CO₂ ENGINE &amp; GAMIFICATION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Authoritative server-side maths, credible factors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86400" cy="713232"/>
          </a:xfrm>
          <a:prstGeom prst="roundRect">
            <a:avLst>
              <a:gd name="adj" fmla="val 8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486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4ADE80"/>
                </a:solidFill>
                <a:latin typeface="Consolas"/>
              </a:rPr>
              <a:t>CO₂ (kg)  =  amount  ×  kg_co2_per_unit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31720"/>
            <a:ext cx="5486400" cy="31546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331720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331720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Unit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2331720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kg CO₂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647187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647187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647187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2647187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0.170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962655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962655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Public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2962655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8224" y="2962655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0.044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278123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278123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Electricity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278123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kWh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78224" y="3278123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0.212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593591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593591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Red-Meat Meal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3593591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78224" y="3593591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2.500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909059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3909059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Mixed Meal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80944" y="3909059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78224" y="3909059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1.200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224527"/>
            <a:ext cx="5486400" cy="315468"/>
          </a:xfrm>
          <a:prstGeom prst="rect">
            <a:avLst/>
          </a:prstGeom>
          <a:solidFill>
            <a:srgbClr val="F0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4224527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Vegetarian Meal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0944" y="4224527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meal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78224" y="4224527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0.500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539995"/>
            <a:ext cx="5486400" cy="3154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" y="4539995"/>
            <a:ext cx="212140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Recycling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539995"/>
            <a:ext cx="91440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item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8224" y="4539995"/>
            <a:ext cx="190195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0E1B14"/>
                </a:solidFill>
                <a:latin typeface="Calibri"/>
              </a:rPr>
              <a:t>−0.100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66928" y="2647187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6928" y="2962655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6928" y="3278123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6928" y="3593591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66928" y="3909059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6928" y="4224527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66928" y="4539995"/>
            <a:ext cx="5486400" cy="0"/>
          </a:xfrm>
          <a:prstGeom prst="line">
            <a:avLst/>
          </a:prstGeom>
          <a:ln w="9525">
            <a:solidFill>
              <a:srgbClr val="CDE6D6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6928" y="50292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Source: </a:t>
            </a:r>
            <a:r>
              <a:rPr sz="1000" b="0" i="0" lang="en-US">
                <a:solidFill>
                  <a:srgbClr val="44574E"/>
                </a:solidFill>
                <a:latin typeface="Calibri"/>
              </a:rPr>
              <a:t>DEFRA UK GHG 2023 + IPCC AR6. Factors live in the DB — admins update them via API, never in code. Negative = net carbon saving.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14630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37960" y="16459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7204" y="1752429"/>
            <a:ext cx="28529" cy="9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95674" y="1752429"/>
            <a:ext cx="28529" cy="9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710086" y="1832311"/>
            <a:ext cx="131234" cy="13123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38615" y="1860840"/>
            <a:ext cx="74176" cy="74176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15819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Badges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41464" y="18470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5 badges via JSON criteria — total_logs · streak_days · category_logs — auto-awarded (INSERT IGNORE).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55080" y="23774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537960" y="25603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690116" y="2655417"/>
            <a:ext cx="171175" cy="285293"/>
          </a:xfrm>
          <a:custGeom>
            <a:avLst/>
            <a:gdLst/>
            <a:ahLst/>
            <a:cxnLst/>
            <a:rect l="l" t="t" r="r" b="b"/>
            <a:pathLst>
              <a:path w="171175" h="285293">
                <a:moveTo>
                  <a:pt x="108411" y="0"/>
                </a:moveTo>
                <a:lnTo>
                  <a:pt x="0" y="159764"/>
                </a:lnTo>
                <a:lnTo>
                  <a:pt x="74176" y="159764"/>
                </a:lnTo>
                <a:lnTo>
                  <a:pt x="39941" y="285293"/>
                </a:lnTo>
                <a:lnTo>
                  <a:pt x="171175" y="114117"/>
                </a:lnTo>
                <a:lnTo>
                  <a:pt x="91293" y="114117"/>
                </a:lnTo>
                <a:lnTo>
                  <a:pt x="13123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41464" y="24963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Streaks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41464" y="27614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Consecutive-day algorithm walks back from today over distinct log dates.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55080" y="32918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537960" y="3474720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690116" y="3586935"/>
            <a:ext cx="17117" cy="2510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707233" y="3598346"/>
            <a:ext cx="171176" cy="114118"/>
          </a:xfrm>
          <a:custGeom>
            <a:avLst/>
            <a:gdLst/>
            <a:ahLst/>
            <a:cxnLst/>
            <a:rect l="l" t="t" r="r" b="b"/>
            <a:pathLst>
              <a:path w="171176" h="114118">
                <a:moveTo>
                  <a:pt x="0" y="0"/>
                </a:moveTo>
                <a:lnTo>
                  <a:pt x="171176" y="34236"/>
                </a:lnTo>
                <a:lnTo>
                  <a:pt x="97000" y="68471"/>
                </a:lnTo>
                <a:lnTo>
                  <a:pt x="171176" y="114118"/>
                </a:lnTo>
                <a:lnTo>
                  <a:pt x="0" y="1141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41464" y="3410712"/>
            <a:ext cx="4370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Challenges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41464" y="3675888"/>
            <a:ext cx="4325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</a:pPr>
            <a:r>
              <a:rPr sz="969" b="0" i="0" lang="en-US">
                <a:solidFill>
                  <a:srgbClr val="44574E"/>
                </a:solidFill>
                <a:latin typeface="Calibri"/>
              </a:rPr>
              <a:t>Collective baseline-vs-during window: Σ saved_kg vs target, ranked leaderboard.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55080" y="4261104"/>
            <a:ext cx="5285232" cy="1207008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519672" y="4422038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675120" y="4422038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830568" y="4422038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086600" y="4358030"/>
            <a:ext cx="4187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86A99A"/>
                </a:solidFill>
                <a:latin typeface="Consolas"/>
              </a:rPr>
              <a:t>gamification rule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19672" y="4668926"/>
            <a:ext cx="4956048" cy="634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// Badge.criteria_json — evaluated server-side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{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"type"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 </a:t>
            </a:r>
            <a:r>
              <a:rPr sz="1150" b="0" i="0" lang="en-US">
                <a:solidFill>
                  <a:srgbClr val="C3E88D"/>
                </a:solidFill>
                <a:latin typeface="Consolas"/>
              </a:rPr>
              <a:t>"streak_days"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, </a:t>
            </a:r>
            <a:r>
              <a:rPr sz="1150" b="0" i="0" lang="en-US">
                <a:solidFill>
                  <a:srgbClr val="82AAFF"/>
                </a:solidFill>
                <a:latin typeface="Consolas"/>
              </a:rPr>
              <a:t>"threshold"</a:t>
            </a:r>
            <a:r>
              <a:rPr sz="1150" b="0" i="0" lang="en-US">
                <a:solidFill>
                  <a:srgbClr val="8AA0AE"/>
                </a:solidFill>
                <a:latin typeface="Consolas"/>
              </a:rPr>
              <a:t>: </a:t>
            </a:r>
            <a:r>
              <a:rPr sz="1150" b="0" i="0" lang="en-US">
                <a:solidFill>
                  <a:srgbClr val="F78C6C"/>
                </a:solidFill>
                <a:latin typeface="Consolas"/>
              </a:rPr>
              <a:t>7</a:t>
            </a:r>
            <a:r>
              <a:rPr sz="1150" b="0" i="0" lang="en-US">
                <a:solidFill>
                  <a:srgbClr val="D7F2E4"/>
                </a:solidFill>
                <a:latin typeface="Consolas"/>
              </a:rPr>
              <a:t> }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6E8C7E"/>
                </a:solidFill>
                <a:latin typeface="Consolas"/>
              </a:rPr>
              <a:t>→ ‘Green Streak’ unlocks at 7 consecutive 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Authentication → personal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233172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6" y="1618488"/>
            <a:ext cx="2203703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4188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22475" y="1947672"/>
            <a:ext cx="603504" cy="603504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5802" y="2127757"/>
            <a:ext cx="256851" cy="243333"/>
          </a:xfrm>
          <a:custGeom>
            <a:avLst/>
            <a:gdLst/>
            <a:ahLst/>
            <a:cxnLst/>
            <a:rect l="l" t="t" r="r" b="b"/>
            <a:pathLst>
              <a:path w="256851" h="243333">
                <a:moveTo>
                  <a:pt x="0" y="243333"/>
                </a:moveTo>
                <a:lnTo>
                  <a:pt x="256851" y="0"/>
                </a:lnTo>
                <a:lnTo>
                  <a:pt x="250092" y="138565"/>
                </a:lnTo>
                <a:lnTo>
                  <a:pt x="128426" y="243333"/>
                </a:lnTo>
                <a:lnTo>
                  <a:pt x="0" y="243333"/>
                </a:lnTo>
                <a:close/>
              </a:path>
            </a:pathLst>
          </a:cu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722839" y="2148035"/>
            <a:ext cx="202777" cy="202777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" y="2633472"/>
            <a:ext cx="2203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1533A"/>
                </a:solidFill>
                <a:latin typeface="Calibri"/>
              </a:rPr>
              <a:t>GreenStep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953512"/>
            <a:ext cx="220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44574E"/>
                </a:solidFill>
                <a:latin typeface="Calibri"/>
              </a:rPr>
              <a:t>Welcome back!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" y="3364991"/>
            <a:ext cx="1801367" cy="38404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3364991"/>
            <a:ext cx="1655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Email address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" y="3867911"/>
            <a:ext cx="1801367" cy="384048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867911"/>
            <a:ext cx="165506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Password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" y="4462272"/>
            <a:ext cx="1801367" cy="420624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4462272"/>
            <a:ext cx="180136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FFFFFF"/>
                </a:solidFill>
                <a:latin typeface="Calibri"/>
              </a:rPr>
              <a:t>Log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5010912"/>
            <a:ext cx="220370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Not a member? Register now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0" y="1554480"/>
            <a:ext cx="260604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264408" y="1618488"/>
            <a:ext cx="2478024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183380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1764792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Hello, Lucy!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2103120"/>
            <a:ext cx="2148840" cy="78638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3" y="2176272"/>
            <a:ext cx="19293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i="0" lang="en-US">
                <a:solidFill>
                  <a:srgbClr val="44574E"/>
                </a:solidFill>
                <a:latin typeface="Calibri"/>
              </a:rPr>
              <a:t>Today's Carbon Footprint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75303" y="2359152"/>
            <a:ext cx="1929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100" b="1" i="0" lang="en-US">
                <a:solidFill>
                  <a:srgbClr val="11533A"/>
                </a:solidFill>
                <a:latin typeface="Calibri"/>
              </a:rPr>
              <a:t>15.2</a:t>
            </a:r>
            <a:r>
              <a:rPr sz="1100" b="1" i="0" lang="en-US">
                <a:solidFill>
                  <a:srgbClr val="44574E"/>
                </a:solidFill>
                <a:latin typeface="Calibri"/>
              </a:rPr>
              <a:t> kg CO₂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75303" y="2706624"/>
            <a:ext cx="868680" cy="164592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3" y="26974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50" b="1" i="0" lang="en-US">
                <a:solidFill>
                  <a:srgbClr val="FFFFFF"/>
                </a:solidFill>
                <a:latin typeface="Calibri"/>
              </a:rPr>
              <a:t>▼ 15% vs yest.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017520"/>
            <a:ext cx="2203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0E1B14"/>
                </a:solidFill>
                <a:latin typeface="Calibri"/>
              </a:rPr>
              <a:t>Weekly Summary  ·  kg CO₂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9584" y="3319272"/>
            <a:ext cx="189411" cy="86868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83864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10435" y="3409462"/>
            <a:ext cx="189411" cy="778489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64715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91286" y="3509147"/>
            <a:ext cx="189411" cy="678804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45566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2138" y="3594591"/>
            <a:ext cx="189411" cy="593360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6418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2989" y="3447437"/>
            <a:ext cx="189411" cy="74051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07269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3841" y="3376234"/>
            <a:ext cx="189411" cy="811717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88121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4692" y="3347753"/>
            <a:ext cx="189411" cy="840198"/>
          </a:xfrm>
          <a:prstGeom prst="roundRect">
            <a:avLst>
              <a:gd name="adj" fmla="val 3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8972" y="4206240"/>
            <a:ext cx="280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00" b="0" i="0" lang="en-US">
                <a:solidFill>
                  <a:srgbClr val="6B7C72"/>
                </a:solidFill>
                <a:latin typeface="Calibri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462272"/>
            <a:ext cx="22037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0E1B14"/>
                </a:solidFill>
                <a:latin typeface="Calibri"/>
              </a:rPr>
              <a:t>Your Badges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7288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21024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7562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01285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734131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756516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47288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Eco
Beginner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97096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370832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97370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51093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483939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06324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7096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Recycling
Pro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46904" y="4718304"/>
            <a:ext cx="676656" cy="676656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120640" y="4828031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47178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00901" y="4889655"/>
            <a:ext cx="22384" cy="76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233747" y="4952331"/>
            <a:ext cx="102968" cy="1029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56132" y="4974716"/>
            <a:ext cx="58199" cy="58199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46904" y="5138928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Green
Streak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429000" y="5541264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2900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1" i="0" lang="en-US">
                <a:solidFill>
                  <a:srgbClr val="C7F0D8"/>
                </a:solidFill>
                <a:latin typeface="Calibri"/>
              </a:rPr>
              <a:t>Home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6621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Log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42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Goals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0630" y="5541264"/>
            <a:ext cx="53721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00" b="0" i="0" lang="en-US">
                <a:solidFill>
                  <a:srgbClr val="C7F0D8"/>
                </a:solidFill>
                <a:latin typeface="Calibri"/>
              </a:rPr>
              <a:t>You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16916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What the panel will see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20756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342293" y="2225971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390046" y="2166279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684264" y="204825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Login posts credentials; the API verifies bcrypt + issues a JWT, stored client-side.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263640" y="2551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6342293" y="2701459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390046" y="2641767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684264" y="252374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Dashboard calls one endpoint; the server returns today's CO₂, the 7-day trend, streak &amp; badges.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63640" y="30266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6342293" y="3176947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390046" y="3117255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684264" y="299923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Every number is computed live from seeded, realistic data — no hardcoded screens.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3520440"/>
            <a:ext cx="5394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ENDPOINTS EXERCISED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263640" y="3813048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9944" y="3803904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POST /api/auth/login   →  200 { token, user }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63640" y="4215384"/>
            <a:ext cx="539496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9944" y="4206240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/api/dashboard    →  200 { today, week, badges 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Log an activity → footprint updates instantly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554480"/>
            <a:ext cx="2697480" cy="4480560"/>
          </a:xfrm>
          <a:prstGeom prst="roundRect">
            <a:avLst>
              <a:gd name="adj" fmla="val 100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" y="1618488"/>
            <a:ext cx="2569464" cy="43525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32788" y="1673352"/>
            <a:ext cx="640080" cy="109728"/>
          </a:xfrm>
          <a:prstGeom prst="roundRect">
            <a:avLst>
              <a:gd name="adj" fmla="val 50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55648"/>
            <a:ext cx="2295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0E1B14"/>
                </a:solidFill>
                <a:latin typeface="Calibri"/>
              </a:rPr>
              <a:t>Daily Activity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7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50" b="0" i="0" lang="en-US">
                <a:solidFill>
                  <a:srgbClr val="6B7C72"/>
                </a:solidFill>
                <a:latin typeface="Calibri"/>
              </a:rPr>
              <a:t>30 June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Transport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78992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144331" y="2737742"/>
            <a:ext cx="44242" cy="44243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88573" y="2682439"/>
            <a:ext cx="81111" cy="995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32688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Walk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17904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664208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729547" y="2737742"/>
            <a:ext cx="44242" cy="44243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773789" y="2682439"/>
            <a:ext cx="81111" cy="995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517904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Bike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49424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03702" y="2660318"/>
            <a:ext cx="147474" cy="14747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44258" y="2660318"/>
            <a:ext cx="66363" cy="147474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2307389" y="2734056"/>
            <a:ext cx="1401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103120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1" i="0" lang="en-US">
                <a:solidFill>
                  <a:srgbClr val="44574E"/>
                </a:solidFill>
                <a:latin typeface="Calibri"/>
              </a:rPr>
              <a:t>Bus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88336" y="2505456"/>
            <a:ext cx="530352" cy="530352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834640" y="2606039"/>
            <a:ext cx="256032" cy="256032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5787" y="2652945"/>
            <a:ext cx="73737" cy="162221"/>
          </a:xfrm>
          <a:prstGeom prst="roundRect">
            <a:avLst>
              <a:gd name="adj" fmla="val 20000"/>
            </a:avLst>
          </a:prstGeom>
          <a:noFill/>
          <a:ln w="279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57125" y="2785672"/>
            <a:ext cx="11060" cy="110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2852928"/>
            <a:ext cx="5303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660" b="0" i="0" lang="en-US">
                <a:solidFill>
                  <a:srgbClr val="44574E"/>
                </a:solidFill>
                <a:latin typeface="Calibri"/>
              </a:rPr>
              <a:t>Car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3145536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" y="3145536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60" b="0" i="0" lang="en-US">
                <a:solidFill>
                  <a:srgbClr val="6B7C72"/>
                </a:solidFill>
                <a:latin typeface="Calibri"/>
              </a:rPr>
              <a:t>Distance</a:t>
            </a:r>
            <a:r>
              <a:rPr sz="950" b="1" i="0" lang="en-US">
                <a:solidFill>
                  <a:srgbClr val="0E1B14"/>
                </a:solidFill>
                <a:latin typeface="Calibri"/>
              </a:rPr>
              <a:t>        15 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3584448"/>
            <a:ext cx="2295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15803D"/>
                </a:solidFill>
                <a:latin typeface="Calibri"/>
              </a:rPr>
              <a:t>Meal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268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1778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1" i="0" lang="en-US">
                <a:solidFill>
                  <a:srgbClr val="15803D"/>
                </a:solidFill>
                <a:latin typeface="Calibri"/>
              </a:rPr>
              <a:t>Vegetarian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992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0992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0" i="0" lang="en-US">
                <a:solidFill>
                  <a:srgbClr val="44574E"/>
                </a:solidFill>
                <a:latin typeface="Calibri"/>
              </a:rPr>
              <a:t>Mixed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87168" y="3803904"/>
            <a:ext cx="713232" cy="36576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87168" y="3803904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760" b="0" i="0" lang="en-US">
                <a:solidFill>
                  <a:srgbClr val="44574E"/>
                </a:solidFill>
                <a:latin typeface="Calibri"/>
              </a:rPr>
              <a:t>Red Meat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" y="4315968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" y="4315968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6B7C72"/>
                </a:solidFill>
                <a:latin typeface="Calibri"/>
              </a:rPr>
              <a:t>Electricity (kWh)</a:t>
            </a:r>
            <a:r>
              <a:rPr sz="930" b="1" i="0" lang="en-US">
                <a:solidFill>
                  <a:srgbClr val="0E1B14"/>
                </a:solidFill>
                <a:latin typeface="Calibri"/>
              </a:rPr>
              <a:t>     5.0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2688" y="4736592"/>
            <a:ext cx="224028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" y="4736592"/>
            <a:ext cx="2020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6B7C72"/>
                </a:solidFill>
                <a:latin typeface="Calibri"/>
              </a:rPr>
              <a:t>Recycling (items)</a:t>
            </a:r>
            <a:r>
              <a:rPr sz="930" b="1" i="0" lang="en-US">
                <a:solidFill>
                  <a:srgbClr val="0E1B14"/>
                </a:solidFill>
                <a:latin typeface="Calibri"/>
              </a:rPr>
              <a:t>    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2688" y="5230368"/>
            <a:ext cx="2240280" cy="420624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230368"/>
            <a:ext cx="22402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Calculate &amp; Save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483864" y="3822191"/>
            <a:ext cx="530352" cy="0"/>
          </a:xfrm>
          <a:prstGeom prst="line">
            <a:avLst/>
          </a:prstGeom>
          <a:ln w="30480">
            <a:solidFill>
              <a:srgbClr val="1FA34D"/>
            </a:solidFill>
            <a:headEnd type="non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069080" y="2359152"/>
            <a:ext cx="27432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88536" y="254203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>
                <a:solidFill>
                  <a:srgbClr val="15803D"/>
                </a:solidFill>
                <a:latin typeface="Calibri"/>
              </a:rPr>
              <a:t>Server response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88536" y="2871215"/>
            <a:ext cx="2331720" cy="914400"/>
          </a:xfrm>
          <a:prstGeom prst="roundRect">
            <a:avLst>
              <a:gd name="adj" fmla="val 4500"/>
            </a:avLst>
          </a:prstGeom>
          <a:solidFill>
            <a:srgbClr val="0B2D20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2960827"/>
            <a:ext cx="2075687" cy="696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9FE7BE"/>
                </a:solidFill>
                <a:latin typeface="Consolas"/>
              </a:rPr>
              <a:t>POST /api/logs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C3E88D"/>
                </a:solidFill>
                <a:latin typeface="Consolas"/>
              </a:rPr>
              <a:t>201 Created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 lang="en-US">
                <a:solidFill>
                  <a:srgbClr val="D7F2E4"/>
                </a:solidFill>
                <a:latin typeface="Consolas"/>
              </a:rPr>
              <a:t>{ "id": 142 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88536" y="3913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Bus 15 km × 0.044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88536" y="415137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11533A"/>
                </a:solidFill>
                <a:latin typeface="Calibri"/>
              </a:rPr>
              <a:t>= 0.65 kg CO₂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88536" y="4590288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88536" y="4581144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Dashboard re-fetches → today updates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1691640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15803D"/>
                </a:solidFill>
                <a:latin typeface="Calibri"/>
              </a:rPr>
              <a:t>Full CRUD, real calculation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0" y="2075688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7393853" y="2225971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7441606" y="2166279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735824" y="2048256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Activity types populate the form from the DB (GET /api/activity-types).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0" y="2551176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393853" y="2701459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7441606" y="2641767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35824" y="2523744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Saving validates input, confirms the type exists, then inserts the log.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0" y="3026664"/>
            <a:ext cx="292608" cy="292608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7393853" y="3176947"/>
            <a:ext cx="47753" cy="47754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7441606" y="3117255"/>
            <a:ext cx="87548" cy="107446"/>
          </a:xfrm>
          <a:prstGeom prst="line">
            <a:avLst/>
          </a:prstGeom>
          <a:ln w="3556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735824" y="2999232"/>
            <a:ext cx="3886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The dashboard recomputes the footprint server-side on next fetch.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0" y="352044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60">
                <a:solidFill>
                  <a:srgbClr val="6B7C72"/>
                </a:solidFill>
                <a:latin typeface="Calibri"/>
              </a:rPr>
              <a:t>ENDPOINTS EXERCISED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315200" y="3813048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61504" y="3803904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/api/activity-types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315200" y="4215384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61504" y="420624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POST /api/logs   →  201 { id }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0" y="4617720"/>
            <a:ext cx="4343400" cy="329184"/>
          </a:xfrm>
          <a:prstGeom prst="roundRect">
            <a:avLst>
              <a:gd name="adj" fmla="val 6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61504" y="4608576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60" b="0" i="0" lang="en-US">
                <a:solidFill>
                  <a:srgbClr val="9FE7BE"/>
                </a:solidFill>
                <a:latin typeface="Consolas"/>
              </a:rPr>
              <a:t>GET  /api/dashboard (recompute)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LIVE DEMO · 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Challenges, badges &amp; the admin control panel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5661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7393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881835"/>
            <a:ext cx="16459" cy="2414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49147" y="1892807"/>
            <a:ext cx="164592" cy="109729"/>
          </a:xfrm>
          <a:custGeom>
            <a:avLst/>
            <a:gdLst/>
            <a:ahLst/>
            <a:cxnLst/>
            <a:rect l="l" t="t" r="r" b="b"/>
            <a:pathLst>
              <a:path w="164592" h="109729">
                <a:moveTo>
                  <a:pt x="0" y="0"/>
                </a:moveTo>
                <a:lnTo>
                  <a:pt x="164592" y="32919"/>
                </a:lnTo>
                <a:lnTo>
                  <a:pt x="93268" y="65837"/>
                </a:lnTo>
                <a:lnTo>
                  <a:pt x="164592" y="109729"/>
                </a:lnTo>
                <a:lnTo>
                  <a:pt x="0" y="1097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17556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 lang="en-US">
                <a:solidFill>
                  <a:srgbClr val="0E1B14"/>
                </a:solidFill>
                <a:latin typeface="Calibri"/>
              </a:rPr>
              <a:t>Eco-Commuter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0116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960" b="0" i="0" lang="en-US">
                <a:solidFill>
                  <a:srgbClr val="44574E"/>
                </a:solidFill>
                <a:latin typeface="Calibri"/>
              </a:rPr>
              <a:t>Public transit / cycling / walking for 7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14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 lang="en-US">
                <a:solidFill>
                  <a:srgbClr val="15803D"/>
                </a:solidFill>
                <a:latin typeface="Calibri"/>
              </a:rPr>
              <a:t>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57860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B45309"/>
                </a:solidFill>
                <a:latin typeface="Calibri"/>
              </a:rPr>
              <a:t>3 days left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2926080"/>
            <a:ext cx="3127248" cy="20116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26080"/>
            <a:ext cx="1813803" cy="201168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20040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44574E"/>
                </a:solidFill>
                <a:latin typeface="Calibri"/>
              </a:rPr>
              <a:t>15 participants</a:t>
            </a:r>
            <a:r>
              <a:rPr sz="950" b="0" i="0" lang="en-US">
                <a:solidFill>
                  <a:srgbClr val="44574E"/>
                </a:solidFill>
                <a:latin typeface="Calibri"/>
              </a:rPr>
              <a:t>   ·   target 15.5 kg saved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" y="3456432"/>
            <a:ext cx="1554480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34472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60" b="1" i="0" lang="en-US">
                <a:solidFill>
                  <a:srgbClr val="15803D"/>
                </a:solidFill>
                <a:latin typeface="Calibri"/>
              </a:rPr>
              <a:t>View Details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1554480"/>
            <a:ext cx="32461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2856" y="17190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0E1B14"/>
                </a:solidFill>
                <a:latin typeface="Calibri"/>
              </a:rPr>
              <a:t>Badges — earned &amp; locked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1144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64607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83059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35289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70001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91764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Eco Beginner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68696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52159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70611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22841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57553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79316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Green Streak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56248" y="2121408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C7F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39712" y="2212848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58163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10393" y="2268187"/>
            <a:ext cx="21762" cy="739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45105" y="2329123"/>
            <a:ext cx="100108" cy="1001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66868" y="2350885"/>
            <a:ext cx="56583" cy="5658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6248" y="254203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44574E"/>
                </a:solidFill>
                <a:latin typeface="Calibri"/>
              </a:rPr>
              <a:t>Recycling Pro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81144" y="2907791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EF2F0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864607" y="29992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lock Arc 44"/>
          <p:cNvSpPr/>
          <p:nvPr/>
        </p:nvSpPr>
        <p:spPr>
          <a:xfrm>
            <a:off x="4970001" y="3058924"/>
            <a:ext cx="100108" cy="100108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959120" y="3137269"/>
            <a:ext cx="121871" cy="10881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81144" y="332841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6B7C72"/>
                </a:solidFill>
                <a:latin typeface="Calibri"/>
              </a:rPr>
              <a:t>Carbon Cutter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68696" y="2907791"/>
            <a:ext cx="877824" cy="713232"/>
          </a:xfrm>
          <a:prstGeom prst="roundRect">
            <a:avLst>
              <a:gd name="adj" fmla="val 12000"/>
            </a:avLst>
          </a:prstGeom>
          <a:solidFill>
            <a:srgbClr val="EEF2F0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52159" y="2999232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6B7C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lock Arc 49"/>
          <p:cNvSpPr/>
          <p:nvPr/>
        </p:nvSpPr>
        <p:spPr>
          <a:xfrm>
            <a:off x="5957553" y="3058924"/>
            <a:ext cx="100108" cy="100108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6672" y="3137269"/>
            <a:ext cx="121871" cy="108813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8696" y="3328415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5000"/>
              </a:lnSpc>
              <a:spcBef>
                <a:spcPts val="0"/>
              </a:spcBef>
            </a:pPr>
            <a:r>
              <a:rPr sz="680" b="1" i="0" lang="en-US">
                <a:solidFill>
                  <a:srgbClr val="6B7C72"/>
                </a:solidFill>
                <a:latin typeface="Calibri"/>
              </a:rPr>
              <a:t>Eco Warrior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20" y="1554480"/>
            <a:ext cx="3822191" cy="2194560"/>
          </a:xfrm>
          <a:prstGeom prst="roundRect">
            <a:avLst>
              <a:gd name="adj" fmla="val 6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55864" y="1719072"/>
            <a:ext cx="3456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60">
                <a:solidFill>
                  <a:srgbClr val="4ADE80"/>
                </a:solidFill>
                <a:latin typeface="Calibri"/>
              </a:rPr>
              <a:t>ADMIN CONTROL PANEL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55864" y="2103120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02168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1,042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2487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Total users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38944" y="2103120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85248" y="215798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6,241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5248" y="2487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Activity logs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55864" y="2816352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02168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8" y="32004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Challenges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38944" y="2816352"/>
            <a:ext cx="1645920" cy="621792"/>
          </a:xfrm>
          <a:prstGeom prst="roundRect">
            <a:avLst>
              <a:gd name="adj" fmla="val 1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85248" y="287121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 lang="en-US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85248" y="320040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840" b="0" i="0" lang="en-US">
                <a:solidFill>
                  <a:srgbClr val="C7F0D8"/>
                </a:solidFill>
                <a:latin typeface="Calibri"/>
              </a:rPr>
              <a:t>Eco-tips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55864" y="3419856"/>
            <a:ext cx="3364991" cy="274320"/>
          </a:xfrm>
          <a:prstGeom prst="roundRect">
            <a:avLst>
              <a:gd name="adj" fmla="val 50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55864" y="3410712"/>
            <a:ext cx="33649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880" b="1" i="0" lang="en-US">
                <a:solidFill>
                  <a:srgbClr val="4ADE80"/>
                </a:solidFill>
                <a:latin typeface="Calibri"/>
              </a:rPr>
              <a:t>Manage Eco-Tips · Emission Factors (role-gated)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66928" y="3977639"/>
            <a:ext cx="11064240" cy="1737360"/>
          </a:xfrm>
          <a:prstGeom prst="roundRect">
            <a:avLst>
              <a:gd name="adj" fmla="val 5000"/>
            </a:avLst>
          </a:prstGeom>
          <a:solidFill>
            <a:srgbClr val="F6FBF7"/>
          </a:solidFill>
          <a:ln w="12700">
            <a:solidFill>
              <a:srgbClr val="CDE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41247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4314139"/>
            <a:ext cx="16459" cy="24140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04011" y="4325112"/>
            <a:ext cx="164592" cy="109728"/>
          </a:xfrm>
          <a:custGeom>
            <a:avLst/>
            <a:gdLst/>
            <a:ahLst/>
            <a:cxnLst/>
            <a:rect l="l" t="t" r="r" b="b"/>
            <a:pathLst>
              <a:path w="164592" h="109728">
                <a:moveTo>
                  <a:pt x="0" y="0"/>
                </a:moveTo>
                <a:lnTo>
                  <a:pt x="164592" y="32918"/>
                </a:lnTo>
                <a:lnTo>
                  <a:pt x="93269" y="65836"/>
                </a:lnTo>
                <a:lnTo>
                  <a:pt x="164592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447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Collective progress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1247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Challenge cards show member_count, days_left and a baseline-vs-during % computed across all members.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49884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680813" y="4308652"/>
            <a:ext cx="27432" cy="93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46650" y="4308652"/>
            <a:ext cx="27432" cy="932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64354" y="4385462"/>
            <a:ext cx="126187" cy="1261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691786" y="4412894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023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Automated rewards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498848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Badges unlock from JSON criteria the moment thresholds are crossed — no manual awarding.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156448" y="42062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Gear 9 82"/>
          <p:cNvSpPr/>
          <p:nvPr/>
        </p:nvSpPr>
        <p:spPr>
          <a:xfrm>
            <a:off x="8264347" y="4314139"/>
            <a:ext cx="241401" cy="241401"/>
          </a:xfrm>
          <a:prstGeom prst="gear9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349386" y="4399178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759952" y="4187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 lang="en-US">
                <a:solidFill>
                  <a:srgbClr val="0E1B14"/>
                </a:solidFill>
                <a:latin typeface="Calibri"/>
              </a:rPr>
              <a:t>Credible &amp; governed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47548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 lang="en-US">
                <a:solidFill>
                  <a:srgbClr val="44574E"/>
                </a:solidFill>
                <a:latin typeface="Calibri"/>
              </a:rPr>
              <a:t>Admins curate tips and update the very emission factors that power every calculation.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ENTREPRENEURIAL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From course project to commercial product · CLO3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51206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502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i="0" lang="en-US">
                <a:solidFill>
                  <a:srgbClr val="15803D"/>
                </a:solidFill>
                <a:latin typeface="Calibri"/>
              </a:rPr>
              <a:t>CLO3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17190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2190" y="1861718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8524" y="1879823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2190" y="1960473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8524" y="1978578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2190" y="2059228"/>
            <a:ext cx="250179" cy="658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8524" y="2077333"/>
            <a:ext cx="23042" cy="23042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80">
                <a:solidFill>
                  <a:srgbClr val="15803D"/>
                </a:solidFill>
                <a:latin typeface="Calibri"/>
              </a:rPr>
              <a:t>REVENUE MODEL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193852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0E1B14"/>
                </a:solidFill>
                <a:latin typeface="Calibri"/>
              </a:rPr>
              <a:t>B2B Corporate SaaS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2532888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24414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Companies &amp; universities chase ESG targets and staff engagement.</a:t>
            </a:r>
          </a:p>
        </p:txBody>
      </p:sp>
      <p:sp>
        <p:nvSpPr>
          <p:cNvPr id="21" name="Oval 20"/>
          <p:cNvSpPr/>
          <p:nvPr/>
        </p:nvSpPr>
        <p:spPr>
          <a:xfrm>
            <a:off x="859536" y="2953512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28620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Paid tier: private, closed-loop sustainability challenges for employees.</a:t>
            </a:r>
          </a:p>
        </p:txBody>
      </p:sp>
      <p:sp>
        <p:nvSpPr>
          <p:cNvPr id="23" name="Oval 22"/>
          <p:cNvSpPr/>
          <p:nvPr/>
        </p:nvSpPr>
        <p:spPr>
          <a:xfrm>
            <a:off x="859536" y="3374136"/>
            <a:ext cx="91440" cy="9144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32826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Corporate dashboard with anonymized carbon analytics for reporting.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1481328"/>
            <a:ext cx="5394960" cy="2331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17190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10598" y="1841967"/>
            <a:ext cx="32918" cy="111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89602" y="1841967"/>
            <a:ext cx="32918" cy="1119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90847" y="1934138"/>
            <a:ext cx="151424" cy="1514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723766" y="1967057"/>
            <a:ext cx="85587" cy="85587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171907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1" i="0" lang="en-US" spc="80">
                <a:solidFill>
                  <a:srgbClr val="F59E0B"/>
                </a:solidFill>
                <a:latin typeface="Calibri"/>
              </a:rPr>
              <a:t>REVENUE MODEL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8" y="1938528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 lang="en-US">
                <a:solidFill>
                  <a:srgbClr val="0E1B14"/>
                </a:solidFill>
                <a:latin typeface="Calibri"/>
              </a:rPr>
              <a:t>Affiliate Brand Partnerships</a:t>
            </a:r>
          </a:p>
        </p:txBody>
      </p:sp>
      <p:sp>
        <p:nvSpPr>
          <p:cNvPr id="33" name="Oval 32"/>
          <p:cNvSpPr/>
          <p:nvPr/>
        </p:nvSpPr>
        <p:spPr>
          <a:xfrm>
            <a:off x="6528816" y="2532888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9984" y="244144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Consumer app stays free; streaks &amp; wins earn redeemable points.</a:t>
            </a:r>
          </a:p>
        </p:txBody>
      </p:sp>
      <p:sp>
        <p:nvSpPr>
          <p:cNvPr id="35" name="Oval 34"/>
          <p:cNvSpPr/>
          <p:nvPr/>
        </p:nvSpPr>
        <p:spPr>
          <a:xfrm>
            <a:off x="6528816" y="295351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9984" y="286207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Points → discount codes from vetted eco-friendly brand partners.</a:t>
            </a:r>
          </a:p>
        </p:txBody>
      </p:sp>
      <p:sp>
        <p:nvSpPr>
          <p:cNvPr id="37" name="Oval 36"/>
          <p:cNvSpPr/>
          <p:nvPr/>
        </p:nvSpPr>
        <p:spPr>
          <a:xfrm>
            <a:off x="6528816" y="337413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9984" y="328269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80" b="0" i="0" lang="en-US">
                <a:solidFill>
                  <a:srgbClr val="44574E"/>
                </a:solidFill>
                <a:latin typeface="Calibri"/>
              </a:rPr>
              <a:t>Revenue from partnership placement fees + affiliate commissions.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069080"/>
            <a:ext cx="11064240" cy="1417320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7" y="42519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 lang="en-US" spc="80">
                <a:solidFill>
                  <a:srgbClr val="4ADE80"/>
                </a:solidFill>
                <a:latin typeface="Calibri"/>
              </a:rPr>
              <a:t>WHY USERS WILL TRUST THE NUMBERS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7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960120" y="4707331"/>
            <a:ext cx="219456" cy="244145"/>
          </a:xfrm>
          <a:custGeom>
            <a:avLst/>
            <a:gdLst/>
            <a:ahLst/>
            <a:cxnLst/>
            <a:rect l="l" t="t" r="r" b="b"/>
            <a:pathLst>
              <a:path w="219456" h="244145">
                <a:moveTo>
                  <a:pt x="109728" y="0"/>
                </a:moveTo>
                <a:lnTo>
                  <a:pt x="219456" y="43891"/>
                </a:lnTo>
                <a:lnTo>
                  <a:pt x="197510" y="175565"/>
                </a:lnTo>
                <a:lnTo>
                  <a:pt x="109728" y="244145"/>
                </a:lnTo>
                <a:lnTo>
                  <a:pt x="21945" y="175565"/>
                </a:lnTo>
                <a:lnTo>
                  <a:pt x="0" y="43891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2646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Institutional baselines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646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Factors sourced from DEFRA UK &amp; IPCC AR6 — not invented.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53128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Gear 9 45"/>
          <p:cNvSpPr/>
          <p:nvPr/>
        </p:nvSpPr>
        <p:spPr>
          <a:xfrm>
            <a:off x="4561027" y="4707331"/>
            <a:ext cx="241401" cy="241401"/>
          </a:xfrm>
          <a:prstGeom prst="gear9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646066" y="4792370"/>
            <a:ext cx="71323" cy="71323"/>
          </a:xfrm>
          <a:prstGeom prst="ellipse">
            <a:avLst/>
          </a:prstGeom>
          <a:solidFill>
            <a:srgbClr val="115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3834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Decoupled &amp; governed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34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Factors live in the DB, admin-controlled; ready to pull live open-data registries.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65008" y="45994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16798" y="4712817"/>
            <a:ext cx="153619" cy="230428"/>
          </a:xfrm>
          <a:prstGeom prst="roundRect">
            <a:avLst>
              <a:gd name="adj" fmla="val 12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8244230" y="4773168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244230" y="4817059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244230" y="4860950"/>
            <a:ext cx="98755" cy="0"/>
          </a:xfrm>
          <a:prstGeom prst="line">
            <a:avLst/>
          </a:prstGeom>
          <a:ln w="1778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650224" y="4581144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</a:pPr>
            <a:r>
              <a:rPr sz="1150" b="1" i="0" lang="en-US">
                <a:solidFill>
                  <a:srgbClr val="FFFFFF"/>
                </a:solidFill>
                <a:latin typeface="Calibri"/>
              </a:rPr>
              <a:t>Transparent methodology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50224" y="4818888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40" b="0" i="0" lang="en-US">
                <a:solidFill>
                  <a:srgbClr val="C7F0D8"/>
                </a:solidFill>
                <a:latin typeface="Calibri"/>
              </a:rPr>
              <a:t>Every figure shows its formula; optional camera proof for eco-actions.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6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38912"/>
            <a:ext cx="420624" cy="420624"/>
          </a:xfrm>
          <a:prstGeom prst="roundRect">
            <a:avLst>
              <a:gd name="adj" fmla="val 28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 lang="en-US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374904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15803D"/>
                </a:solidFill>
                <a:latin typeface="Calibri"/>
              </a:rPr>
              <a:t>PROJECT ACCESS &amp;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61264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 lang="en-US">
                <a:solidFill>
                  <a:srgbClr val="0E1B14"/>
                </a:solidFill>
                <a:latin typeface="Calibri"/>
              </a:rPr>
              <a:t>Repositories, live access &amp; test credentials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382512" cy="22494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719072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4677" y="1839919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4677" y="2054985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1427" y="1944380"/>
            <a:ext cx="55302" cy="5530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1002328" y="1895222"/>
            <a:ext cx="0" cy="165908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02328" y="1968959"/>
            <a:ext cx="95244" cy="6145"/>
          </a:xfrm>
          <a:prstGeom prst="line">
            <a:avLst/>
          </a:prstGeom>
          <a:ln w="2794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81328" y="1700784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0E1B14"/>
                </a:solidFill>
                <a:latin typeface="Calibri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93392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6B7C72"/>
                </a:solidFill>
                <a:latin typeface="Calibri"/>
              </a:rPr>
              <a:t>Monorepo · main branch · deliverables on PR3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4140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15803D"/>
                </a:solidFill>
                <a:latin typeface="Calibri"/>
              </a:rPr>
              <a:t>Full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24323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4323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712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0EA5E9"/>
                </a:solidFill>
                <a:latin typeface="Calibri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28895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8895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github.com/ennabilizineb/GreenStep/tree/main/Frontend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3284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7C3AED"/>
                </a:solidFill>
                <a:latin typeface="Calibri"/>
              </a:rPr>
              <a:t>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3346704"/>
            <a:ext cx="4453128" cy="365760"/>
          </a:xfrm>
          <a:prstGeom prst="roundRect">
            <a:avLst>
              <a:gd name="adj" fmla="val 8000"/>
            </a:avLst>
          </a:prstGeom>
          <a:solidFill>
            <a:srgbClr val="0B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346704"/>
            <a:ext cx="427939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9FE7BE"/>
                </a:solidFill>
                <a:latin typeface="Consolas"/>
              </a:rPr>
              <a:t>github.com/ennabilizineb/GreenStep/tree/main/Backend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95344"/>
            <a:ext cx="6382512" cy="14813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DE6D6"/>
            </a:solidFill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2" y="4114800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808" y="4247936"/>
            <a:ext cx="245790" cy="245790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05401" y="4247936"/>
            <a:ext cx="110605" cy="245790"/>
          </a:xfrm>
          <a:prstGeom prst="ellipse">
            <a:avLst/>
          </a:prstGeom>
          <a:noFill/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943953" y="4370832"/>
            <a:ext cx="233501" cy="0"/>
          </a:xfrm>
          <a:prstGeom prst="line">
            <a:avLst/>
          </a:prstGeom>
          <a:ln w="17780">
            <a:solidFill>
              <a:srgbClr val="FFFF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81328" y="4096511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0E1B14"/>
                </a:solidFill>
                <a:latin typeface="Calibri"/>
              </a:rPr>
              <a:t>Live System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389120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0" lang="en-US">
                <a:solidFill>
                  <a:srgbClr val="6B7C72"/>
                </a:solidFill>
                <a:latin typeface="Calibri"/>
              </a:rPr>
              <a:t>Public Vue 3 frontend (Netlify)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736592"/>
            <a:ext cx="5870448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4736592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B45309"/>
                </a:solidFill>
                <a:latin typeface="Calibri"/>
              </a:rPr>
              <a:t>Live 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4736592"/>
            <a:ext cx="41879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1" lang="en-US">
                <a:solidFill>
                  <a:srgbClr val="B45309"/>
                </a:solidFill>
                <a:latin typeface="Consolas"/>
              </a:rPr>
              <a:t>&lt; add public URL after deployment 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14032" y="1481328"/>
            <a:ext cx="4535424" cy="3895344"/>
          </a:xfrm>
          <a:prstGeom prst="roundRect">
            <a:avLst>
              <a:gd name="adj" fmla="val 5000"/>
            </a:avLst>
          </a:prstGeom>
          <a:solidFill>
            <a:srgbClr val="11533A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51776" y="1719072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0E4731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lock Arc 36"/>
          <p:cNvSpPr/>
          <p:nvPr/>
        </p:nvSpPr>
        <p:spPr>
          <a:xfrm>
            <a:off x="7523902" y="1831287"/>
            <a:ext cx="131234" cy="131234"/>
          </a:xfrm>
          <a:prstGeom prst="blockArc">
            <a:avLst>
              <a:gd name="adj1" fmla="val 18000000"/>
              <a:gd name="adj2" fmla="val 0"/>
              <a:gd name="adj3" fmla="val 2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509638" y="1933992"/>
            <a:ext cx="159763" cy="142646"/>
          </a:xfrm>
          <a:prstGeom prst="roundRect">
            <a:avLst>
              <a:gd name="adj" fmla="val 22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6992" y="1682496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50" b="1" i="0" lang="en-US">
                <a:solidFill>
                  <a:srgbClr val="FFFFFF"/>
                </a:solidFill>
                <a:latin typeface="Calibri"/>
              </a:rPr>
              <a:t>Test Credentials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1975104"/>
            <a:ext cx="3621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All 3 roles · login identifier = email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51776" y="2414016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98080" y="2633472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0" y="2615184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8432" y="252374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User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2798064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member@greenstep.com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28432" y="301752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51776" y="3346704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498080" y="3566160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0" y="3547872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2" y="34564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Leader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3730752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leader@greenstep.com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8432" y="3950208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51776" y="4279392"/>
            <a:ext cx="4059935" cy="859536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98080" y="4498848"/>
            <a:ext cx="420624" cy="420624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0" y="4480559"/>
            <a:ext cx="4206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 i="0" lang="en-US">
                <a:solidFill>
                  <a:srgbClr val="0B3D2B"/>
                </a:solidFill>
                <a:latin typeface="Calibri"/>
              </a:rPr>
              <a:t>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8432" y="43891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>
                <a:solidFill>
                  <a:srgbClr val="FFFFFF"/>
                </a:solidFill>
                <a:latin typeface="Calibri"/>
              </a:rPr>
              <a:t>Admin</a:t>
            </a:r>
            <a:r>
              <a:rPr sz="950" b="0" i="0" lang="en-US">
                <a:solidFill>
                  <a:srgbClr val="C7F0D8"/>
                </a:solidFill>
                <a:latin typeface="Calibri"/>
              </a:rPr>
              <a:t>  role 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28432" y="4663440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email: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admin2@greenstep.com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28432" y="4882896"/>
            <a:ext cx="34381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C7F0D8"/>
                </a:solidFill>
                <a:latin typeface="Calibri"/>
              </a:rPr>
              <a:t>pass:   </a:t>
            </a:r>
            <a:r>
              <a:rPr sz="1000" b="1" i="0" lang="en-US">
                <a:solidFill>
                  <a:srgbClr val="9FE7BE"/>
                </a:solidFill>
                <a:latin typeface="Consolas"/>
              </a:rPr>
              <a:t>password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541264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550408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15803D"/>
                </a:solidFill>
                <a:latin typeface="Calibri"/>
              </a:rPr>
              <a:t>Note:  </a:t>
            </a:r>
            <a:r>
              <a:rPr sz="1000" b="0" i="0" lang="en-US">
                <a:solidFill>
                  <a:srgbClr val="0E1B14"/>
                </a:solidFill>
                <a:latin typeface="Calibri"/>
              </a:rPr>
              <a:t>accounts are provisioned by </a:t>
            </a:r>
            <a:r>
              <a:rPr sz="1000" b="1" i="0" lang="en-US">
                <a:solidFill>
                  <a:srgbClr val="0E1B14"/>
                </a:solidFill>
                <a:latin typeface="Consolas"/>
              </a:rPr>
              <a:t>seed.sql</a:t>
            </a:r>
            <a:r>
              <a:rPr sz="1000" b="0" i="0" lang="en-US">
                <a:solidFill>
                  <a:srgbClr val="0E1B14"/>
                </a:solidFill>
                <a:latin typeface="Calibri"/>
              </a:rPr>
              <a:t> — run it on the deployed database before testing. Passwords shown are the seeded demo values.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47395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 lang="en-US">
                <a:solidFill>
                  <a:srgbClr val="6B7C72"/>
                </a:solidFill>
                <a:latin typeface="Calibri"/>
              </a:rPr>
              <a:t>GreenStep  ·  SCSM2223 Cross-Platform Application Development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80015" y="64739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 lang="en-US">
                <a:solidFill>
                  <a:srgbClr val="6B7C72"/>
                </a:solidFill>
                <a:latin typeface="Calibri"/>
              </a:rPr>
              <a:t>Group RM2Z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B3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023360" cy="4023360"/>
          </a:xfrm>
          <a:prstGeom prst="ellipse">
            <a:avLst/>
          </a:prstGeom>
          <a:noFill/>
          <a:ln w="16510">
            <a:solidFill>
              <a:srgbClr val="115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-731520"/>
            <a:ext cx="2377440" cy="2377440"/>
          </a:xfrm>
          <a:prstGeom prst="ellipse">
            <a:avLst/>
          </a:prstGeom>
          <a:solidFill>
            <a:srgbClr val="135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816620" y="38770"/>
            <a:ext cx="458663" cy="434523"/>
          </a:xfrm>
          <a:custGeom>
            <a:avLst/>
            <a:gdLst/>
            <a:ahLst/>
            <a:cxnLst/>
            <a:rect l="l" t="t" r="r" b="b"/>
            <a:pathLst>
              <a:path w="458663" h="434523">
                <a:moveTo>
                  <a:pt x="0" y="434523"/>
                </a:moveTo>
                <a:lnTo>
                  <a:pt x="458663" y="0"/>
                </a:lnTo>
                <a:lnTo>
                  <a:pt x="446593" y="247437"/>
                </a:lnTo>
                <a:lnTo>
                  <a:pt x="229332" y="434523"/>
                </a:lnTo>
                <a:lnTo>
                  <a:pt x="0" y="434523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10864900" y="74980"/>
            <a:ext cx="362103" cy="362103"/>
          </a:xfrm>
          <a:prstGeom prst="line">
            <a:avLst/>
          </a:prstGeom>
          <a:ln w="13970">
            <a:solidFill>
              <a:srgbClr val="11533A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5669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 lang="en-US" spc="220">
                <a:solidFill>
                  <a:srgbClr val="4ADE80"/>
                </a:solidFill>
                <a:latin typeface="Calibri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859536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800" b="1" i="0" lang="en-US">
                <a:solidFill>
                  <a:srgbClr val="FFFFFF"/>
                </a:solidFill>
                <a:latin typeface="Calibri"/>
              </a:rPr>
              <a:t>A complete, integrated cross-platform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Endpoints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Roles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24927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69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Commits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783080"/>
            <a:ext cx="1993392" cy="914400"/>
          </a:xfrm>
          <a:prstGeom prst="roundRect">
            <a:avLst>
              <a:gd name="adj" fmla="val 8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865376"/>
            <a:ext cx="1993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 lang="en-US">
                <a:solidFill>
                  <a:srgbClr val="4ADE8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95728"/>
            <a:ext cx="1993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 lang="en-US">
                <a:solidFill>
                  <a:srgbClr val="C7F0D8"/>
                </a:solidFill>
                <a:latin typeface="Calibri"/>
              </a:rPr>
              <a:t>Leads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297180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12724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4ADE80"/>
                </a:solidFill>
                <a:latin typeface="Calibri"/>
              </a:rPr>
              <a:t>WHAT WE BUILT</a:t>
            </a:r>
          </a:p>
        </p:txBody>
      </p:sp>
      <p:sp>
        <p:nvSpPr>
          <p:cNvPr id="26" name="Oval 25"/>
          <p:cNvSpPr/>
          <p:nvPr/>
        </p:nvSpPr>
        <p:spPr>
          <a:xfrm>
            <a:off x="1133856" y="35112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5024" y="343814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Vue 3 + Slim 4 + MySQL + JWT, fully integrated</a:t>
            </a:r>
          </a:p>
        </p:txBody>
      </p:sp>
      <p:sp>
        <p:nvSpPr>
          <p:cNvPr id="28" name="Oval 27"/>
          <p:cNvSpPr/>
          <p:nvPr/>
        </p:nvSpPr>
        <p:spPr>
          <a:xfrm>
            <a:off x="1133856" y="3822191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35024" y="37490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Server-side CO₂ engine on DEFRA / IPCC factors</a:t>
            </a:r>
          </a:p>
        </p:txBody>
      </p:sp>
      <p:sp>
        <p:nvSpPr>
          <p:cNvPr id="30" name="Oval 29"/>
          <p:cNvSpPr/>
          <p:nvPr/>
        </p:nvSpPr>
        <p:spPr>
          <a:xfrm>
            <a:off x="1133856" y="4133087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024" y="4059935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Gamification: streaks, JSON badges, group challenges</a:t>
            </a:r>
          </a:p>
        </p:txBody>
      </p:sp>
      <p:sp>
        <p:nvSpPr>
          <p:cNvPr id="32" name="Oval 31"/>
          <p:cNvSpPr/>
          <p:nvPr/>
        </p:nvSpPr>
        <p:spPr>
          <a:xfrm>
            <a:off x="1133856" y="4443983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35024" y="4370831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Android APK via Capacitor + free-tier cloud deploy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2971800"/>
            <a:ext cx="5650992" cy="1874519"/>
          </a:xfrm>
          <a:prstGeom prst="roundRect">
            <a:avLst>
              <a:gd name="adj" fmla="val 6000"/>
            </a:avLst>
          </a:prstGeom>
          <a:solidFill>
            <a:srgbClr val="0E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7064" y="31272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 lang="en-US" spc="80">
                <a:solidFill>
                  <a:srgbClr val="4ADE80"/>
                </a:solidFill>
                <a:latin typeface="Calibri"/>
              </a:rPr>
              <a:t>WHAT WE LEARNED</a:t>
            </a:r>
          </a:p>
        </p:txBody>
      </p:sp>
      <p:sp>
        <p:nvSpPr>
          <p:cNvPr id="36" name="Oval 35"/>
          <p:cNvSpPr/>
          <p:nvPr/>
        </p:nvSpPr>
        <p:spPr>
          <a:xfrm>
            <a:off x="6227064" y="35112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343814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Cross-platform delivery from one codebase (CLO1)</a:t>
            </a:r>
          </a:p>
        </p:txBody>
      </p:sp>
      <p:sp>
        <p:nvSpPr>
          <p:cNvPr id="38" name="Oval 37"/>
          <p:cNvSpPr/>
          <p:nvPr/>
        </p:nvSpPr>
        <p:spPr>
          <a:xfrm>
            <a:off x="6227064" y="3822191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2" y="374903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Secure REST API design — JWT, bcrypt, PDO (CLO2)</a:t>
            </a:r>
          </a:p>
        </p:txBody>
      </p:sp>
      <p:sp>
        <p:nvSpPr>
          <p:cNvPr id="40" name="Oval 39"/>
          <p:cNvSpPr/>
          <p:nvPr/>
        </p:nvSpPr>
        <p:spPr>
          <a:xfrm>
            <a:off x="6227064" y="4133087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405993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An entrepreneurial, deployable product mindset (CLO3)</a:t>
            </a:r>
          </a:p>
        </p:txBody>
      </p:sp>
      <p:sp>
        <p:nvSpPr>
          <p:cNvPr id="42" name="Oval 41"/>
          <p:cNvSpPr/>
          <p:nvPr/>
        </p:nvSpPr>
        <p:spPr>
          <a:xfrm>
            <a:off x="6227064" y="4443983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2" y="437083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030" b="0" i="0" lang="en-US">
                <a:solidFill>
                  <a:srgbClr val="C7F0D8"/>
                </a:solidFill>
                <a:latin typeface="Calibri"/>
              </a:rPr>
              <a:t>Real Git collaboration across four contributors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CLO1 · Cross-platform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7355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7355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CLO2 · Innovative solution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50992" y="5029200"/>
            <a:ext cx="2240280" cy="365760"/>
          </a:xfrm>
          <a:prstGeom prst="roundRect">
            <a:avLst>
              <a:gd name="adj" fmla="val 50000"/>
            </a:avLst>
          </a:prstGeom>
          <a:solidFill>
            <a:srgbClr val="124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50992" y="50200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4ADE80"/>
                </a:solidFill>
                <a:latin typeface="Calibri"/>
              </a:rPr>
              <a:t>CLO3 · Entrepreneurial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4992624"/>
            <a:ext cx="3867912" cy="841248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noFill/>
          </a:ln>
          <a:effectLst>
            <a:outerShdw blurRad="82296" dist="45720" dir="5400000" rotWithShape="0">
              <a:srgbClr val="0B3D2B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5029200"/>
            <a:ext cx="38679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 lang="en-US">
                <a:solidFill>
                  <a:srgbClr val="0B3D2B"/>
                </a:solidFill>
                <a:latin typeface="Calibri"/>
              </a:rPr>
              <a:t>Thank you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468112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1" i="0" lang="en-US">
                <a:solidFill>
                  <a:srgbClr val="0B3D2B"/>
                </a:solidFill>
                <a:latin typeface="Calibri"/>
              </a:rPr>
              <a:t>Team RM2Z — Questions welcome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60533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00" b="0" i="0" lang="en-US">
                <a:solidFill>
                  <a:srgbClr val="C7F0D8"/>
                </a:solidFill>
                <a:latin typeface="Calibri"/>
              </a:rPr>
              <a:t>github.com/ennabilizineb/GreenStep   ·   SCSM2223 · Section 02 · 2025/2026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6272784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 lang="en-US">
                <a:solidFill>
                  <a:srgbClr val="6B7C72"/>
                </a:solidFill>
                <a:latin typeface="Calibri"/>
              </a:rPr>
              <a:t>Zeng Liting  ·  Mohammed Alsakkaf  ·  Rawan Mohamed Salih  ·  Zineb Ennabili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