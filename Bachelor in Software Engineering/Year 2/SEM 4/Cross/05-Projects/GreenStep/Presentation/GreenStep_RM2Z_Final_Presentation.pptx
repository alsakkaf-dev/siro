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B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554480"/>
            <a:ext cx="4206240" cy="4206240"/>
          </a:xfrm>
          <a:prstGeom prst="ellipse">
            <a:avLst/>
          </a:prstGeom>
          <a:noFill/>
          <a:ln w="17780">
            <a:solidFill>
              <a:srgbClr val="115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914400"/>
            <a:ext cx="2743200" cy="2743200"/>
          </a:xfrm>
          <a:prstGeom prst="ellipse">
            <a:avLst/>
          </a:prstGeom>
          <a:noFill/>
          <a:ln w="15240">
            <a:solidFill>
              <a:srgbClr val="166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-320040"/>
            <a:ext cx="1554480" cy="1554480"/>
          </a:xfrm>
          <a:prstGeom prst="ellipse">
            <a:avLst/>
          </a:prstGeom>
          <a:solidFill>
            <a:srgbClr val="135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0638129" y="135331"/>
            <a:ext cx="486461" cy="460857"/>
          </a:xfrm>
          <a:custGeom>
            <a:avLst/>
            <a:gdLst/>
            <a:ahLst/>
            <a:cxnLst/>
            <a:rect l="l" t="t" r="r" b="b"/>
            <a:pathLst>
              <a:path w="486461" h="460857">
                <a:moveTo>
                  <a:pt x="0" y="460857"/>
                </a:moveTo>
                <a:lnTo>
                  <a:pt x="486461" y="0"/>
                </a:lnTo>
                <a:lnTo>
                  <a:pt x="473659" y="262433"/>
                </a:lnTo>
                <a:lnTo>
                  <a:pt x="243231" y="460857"/>
                </a:lnTo>
                <a:lnTo>
                  <a:pt x="0" y="460857"/>
                </a:lnTo>
                <a:close/>
              </a:path>
            </a:pathLst>
          </a:cu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0689336" y="173736"/>
            <a:ext cx="384048" cy="384048"/>
          </a:xfrm>
          <a:prstGeom prst="line">
            <a:avLst/>
          </a:prstGeom>
          <a:ln w="1397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0" y="5212080"/>
            <a:ext cx="2743200" cy="2743200"/>
          </a:xfrm>
          <a:prstGeom prst="ellipse">
            <a:avLst/>
          </a:prstGeom>
          <a:noFill/>
          <a:ln w="15240">
            <a:solidFill>
              <a:srgbClr val="145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0350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 spc="180">
                <a:solidFill>
                  <a:srgbClr val="4ADE80"/>
                </a:solidFill>
                <a:latin typeface="Calibri"/>
              </a:rPr>
              <a:t>UNIVERSITI TEKNOLOGI MALAYSIA · FACULTY OF COMPUTING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566928"/>
            <a:ext cx="2542032" cy="384048"/>
          </a:xfrm>
          <a:prstGeom prst="roundRect">
            <a:avLst>
              <a:gd name="adj" fmla="val 50000"/>
            </a:avLst>
          </a:prstGeom>
          <a:solidFill>
            <a:srgbClr val="135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557784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 lang="en-US">
                <a:solidFill>
                  <a:srgbClr val="4ADE80"/>
                </a:solidFill>
                <a:latin typeface="Calibri"/>
              </a:rPr>
              <a:t>PR3 FINAL DEMO · PR4 PRESENTATION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1783080"/>
            <a:ext cx="932688" cy="932688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82267" y="2061394"/>
            <a:ext cx="396953" cy="376059"/>
          </a:xfrm>
          <a:custGeom>
            <a:avLst/>
            <a:gdLst/>
            <a:ahLst/>
            <a:cxnLst/>
            <a:rect l="l" t="t" r="r" b="b"/>
            <a:pathLst>
              <a:path w="396953" h="376059">
                <a:moveTo>
                  <a:pt x="0" y="376059"/>
                </a:moveTo>
                <a:lnTo>
                  <a:pt x="396953" y="0"/>
                </a:lnTo>
                <a:lnTo>
                  <a:pt x="386506" y="214145"/>
                </a:lnTo>
                <a:lnTo>
                  <a:pt x="198477" y="376059"/>
                </a:lnTo>
                <a:lnTo>
                  <a:pt x="0" y="376059"/>
                </a:lnTo>
                <a:close/>
              </a:path>
            </a:pathLst>
          </a:custGeom>
          <a:solidFill>
            <a:srgbClr val="0B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1224052" y="2092732"/>
            <a:ext cx="313383" cy="313383"/>
          </a:xfrm>
          <a:prstGeom prst="line">
            <a:avLst/>
          </a:prstGeom>
          <a:ln w="1397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029968" y="1591056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5800" b="1" i="0" lang="en-US">
                <a:solidFill>
                  <a:srgbClr val="FFFFFF"/>
                </a:solidFill>
                <a:latin typeface="Calibri"/>
              </a:rPr>
              <a:t>GreenStep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29077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100" b="1" i="1" lang="en-US">
                <a:solidFill>
                  <a:srgbClr val="4ADE80"/>
                </a:solidFill>
                <a:latin typeface="Calibri"/>
              </a:rPr>
              <a:t>Small daily steps. Measurable climate impact.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334670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0" i="0" lang="en-US">
                <a:solidFill>
                  <a:srgbClr val="C7F0D8"/>
                </a:solidFill>
                <a:latin typeface="Calibri"/>
              </a:rPr>
              <a:t>Personal Carbon Footprint &amp; Eco-Lifestyle Tracker — a cross-platform Vue 3 + PHP Slim 4 system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" y="3895344"/>
            <a:ext cx="790956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886200"/>
            <a:ext cx="7909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4ADE80"/>
                </a:solidFill>
                <a:latin typeface="Calibri"/>
              </a:rPr>
              <a:t>Vue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88236" y="3895344"/>
            <a:ext cx="790956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88236" y="3886200"/>
            <a:ext cx="7909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4ADE80"/>
                </a:solidFill>
                <a:latin typeface="Calibri"/>
              </a:rPr>
              <a:t>Pinia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25496" y="3895344"/>
            <a:ext cx="1271016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25496" y="3886200"/>
            <a:ext cx="12710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4ADE80"/>
                </a:solidFill>
                <a:latin typeface="Calibri"/>
              </a:rPr>
              <a:t>PHP Slim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42816" y="3895344"/>
            <a:ext cx="1367028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42816" y="3886200"/>
            <a:ext cx="13670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4ADE80"/>
                </a:solidFill>
                <a:latin typeface="Calibri"/>
              </a:rPr>
              <a:t>MySQL + PDO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56148" y="3895344"/>
            <a:ext cx="1078992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56148" y="3886200"/>
            <a:ext cx="10789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4ADE80"/>
                </a:solidFill>
                <a:latin typeface="Calibri"/>
              </a:rPr>
              <a:t>JWT Auth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81444" y="3895344"/>
            <a:ext cx="1175004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1444" y="3886200"/>
            <a:ext cx="117500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4ADE80"/>
                </a:solidFill>
                <a:latin typeface="Calibri"/>
              </a:rPr>
              <a:t>Capacitor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7" y="4736592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0E4731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52144" y="5010912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160">
                <a:solidFill>
                  <a:srgbClr val="4ADE80"/>
                </a:solidFill>
                <a:latin typeface="Calibri"/>
              </a:rPr>
              <a:t>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" y="5303520"/>
            <a:ext cx="24003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550" b="1" i="0" lang="en-US">
                <a:solidFill>
                  <a:srgbClr val="FFFFFF"/>
                </a:solidFill>
                <a:latin typeface="Calibri"/>
              </a:rPr>
              <a:t>P3 · GreenStep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18204" y="5010912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160">
                <a:solidFill>
                  <a:srgbClr val="4ADE80"/>
                </a:solidFill>
                <a:latin typeface="Calibri"/>
              </a:rPr>
              <a:t>GROUP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18204" y="5303520"/>
            <a:ext cx="24003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550" b="1" i="0" lang="en-US">
                <a:solidFill>
                  <a:srgbClr val="FFFFFF"/>
                </a:solidFill>
                <a:latin typeface="Calibri"/>
              </a:rPr>
              <a:t>RM2Z · Section 02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07308" y="4992624"/>
            <a:ext cx="0" cy="969264"/>
          </a:xfrm>
          <a:prstGeom prst="line">
            <a:avLst/>
          </a:prstGeom>
          <a:ln w="12700">
            <a:solidFill>
              <a:srgbClr val="1C6745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684264" y="5010912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160">
                <a:solidFill>
                  <a:srgbClr val="4ADE80"/>
                </a:solidFill>
                <a:latin typeface="Calibri"/>
              </a:rPr>
              <a:t>LECTURER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84264" y="5303520"/>
            <a:ext cx="24003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550" b="1" i="0" lang="en-US">
                <a:solidFill>
                  <a:srgbClr val="FFFFFF"/>
                </a:solidFill>
                <a:latin typeface="Calibri"/>
              </a:rPr>
              <a:t>Dr. Hishammuddin B. Asmuni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373368" y="4992624"/>
            <a:ext cx="0" cy="969264"/>
          </a:xfrm>
          <a:prstGeom prst="line">
            <a:avLst/>
          </a:prstGeom>
          <a:ln w="12700">
            <a:solidFill>
              <a:srgbClr val="1C6745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450324" y="5010912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160">
                <a:solidFill>
                  <a:srgbClr val="4ADE80"/>
                </a:solidFill>
                <a:latin typeface="Calibri"/>
              </a:rPr>
              <a:t>FINAL DEMO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50324" y="5303520"/>
            <a:ext cx="24003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550" b="1" i="0" lang="en-US">
                <a:solidFill>
                  <a:srgbClr val="FFFFFF"/>
                </a:solidFill>
                <a:latin typeface="Calibri"/>
              </a:rPr>
              <a:t>02 July 2026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39428" y="4992624"/>
            <a:ext cx="0" cy="969264"/>
          </a:xfrm>
          <a:prstGeom prst="line">
            <a:avLst/>
          </a:prstGeom>
          <a:ln w="12700">
            <a:solidFill>
              <a:srgbClr val="1C6745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TEAM PROFILE &amp;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Four leads, one integrated 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3529584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682496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6579" y="1811975"/>
            <a:ext cx="131673" cy="289681"/>
          </a:xfrm>
          <a:prstGeom prst="roundRect">
            <a:avLst>
              <a:gd name="adj" fmla="val 2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2540" y="2048987"/>
            <a:ext cx="19751" cy="1975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1645920"/>
            <a:ext cx="2523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1350" b="1" i="0" lang="en-US">
                <a:solidFill>
                  <a:srgbClr val="0E1B14"/>
                </a:solidFill>
                <a:latin typeface="Calibri"/>
              </a:rPr>
              <a:t>Zeng Liting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1956816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A5E9"/>
                </a:solidFill>
                <a:latin typeface="Calibri"/>
              </a:rPr>
              <a:t>Frontend Lead</a:t>
            </a:r>
            <a:r>
              <a:rPr sz="1000" b="0" i="0" lang="en-US">
                <a:solidFill>
                  <a:srgbClr val="6B7C72"/>
                </a:solidFill>
                <a:latin typeface="Calibri"/>
              </a:rPr>
              <a:t>  ·  A24CS4073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386584"/>
            <a:ext cx="64008" cy="6400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304288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Vue 3 SPA scaffold, Router &amp; Pinia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688336"/>
            <a:ext cx="64008" cy="6400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606040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7 screen-by-screen views, mobile-first CSS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2990088"/>
            <a:ext cx="64008" cy="6400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2907792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Connected every page to the REST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1481328"/>
            <a:ext cx="3529584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0" y="1682496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21230" y="1825142"/>
            <a:ext cx="250179" cy="658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47564" y="1843247"/>
            <a:ext cx="23042" cy="2304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21230" y="1923897"/>
            <a:ext cx="250179" cy="658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47564" y="1942002"/>
            <a:ext cx="23042" cy="2304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21230" y="2022652"/>
            <a:ext cx="250179" cy="658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47564" y="2040757"/>
            <a:ext cx="23042" cy="2304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48656" y="1645920"/>
            <a:ext cx="2523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1350" b="1" i="0" lang="en-US">
                <a:solidFill>
                  <a:srgbClr val="0E1B14"/>
                </a:solidFill>
                <a:latin typeface="Calibri"/>
              </a:rPr>
              <a:t>Mohammed Mohsen Alsakkaf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48656" y="1956816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15803D"/>
                </a:solidFill>
                <a:latin typeface="Calibri"/>
              </a:rPr>
              <a:t>Backend &amp; API Lead</a:t>
            </a:r>
            <a:r>
              <a:rPr sz="1000" b="0" i="0" lang="en-US">
                <a:solidFill>
                  <a:srgbClr val="6B7C72"/>
                </a:solidFill>
                <a:latin typeface="Calibri"/>
              </a:rPr>
              <a:t>  ·  A23CS4026</a:t>
            </a:r>
          </a:p>
        </p:txBody>
      </p:sp>
      <p:sp>
        <p:nvSpPr>
          <p:cNvPr id="29" name="Oval 28"/>
          <p:cNvSpPr/>
          <p:nvPr/>
        </p:nvSpPr>
        <p:spPr>
          <a:xfrm>
            <a:off x="4626864" y="2386584"/>
            <a:ext cx="64008" cy="6400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91456" y="2304288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PHP Slim 4 API · 9 controllers · 33 routes</a:t>
            </a:r>
          </a:p>
        </p:txBody>
      </p:sp>
      <p:sp>
        <p:nvSpPr>
          <p:cNvPr id="31" name="Oval 30"/>
          <p:cNvSpPr/>
          <p:nvPr/>
        </p:nvSpPr>
        <p:spPr>
          <a:xfrm>
            <a:off x="4626864" y="2688336"/>
            <a:ext cx="64008" cy="6400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91456" y="2606040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JWT middleware, CO2 + badge engines</a:t>
            </a:r>
          </a:p>
        </p:txBody>
      </p:sp>
      <p:sp>
        <p:nvSpPr>
          <p:cNvPr id="33" name="Oval 32"/>
          <p:cNvSpPr/>
          <p:nvPr/>
        </p:nvSpPr>
        <p:spPr>
          <a:xfrm>
            <a:off x="4626864" y="2990088"/>
            <a:ext cx="64008" cy="6400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91456" y="2907792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JSON envelopes, error handling, API docs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3529584"/>
            <a:ext cx="3529584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68096" y="373075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909" y="3903024"/>
            <a:ext cx="237012" cy="1645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3909" y="4021531"/>
            <a:ext cx="237012" cy="724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3909" y="3866814"/>
            <a:ext cx="237012" cy="724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3909" y="3866814"/>
            <a:ext cx="237012" cy="72420"/>
          </a:xfrm>
          <a:prstGeom prst="ellipse">
            <a:avLst/>
          </a:prstGeom>
          <a:noFill/>
          <a:ln w="12700">
            <a:solidFill>
              <a:srgbClr val="115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44752" y="3694176"/>
            <a:ext cx="2523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1350" b="1" i="0" lang="en-US">
                <a:solidFill>
                  <a:srgbClr val="0E1B14"/>
                </a:solidFill>
                <a:latin typeface="Calibri"/>
              </a:rPr>
              <a:t>Rawan Mohamed Salih Magzob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44752" y="4005072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7C3AED"/>
                </a:solidFill>
                <a:latin typeface="Calibri"/>
              </a:rPr>
              <a:t>Database &amp; Security Lead</a:t>
            </a:r>
            <a:r>
              <a:rPr sz="1000" b="0" i="0" lang="en-US">
                <a:solidFill>
                  <a:srgbClr val="6B7C72"/>
                </a:solidFill>
                <a:latin typeface="Calibri"/>
              </a:rPr>
              <a:t>  ·  A24CS4066</a:t>
            </a:r>
          </a:p>
        </p:txBody>
      </p:sp>
      <p:sp>
        <p:nvSpPr>
          <p:cNvPr id="43" name="Oval 42"/>
          <p:cNvSpPr/>
          <p:nvPr/>
        </p:nvSpPr>
        <p:spPr>
          <a:xfrm>
            <a:off x="822960" y="4434840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2" y="4352544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Authoritative MySQL schema &amp; ER model</a:t>
            </a:r>
          </a:p>
        </p:txBody>
      </p:sp>
      <p:sp>
        <p:nvSpPr>
          <p:cNvPr id="45" name="Oval 44"/>
          <p:cNvSpPr/>
          <p:nvPr/>
        </p:nvSpPr>
        <p:spPr>
          <a:xfrm>
            <a:off x="822960" y="4736592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" y="4654296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Hardened PDO layer, prepared statements</a:t>
            </a:r>
          </a:p>
        </p:txBody>
      </p:sp>
      <p:sp>
        <p:nvSpPr>
          <p:cNvPr id="47" name="Oval 46"/>
          <p:cNvSpPr/>
          <p:nvPr/>
        </p:nvSpPr>
        <p:spPr>
          <a:xfrm>
            <a:off x="822960" y="5038344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7552" y="4956048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JWT/role policy, SECURITY threat model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70832" y="3529584"/>
            <a:ext cx="3529584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0" y="373075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793650" y="3860231"/>
            <a:ext cx="105339" cy="243596"/>
          </a:xfrm>
          <a:custGeom>
            <a:avLst/>
            <a:gdLst/>
            <a:ahLst/>
            <a:cxnLst/>
            <a:rect l="l" t="t" r="r" b="b"/>
            <a:pathLst>
              <a:path w="105339" h="243596">
                <a:moveTo>
                  <a:pt x="52670" y="0"/>
                </a:moveTo>
                <a:lnTo>
                  <a:pt x="105339" y="144841"/>
                </a:lnTo>
                <a:lnTo>
                  <a:pt x="85588" y="243596"/>
                </a:lnTo>
                <a:lnTo>
                  <a:pt x="19751" y="243596"/>
                </a:lnTo>
                <a:lnTo>
                  <a:pt x="0" y="1448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823277" y="3939235"/>
            <a:ext cx="46085" cy="46085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48656" y="3694176"/>
            <a:ext cx="2523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1350" b="1" i="0" lang="en-US">
                <a:solidFill>
                  <a:srgbClr val="0E1B14"/>
                </a:solidFill>
                <a:latin typeface="Calibri"/>
              </a:rPr>
              <a:t>Zineb Ennabili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48656" y="4005072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F59E0B"/>
                </a:solidFill>
                <a:latin typeface="Calibri"/>
              </a:rPr>
              <a:t>DevOps, Mobile &amp; Integration</a:t>
            </a:r>
            <a:r>
              <a:rPr sz="1000" b="0" i="0" lang="en-US">
                <a:solidFill>
                  <a:srgbClr val="6B7C72"/>
                </a:solidFill>
                <a:latin typeface="Calibri"/>
              </a:rPr>
              <a:t>  ·  A24CS4057</a:t>
            </a:r>
          </a:p>
        </p:txBody>
      </p:sp>
      <p:sp>
        <p:nvSpPr>
          <p:cNvPr id="55" name="Oval 54"/>
          <p:cNvSpPr/>
          <p:nvPr/>
        </p:nvSpPr>
        <p:spPr>
          <a:xfrm>
            <a:off x="4626864" y="4434840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91456" y="4352544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Live deploy: Dockerized API (Render) + Netlify</a:t>
            </a:r>
          </a:p>
        </p:txBody>
      </p:sp>
      <p:sp>
        <p:nvSpPr>
          <p:cNvPr id="57" name="Oval 56"/>
          <p:cNvSpPr/>
          <p:nvPr/>
        </p:nvSpPr>
        <p:spPr>
          <a:xfrm>
            <a:off x="4626864" y="4736592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91456" y="4654296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Admin RBAC: users · settings · tips · factors</a:t>
            </a:r>
          </a:p>
        </p:txBody>
      </p:sp>
      <p:sp>
        <p:nvSpPr>
          <p:cNvPr id="59" name="Oval 58"/>
          <p:cNvSpPr/>
          <p:nvPr/>
        </p:nvSpPr>
        <p:spPr>
          <a:xfrm>
            <a:off x="4626864" y="5038344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91456" y="4956048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Auth hardening, integration &amp; bug-fix sweep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01583" y="1481328"/>
            <a:ext cx="3520440" cy="3895344"/>
          </a:xfrm>
          <a:prstGeom prst="roundRect">
            <a:avLst>
              <a:gd name="adj" fmla="val 5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339327" y="17190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E4731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91118" y="1826971"/>
            <a:ext cx="49377" cy="49377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491118" y="2018995"/>
            <a:ext cx="49377" cy="49377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595359" y="1920240"/>
            <a:ext cx="49377" cy="49377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8515807" y="1876348"/>
            <a:ext cx="0" cy="148133"/>
          </a:xfrm>
          <a:prstGeom prst="line">
            <a:avLst/>
          </a:prstGeom>
          <a:ln w="27940">
            <a:solidFill>
              <a:srgbClr val="4ADE80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515807" y="1942185"/>
            <a:ext cx="85039" cy="5487"/>
          </a:xfrm>
          <a:prstGeom prst="line">
            <a:avLst/>
          </a:prstGeom>
          <a:ln w="27940">
            <a:solidFill>
              <a:srgbClr val="4ADE80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906256" y="168249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 lang="en-US">
                <a:solidFill>
                  <a:srgbClr val="FFFFFF"/>
                </a:solidFill>
                <a:latin typeface="Calibri"/>
              </a:rPr>
              <a:t>GitHub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06256" y="1938528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C7F0D8"/>
                </a:solidFill>
                <a:latin typeface="Calibri"/>
              </a:rPr>
              <a:t>github.com/ennabilizineb/GreenStep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39327" y="243230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 i="0" lang="en-US" spc="60">
                <a:solidFill>
                  <a:srgbClr val="4ADE80"/>
                </a:solidFill>
                <a:latin typeface="Calibri"/>
              </a:rPr>
              <a:t>98 COMMITS · 4 CONTRIBUTORS · CLEAN HISTORY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39327" y="28163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Zineb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518904" y="2852928"/>
            <a:ext cx="1965960" cy="201168"/>
          </a:xfrm>
          <a:prstGeom prst="roundRect">
            <a:avLst>
              <a:gd name="adj" fmla="val 4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9518904" y="2852928"/>
            <a:ext cx="1965960" cy="201168"/>
          </a:xfrm>
          <a:prstGeom prst="roundRect">
            <a:avLst>
              <a:gd name="adj" fmla="val 4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521440" y="27980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39327" y="323697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Mohammed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518904" y="3273552"/>
            <a:ext cx="1965960" cy="201168"/>
          </a:xfrm>
          <a:prstGeom prst="roundRect">
            <a:avLst>
              <a:gd name="adj" fmla="val 4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518904" y="3273552"/>
            <a:ext cx="1685108" cy="201168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521440" y="32186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36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39327" y="365760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Zeng Liting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518904" y="3694176"/>
            <a:ext cx="1965960" cy="201168"/>
          </a:xfrm>
          <a:prstGeom prst="roundRect">
            <a:avLst>
              <a:gd name="adj" fmla="val 4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9518904" y="3694176"/>
            <a:ext cx="655320" cy="201168"/>
          </a:xfrm>
          <a:prstGeom prst="roundRect">
            <a:avLst>
              <a:gd name="adj" fmla="val 40000"/>
            </a:avLst>
          </a:prstGeom>
          <a:solidFill>
            <a:srgbClr val="C7F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521440" y="36393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39327" y="407822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Rawan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518904" y="4114800"/>
            <a:ext cx="1965960" cy="201168"/>
          </a:xfrm>
          <a:prstGeom prst="roundRect">
            <a:avLst>
              <a:gd name="adj" fmla="val 4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9518904" y="4114800"/>
            <a:ext cx="280851" cy="201168"/>
          </a:xfrm>
          <a:prstGeom prst="roundRect">
            <a:avLst>
              <a:gd name="adj" fmla="val 40000"/>
            </a:avLst>
          </a:prstGeom>
          <a:solidFill>
            <a:srgbClr val="8FD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521440" y="40599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8339327" y="4553712"/>
            <a:ext cx="3044953" cy="0"/>
          </a:xfrm>
          <a:prstGeom prst="line">
            <a:avLst/>
          </a:prstGeom>
          <a:ln w="12700">
            <a:solidFill>
              <a:srgbClr val="1C6745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8339327" y="4663440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Branching: </a:t>
            </a:r>
            <a:r>
              <a:rPr sz="1050" b="0" i="0" lang="en-US">
                <a:solidFill>
                  <a:srgbClr val="C7F0D8"/>
                </a:solidFill>
                <a:latin typeface="Calibri"/>
              </a:rPr>
              <a:t>work merged to </a:t>
            </a:r>
            <a:r>
              <a:rPr sz="1050" b="1" i="0" lang="en-US">
                <a:solidFill>
                  <a:srgbClr val="FFFFFF"/>
                </a:solidFill>
                <a:latin typeface="Consolas"/>
              </a:rPr>
              <a:t>main</a:t>
            </a:r>
            <a:r>
              <a:rPr sz="1050" b="0" i="0" lang="en-US">
                <a:solidFill>
                  <a:srgbClr val="C7F0D8"/>
                </a:solidFill>
                <a:latin typeface="Calibri"/>
              </a:rPr>
              <a:t>; release deliverables isolated on the </a:t>
            </a:r>
            <a:r>
              <a:rPr sz="1050" b="1" i="0" lang="en-US">
                <a:solidFill>
                  <a:srgbClr val="FFFFFF"/>
                </a:solidFill>
                <a:latin typeface="Consolas"/>
              </a:rPr>
              <a:t>PR3</a:t>
            </a:r>
            <a:r>
              <a:rPr sz="1050" b="0" i="0" lang="en-US">
                <a:solidFill>
                  <a:srgbClr val="C7F0D8"/>
                </a:solidFill>
                <a:latin typeface="Calibri"/>
              </a:rPr>
              <a:t> branch.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PROJECT OVERVIEW ·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Existing carbon apps miss the middle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0" i="0" lang="en-US">
                <a:solidFill>
                  <a:srgbClr val="44574E"/>
                </a:solidFill>
                <a:latin typeface="Calibri"/>
              </a:rPr>
              <a:t>A substantial share of global emissions traces back to everyday choices in </a:t>
            </a:r>
            <a:r>
              <a:rPr sz="1350" b="1" i="0" lang="en-US">
                <a:solidFill>
                  <a:srgbClr val="0E1B14"/>
                </a:solidFill>
                <a:latin typeface="Calibri"/>
              </a:rPr>
              <a:t>transport, diet and energy</a:t>
            </a:r>
            <a:r>
              <a:rPr sz="1350" b="0" i="0" lang="en-US">
                <a:solidFill>
                  <a:srgbClr val="44574E"/>
                </a:solidFill>
                <a:latin typeface="Calibri"/>
              </a:rPr>
              <a:t>. Yet people rarely get immediate, quantifiable feedback — so habits never 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48840"/>
            <a:ext cx="5394960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40487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004376" y="2518257"/>
            <a:ext cx="204095" cy="340157"/>
          </a:xfrm>
          <a:custGeom>
            <a:avLst/>
            <a:gdLst/>
            <a:ahLst/>
            <a:cxnLst/>
            <a:rect l="l" t="t" r="r" b="b"/>
            <a:pathLst>
              <a:path w="204095" h="340157">
                <a:moveTo>
                  <a:pt x="129260" y="0"/>
                </a:moveTo>
                <a:lnTo>
                  <a:pt x="0" y="190488"/>
                </a:lnTo>
                <a:lnTo>
                  <a:pt x="88441" y="190488"/>
                </a:lnTo>
                <a:lnTo>
                  <a:pt x="47622" y="340157"/>
                </a:lnTo>
                <a:lnTo>
                  <a:pt x="204095" y="136063"/>
                </a:lnTo>
                <a:lnTo>
                  <a:pt x="108851" y="136063"/>
                </a:lnTo>
                <a:lnTo>
                  <a:pt x="15647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36192" y="24231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 lang="en-US">
                <a:solidFill>
                  <a:srgbClr val="0E1B14"/>
                </a:solidFill>
                <a:latin typeface="Calibri"/>
              </a:rPr>
              <a:t>Oversimplification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82549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 spc="80">
                <a:solidFill>
                  <a:srgbClr val="F59E0B"/>
                </a:solidFill>
                <a:latin typeface="Calibri"/>
              </a:rPr>
              <a:t>Failure mode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172968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0" i="0" lang="en-US">
                <a:solidFill>
                  <a:srgbClr val="44574E"/>
                </a:solidFill>
                <a:latin typeface="Calibri"/>
              </a:rPr>
              <a:t>Static “green tips” (“turn off the lights”). No tracking, no calculation, no feedback loop — nothing to motivate a habit.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2148840"/>
            <a:ext cx="5394960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0" y="240487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ear 9 15"/>
          <p:cNvSpPr/>
          <p:nvPr/>
        </p:nvSpPr>
        <p:spPr>
          <a:xfrm>
            <a:off x="6626035" y="2538667"/>
            <a:ext cx="299337" cy="299337"/>
          </a:xfrm>
          <a:prstGeom prst="gear9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31483" y="2644115"/>
            <a:ext cx="88440" cy="88440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5472" y="24231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 lang="en-US">
                <a:solidFill>
                  <a:srgbClr val="0E1B14"/>
                </a:solidFill>
                <a:latin typeface="Calibri"/>
              </a:rPr>
              <a:t>Overcomplication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2" y="282549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 spc="80">
                <a:solidFill>
                  <a:srgbClr val="7C3AED"/>
                </a:solidFill>
                <a:latin typeface="Calibri"/>
              </a:rPr>
              <a:t>Failure mode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172968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0" i="0" lang="en-US">
                <a:solidFill>
                  <a:srgbClr val="44574E"/>
                </a:solidFill>
                <a:latin typeface="Calibri"/>
              </a:rPr>
              <a:t>Scientific calculators demand full life-cycle assessments — utility bills, exact distances, receipts. Cognitive overload → burnout → abandonment.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6052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9536" y="4398264"/>
            <a:ext cx="493776" cy="493776"/>
          </a:xfrm>
          <a:prstGeom prst="ellipse">
            <a:avLst/>
          </a:prstGeom>
          <a:solidFill>
            <a:srgbClr val="0E4731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0287" y="4529015"/>
            <a:ext cx="232272" cy="232272"/>
          </a:xfrm>
          <a:prstGeom prst="ellipse">
            <a:avLst/>
          </a:prstGeom>
          <a:noFill/>
          <a:ln w="2794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1121" y="4589849"/>
            <a:ext cx="110605" cy="110605"/>
          </a:xfrm>
          <a:prstGeom prst="ellipse">
            <a:avLst/>
          </a:prstGeom>
          <a:noFill/>
          <a:ln w="2159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9833" y="4628561"/>
            <a:ext cx="33181" cy="33181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36192" y="4306824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 spc="160">
                <a:solidFill>
                  <a:srgbClr val="4ADE80"/>
                </a:solidFill>
                <a:latin typeface="Calibri"/>
              </a:rPr>
              <a:t>THE GAP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852928" y="4343400"/>
            <a:ext cx="0" cy="594359"/>
          </a:xfrm>
          <a:prstGeom prst="line">
            <a:avLst/>
          </a:prstGeom>
          <a:ln w="12700">
            <a:solidFill>
              <a:srgbClr val="1C6745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108960" y="4306824"/>
            <a:ext cx="82296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 lang="en-US">
                <a:solidFill>
                  <a:srgbClr val="FFFFFF"/>
                </a:solidFill>
                <a:latin typeface="Calibri"/>
              </a:rPr>
              <a:t>No app combines </a:t>
            </a:r>
            <a:r>
              <a:rPr sz="1450" b="1" i="0" lang="en-US">
                <a:solidFill>
                  <a:srgbClr val="4ADE80"/>
                </a:solidFill>
                <a:latin typeface="Calibri"/>
              </a:rPr>
              <a:t>low-friction daily logging</a:t>
            </a:r>
            <a:r>
              <a:rPr sz="1450" b="0" i="0" lang="en-US">
                <a:solidFill>
                  <a:srgbClr val="FFFFFF"/>
                </a:solidFill>
                <a:latin typeface="Calibri"/>
              </a:rPr>
              <a:t> with </a:t>
            </a:r>
            <a:r>
              <a:rPr sz="1450" b="1" i="0" lang="en-US">
                <a:solidFill>
                  <a:srgbClr val="4ADE80"/>
                </a:solidFill>
                <a:latin typeface="Calibri"/>
              </a:rPr>
              <a:t>empirical, scientifically-grounded CO₂ calculations.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32180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0" i="1" lang="en-US">
                <a:solidFill>
                  <a:srgbClr val="6B7C72"/>
                </a:solidFill>
                <a:latin typeface="Calibri"/>
              </a:rPr>
              <a:t>“Individuals lack immediate, quantifiable feedback on the carbon implications of their daily actions.”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OUR SOLUTION · GREENSTEP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Turn accountability into a 60-second daily habit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44752"/>
            <a:ext cx="11064240" cy="877824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62763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43953" y="1773058"/>
            <a:ext cx="233501" cy="221211"/>
          </a:xfrm>
          <a:custGeom>
            <a:avLst/>
            <a:gdLst/>
            <a:ahLst/>
            <a:cxnLst/>
            <a:rect l="l" t="t" r="r" b="b"/>
            <a:pathLst>
              <a:path w="233501" h="221211">
                <a:moveTo>
                  <a:pt x="0" y="221211"/>
                </a:moveTo>
                <a:lnTo>
                  <a:pt x="233501" y="0"/>
                </a:lnTo>
                <a:lnTo>
                  <a:pt x="227356" y="125967"/>
                </a:lnTo>
                <a:lnTo>
                  <a:pt x="116751" y="221211"/>
                </a:lnTo>
                <a:lnTo>
                  <a:pt x="0" y="2212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968532" y="1791492"/>
            <a:ext cx="184343" cy="184343"/>
          </a:xfrm>
          <a:prstGeom prst="line">
            <a:avLst/>
          </a:prstGeom>
          <a:ln w="1397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81328" y="1517904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Log transport, meals, electricity and recycling with single-tap inputs. </a:t>
            </a:r>
            <a:r>
              <a:rPr sz="1300" b="0" i="0" lang="en-US">
                <a:solidFill>
                  <a:srgbClr val="44574E"/>
                </a:solidFill>
                <a:latin typeface="Calibri"/>
              </a:rPr>
              <a:t>A PHP Slim 4 engine computes the footprint server-side against database-driven DEFRA / IPCC emission factors, then drives streaks, badges and community challenges.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42032"/>
            <a:ext cx="2112264" cy="2432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" y="277977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lock Arc 13"/>
          <p:cNvSpPr/>
          <p:nvPr/>
        </p:nvSpPr>
        <p:spPr>
          <a:xfrm>
            <a:off x="971751" y="2900623"/>
            <a:ext cx="141329" cy="141329"/>
          </a:xfrm>
          <a:prstGeom prst="blockArc">
            <a:avLst>
              <a:gd name="adj1" fmla="val 18000000"/>
              <a:gd name="adj2" fmla="val 0"/>
              <a:gd name="adj3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6389" y="3011228"/>
            <a:ext cx="172053" cy="153619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456432"/>
            <a:ext cx="1709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90">
                <a:solidFill>
                  <a:srgbClr val="15803D"/>
                </a:solidFill>
                <a:latin typeface="Calibri"/>
              </a:rPr>
              <a:t>OBJECTIVE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694176"/>
            <a:ext cx="1709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Multi-Role Secure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242816"/>
            <a:ext cx="170992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RBAC for User · Leader · Admin, all behind stateless JWT + bcrypt.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02636" y="2542032"/>
            <a:ext cx="2112264" cy="2432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22092" y="277977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61373" y="2912912"/>
            <a:ext cx="233501" cy="61447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185952" y="2929810"/>
            <a:ext cx="21506" cy="2150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161373" y="3005084"/>
            <a:ext cx="233501" cy="61447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85952" y="3021982"/>
            <a:ext cx="21506" cy="2150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161373" y="3097255"/>
            <a:ext cx="233501" cy="61447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185952" y="3114153"/>
            <a:ext cx="21506" cy="2150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03804" y="3456432"/>
            <a:ext cx="1709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90">
                <a:solidFill>
                  <a:srgbClr val="11533A"/>
                </a:solidFill>
                <a:latin typeface="Calibri"/>
              </a:rPr>
              <a:t>OBJECTIVE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03804" y="3694176"/>
            <a:ext cx="1709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Server-Side Calc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03804" y="4242816"/>
            <a:ext cx="170992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Slim 4 REST API computes CO₂ from DB-driven factors via PDO.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38344" y="2542032"/>
            <a:ext cx="2112264" cy="2432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257800" y="277977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52384" y="2900623"/>
            <a:ext cx="122895" cy="270369"/>
          </a:xfrm>
          <a:prstGeom prst="roundRect">
            <a:avLst>
              <a:gd name="adj" fmla="val 2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04614" y="3121834"/>
            <a:ext cx="18434" cy="1843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39512" y="3456432"/>
            <a:ext cx="1709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90">
                <a:solidFill>
                  <a:srgbClr val="0EA5E9"/>
                </a:solidFill>
                <a:latin typeface="Calibri"/>
              </a:rPr>
              <a:t>OBJECTIVE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9512" y="3694176"/>
            <a:ext cx="1709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Low-Friction Cross-Platform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9512" y="4242816"/>
            <a:ext cx="170992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Vue 3 SPA, mobile-first, wrapped as an Android APK with Capacitor.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74052" y="2542032"/>
            <a:ext cx="2112264" cy="2432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93508" y="277977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FA34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26644" y="3048097"/>
            <a:ext cx="46085" cy="104461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694237" y="2980505"/>
            <a:ext cx="46085" cy="172053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61829" y="3023518"/>
            <a:ext cx="46085" cy="129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829421" y="2925202"/>
            <a:ext cx="46085" cy="22735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75220" y="3456432"/>
            <a:ext cx="1709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90">
                <a:solidFill>
                  <a:srgbClr val="1FA34D"/>
                </a:solidFill>
                <a:latin typeface="Calibri"/>
              </a:rPr>
              <a:t>OBJECTIVE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75220" y="3694176"/>
            <a:ext cx="1709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Interactive Visualization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5220" y="4242816"/>
            <a:ext cx="170992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Weekly &amp; monthly trends rendered from live JSON dashboards.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9760" y="2542032"/>
            <a:ext cx="2112264" cy="2432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729216" y="277977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33017" y="2894478"/>
            <a:ext cx="30723" cy="1044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06754" y="2894478"/>
            <a:ext cx="30723" cy="1044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14583" y="2980505"/>
            <a:ext cx="141329" cy="14132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945307" y="3011228"/>
            <a:ext cx="79881" cy="79881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10928" y="3456432"/>
            <a:ext cx="1709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90">
                <a:solidFill>
                  <a:srgbClr val="F59E0B"/>
                </a:solidFill>
                <a:latin typeface="Calibri"/>
              </a:rPr>
              <a:t>OBJECTIVE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10928" y="3694176"/>
            <a:ext cx="1709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Gamification &amp; Retention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10928" y="4242816"/>
            <a:ext cx="170992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Automated streaks, JSON-criteria badges, collective challenges.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517550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15803D"/>
                </a:solidFill>
                <a:latin typeface="Calibri"/>
              </a:rPr>
              <a:t>Scope delivered:  </a:t>
            </a:r>
            <a:r>
              <a:rPr sz="1150" b="0" i="0" lang="en-US">
                <a:solidFill>
                  <a:srgbClr val="44574E"/>
                </a:solidFill>
                <a:latin typeface="Calibri"/>
              </a:rPr>
              <a:t>Auth · Daily Log (full CRUD) · Dashboard · Challenges (CRUD) · Badges · Daily Tips · Admin factor &amp; tip control  —  3 roles, 10 tables, 20 endpoints.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TARGET USERS &amp;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UML use-case diagram — three actors, one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481328"/>
            <a:ext cx="3886200" cy="4572000"/>
          </a:xfrm>
          <a:prstGeom prst="roundRect">
            <a:avLst>
              <a:gd name="adj" fmla="val 3000"/>
            </a:avLst>
          </a:prstGeom>
          <a:solidFill>
            <a:srgbClr val="F0FAF3"/>
          </a:solidFill>
          <a:ln w="2032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1572768"/>
            <a:ext cx="3886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15803D"/>
                </a:solidFill>
                <a:latin typeface="Calibri"/>
              </a:rPr>
              <a:t>GreenStep System</a:t>
            </a:r>
          </a:p>
        </p:txBody>
      </p:sp>
      <p:sp>
        <p:nvSpPr>
          <p:cNvPr id="9" name="Oval 8"/>
          <p:cNvSpPr/>
          <p:nvPr/>
        </p:nvSpPr>
        <p:spPr>
          <a:xfrm>
            <a:off x="4663440" y="1984248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65960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Register / Login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0" y="2560320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542032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Log Daily Activity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3136392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118104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View Dashboard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3712464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694176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Join Challenge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4288536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270248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Earn Badges &amp; Tips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4937760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4919472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Manage Challenges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5513832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5495544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Manage Eco-Tips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4727448"/>
            <a:ext cx="2880360" cy="18288"/>
          </a:xfrm>
          <a:prstGeom prst="rect">
            <a:avLst/>
          </a:prstGeom>
          <a:solidFill>
            <a:srgbClr val="C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754880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50" b="1" i="0" lang="en-US">
                <a:solidFill>
                  <a:srgbClr val="B45309"/>
                </a:solidFill>
                <a:latin typeface="Calibri"/>
              </a:rPr>
              <a:t>— elevated / role-gated —</a:t>
            </a:r>
          </a:p>
        </p:txBody>
      </p:sp>
      <p:sp>
        <p:nvSpPr>
          <p:cNvPr id="25" name="Oval 24"/>
          <p:cNvSpPr/>
          <p:nvPr/>
        </p:nvSpPr>
        <p:spPr>
          <a:xfrm>
            <a:off x="4663440" y="5513832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5495544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Manage Emission Factors</a:t>
            </a:r>
          </a:p>
        </p:txBody>
      </p:sp>
      <p:sp>
        <p:nvSpPr>
          <p:cNvPr id="27" name="Oval 26"/>
          <p:cNvSpPr/>
          <p:nvPr/>
        </p:nvSpPr>
        <p:spPr>
          <a:xfrm>
            <a:off x="1768906" y="1920240"/>
            <a:ext cx="211226" cy="21122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874519" y="2131466"/>
            <a:ext cx="0" cy="326441"/>
          </a:xfrm>
          <a:prstGeom prst="line">
            <a:avLst/>
          </a:prstGeom>
          <a:ln w="30480">
            <a:solidFill>
              <a:srgbClr val="15803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682495" y="2227478"/>
            <a:ext cx="384048" cy="0"/>
          </a:xfrm>
          <a:prstGeom prst="line">
            <a:avLst/>
          </a:prstGeom>
          <a:ln w="30480">
            <a:solidFill>
              <a:srgbClr val="15803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720900" y="2457907"/>
            <a:ext cx="153619" cy="249631"/>
          </a:xfrm>
          <a:prstGeom prst="line">
            <a:avLst/>
          </a:prstGeom>
          <a:ln w="30480">
            <a:solidFill>
              <a:srgbClr val="15803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74519" y="2457907"/>
            <a:ext cx="153620" cy="249631"/>
          </a:xfrm>
          <a:prstGeom prst="line">
            <a:avLst/>
          </a:prstGeom>
          <a:ln w="30480">
            <a:solidFill>
              <a:srgbClr val="15803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51560" y="27267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User
(Individual)</a:t>
            </a:r>
          </a:p>
        </p:txBody>
      </p:sp>
      <p:sp>
        <p:nvSpPr>
          <p:cNvPr id="33" name="Oval 32"/>
          <p:cNvSpPr/>
          <p:nvPr/>
        </p:nvSpPr>
        <p:spPr>
          <a:xfrm>
            <a:off x="1768906" y="3977639"/>
            <a:ext cx="211226" cy="21122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874519" y="4188866"/>
            <a:ext cx="0" cy="326441"/>
          </a:xfrm>
          <a:prstGeom prst="line">
            <a:avLst/>
          </a:prstGeom>
          <a:ln w="3048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682495" y="4284878"/>
            <a:ext cx="384048" cy="0"/>
          </a:xfrm>
          <a:prstGeom prst="line">
            <a:avLst/>
          </a:prstGeom>
          <a:ln w="3048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720900" y="4515307"/>
            <a:ext cx="153619" cy="249631"/>
          </a:xfrm>
          <a:prstGeom prst="line">
            <a:avLst/>
          </a:prstGeom>
          <a:ln w="3048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874519" y="4515307"/>
            <a:ext cx="153620" cy="249631"/>
          </a:xfrm>
          <a:prstGeom prst="line">
            <a:avLst/>
          </a:prstGeom>
          <a:ln w="3048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51560" y="47841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Community
Leader</a:t>
            </a:r>
          </a:p>
        </p:txBody>
      </p:sp>
      <p:sp>
        <p:nvSpPr>
          <p:cNvPr id="39" name="Oval 38"/>
          <p:cNvSpPr/>
          <p:nvPr/>
        </p:nvSpPr>
        <p:spPr>
          <a:xfrm>
            <a:off x="9907066" y="2121408"/>
            <a:ext cx="211226" cy="21122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0012680" y="2332634"/>
            <a:ext cx="0" cy="326441"/>
          </a:xfrm>
          <a:prstGeom prst="line">
            <a:avLst/>
          </a:prstGeom>
          <a:ln w="3048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820655" y="2428646"/>
            <a:ext cx="384049" cy="0"/>
          </a:xfrm>
          <a:prstGeom prst="line">
            <a:avLst/>
          </a:prstGeom>
          <a:ln w="3048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9859060" y="2659075"/>
            <a:ext cx="153620" cy="249631"/>
          </a:xfrm>
          <a:prstGeom prst="line">
            <a:avLst/>
          </a:prstGeom>
          <a:ln w="3048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012680" y="2659075"/>
            <a:ext cx="153619" cy="249631"/>
          </a:xfrm>
          <a:prstGeom prst="line">
            <a:avLst/>
          </a:prstGeom>
          <a:ln w="3048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89719" y="2927908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Platform
Administrator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2103120" y="2212848"/>
            <a:ext cx="2560320" cy="73152"/>
          </a:xfrm>
          <a:prstGeom prst="line">
            <a:avLst/>
          </a:prstGeom>
          <a:ln w="13970">
            <a:solidFill>
              <a:srgbClr val="1FA34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103120" y="2286000"/>
            <a:ext cx="2560320" cy="502920"/>
          </a:xfrm>
          <a:prstGeom prst="line">
            <a:avLst/>
          </a:prstGeom>
          <a:ln w="13970">
            <a:solidFill>
              <a:srgbClr val="1FA34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103120" y="2286000"/>
            <a:ext cx="2560320" cy="1078992"/>
          </a:xfrm>
          <a:prstGeom prst="line">
            <a:avLst/>
          </a:prstGeom>
          <a:ln w="13970">
            <a:solidFill>
              <a:srgbClr val="1FA34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103120" y="2286000"/>
            <a:ext cx="2560320" cy="1655064"/>
          </a:xfrm>
          <a:prstGeom prst="line">
            <a:avLst/>
          </a:prstGeom>
          <a:ln w="13970">
            <a:solidFill>
              <a:srgbClr val="1FA34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103120" y="2286000"/>
            <a:ext cx="2560320" cy="2231136"/>
          </a:xfrm>
          <a:prstGeom prst="line">
            <a:avLst/>
          </a:prstGeom>
          <a:ln w="13970">
            <a:solidFill>
              <a:srgbClr val="1FA34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103120" y="3941064"/>
            <a:ext cx="2560320" cy="402336"/>
          </a:xfrm>
          <a:prstGeom prst="line">
            <a:avLst/>
          </a:prstGeom>
          <a:ln w="1397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103120" y="4343400"/>
            <a:ext cx="2560320" cy="822960"/>
          </a:xfrm>
          <a:prstGeom prst="line">
            <a:avLst/>
          </a:prstGeom>
          <a:ln w="1651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103120" y="3364992"/>
            <a:ext cx="2560320" cy="978408"/>
          </a:xfrm>
          <a:prstGeom prst="line">
            <a:avLst/>
          </a:prstGeom>
          <a:ln w="1397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7543800" y="2505456"/>
            <a:ext cx="2240280" cy="3236976"/>
          </a:xfrm>
          <a:prstGeom prst="line">
            <a:avLst/>
          </a:prstGeom>
          <a:ln w="1651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7543800" y="2505456"/>
            <a:ext cx="2240280" cy="3236976"/>
          </a:xfrm>
          <a:prstGeom prst="line">
            <a:avLst/>
          </a:prstGeom>
          <a:ln w="1651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7543800" y="2212848"/>
            <a:ext cx="2240280" cy="292608"/>
          </a:xfrm>
          <a:prstGeom prst="line">
            <a:avLst/>
          </a:prstGeom>
          <a:ln w="1270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549640" y="35844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60">
                <a:solidFill>
                  <a:srgbClr val="6B7C72"/>
                </a:solidFill>
                <a:latin typeface="Calibri"/>
              </a:rPr>
              <a:t>ROLE SCOPE (inherits downward)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49640" y="3858768"/>
            <a:ext cx="310896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677656" y="3995928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77656" y="3977639"/>
            <a:ext cx="402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FFFFFF"/>
                </a:solidFill>
                <a:latin typeface="Calibri"/>
              </a:rPr>
              <a:t>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9719" y="392277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User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9719" y="4133087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880" b="0" i="0" lang="en-US">
                <a:solidFill>
                  <a:srgbClr val="44574E"/>
                </a:solidFill>
                <a:latin typeface="Calibri"/>
              </a:rPr>
              <a:t>Logs activities, views dashboard, earns badges, joins challenges.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49640" y="4645152"/>
            <a:ext cx="310896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677656" y="4782312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77656" y="4764024"/>
            <a:ext cx="402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89719" y="470916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Leader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9719" y="4919472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880" b="0" i="0" lang="en-US">
                <a:solidFill>
                  <a:srgbClr val="44574E"/>
                </a:solidFill>
                <a:latin typeface="Calibri"/>
              </a:rPr>
              <a:t>All User rights + create / update / delete community challenges.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49640" y="5431536"/>
            <a:ext cx="310896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677656" y="5568696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77656" y="5550408"/>
            <a:ext cx="402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89719" y="549554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Admin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89719" y="5705856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880" b="0" i="0" lang="en-US">
                <a:solidFill>
                  <a:srgbClr val="44574E"/>
                </a:solidFill>
                <a:latin typeface="Calibri"/>
              </a:rPr>
              <a:t>All rights + manage users, roles, tips, factors, badges &amp; settings.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A decoupled, full-pipeline cross-platform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7818120" cy="740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62763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3544" y="1735531"/>
            <a:ext cx="109728" cy="241401"/>
          </a:xfrm>
          <a:prstGeom prst="roundRect">
            <a:avLst>
              <a:gd name="adj" fmla="val 2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0178" y="1933041"/>
            <a:ext cx="16459" cy="1645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5024" y="159105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80">
                <a:solidFill>
                  <a:srgbClr val="0EA5E9"/>
                </a:solidFill>
                <a:latin typeface="Calibri"/>
              </a:rPr>
              <a:t>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" y="1847088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Vue 3 SPA · Composition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78808" y="1696212"/>
            <a:ext cx="1155801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78808" y="1687068"/>
            <a:ext cx="115580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Vue Router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4337" y="1696212"/>
            <a:ext cx="780897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4337" y="1687068"/>
            <a:ext cx="780897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Pinia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4963" y="1696212"/>
            <a:ext cx="705916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4963" y="1687068"/>
            <a:ext cx="70591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Vite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331720"/>
            <a:ext cx="7818120" cy="740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808" y="247802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FA34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2596896"/>
            <a:ext cx="219456" cy="219456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030" y="2596896"/>
            <a:ext cx="98755" cy="219456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74166" y="2706624"/>
            <a:ext cx="208483" cy="0"/>
          </a:xfrm>
          <a:prstGeom prst="line">
            <a:avLst/>
          </a:prstGeom>
          <a:ln w="1778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35024" y="24414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80">
                <a:solidFill>
                  <a:srgbClr val="1FA34D"/>
                </a:solidFill>
                <a:latin typeface="Calibri"/>
              </a:rPr>
              <a:t>MOBILE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5024" y="2697480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Single codebase → native Android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78808" y="2546604"/>
            <a:ext cx="930859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78808" y="2537460"/>
            <a:ext cx="9308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Capacitor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9395" y="2546604"/>
            <a:ext cx="108082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9395" y="2537460"/>
            <a:ext cx="10808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Android APK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9944" y="2546604"/>
            <a:ext cx="930859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9944" y="2537460"/>
            <a:ext cx="9308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iOS-ready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182112"/>
            <a:ext cx="7818120" cy="740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9808" y="332841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74166" y="3447288"/>
            <a:ext cx="208483" cy="548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6112" y="3462375"/>
            <a:ext cx="19202" cy="1920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74166" y="3529584"/>
            <a:ext cx="208483" cy="548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96112" y="3544671"/>
            <a:ext cx="19202" cy="1920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74166" y="3611880"/>
            <a:ext cx="208483" cy="548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3626967"/>
            <a:ext cx="19202" cy="1920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35024" y="3291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80">
                <a:solidFill>
                  <a:srgbClr val="15803D"/>
                </a:solidFill>
                <a:latin typeface="Calibri"/>
              </a:rPr>
              <a:t>APPLICATION /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35024" y="3547872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PHP 8.1 · Slim 4 RESTful micro-framework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78808" y="3396996"/>
            <a:ext cx="1230782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78808" y="3387852"/>
            <a:ext cx="123078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7 Controllers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19318" y="3396996"/>
            <a:ext cx="1305763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19318" y="3387852"/>
            <a:ext cx="130576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JWT Middleware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34809" y="339699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34809" y="33878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PDO · JSON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4032504"/>
            <a:ext cx="7818120" cy="740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49808" y="417880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79652" y="4322368"/>
            <a:ext cx="19751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79652" y="4421124"/>
            <a:ext cx="197510" cy="603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79652" y="4292193"/>
            <a:ext cx="197510" cy="603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9652" y="4292193"/>
            <a:ext cx="197510" cy="60350"/>
          </a:xfrm>
          <a:prstGeom prst="ellipse">
            <a:avLst/>
          </a:prstGeom>
          <a:noFill/>
          <a:ln w="12700">
            <a:solidFill>
              <a:srgbClr val="115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35024" y="41422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80">
                <a:solidFill>
                  <a:srgbClr val="7C3AED"/>
                </a:solidFill>
                <a:latin typeface="Calibri"/>
              </a:rPr>
              <a:t>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35024" y="4398264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MySQL 8 relational store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78808" y="4247388"/>
            <a:ext cx="930859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78808" y="4238244"/>
            <a:ext cx="9308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10 tables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219395" y="4247388"/>
            <a:ext cx="1155801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19395" y="4238244"/>
            <a:ext cx="115580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PDO prepared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84924" y="424738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84924" y="4238244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FK cascade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66928" y="4882896"/>
            <a:ext cx="7818120" cy="740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49808" y="50292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01598" y="5137099"/>
            <a:ext cx="49377" cy="4937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598" y="5329123"/>
            <a:ext cx="49377" cy="4937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05840" y="5230368"/>
            <a:ext cx="49377" cy="4937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926287" y="5186476"/>
            <a:ext cx="0" cy="148133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26287" y="5252313"/>
            <a:ext cx="85039" cy="5487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335024" y="49926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80">
                <a:solidFill>
                  <a:srgbClr val="F59E0B"/>
                </a:solidFill>
                <a:latin typeface="Calibri"/>
              </a:rPr>
              <a:t>DEVOPS / DELIVERY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35024" y="5248656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Laragon → Docker → cloud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178808" y="5097780"/>
            <a:ext cx="705916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78808" y="5088636"/>
            <a:ext cx="70591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GitHub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994452" y="5097780"/>
            <a:ext cx="705916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94452" y="5088636"/>
            <a:ext cx="70591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Render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810097" y="5097780"/>
            <a:ext cx="780897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10097" y="5088636"/>
            <a:ext cx="780897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Netlify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686800" y="1481328"/>
            <a:ext cx="2935224" cy="4507992"/>
          </a:xfrm>
          <a:prstGeom prst="roundRect">
            <a:avLst>
              <a:gd name="adj" fmla="val 5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42832" y="1700784"/>
            <a:ext cx="2478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 spc="120">
                <a:solidFill>
                  <a:srgbClr val="4ADE80"/>
                </a:solidFill>
                <a:latin typeface="Calibri"/>
              </a:rPr>
              <a:t>WHY THIS STACK</a:t>
            </a:r>
          </a:p>
        </p:txBody>
      </p:sp>
      <p:sp>
        <p:nvSpPr>
          <p:cNvPr id="79" name="Oval 78"/>
          <p:cNvSpPr/>
          <p:nvPr/>
        </p:nvSpPr>
        <p:spPr>
          <a:xfrm>
            <a:off x="8942832" y="2185415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80576" y="2103120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Decoupled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80576" y="2340864"/>
            <a:ext cx="2185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00" b="0" i="0" lang="en-US">
                <a:solidFill>
                  <a:srgbClr val="C7F0D8"/>
                </a:solidFill>
                <a:latin typeface="Calibri"/>
              </a:rPr>
              <a:t>Frontend is pure presentation; the API is a headless, stateless engine.</a:t>
            </a:r>
          </a:p>
        </p:txBody>
      </p:sp>
      <p:sp>
        <p:nvSpPr>
          <p:cNvPr id="82" name="Oval 81"/>
          <p:cNvSpPr/>
          <p:nvPr/>
        </p:nvSpPr>
        <p:spPr>
          <a:xfrm>
            <a:off x="8942832" y="3136391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80576" y="3054096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Authoritative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80576" y="3291840"/>
            <a:ext cx="2185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00" b="0" i="0" lang="en-US">
                <a:solidFill>
                  <a:srgbClr val="C7F0D8"/>
                </a:solidFill>
                <a:latin typeface="Calibri"/>
              </a:rPr>
              <a:t>All CO₂ maths run server-side — clients never compute footprints.</a:t>
            </a:r>
          </a:p>
        </p:txBody>
      </p:sp>
      <p:sp>
        <p:nvSpPr>
          <p:cNvPr id="85" name="Oval 84"/>
          <p:cNvSpPr/>
          <p:nvPr/>
        </p:nvSpPr>
        <p:spPr>
          <a:xfrm>
            <a:off x="8942832" y="4087368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80576" y="4005072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Portable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80576" y="4242816"/>
            <a:ext cx="2185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00" b="0" i="0" lang="en-US">
                <a:solidFill>
                  <a:srgbClr val="C7F0D8"/>
                </a:solidFill>
                <a:latin typeface="Calibri"/>
              </a:rPr>
              <a:t>One Vue codebase ships to web and Android via Capacitor.</a:t>
            </a:r>
          </a:p>
        </p:txBody>
      </p:sp>
      <p:sp>
        <p:nvSpPr>
          <p:cNvPr id="88" name="Oval 87"/>
          <p:cNvSpPr/>
          <p:nvPr/>
        </p:nvSpPr>
        <p:spPr>
          <a:xfrm>
            <a:off x="8942832" y="5038344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180576" y="4956048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Free-tier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80576" y="5193792"/>
            <a:ext cx="2185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00" b="0" i="0" lang="en-US">
                <a:solidFill>
                  <a:srgbClr val="C7F0D8"/>
                </a:solidFill>
                <a:latin typeface="Calibri"/>
              </a:rPr>
              <a:t>Render + Netlify + Cloud SQL = a public URL at zero hosting cost.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DEVOPS · VERSION CONTROL &amp;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One repository, four contributors, clean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54864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700784"/>
            <a:ext cx="530352" cy="530352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2460" y="1825947"/>
            <a:ext cx="57278" cy="5727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2460" y="2048694"/>
            <a:ext cx="57278" cy="5727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3381" y="1934138"/>
            <a:ext cx="57278" cy="5727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91099" y="1883225"/>
            <a:ext cx="0" cy="171834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91099" y="1959595"/>
            <a:ext cx="98646" cy="6365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81328" y="16459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github.com/ennabilizineb/GreenStep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1938528"/>
            <a:ext cx="4389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44574E"/>
                </a:solidFill>
                <a:latin typeface="Calibri"/>
              </a:rPr>
              <a:t>Monorepo — Backend/ (Slim 4) + Frontend/ (Vue 3) + SQL, README &amp; SECURITY docs.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679191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 spc="100">
                <a:solidFill>
                  <a:srgbClr val="15803D"/>
                </a:solidFill>
                <a:latin typeface="Calibri"/>
              </a:rPr>
              <a:t>BRANCH STRATEGY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8" y="3291839"/>
            <a:ext cx="5120640" cy="0"/>
          </a:xfrm>
          <a:prstGeom prst="line">
            <a:avLst/>
          </a:prstGeom>
          <a:ln w="38100">
            <a:solidFill>
              <a:srgbClr val="1FA34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76656" y="3218687"/>
            <a:ext cx="146304" cy="146304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682495" y="3218687"/>
            <a:ext cx="146304" cy="146304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688336" y="3218687"/>
            <a:ext cx="146304" cy="146304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3218687"/>
            <a:ext cx="146304" cy="146304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00016" y="3218687"/>
            <a:ext cx="146304" cy="146304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14416" y="3218687"/>
            <a:ext cx="146304" cy="146304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39242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15803D"/>
                </a:solidFill>
                <a:latin typeface="Consolas"/>
              </a:rPr>
              <a:t>main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67328" y="3291839"/>
            <a:ext cx="502920" cy="548640"/>
          </a:xfrm>
          <a:prstGeom prst="line">
            <a:avLst/>
          </a:prstGeom>
          <a:ln w="30480">
            <a:solidFill>
              <a:srgbClr val="F59E0B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270248" y="3840479"/>
            <a:ext cx="1051560" cy="0"/>
          </a:xfrm>
          <a:prstGeom prst="line">
            <a:avLst/>
          </a:prstGeom>
          <a:ln w="30480">
            <a:solidFill>
              <a:srgbClr val="F59E0B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197096" y="37673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91456" y="37673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48656" y="37673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5321808" y="3291839"/>
            <a:ext cx="365760" cy="548640"/>
          </a:xfrm>
          <a:prstGeom prst="line">
            <a:avLst/>
          </a:prstGeom>
          <a:ln w="30480">
            <a:solidFill>
              <a:srgbClr val="F59E0B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270248" y="3941063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B45309"/>
                </a:solidFill>
                <a:latin typeface="Consolas"/>
              </a:rPr>
              <a:t>PR3  (release deliverables)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3434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1050" b="0" i="0" lang="en-US">
                <a:solidFill>
                  <a:srgbClr val="44574E"/>
                </a:solidFill>
                <a:latin typeface="Calibri"/>
              </a:rPr>
              <a:t>All members commit directly, merge into </a:t>
            </a:r>
            <a:r>
              <a:rPr sz="1050" b="1" i="0" lang="en-US">
                <a:solidFill>
                  <a:srgbClr val="0E1B14"/>
                </a:solidFill>
                <a:latin typeface="Consolas"/>
              </a:rPr>
              <a:t>main</a:t>
            </a:r>
            <a:r>
              <a:rPr sz="1050" b="0" i="0" lang="en-US">
                <a:solidFill>
                  <a:srgbClr val="44574E"/>
                </a:solidFill>
                <a:latin typeface="Calibri"/>
              </a:rPr>
              <a:t>; PR3 slides, README &amp; Deployment docs are staged on a dedicated </a:t>
            </a:r>
            <a:r>
              <a:rPr sz="1050" b="1" i="0" lang="en-US">
                <a:solidFill>
                  <a:srgbClr val="0E1B14"/>
                </a:solidFill>
                <a:latin typeface="Consolas"/>
              </a:rPr>
              <a:t>PR3</a:t>
            </a:r>
            <a:r>
              <a:rPr sz="1050" b="0" i="0" lang="en-US">
                <a:solidFill>
                  <a:srgbClr val="44574E"/>
                </a:solidFill>
                <a:latin typeface="Calibri"/>
              </a:rPr>
              <a:t> branch.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1481328"/>
            <a:ext cx="5330952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1682496"/>
            <a:ext cx="4782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80">
                <a:solidFill>
                  <a:srgbClr val="15803D"/>
                </a:solidFill>
                <a:latin typeface="Calibri"/>
              </a:rPr>
              <a:t>CONTRIBUTION 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1938528"/>
            <a:ext cx="4782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 lang="en-US">
                <a:solidFill>
                  <a:srgbClr val="6B7C72"/>
                </a:solidFill>
                <a:latin typeface="Calibri"/>
              </a:rPr>
              <a:t>98 commits by verified author e-mail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3408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1030" b="1" i="0" lang="en-US">
                <a:solidFill>
                  <a:srgbClr val="0E1B14"/>
                </a:solidFill>
                <a:latin typeface="Calibri"/>
              </a:rPr>
              <a:t>Zineb — DevOps · RBAC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23960" y="2377440"/>
            <a:ext cx="2587752" cy="219456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23960" y="2377440"/>
            <a:ext cx="2587752" cy="219456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66576" y="23317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42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28163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1030" b="1" i="0" lang="en-US">
                <a:solidFill>
                  <a:srgbClr val="0E1B14"/>
                </a:solidFill>
                <a:latin typeface="Calibri"/>
              </a:rPr>
              <a:t>Mohammed — Backend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23960" y="2852928"/>
            <a:ext cx="2587752" cy="219456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823960" y="2852928"/>
            <a:ext cx="2218073" cy="219456"/>
          </a:xfrm>
          <a:prstGeom prst="roundRect">
            <a:avLst>
              <a:gd name="adj" fmla="val 4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66576" y="28072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36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2918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1030" b="1" i="0" lang="en-US">
                <a:solidFill>
                  <a:srgbClr val="0E1B14"/>
                </a:solidFill>
                <a:latin typeface="Calibri"/>
              </a:rPr>
              <a:t>Zeng Liting — Frontend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23960" y="3328416"/>
            <a:ext cx="2587752" cy="219456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823960" y="3328416"/>
            <a:ext cx="862584" cy="219456"/>
          </a:xfrm>
          <a:prstGeom prst="roundRect">
            <a:avLst>
              <a:gd name="adj" fmla="val 4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66576" y="32826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37673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1030" b="1" i="0" lang="en-US">
                <a:solidFill>
                  <a:srgbClr val="0E1B14"/>
                </a:solidFill>
                <a:latin typeface="Calibri"/>
              </a:rPr>
              <a:t>Rawan — Database/Security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23960" y="3803904"/>
            <a:ext cx="2587752" cy="219456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823960" y="3803904"/>
            <a:ext cx="369678" cy="219456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66576" y="37581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6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583680" y="4279392"/>
            <a:ext cx="4782312" cy="0"/>
          </a:xfrm>
          <a:prstGeom prst="line">
            <a:avLst/>
          </a:prstGeom>
          <a:ln w="12700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583680" y="4389120"/>
            <a:ext cx="4782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 i="0" lang="en-US" spc="60">
                <a:solidFill>
                  <a:srgbClr val="6B7C72"/>
                </a:solidFill>
                <a:latin typeface="Calibri"/>
              </a:rPr>
              <a:t>REPRESENTATIVE COMMITS</a:t>
            </a:r>
          </a:p>
        </p:txBody>
      </p:sp>
      <p:sp>
        <p:nvSpPr>
          <p:cNvPr id="54" name="Oval 53"/>
          <p:cNvSpPr/>
          <p:nvPr/>
        </p:nvSpPr>
        <p:spPr>
          <a:xfrm>
            <a:off x="6620256" y="4709160"/>
            <a:ext cx="109728" cy="109728"/>
          </a:xfrm>
          <a:prstGeom prst="ellipse">
            <a:avLst/>
          </a:prstGeom>
          <a:solidFill>
            <a:srgbClr val="1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21424" y="4617720"/>
            <a:ext cx="4544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1" i="0" lang="en-US">
                <a:solidFill>
                  <a:srgbClr val="15803D"/>
                </a:solidFill>
                <a:latin typeface="Consolas"/>
              </a:rPr>
              <a:t>Backend:  </a:t>
            </a:r>
            <a:r>
              <a:rPr sz="960" b="0" i="0" lang="en-US">
                <a:solidFill>
                  <a:srgbClr val="44574E"/>
                </a:solidFill>
                <a:latin typeface="Consolas"/>
              </a:rPr>
              <a:t>Implement badge evaluation &amp; collective challenge progress</a:t>
            </a:r>
          </a:p>
        </p:txBody>
      </p:sp>
      <p:sp>
        <p:nvSpPr>
          <p:cNvPr id="56" name="Oval 55"/>
          <p:cNvSpPr/>
          <p:nvPr/>
        </p:nvSpPr>
        <p:spPr>
          <a:xfrm>
            <a:off x="6620256" y="5074920"/>
            <a:ext cx="109728" cy="109728"/>
          </a:xfrm>
          <a:prstGeom prst="ellipse">
            <a:avLst/>
          </a:prstGeom>
          <a:solidFill>
            <a:srgbClr val="1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21424" y="4983480"/>
            <a:ext cx="4544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1" i="0" lang="en-US">
                <a:solidFill>
                  <a:srgbClr val="15803D"/>
                </a:solidFill>
                <a:latin typeface="Consolas"/>
              </a:rPr>
              <a:t>DevOps:  </a:t>
            </a:r>
            <a:r>
              <a:rPr sz="960" b="0" i="0" lang="en-US">
                <a:solidFill>
                  <a:srgbClr val="44574E"/>
                </a:solidFill>
                <a:latin typeface="Consolas"/>
              </a:rPr>
              <a:t>Add Dockerfile · env-var API URL · admin RBAC controllers</a:t>
            </a:r>
          </a:p>
        </p:txBody>
      </p:sp>
      <p:sp>
        <p:nvSpPr>
          <p:cNvPr id="58" name="Oval 57"/>
          <p:cNvSpPr/>
          <p:nvPr/>
        </p:nvSpPr>
        <p:spPr>
          <a:xfrm>
            <a:off x="6620256" y="5440680"/>
            <a:ext cx="109728" cy="109728"/>
          </a:xfrm>
          <a:prstGeom prst="ellipse">
            <a:avLst/>
          </a:prstGeom>
          <a:solidFill>
            <a:srgbClr val="1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21424" y="5349240"/>
            <a:ext cx="4544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1" i="0" lang="en-US">
                <a:solidFill>
                  <a:srgbClr val="15803D"/>
                </a:solidFill>
                <a:latin typeface="Consolas"/>
              </a:rPr>
              <a:t>Frontend:  </a:t>
            </a:r>
            <a:r>
              <a:rPr sz="960" b="0" i="0" lang="en-US">
                <a:solidFill>
                  <a:srgbClr val="44574E"/>
                </a:solidFill>
                <a:latin typeface="Consolas"/>
              </a:rPr>
              <a:t>Connect dashboard &amp; challenges pages to backend API</a:t>
            </a:r>
          </a:p>
        </p:txBody>
      </p:sp>
      <p:sp>
        <p:nvSpPr>
          <p:cNvPr id="60" name="Oval 59"/>
          <p:cNvSpPr/>
          <p:nvPr/>
        </p:nvSpPr>
        <p:spPr>
          <a:xfrm>
            <a:off x="6620256" y="5806440"/>
            <a:ext cx="109728" cy="109728"/>
          </a:xfrm>
          <a:prstGeom prst="ellipse">
            <a:avLst/>
          </a:prstGeom>
          <a:solidFill>
            <a:srgbClr val="1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21424" y="5715000"/>
            <a:ext cx="4544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1" i="0" lang="en-US">
                <a:solidFill>
                  <a:srgbClr val="15803D"/>
                </a:solidFill>
                <a:latin typeface="Consolas"/>
              </a:rPr>
              <a:t>Database:  </a:t>
            </a:r>
            <a:r>
              <a:rPr sz="960" b="0" i="0" lang="en-US">
                <a:solidFill>
                  <a:srgbClr val="44574E"/>
                </a:solidFill>
                <a:latin typeface="Consolas"/>
              </a:rPr>
              <a:t>update database schema and seed data · SECURITY.md threat model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DEVOPS · CI/CD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From a Laragon laptop to a public cloud URL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27632"/>
            <a:ext cx="1965960" cy="15179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66443" y="18288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>
            <a:off x="1434254" y="2003413"/>
            <a:ext cx="68032" cy="108851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34254" y="2112264"/>
            <a:ext cx="68032" cy="108850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97529" y="2003413"/>
            <a:ext cx="68032" cy="108851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597529" y="2112264"/>
            <a:ext cx="68032" cy="108850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24688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Develop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724912"/>
            <a:ext cx="1746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VS Code · Laragon
PHP 8.1 · Node 20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69464" y="2386584"/>
            <a:ext cx="201168" cy="0"/>
          </a:xfrm>
          <a:prstGeom prst="line">
            <a:avLst/>
          </a:prstGeom>
          <a:ln w="2794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07208" y="1627632"/>
            <a:ext cx="1965960" cy="15179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6723" y="18288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94944" y="1962595"/>
            <a:ext cx="61228" cy="612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94944" y="2200704"/>
            <a:ext cx="61228" cy="612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24203" y="2078248"/>
            <a:ext cx="61228" cy="612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725558" y="2023823"/>
            <a:ext cx="0" cy="183684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725558" y="2105460"/>
            <a:ext cx="105448" cy="6804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807208" y="24688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Commit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6936" y="2724912"/>
            <a:ext cx="1746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Git push → GitHub
main / PR3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09744" y="2386584"/>
            <a:ext cx="201168" cy="0"/>
          </a:xfrm>
          <a:prstGeom prst="line">
            <a:avLst/>
          </a:prstGeom>
          <a:ln w="2794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47488" y="1627632"/>
            <a:ext cx="1965960" cy="15179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747004" y="18288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FA34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ear 9 27"/>
          <p:cNvSpPr/>
          <p:nvPr/>
        </p:nvSpPr>
        <p:spPr>
          <a:xfrm>
            <a:off x="5880799" y="1962595"/>
            <a:ext cx="299337" cy="299337"/>
          </a:xfrm>
          <a:prstGeom prst="gear9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86247" y="2068043"/>
            <a:ext cx="88440" cy="88440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7488" y="24688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57216" y="2724912"/>
            <a:ext cx="1746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Vite build (SPA)
Composer install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50024" y="2386584"/>
            <a:ext cx="201168" cy="0"/>
          </a:xfrm>
          <a:prstGeom prst="line">
            <a:avLst/>
          </a:prstGeom>
          <a:ln w="2794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287768" y="1627632"/>
            <a:ext cx="1965960" cy="15179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87283" y="18288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8216322" y="1962595"/>
            <a:ext cx="108851" cy="251716"/>
          </a:xfrm>
          <a:custGeom>
            <a:avLst/>
            <a:gdLst/>
            <a:ahLst/>
            <a:cxnLst/>
            <a:rect l="l" t="t" r="r" b="b"/>
            <a:pathLst>
              <a:path w="108851" h="251716">
                <a:moveTo>
                  <a:pt x="54426" y="0"/>
                </a:moveTo>
                <a:lnTo>
                  <a:pt x="108851" y="149669"/>
                </a:lnTo>
                <a:lnTo>
                  <a:pt x="88441" y="251716"/>
                </a:lnTo>
                <a:lnTo>
                  <a:pt x="20410" y="251716"/>
                </a:lnTo>
                <a:lnTo>
                  <a:pt x="0" y="14966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46937" y="2044232"/>
            <a:ext cx="47621" cy="47621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87768" y="24688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Deploy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97496" y="2724912"/>
            <a:ext cx="1746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Netlify · Render
Cloud SQL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290303" y="2386584"/>
            <a:ext cx="201169" cy="0"/>
          </a:xfrm>
          <a:prstGeom prst="line">
            <a:avLst/>
          </a:prstGeom>
          <a:ln w="2794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528047" y="1627632"/>
            <a:ext cx="1965960" cy="15179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27563" y="18288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442996" y="1962595"/>
            <a:ext cx="136062" cy="299337"/>
          </a:xfrm>
          <a:prstGeom prst="roundRect">
            <a:avLst>
              <a:gd name="adj" fmla="val 2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500823" y="2207507"/>
            <a:ext cx="20409" cy="2040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28047" y="24688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Package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37775" y="2724912"/>
            <a:ext cx="1746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Capacitor
Android APK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3529584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04672" y="3749039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3544" y="3867911"/>
            <a:ext cx="219456" cy="219456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83894" y="3867911"/>
            <a:ext cx="98755" cy="219456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929030" y="3977639"/>
            <a:ext cx="208483" cy="0"/>
          </a:xfrm>
          <a:prstGeom prst="line">
            <a:avLst/>
          </a:prstGeom>
          <a:ln w="1778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389888" y="37673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1" i="0" lang="en-US">
                <a:solidFill>
                  <a:srgbClr val="0E1B14"/>
                </a:solidFill>
                <a:latin typeface="Calibri"/>
              </a:rPr>
              <a:t>Deployment Architecture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" y="4343400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2416" y="4297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Frontend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50008" y="42976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A5E9"/>
                </a:solidFill>
                <a:latin typeface="Calibri"/>
              </a:rPr>
              <a:t>Netlify / Vercel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6" y="451713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Static Vue 3 build, auto-rebuild on push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" y="4764024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2416" y="471830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Backend API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50008" y="471830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15803D"/>
                </a:solidFill>
                <a:latin typeface="Calibri"/>
              </a:rPr>
              <a:t>Render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2416" y="4937760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PHP Slim 4 service over HTTPS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4672" y="5184648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2416" y="51389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Database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50008" y="51389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7C3AED"/>
                </a:solidFill>
                <a:latin typeface="Calibri"/>
              </a:rPr>
              <a:t>Google Cloud SQL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2416" y="5358384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Managed MySQL 8 via PDO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4672" y="5605272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42416" y="55595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Mobile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50008" y="55595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F59E0B"/>
                </a:solidFill>
                <a:latin typeface="Calibri"/>
              </a:rPr>
              <a:t>Capacitor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2416" y="5779008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Vue build wrapped as Android APK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09360" y="3529584"/>
            <a:ext cx="5330952" cy="2468880"/>
          </a:xfrm>
          <a:prstGeom prst="roundRect">
            <a:avLst>
              <a:gd name="adj" fmla="val 5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80" y="37490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 spc="80">
                <a:solidFill>
                  <a:srgbClr val="4ADE80"/>
                </a:solidFill>
                <a:latin typeface="Calibri"/>
              </a:rPr>
              <a:t>TOOLCHAIN &amp; STATUS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583680" y="4133087"/>
            <a:ext cx="899769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83680" y="4123944"/>
            <a:ext cx="89976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Laragon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611465" y="4133087"/>
            <a:ext cx="983894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611465" y="4123944"/>
            <a:ext cx="98389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Composer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723376" y="4133087"/>
            <a:ext cx="1152144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23376" y="4123944"/>
            <a:ext cx="115214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npm / Vite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003536" y="4133087"/>
            <a:ext cx="899769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003536" y="4123944"/>
            <a:ext cx="89976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Postman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583680" y="4590288"/>
            <a:ext cx="983894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83680" y="4581144"/>
            <a:ext cx="98389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HeidiSQL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695590" y="4590288"/>
            <a:ext cx="815644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695590" y="4581144"/>
            <a:ext cx="81564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GitHub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639251" y="4590288"/>
            <a:ext cx="899769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39251" y="4581144"/>
            <a:ext cx="89976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VS Code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667036" y="4590288"/>
            <a:ext cx="1068019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67036" y="4581144"/>
            <a:ext cx="10680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Capacitor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583680" y="5102352"/>
            <a:ext cx="4782312" cy="0"/>
          </a:xfrm>
          <a:prstGeom prst="line">
            <a:avLst/>
          </a:prstGeom>
          <a:ln w="12700">
            <a:solidFill>
              <a:srgbClr val="1C6745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6583680" y="521208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CI signal:  </a:t>
            </a:r>
            <a:r>
              <a:rPr sz="1050" b="0" i="0" lang="en-US">
                <a:solidFill>
                  <a:srgbClr val="C7F0D8"/>
                </a:solidFill>
                <a:latin typeface="Calibri"/>
              </a:rPr>
              <a:t>Vue lint (oxlint + ESLint) and </a:t>
            </a:r>
            <a:r>
              <a:rPr sz="1050" b="1" i="0" lang="en-US">
                <a:solidFill>
                  <a:srgbClr val="FFFFFF"/>
                </a:solidFill>
                <a:latin typeface="Consolas"/>
              </a:rPr>
              <a:t>composer validate</a:t>
            </a:r>
            <a:r>
              <a:rPr sz="1050" b="0" i="0" lang="en-US">
                <a:solidFill>
                  <a:srgbClr val="C7F0D8"/>
                </a:solidFill>
                <a:latin typeface="Calibri"/>
              </a:rPr>
              <a:t> gate every build; Postman collection verifies all 20 endpoints before the demo.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Three decoupled tiers communicating over REST + JWT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2331720" cy="416052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524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0992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 spc="120">
                <a:solidFill>
                  <a:srgbClr val="15803D"/>
                </a:solidFill>
                <a:latin typeface="Calibri"/>
              </a:rPr>
              <a:t>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03604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74779" y="2274295"/>
            <a:ext cx="316016" cy="316016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61684" y="2274295"/>
            <a:ext cx="142207" cy="316016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582680" y="2432304"/>
            <a:ext cx="300215" cy="0"/>
          </a:xfrm>
          <a:prstGeom prst="line">
            <a:avLst/>
          </a:prstGeom>
          <a:ln w="1778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288036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0E1B14"/>
                </a:solidFill>
                <a:latin typeface="Calibri"/>
              </a:rPr>
              <a:t>Web Browser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03604" y="338328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53783" y="3538654"/>
            <a:ext cx="158008" cy="347618"/>
          </a:xfrm>
          <a:prstGeom prst="roundRect">
            <a:avLst>
              <a:gd name="adj" fmla="val 2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20937" y="3823069"/>
            <a:ext cx="23701" cy="2370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16052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0E1B14"/>
                </a:solidFill>
                <a:latin typeface="Calibri"/>
              </a:rPr>
              <a:t>Android APK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43484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44574E"/>
                </a:solidFill>
                <a:latin typeface="Calibri"/>
              </a:rPr>
              <a:t>Capacitor wrap of the same Vue build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" y="5212080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5202936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15803D"/>
                </a:solidFill>
                <a:latin typeface="Calibri"/>
              </a:rPr>
              <a:t>Netlify  ·  HTTPS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1600200"/>
            <a:ext cx="443484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FA34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1709928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 spc="40">
                <a:solidFill>
                  <a:srgbClr val="15803D"/>
                </a:solidFill>
                <a:latin typeface="Calibri"/>
              </a:rPr>
              <a:t>APPLICATION TIER — PHP Slim 4 REST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2057400"/>
            <a:ext cx="4069079" cy="786384"/>
          </a:xfrm>
          <a:prstGeom prst="roundRect">
            <a:avLst>
              <a:gd name="adj" fmla="val 6000"/>
            </a:avLst>
          </a:prstGeom>
          <a:solidFill>
            <a:srgbClr val="F6FBF7"/>
          </a:solidFill>
          <a:ln w="10160">
            <a:solidFill>
              <a:srgbClr val="CD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88536" y="222199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40326" y="2329891"/>
            <a:ext cx="49377" cy="4937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40326" y="2521915"/>
            <a:ext cx="49377" cy="4937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44567" y="2423160"/>
            <a:ext cx="49377" cy="4937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465015" y="2379268"/>
            <a:ext cx="0" cy="148133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465015" y="2445105"/>
            <a:ext cx="85039" cy="5487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873752" y="2176272"/>
            <a:ext cx="3337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Routes / Api.php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3752" y="2441448"/>
            <a:ext cx="3337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33 RESTful routes → controllers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60520" y="2962656"/>
            <a:ext cx="4069079" cy="786384"/>
          </a:xfrm>
          <a:prstGeom prst="roundRect">
            <a:avLst>
              <a:gd name="adj" fmla="val 6000"/>
            </a:avLst>
          </a:prstGeom>
          <a:solidFill>
            <a:srgbClr val="F6FBF7"/>
          </a:solidFill>
          <a:ln w="10160">
            <a:solidFill>
              <a:srgbClr val="CD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288536" y="312724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4407407" y="3235147"/>
            <a:ext cx="219456" cy="244145"/>
          </a:xfrm>
          <a:custGeom>
            <a:avLst/>
            <a:gdLst/>
            <a:ahLst/>
            <a:cxnLst/>
            <a:rect l="l" t="t" r="r" b="b"/>
            <a:pathLst>
              <a:path w="219456" h="244145">
                <a:moveTo>
                  <a:pt x="109729" y="0"/>
                </a:moveTo>
                <a:lnTo>
                  <a:pt x="219456" y="43891"/>
                </a:lnTo>
                <a:lnTo>
                  <a:pt x="197511" y="175565"/>
                </a:lnTo>
                <a:lnTo>
                  <a:pt x="109729" y="244145"/>
                </a:lnTo>
                <a:lnTo>
                  <a:pt x="21946" y="175565"/>
                </a:lnTo>
                <a:lnTo>
                  <a:pt x="0" y="4389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3752" y="3081528"/>
            <a:ext cx="3337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Middleware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73752" y="3346704"/>
            <a:ext cx="3337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JWT verify + role gate · CORS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60520" y="3867912"/>
            <a:ext cx="4069079" cy="786384"/>
          </a:xfrm>
          <a:prstGeom prst="roundRect">
            <a:avLst>
              <a:gd name="adj" fmla="val 6000"/>
            </a:avLst>
          </a:prstGeom>
          <a:solidFill>
            <a:srgbClr val="F6FBF7"/>
          </a:solidFill>
          <a:ln w="10160">
            <a:solidFill>
              <a:srgbClr val="CD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288536" y="403250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412894" y="4151376"/>
            <a:ext cx="208483" cy="548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434839" y="4166463"/>
            <a:ext cx="19202" cy="1920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412894" y="4233672"/>
            <a:ext cx="208483" cy="548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434839" y="4248759"/>
            <a:ext cx="19202" cy="1920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412894" y="4315968"/>
            <a:ext cx="208483" cy="548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34839" y="4331055"/>
            <a:ext cx="19202" cy="1920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73752" y="3986784"/>
            <a:ext cx="3337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Controllers (9)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73752" y="4251960"/>
            <a:ext cx="3337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Auth · Log · Challenge · Badge · Tip · Admin · User · Settings · ActivityType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60520" y="4773168"/>
            <a:ext cx="4069079" cy="786384"/>
          </a:xfrm>
          <a:prstGeom prst="roundRect">
            <a:avLst>
              <a:gd name="adj" fmla="val 6000"/>
            </a:avLst>
          </a:prstGeom>
          <a:solidFill>
            <a:srgbClr val="F6FBF7"/>
          </a:solidFill>
          <a:ln w="10160">
            <a:solidFill>
              <a:srgbClr val="CD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288536" y="49377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ear 9 48"/>
          <p:cNvSpPr/>
          <p:nvPr/>
        </p:nvSpPr>
        <p:spPr>
          <a:xfrm>
            <a:off x="4396435" y="5045659"/>
            <a:ext cx="241401" cy="241401"/>
          </a:xfrm>
          <a:prstGeom prst="gear9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481474" y="5130698"/>
            <a:ext cx="71323" cy="71323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73752" y="4892040"/>
            <a:ext cx="3337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Support / Engines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73752" y="5157216"/>
            <a:ext cx="3337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BadgeEvaluator · ChallengeProgress · JSON envelope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41080" y="1600200"/>
            <a:ext cx="2971800" cy="4160520"/>
          </a:xfrm>
          <a:prstGeom prst="roundRect">
            <a:avLst>
              <a:gd name="adj" fmla="val 5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41080" y="170992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 spc="120">
                <a:solidFill>
                  <a:srgbClr val="4ADE80"/>
                </a:solidFill>
                <a:latin typeface="Calibri"/>
              </a:rPr>
              <a:t>DATA TIER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742932" y="2075688"/>
            <a:ext cx="768096" cy="768096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961071" y="2316870"/>
            <a:ext cx="331817" cy="230428"/>
          </a:xfrm>
          <a:prstGeom prst="rect">
            <a:avLst/>
          </a:prstGeom>
          <a:solidFill>
            <a:srgbClr val="0B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961071" y="2482778"/>
            <a:ext cx="331817" cy="101388"/>
          </a:xfrm>
          <a:prstGeom prst="ellipse">
            <a:avLst/>
          </a:prstGeom>
          <a:solidFill>
            <a:srgbClr val="0B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961071" y="2266175"/>
            <a:ext cx="331817" cy="101388"/>
          </a:xfrm>
          <a:prstGeom prst="ellipse">
            <a:avLst/>
          </a:prstGeom>
          <a:solidFill>
            <a:srgbClr val="0B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961071" y="2266175"/>
            <a:ext cx="331817" cy="101388"/>
          </a:xfrm>
          <a:prstGeom prst="ellipse">
            <a:avLst/>
          </a:prstGeom>
          <a:noFill/>
          <a:ln w="12700">
            <a:solidFill>
              <a:srgbClr val="115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1080" y="297180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FFFFFF"/>
                </a:solidFill>
                <a:latin typeface="Calibri"/>
              </a:rPr>
              <a:t>MySQL 8 · Cloud SQL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69680" y="328269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C7F0D8"/>
                </a:solidFill>
                <a:latin typeface="Calibri"/>
              </a:rPr>
              <a:t>11 tables · InnoDB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97111" y="370332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97111" y="3694176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1" i="0" lang="en-US">
                <a:solidFill>
                  <a:srgbClr val="4ADE80"/>
                </a:solidFill>
                <a:latin typeface="Calibri"/>
              </a:rPr>
              <a:t>Role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195559" y="37033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95559" y="3694176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1" i="0" lang="en-US">
                <a:solidFill>
                  <a:srgbClr val="4ADE80"/>
                </a:solidFill>
                <a:latin typeface="Calibri"/>
              </a:rPr>
              <a:t>User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897111" y="408736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97111" y="4078224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1" i="0" lang="en-US">
                <a:solidFill>
                  <a:srgbClr val="4ADE80"/>
                </a:solidFill>
                <a:latin typeface="Calibri"/>
              </a:rPr>
              <a:t>Activity_Type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195559" y="408736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95559" y="4078224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1" i="0" lang="en-US">
                <a:solidFill>
                  <a:srgbClr val="4ADE80"/>
                </a:solidFill>
                <a:latin typeface="Calibri"/>
              </a:rPr>
              <a:t>Activity_Log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897111" y="447141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897111" y="446227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1" i="0" lang="en-US">
                <a:solidFill>
                  <a:srgbClr val="4ADE80"/>
                </a:solidFill>
                <a:latin typeface="Calibri"/>
              </a:rPr>
              <a:t>Challenge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195559" y="447141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95559" y="446227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1" i="0" lang="en-US">
                <a:solidFill>
                  <a:srgbClr val="4ADE80"/>
                </a:solidFill>
                <a:latin typeface="Calibri"/>
              </a:rPr>
              <a:t>Badge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69680" y="48920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30" b="0" i="0" lang="en-US">
                <a:solidFill>
                  <a:srgbClr val="C7F0D8"/>
                </a:solidFill>
                <a:latin typeface="Calibri"/>
              </a:rPr>
              <a:t>PDO · prepared statements · FK cascade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2898648" y="3154680"/>
            <a:ext cx="1078991" cy="0"/>
          </a:xfrm>
          <a:prstGeom prst="line">
            <a:avLst/>
          </a:prstGeom>
          <a:ln w="30480">
            <a:solidFill>
              <a:srgbClr val="11533A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2898648" y="3611880"/>
            <a:ext cx="1078991" cy="0"/>
          </a:xfrm>
          <a:prstGeom prst="line">
            <a:avLst/>
          </a:prstGeom>
          <a:ln w="20320">
            <a:solidFill>
              <a:srgbClr val="6B7C72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880360" y="2679191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HTTPS · JSON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80360" y="364845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JWT in header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8412480" y="3429000"/>
            <a:ext cx="228600" cy="0"/>
          </a:xfrm>
          <a:prstGeom prst="line">
            <a:avLst/>
          </a:prstGeom>
          <a:ln w="30480">
            <a:solidFill>
              <a:srgbClr val="11533A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8412480" y="3886200"/>
            <a:ext cx="228600" cy="0"/>
          </a:xfrm>
          <a:prstGeom prst="line">
            <a:avLst/>
          </a:prstGeom>
          <a:ln w="20320">
            <a:solidFill>
              <a:srgbClr val="6B7C72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8321040" y="2971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PDO / SQL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SEQUENCE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UML — logging a daily activity, end to 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45336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011680"/>
            <a:ext cx="0" cy="3749040"/>
          </a:xfrm>
          <a:prstGeom prst="line">
            <a:avLst/>
          </a:prstGeom>
          <a:ln w="12700">
            <a:solidFill>
              <a:srgbClr val="6B7C7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08960" y="155448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545336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Vue 3 Frontend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60520" y="2011680"/>
            <a:ext cx="0" cy="3749040"/>
          </a:xfrm>
          <a:prstGeom prst="line">
            <a:avLst/>
          </a:prstGeom>
          <a:ln w="12700">
            <a:solidFill>
              <a:srgbClr val="6B7C7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989320" y="155448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1545336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Slim 4 API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40880" y="2011680"/>
            <a:ext cx="0" cy="3749040"/>
          </a:xfrm>
          <a:prstGeom prst="line">
            <a:avLst/>
          </a:prstGeom>
          <a:ln w="12700">
            <a:solidFill>
              <a:srgbClr val="6B7C7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915400" y="155448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1545336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MySQL (PDO)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966960" y="2011680"/>
            <a:ext cx="0" cy="3749040"/>
          </a:xfrm>
          <a:prstGeom prst="line">
            <a:avLst/>
          </a:prstGeom>
          <a:ln w="12700">
            <a:solidFill>
              <a:srgbClr val="6B7C7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54480" y="2286000"/>
            <a:ext cx="2606040" cy="0"/>
          </a:xfrm>
          <a:prstGeom prst="line">
            <a:avLst/>
          </a:prstGeom>
          <a:ln w="20320">
            <a:solidFill>
              <a:srgbClr val="15803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54480" y="2011680"/>
            <a:ext cx="2606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1" i="0" lang="en-US">
                <a:solidFill>
                  <a:srgbClr val="0E1B14"/>
                </a:solidFill>
                <a:latin typeface="Calibri"/>
              </a:rPr>
              <a:t>Fill Daily Log form (type, amount)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6511" y="2286000"/>
            <a:ext cx="128016" cy="27432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160520" y="2697480"/>
            <a:ext cx="2880360" cy="0"/>
          </a:xfrm>
          <a:prstGeom prst="line">
            <a:avLst/>
          </a:prstGeom>
          <a:ln w="20320">
            <a:solidFill>
              <a:srgbClr val="11533A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60520" y="2423160"/>
            <a:ext cx="2880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1" i="0" lang="en-US">
                <a:solidFill>
                  <a:srgbClr val="0E1B14"/>
                </a:solidFill>
                <a:latin typeface="Calibri"/>
              </a:rPr>
              <a:t>POST /api/logs  + Bearer JWT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76872" y="2697480"/>
            <a:ext cx="128016" cy="1874519"/>
          </a:xfrm>
          <a:prstGeom prst="rect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5472" y="28072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80" b="1" i="0" lang="en-US">
                <a:solidFill>
                  <a:srgbClr val="B45309"/>
                </a:solidFill>
                <a:latin typeface="Calibri"/>
              </a:rPr>
              <a:t>JwtAuthMiddleware verifies token → user_id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76872" y="3063240"/>
            <a:ext cx="128016" cy="3108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611880"/>
            <a:ext cx="2926080" cy="0"/>
          </a:xfrm>
          <a:prstGeom prst="line">
            <a:avLst/>
          </a:prstGeom>
          <a:ln w="20320">
            <a:solidFill>
              <a:srgbClr val="7C3AE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40880" y="333756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1" i="0" lang="en-US">
                <a:solidFill>
                  <a:srgbClr val="0E1B14"/>
                </a:solidFill>
                <a:latin typeface="Calibri"/>
              </a:rPr>
              <a:t>SELECT activity_type (validate)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02952" y="3611880"/>
            <a:ext cx="128016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H="1">
            <a:off x="7040880" y="3977639"/>
            <a:ext cx="2926080" cy="0"/>
          </a:xfrm>
          <a:prstGeom prst="line">
            <a:avLst/>
          </a:prstGeom>
          <a:ln w="20320">
            <a:solidFill>
              <a:srgbClr val="6B7C72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040880" y="370332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6B7C72"/>
                </a:solidFill>
                <a:latin typeface="Calibri"/>
              </a:rPr>
              <a:t>factor row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40880" y="4389120"/>
            <a:ext cx="2926080" cy="0"/>
          </a:xfrm>
          <a:prstGeom prst="line">
            <a:avLst/>
          </a:prstGeom>
          <a:ln w="20320">
            <a:solidFill>
              <a:srgbClr val="7C3AE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040880" y="411480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1" i="0" lang="en-US">
                <a:solidFill>
                  <a:srgbClr val="0E1B14"/>
                </a:solidFill>
                <a:latin typeface="Calibri"/>
              </a:rPr>
              <a:t>INSERT INTO Activity_Log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02952" y="4389120"/>
            <a:ext cx="128016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>
            <a:off x="7040880" y="4754880"/>
            <a:ext cx="2926080" cy="0"/>
          </a:xfrm>
          <a:prstGeom prst="line">
            <a:avLst/>
          </a:prstGeom>
          <a:ln w="20320">
            <a:solidFill>
              <a:srgbClr val="6B7C72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040880" y="448056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6B7C72"/>
                </a:solidFill>
                <a:latin typeface="Calibri"/>
              </a:rPr>
              <a:t>new activity_log_id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4160520" y="5074920"/>
            <a:ext cx="2880360" cy="0"/>
          </a:xfrm>
          <a:prstGeom prst="line">
            <a:avLst/>
          </a:prstGeom>
          <a:ln w="20320">
            <a:solidFill>
              <a:srgbClr val="11533A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60520" y="4800600"/>
            <a:ext cx="2880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6B7C72"/>
                </a:solidFill>
                <a:latin typeface="Calibri"/>
              </a:rPr>
              <a:t>201 Created { id }  — JSON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1554480" y="5440680"/>
            <a:ext cx="2606040" cy="0"/>
          </a:xfrm>
          <a:prstGeom prst="line">
            <a:avLst/>
          </a:prstGeom>
          <a:ln w="20320">
            <a:solidFill>
              <a:srgbClr val="15803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554480" y="5166360"/>
            <a:ext cx="2606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1" i="0" lang="en-US">
                <a:solidFill>
                  <a:srgbClr val="0E1B14"/>
                </a:solidFill>
                <a:latin typeface="Calibri"/>
              </a:rPr>
              <a:t>“Saved ✓” → redirect to Dashboard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5888736"/>
            <a:ext cx="11064240" cy="438912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897880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CO₂ is computed server-side later on </a:t>
            </a:r>
            <a:r>
              <a:rPr sz="1050" b="1" i="0" lang="en-US">
                <a:solidFill>
                  <a:srgbClr val="15803D"/>
                </a:solidFill>
                <a:latin typeface="Consolas"/>
              </a:rPr>
              <a:t>GET /api/dashboard</a:t>
            </a:r>
            <a:r>
              <a:rPr sz="1050" b="0" i="0" lang="en-US">
                <a:solidFill>
                  <a:srgbClr val="0E1B14"/>
                </a:solidFill>
                <a:latin typeface="Calibri"/>
              </a:rPr>
              <a:t>  as  amount × kg_co2_per_unit  — the client never calculates the footprint.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ACTIVITY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UML — user authentication &amp; session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585216"/>
            <a:ext cx="201168" cy="1645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032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1" y="54864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80" b="0" i="0" lang="en-US">
                <a:solidFill>
                  <a:srgbClr val="44574E"/>
                </a:solidFill>
                <a:latin typeface="Calibri"/>
              </a:rPr>
              <a:t>User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19" y="585216"/>
            <a:ext cx="201168" cy="1645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0320">
            <a:solidFill>
              <a:srgbClr val="115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45751" y="54864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80" b="0" i="0" lang="en-US">
                <a:solidFill>
                  <a:srgbClr val="44574E"/>
                </a:solidFill>
                <a:latin typeface="Calibri"/>
              </a:rPr>
              <a:t>System action</a:t>
            </a:r>
          </a:p>
        </p:txBody>
      </p:sp>
      <p:sp>
        <p:nvSpPr>
          <p:cNvPr id="11" name="Diamond 10"/>
          <p:cNvSpPr/>
          <p:nvPr/>
        </p:nvSpPr>
        <p:spPr>
          <a:xfrm>
            <a:off x="10424159" y="566928"/>
            <a:ext cx="201168" cy="201168"/>
          </a:xfrm>
          <a:prstGeom prst="diamond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1" y="54864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80" b="0" i="0" lang="en-US">
                <a:solidFill>
                  <a:srgbClr val="44574E"/>
                </a:solidFill>
                <a:latin typeface="Calibri"/>
              </a:rPr>
              <a:t>Decision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1993392"/>
            <a:ext cx="310896" cy="310896"/>
          </a:xfrm>
          <a:prstGeom prst="ellipse">
            <a:avLst/>
          </a:prstGeom>
          <a:solidFill>
            <a:srgbClr val="0E1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71600" y="1874519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5803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6464" y="1874519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050" b="1" i="0" lang="en-US">
                <a:solidFill>
                  <a:srgbClr val="0E1B14"/>
                </a:solidFill>
                <a:latin typeface="Calibri"/>
              </a:rPr>
              <a:t>Open GreenStep</a:t>
            </a:r>
          </a:p>
        </p:txBody>
      </p:sp>
      <p:sp>
        <p:nvSpPr>
          <p:cNvPr id="16" name="Diamond 15"/>
          <p:cNvSpPr/>
          <p:nvPr/>
        </p:nvSpPr>
        <p:spPr>
          <a:xfrm>
            <a:off x="3310128" y="1664208"/>
            <a:ext cx="1828800" cy="969264"/>
          </a:xfrm>
          <a:prstGeom prst="diamond">
            <a:avLst/>
          </a:prstGeom>
          <a:solidFill>
            <a:srgbClr val="FEF3C7"/>
          </a:solidFill>
          <a:ln w="203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9856" y="1664208"/>
            <a:ext cx="1609344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</a:pPr>
            <a:r>
              <a:rPr sz="960" b="1" i="0" lang="en-US">
                <a:solidFill>
                  <a:srgbClr val="B45309"/>
                </a:solidFill>
                <a:latin typeface="Calibri"/>
              </a:rPr>
              <a:t>JWT token in
localStorage?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0680" y="1874519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1533A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95544" y="1874519"/>
            <a:ext cx="16733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050" b="1" i="0" lang="en-US">
                <a:solidFill>
                  <a:srgbClr val="0E1B14"/>
                </a:solidFill>
                <a:latin typeface="Calibri"/>
              </a:rPr>
              <a:t>Verify token
&amp; expiry</a:t>
            </a:r>
          </a:p>
        </p:txBody>
      </p:sp>
      <p:sp>
        <p:nvSpPr>
          <p:cNvPr id="20" name="Diamond 19"/>
          <p:cNvSpPr/>
          <p:nvPr/>
        </p:nvSpPr>
        <p:spPr>
          <a:xfrm>
            <a:off x="7424927" y="1664208"/>
            <a:ext cx="1783080" cy="969264"/>
          </a:xfrm>
          <a:prstGeom prst="diamond">
            <a:avLst/>
          </a:prstGeom>
          <a:solidFill>
            <a:srgbClr val="FEF3C7"/>
          </a:solidFill>
          <a:ln w="203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34655" y="1664208"/>
            <a:ext cx="1563624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</a:pPr>
            <a:r>
              <a:rPr sz="960" b="1" i="0" lang="en-US">
                <a:solidFill>
                  <a:srgbClr val="B45309"/>
                </a:solidFill>
                <a:latin typeface="Calibri"/>
              </a:rPr>
              <a:t>Valid &amp;
not expired?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1874519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0320">
            <a:solidFill>
              <a:srgbClr val="15803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18904" y="1874519"/>
            <a:ext cx="17190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050" b="1" i="0" lang="en-US">
                <a:solidFill>
                  <a:srgbClr val="0E1B14"/>
                </a:solidFill>
                <a:latin typeface="Calibri"/>
              </a:rPr>
              <a:t>Load Dashboard</a:t>
            </a:r>
          </a:p>
        </p:txBody>
      </p:sp>
      <p:sp>
        <p:nvSpPr>
          <p:cNvPr id="24" name="Oval 23"/>
          <p:cNvSpPr/>
          <p:nvPr/>
        </p:nvSpPr>
        <p:spPr>
          <a:xfrm>
            <a:off x="10287000" y="274320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1B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60152" y="2816352"/>
            <a:ext cx="219456" cy="219456"/>
          </a:xfrm>
          <a:prstGeom prst="ellipse">
            <a:avLst/>
          </a:prstGeom>
          <a:solidFill>
            <a:srgbClr val="0E1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71600" y="4160520"/>
            <a:ext cx="173736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1533A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6464" y="4160520"/>
            <a:ext cx="16276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050" b="1" i="0" lang="en-US">
                <a:solidFill>
                  <a:srgbClr val="0E1B14"/>
                </a:solidFill>
                <a:latin typeface="Calibri"/>
              </a:rPr>
              <a:t>Show Login page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160520"/>
            <a:ext cx="18288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5803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38144" y="4160520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050" b="1" i="0" lang="en-US">
                <a:solidFill>
                  <a:srgbClr val="0E1B14"/>
                </a:solidFill>
                <a:latin typeface="Calibri"/>
              </a:rPr>
              <a:t>Enter email +
password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68112" y="4160520"/>
            <a:ext cx="178308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1533A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22976" y="4160520"/>
            <a:ext cx="16733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960" b="1" i="0" lang="en-US">
                <a:solidFill>
                  <a:srgbClr val="0E1B14"/>
                </a:solidFill>
                <a:latin typeface="Calibri"/>
              </a:rPr>
              <a:t>POST /api/auth/login</a:t>
            </a:r>
          </a:p>
        </p:txBody>
      </p:sp>
      <p:sp>
        <p:nvSpPr>
          <p:cNvPr id="32" name="Diamond 31"/>
          <p:cNvSpPr/>
          <p:nvPr/>
        </p:nvSpPr>
        <p:spPr>
          <a:xfrm>
            <a:off x="7424927" y="3968496"/>
            <a:ext cx="1783080" cy="960120"/>
          </a:xfrm>
          <a:prstGeom prst="diamond">
            <a:avLst/>
          </a:prstGeom>
          <a:solidFill>
            <a:srgbClr val="FEF3C7"/>
          </a:solidFill>
          <a:ln w="203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34655" y="3968496"/>
            <a:ext cx="156362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</a:pPr>
            <a:r>
              <a:rPr sz="960" b="1" i="0" lang="en-US">
                <a:solidFill>
                  <a:srgbClr val="B45309"/>
                </a:solidFill>
                <a:latin typeface="Calibri"/>
              </a:rPr>
              <a:t>Credentials
valid?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64040" y="4160520"/>
            <a:ext cx="18288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1533A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18904" y="4160520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940" b="1" i="0" lang="en-US">
                <a:solidFill>
                  <a:srgbClr val="0E1B14"/>
                </a:solidFill>
                <a:latin typeface="Calibri"/>
              </a:rPr>
              <a:t>Issue JWT (HS256)
+ store session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68112" y="5532120"/>
            <a:ext cx="1783080" cy="566928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20320">
            <a:solidFill>
              <a:srgbClr val="15803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22976" y="5532120"/>
            <a:ext cx="16733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960" b="1" i="0" lang="en-US">
                <a:solidFill>
                  <a:srgbClr val="0E1B14"/>
                </a:solidFill>
                <a:latin typeface="Calibri"/>
              </a:rPr>
              <a:t>Show 'Invalid
credentials'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25296" y="2148840"/>
            <a:ext cx="146304" cy="0"/>
          </a:xfrm>
          <a:prstGeom prst="line">
            <a:avLst/>
          </a:prstGeom>
          <a:ln w="2032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108960" y="2148840"/>
            <a:ext cx="201168" cy="0"/>
          </a:xfrm>
          <a:prstGeom prst="line">
            <a:avLst/>
          </a:prstGeom>
          <a:ln w="2032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138928" y="2148840"/>
            <a:ext cx="301752" cy="0"/>
          </a:xfrm>
          <a:prstGeom prst="line">
            <a:avLst/>
          </a:prstGeom>
          <a:ln w="2032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47488" y="186537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yes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200900" y="2148840"/>
            <a:ext cx="224027" cy="0"/>
          </a:xfrm>
          <a:prstGeom prst="line">
            <a:avLst/>
          </a:prstGeom>
          <a:ln w="2032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208007" y="2148840"/>
            <a:ext cx="256033" cy="0"/>
          </a:xfrm>
          <a:prstGeom prst="line">
            <a:avLst/>
          </a:prstGeom>
          <a:ln w="2032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62287" y="186537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yes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10469880" y="2148840"/>
            <a:ext cx="822960" cy="594360"/>
          </a:xfrm>
          <a:prstGeom prst="line">
            <a:avLst/>
          </a:prstGeom>
          <a:ln w="2032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224528" y="2633472"/>
            <a:ext cx="0" cy="749808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2240280" y="3383280"/>
            <a:ext cx="1984248" cy="0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240280" y="3383280"/>
            <a:ext cx="0" cy="777240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240280" y="4160520"/>
            <a:ext cx="0" cy="0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270248" y="274320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B45309"/>
                </a:solidFill>
                <a:latin typeface="Calibri"/>
              </a:rPr>
              <a:t>no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240280" y="4114800"/>
            <a:ext cx="0" cy="45720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316467" y="2633472"/>
            <a:ext cx="0" cy="978408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2249424" y="3611880"/>
            <a:ext cx="6067043" cy="0"/>
          </a:xfrm>
          <a:prstGeom prst="line">
            <a:avLst/>
          </a:prstGeom>
          <a:ln w="17780">
            <a:solidFill>
              <a:srgbClr val="B45309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362188" y="274320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B45309"/>
                </a:solidFill>
                <a:latin typeface="Calibri"/>
              </a:rPr>
              <a:t>no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108960" y="4443984"/>
            <a:ext cx="274320" cy="0"/>
          </a:xfrm>
          <a:prstGeom prst="line">
            <a:avLst/>
          </a:prstGeom>
          <a:ln w="2032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12080" y="4443984"/>
            <a:ext cx="256032" cy="0"/>
          </a:xfrm>
          <a:prstGeom prst="line">
            <a:avLst/>
          </a:prstGeom>
          <a:ln w="2032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246620" y="4443984"/>
            <a:ext cx="178307" cy="4572"/>
          </a:xfrm>
          <a:prstGeom prst="line">
            <a:avLst/>
          </a:prstGeom>
          <a:ln w="2032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208007" y="4443984"/>
            <a:ext cx="256033" cy="4572"/>
          </a:xfrm>
          <a:prstGeom prst="line">
            <a:avLst/>
          </a:prstGeom>
          <a:ln w="2032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162287" y="416052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yes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10378440" y="3108960"/>
            <a:ext cx="0" cy="1618488"/>
          </a:xfrm>
          <a:prstGeom prst="line">
            <a:avLst/>
          </a:prstGeom>
          <a:ln w="2032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0469880" y="3657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→ Dashboard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316467" y="4928616"/>
            <a:ext cx="0" cy="886968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7251192" y="5815584"/>
            <a:ext cx="1065275" cy="0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362188" y="502920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B45309"/>
                </a:solidFill>
                <a:latin typeface="Calibri"/>
              </a:rPr>
              <a:t>no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2240280" y="5815584"/>
            <a:ext cx="3227832" cy="0"/>
          </a:xfrm>
          <a:prstGeom prst="line">
            <a:avLst/>
          </a:prstGeom>
          <a:ln w="17780">
            <a:solidFill>
              <a:srgbClr val="6B7C7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2240280" y="4727448"/>
            <a:ext cx="0" cy="1088136"/>
          </a:xfrm>
          <a:prstGeom prst="line">
            <a:avLst/>
          </a:prstGeom>
          <a:ln w="17780">
            <a:solidFill>
              <a:srgbClr val="6B7C7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240280" y="4727448"/>
            <a:ext cx="0" cy="210312"/>
          </a:xfrm>
          <a:prstGeom prst="line">
            <a:avLst/>
          </a:prstGeom>
          <a:ln w="17780">
            <a:solidFill>
              <a:srgbClr val="6B7C72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DEPLOYMENT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Nodes, hosting environments &amp; network protocols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417320"/>
            <a:ext cx="2834640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1417320"/>
            <a:ext cx="2834640" cy="384048"/>
          </a:xfrm>
          <a:prstGeom prst="roundRect">
            <a:avLst>
              <a:gd name="adj" fmla="val 0"/>
            </a:avLst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43560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 lang="en-US">
                <a:solidFill>
                  <a:srgbClr val="FFFFFF"/>
                </a:solidFill>
                <a:latin typeface="Calibri"/>
              </a:rPr>
              <a:t>«repository»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94767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16325" y="2068519"/>
            <a:ext cx="55302" cy="553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16325" y="2283585"/>
            <a:ext cx="55302" cy="553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33075" y="2172980"/>
            <a:ext cx="55302" cy="553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043976" y="2123822"/>
            <a:ext cx="0" cy="165908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043976" y="2197559"/>
            <a:ext cx="95244" cy="6145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49824" y="19202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7" y="26060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Source of truth · push to main / PR3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01752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3017520"/>
            <a:ext cx="2743200" cy="384048"/>
          </a:xfrm>
          <a:prstGeom prst="roundRect">
            <a:avLst>
              <a:gd name="adj" fmla="val 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0358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 lang="en-US">
                <a:solidFill>
                  <a:srgbClr val="FFFFFF"/>
                </a:solidFill>
                <a:latin typeface="Calibri"/>
              </a:rPr>
              <a:t>«device»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54787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4392" y="3668719"/>
            <a:ext cx="122895" cy="270369"/>
          </a:xfrm>
          <a:prstGeom prst="roundRect">
            <a:avLst>
              <a:gd name="adj" fmla="val 2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6622" y="3889930"/>
            <a:ext cx="18434" cy="1843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53312" y="35204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Client Device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4206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Web browser (SPA)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48055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Android APK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75487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via Capacitor runtime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502919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User interface layer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3017520"/>
            <a:ext cx="269748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11880" y="3017520"/>
            <a:ext cx="2697480" cy="384048"/>
          </a:xfrm>
          <a:prstGeom prst="roundRect">
            <a:avLst>
              <a:gd name="adj" fmla="val 0"/>
            </a:avLst>
          </a:prstGeom>
          <a:solidFill>
            <a:srgbClr val="1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80" y="303580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 lang="en-US">
                <a:solidFill>
                  <a:srgbClr val="FFFFFF"/>
                </a:solidFill>
                <a:latin typeface="Calibri"/>
              </a:rPr>
              <a:t>«static host»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94760" y="354787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FA34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927896" y="3681008"/>
            <a:ext cx="245790" cy="24579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995489" y="3681008"/>
            <a:ext cx="110605" cy="245790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934041" y="3803904"/>
            <a:ext cx="233501" cy="0"/>
          </a:xfrm>
          <a:prstGeom prst="line">
            <a:avLst/>
          </a:prstGeom>
          <a:ln w="1778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398264" y="3520439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Netlify / Vercel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3048" y="42062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Compiled Vue 3 build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3048" y="448055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Static asset CDN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3048" y="475487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HTTPS delivery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3048" y="502919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Auto-rebuild on push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65392" y="3017520"/>
            <a:ext cx="269748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65392" y="3017520"/>
            <a:ext cx="2697480" cy="384048"/>
          </a:xfrm>
          <a:prstGeom prst="roundRect">
            <a:avLst>
              <a:gd name="adj" fmla="val 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303580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 lang="en-US">
                <a:solidFill>
                  <a:srgbClr val="FFFFFF"/>
                </a:solidFill>
                <a:latin typeface="Calibri"/>
              </a:rPr>
              <a:t>«app server»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48272" y="354787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887553" y="3681008"/>
            <a:ext cx="233501" cy="61447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912132" y="3697906"/>
            <a:ext cx="21506" cy="2150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887553" y="3773180"/>
            <a:ext cx="233501" cy="61447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912132" y="3790078"/>
            <a:ext cx="21506" cy="2150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887553" y="3865351"/>
            <a:ext cx="233501" cy="61447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12132" y="3882249"/>
            <a:ext cx="21506" cy="2150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51775" y="3520439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Render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59" y="42062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PHP 8.1 · Slim 4 API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59" y="448055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Dockerized · REST/JSON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59" y="475487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JWT middleware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59" y="502919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Stateless compute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09760" y="3017520"/>
            <a:ext cx="2121408" cy="2743200"/>
          </a:xfrm>
          <a:prstGeom prst="roundRect">
            <a:avLst>
              <a:gd name="adj" fmla="val 5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509760" y="3017520"/>
            <a:ext cx="2121408" cy="384048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09760" y="3035808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 lang="en-US">
                <a:solidFill>
                  <a:srgbClr val="FFFFFF"/>
                </a:solidFill>
                <a:latin typeface="Calibri"/>
              </a:rPr>
              <a:t>«db server»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92640" y="354787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38066" y="3708660"/>
            <a:ext cx="221211" cy="1536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838066" y="3819265"/>
            <a:ext cx="221211" cy="67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838066" y="3674863"/>
            <a:ext cx="221211" cy="67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838066" y="3674863"/>
            <a:ext cx="221211" cy="67592"/>
          </a:xfrm>
          <a:prstGeom prst="ellipse">
            <a:avLst/>
          </a:prstGeom>
          <a:noFill/>
          <a:ln w="12700">
            <a:solidFill>
              <a:srgbClr val="115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296144" y="3520439"/>
            <a:ext cx="12070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FFFFFF"/>
                </a:solidFill>
                <a:latin typeface="Calibri"/>
              </a:rPr>
              <a:t>Cloud SQL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10928" y="420624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C7F0D8"/>
                </a:solidFill>
                <a:latin typeface="Calibri"/>
              </a:rPr>
              <a:t>MySQL 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10928" y="4480559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C7F0D8"/>
                </a:solidFill>
                <a:latin typeface="Calibri"/>
              </a:rPr>
              <a:t>Port 3306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10928" y="4754879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C7F0D8"/>
                </a:solidFill>
                <a:latin typeface="Calibri"/>
              </a:rPr>
              <a:t>PDO connection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10928" y="5029199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C7F0D8"/>
                </a:solidFill>
                <a:latin typeface="Calibri"/>
              </a:rPr>
              <a:t>11 tables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4956048" y="2624328"/>
            <a:ext cx="484632" cy="393192"/>
          </a:xfrm>
          <a:prstGeom prst="line">
            <a:avLst/>
          </a:prstGeom>
          <a:ln w="17780">
            <a:solidFill>
              <a:srgbClr val="6B7C72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720840" y="2624328"/>
            <a:ext cx="1097280" cy="393192"/>
          </a:xfrm>
          <a:prstGeom prst="line">
            <a:avLst/>
          </a:prstGeom>
          <a:ln w="17780">
            <a:solidFill>
              <a:srgbClr val="6B7C72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297680" y="26700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60" b="1" i="0" lang="en-US">
                <a:solidFill>
                  <a:srgbClr val="6B7C72"/>
                </a:solidFill>
                <a:latin typeface="Calibri"/>
              </a:rPr>
              <a:t>deploy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0" y="26700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60" b="1" i="0" lang="en-US">
                <a:solidFill>
                  <a:srgbClr val="6B7C72"/>
                </a:solidFill>
                <a:latin typeface="Calibri"/>
              </a:rPr>
              <a:t>deploy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3310128" y="4114800"/>
            <a:ext cx="301752" cy="0"/>
          </a:xfrm>
          <a:prstGeom prst="line">
            <a:avLst/>
          </a:prstGeom>
          <a:ln w="27940">
            <a:solidFill>
              <a:srgbClr val="11533A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3035808" y="411480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60" b="1" i="0" lang="en-US">
                <a:solidFill>
                  <a:srgbClr val="15803D"/>
                </a:solidFill>
                <a:latin typeface="Calibri"/>
              </a:rPr>
              <a:t>HTTPS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309360" y="4389120"/>
            <a:ext cx="256032" cy="0"/>
          </a:xfrm>
          <a:prstGeom prst="line">
            <a:avLst/>
          </a:prstGeom>
          <a:ln w="27940">
            <a:solidFill>
              <a:srgbClr val="11533A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025896" y="411480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50" b="1" i="0" lang="en-US">
                <a:solidFill>
                  <a:srgbClr val="15803D"/>
                </a:solidFill>
                <a:latin typeface="Calibri"/>
              </a:rPr>
              <a:t>HTTPS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262872" y="4389120"/>
            <a:ext cx="246888" cy="0"/>
          </a:xfrm>
          <a:prstGeom prst="line">
            <a:avLst/>
          </a:prstGeom>
          <a:ln w="27940">
            <a:solidFill>
              <a:srgbClr val="11533A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070848" y="411480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50" b="1" i="0" lang="en-US">
                <a:solidFill>
                  <a:srgbClr val="15803D"/>
                </a:solidFill>
                <a:latin typeface="Calibri"/>
              </a:rPr>
              <a:t>PDO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66928" y="598932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7240" y="6007608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15803D"/>
                </a:solidFill>
                <a:latin typeface="Calibri"/>
              </a:rPr>
              <a:t>Free-tier public deployment: </a:t>
            </a:r>
            <a:r>
              <a:rPr sz="1050" b="0" i="0" lang="en-US">
                <a:solidFill>
                  <a:srgbClr val="0E1B14"/>
                </a:solidFill>
                <a:latin typeface="Calibri"/>
              </a:rPr>
              <a:t>the browser/APK loads the Vue SPA from Netlify, which calls the Slim API on Render over HTTPS; the API reaches MySQL on Cloud SQL via PDO. GitHub drives every deploy.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DATABASE · ENTITY-RELATIONSHIP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11 normalized tables + config store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43200"/>
            <a:ext cx="1783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11533A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743200"/>
            <a:ext cx="1783080" cy="329184"/>
          </a:xfrm>
          <a:prstGeom prst="rect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743200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320040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108960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role_id PK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346704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name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2395728"/>
            <a:ext cx="1783080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2395728"/>
            <a:ext cx="1783080" cy="32918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2395728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6" name="Oval 15"/>
          <p:cNvSpPr/>
          <p:nvPr/>
        </p:nvSpPr>
        <p:spPr>
          <a:xfrm>
            <a:off x="2825496" y="28529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761488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user_id PK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7208" y="2999232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role_id FK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7208" y="3236976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email ·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7208" y="347472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password_hash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7208" y="3712463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is_active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2395728"/>
            <a:ext cx="1965960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4920" y="2395728"/>
            <a:ext cx="1965960" cy="32918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2395728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Activity_Log</a:t>
            </a:r>
          </a:p>
        </p:txBody>
      </p:sp>
      <p:sp>
        <p:nvSpPr>
          <p:cNvPr id="25" name="Oval 24"/>
          <p:cNvSpPr/>
          <p:nvPr/>
        </p:nvSpPr>
        <p:spPr>
          <a:xfrm>
            <a:off x="5202936" y="28529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2761488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activity_log_id PK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8" y="2999232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user_id FK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648" y="3236976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activity_type_id FK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4648" y="3474720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amount · logged_on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2395728"/>
            <a:ext cx="1920240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EA5E9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35240" y="2395728"/>
            <a:ext cx="1920240" cy="32918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239572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Activity_Type</a:t>
            </a:r>
          </a:p>
        </p:txBody>
      </p:sp>
      <p:sp>
        <p:nvSpPr>
          <p:cNvPr id="33" name="Oval 32"/>
          <p:cNvSpPr/>
          <p:nvPr/>
        </p:nvSpPr>
        <p:spPr>
          <a:xfrm>
            <a:off x="7763256" y="28529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2761488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activity_type_id PK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44967" y="299923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category_id FK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44967" y="323697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unit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44967" y="347472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kg_co2_per_unit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21240" y="2788920"/>
            <a:ext cx="1783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EA5E9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21240" y="2788920"/>
            <a:ext cx="1783080" cy="32918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21240" y="2788920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41" name="Oval 40"/>
          <p:cNvSpPr/>
          <p:nvPr/>
        </p:nvSpPr>
        <p:spPr>
          <a:xfrm>
            <a:off x="10049256" y="32461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95560" y="3154679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category_id PK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30967" y="3392424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name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97480" y="1207008"/>
            <a:ext cx="1783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F59E0B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97480" y="1207008"/>
            <a:ext cx="1783080" cy="3291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97480" y="1207008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Badge</a:t>
            </a:r>
          </a:p>
        </p:txBody>
      </p:sp>
      <p:sp>
        <p:nvSpPr>
          <p:cNvPr id="47" name="Oval 46"/>
          <p:cNvSpPr/>
          <p:nvPr/>
        </p:nvSpPr>
        <p:spPr>
          <a:xfrm>
            <a:off x="2825496" y="166420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71800" y="1572768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badge_id PK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07208" y="1810512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criteria_json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74920" y="1188720"/>
            <a:ext cx="1965960" cy="1060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F59E0B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74920" y="1188720"/>
            <a:ext cx="1965960" cy="3291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74920" y="1188720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User_Badge</a:t>
            </a:r>
          </a:p>
        </p:txBody>
      </p:sp>
      <p:sp>
        <p:nvSpPr>
          <p:cNvPr id="53" name="Oval 52"/>
          <p:cNvSpPr/>
          <p:nvPr/>
        </p:nvSpPr>
        <p:spPr>
          <a:xfrm>
            <a:off x="5202936" y="16459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49240" y="155448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badge_id PK,FK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84648" y="1792224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user_id PK,FK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84648" y="2029967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awarded_on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697480" y="4617720"/>
            <a:ext cx="1783080" cy="1060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11533A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697480" y="4617720"/>
            <a:ext cx="1783080" cy="329184"/>
          </a:xfrm>
          <a:prstGeom prst="rect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97480" y="4617720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0" name="Oval 59"/>
          <p:cNvSpPr/>
          <p:nvPr/>
        </p:nvSpPr>
        <p:spPr>
          <a:xfrm>
            <a:off x="2825496" y="50749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71800" y="4983480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challenge_id PK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07208" y="5221224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name · target_co2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07208" y="5458968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start · end_date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74920" y="4663440"/>
            <a:ext cx="196596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74920" y="4663440"/>
            <a:ext cx="1965960" cy="32918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74920" y="4663440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Challenge_Member</a:t>
            </a:r>
          </a:p>
        </p:txBody>
      </p:sp>
      <p:sp>
        <p:nvSpPr>
          <p:cNvPr id="67" name="Oval 66"/>
          <p:cNvSpPr/>
          <p:nvPr/>
        </p:nvSpPr>
        <p:spPr>
          <a:xfrm>
            <a:off x="5202936" y="512064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49240" y="502920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challenge_id PK,FK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84648" y="5266944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user_id PK,FK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635240" y="4709160"/>
            <a:ext cx="1920240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EA5E9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635240" y="4709160"/>
            <a:ext cx="1920240" cy="32918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35240" y="470916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73" name="Oval 72"/>
          <p:cNvSpPr/>
          <p:nvPr/>
        </p:nvSpPr>
        <p:spPr>
          <a:xfrm>
            <a:off x="7763256" y="516636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09560" y="507492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tip_id PK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44967" y="5312664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category_id FK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44967" y="5550408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added_by FK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44967" y="578815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title · body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66928" y="4617720"/>
            <a:ext cx="1783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64748B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66928" y="4617720"/>
            <a:ext cx="1783080" cy="32918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6928" y="4617720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Setting</a:t>
            </a:r>
          </a:p>
        </p:txBody>
      </p:sp>
      <p:sp>
        <p:nvSpPr>
          <p:cNvPr id="81" name="Oval 80"/>
          <p:cNvSpPr/>
          <p:nvPr/>
        </p:nvSpPr>
        <p:spPr>
          <a:xfrm>
            <a:off x="694944" y="50749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1247" y="4983480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setting_key PK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6656" y="5221224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setting_value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" y="4334256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 i="1" lang="en-US">
                <a:solidFill>
                  <a:srgbClr val="6B7C72"/>
                </a:solidFill>
                <a:latin typeface="Calibri"/>
              </a:rPr>
              <a:t>config store · standalone (no FK)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2350008" y="3154680"/>
            <a:ext cx="347472" cy="9144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157984" y="2958084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 i="0" lang="en-US">
                <a:solidFill>
                  <a:srgbClr val="44574E"/>
                </a:solidFill>
                <a:latin typeface="Calibri"/>
              </a:rPr>
              <a:t>1—∞</a:t>
            </a:r>
          </a:p>
        </p:txBody>
      </p:sp>
      <p:cxnSp>
        <p:nvCxnSpPr>
          <p:cNvPr id="87" name="Connector 86"/>
          <p:cNvCxnSpPr/>
          <p:nvPr/>
        </p:nvCxnSpPr>
        <p:spPr>
          <a:xfrm flipV="1">
            <a:off x="4480560" y="3044952"/>
            <a:ext cx="594360" cy="118872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4411979" y="290322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 i="0" lang="en-US">
                <a:solidFill>
                  <a:srgbClr val="44574E"/>
                </a:solidFill>
                <a:latin typeface="Calibri"/>
              </a:rPr>
              <a:t>1—∞</a:t>
            </a:r>
          </a:p>
        </p:txBody>
      </p:sp>
      <p:cxnSp>
        <p:nvCxnSpPr>
          <p:cNvPr id="89" name="Connector 88"/>
          <p:cNvCxnSpPr/>
          <p:nvPr/>
        </p:nvCxnSpPr>
        <p:spPr>
          <a:xfrm flipH="1">
            <a:off x="7040879" y="3044952"/>
            <a:ext cx="594361" cy="0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6972299" y="2843784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 i="0" lang="en-US">
                <a:solidFill>
                  <a:srgbClr val="44574E"/>
                </a:solidFill>
                <a:latin typeface="Calibri"/>
              </a:rPr>
              <a:t>1—∞</a:t>
            </a:r>
          </a:p>
        </p:txBody>
      </p:sp>
      <p:cxnSp>
        <p:nvCxnSpPr>
          <p:cNvPr id="91" name="Connector 90"/>
          <p:cNvCxnSpPr/>
          <p:nvPr/>
        </p:nvCxnSpPr>
        <p:spPr>
          <a:xfrm flipH="1" flipV="1">
            <a:off x="9555480" y="3044952"/>
            <a:ext cx="365760" cy="155448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9372599" y="292150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 i="0" lang="en-US">
                <a:solidFill>
                  <a:srgbClr val="44574E"/>
                </a:solidFill>
                <a:latin typeface="Calibri"/>
              </a:rPr>
              <a:t>1—∞</a:t>
            </a:r>
          </a:p>
        </p:txBody>
      </p:sp>
      <p:cxnSp>
        <p:nvCxnSpPr>
          <p:cNvPr id="93" name="Connector 92"/>
          <p:cNvCxnSpPr/>
          <p:nvPr/>
        </p:nvCxnSpPr>
        <p:spPr>
          <a:xfrm flipV="1">
            <a:off x="3589020" y="2249424"/>
            <a:ext cx="2011680" cy="146304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480560" y="1618488"/>
            <a:ext cx="594360" cy="100584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3931920" y="18288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1" i="0" lang="en-US">
                <a:solidFill>
                  <a:srgbClr val="44574E"/>
                </a:solidFill>
                <a:latin typeface="Calibri"/>
              </a:rPr>
              <a:t>1—∞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3589020" y="3931920"/>
            <a:ext cx="2103120" cy="731520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4480560" y="5074920"/>
            <a:ext cx="594360" cy="73152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977639" y="45720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1" i="0" lang="en-US">
                <a:solidFill>
                  <a:srgbClr val="44574E"/>
                </a:solidFill>
                <a:latin typeface="Calibri"/>
              </a:rPr>
              <a:t>1—∞</a:t>
            </a:r>
          </a:p>
        </p:txBody>
      </p:sp>
      <p:cxnSp>
        <p:nvCxnSpPr>
          <p:cNvPr id="99" name="Connector 98"/>
          <p:cNvCxnSpPr/>
          <p:nvPr/>
        </p:nvCxnSpPr>
        <p:spPr>
          <a:xfrm flipH="1">
            <a:off x="8961120" y="3611879"/>
            <a:ext cx="1851660" cy="1097281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3863340" y="3931920"/>
            <a:ext cx="4366260" cy="777240"/>
          </a:xfrm>
          <a:prstGeom prst="line">
            <a:avLst/>
          </a:prstGeom>
          <a:ln w="15240">
            <a:solidFill>
              <a:srgbClr val="44574E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8595360" y="429768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760" b="1" i="0" lang="en-US">
                <a:solidFill>
                  <a:srgbClr val="6B7C72"/>
                </a:solidFill>
                <a:latin typeface="Calibri"/>
              </a:rPr>
              <a:t>added_by</a:t>
            </a:r>
          </a:p>
        </p:txBody>
      </p:sp>
      <p:sp>
        <p:nvSpPr>
          <p:cNvPr id="102" name="Oval 101"/>
          <p:cNvSpPr/>
          <p:nvPr/>
        </p:nvSpPr>
        <p:spPr>
          <a:xfrm>
            <a:off x="585216" y="61722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68096" y="608990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>
                <a:solidFill>
                  <a:srgbClr val="B45309"/>
                </a:solidFill>
                <a:latin typeface="Consolas"/>
              </a:rPr>
              <a:t>PK </a:t>
            </a:r>
            <a:r>
              <a:rPr sz="950" b="1" i="0" lang="en-US">
                <a:solidFill>
                  <a:srgbClr val="0E1B14"/>
                </a:solidFill>
                <a:latin typeface="Calibri"/>
              </a:rPr>
              <a:t>Primary key      </a:t>
            </a:r>
            <a:r>
              <a:rPr sz="950" b="1" i="0" lang="en-US">
                <a:solidFill>
                  <a:srgbClr val="7C3AED"/>
                </a:solidFill>
                <a:latin typeface="Consolas"/>
              </a:rPr>
              <a:t>FK</a:t>
            </a:r>
            <a:r>
              <a:rPr sz="950" b="0" i="0" lang="en-US">
                <a:solidFill>
                  <a:srgbClr val="44574E"/>
                </a:solidFill>
                <a:latin typeface="Calibri"/>
              </a:rPr>
              <a:t> Foreign key      </a:t>
            </a:r>
            <a:r>
              <a:rPr sz="950" b="1" i="0" lang="en-US">
                <a:solidFill>
                  <a:srgbClr val="0E1B14"/>
                </a:solidFill>
                <a:latin typeface="Calibri"/>
              </a:rPr>
              <a:t>1—∞ </a:t>
            </a:r>
            <a:r>
              <a:rPr sz="950" b="0" i="0" lang="en-US">
                <a:solidFill>
                  <a:srgbClr val="44574E"/>
                </a:solidFill>
                <a:latin typeface="Calibri"/>
              </a:rPr>
              <a:t>one-to-many      All FKs use ON DELETE CASCADE / RESTRICT for referential integrity.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BACKEND ENGINE · REST API &amp;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33 endpoints · 9 controllers · stateless JWT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40">
                <a:solidFill>
                  <a:srgbClr val="15803D"/>
                </a:solidFill>
                <a:latin typeface="Calibri"/>
              </a:rPr>
              <a:t>API SURFACE — grouped by access level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548640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20025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842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9659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Public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2249424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30" b="0" i="0" lang="en-US">
                <a:solidFill>
                  <a:srgbClr val="44574E"/>
                </a:solidFill>
                <a:latin typeface="Consolas"/>
              </a:rPr>
              <a:t>health · register · login · public settings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706624"/>
            <a:ext cx="548640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8620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8437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28254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Authenticated 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10896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30" b="0" i="0" lang="en-US">
                <a:solidFill>
                  <a:srgbClr val="44574E"/>
                </a:solidFill>
                <a:latin typeface="Consolas"/>
              </a:rPr>
              <a:t>logs CRUD · dashboard · activity-types · tips · badges · challenges · join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566160"/>
            <a:ext cx="548640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7216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703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3685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Community Leader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3968496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30" b="0" i="0" lang="en-US">
                <a:solidFill>
                  <a:srgbClr val="44574E"/>
                </a:solidFill>
                <a:latin typeface="Consolas"/>
              </a:rPr>
              <a:t>challenges: create · update · delete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425696"/>
            <a:ext cx="548640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58114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5628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6736" y="45445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Administrator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6736" y="4828032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30" b="0" i="0" lang="en-US">
                <a:solidFill>
                  <a:srgbClr val="44574E"/>
                </a:solidFill>
                <a:latin typeface="Consolas"/>
              </a:rPr>
              <a:t>users &amp; roles · settings · factors · tips · badges · challenges · stats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303519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 lang="en-US">
                <a:solidFill>
                  <a:srgbClr val="15803D"/>
                </a:solidFill>
                <a:latin typeface="Calibri"/>
              </a:rPr>
              <a:t>Inheritance: </a:t>
            </a:r>
            <a:r>
              <a:rPr sz="1000" b="0" i="0" lang="en-US">
                <a:solidFill>
                  <a:srgbClr val="44574E"/>
                </a:solidFill>
                <a:latin typeface="Calibri"/>
              </a:rPr>
              <a:t>Leader ⊇ User ⊇ Public   ·   Admin ⊇ all.  Wrong role → </a:t>
            </a:r>
            <a:r>
              <a:rPr sz="1000" b="1" i="0" lang="en-US">
                <a:solidFill>
                  <a:srgbClr val="E11D48"/>
                </a:solidFill>
                <a:latin typeface="Consolas"/>
              </a:rPr>
              <a:t>403</a:t>
            </a:r>
            <a:r>
              <a:rPr sz="1000" b="0" i="0" lang="en-US">
                <a:solidFill>
                  <a:srgbClr val="44574E"/>
                </a:solidFill>
                <a:latin typeface="Calibri"/>
              </a:rPr>
              <a:t>; missing/expired token → </a:t>
            </a:r>
            <a:r>
              <a:rPr sz="1000" b="1" i="0" lang="en-US">
                <a:solidFill>
                  <a:srgbClr val="E11D48"/>
                </a:solidFill>
                <a:latin typeface="Consolas"/>
              </a:rPr>
              <a:t>401</a:t>
            </a:r>
            <a:r>
              <a:rPr sz="1000" b="0" i="0" lang="en-US">
                <a:solidFill>
                  <a:srgbClr val="44574E"/>
                </a:solidFill>
                <a:latin typeface="Calibri"/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1481328"/>
            <a:ext cx="5285232" cy="1993392"/>
          </a:xfrm>
          <a:prstGeom prst="roundRect">
            <a:avLst>
              <a:gd name="adj" fmla="val 4500"/>
            </a:avLst>
          </a:prstGeom>
          <a:solidFill>
            <a:srgbClr val="0B2D20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19672" y="1642262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675120" y="1642262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30568" y="1642262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1578254"/>
            <a:ext cx="4187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86A99A"/>
                </a:solidFill>
                <a:latin typeface="Consolas"/>
              </a:rPr>
              <a:t>Database.php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9672" y="1889150"/>
            <a:ext cx="4956048" cy="1420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6E8C7E"/>
                </a:solidFill>
                <a:latin typeface="Consolas"/>
              </a:rPr>
              <a:t>// hardened PDO — structural SQLi defence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C792EA"/>
                </a:solidFill>
                <a:latin typeface="Consolas"/>
              </a:rPr>
              <a:t>new 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PDO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($dsn,$user,$pass, [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82AAFF"/>
                </a:solidFill>
                <a:latin typeface="Consolas"/>
              </a:rPr>
              <a:t>  PDO::ATTR_ERRMODE</a:t>
            </a:r>
            <a:r>
              <a:rPr sz="1150" b="0" i="0" lang="en-US">
                <a:solidFill>
                  <a:srgbClr val="8AA0AE"/>
                </a:solidFill>
                <a:latin typeface="Consolas"/>
              </a:rPr>
              <a:t> =&gt;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D7F2E4"/>
                </a:solidFill>
                <a:latin typeface="Consolas"/>
              </a:rPr>
              <a:t>      PDO::ERRMODE_EXCEPTION,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82AAFF"/>
                </a:solidFill>
                <a:latin typeface="Consolas"/>
              </a:rPr>
              <a:t>  PDO::ATTR_EMULATE_PREPARES</a:t>
            </a:r>
            <a:r>
              <a:rPr sz="1150" b="0" i="0" lang="en-US">
                <a:solidFill>
                  <a:srgbClr val="8AA0AE"/>
                </a:solidFill>
                <a:latin typeface="Consolas"/>
              </a:rPr>
              <a:t> =&gt; </a:t>
            </a:r>
            <a:r>
              <a:rPr sz="1150" b="0" i="0" lang="en-US">
                <a:solidFill>
                  <a:srgbClr val="F78C6C"/>
                </a:solidFill>
                <a:latin typeface="Consolas"/>
              </a:rPr>
              <a:t>false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D7F2E4"/>
                </a:solidFill>
                <a:latin typeface="Consolas"/>
              </a:rPr>
              <a:t>]);  </a:t>
            </a:r>
            <a:r>
              <a:rPr sz="1150" b="0" i="0" lang="en-US">
                <a:solidFill>
                  <a:srgbClr val="6E8C7E"/>
                </a:solidFill>
                <a:latin typeface="Consolas"/>
              </a:rPr>
              <a:t>// params can never become SQL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584448"/>
            <a:ext cx="5285232" cy="1371600"/>
          </a:xfrm>
          <a:prstGeom prst="roundRect">
            <a:avLst>
              <a:gd name="adj" fmla="val 4500"/>
            </a:avLst>
          </a:prstGeom>
          <a:solidFill>
            <a:srgbClr val="0B2D20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19672" y="3745382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675120" y="3745382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30568" y="3745382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6600" y="3681374"/>
            <a:ext cx="4187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86A99A"/>
                </a:solidFill>
                <a:latin typeface="Consolas"/>
              </a:rPr>
              <a:t>AuthController.php — issueToken()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9672" y="3992270"/>
            <a:ext cx="4956048" cy="799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D7F2E4"/>
                </a:solidFill>
                <a:latin typeface="Consolas"/>
              </a:rPr>
              <a:t>$payload = [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82AAFF"/>
                </a:solidFill>
                <a:latin typeface="Consolas"/>
              </a:rPr>
              <a:t>  'sub'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=&gt;$id, </a:t>
            </a:r>
            <a:r>
              <a:rPr sz="1150" b="0" i="0" lang="en-US">
                <a:solidFill>
                  <a:srgbClr val="82AAFF"/>
                </a:solidFill>
                <a:latin typeface="Consolas"/>
              </a:rPr>
              <a:t>'role'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=&gt;$role,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82AAFF"/>
                </a:solidFill>
                <a:latin typeface="Consolas"/>
              </a:rPr>
              <a:t>  'iat'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=&gt;$now, </a:t>
            </a:r>
            <a:r>
              <a:rPr sz="1150" b="0" i="0" lang="en-US">
                <a:solidFill>
                  <a:srgbClr val="82AAFF"/>
                </a:solidFill>
                <a:latin typeface="Consolas"/>
              </a:rPr>
              <a:t>'exp'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=&gt;$now+$ttl ];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82AAFF"/>
                </a:solidFill>
                <a:latin typeface="Consolas"/>
              </a:rPr>
              <a:t>JWT</a:t>
            </a:r>
            <a:r>
              <a:rPr sz="1150" b="0" i="0" lang="en-US">
                <a:solidFill>
                  <a:srgbClr val="8AA0AE"/>
                </a:solidFill>
                <a:latin typeface="Consolas"/>
              </a:rPr>
              <a:t>::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encode($payload,$secret,</a:t>
            </a:r>
            <a:r>
              <a:rPr sz="1150" b="0" i="0" lang="en-US">
                <a:solidFill>
                  <a:srgbClr val="C3E88D"/>
                </a:solidFill>
                <a:latin typeface="Consolas"/>
              </a:rPr>
              <a:t>'HS256'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);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5074920"/>
            <a:ext cx="198059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64808" y="5193792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5065776"/>
            <a:ext cx="166969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30" b="1" i="0" lang="en-US">
                <a:solidFill>
                  <a:srgbClr val="0E1B14"/>
                </a:solidFill>
                <a:latin typeface="Calibri"/>
              </a:rPr>
              <a:t>bcrypt password_hash()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45398" y="5074920"/>
            <a:ext cx="1525219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55126" y="5193792"/>
            <a:ext cx="91440" cy="91440"/>
          </a:xfrm>
          <a:prstGeom prst="ellipse">
            <a:avLst/>
          </a:prstGeom>
          <a:solidFill>
            <a:srgbClr val="1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19718" y="5065776"/>
            <a:ext cx="121432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30" b="1" i="0" lang="en-US">
                <a:solidFill>
                  <a:srgbClr val="0E1B14"/>
                </a:solidFill>
                <a:latin typeface="Calibri"/>
              </a:rPr>
              <a:t>time-safe verify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5495544"/>
            <a:ext cx="1677009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64808" y="5614416"/>
            <a:ext cx="91440" cy="91440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5486400"/>
            <a:ext cx="136611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30" b="1" i="0" lang="en-US">
                <a:solidFill>
                  <a:srgbClr val="0E1B14"/>
                </a:solidFill>
                <a:latin typeface="Calibri"/>
              </a:rPr>
              <a:t>HS256 JWT · 1h TTL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41817" y="5495544"/>
            <a:ext cx="1904695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251545" y="561441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6137" y="5486400"/>
            <a:ext cx="159379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30" b="1" i="0" lang="en-US">
                <a:solidFill>
                  <a:srgbClr val="0E1B14"/>
                </a:solidFill>
                <a:latin typeface="Calibri"/>
              </a:rPr>
              <a:t>user-enumeration safe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55080" y="591616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64808" y="6035040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29400" y="5907024"/>
            <a:ext cx="15179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30" b="1" i="0" lang="en-US">
                <a:solidFill>
                  <a:srgbClr val="0E1B14"/>
                </a:solidFill>
                <a:latin typeface="Calibri"/>
              </a:rPr>
              <a:t>FK cascade integrity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93608" y="5916168"/>
            <a:ext cx="198059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403336" y="6035040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67928" y="5907024"/>
            <a:ext cx="166969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30" b="1" i="0" lang="en-US">
                <a:solidFill>
                  <a:srgbClr val="0E1B14"/>
                </a:solidFill>
                <a:latin typeface="Calibri"/>
              </a:rPr>
              <a:t>uniform JSON envelopes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CO₂ ENGINE &amp; GAMIFICATION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Authoritative server-side maths, credible factors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5486400" cy="713232"/>
          </a:xfrm>
          <a:prstGeom prst="roundRect">
            <a:avLst>
              <a:gd name="adj" fmla="val 8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5486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4ADE80"/>
                </a:solidFill>
                <a:latin typeface="Consolas"/>
              </a:rPr>
              <a:t>CO₂ (kg)  =  amount  ×  kg_co2_per_unit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331720"/>
            <a:ext cx="5486400" cy="31546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331720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331720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2331720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kg CO₂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647187"/>
            <a:ext cx="54864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647187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Car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2647187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8224" y="2647187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0.170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962655"/>
            <a:ext cx="5486400" cy="315468"/>
          </a:xfrm>
          <a:prstGeom prst="rect">
            <a:avLst/>
          </a:prstGeom>
          <a:solidFill>
            <a:srgbClr val="F0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962655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Public Transport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44" y="2962655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8224" y="2962655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0.044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278123"/>
            <a:ext cx="54864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3278123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Electricity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0944" y="3278123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kWh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8224" y="3278123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0.212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593591"/>
            <a:ext cx="5486400" cy="315468"/>
          </a:xfrm>
          <a:prstGeom prst="rect">
            <a:avLst/>
          </a:prstGeom>
          <a:solidFill>
            <a:srgbClr val="F0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3593591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Red-Meat Meal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0944" y="3593591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meal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8224" y="3593591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2.500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909059"/>
            <a:ext cx="54864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909059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Mixed Meal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80944" y="3909059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meal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78224" y="3909059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1.200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224527"/>
            <a:ext cx="5486400" cy="315468"/>
          </a:xfrm>
          <a:prstGeom prst="rect">
            <a:avLst/>
          </a:prstGeom>
          <a:solidFill>
            <a:srgbClr val="F0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4224527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Vegetarian Meal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80944" y="4224527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meal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78224" y="4224527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0.500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539995"/>
            <a:ext cx="54864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" y="4539995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Recycling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80944" y="4539995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item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78224" y="4539995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−0.100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66928" y="2647187"/>
            <a:ext cx="5486400" cy="0"/>
          </a:xfrm>
          <a:prstGeom prst="line">
            <a:avLst/>
          </a:prstGeom>
          <a:ln w="9525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66928" y="2962655"/>
            <a:ext cx="5486400" cy="0"/>
          </a:xfrm>
          <a:prstGeom prst="line">
            <a:avLst/>
          </a:prstGeom>
          <a:ln w="9525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66928" y="3278123"/>
            <a:ext cx="5486400" cy="0"/>
          </a:xfrm>
          <a:prstGeom prst="line">
            <a:avLst/>
          </a:prstGeom>
          <a:ln w="9525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66928" y="3593591"/>
            <a:ext cx="5486400" cy="0"/>
          </a:xfrm>
          <a:prstGeom prst="line">
            <a:avLst/>
          </a:prstGeom>
          <a:ln w="9525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66928" y="3909059"/>
            <a:ext cx="5486400" cy="0"/>
          </a:xfrm>
          <a:prstGeom prst="line">
            <a:avLst/>
          </a:prstGeom>
          <a:ln w="9525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66928" y="4224527"/>
            <a:ext cx="5486400" cy="0"/>
          </a:xfrm>
          <a:prstGeom prst="line">
            <a:avLst/>
          </a:prstGeom>
          <a:ln w="9525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66928" y="4539995"/>
            <a:ext cx="5486400" cy="0"/>
          </a:xfrm>
          <a:prstGeom prst="line">
            <a:avLst/>
          </a:prstGeom>
          <a:ln w="9525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66928" y="5029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1000" b="1" i="0" lang="en-US">
                <a:solidFill>
                  <a:srgbClr val="15803D"/>
                </a:solidFill>
                <a:latin typeface="Calibri"/>
              </a:rPr>
              <a:t>Source: </a:t>
            </a:r>
            <a:r>
              <a:rPr sz="1000" b="0" i="0" lang="en-US">
                <a:solidFill>
                  <a:srgbClr val="44574E"/>
                </a:solidFill>
                <a:latin typeface="Calibri"/>
              </a:rPr>
              <a:t>DEFRA UK GHG 2023 + IPCC AR6. Factors live in the DB — admins update them via API, never in code. Negative = net carbon saving.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55080" y="1463040"/>
            <a:ext cx="528523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537960" y="1645920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27204" y="1752429"/>
            <a:ext cx="28529" cy="9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795674" y="1752429"/>
            <a:ext cx="28529" cy="9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710086" y="1832311"/>
            <a:ext cx="131234" cy="13123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738615" y="1860840"/>
            <a:ext cx="74176" cy="7417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41464" y="1581912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Badges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41464" y="1847088"/>
            <a:ext cx="4325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69" b="0" i="0" lang="en-US">
                <a:solidFill>
                  <a:srgbClr val="44574E"/>
                </a:solidFill>
                <a:latin typeface="Calibri"/>
              </a:rPr>
              <a:t>JSON-criteria badges (total_logs · streak_days · category_logs), auto-awarded; admins create &amp; delete them.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55080" y="2377440"/>
            <a:ext cx="528523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537960" y="2560320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6690116" y="2655417"/>
            <a:ext cx="171175" cy="285293"/>
          </a:xfrm>
          <a:custGeom>
            <a:avLst/>
            <a:gdLst/>
            <a:ahLst/>
            <a:cxnLst/>
            <a:rect l="l" t="t" r="r" b="b"/>
            <a:pathLst>
              <a:path w="171175" h="285293">
                <a:moveTo>
                  <a:pt x="108411" y="0"/>
                </a:moveTo>
                <a:lnTo>
                  <a:pt x="0" y="159764"/>
                </a:lnTo>
                <a:lnTo>
                  <a:pt x="74176" y="159764"/>
                </a:lnTo>
                <a:lnTo>
                  <a:pt x="39941" y="285293"/>
                </a:lnTo>
                <a:lnTo>
                  <a:pt x="171175" y="114117"/>
                </a:lnTo>
                <a:lnTo>
                  <a:pt x="91293" y="114117"/>
                </a:lnTo>
                <a:lnTo>
                  <a:pt x="13123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41464" y="2496312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Streaks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41464" y="2761488"/>
            <a:ext cx="4325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69" b="0" i="0" lang="en-US">
                <a:solidFill>
                  <a:srgbClr val="44574E"/>
                </a:solidFill>
                <a:latin typeface="Calibri"/>
              </a:rPr>
              <a:t>Consecutive-day algorithm walks back from today over distinct log dates.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55080" y="3291840"/>
            <a:ext cx="528523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537960" y="3474720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690116" y="3586935"/>
            <a:ext cx="17117" cy="25105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707233" y="3598346"/>
            <a:ext cx="171176" cy="114118"/>
          </a:xfrm>
          <a:custGeom>
            <a:avLst/>
            <a:gdLst/>
            <a:ahLst/>
            <a:cxnLst/>
            <a:rect l="l" t="t" r="r" b="b"/>
            <a:pathLst>
              <a:path w="171176" h="114118">
                <a:moveTo>
                  <a:pt x="0" y="0"/>
                </a:moveTo>
                <a:lnTo>
                  <a:pt x="171176" y="34236"/>
                </a:lnTo>
                <a:lnTo>
                  <a:pt x="97000" y="68471"/>
                </a:lnTo>
                <a:lnTo>
                  <a:pt x="171176" y="114118"/>
                </a:lnTo>
                <a:lnTo>
                  <a:pt x="0" y="1141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41464" y="3410712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Challenges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41464" y="3675888"/>
            <a:ext cx="4325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69" b="0" i="0" lang="en-US">
                <a:solidFill>
                  <a:srgbClr val="44574E"/>
                </a:solidFill>
                <a:latin typeface="Calibri"/>
              </a:rPr>
              <a:t>Collective baseline-vs-during window: Σ saved_kg vs target, ranked leaderboard.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55080" y="4261104"/>
            <a:ext cx="5285232" cy="1207008"/>
          </a:xfrm>
          <a:prstGeom prst="roundRect">
            <a:avLst>
              <a:gd name="adj" fmla="val 4500"/>
            </a:avLst>
          </a:prstGeom>
          <a:solidFill>
            <a:srgbClr val="0B2D20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519672" y="4422038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675120" y="4422038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830568" y="4422038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86600" y="4358030"/>
            <a:ext cx="4187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86A99A"/>
                </a:solidFill>
                <a:latin typeface="Consolas"/>
              </a:rPr>
              <a:t>gamification rule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19672" y="4668926"/>
            <a:ext cx="4956048" cy="634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6E8C7E"/>
                </a:solidFill>
                <a:latin typeface="Consolas"/>
              </a:rPr>
              <a:t>// Badge.criteria_json — evaluated server-side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D7F2E4"/>
                </a:solidFill>
                <a:latin typeface="Consolas"/>
              </a:rPr>
              <a:t>{ </a:t>
            </a:r>
            <a:r>
              <a:rPr sz="1150" b="0" i="0" lang="en-US">
                <a:solidFill>
                  <a:srgbClr val="82AAFF"/>
                </a:solidFill>
                <a:latin typeface="Consolas"/>
              </a:rPr>
              <a:t>"type"</a:t>
            </a:r>
            <a:r>
              <a:rPr sz="1150" b="0" i="0" lang="en-US">
                <a:solidFill>
                  <a:srgbClr val="8AA0AE"/>
                </a:solidFill>
                <a:latin typeface="Consolas"/>
              </a:rPr>
              <a:t>: </a:t>
            </a:r>
            <a:r>
              <a:rPr sz="1150" b="0" i="0" lang="en-US">
                <a:solidFill>
                  <a:srgbClr val="C3E88D"/>
                </a:solidFill>
                <a:latin typeface="Consolas"/>
              </a:rPr>
              <a:t>"streak_days"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, </a:t>
            </a:r>
            <a:r>
              <a:rPr sz="1150" b="0" i="0" lang="en-US">
                <a:solidFill>
                  <a:srgbClr val="82AAFF"/>
                </a:solidFill>
                <a:latin typeface="Consolas"/>
              </a:rPr>
              <a:t>"threshold"</a:t>
            </a:r>
            <a:r>
              <a:rPr sz="1150" b="0" i="0" lang="en-US">
                <a:solidFill>
                  <a:srgbClr val="8AA0AE"/>
                </a:solidFill>
                <a:latin typeface="Consolas"/>
              </a:rPr>
              <a:t>: </a:t>
            </a:r>
            <a:r>
              <a:rPr sz="1150" b="0" i="0" lang="en-US">
                <a:solidFill>
                  <a:srgbClr val="F78C6C"/>
                </a:solidFill>
                <a:latin typeface="Consolas"/>
              </a:rPr>
              <a:t>7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 }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6E8C7E"/>
                </a:solidFill>
                <a:latin typeface="Consolas"/>
              </a:rPr>
              <a:t>→ ‘Green Streak’ unlocks at 7 consecutive days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LIVE DEMO · 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Authentication → personal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2331720" cy="4480560"/>
          </a:xfrm>
          <a:prstGeom prst="roundRect">
            <a:avLst>
              <a:gd name="adj" fmla="val 10000"/>
            </a:avLst>
          </a:prstGeom>
          <a:solidFill>
            <a:srgbClr val="0B2D20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2376" y="1618488"/>
            <a:ext cx="2203703" cy="43525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04188" y="1673352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22475" y="1947672"/>
            <a:ext cx="603504" cy="60350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5802" y="2127757"/>
            <a:ext cx="256851" cy="243333"/>
          </a:xfrm>
          <a:custGeom>
            <a:avLst/>
            <a:gdLst/>
            <a:ahLst/>
            <a:cxnLst/>
            <a:rect l="l" t="t" r="r" b="b"/>
            <a:pathLst>
              <a:path w="256851" h="243333">
                <a:moveTo>
                  <a:pt x="0" y="243333"/>
                </a:moveTo>
                <a:lnTo>
                  <a:pt x="256851" y="0"/>
                </a:lnTo>
                <a:lnTo>
                  <a:pt x="250092" y="138565"/>
                </a:lnTo>
                <a:lnTo>
                  <a:pt x="128426" y="243333"/>
                </a:lnTo>
                <a:lnTo>
                  <a:pt x="0" y="243333"/>
                </a:lnTo>
                <a:close/>
              </a:path>
            </a:pathLst>
          </a:custGeom>
          <a:solidFill>
            <a:srgbClr val="0B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1722839" y="2148035"/>
            <a:ext cx="202777" cy="202777"/>
          </a:xfrm>
          <a:prstGeom prst="line">
            <a:avLst/>
          </a:prstGeom>
          <a:ln w="1397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2376" y="2633472"/>
            <a:ext cx="220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11533A"/>
                </a:solidFill>
                <a:latin typeface="Calibri"/>
              </a:rPr>
              <a:t>GreenStep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953512"/>
            <a:ext cx="220370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44574E"/>
                </a:solidFill>
                <a:latin typeface="Calibri"/>
              </a:rPr>
              <a:t>Welcome back!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3364991"/>
            <a:ext cx="1801367" cy="384048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364991"/>
            <a:ext cx="165506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6B7C72"/>
                </a:solidFill>
                <a:latin typeface="Calibri"/>
              </a:rPr>
              <a:t>Email address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" y="3867911"/>
            <a:ext cx="1801367" cy="384048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3867911"/>
            <a:ext cx="165506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6B7C72"/>
                </a:solidFill>
                <a:latin typeface="Calibri"/>
              </a:rPr>
              <a:t>Password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" y="4462272"/>
            <a:ext cx="1801367" cy="420624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4462272"/>
            <a:ext cx="180136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Log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5010912"/>
            <a:ext cx="220370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Not a member? Register now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1554480"/>
            <a:ext cx="2606040" cy="4480560"/>
          </a:xfrm>
          <a:prstGeom prst="roundRect">
            <a:avLst>
              <a:gd name="adj" fmla="val 10000"/>
            </a:avLst>
          </a:prstGeom>
          <a:solidFill>
            <a:srgbClr val="0B2D20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64408" y="1618488"/>
            <a:ext cx="2478024" cy="43525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83380" y="1673352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1764792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Hello, Lucy!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2103120"/>
            <a:ext cx="2148840" cy="786384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75303" y="2176272"/>
            <a:ext cx="1929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 i="0" lang="en-US">
                <a:solidFill>
                  <a:srgbClr val="44574E"/>
                </a:solidFill>
                <a:latin typeface="Calibri"/>
              </a:rPr>
              <a:t>Today's Carbon Footprint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5303" y="2359152"/>
            <a:ext cx="1929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100" b="1" i="0" lang="en-US">
                <a:solidFill>
                  <a:srgbClr val="11533A"/>
                </a:solidFill>
                <a:latin typeface="Calibri"/>
              </a:rPr>
              <a:t>15.2</a:t>
            </a:r>
            <a:r>
              <a:rPr sz="1100" b="1" i="0" lang="en-US">
                <a:solidFill>
                  <a:srgbClr val="44574E"/>
                </a:solidFill>
                <a:latin typeface="Calibri"/>
              </a:rPr>
              <a:t> kg CO₂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75303" y="2706624"/>
            <a:ext cx="868680" cy="164592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75303" y="2697480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50" b="1" i="0" lang="en-US">
                <a:solidFill>
                  <a:srgbClr val="FFFFFF"/>
                </a:solidFill>
                <a:latin typeface="Calibri"/>
              </a:rPr>
              <a:t>▼ 15% vs yest.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3017520"/>
            <a:ext cx="2203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1" i="0" lang="en-US">
                <a:solidFill>
                  <a:srgbClr val="0E1B14"/>
                </a:solidFill>
                <a:latin typeface="Calibri"/>
              </a:rPr>
              <a:t>Weekly Summary  ·  kg CO₂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9584" y="3319272"/>
            <a:ext cx="189411" cy="86868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83864" y="4206240"/>
            <a:ext cx="280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 i="0" lang="en-US">
                <a:solidFill>
                  <a:srgbClr val="6B7C72"/>
                </a:solidFill>
                <a:latin typeface="Calibri"/>
              </a:rPr>
              <a:t>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10435" y="3409462"/>
            <a:ext cx="189411" cy="778489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64715" y="4206240"/>
            <a:ext cx="280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 i="0" lang="en-US">
                <a:solidFill>
                  <a:srgbClr val="6B7C72"/>
                </a:solidFill>
                <a:latin typeface="Calibri"/>
              </a:rPr>
              <a:t>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91286" y="3509147"/>
            <a:ext cx="189411" cy="678804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45566" y="4206240"/>
            <a:ext cx="280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 i="0" lang="en-US">
                <a:solidFill>
                  <a:srgbClr val="6B7C72"/>
                </a:solidFill>
                <a:latin typeface="Calibri"/>
              </a:rPr>
              <a:t>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72138" y="3594591"/>
            <a:ext cx="189411" cy="59336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26418" y="4206240"/>
            <a:ext cx="280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 i="0" lang="en-US">
                <a:solidFill>
                  <a:srgbClr val="6B7C72"/>
                </a:solidFill>
                <a:latin typeface="Calibri"/>
              </a:rPr>
              <a:t>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52989" y="3447437"/>
            <a:ext cx="189411" cy="740514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07269" y="4206240"/>
            <a:ext cx="280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 i="0" lang="en-US">
                <a:solidFill>
                  <a:srgbClr val="6B7C72"/>
                </a:solidFill>
                <a:latin typeface="Calibri"/>
              </a:rPr>
              <a:t>F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3841" y="3376234"/>
            <a:ext cx="189411" cy="811717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88121" y="4206240"/>
            <a:ext cx="280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 i="0" lang="en-US">
                <a:solidFill>
                  <a:srgbClr val="6B7C72"/>
                </a:solidFill>
                <a:latin typeface="Calibri"/>
              </a:rPr>
              <a:t>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14692" y="3347753"/>
            <a:ext cx="189411" cy="840198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68972" y="4206240"/>
            <a:ext cx="280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 i="0" lang="en-US">
                <a:solidFill>
                  <a:srgbClr val="6B7C72"/>
                </a:solidFill>
                <a:latin typeface="Calibri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0" y="4462272"/>
            <a:ext cx="2203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1" i="0" lang="en-US">
                <a:solidFill>
                  <a:srgbClr val="0E1B14"/>
                </a:solidFill>
                <a:latin typeface="Calibri"/>
              </a:rPr>
              <a:t>Your Badges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7288" y="4718304"/>
            <a:ext cx="676656" cy="676656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621024" y="4828031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747562" y="4889655"/>
            <a:ext cx="22384" cy="76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801285" y="4889655"/>
            <a:ext cx="22384" cy="76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734131" y="4952331"/>
            <a:ext cx="102968" cy="1029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756516" y="4974716"/>
            <a:ext cx="58199" cy="58199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47288" y="5138928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60" b="1" i="0" lang="en-US">
                <a:solidFill>
                  <a:srgbClr val="44574E"/>
                </a:solidFill>
                <a:latin typeface="Calibri"/>
              </a:rPr>
              <a:t>Eco
Beginner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97096" y="4718304"/>
            <a:ext cx="676656" cy="676656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370832" y="4828031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497370" y="4889655"/>
            <a:ext cx="22384" cy="76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51093" y="4889655"/>
            <a:ext cx="22384" cy="76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483939" y="4952331"/>
            <a:ext cx="102968" cy="1029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506324" y="4974716"/>
            <a:ext cx="58199" cy="58199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97096" y="5138928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60" b="1" i="0" lang="en-US">
                <a:solidFill>
                  <a:srgbClr val="44574E"/>
                </a:solidFill>
                <a:latin typeface="Calibri"/>
              </a:rPr>
              <a:t>Recycling
Pro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46904" y="4718304"/>
            <a:ext cx="676656" cy="676656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120640" y="4828031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47178" y="4889655"/>
            <a:ext cx="22384" cy="76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00901" y="4889655"/>
            <a:ext cx="22384" cy="76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233747" y="4952331"/>
            <a:ext cx="102968" cy="1029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256132" y="4974716"/>
            <a:ext cx="58199" cy="58199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946904" y="5138928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60" b="1" i="0" lang="en-US">
                <a:solidFill>
                  <a:srgbClr val="44574E"/>
                </a:solidFill>
                <a:latin typeface="Calibri"/>
              </a:rPr>
              <a:t>Green
Streak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29000" y="5541264"/>
            <a:ext cx="2148840" cy="384048"/>
          </a:xfrm>
          <a:prstGeom prst="roundRect">
            <a:avLst>
              <a:gd name="adj" fmla="val 10000"/>
            </a:avLst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29000" y="5541264"/>
            <a:ext cx="53721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 i="0" lang="en-US">
                <a:solidFill>
                  <a:srgbClr val="C7F0D8"/>
                </a:solidFill>
                <a:latin typeface="Calibri"/>
              </a:rPr>
              <a:t>Home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66210" y="5541264"/>
            <a:ext cx="53721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0" i="0" lang="en-US">
                <a:solidFill>
                  <a:srgbClr val="C7F0D8"/>
                </a:solidFill>
                <a:latin typeface="Calibri"/>
              </a:rPr>
              <a:t>Log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03420" y="5541264"/>
            <a:ext cx="53721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0" i="0" lang="en-US">
                <a:solidFill>
                  <a:srgbClr val="C7F0D8"/>
                </a:solidFill>
                <a:latin typeface="Calibri"/>
              </a:rPr>
              <a:t>Goals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40630" y="5541264"/>
            <a:ext cx="53721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0" i="0" lang="en-US">
                <a:solidFill>
                  <a:srgbClr val="C7F0D8"/>
                </a:solidFill>
                <a:latin typeface="Calibri"/>
              </a:rPr>
              <a:t>You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16916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15803D"/>
                </a:solidFill>
                <a:latin typeface="Calibri"/>
              </a:rPr>
              <a:t>What the panel will see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63640" y="2075688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6342293" y="2225971"/>
            <a:ext cx="47753" cy="47754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390046" y="2166279"/>
            <a:ext cx="87548" cy="1074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684264" y="204825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Login posts credentials; the API verifies bcrypt + issues a JWT, stored client-side.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63640" y="2551176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6342293" y="2701459"/>
            <a:ext cx="47753" cy="47754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390046" y="2641767"/>
            <a:ext cx="87548" cy="1074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684264" y="2523744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Dashboard calls one endpoint; the server returns today's CO₂, the 7-day trend, streak &amp; badges.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63640" y="3026664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6342293" y="3176947"/>
            <a:ext cx="47753" cy="47754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390046" y="3117255"/>
            <a:ext cx="87548" cy="1074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6684264" y="299923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Every number is computed live from seeded, realistic data — no hardcoded screens.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63640" y="352044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60">
                <a:solidFill>
                  <a:srgbClr val="6B7C72"/>
                </a:solidFill>
                <a:latin typeface="Calibri"/>
              </a:rPr>
              <a:t>ENDPOINTS EXERCISED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263640" y="3813048"/>
            <a:ext cx="5394960" cy="329184"/>
          </a:xfrm>
          <a:prstGeom prst="roundRect">
            <a:avLst>
              <a:gd name="adj" fmla="val 6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9944" y="3803904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9FE7BE"/>
                </a:solidFill>
                <a:latin typeface="Consolas"/>
              </a:rPr>
              <a:t>POST /api/auth/login   →  200 { token, user }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263640" y="4215384"/>
            <a:ext cx="5394960" cy="329184"/>
          </a:xfrm>
          <a:prstGeom prst="roundRect">
            <a:avLst>
              <a:gd name="adj" fmla="val 6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09944" y="4206240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9FE7BE"/>
                </a:solidFill>
                <a:latin typeface="Consolas"/>
              </a:rPr>
              <a:t>GET  /api/dashboard    →  200 { today, week, badges }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LIVE DEMO · STEP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Log an activity → footprint updates instantly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554480"/>
            <a:ext cx="2697480" cy="4480560"/>
          </a:xfrm>
          <a:prstGeom prst="roundRect">
            <a:avLst>
              <a:gd name="adj" fmla="val 10000"/>
            </a:avLst>
          </a:prstGeom>
          <a:solidFill>
            <a:srgbClr val="0B2D20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618488"/>
            <a:ext cx="2569464" cy="43525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2788" y="1673352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55648"/>
            <a:ext cx="2295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Daily Activity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29967"/>
            <a:ext cx="2295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lang="en-US">
                <a:solidFill>
                  <a:srgbClr val="6B7C72"/>
                </a:solidFill>
                <a:latin typeface="Calibri"/>
              </a:rPr>
              <a:t>30 June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86000"/>
            <a:ext cx="2295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Transport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2505456"/>
            <a:ext cx="530352" cy="530352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78992" y="2606039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6B7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144331" y="2737742"/>
            <a:ext cx="44242" cy="44243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88573" y="2682439"/>
            <a:ext cx="81111" cy="995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285292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60" b="0" i="0" lang="en-US">
                <a:solidFill>
                  <a:srgbClr val="44574E"/>
                </a:solidFill>
                <a:latin typeface="Calibri"/>
              </a:rPr>
              <a:t>Walk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17904" y="2505456"/>
            <a:ext cx="530352" cy="530352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664208" y="2606039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6B7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729547" y="2737742"/>
            <a:ext cx="44242" cy="44243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773789" y="2682439"/>
            <a:ext cx="81111" cy="995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517904" y="285292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60" b="0" i="0" lang="en-US">
                <a:solidFill>
                  <a:srgbClr val="44574E"/>
                </a:solidFill>
                <a:latin typeface="Calibri"/>
              </a:rPr>
              <a:t>Bike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03120" y="2505456"/>
            <a:ext cx="530352" cy="530352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49424" y="2606039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03702" y="2660318"/>
            <a:ext cx="147474" cy="147474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344258" y="2660318"/>
            <a:ext cx="66363" cy="147474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2307389" y="2734056"/>
            <a:ext cx="140101" cy="0"/>
          </a:xfrm>
          <a:prstGeom prst="line">
            <a:avLst/>
          </a:prstGeom>
          <a:ln w="1778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103120" y="285292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60" b="1" i="0" lang="en-US">
                <a:solidFill>
                  <a:srgbClr val="44574E"/>
                </a:solidFill>
                <a:latin typeface="Calibri"/>
              </a:rPr>
              <a:t>Bus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88336" y="2505456"/>
            <a:ext cx="530352" cy="530352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834640" y="2606039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6B7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25787" y="2652945"/>
            <a:ext cx="73737" cy="162221"/>
          </a:xfrm>
          <a:prstGeom prst="roundRect">
            <a:avLst>
              <a:gd name="adj" fmla="val 2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57125" y="2785672"/>
            <a:ext cx="11060" cy="110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88336" y="285292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60" b="0" i="0" lang="en-US">
                <a:solidFill>
                  <a:srgbClr val="44574E"/>
                </a:solidFill>
                <a:latin typeface="Calibri"/>
              </a:rPr>
              <a:t>Car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" y="3145536"/>
            <a:ext cx="2240280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6" y="3145536"/>
            <a:ext cx="20208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 i="0" lang="en-US">
                <a:solidFill>
                  <a:srgbClr val="6B7C72"/>
                </a:solidFill>
                <a:latin typeface="Calibri"/>
              </a:rPr>
              <a:t>Distance</a:t>
            </a:r>
            <a:r>
              <a:rPr sz="950" b="1" i="0" lang="en-US">
                <a:solidFill>
                  <a:srgbClr val="0E1B14"/>
                </a:solidFill>
                <a:latin typeface="Calibri"/>
              </a:rPr>
              <a:t>        15 km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3584448"/>
            <a:ext cx="2295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Meal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2688" y="3803904"/>
            <a:ext cx="713232" cy="36576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3803904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60" b="1" i="0" lang="en-US">
                <a:solidFill>
                  <a:srgbClr val="15803D"/>
                </a:solidFill>
                <a:latin typeface="Calibri"/>
              </a:rPr>
              <a:t>Vegetarian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09928" y="3803904"/>
            <a:ext cx="713232" cy="36576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09928" y="3803904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60" b="0" i="0" lang="en-US">
                <a:solidFill>
                  <a:srgbClr val="44574E"/>
                </a:solidFill>
                <a:latin typeface="Calibri"/>
              </a:rPr>
              <a:t>Mixed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87168" y="3803904"/>
            <a:ext cx="713232" cy="36576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87168" y="3803904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60" b="0" i="0" lang="en-US">
                <a:solidFill>
                  <a:srgbClr val="44574E"/>
                </a:solidFill>
                <a:latin typeface="Calibri"/>
              </a:rPr>
              <a:t>Red Meat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2688" y="4315968"/>
            <a:ext cx="2240280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2416" y="4315968"/>
            <a:ext cx="20208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40" b="0" i="0" lang="en-US">
                <a:solidFill>
                  <a:srgbClr val="6B7C72"/>
                </a:solidFill>
                <a:latin typeface="Calibri"/>
              </a:rPr>
              <a:t>Electricity (kWh)</a:t>
            </a:r>
            <a:r>
              <a:rPr sz="930" b="1" i="0" lang="en-US">
                <a:solidFill>
                  <a:srgbClr val="0E1B14"/>
                </a:solidFill>
                <a:latin typeface="Calibri"/>
              </a:rPr>
              <a:t>     5.0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2688" y="4736592"/>
            <a:ext cx="2240280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2416" y="4736592"/>
            <a:ext cx="20208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40" b="0" i="0" lang="en-US">
                <a:solidFill>
                  <a:srgbClr val="6B7C72"/>
                </a:solidFill>
                <a:latin typeface="Calibri"/>
              </a:rPr>
              <a:t>Recycling (items)</a:t>
            </a:r>
            <a:r>
              <a:rPr sz="930" b="1" i="0" lang="en-US">
                <a:solidFill>
                  <a:srgbClr val="0E1B14"/>
                </a:solidFill>
                <a:latin typeface="Calibri"/>
              </a:rPr>
              <a:t>     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2688" y="5230368"/>
            <a:ext cx="2240280" cy="420624"/>
          </a:xfrm>
          <a:prstGeom prst="roundRect">
            <a:avLst>
              <a:gd name="adj" fmla="val 16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" y="5230368"/>
            <a:ext cx="2240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FFFFFF"/>
                </a:solidFill>
                <a:latin typeface="Calibri"/>
              </a:rPr>
              <a:t>Calculate &amp; Save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483864" y="3822191"/>
            <a:ext cx="530352" cy="0"/>
          </a:xfrm>
          <a:prstGeom prst="line">
            <a:avLst/>
          </a:prstGeom>
          <a:ln w="3048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4069080" y="2359152"/>
            <a:ext cx="27432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88536" y="25420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15803D"/>
                </a:solidFill>
                <a:latin typeface="Calibri"/>
              </a:rPr>
              <a:t>Server response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88536" y="2871215"/>
            <a:ext cx="2331720" cy="914400"/>
          </a:xfrm>
          <a:prstGeom prst="roundRect">
            <a:avLst>
              <a:gd name="adj" fmla="val 4500"/>
            </a:avLst>
          </a:prstGeom>
          <a:solidFill>
            <a:srgbClr val="0B2D20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16552" y="2960827"/>
            <a:ext cx="2075687" cy="696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9FE7BE"/>
                </a:solidFill>
                <a:latin typeface="Consolas"/>
              </a:rPr>
              <a:t>POST /api/logs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C3E88D"/>
                </a:solidFill>
                <a:latin typeface="Consolas"/>
              </a:rPr>
              <a:t>201 Created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D7F2E4"/>
                </a:solidFill>
                <a:latin typeface="Consolas"/>
              </a:rPr>
              <a:t>{ "id": 142 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88536" y="3913631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 lang="en-US">
                <a:solidFill>
                  <a:srgbClr val="44574E"/>
                </a:solidFill>
                <a:latin typeface="Calibri"/>
              </a:rPr>
              <a:t>Bus 15 km × 0.044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88536" y="415137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11533A"/>
                </a:solidFill>
                <a:latin typeface="Calibri"/>
              </a:rPr>
              <a:t>= 0.65 kg CO₂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88536" y="4590288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88536" y="458114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60" b="1" i="0" lang="en-US">
                <a:solidFill>
                  <a:srgbClr val="15803D"/>
                </a:solidFill>
                <a:latin typeface="Calibri"/>
              </a:rPr>
              <a:t>Dashboard re-fetches → today updates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1691640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15803D"/>
                </a:solidFill>
                <a:latin typeface="Calibri"/>
              </a:rPr>
              <a:t>Full CRUD, real calculation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0" y="2075688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7393853" y="2225971"/>
            <a:ext cx="47753" cy="47754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441606" y="2166279"/>
            <a:ext cx="87548" cy="1074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735824" y="2048256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Activity types populate the form from the DB (GET /api/activity-types).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0" y="2551176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7393853" y="2701459"/>
            <a:ext cx="47753" cy="47754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441606" y="2641767"/>
            <a:ext cx="87548" cy="1074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735824" y="2523744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Saving validates input, confirms the type exists, then inserts the log.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15200" y="3026664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7393853" y="3176947"/>
            <a:ext cx="47753" cy="47754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441606" y="3117255"/>
            <a:ext cx="87548" cy="1074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735824" y="2999232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The dashboard recomputes the footprint server-side on next fetch.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0" y="3520440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60">
                <a:solidFill>
                  <a:srgbClr val="6B7C72"/>
                </a:solidFill>
                <a:latin typeface="Calibri"/>
              </a:rPr>
              <a:t>ENDPOINTS EXERCISED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15200" y="3813048"/>
            <a:ext cx="4343400" cy="329184"/>
          </a:xfrm>
          <a:prstGeom prst="roundRect">
            <a:avLst>
              <a:gd name="adj" fmla="val 6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61504" y="3803904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9FE7BE"/>
                </a:solidFill>
                <a:latin typeface="Consolas"/>
              </a:rPr>
              <a:t>GET  /api/activity-types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0" y="4215384"/>
            <a:ext cx="4343400" cy="329184"/>
          </a:xfrm>
          <a:prstGeom prst="roundRect">
            <a:avLst>
              <a:gd name="adj" fmla="val 6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61504" y="4206240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9FE7BE"/>
                </a:solidFill>
                <a:latin typeface="Consolas"/>
              </a:rPr>
              <a:t>POST /api/logs   →  201 { id }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00" y="4617720"/>
            <a:ext cx="4343400" cy="329184"/>
          </a:xfrm>
          <a:prstGeom prst="roundRect">
            <a:avLst>
              <a:gd name="adj" fmla="val 6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61504" y="4608576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9FE7BE"/>
                </a:solidFill>
                <a:latin typeface="Consolas"/>
              </a:rPr>
              <a:t>GET  /api/dashboard (recompute)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LIVE DEMO · STEP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Challenges, badges &amp; the admin control panel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77393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1881835"/>
            <a:ext cx="16459" cy="2414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949147" y="1892807"/>
            <a:ext cx="164592" cy="109729"/>
          </a:xfrm>
          <a:custGeom>
            <a:avLst/>
            <a:gdLst/>
            <a:ahLst/>
            <a:cxnLst/>
            <a:rect l="l" t="t" r="r" b="b"/>
            <a:pathLst>
              <a:path w="164592" h="109729">
                <a:moveTo>
                  <a:pt x="0" y="0"/>
                </a:moveTo>
                <a:lnTo>
                  <a:pt x="164592" y="32919"/>
                </a:lnTo>
                <a:lnTo>
                  <a:pt x="93268" y="65837"/>
                </a:lnTo>
                <a:lnTo>
                  <a:pt x="164592" y="109729"/>
                </a:lnTo>
                <a:lnTo>
                  <a:pt x="0" y="1097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175564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Eco-Commuter Sprint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0116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Public transit / cycling / walking for 7 days.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514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 b="1" i="0" lang="en-US">
                <a:solidFill>
                  <a:srgbClr val="15803D"/>
                </a:solidFill>
                <a:latin typeface="Calibri"/>
              </a:rPr>
              <a:t>58%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57860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B45309"/>
                </a:solidFill>
                <a:latin typeface="Calibri"/>
              </a:rPr>
              <a:t>3 days left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2926080"/>
            <a:ext cx="3127248" cy="20116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" y="2926080"/>
            <a:ext cx="1813803" cy="20116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200400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44574E"/>
                </a:solidFill>
                <a:latin typeface="Calibri"/>
              </a:rPr>
              <a:t>15 participants</a:t>
            </a:r>
            <a:r>
              <a:rPr sz="950" b="0" i="0" lang="en-US">
                <a:solidFill>
                  <a:srgbClr val="44574E"/>
                </a:solidFill>
                <a:latin typeface="Calibri"/>
              </a:rPr>
              <a:t>   ·   target 15.5 kg saved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456432"/>
            <a:ext cx="155448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44728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60" b="1" i="0" lang="en-US">
                <a:solidFill>
                  <a:srgbClr val="15803D"/>
                </a:solidFill>
                <a:latin typeface="Calibri"/>
              </a:rPr>
              <a:t>View Details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554480"/>
            <a:ext cx="32461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6" y="171907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0E1B14"/>
                </a:solidFill>
                <a:latin typeface="Calibri"/>
              </a:rPr>
              <a:t>Badges — earned &amp; locked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81144" y="2121408"/>
            <a:ext cx="877824" cy="713232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64607" y="221284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83059" y="2268187"/>
            <a:ext cx="21762" cy="73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35289" y="2268187"/>
            <a:ext cx="21762" cy="73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970001" y="2329123"/>
            <a:ext cx="100108" cy="1001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91764" y="2350885"/>
            <a:ext cx="56583" cy="56583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1144" y="254203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80" b="1" i="0" lang="en-US">
                <a:solidFill>
                  <a:srgbClr val="44574E"/>
                </a:solidFill>
                <a:latin typeface="Calibri"/>
              </a:rPr>
              <a:t>Eco Beginner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68696" y="2121408"/>
            <a:ext cx="877824" cy="713232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52159" y="221284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70611" y="2268187"/>
            <a:ext cx="21762" cy="73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22841" y="2268187"/>
            <a:ext cx="21762" cy="73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57553" y="2329123"/>
            <a:ext cx="100108" cy="1001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79316" y="2350885"/>
            <a:ext cx="56583" cy="56583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68696" y="254203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80" b="1" i="0" lang="en-US">
                <a:solidFill>
                  <a:srgbClr val="44574E"/>
                </a:solidFill>
                <a:latin typeface="Calibri"/>
              </a:rPr>
              <a:t>Green Streak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56248" y="2121408"/>
            <a:ext cx="877824" cy="713232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839712" y="221284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58163" y="2268187"/>
            <a:ext cx="21762" cy="73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10393" y="2268187"/>
            <a:ext cx="21762" cy="73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945105" y="2329123"/>
            <a:ext cx="100108" cy="1001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966868" y="2350885"/>
            <a:ext cx="56583" cy="56583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56248" y="254203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80" b="1" i="0" lang="en-US">
                <a:solidFill>
                  <a:srgbClr val="44574E"/>
                </a:solidFill>
                <a:latin typeface="Calibri"/>
              </a:rPr>
              <a:t>Recycling Pro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81144" y="2907791"/>
            <a:ext cx="877824" cy="713232"/>
          </a:xfrm>
          <a:prstGeom prst="roundRect">
            <a:avLst>
              <a:gd name="adj" fmla="val 12000"/>
            </a:avLst>
          </a:prstGeom>
          <a:solidFill>
            <a:srgbClr val="EEF2F0"/>
          </a:solidFill>
          <a:ln w="12700">
            <a:solidFill>
              <a:srgbClr val="CD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864607" y="2999232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6B7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lock Arc 44"/>
          <p:cNvSpPr/>
          <p:nvPr/>
        </p:nvSpPr>
        <p:spPr>
          <a:xfrm>
            <a:off x="4970001" y="3058924"/>
            <a:ext cx="100108" cy="100108"/>
          </a:xfrm>
          <a:prstGeom prst="blockArc">
            <a:avLst>
              <a:gd name="adj1" fmla="val 18000000"/>
              <a:gd name="adj2" fmla="val 0"/>
              <a:gd name="adj3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959120" y="3137269"/>
            <a:ext cx="121871" cy="108813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81144" y="3328415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80" b="1" i="0" lang="en-US">
                <a:solidFill>
                  <a:srgbClr val="6B7C72"/>
                </a:solidFill>
                <a:latin typeface="Calibri"/>
              </a:rPr>
              <a:t>Carbon Cutter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68696" y="2907791"/>
            <a:ext cx="877824" cy="713232"/>
          </a:xfrm>
          <a:prstGeom prst="roundRect">
            <a:avLst>
              <a:gd name="adj" fmla="val 12000"/>
            </a:avLst>
          </a:prstGeom>
          <a:solidFill>
            <a:srgbClr val="EEF2F0"/>
          </a:solidFill>
          <a:ln w="12700">
            <a:solidFill>
              <a:srgbClr val="CD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852159" y="2999232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6B7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Block Arc 49"/>
          <p:cNvSpPr/>
          <p:nvPr/>
        </p:nvSpPr>
        <p:spPr>
          <a:xfrm>
            <a:off x="5957553" y="3058924"/>
            <a:ext cx="100108" cy="100108"/>
          </a:xfrm>
          <a:prstGeom prst="blockArc">
            <a:avLst>
              <a:gd name="adj1" fmla="val 18000000"/>
              <a:gd name="adj2" fmla="val 0"/>
              <a:gd name="adj3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6672" y="3137269"/>
            <a:ext cx="121871" cy="108813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68696" y="3328415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80" b="1" i="0" lang="en-US">
                <a:solidFill>
                  <a:srgbClr val="6B7C72"/>
                </a:solidFill>
                <a:latin typeface="Calibri"/>
              </a:rPr>
              <a:t>Eco Warrior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18120" y="1554480"/>
            <a:ext cx="3822191" cy="2194560"/>
          </a:xfrm>
          <a:prstGeom prst="roundRect">
            <a:avLst>
              <a:gd name="adj" fmla="val 6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55864" y="1719072"/>
            <a:ext cx="3456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60">
                <a:solidFill>
                  <a:srgbClr val="4ADE80"/>
                </a:solidFill>
                <a:latin typeface="Calibri"/>
              </a:rPr>
              <a:t>ADMIN CONTROL PANEL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55864" y="2103120"/>
            <a:ext cx="1645920" cy="621792"/>
          </a:xfrm>
          <a:prstGeom prst="roundRect">
            <a:avLst>
              <a:gd name="adj" fmla="val 1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02168" y="2157984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1,042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02168" y="248716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40" b="0" i="0" lang="en-US">
                <a:solidFill>
                  <a:srgbClr val="C7F0D8"/>
                </a:solidFill>
                <a:latin typeface="Calibri"/>
              </a:rPr>
              <a:t>Total users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838944" y="2103120"/>
            <a:ext cx="1645920" cy="621792"/>
          </a:xfrm>
          <a:prstGeom prst="roundRect">
            <a:avLst>
              <a:gd name="adj" fmla="val 1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85248" y="2157984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6,241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85248" y="248716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40" b="0" i="0" lang="en-US">
                <a:solidFill>
                  <a:srgbClr val="C7F0D8"/>
                </a:solidFill>
                <a:latin typeface="Calibri"/>
              </a:rPr>
              <a:t>Activity logs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55864" y="2816352"/>
            <a:ext cx="1645920" cy="621792"/>
          </a:xfrm>
          <a:prstGeom prst="roundRect">
            <a:avLst>
              <a:gd name="adj" fmla="val 1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02168" y="287121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02168" y="32004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40" b="0" i="0" lang="en-US">
                <a:solidFill>
                  <a:srgbClr val="C7F0D8"/>
                </a:solidFill>
                <a:latin typeface="Calibri"/>
              </a:rPr>
              <a:t>Challenges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838944" y="2816352"/>
            <a:ext cx="1645920" cy="621792"/>
          </a:xfrm>
          <a:prstGeom prst="roundRect">
            <a:avLst>
              <a:gd name="adj" fmla="val 1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85248" y="287121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31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85248" y="32004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40" b="0" i="0" lang="en-US">
                <a:solidFill>
                  <a:srgbClr val="C7F0D8"/>
                </a:solidFill>
                <a:latin typeface="Calibri"/>
              </a:rPr>
              <a:t>Eco-tips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55864" y="3419856"/>
            <a:ext cx="3364991" cy="274320"/>
          </a:xfrm>
          <a:prstGeom prst="roundRect">
            <a:avLst>
              <a:gd name="adj" fmla="val 5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55864" y="3410712"/>
            <a:ext cx="336499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40" b="1" i="0" lang="en-US">
                <a:solidFill>
                  <a:srgbClr val="4ADE80"/>
                </a:solidFill>
                <a:latin typeface="Calibri"/>
              </a:rPr>
              <a:t>Manage: Users·Roles·Tips·Factors·Challenges·Badges·Settings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66928" y="3977639"/>
            <a:ext cx="11064240" cy="1737360"/>
          </a:xfrm>
          <a:prstGeom prst="roundRect">
            <a:avLst>
              <a:gd name="adj" fmla="val 5000"/>
            </a:avLst>
          </a:prstGeom>
          <a:solidFill>
            <a:srgbClr val="F6FBF7"/>
          </a:solidFill>
          <a:ln w="12700">
            <a:solidFill>
              <a:srgbClr val="CD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41247" y="420624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4314139"/>
            <a:ext cx="16459" cy="2414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004011" y="4325112"/>
            <a:ext cx="164592" cy="109728"/>
          </a:xfrm>
          <a:custGeom>
            <a:avLst/>
            <a:gdLst/>
            <a:ahLst/>
            <a:cxnLst/>
            <a:rect l="l" t="t" r="r" b="b"/>
            <a:pathLst>
              <a:path w="164592" h="109728">
                <a:moveTo>
                  <a:pt x="0" y="0"/>
                </a:moveTo>
                <a:lnTo>
                  <a:pt x="164592" y="32918"/>
                </a:lnTo>
                <a:lnTo>
                  <a:pt x="93269" y="65836"/>
                </a:lnTo>
                <a:lnTo>
                  <a:pt x="164592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444752" y="41879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Collective progress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1247" y="475488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 lang="en-US">
                <a:solidFill>
                  <a:srgbClr val="44574E"/>
                </a:solidFill>
                <a:latin typeface="Calibri"/>
              </a:rPr>
              <a:t>Challenge cards show member_count, days_left and a baseline-vs-during % computed across all members.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498848" y="420624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680813" y="4308652"/>
            <a:ext cx="27432" cy="932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746650" y="4308652"/>
            <a:ext cx="27432" cy="932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664354" y="4385462"/>
            <a:ext cx="126187" cy="1261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691786" y="4412894"/>
            <a:ext cx="71323" cy="71323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02352" y="41879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Automated rewards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98848" y="475488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 lang="en-US">
                <a:solidFill>
                  <a:srgbClr val="44574E"/>
                </a:solidFill>
                <a:latin typeface="Calibri"/>
              </a:rPr>
              <a:t>Badges unlock from JSON criteria the moment thresholds are crossed — no manual awarding.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156448" y="420624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ear 9 82"/>
          <p:cNvSpPr/>
          <p:nvPr/>
        </p:nvSpPr>
        <p:spPr>
          <a:xfrm>
            <a:off x="8264347" y="4314139"/>
            <a:ext cx="241401" cy="241401"/>
          </a:xfrm>
          <a:prstGeom prst="gear9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349386" y="4399178"/>
            <a:ext cx="71323" cy="71323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759952" y="41879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Credible &amp; governed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56448" y="475488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 lang="en-US">
                <a:solidFill>
                  <a:srgbClr val="44574E"/>
                </a:solidFill>
                <a:latin typeface="Calibri"/>
              </a:rPr>
              <a:t>Admins manage users &amp; roles, tips, factors, badges and platform settings — role-gated.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ENTREPRENEURIAL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From course project to commercial product · CLO3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51206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502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15803D"/>
                </a:solidFill>
                <a:latin typeface="Calibri"/>
              </a:rPr>
              <a:t>CLO3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53949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71907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2190" y="1861718"/>
            <a:ext cx="250179" cy="658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8524" y="1879823"/>
            <a:ext cx="23042" cy="2304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2190" y="1960473"/>
            <a:ext cx="250179" cy="658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8524" y="1978578"/>
            <a:ext cx="23042" cy="2304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72190" y="2059228"/>
            <a:ext cx="250179" cy="658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8524" y="2077333"/>
            <a:ext cx="23042" cy="2304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27048" y="171907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80">
                <a:solidFill>
                  <a:srgbClr val="15803D"/>
                </a:solidFill>
                <a:latin typeface="Calibri"/>
              </a:rPr>
              <a:t>REVENUE MODEL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1938528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0E1B14"/>
                </a:solidFill>
                <a:latin typeface="Calibri"/>
              </a:rPr>
              <a:t>B2B Corporate SaaS</a:t>
            </a:r>
          </a:p>
        </p:txBody>
      </p:sp>
      <p:sp>
        <p:nvSpPr>
          <p:cNvPr id="19" name="Oval 18"/>
          <p:cNvSpPr/>
          <p:nvPr/>
        </p:nvSpPr>
        <p:spPr>
          <a:xfrm>
            <a:off x="859536" y="2532888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244144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Companies &amp; universities chase ESG targets and staff engagement.</a:t>
            </a:r>
          </a:p>
        </p:txBody>
      </p:sp>
      <p:sp>
        <p:nvSpPr>
          <p:cNvPr id="21" name="Oval 20"/>
          <p:cNvSpPr/>
          <p:nvPr/>
        </p:nvSpPr>
        <p:spPr>
          <a:xfrm>
            <a:off x="859536" y="2953512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" y="286207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Paid tier: private, closed-loop sustainability challenges for employees.</a:t>
            </a:r>
          </a:p>
        </p:txBody>
      </p:sp>
      <p:sp>
        <p:nvSpPr>
          <p:cNvPr id="23" name="Oval 22"/>
          <p:cNvSpPr/>
          <p:nvPr/>
        </p:nvSpPr>
        <p:spPr>
          <a:xfrm>
            <a:off x="859536" y="3374136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3282696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Corporate dashboard with anonymized carbon analytics for reporting.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1481328"/>
            <a:ext cx="53949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92240" y="171907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10598" y="1841967"/>
            <a:ext cx="32918" cy="1119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89602" y="1841967"/>
            <a:ext cx="32918" cy="1119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90847" y="1934138"/>
            <a:ext cx="151424" cy="1514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23766" y="1967057"/>
            <a:ext cx="85587" cy="85587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96328" y="171907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80">
                <a:solidFill>
                  <a:srgbClr val="F59E0B"/>
                </a:solidFill>
                <a:latin typeface="Calibri"/>
              </a:rPr>
              <a:t>REVENUE MODEL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6328" y="1938528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0E1B14"/>
                </a:solidFill>
                <a:latin typeface="Calibri"/>
              </a:rPr>
              <a:t>Affiliate Brand Partnerships</a:t>
            </a:r>
          </a:p>
        </p:txBody>
      </p:sp>
      <p:sp>
        <p:nvSpPr>
          <p:cNvPr id="33" name="Oval 32"/>
          <p:cNvSpPr/>
          <p:nvPr/>
        </p:nvSpPr>
        <p:spPr>
          <a:xfrm>
            <a:off x="6528816" y="253288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9984" y="244144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Consumer app stays free; streaks &amp; wins earn redeemable points.</a:t>
            </a:r>
          </a:p>
        </p:txBody>
      </p:sp>
      <p:sp>
        <p:nvSpPr>
          <p:cNvPr id="35" name="Oval 34"/>
          <p:cNvSpPr/>
          <p:nvPr/>
        </p:nvSpPr>
        <p:spPr>
          <a:xfrm>
            <a:off x="6528816" y="295351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9984" y="286207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Points → discount codes from vetted eco-friendly brand partners.</a:t>
            </a:r>
          </a:p>
        </p:txBody>
      </p:sp>
      <p:sp>
        <p:nvSpPr>
          <p:cNvPr id="37" name="Oval 36"/>
          <p:cNvSpPr/>
          <p:nvPr/>
        </p:nvSpPr>
        <p:spPr>
          <a:xfrm>
            <a:off x="6528816" y="337413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9984" y="3282696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Revenue from partnership placement fees + affiliate commissions.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069080"/>
            <a:ext cx="11064240" cy="1417320"/>
          </a:xfrm>
          <a:prstGeom prst="roundRect">
            <a:avLst>
              <a:gd name="adj" fmla="val 5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7" y="42519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 spc="80">
                <a:solidFill>
                  <a:srgbClr val="4ADE80"/>
                </a:solidFill>
                <a:latin typeface="Calibri"/>
              </a:rPr>
              <a:t>WHY USERS WILL TRUST THE NUMBERS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7" y="459943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E4731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960120" y="4707331"/>
            <a:ext cx="219456" cy="244145"/>
          </a:xfrm>
          <a:custGeom>
            <a:avLst/>
            <a:gdLst/>
            <a:ahLst/>
            <a:cxnLst/>
            <a:rect l="l" t="t" r="r" b="b"/>
            <a:pathLst>
              <a:path w="219456" h="244145">
                <a:moveTo>
                  <a:pt x="109728" y="0"/>
                </a:moveTo>
                <a:lnTo>
                  <a:pt x="219456" y="43891"/>
                </a:lnTo>
                <a:lnTo>
                  <a:pt x="197510" y="175565"/>
                </a:lnTo>
                <a:lnTo>
                  <a:pt x="109728" y="244145"/>
                </a:lnTo>
                <a:lnTo>
                  <a:pt x="21945" y="175565"/>
                </a:lnTo>
                <a:lnTo>
                  <a:pt x="0" y="43891"/>
                </a:lnTo>
                <a:close/>
              </a:path>
            </a:pathLst>
          </a:cu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26464" y="458114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1150" b="1" i="0" lang="en-US">
                <a:solidFill>
                  <a:srgbClr val="FFFFFF"/>
                </a:solidFill>
                <a:latin typeface="Calibri"/>
              </a:rPr>
              <a:t>Institutional baselines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26464" y="481888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40" b="0" i="0" lang="en-US">
                <a:solidFill>
                  <a:srgbClr val="C7F0D8"/>
                </a:solidFill>
                <a:latin typeface="Calibri"/>
              </a:rPr>
              <a:t>Factors sourced from DEFRA UK &amp; IPCC AR6 — not invented.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53128" y="459943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E4731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ear 9 45"/>
          <p:cNvSpPr/>
          <p:nvPr/>
        </p:nvSpPr>
        <p:spPr>
          <a:xfrm>
            <a:off x="4561027" y="4707331"/>
            <a:ext cx="241401" cy="241401"/>
          </a:xfrm>
          <a:prstGeom prst="gear9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646066" y="4792370"/>
            <a:ext cx="71323" cy="71323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38344" y="458114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1150" b="1" i="0" lang="en-US">
                <a:solidFill>
                  <a:srgbClr val="FFFFFF"/>
                </a:solidFill>
                <a:latin typeface="Calibri"/>
              </a:rPr>
              <a:t>Decoupled &amp; governed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38344" y="481888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40" b="0" i="0" lang="en-US">
                <a:solidFill>
                  <a:srgbClr val="C7F0D8"/>
                </a:solidFill>
                <a:latin typeface="Calibri"/>
              </a:rPr>
              <a:t>Factors live in the DB, admin-controlled; ready to pull live open-data registries.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65008" y="459943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E4731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16798" y="4712817"/>
            <a:ext cx="153619" cy="230428"/>
          </a:xfrm>
          <a:prstGeom prst="roundRect">
            <a:avLst>
              <a:gd name="adj" fmla="val 12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8244230" y="4773168"/>
            <a:ext cx="98755" cy="0"/>
          </a:xfrm>
          <a:prstGeom prst="line">
            <a:avLst/>
          </a:prstGeom>
          <a:ln w="1778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244230" y="4817059"/>
            <a:ext cx="98755" cy="0"/>
          </a:xfrm>
          <a:prstGeom prst="line">
            <a:avLst/>
          </a:prstGeom>
          <a:ln w="1778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244230" y="4860950"/>
            <a:ext cx="98755" cy="0"/>
          </a:xfrm>
          <a:prstGeom prst="line">
            <a:avLst/>
          </a:prstGeom>
          <a:ln w="1778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650224" y="458114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1150" b="1" i="0" lang="en-US">
                <a:solidFill>
                  <a:srgbClr val="FFFFFF"/>
                </a:solidFill>
                <a:latin typeface="Calibri"/>
              </a:rPr>
              <a:t>Transparent methodology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50224" y="481888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40" b="0" i="0" lang="en-US">
                <a:solidFill>
                  <a:srgbClr val="C7F0D8"/>
                </a:solidFill>
                <a:latin typeface="Calibri"/>
              </a:rPr>
              <a:t>Every figure shows its formula; optional camera proof for eco-actions.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PROJECT ACCESS &amp;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Repositories, live access &amp; test credentials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6382512" cy="22494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71907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4677" y="1839919"/>
            <a:ext cx="55302" cy="553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4677" y="2054985"/>
            <a:ext cx="55302" cy="553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1427" y="1944380"/>
            <a:ext cx="55302" cy="553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002328" y="1895222"/>
            <a:ext cx="0" cy="165908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02328" y="1968959"/>
            <a:ext cx="95244" cy="6145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81328" y="1700784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 lang="en-US">
                <a:solidFill>
                  <a:srgbClr val="0E1B14"/>
                </a:solidFill>
                <a:latin typeface="Calibri"/>
              </a:rPr>
              <a:t>GitHub 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1993392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6B7C72"/>
                </a:solidFill>
                <a:latin typeface="Calibri"/>
              </a:rPr>
              <a:t>Monorepo · main + PR3 branch · Frontend / + Backend 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414016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15803D"/>
                </a:solidFill>
                <a:latin typeface="Calibri"/>
              </a:rPr>
              <a:t>Full Project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40280" y="2432304"/>
            <a:ext cx="4453128" cy="365760"/>
          </a:xfrm>
          <a:prstGeom prst="roundRect">
            <a:avLst>
              <a:gd name="adj" fmla="val 8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2432304"/>
            <a:ext cx="42793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 lang="en-US">
                <a:solidFill>
                  <a:srgbClr val="9FE7BE"/>
                </a:solidFill>
                <a:latin typeface="Consolas"/>
              </a:rPr>
              <a:t>github.com/ennabilizineb/GreenStep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871216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0EA5E9"/>
                </a:solidFill>
                <a:latin typeface="Calibri"/>
              </a:rPr>
              <a:t>Frontend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40280" y="2889504"/>
            <a:ext cx="4453128" cy="365760"/>
          </a:xfrm>
          <a:prstGeom prst="roundRect">
            <a:avLst>
              <a:gd name="adj" fmla="val 8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2889504"/>
            <a:ext cx="42793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 lang="en-US">
                <a:solidFill>
                  <a:srgbClr val="9FE7BE"/>
                </a:solidFill>
                <a:latin typeface="Consolas"/>
              </a:rPr>
              <a:t>github.com/ennabilizineb/GreenStep/tree/main/Frontend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328416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7C3AED"/>
                </a:solidFill>
                <a:latin typeface="Calibri"/>
              </a:rPr>
              <a:t>Backend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40280" y="3346704"/>
            <a:ext cx="4453128" cy="365760"/>
          </a:xfrm>
          <a:prstGeom prst="roundRect">
            <a:avLst>
              <a:gd name="adj" fmla="val 8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3346704"/>
            <a:ext cx="42793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 lang="en-US">
                <a:solidFill>
                  <a:srgbClr val="9FE7BE"/>
                </a:solidFill>
                <a:latin typeface="Consolas"/>
              </a:rPr>
              <a:t>github.com/ennabilizineb/GreenStep/tree/main/Backend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895344"/>
            <a:ext cx="638251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4672" y="4114800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7808" y="4247936"/>
            <a:ext cx="245790" cy="24579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5401" y="4247936"/>
            <a:ext cx="110605" cy="245790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943953" y="4370832"/>
            <a:ext cx="233501" cy="0"/>
          </a:xfrm>
          <a:prstGeom prst="line">
            <a:avLst/>
          </a:prstGeom>
          <a:ln w="1778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481328" y="4096511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 lang="en-US">
                <a:solidFill>
                  <a:srgbClr val="0E1B14"/>
                </a:solidFill>
                <a:latin typeface="Calibri"/>
              </a:rPr>
              <a:t>Live System 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4389120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6B7C72"/>
                </a:solidFill>
                <a:latin typeface="Calibri"/>
              </a:rPr>
              <a:t>Deployed: Netlify (frontend) · Render — Docker (API)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736592"/>
            <a:ext cx="5870448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473659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B45309"/>
                </a:solidFill>
                <a:latin typeface="Calibri"/>
              </a:rPr>
              <a:t>Live Frontend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41448" y="4736592"/>
            <a:ext cx="41879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1" lang="en-US">
                <a:solidFill>
                  <a:srgbClr val="B45309"/>
                </a:solidFill>
                <a:latin typeface="Consolas"/>
              </a:rPr>
              <a:t>&lt; paste Netlify public URL here &gt;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14032" y="1481328"/>
            <a:ext cx="4535424" cy="3895344"/>
          </a:xfrm>
          <a:prstGeom prst="roundRect">
            <a:avLst>
              <a:gd name="adj" fmla="val 5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51776" y="1719072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0E4731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lock Arc 36"/>
          <p:cNvSpPr/>
          <p:nvPr/>
        </p:nvSpPr>
        <p:spPr>
          <a:xfrm>
            <a:off x="7523902" y="1831287"/>
            <a:ext cx="131234" cy="131234"/>
          </a:xfrm>
          <a:prstGeom prst="blockArc">
            <a:avLst>
              <a:gd name="adj1" fmla="val 18000000"/>
              <a:gd name="adj2" fmla="val 0"/>
              <a:gd name="adj3" fmla="val 24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09638" y="1933992"/>
            <a:ext cx="159763" cy="142646"/>
          </a:xfrm>
          <a:prstGeom prst="roundRect">
            <a:avLst>
              <a:gd name="adj" fmla="val 22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36992" y="1682496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 lang="en-US">
                <a:solidFill>
                  <a:srgbClr val="FFFFFF"/>
                </a:solidFill>
                <a:latin typeface="Calibri"/>
              </a:rPr>
              <a:t>Test Credentials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1975104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 lang="en-US">
                <a:solidFill>
                  <a:srgbClr val="C7F0D8"/>
                </a:solidFill>
                <a:latin typeface="Calibri"/>
              </a:rPr>
              <a:t>All 3 roles · login identifier = email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51776" y="2414016"/>
            <a:ext cx="4059935" cy="859536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498080" y="2633472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0" y="261518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0B3D2B"/>
                </a:solidFill>
                <a:latin typeface="Calibri"/>
              </a:rPr>
              <a:t>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28432" y="252374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FFFFFF"/>
                </a:solidFill>
                <a:latin typeface="Calibri"/>
              </a:rPr>
              <a:t>User</a:t>
            </a:r>
            <a:r>
              <a:rPr sz="950" b="0" i="0" lang="en-US">
                <a:solidFill>
                  <a:srgbClr val="C7F0D8"/>
                </a:solidFill>
                <a:latin typeface="Calibri"/>
              </a:rPr>
              <a:t>  role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28432" y="2798064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C7F0D8"/>
                </a:solidFill>
                <a:latin typeface="Calibri"/>
              </a:rPr>
              <a:t>email:  </a:t>
            </a:r>
            <a:r>
              <a:rPr sz="1000" b="1" i="0" lang="en-US">
                <a:solidFill>
                  <a:srgbClr val="9FE7BE"/>
                </a:solidFill>
                <a:latin typeface="Consolas"/>
              </a:rPr>
              <a:t>member@greenstep.com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28432" y="3017520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C7F0D8"/>
                </a:solidFill>
                <a:latin typeface="Calibri"/>
              </a:rPr>
              <a:t>pass:   </a:t>
            </a:r>
            <a:r>
              <a:rPr sz="1000" b="1" i="0" lang="en-US">
                <a:solidFill>
                  <a:srgbClr val="9FE7BE"/>
                </a:solidFill>
                <a:latin typeface="Consolas"/>
              </a:rPr>
              <a:t>password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51776" y="3346704"/>
            <a:ext cx="4059935" cy="859536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498080" y="3566160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0" y="3547872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0B3D2B"/>
                </a:solidFill>
                <a:latin typeface="Calibri"/>
              </a:rPr>
              <a:t>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28432" y="34564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FFFFFF"/>
                </a:solidFill>
                <a:latin typeface="Calibri"/>
              </a:rPr>
              <a:t>Leader</a:t>
            </a:r>
            <a:r>
              <a:rPr sz="950" b="0" i="0" lang="en-US">
                <a:solidFill>
                  <a:srgbClr val="C7F0D8"/>
                </a:solidFill>
                <a:latin typeface="Calibri"/>
              </a:rPr>
              <a:t>  role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28432" y="3730752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C7F0D8"/>
                </a:solidFill>
                <a:latin typeface="Calibri"/>
              </a:rPr>
              <a:t>email:  </a:t>
            </a:r>
            <a:r>
              <a:rPr sz="1000" b="1" i="0" lang="en-US">
                <a:solidFill>
                  <a:srgbClr val="9FE7BE"/>
                </a:solidFill>
                <a:latin typeface="Consolas"/>
              </a:rPr>
              <a:t>leader@greenstep.com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28432" y="3950208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C7F0D8"/>
                </a:solidFill>
                <a:latin typeface="Calibri"/>
              </a:rPr>
              <a:t>pass:   </a:t>
            </a:r>
            <a:r>
              <a:rPr sz="1000" b="1" i="0" lang="en-US">
                <a:solidFill>
                  <a:srgbClr val="9FE7BE"/>
                </a:solidFill>
                <a:latin typeface="Consolas"/>
              </a:rPr>
              <a:t>password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51776" y="4279392"/>
            <a:ext cx="4059935" cy="859536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498080" y="4498848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0" y="4480559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0B3D2B"/>
                </a:solidFill>
                <a:latin typeface="Calibri"/>
              </a:rPr>
              <a:t>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28432" y="4389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FFFFFF"/>
                </a:solidFill>
                <a:latin typeface="Calibri"/>
              </a:rPr>
              <a:t>Admin</a:t>
            </a:r>
            <a:r>
              <a:rPr sz="950" b="0" i="0" lang="en-US">
                <a:solidFill>
                  <a:srgbClr val="C7F0D8"/>
                </a:solidFill>
                <a:latin typeface="Calibri"/>
              </a:rPr>
              <a:t>  role 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28432" y="4663440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C7F0D8"/>
                </a:solidFill>
                <a:latin typeface="Calibri"/>
              </a:rPr>
              <a:t>email:  </a:t>
            </a:r>
            <a:r>
              <a:rPr sz="1000" b="1" i="0" lang="en-US">
                <a:solidFill>
                  <a:srgbClr val="9FE7BE"/>
                </a:solidFill>
                <a:latin typeface="Consolas"/>
              </a:rPr>
              <a:t>admin2@greenstep.com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28432" y="4882896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C7F0D8"/>
                </a:solidFill>
                <a:latin typeface="Calibri"/>
              </a:rPr>
              <a:t>pass:   </a:t>
            </a:r>
            <a:r>
              <a:rPr sz="1000" b="1" i="0" lang="en-US">
                <a:solidFill>
                  <a:srgbClr val="9FE7BE"/>
                </a:solidFill>
                <a:latin typeface="Consolas"/>
              </a:rPr>
              <a:t>password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8" y="5541264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5550408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15803D"/>
                </a:solidFill>
                <a:latin typeface="Calibri"/>
              </a:rPr>
              <a:t>Note:  </a:t>
            </a:r>
            <a:r>
              <a:rPr sz="1000" b="0" i="0" lang="en-US">
                <a:solidFill>
                  <a:srgbClr val="0E1B14"/>
                </a:solidFill>
                <a:latin typeface="Calibri"/>
              </a:rPr>
              <a:t>accounts are provisioned by </a:t>
            </a:r>
            <a:r>
              <a:rPr sz="1000" b="1" i="0" lang="en-US">
                <a:solidFill>
                  <a:srgbClr val="0E1B14"/>
                </a:solidFill>
                <a:latin typeface="Consolas"/>
              </a:rPr>
              <a:t>schema.sql / seed.sql</a:t>
            </a:r>
            <a:r>
              <a:rPr sz="1000" b="0" i="0" lang="en-US">
                <a:solidFill>
                  <a:srgbClr val="0E1B14"/>
                </a:solidFill>
                <a:latin typeface="Calibri"/>
              </a:rPr>
              <a:t>; login only verifies the hash + active status, so these seeded values work on the live database.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B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463040"/>
            <a:ext cx="4023360" cy="4023360"/>
          </a:xfrm>
          <a:prstGeom prst="ellipse">
            <a:avLst/>
          </a:prstGeom>
          <a:noFill/>
          <a:ln w="16510">
            <a:solidFill>
              <a:srgbClr val="115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731520"/>
            <a:ext cx="2377440" cy="2377440"/>
          </a:xfrm>
          <a:prstGeom prst="ellipse">
            <a:avLst/>
          </a:prstGeom>
          <a:solidFill>
            <a:srgbClr val="135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0816620" y="38770"/>
            <a:ext cx="458663" cy="434523"/>
          </a:xfrm>
          <a:custGeom>
            <a:avLst/>
            <a:gdLst/>
            <a:ahLst/>
            <a:cxnLst/>
            <a:rect l="l" t="t" r="r" b="b"/>
            <a:pathLst>
              <a:path w="458663" h="434523">
                <a:moveTo>
                  <a:pt x="0" y="434523"/>
                </a:moveTo>
                <a:lnTo>
                  <a:pt x="458663" y="0"/>
                </a:lnTo>
                <a:lnTo>
                  <a:pt x="446593" y="247437"/>
                </a:lnTo>
                <a:lnTo>
                  <a:pt x="229332" y="434523"/>
                </a:lnTo>
                <a:lnTo>
                  <a:pt x="0" y="434523"/>
                </a:lnTo>
                <a:close/>
              </a:path>
            </a:pathLst>
          </a:cu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10864900" y="74980"/>
            <a:ext cx="362103" cy="362103"/>
          </a:xfrm>
          <a:prstGeom prst="line">
            <a:avLst/>
          </a:prstGeom>
          <a:ln w="1397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4ADE80"/>
                </a:solidFill>
                <a:latin typeface="Calibr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859536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800" b="1" i="0" lang="en-US">
                <a:solidFill>
                  <a:srgbClr val="FFFFFF"/>
                </a:solidFill>
                <a:latin typeface="Calibri"/>
              </a:rPr>
              <a:t>A complete, integrated cross-platform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17830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65376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 lang="en-US">
                <a:solidFill>
                  <a:srgbClr val="4ADE80"/>
                </a:solidFill>
                <a:latin typeface="Calibr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95728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C7F0D8"/>
                </a:solidFill>
                <a:latin typeface="Calibri"/>
              </a:rPr>
              <a:t>Tables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7830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1865376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 lang="en-US">
                <a:solidFill>
                  <a:srgbClr val="4ADE80"/>
                </a:solidFill>
                <a:latin typeface="Calibri"/>
              </a:rPr>
              <a:t>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2395728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C7F0D8"/>
                </a:solidFill>
                <a:latin typeface="Calibri"/>
              </a:rPr>
              <a:t>Endpoints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48656" y="17830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6" y="1865376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 lang="en-US">
                <a:solidFill>
                  <a:srgbClr val="4ADE80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6" y="2395728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C7F0D8"/>
                </a:solidFill>
                <a:latin typeface="Calibri"/>
              </a:rPr>
              <a:t>Roles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17830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4927" y="1865376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 lang="en-US">
                <a:solidFill>
                  <a:srgbClr val="4ADE80"/>
                </a:solidFill>
                <a:latin typeface="Calibri"/>
              </a:rPr>
              <a:t>98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2395728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C7F0D8"/>
                </a:solidFill>
                <a:latin typeface="Calibri"/>
              </a:rPr>
              <a:t>Commits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7830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865376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 lang="en-US">
                <a:solidFill>
                  <a:srgbClr val="4ADE80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395728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C7F0D8"/>
                </a:solidFill>
                <a:latin typeface="Calibri"/>
              </a:rPr>
              <a:t>Leads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" y="297180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31272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80">
                <a:solidFill>
                  <a:srgbClr val="4ADE80"/>
                </a:solidFill>
                <a:latin typeface="Calibri"/>
              </a:rPr>
              <a:t>WHAT WE BUILT</a:t>
            </a:r>
          </a:p>
        </p:txBody>
      </p:sp>
      <p:sp>
        <p:nvSpPr>
          <p:cNvPr id="26" name="Oval 25"/>
          <p:cNvSpPr/>
          <p:nvPr/>
        </p:nvSpPr>
        <p:spPr>
          <a:xfrm>
            <a:off x="1133856" y="35112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35024" y="343814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Vue 3 + Slim 4 + MySQL + JWT, fully integrated</a:t>
            </a:r>
          </a:p>
        </p:txBody>
      </p:sp>
      <p:sp>
        <p:nvSpPr>
          <p:cNvPr id="28" name="Oval 27"/>
          <p:cNvSpPr/>
          <p:nvPr/>
        </p:nvSpPr>
        <p:spPr>
          <a:xfrm>
            <a:off x="1133856" y="3822191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35024" y="3749039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Server-side CO₂ engine on DEFRA / IPCC factors</a:t>
            </a:r>
          </a:p>
        </p:txBody>
      </p:sp>
      <p:sp>
        <p:nvSpPr>
          <p:cNvPr id="30" name="Oval 29"/>
          <p:cNvSpPr/>
          <p:nvPr/>
        </p:nvSpPr>
        <p:spPr>
          <a:xfrm>
            <a:off x="1133856" y="4133087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5024" y="4059935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Gamification: streaks, JSON badges, group challenges</a:t>
            </a:r>
          </a:p>
        </p:txBody>
      </p:sp>
      <p:sp>
        <p:nvSpPr>
          <p:cNvPr id="32" name="Oval 31"/>
          <p:cNvSpPr/>
          <p:nvPr/>
        </p:nvSpPr>
        <p:spPr>
          <a:xfrm>
            <a:off x="1133856" y="4443983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35024" y="4370831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Live: Dockerized API (Render) + Netlify + admin RBAC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9320" y="2971800"/>
            <a:ext cx="5650992" cy="1874519"/>
          </a:xfrm>
          <a:prstGeom prst="roundRect">
            <a:avLst>
              <a:gd name="adj" fmla="val 6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7064" y="312724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80">
                <a:solidFill>
                  <a:srgbClr val="4ADE80"/>
                </a:solidFill>
                <a:latin typeface="Calibri"/>
              </a:rPr>
              <a:t>WHAT WE LEARNED</a:t>
            </a:r>
          </a:p>
        </p:txBody>
      </p:sp>
      <p:sp>
        <p:nvSpPr>
          <p:cNvPr id="36" name="Oval 35"/>
          <p:cNvSpPr/>
          <p:nvPr/>
        </p:nvSpPr>
        <p:spPr>
          <a:xfrm>
            <a:off x="6227064" y="35112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343814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Cross-platform delivery from one codebase (CLO1)</a:t>
            </a:r>
          </a:p>
        </p:txBody>
      </p:sp>
      <p:sp>
        <p:nvSpPr>
          <p:cNvPr id="38" name="Oval 37"/>
          <p:cNvSpPr/>
          <p:nvPr/>
        </p:nvSpPr>
        <p:spPr>
          <a:xfrm>
            <a:off x="6227064" y="3822191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2" y="374903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Secure REST API design — JWT, bcrypt, PDO (CLO2)</a:t>
            </a:r>
          </a:p>
        </p:txBody>
      </p:sp>
      <p:sp>
        <p:nvSpPr>
          <p:cNvPr id="40" name="Oval 39"/>
          <p:cNvSpPr/>
          <p:nvPr/>
        </p:nvSpPr>
        <p:spPr>
          <a:xfrm>
            <a:off x="6227064" y="4133087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4059935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An entrepreneurial, deployable product mindset (CLO3)</a:t>
            </a:r>
          </a:p>
        </p:txBody>
      </p:sp>
      <p:sp>
        <p:nvSpPr>
          <p:cNvPr id="42" name="Oval 41"/>
          <p:cNvSpPr/>
          <p:nvPr/>
        </p:nvSpPr>
        <p:spPr>
          <a:xfrm>
            <a:off x="6227064" y="4443983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2" y="4370831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Real Git collaboration across four contributors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6112" y="5029200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02005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4ADE80"/>
                </a:solidFill>
                <a:latin typeface="Calibri"/>
              </a:rPr>
              <a:t>CLO1 · Cross-platform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73552" y="5029200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73552" y="502005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4ADE80"/>
                </a:solidFill>
                <a:latin typeface="Calibri"/>
              </a:rPr>
              <a:t>CLO2 · Innovative solution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50992" y="5029200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50992" y="502005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4ADE80"/>
                </a:solidFill>
                <a:latin typeface="Calibri"/>
              </a:rPr>
              <a:t>CLO3 · Entrepreneurial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0" y="4992624"/>
            <a:ext cx="3867912" cy="841248"/>
          </a:xfrm>
          <a:prstGeom prst="roundRect">
            <a:avLst>
              <a:gd name="adj" fmla="val 10000"/>
            </a:avLst>
          </a:prstGeom>
          <a:solidFill>
            <a:srgbClr val="22C55E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0" y="5029200"/>
            <a:ext cx="3867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000" b="1" i="0" lang="en-US">
                <a:solidFill>
                  <a:srgbClr val="0B3D2B"/>
                </a:solidFill>
                <a:latin typeface="Calibri"/>
              </a:rPr>
              <a:t>Thank you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5468112"/>
            <a:ext cx="3867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0B3D2B"/>
                </a:solidFill>
                <a:latin typeface="Calibri"/>
              </a:rPr>
              <a:t>Team RM2Z — Questions welcome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" y="6053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 lang="en-US">
                <a:solidFill>
                  <a:srgbClr val="C7F0D8"/>
                </a:solidFill>
                <a:latin typeface="Calibri"/>
              </a:rPr>
              <a:t>github.com/ennabilizineb/GreenStep   ·   SCSM2223 · Section 02 · 2025/2026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" y="6272784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6B7C72"/>
                </a:solidFill>
                <a:latin typeface="Calibri"/>
              </a:rPr>
              <a:t>Zeng Liting  ·  Mohammed Alsakkaf  ·  Rawan Mohamed Salih  ·  Zineb Ennabili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